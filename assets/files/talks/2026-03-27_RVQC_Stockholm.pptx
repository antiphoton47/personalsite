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8.xml" ContentType="application/vnd.openxmlformats-officedocument.presentationml.tags+xml"/>
  <Override PartName="/ppt/notesSlides/notesSlide30.xml" ContentType="application/vnd.openxmlformats-officedocument.presentationml.notesSlide+xml"/>
  <Override PartName="/ppt/tags/tag29.xml" ContentType="application/vnd.openxmlformats-officedocument.presentationml.tags+xml"/>
  <Override PartName="/ppt/notesSlides/notesSlide31.xml" ContentType="application/vnd.openxmlformats-officedocument.presentationml.notesSlide+xml"/>
  <Override PartName="/ppt/tags/tag30.xml" ContentType="application/vnd.openxmlformats-officedocument.presentationml.tags+xml"/>
  <Override PartName="/ppt/notesSlides/notesSlide32.xml" ContentType="application/vnd.openxmlformats-officedocument.presentationml.notesSlide+xml"/>
  <Override PartName="/ppt/tags/tag31.xml" ContentType="application/vnd.openxmlformats-officedocument.presentationml.tags+xml"/>
  <Override PartName="/ppt/notesSlides/notesSlide33.xml" ContentType="application/vnd.openxmlformats-officedocument.presentationml.notesSlide+xml"/>
  <Override PartName="/ppt/tags/tag32.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6"/>
  </p:notesMasterIdLst>
  <p:sldIdLst>
    <p:sldId id="260" r:id="rId2"/>
    <p:sldId id="308" r:id="rId3"/>
    <p:sldId id="293" r:id="rId4"/>
    <p:sldId id="305" r:id="rId5"/>
    <p:sldId id="296" r:id="rId6"/>
    <p:sldId id="288" r:id="rId7"/>
    <p:sldId id="330" r:id="rId8"/>
    <p:sldId id="354" r:id="rId9"/>
    <p:sldId id="291" r:id="rId10"/>
    <p:sldId id="355" r:id="rId11"/>
    <p:sldId id="356" r:id="rId12"/>
    <p:sldId id="352" r:id="rId13"/>
    <p:sldId id="331" r:id="rId14"/>
    <p:sldId id="337" r:id="rId15"/>
    <p:sldId id="299" r:id="rId16"/>
    <p:sldId id="303" r:id="rId17"/>
    <p:sldId id="304" r:id="rId18"/>
    <p:sldId id="357" r:id="rId19"/>
    <p:sldId id="342" r:id="rId20"/>
    <p:sldId id="346" r:id="rId21"/>
    <p:sldId id="348" r:id="rId22"/>
    <p:sldId id="349" r:id="rId23"/>
    <p:sldId id="350" r:id="rId24"/>
    <p:sldId id="311" r:id="rId25"/>
    <p:sldId id="359" r:id="rId26"/>
    <p:sldId id="309" r:id="rId27"/>
    <p:sldId id="310" r:id="rId28"/>
    <p:sldId id="358" r:id="rId29"/>
    <p:sldId id="270" r:id="rId30"/>
    <p:sldId id="298" r:id="rId31"/>
    <p:sldId id="300" r:id="rId32"/>
    <p:sldId id="302" r:id="rId33"/>
    <p:sldId id="289" r:id="rId34"/>
    <p:sldId id="30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AC1"/>
    <a:srgbClr val="000AFF"/>
    <a:srgbClr val="FF524D"/>
    <a:srgbClr val="FF7972"/>
    <a:srgbClr val="FF9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42"/>
    <p:restoredTop sz="87798"/>
  </p:normalViewPr>
  <p:slideViewPr>
    <p:cSldViewPr snapToGrid="0">
      <p:cViewPr varScale="1">
        <p:scale>
          <a:sx n="108" d="100"/>
          <a:sy n="108" d="100"/>
        </p:scale>
        <p:origin x="1544" y="192"/>
      </p:cViewPr>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D1FF0-3E54-6E47-B0C8-5E62699D42EE}" type="datetimeFigureOut">
              <a:rPr lang="en-CA" smtClean="0"/>
              <a:t>2026-03-21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720B4-AB10-0342-9541-2DF5352E8B38}" type="slidenum">
              <a:rPr lang="en-CA" smtClean="0"/>
              <a:t>‹#›</a:t>
            </a:fld>
            <a:endParaRPr lang="en-CA"/>
          </a:p>
        </p:txBody>
      </p:sp>
    </p:spTree>
    <p:extLst>
      <p:ext uri="{BB962C8B-B14F-4D97-AF65-F5344CB8AC3E}">
        <p14:creationId xmlns:p14="http://schemas.microsoft.com/office/powerpoint/2010/main" val="3643010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 everyone, thanks for coming to my presentation. My name is Phil and I am a PhD student from the University of Innsbruck in the group of Hans </a:t>
            </a:r>
            <a:r>
              <a:rPr lang="en-CA" dirty="0" err="1"/>
              <a:t>Briegel</a:t>
            </a:r>
            <a:r>
              <a:rPr lang="en-CA" dirty="0"/>
              <a:t>. Today I will be talking about Multi-Excitation Projective Simulation.</a:t>
            </a:r>
          </a:p>
        </p:txBody>
      </p:sp>
      <p:sp>
        <p:nvSpPr>
          <p:cNvPr id="4" name="Slide Number Placeholder 3"/>
          <p:cNvSpPr>
            <a:spLocks noGrp="1"/>
          </p:cNvSpPr>
          <p:nvPr>
            <p:ph type="sldNum" sz="quarter" idx="5"/>
          </p:nvPr>
        </p:nvSpPr>
        <p:spPr/>
        <p:txBody>
          <a:bodyPr/>
          <a:lstStyle/>
          <a:p>
            <a:fld id="{E40720B4-AB10-0342-9541-2DF5352E8B38}" type="slidenum">
              <a:rPr lang="en-CA" smtClean="0"/>
              <a:t>1</a:t>
            </a:fld>
            <a:endParaRPr lang="en-CA"/>
          </a:p>
        </p:txBody>
      </p:sp>
    </p:spTree>
    <p:extLst>
      <p:ext uri="{BB962C8B-B14F-4D97-AF65-F5344CB8AC3E}">
        <p14:creationId xmlns:p14="http://schemas.microsoft.com/office/powerpoint/2010/main" val="1747424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B37B4-49E6-60FE-F512-C01CBE8D6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18870-59D0-8934-259E-106362E11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36F40-2761-AA8E-2539-DE08227B952A}"/>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B7C037A2-0294-0966-FB26-410B5864EB41}"/>
              </a:ext>
            </a:extLst>
          </p:cNvPr>
          <p:cNvSpPr>
            <a:spLocks noGrp="1"/>
          </p:cNvSpPr>
          <p:nvPr>
            <p:ph type="sldNum" sz="quarter" idx="5"/>
          </p:nvPr>
        </p:nvSpPr>
        <p:spPr/>
        <p:txBody>
          <a:bodyPr/>
          <a:lstStyle/>
          <a:p>
            <a:fld id="{E40720B4-AB10-0342-9541-2DF5352E8B38}" type="slidenum">
              <a:rPr lang="en-CA" smtClean="0"/>
              <a:t>2</a:t>
            </a:fld>
            <a:endParaRPr lang="en-CA"/>
          </a:p>
        </p:txBody>
      </p:sp>
    </p:spTree>
    <p:extLst>
      <p:ext uri="{BB962C8B-B14F-4D97-AF65-F5344CB8AC3E}">
        <p14:creationId xmlns:p14="http://schemas.microsoft.com/office/powerpoint/2010/main" val="4222871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a:t>
            </a:fld>
            <a:endParaRPr lang="en-CA"/>
          </a:p>
        </p:txBody>
      </p:sp>
    </p:spTree>
    <p:extLst>
      <p:ext uri="{BB962C8B-B14F-4D97-AF65-F5344CB8AC3E}">
        <p14:creationId xmlns:p14="http://schemas.microsoft.com/office/powerpoint/2010/main" val="2056936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81B35-59A9-8C4A-F044-57200359E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C3320-2960-87EF-DCC7-B66279E25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61B38-F47D-C1A5-215B-6C16D350FAC3}"/>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F5821E02-1463-A5D6-CEBE-81D0DD2738C5}"/>
              </a:ext>
            </a:extLst>
          </p:cNvPr>
          <p:cNvSpPr>
            <a:spLocks noGrp="1"/>
          </p:cNvSpPr>
          <p:nvPr>
            <p:ph type="sldNum" sz="quarter" idx="5"/>
          </p:nvPr>
        </p:nvSpPr>
        <p:spPr/>
        <p:txBody>
          <a:bodyPr/>
          <a:lstStyle/>
          <a:p>
            <a:fld id="{E40720B4-AB10-0342-9541-2DF5352E8B38}" type="slidenum">
              <a:rPr lang="en-CA" smtClean="0"/>
              <a:t>4</a:t>
            </a:fld>
            <a:endParaRPr lang="en-CA"/>
          </a:p>
        </p:txBody>
      </p:sp>
    </p:spTree>
    <p:extLst>
      <p:ext uri="{BB962C8B-B14F-4D97-AF65-F5344CB8AC3E}">
        <p14:creationId xmlns:p14="http://schemas.microsoft.com/office/powerpoint/2010/main" val="2506567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Here is how it should go:</a:t>
            </a:r>
          </a:p>
          <a:p>
            <a:pPr marL="171450" indent="-171450">
              <a:buFont typeface="Arial" panose="020B0604020202020204" pitchFamily="34" charset="0"/>
              <a:buChar char="•"/>
            </a:pPr>
            <a:r>
              <a:rPr lang="en-CA" dirty="0"/>
              <a:t>Introduce agent definition and general setup</a:t>
            </a:r>
          </a:p>
          <a:p>
            <a:pPr marL="171450" indent="-171450">
              <a:buFont typeface="Arial" panose="020B0604020202020204" pitchFamily="34" charset="0"/>
              <a:buChar char="•"/>
            </a:pPr>
            <a:r>
              <a:rPr lang="en-CA" dirty="0"/>
              <a:t>Particularize setup to classical MEPS</a:t>
            </a:r>
          </a:p>
          <a:p>
            <a:pPr marL="171450" indent="-171450">
              <a:buFont typeface="Arial" panose="020B0604020202020204" pitchFamily="34" charset="0"/>
              <a:buChar char="•"/>
            </a:pPr>
            <a:r>
              <a:rPr lang="en-CA" dirty="0"/>
              <a:t>Briefly mention inductive bias and its motivation</a:t>
            </a:r>
          </a:p>
          <a:p>
            <a:pPr marL="171450" indent="-171450">
              <a:buFont typeface="Arial" panose="020B0604020202020204" pitchFamily="34" charset="0"/>
              <a:buChar char="•"/>
            </a:pPr>
            <a:r>
              <a:rPr lang="en-CA" dirty="0"/>
              <a:t>Show learning results for classical MEPS</a:t>
            </a:r>
          </a:p>
          <a:p>
            <a:pPr marL="171450" indent="-171450">
              <a:buFont typeface="Arial" panose="020B0604020202020204" pitchFamily="34" charset="0"/>
              <a:buChar char="•"/>
            </a:pPr>
            <a:r>
              <a:rPr lang="en-CA" dirty="0"/>
              <a:t>Particularize setup to quantum MEPS</a:t>
            </a:r>
          </a:p>
          <a:p>
            <a:pPr marL="171450" indent="-171450">
              <a:buFont typeface="Arial" panose="020B0604020202020204" pitchFamily="34" charset="0"/>
              <a:buChar char="•"/>
            </a:pPr>
            <a:r>
              <a:rPr lang="en-CA" dirty="0"/>
              <a:t>Show some preliminary results and describe environment</a:t>
            </a:r>
          </a:p>
          <a:p>
            <a:pPr marL="171450" indent="-171450">
              <a:buFont typeface="Arial" panose="020B0604020202020204" pitchFamily="34" charset="0"/>
              <a:buChar char="•"/>
            </a:pPr>
            <a:endParaRPr lang="en-CA" dirty="0"/>
          </a:p>
          <a:p>
            <a:pPr marL="171450" indent="-171450">
              <a:buFont typeface="Arial" panose="020B0604020202020204" pitchFamily="34" charset="0"/>
              <a:buChar char="•"/>
            </a:pPr>
            <a:endParaRPr lang="en-CA" dirty="0"/>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5</a:t>
            </a:fld>
            <a:endParaRPr lang="en-CA"/>
          </a:p>
        </p:txBody>
      </p:sp>
    </p:spTree>
    <p:extLst>
      <p:ext uri="{BB962C8B-B14F-4D97-AF65-F5344CB8AC3E}">
        <p14:creationId xmlns:p14="http://schemas.microsoft.com/office/powerpoint/2010/main" val="2938984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VQCs have a structure that accommodates UDW time-evolution operators and has the flexibility to allow manipulation of detector trajectories to feature in algorithms; also allows for generalization to QML setting (which we have in mind)</a:t>
            </a:r>
          </a:p>
          <a:p>
            <a:pPr marL="171450" indent="-171450">
              <a:buFont typeface="Arial" panose="020B0604020202020204" pitchFamily="34" charset="0"/>
              <a:buChar char="•"/>
            </a:pPr>
            <a:r>
              <a:rPr lang="en-CA" dirty="0"/>
              <a:t>Very clear here how manipulating detector trajectories could be implemented into the computation: as the rotation angles for spacetime rotations of qubits (the rotation part of each VQC layer)</a:t>
            </a:r>
          </a:p>
          <a:p>
            <a:pPr marL="171450" indent="-171450">
              <a:buFont typeface="Arial" panose="020B0604020202020204" pitchFamily="34" charset="0"/>
              <a:buChar char="•"/>
            </a:pPr>
            <a:r>
              <a:rPr lang="en-CA" dirty="0"/>
              <a:t>Measure the output of computation with respect to some observable (could just be a Pauli measurement) to get function ansatz (these are called ANN’s in deep learning for example), then input to loss function and optimize; then update parameters and repeat</a:t>
            </a:r>
          </a:p>
        </p:txBody>
      </p:sp>
      <p:sp>
        <p:nvSpPr>
          <p:cNvPr id="4" name="Slide Number Placeholder 3"/>
          <p:cNvSpPr>
            <a:spLocks noGrp="1"/>
          </p:cNvSpPr>
          <p:nvPr>
            <p:ph type="sldNum" sz="quarter" idx="5"/>
          </p:nvPr>
        </p:nvSpPr>
        <p:spPr/>
        <p:txBody>
          <a:bodyPr/>
          <a:lstStyle/>
          <a:p>
            <a:fld id="{E40720B4-AB10-0342-9541-2DF5352E8B38}" type="slidenum">
              <a:rPr lang="en-CA" smtClean="0"/>
              <a:t>6</a:t>
            </a:fld>
            <a:endParaRPr lang="en-CA"/>
          </a:p>
        </p:txBody>
      </p:sp>
    </p:spTree>
    <p:extLst>
      <p:ext uri="{BB962C8B-B14F-4D97-AF65-F5344CB8AC3E}">
        <p14:creationId xmlns:p14="http://schemas.microsoft.com/office/powerpoint/2010/main" val="3799910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14:m>
                  <m:oMath xmlns:m="http://schemas.openxmlformats.org/officeDocument/2006/math">
                    <m:r>
                      <m:rPr>
                        <m:sty m:val="p"/>
                      </m:rPr>
                      <a:rPr lang="en-US" sz="1200" b="0" i="0" smtClean="0">
                        <a:latin typeface="Cambria Math" panose="02040503050406030204" pitchFamily="18" charset="0"/>
                      </a:rPr>
                      <m:t>Δ</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𝜏</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r>
                      <m:rPr>
                        <m:sty m:val="p"/>
                      </m:rPr>
                      <a:rPr lang="en-US" sz="1200" b="0" i="0" smtClean="0">
                        <a:latin typeface="Cambria Math" panose="02040503050406030204" pitchFamily="18" charset="0"/>
                      </a:rPr>
                      <m:t>Δ</m:t>
                    </m:r>
                    <m:r>
                      <a:rPr lang="en-US" sz="1200" b="0" i="1" smtClean="0">
                        <a:latin typeface="Cambria Math" panose="02040503050406030204" pitchFamily="18" charset="0"/>
                      </a:rPr>
                      <m:t>𝑡</m:t>
                    </m:r>
                    <m:rad>
                      <m:radPr>
                        <m:degHide m:val="on"/>
                        <m:ctrlPr>
                          <a:rPr lang="en-US" sz="1200" b="0" i="1" smtClean="0">
                            <a:latin typeface="Cambria Math" panose="02040503050406030204" pitchFamily="18" charset="0"/>
                          </a:rPr>
                        </m:ctrlPr>
                      </m:radPr>
                      <m:deg/>
                      <m:e>
                        <m:r>
                          <a:rPr lang="en-US" sz="1200" b="0" i="1" smtClean="0">
                            <a:latin typeface="Cambria Math" panose="02040503050406030204" pitchFamily="18" charset="0"/>
                          </a:rPr>
                          <m:t>1−</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𝜔</m:t>
                            </m:r>
                          </m:e>
                          <m:sub>
                            <m:r>
                              <a:rPr lang="en-US" sz="1200" b="0" i="1" smtClean="0">
                                <a:latin typeface="Cambria Math" panose="02040503050406030204" pitchFamily="18" charset="0"/>
                              </a:rPr>
                              <m:t>𝑖</m:t>
                            </m:r>
                          </m:sub>
                          <m:sup>
                            <m:r>
                              <a:rPr lang="en-US" sz="1200" b="0" i="1" smtClean="0">
                                <a:latin typeface="Cambria Math" panose="02040503050406030204" pitchFamily="18" charset="0"/>
                              </a:rPr>
                              <m:t>2</m:t>
                            </m:r>
                          </m:sup>
                        </m:sSubSup>
                      </m:e>
                    </m:rad>
                  </m:oMath>
                </a14:m>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r>
                  <a:rPr lang="en-US" sz="1200" b="0" i="0">
                    <a:latin typeface="Cambria Math" panose="02040503050406030204" pitchFamily="18" charset="0"/>
                  </a:rPr>
                  <a:t>Δ𝜏_𝑖=Δ𝑡√(1−𝑅^2 𝜔_𝑖^2 )</a:t>
                </a:r>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7</a:t>
            </a:fld>
            <a:endParaRPr lang="en-CA"/>
          </a:p>
        </p:txBody>
      </p:sp>
    </p:spTree>
    <p:extLst>
      <p:ext uri="{BB962C8B-B14F-4D97-AF65-F5344CB8AC3E}">
        <p14:creationId xmlns:p14="http://schemas.microsoft.com/office/powerpoint/2010/main" val="490179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213F-E7CD-E5E4-0CEB-EB64BA2FD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5440F-96B0-69C3-E3AA-7C46FACE121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A5E2F0A-0DA0-D668-1DED-BBDAE5F68CF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14:m>
                  <m:oMath xmlns:m="http://schemas.openxmlformats.org/officeDocument/2006/math">
                    <m:r>
                      <m:rPr>
                        <m:sty m:val="p"/>
                      </m:rPr>
                      <a:rPr lang="en-US" sz="1200" b="0" i="0" smtClean="0">
                        <a:latin typeface="Cambria Math" panose="02040503050406030204" pitchFamily="18" charset="0"/>
                      </a:rPr>
                      <m:t>Δ</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𝜏</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r>
                      <m:rPr>
                        <m:sty m:val="p"/>
                      </m:rPr>
                      <a:rPr lang="en-US" sz="1200" b="0" i="0" smtClean="0">
                        <a:latin typeface="Cambria Math" panose="02040503050406030204" pitchFamily="18" charset="0"/>
                      </a:rPr>
                      <m:t>Δ</m:t>
                    </m:r>
                    <m:r>
                      <a:rPr lang="en-US" sz="1200" b="0" i="1" smtClean="0">
                        <a:latin typeface="Cambria Math" panose="02040503050406030204" pitchFamily="18" charset="0"/>
                      </a:rPr>
                      <m:t>𝑡</m:t>
                    </m:r>
                    <m:rad>
                      <m:radPr>
                        <m:degHide m:val="on"/>
                        <m:ctrlPr>
                          <a:rPr lang="en-US" sz="1200" b="0" i="1" smtClean="0">
                            <a:latin typeface="Cambria Math" panose="02040503050406030204" pitchFamily="18" charset="0"/>
                          </a:rPr>
                        </m:ctrlPr>
                      </m:radPr>
                      <m:deg/>
                      <m:e>
                        <m:r>
                          <a:rPr lang="en-US" sz="1200" b="0" i="1" smtClean="0">
                            <a:latin typeface="Cambria Math" panose="02040503050406030204" pitchFamily="18" charset="0"/>
                          </a:rPr>
                          <m:t>1−</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𝜔</m:t>
                            </m:r>
                          </m:e>
                          <m:sub>
                            <m:r>
                              <a:rPr lang="en-US" sz="1200" b="0" i="1" smtClean="0">
                                <a:latin typeface="Cambria Math" panose="02040503050406030204" pitchFamily="18" charset="0"/>
                              </a:rPr>
                              <m:t>𝑖</m:t>
                            </m:r>
                          </m:sub>
                          <m:sup>
                            <m:r>
                              <a:rPr lang="en-US" sz="1200" b="0" i="1" smtClean="0">
                                <a:latin typeface="Cambria Math" panose="02040503050406030204" pitchFamily="18" charset="0"/>
                              </a:rPr>
                              <m:t>2</m:t>
                            </m:r>
                          </m:sup>
                        </m:sSubSup>
                      </m:e>
                    </m:rad>
                  </m:oMath>
                </a14:m>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Choice>
        <mc:Fallback xmlns="">
          <p:sp>
            <p:nvSpPr>
              <p:cNvPr id="3" name="Notes Placeholder 2">
                <a:extLst>
                  <a:ext uri="{FF2B5EF4-FFF2-40B4-BE49-F238E27FC236}">
                    <a16:creationId xmlns:a16="http://schemas.microsoft.com/office/drawing/2014/main" id="{BA5E2F0A-0DA0-D668-1DED-BBDAE5F68CF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r>
                  <a:rPr lang="en-US" sz="1200" b="0" i="0">
                    <a:latin typeface="Cambria Math" panose="02040503050406030204" pitchFamily="18" charset="0"/>
                  </a:rPr>
                  <a:t>Δ𝜏_𝑖=Δ𝑡√(1−𝑅^2 𝜔_𝑖^2 )</a:t>
                </a:r>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Fallback>
      </mc:AlternateContent>
      <p:sp>
        <p:nvSpPr>
          <p:cNvPr id="4" name="Slide Number Placeholder 3">
            <a:extLst>
              <a:ext uri="{FF2B5EF4-FFF2-40B4-BE49-F238E27FC236}">
                <a16:creationId xmlns:a16="http://schemas.microsoft.com/office/drawing/2014/main" id="{10251DC9-A531-0AAC-9EE8-5B226759C051}"/>
              </a:ext>
            </a:extLst>
          </p:cNvPr>
          <p:cNvSpPr>
            <a:spLocks noGrp="1"/>
          </p:cNvSpPr>
          <p:nvPr>
            <p:ph type="sldNum" sz="quarter" idx="5"/>
          </p:nvPr>
        </p:nvSpPr>
        <p:spPr/>
        <p:txBody>
          <a:bodyPr/>
          <a:lstStyle/>
          <a:p>
            <a:fld id="{E40720B4-AB10-0342-9541-2DF5352E8B38}" type="slidenum">
              <a:rPr lang="en-CA" smtClean="0"/>
              <a:t>8</a:t>
            </a:fld>
            <a:endParaRPr lang="en-CA"/>
          </a:p>
        </p:txBody>
      </p:sp>
    </p:spTree>
    <p:extLst>
      <p:ext uri="{BB962C8B-B14F-4D97-AF65-F5344CB8AC3E}">
        <p14:creationId xmlns:p14="http://schemas.microsoft.com/office/powerpoint/2010/main" val="3108392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14:m>
                  <m:oMath xmlns:m="http://schemas.openxmlformats.org/officeDocument/2006/math">
                    <m:r>
                      <m:rPr>
                        <m:sty m:val="p"/>
                      </m:rPr>
                      <a:rPr lang="en-US" sz="1200" b="0" i="0" smtClean="0">
                        <a:latin typeface="Cambria Math" panose="02040503050406030204" pitchFamily="18" charset="0"/>
                      </a:rPr>
                      <m:t>Δ</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𝜏</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r>
                      <m:rPr>
                        <m:sty m:val="p"/>
                      </m:rPr>
                      <a:rPr lang="en-US" sz="1200" b="0" i="0" smtClean="0">
                        <a:latin typeface="Cambria Math" panose="02040503050406030204" pitchFamily="18" charset="0"/>
                      </a:rPr>
                      <m:t>Δ</m:t>
                    </m:r>
                    <m:r>
                      <a:rPr lang="en-US" sz="1200" b="0" i="1" smtClean="0">
                        <a:latin typeface="Cambria Math" panose="02040503050406030204" pitchFamily="18" charset="0"/>
                      </a:rPr>
                      <m:t>𝑡</m:t>
                    </m:r>
                    <m:rad>
                      <m:radPr>
                        <m:degHide m:val="on"/>
                        <m:ctrlPr>
                          <a:rPr lang="en-US" sz="1200" b="0" i="1" smtClean="0">
                            <a:latin typeface="Cambria Math" panose="02040503050406030204" pitchFamily="18" charset="0"/>
                          </a:rPr>
                        </m:ctrlPr>
                      </m:radPr>
                      <m:deg/>
                      <m:e>
                        <m:r>
                          <a:rPr lang="en-US" sz="1200" b="0" i="1" smtClean="0">
                            <a:latin typeface="Cambria Math" panose="02040503050406030204" pitchFamily="18" charset="0"/>
                          </a:rPr>
                          <m:t>1−</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𝜔</m:t>
                            </m:r>
                          </m:e>
                          <m:sub>
                            <m:r>
                              <a:rPr lang="en-US" sz="1200" b="0" i="1" smtClean="0">
                                <a:latin typeface="Cambria Math" panose="02040503050406030204" pitchFamily="18" charset="0"/>
                              </a:rPr>
                              <m:t>𝑖</m:t>
                            </m:r>
                          </m:sub>
                          <m:sup>
                            <m:r>
                              <a:rPr lang="en-US" sz="1200" b="0" i="1" smtClean="0">
                                <a:latin typeface="Cambria Math" panose="02040503050406030204" pitchFamily="18" charset="0"/>
                              </a:rPr>
                              <m:t>2</m:t>
                            </m:r>
                          </m:sup>
                        </m:sSubSup>
                      </m:e>
                    </m:rad>
                  </m:oMath>
                </a14:m>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Over a proper time interval $\Delta \</a:t>
                </a:r>
                <a:r>
                  <a:rPr lang="en-CA" dirty="0" err="1"/>
                  <a:t>tau_i</a:t>
                </a:r>
                <a:r>
                  <a:rPr lang="en-CA" dirty="0"/>
                  <a:t>$, the local unitary implemented by the internal dynamics of each qubit is simply a Bloch rotation around the $\bm </a:t>
                </a:r>
                <a:r>
                  <a:rPr lang="en-CA" dirty="0" err="1"/>
                  <a:t>n_i</a:t>
                </a:r>
                <a:r>
                  <a:rPr lang="en-CA" dirty="0"/>
                  <a:t>$ axis, which takes the form of each factor in Eq. \ref{</a:t>
                </a:r>
                <a:r>
                  <a:rPr lang="en-CA" dirty="0" err="1"/>
                  <a:t>Equation:UDWRotate</a:t>
                </a:r>
                <a:r>
                  <a:rPr lang="en-CA" dirty="0"/>
                  <a:t>} with parameters $\</a:t>
                </a:r>
                <a:r>
                  <a:rPr lang="en-CA" dirty="0" err="1"/>
                  <a:t>theta_i</a:t>
                </a:r>
                <a:r>
                  <a:rPr lang="en-CA" dirty="0"/>
                  <a:t> = \</a:t>
                </a:r>
                <a:r>
                  <a:rPr lang="en-CA" dirty="0" err="1"/>
                  <a:t>Omega_i</a:t>
                </a:r>
                <a:r>
                  <a:rPr lang="en-CA" dirty="0"/>
                  <a:t>\Delta\</a:t>
                </a:r>
                <a:r>
                  <a:rPr lang="en-CA" dirty="0" err="1"/>
                  <a:t>tau_i</a:t>
                </a:r>
                <a:r>
                  <a:rPr lang="en-CA" dirty="0"/>
                  <a:t>/2$. If we now identify the set $\bm \theta = \{\</a:t>
                </a:r>
                <a:r>
                  <a:rPr lang="en-CA" dirty="0" err="1"/>
                  <a:t>theta_i</a:t>
                </a:r>
                <a:r>
                  <a:rPr lang="en-CA" dirty="0"/>
                  <a:t>, \</a:t>
                </a:r>
                <a:r>
                  <a:rPr lang="en-CA" dirty="0" err="1"/>
                  <a:t>vartheta_i</a:t>
                </a:r>
                <a:r>
                  <a:rPr lang="en-CA" dirty="0"/>
                  <a:t>, \</a:t>
                </a:r>
                <a:r>
                  <a:rPr lang="en-CA" dirty="0" err="1"/>
                  <a:t>varphi_i</a:t>
                </a:r>
                <a:r>
                  <a:rPr lang="en-CA" dirty="0"/>
                  <a:t>\}_</a:t>
                </a:r>
                <a:r>
                  <a:rPr lang="en-CA" dirty="0" err="1"/>
                  <a:t>i</a:t>
                </a:r>
                <a:r>
                  <a:rPr lang="en-CA" dirty="0"/>
                  <a:t>$ as our trainable parameters and define the product of these local </a:t>
                </a:r>
                <a:r>
                  <a:rPr lang="en-CA" dirty="0" err="1"/>
                  <a:t>unitaries</a:t>
                </a:r>
                <a:r>
                  <a:rPr lang="en-CA" dirty="0"/>
                  <a:t> as a trainable layer, we get the first part of a VQC Eq. \ref{</a:t>
                </a:r>
                <a:r>
                  <a:rPr lang="en-CA" dirty="0" err="1"/>
                  <a:t>Equation:UDWRotate</a:t>
                </a:r>
                <a:r>
                  <a:rPr lang="en-CA" dirty="0"/>
                  <a:t>}. Importantly, the $\bm \theta$ depend not only on the internal energy gap of the qubits $\</a:t>
                </a:r>
                <a:r>
                  <a:rPr lang="en-CA" dirty="0" err="1"/>
                  <a:t>Omega_i</a:t>
                </a:r>
                <a:r>
                  <a:rPr lang="en-CA" dirty="0"/>
                  <a:t>$, but also on the proper time difference experienced by each qubit while undergoing its respective trajectory.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Mention that ability to choose Pauli rotation direction is a novel resource that allows us to achieve universality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t>e.g. circular trajectories in Minkowski </a:t>
                </a:r>
                <a:r>
                  <a:rPr lang="en-US" sz="1200" b="0" i="0">
                    <a:latin typeface="Cambria Math" panose="02040503050406030204" pitchFamily="18" charset="0"/>
                  </a:rPr>
                  <a:t>Δ𝜏_𝑖=Δ𝑡√(1−𝑅^2 𝜔_𝑖^2 )</a:t>
                </a:r>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9</a:t>
            </a:fld>
            <a:endParaRPr lang="en-CA"/>
          </a:p>
        </p:txBody>
      </p:sp>
    </p:spTree>
    <p:extLst>
      <p:ext uri="{BB962C8B-B14F-4D97-AF65-F5344CB8AC3E}">
        <p14:creationId xmlns:p14="http://schemas.microsoft.com/office/powerpoint/2010/main" val="490179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The entangling channel $\</a:t>
            </a:r>
            <a:r>
              <a:rPr lang="en-CA" dirty="0" err="1"/>
              <a:t>mathcal</a:t>
            </a:r>
            <a:r>
              <a:rPr lang="en-CA" dirty="0"/>
              <a:t>{E}$ is implemented by allowing the qubits to interact with a quantum field via the UDW detector model. The interaction of a two-level UDW detector with a scalar quantum field $\hat{\phi}(\mf x)$ is often prescribed by the interaction Hamiltonian density~\cite{us,us2,Landulfo,analytical}</a:t>
            </a:r>
          </a:p>
          <a:p>
            <a:r>
              <a:rPr lang="en-CA" dirty="0"/>
              <a:t>\begin{equation}</a:t>
            </a:r>
          </a:p>
          <a:p>
            <a:r>
              <a:rPr lang="en-CA" dirty="0"/>
              <a:t>    \hat{h}_</a:t>
            </a:r>
            <a:r>
              <a:rPr lang="en-CA" dirty="0" err="1"/>
              <a:t>i</a:t>
            </a:r>
            <a:r>
              <a:rPr lang="en-CA" dirty="0"/>
              <a:t>(\mf x)  = \lambda \</a:t>
            </a:r>
            <a:r>
              <a:rPr lang="en-CA" dirty="0" err="1"/>
              <a:t>Lambda_i</a:t>
            </a:r>
            <a:r>
              <a:rPr lang="en-CA" dirty="0"/>
              <a:t>(\mf x) \hat{\mu}_</a:t>
            </a:r>
            <a:r>
              <a:rPr lang="en-CA" dirty="0" err="1"/>
              <a:t>i</a:t>
            </a:r>
            <a:r>
              <a:rPr lang="en-CA" dirty="0"/>
              <a:t> \hat{\phi}(\mf x),</a:t>
            </a:r>
          </a:p>
          <a:p>
            <a:r>
              <a:rPr lang="en-CA" dirty="0"/>
              <a:t>\end{equation}</a:t>
            </a:r>
          </a:p>
          <a:p>
            <a:r>
              <a:rPr lang="en-CA" dirty="0"/>
              <a:t>where the $\lambda$ are coupling constants, $\hat{\mu}_</a:t>
            </a:r>
            <a:r>
              <a:rPr lang="en-CA" dirty="0" err="1"/>
              <a:t>i</a:t>
            </a:r>
            <a:r>
              <a:rPr lang="en-CA" dirty="0"/>
              <a:t>$ is an operator acting in the Hilbert space of detector $</a:t>
            </a:r>
            <a:r>
              <a:rPr lang="en-CA" dirty="0" err="1"/>
              <a:t>i</a:t>
            </a:r>
            <a:r>
              <a:rPr lang="en-CA" dirty="0"/>
              <a:t>$ and $\</a:t>
            </a:r>
            <a:r>
              <a:rPr lang="en-CA" dirty="0" err="1"/>
              <a:t>Lambda_i</a:t>
            </a:r>
            <a:r>
              <a:rPr lang="en-CA" dirty="0"/>
              <a:t>(\mf x)$ is a spacetime smearing function, which defines the shape of the interaction in spacetime. The idea is that the function $\</a:t>
            </a:r>
            <a:r>
              <a:rPr lang="en-CA" dirty="0" err="1"/>
              <a:t>Lambda_i</a:t>
            </a:r>
            <a:r>
              <a:rPr lang="en-CA" dirty="0"/>
              <a:t>(\mf x)$ is strongly supported around the detector's trajectory, $\mf </a:t>
            </a:r>
            <a:r>
              <a:rPr lang="en-CA" dirty="0" err="1"/>
              <a:t>z_i</a:t>
            </a:r>
            <a:r>
              <a:rPr lang="en-CA" dirty="0"/>
              <a:t>(\</a:t>
            </a:r>
            <a:r>
              <a:rPr lang="en-CA" dirty="0" err="1"/>
              <a:t>tau_i</a:t>
            </a:r>
            <a:r>
              <a:rPr lang="en-CA" dirty="0"/>
              <a:t>)$ and that its spatial extent corresponds to the detector's shape in its own rest space. In our setup, we consider that the support of $\</a:t>
            </a:r>
            <a:r>
              <a:rPr lang="en-CA" dirty="0" err="1"/>
              <a:t>Lambda_i</a:t>
            </a:r>
            <a:r>
              <a:rPr lang="en-CA" dirty="0"/>
              <a:t>(\mf x)$ is contained in the region $t_1 &lt; t &lt; t_2$, so that the interaction takes place after the local </a:t>
            </a:r>
            <a:r>
              <a:rPr lang="en-CA" dirty="0" err="1"/>
              <a:t>unitaries</a:t>
            </a:r>
            <a:r>
              <a:rPr lang="en-CA" dirty="0"/>
              <a:t> Eq.~\</a:t>
            </a:r>
            <a:r>
              <a:rPr lang="en-CA" dirty="0" err="1"/>
              <a:t>eqref</a:t>
            </a:r>
            <a:r>
              <a:rPr lang="en-CA" dirty="0"/>
              <a:t>{</a:t>
            </a:r>
            <a:r>
              <a:rPr lang="en-CA" dirty="0" err="1"/>
              <a:t>Equation:UDWRotate</a:t>
            </a:r>
            <a:r>
              <a:rPr lang="en-CA" dirty="0"/>
              <a:t>} are applied to the qubits. We assume that while the interactions with the field take place, the detector's internal dynamics are switched off (i.e. $\</a:t>
            </a:r>
            <a:r>
              <a:rPr lang="en-CA" dirty="0" err="1"/>
              <a:t>Omega_i</a:t>
            </a:r>
            <a:r>
              <a:rPr lang="en-CA" dirty="0"/>
              <a:t> = 0$), so that their evolution is entirely determined by their interaction with the field. </a:t>
            </a:r>
          </a:p>
          <a:p>
            <a:endParaRPr lang="en-CA" dirty="0"/>
          </a:p>
          <a:p>
            <a:r>
              <a:rPr lang="en-CA" dirty="0"/>
              <a:t>The dynamics of the detectors can be computed by applying the time evolution operator associated with the total interaction Hamiltonian density, $\sum_{</a:t>
            </a:r>
            <a:r>
              <a:rPr lang="en-CA" dirty="0" err="1"/>
              <a:t>i</a:t>
            </a:r>
            <a:r>
              <a:rPr lang="en-CA" dirty="0"/>
              <a:t>=1}^N \hat{h}_</a:t>
            </a:r>
            <a:r>
              <a:rPr lang="en-CA" dirty="0" err="1"/>
              <a:t>i</a:t>
            </a:r>
            <a:r>
              <a:rPr lang="en-CA" dirty="0"/>
              <a:t>(\mf x)$ and tracing over the field state. This gives rise to a quantum channel $\</a:t>
            </a:r>
            <a:r>
              <a:rPr lang="en-CA" dirty="0" err="1"/>
              <a:t>mathcal</a:t>
            </a:r>
            <a:r>
              <a:rPr lang="en-CA" dirty="0"/>
              <a:t>{E}$, which can entangle the qubits with each other (for $\hat{\mu}_</a:t>
            </a:r>
            <a:r>
              <a:rPr lang="en-CA" dirty="0" err="1"/>
              <a:t>i</a:t>
            </a:r>
            <a:r>
              <a:rPr lang="en-CA" dirty="0"/>
              <a:t> \</a:t>
            </a:r>
            <a:r>
              <a:rPr lang="en-CA" dirty="0" err="1"/>
              <a:t>neq</a:t>
            </a:r>
            <a:r>
              <a:rPr lang="en-CA" dirty="0"/>
              <a:t> \</a:t>
            </a:r>
            <a:r>
              <a:rPr lang="en-CA" dirty="0" err="1"/>
              <a:t>openone</a:t>
            </a:r>
            <a:r>
              <a:rPr lang="en-CA" dirty="0"/>
              <a:t>$), but also with the field. For simplicity, we assume the field to be in a quasi-free state\footnote{A quasi-free state is a zero mean Gaussian state. Typical states that satisfy this condition are thermal states and most choices of </a:t>
            </a:r>
            <a:r>
              <a:rPr lang="en-CA" dirty="0" err="1"/>
              <a:t>vacua</a:t>
            </a:r>
            <a:r>
              <a:rPr lang="en-CA" dirty="0"/>
              <a:t>.} and we compute the channel $\</a:t>
            </a:r>
            <a:r>
              <a:rPr lang="en-CA" dirty="0" err="1"/>
              <a:t>mathcal</a:t>
            </a:r>
            <a:r>
              <a:rPr lang="en-CA" dirty="0"/>
              <a:t>{E}$ explicitly in Appendix~\ref{</a:t>
            </a:r>
            <a:r>
              <a:rPr lang="en-CA" dirty="0" err="1"/>
              <a:t>Appendix:Calculations</a:t>
            </a:r>
            <a:r>
              <a:rPr lang="en-CA" dirty="0"/>
              <a:t>}. There we show that it can be decomposed as</a:t>
            </a:r>
          </a:p>
          <a:p>
            <a:r>
              <a:rPr lang="en-CA" dirty="0"/>
              <a:t>\begin{equation}</a:t>
            </a:r>
          </a:p>
          <a:p>
            <a:r>
              <a:rPr lang="en-CA" dirty="0"/>
              <a:t>    \E(\hat{\rho}_0) = \hat{U}_\</a:t>
            </a:r>
            <a:r>
              <a:rPr lang="en-CA" dirty="0" err="1"/>
              <a:t>tc</a:t>
            </a:r>
            <a:r>
              <a:rPr lang="en-CA" dirty="0"/>
              <a:t>{c} \E_\phi(\hat{\rho}_0) \hat{U}_\</a:t>
            </a:r>
            <a:r>
              <a:rPr lang="en-CA" dirty="0" err="1"/>
              <a:t>tc</a:t>
            </a:r>
            <a:r>
              <a:rPr lang="en-CA" dirty="0"/>
              <a:t>{c}^\dagger\,,</a:t>
            </a:r>
          </a:p>
          <a:p>
            <a:r>
              <a:rPr lang="en-CA" dirty="0"/>
              <a:t>\end{equation}</a:t>
            </a:r>
          </a:p>
          <a:p>
            <a:r>
              <a:rPr lang="en-CA" dirty="0"/>
              <a:t>where $\E_\phi$ is a quantum channel that introduces decoherence due to entanglement between the qubits and the field and $\hat{U}_\</a:t>
            </a:r>
            <a:r>
              <a:rPr lang="en-CA" dirty="0" err="1"/>
              <a:t>tc</a:t>
            </a:r>
            <a:r>
              <a:rPr lang="en-CA" dirty="0"/>
              <a:t>{c}$ is an entangling unitary that can be written in the form</a:t>
            </a:r>
          </a:p>
          <a:p>
            <a:r>
              <a:rPr lang="en-CA" dirty="0"/>
              <a:t>\begin{equation} \label{</a:t>
            </a:r>
            <a:r>
              <a:rPr lang="en-CA" dirty="0" err="1"/>
              <a:t>Equation:UDWEntangle</a:t>
            </a:r>
            <a:r>
              <a:rPr lang="en-CA" dirty="0"/>
              <a:t>}</a:t>
            </a:r>
          </a:p>
          <a:p>
            <a:r>
              <a:rPr lang="en-CA" dirty="0"/>
              <a:t>    \hat{U}_\</a:t>
            </a:r>
            <a:r>
              <a:rPr lang="en-CA" dirty="0" err="1"/>
              <a:t>tc</a:t>
            </a:r>
            <a:r>
              <a:rPr lang="en-CA" dirty="0"/>
              <a:t>{c} = e^{- \frac{\ii\lambda^2}{2}\sum_{{</a:t>
            </a:r>
            <a:r>
              <a:rPr lang="en-CA" dirty="0" err="1"/>
              <a:t>i</a:t>
            </a:r>
            <a:r>
              <a:rPr lang="en-CA" dirty="0"/>
              <a:t>&lt;j}} \Delta_{</a:t>
            </a:r>
            <a:r>
              <a:rPr lang="en-CA" dirty="0" err="1"/>
              <a:t>ij</a:t>
            </a:r>
            <a:r>
              <a:rPr lang="en-CA" dirty="0"/>
              <a:t>} \hat{\mu}_</a:t>
            </a:r>
            <a:r>
              <a:rPr lang="en-CA" dirty="0" err="1"/>
              <a:t>i</a:t>
            </a:r>
            <a:r>
              <a:rPr lang="en-CA" dirty="0"/>
              <a:t> \hat{\mu}_j}\,,</a:t>
            </a:r>
          </a:p>
          <a:p>
            <a:r>
              <a:rPr lang="en-CA" dirty="0"/>
              <a:t>\end{equation}</a:t>
            </a:r>
          </a:p>
          <a:p>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 In a way, the unitary $\hat{U}_\</a:t>
            </a:r>
            <a:r>
              <a:rPr lang="en-CA" dirty="0" err="1"/>
              <a:t>tc</a:t>
            </a:r>
            <a:r>
              <a:rPr lang="en-CA" dirty="0"/>
              <a:t>{c}$ is a weighted version of the M\o </a:t>
            </a:r>
            <a:r>
              <a:rPr lang="en-CA" dirty="0" err="1"/>
              <a:t>lmer</a:t>
            </a:r>
            <a:r>
              <a:rPr lang="en-CA" dirty="0"/>
              <a:t>-S\o </a:t>
            </a:r>
            <a:r>
              <a:rPr lang="en-CA" dirty="0" err="1"/>
              <a:t>rensen</a:t>
            </a:r>
            <a:r>
              <a:rPr lang="en-CA" dirty="0"/>
              <a:t> gate in quantum optics.</a:t>
            </a:r>
          </a:p>
          <a:p>
            <a:pPr marL="171450" indent="-171450">
              <a:buFont typeface="Arial" panose="020B0604020202020204" pitchFamily="34" charset="0"/>
              <a:buChar char="•"/>
            </a:pPr>
            <a:r>
              <a:rPr lang="en-CA" dirty="0"/>
              <a:t>Detectors are in causal contact for a long time compared to their separation so the notion of simultaneous is somewhat well-defined.</a:t>
            </a:r>
          </a:p>
          <a:p>
            <a:pPr marL="171450" indent="-171450">
              <a:buFont typeface="Arial" panose="020B0604020202020204" pitchFamily="34" charset="0"/>
              <a:buChar char="•"/>
            </a:pPr>
            <a:r>
              <a:rPr lang="en-CA" dirty="0"/>
              <a:t>Using a time-independent monopole operator is similar to using gapless detectors, which we assume anyway during the field interaction.</a:t>
            </a:r>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10</a:t>
            </a:fld>
            <a:endParaRPr lang="en-CA"/>
          </a:p>
        </p:txBody>
      </p:sp>
    </p:spTree>
    <p:extLst>
      <p:ext uri="{BB962C8B-B14F-4D97-AF65-F5344CB8AC3E}">
        <p14:creationId xmlns:p14="http://schemas.microsoft.com/office/powerpoint/2010/main" val="3974226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14:m>
                  <m:oMath xmlns:m="http://schemas.openxmlformats.org/officeDocument/2006/math">
                    <m:r>
                      <a:rPr lang="en-CA" i="1" smtClean="0">
                        <a:latin typeface="Cambria Math" panose="02040503050406030204" pitchFamily="18" charset="0"/>
                        <a:ea typeface="Cambria Math" panose="02040503050406030204" pitchFamily="18" charset="0"/>
                      </a:rPr>
                      <m:t>𝒲</m:t>
                    </m:r>
                  </m:oMath>
                </a14:m>
                <a:r>
                  <a:rPr lang="en-CA" dirty="0"/>
                  <a:t> is often of order unity when the field is in a state that has a low particle number, as perceived by the detectors (This would not be the case if the field was in a highly excited state, or if the detectors were in extreme states of motion while interacting with the field (such as accelerations high enough so that Unruh-like effects would take place)</a:t>
                </a:r>
              </a:p>
              <a:p>
                <a:pPr marL="171450" indent="-171450">
                  <a:buFont typeface="Arial" panose="020B0604020202020204" pitchFamily="34" charset="0"/>
                  <a:buChar char="•"/>
                </a:pPr>
                <a:r>
                  <a:rPr lang="en-CA" dirty="0"/>
                  <a:t>Notice that having $N\</a:t>
                </a:r>
                <a:r>
                  <a:rPr lang="en-CA" dirty="0" err="1"/>
                  <a:t>ll</a:t>
                </a:r>
                <a:r>
                  <a:rPr lang="en-CA" dirty="0"/>
                  <a:t> \lambda^{-2} $ does not prevent us from having meaningful entanglement generated by the unitary $\hat{U}_\</a:t>
                </a:r>
                <a:r>
                  <a:rPr lang="en-CA" dirty="0" err="1"/>
                  <a:t>tc</a:t>
                </a:r>
                <a:r>
                  <a:rPr lang="en-CA" dirty="0"/>
                  <a:t>{c}$, provided that $|\lambda^2\Delta_{</a:t>
                </a:r>
                <a:r>
                  <a:rPr lang="en-CA" dirty="0" err="1"/>
                  <a:t>ij</a:t>
                </a:r>
                <a:r>
                  <a:rPr lang="en-CA" dirty="0"/>
                  <a:t>}|\sim 1$. This is a reasonable assumption provided that $T\sim \lambda^{-2} L$, where $T$ is the time duration of the interaction with the field and $L$ is the minimal detector separation between detectors in the setup.}. </a:t>
                </a:r>
              </a:p>
              <a:p>
                <a:pPr marL="171450" indent="-171450">
                  <a:buFont typeface="Arial" panose="020B0604020202020204" pitchFamily="34" charset="0"/>
                  <a:buChar char="•"/>
                </a:pPr>
                <a:r>
                  <a:rPr lang="en-CA" dirty="0"/>
                  <a:t>Under this assumption, the channel $\</a:t>
                </a:r>
                <a:r>
                  <a:rPr lang="en-CA" dirty="0" err="1"/>
                  <a:t>mathcal</a:t>
                </a:r>
                <a:r>
                  <a:rPr lang="en-CA" dirty="0"/>
                  <a:t>{E}_\phi$ acts as a weakly decohering channel. While the effect may be relatively small, the noise introduced from the interaction with the quantum field is always present regardless of the specifics of the interaction, since the noise terms are present even when the field is in its vacuum state. However, the noise terms are typically negligible in many realistic and experimental scenarios. </a:t>
                </a:r>
              </a:p>
              <a:p>
                <a:pPr marL="171450" indent="-171450">
                  <a:buFont typeface="Arial" panose="020B0604020202020204" pitchFamily="34" charset="0"/>
                  <a:buChar char="•"/>
                </a:pPr>
                <a:r>
                  <a:rPr lang="en-CA" dirty="0"/>
                  <a:t>where $T$ controls the interaction duration, $\sigma$ is the effective size of the detectors, and $t_\</a:t>
                </a:r>
                <a:r>
                  <a:rPr lang="en-CA" dirty="0" err="1"/>
                  <a:t>tc</a:t>
                </a:r>
                <a:r>
                  <a:rPr lang="en-CA" dirty="0"/>
                  <a:t>{c}$ is the center of the interaction duration in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Pure initial states are very common in typical RQI setups, so this lower bound should be useful</a:t>
                </a:r>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i="0">
                    <a:latin typeface="Cambria Math" panose="02040503050406030204" pitchFamily="18" charset="0"/>
                    <a:ea typeface="Cambria Math" panose="02040503050406030204" pitchFamily="18" charset="0"/>
                  </a:rPr>
                  <a:t>𝒲</a:t>
                </a:r>
                <a:r>
                  <a:rPr lang="en-CA" dirty="0"/>
                  <a:t> is often of order unity when the field is in a state that has a low particle number, as perceived by the detectors (This would not be the case if the field was in a highly excited state, or if the detectors were in extreme states of motion while interacting with the field (such as accelerations high enough so that Unruh-like effects would take place)</a:t>
                </a:r>
              </a:p>
              <a:p>
                <a:pPr marL="171450" indent="-171450">
                  <a:buFont typeface="Arial" panose="020B0604020202020204" pitchFamily="34" charset="0"/>
                  <a:buChar char="•"/>
                </a:pPr>
                <a:r>
                  <a:rPr lang="en-CA" dirty="0"/>
                  <a:t>Notice that having $N\</a:t>
                </a:r>
                <a:r>
                  <a:rPr lang="en-CA" dirty="0" err="1"/>
                  <a:t>ll</a:t>
                </a:r>
                <a:r>
                  <a:rPr lang="en-CA" dirty="0"/>
                  <a:t> \lambda^{-2} $ does not prevent us from having meaningful entanglement generated by the unitary $\hat{U}_\</a:t>
                </a:r>
                <a:r>
                  <a:rPr lang="en-CA" dirty="0" err="1"/>
                  <a:t>tc</a:t>
                </a:r>
                <a:r>
                  <a:rPr lang="en-CA" dirty="0"/>
                  <a:t>{c}$, provided that $|\lambda^2\Delta_{</a:t>
                </a:r>
                <a:r>
                  <a:rPr lang="en-CA" dirty="0" err="1"/>
                  <a:t>ij</a:t>
                </a:r>
                <a:r>
                  <a:rPr lang="en-CA" dirty="0"/>
                  <a:t>}|\sim 1$. This is a reasonable assumption provided that $T\sim \lambda^{-2} L$, where $T$ is the time duration of the interaction with the field and $L$ is the minimal detector separation between detectors in the setup.}. </a:t>
                </a:r>
              </a:p>
              <a:p>
                <a:pPr marL="171450" indent="-171450">
                  <a:buFont typeface="Arial" panose="020B0604020202020204" pitchFamily="34" charset="0"/>
                  <a:buChar char="•"/>
                </a:pPr>
                <a:r>
                  <a:rPr lang="en-CA" dirty="0"/>
                  <a:t>Under this assumption, the channel $\</a:t>
                </a:r>
                <a:r>
                  <a:rPr lang="en-CA" dirty="0" err="1"/>
                  <a:t>mathcal</a:t>
                </a:r>
                <a:r>
                  <a:rPr lang="en-CA" dirty="0"/>
                  <a:t>{E}_\phi$ acts as a weakly decohering channel. While the effect may be relatively small, the noise introduced from the interaction with the quantum field is always present regardless of the specifics of the interaction, since the noise terms are present even when the field is in its vacuum state. However, the noise terms are typically negligible in many realistic and experimental scenarios. </a:t>
                </a:r>
              </a:p>
              <a:p>
                <a:pPr marL="171450" indent="-171450">
                  <a:buFont typeface="Arial" panose="020B0604020202020204" pitchFamily="34" charset="0"/>
                  <a:buChar char="•"/>
                </a:pPr>
                <a:r>
                  <a:rPr lang="en-CA" dirty="0"/>
                  <a:t>where $T$ controls the interaction duration, $\sigma$ is the effective size of the detectors, and $t_\</a:t>
                </a:r>
                <a:r>
                  <a:rPr lang="en-CA" dirty="0" err="1"/>
                  <a:t>tc</a:t>
                </a:r>
                <a:r>
                  <a:rPr lang="en-CA" dirty="0"/>
                  <a:t>{c}$ is the center of the interaction duration in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Pure initial states are very common in typical RQI setups, so this lower bound should be useful</a:t>
                </a:r>
              </a:p>
              <a:p>
                <a:pPr marL="171450" indent="-171450">
                  <a:buFont typeface="Arial" panose="020B0604020202020204" pitchFamily="34" charset="0"/>
                  <a:buChar char="•"/>
                </a:pPr>
                <a:endParaRPr lang="en-CA" dirty="0"/>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11</a:t>
            </a:fld>
            <a:endParaRPr lang="en-CA"/>
          </a:p>
        </p:txBody>
      </p:sp>
    </p:spTree>
    <p:extLst>
      <p:ext uri="{BB962C8B-B14F-4D97-AF65-F5344CB8AC3E}">
        <p14:creationId xmlns:p14="http://schemas.microsoft.com/office/powerpoint/2010/main" val="3971699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F4714-DEC9-AFA1-37A7-C2FCA7D06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83510-5708-AAFD-8EB9-AF289CCBA14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6971BE1-9878-B359-EA99-97224515328F}"/>
                  </a:ext>
                </a:extLst>
              </p:cNvPr>
              <p:cNvSpPr>
                <a:spLocks noGrp="1"/>
              </p:cNvSpPr>
              <p:nvPr>
                <p:ph type="body" idx="1"/>
              </p:nvPr>
            </p:nvSpPr>
            <p:spPr/>
            <p:txBody>
              <a:bodyPr/>
              <a:lstStyle/>
              <a:p>
                <a:pPr marL="171450" indent="-171450">
                  <a:buFont typeface="Arial" panose="020B0604020202020204" pitchFamily="34" charset="0"/>
                  <a:buChar char="•"/>
                </a:pPr>
                <a14:m>
                  <m:oMath xmlns:m="http://schemas.openxmlformats.org/officeDocument/2006/math">
                    <m:r>
                      <a:rPr lang="en-CA" i="1" smtClean="0">
                        <a:latin typeface="Cambria Math" panose="02040503050406030204" pitchFamily="18" charset="0"/>
                        <a:ea typeface="Cambria Math" panose="02040503050406030204" pitchFamily="18" charset="0"/>
                      </a:rPr>
                      <m:t>𝒲</m:t>
                    </m:r>
                  </m:oMath>
                </a14:m>
                <a:r>
                  <a:rPr lang="en-CA" dirty="0"/>
                  <a:t> is often of order unity when the field is in a state that has a low particle number, as perceived by the detectors (This would not be the case if the field was in a highly excited state, or if the detectors were in extreme states of motion while interacting with the field (such as accelerations high enough so that Unruh-like effects would take place)</a:t>
                </a:r>
              </a:p>
              <a:p>
                <a:pPr marL="171450" indent="-171450">
                  <a:buFont typeface="Arial" panose="020B0604020202020204" pitchFamily="34" charset="0"/>
                  <a:buChar char="•"/>
                </a:pPr>
                <a:r>
                  <a:rPr lang="en-CA" dirty="0"/>
                  <a:t>Notice that having $N\</a:t>
                </a:r>
                <a:r>
                  <a:rPr lang="en-CA" dirty="0" err="1"/>
                  <a:t>ll</a:t>
                </a:r>
                <a:r>
                  <a:rPr lang="en-CA" dirty="0"/>
                  <a:t> \lambda^{-2} $ does not prevent us from having meaningful entanglement generated by the unitary $\hat{U}_\</a:t>
                </a:r>
                <a:r>
                  <a:rPr lang="en-CA" dirty="0" err="1"/>
                  <a:t>tc</a:t>
                </a:r>
                <a:r>
                  <a:rPr lang="en-CA" dirty="0"/>
                  <a:t>{c}$, provided that $|\lambda^2\Delta_{</a:t>
                </a:r>
                <a:r>
                  <a:rPr lang="en-CA" dirty="0" err="1"/>
                  <a:t>ij</a:t>
                </a:r>
                <a:r>
                  <a:rPr lang="en-CA" dirty="0"/>
                  <a:t>}|\sim 1$. This is a reasonable assumption provided that $T\sim \lambda^{-2} L$, where $T$ is the time duration of the interaction with the field and $L$ is the minimal detector separation between detectors in the setup.}. </a:t>
                </a:r>
              </a:p>
              <a:p>
                <a:pPr marL="171450" indent="-171450">
                  <a:buFont typeface="Arial" panose="020B0604020202020204" pitchFamily="34" charset="0"/>
                  <a:buChar char="•"/>
                </a:pPr>
                <a:r>
                  <a:rPr lang="en-CA" dirty="0"/>
                  <a:t>Under this assumption, the channel $\</a:t>
                </a:r>
                <a:r>
                  <a:rPr lang="en-CA" dirty="0" err="1"/>
                  <a:t>mathcal</a:t>
                </a:r>
                <a:r>
                  <a:rPr lang="en-CA" dirty="0"/>
                  <a:t>{E}_\phi$ acts as a weakly decohering channel. While the effect may be relatively small, the noise introduced from the interaction with the quantum field is always present regardless of the specifics of the interaction, since the noise terms are present even when the field is in its vacuum state. However, the noise terms are typically negligible in many realistic and experimental scenarios. </a:t>
                </a:r>
              </a:p>
              <a:p>
                <a:pPr marL="171450" indent="-171450">
                  <a:buFont typeface="Arial" panose="020B0604020202020204" pitchFamily="34" charset="0"/>
                  <a:buChar char="•"/>
                </a:pPr>
                <a:r>
                  <a:rPr lang="en-CA" dirty="0"/>
                  <a:t>where $T$ controls the interaction duration, $\sigma$ is the effective size of the detectors, and $t_\</a:t>
                </a:r>
                <a:r>
                  <a:rPr lang="en-CA" dirty="0" err="1"/>
                  <a:t>tc</a:t>
                </a:r>
                <a:r>
                  <a:rPr lang="en-CA" dirty="0"/>
                  <a:t>{c}$ is the center of the interaction duration in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Pure initial states are very common in typical RQI setups, so this lower bound should be useful</a:t>
                </a:r>
              </a:p>
              <a:p>
                <a:pPr marL="171450" indent="-171450">
                  <a:buFont typeface="Arial" panose="020B0604020202020204" pitchFamily="34" charset="0"/>
                  <a:buChar char="•"/>
                </a:pPr>
                <a:endParaRPr lang="en-CA" dirty="0"/>
              </a:p>
            </p:txBody>
          </p:sp>
        </mc:Choice>
        <mc:Fallback xmlns="">
          <p:sp>
            <p:nvSpPr>
              <p:cNvPr id="3" name="Notes Placeholder 2">
                <a:extLst>
                  <a:ext uri="{FF2B5EF4-FFF2-40B4-BE49-F238E27FC236}">
                    <a16:creationId xmlns:a16="http://schemas.microsoft.com/office/drawing/2014/main" id="{46971BE1-9878-B359-EA99-97224515328F}"/>
                  </a:ext>
                </a:extLst>
              </p:cNvPr>
              <p:cNvSpPr>
                <a:spLocks noGrp="1"/>
              </p:cNvSpPr>
              <p:nvPr>
                <p:ph type="body" idx="1"/>
              </p:nvPr>
            </p:nvSpPr>
            <p:spPr/>
            <p:txBody>
              <a:bodyPr/>
              <a:lstStyle/>
              <a:p>
                <a:pPr marL="171450" indent="-171450">
                  <a:buFont typeface="Arial" panose="020B0604020202020204" pitchFamily="34" charset="0"/>
                  <a:buChar char="•"/>
                </a:pPr>
                <a:r>
                  <a:rPr lang="en-CA" i="0">
                    <a:latin typeface="Cambria Math" panose="02040503050406030204" pitchFamily="18" charset="0"/>
                    <a:ea typeface="Cambria Math" panose="02040503050406030204" pitchFamily="18" charset="0"/>
                  </a:rPr>
                  <a:t>𝒲</a:t>
                </a:r>
                <a:r>
                  <a:rPr lang="en-CA" dirty="0"/>
                  <a:t> is often of order unity when the field is in a state that has a low particle number, as perceived by the detectors (This would not be the case if the field was in a highly excited state, or if the detectors were in extreme states of motion while interacting with the field (such as accelerations high enough so that Unruh-like effects would take place)</a:t>
                </a:r>
              </a:p>
              <a:p>
                <a:pPr marL="171450" indent="-171450">
                  <a:buFont typeface="Arial" panose="020B0604020202020204" pitchFamily="34" charset="0"/>
                  <a:buChar char="•"/>
                </a:pPr>
                <a:r>
                  <a:rPr lang="en-CA" dirty="0"/>
                  <a:t>Notice that having $N\</a:t>
                </a:r>
                <a:r>
                  <a:rPr lang="en-CA" dirty="0" err="1"/>
                  <a:t>ll</a:t>
                </a:r>
                <a:r>
                  <a:rPr lang="en-CA" dirty="0"/>
                  <a:t> \lambda^{-2} $ does not prevent us from having meaningful entanglement generated by the unitary $\hat{U}_\</a:t>
                </a:r>
                <a:r>
                  <a:rPr lang="en-CA" dirty="0" err="1"/>
                  <a:t>tc</a:t>
                </a:r>
                <a:r>
                  <a:rPr lang="en-CA" dirty="0"/>
                  <a:t>{c}$, provided that $|\lambda^2\Delta_{</a:t>
                </a:r>
                <a:r>
                  <a:rPr lang="en-CA" dirty="0" err="1"/>
                  <a:t>ij</a:t>
                </a:r>
                <a:r>
                  <a:rPr lang="en-CA" dirty="0"/>
                  <a:t>}|\sim 1$. This is a reasonable assumption provided that $T\sim \lambda^{-2} L$, where $T$ is the time duration of the interaction with the field and $L$ is the minimal detector separation between detectors in the setup.}. </a:t>
                </a:r>
              </a:p>
              <a:p>
                <a:pPr marL="171450" indent="-171450">
                  <a:buFont typeface="Arial" panose="020B0604020202020204" pitchFamily="34" charset="0"/>
                  <a:buChar char="•"/>
                </a:pPr>
                <a:r>
                  <a:rPr lang="en-CA" dirty="0"/>
                  <a:t>Under this assumption, the channel $\</a:t>
                </a:r>
                <a:r>
                  <a:rPr lang="en-CA" dirty="0" err="1"/>
                  <a:t>mathcal</a:t>
                </a:r>
                <a:r>
                  <a:rPr lang="en-CA" dirty="0"/>
                  <a:t>{E}_\phi$ acts as a weakly decohering channel. While the effect may be relatively small, the noise introduced from the interaction with the quantum field is always present regardless of the specifics of the interaction, since the noise terms are present even when the field is in its vacuum state. However, the noise terms are typically negligible in many realistic and experimental scenarios. </a:t>
                </a:r>
              </a:p>
              <a:p>
                <a:pPr marL="171450" indent="-171450">
                  <a:buFont typeface="Arial" panose="020B0604020202020204" pitchFamily="34" charset="0"/>
                  <a:buChar char="•"/>
                </a:pPr>
                <a:r>
                  <a:rPr lang="en-CA" dirty="0"/>
                  <a:t>where $T$ controls the interaction duration, $\sigma$ is the effective size of the detectors, and $t_\</a:t>
                </a:r>
                <a:r>
                  <a:rPr lang="en-CA" dirty="0" err="1"/>
                  <a:t>tc</a:t>
                </a:r>
                <a:r>
                  <a:rPr lang="en-CA" dirty="0"/>
                  <a:t>{c}$ is the center of the interaction duration in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where $\Delta_{</a:t>
                </a:r>
                <a:r>
                  <a:rPr lang="en-CA" dirty="0" err="1"/>
                  <a:t>ij</a:t>
                </a:r>
                <a:r>
                  <a:rPr lang="en-CA" dirty="0"/>
                  <a:t>}$ are parameters that depend on retarded propagation of the qubit interaction regions through the field and usually behave proportionately to the ratio of the interaction time of the qubits with the field and their proper separation. A key assumption for the entangling unitary to act meaningfully between the qubit pairs is that $|\lambda^2 \Delta_{</a:t>
                </a:r>
                <a:r>
                  <a:rPr lang="en-CA" dirty="0" err="1"/>
                  <a:t>ij</a:t>
                </a:r>
                <a:r>
                  <a:rPr lang="en-CA" dirty="0"/>
                  <a:t>}| \sim 1$. This can be accomplished whenever the qubits' interaction regions are in causal contact for enough time, which allows for the field to mediate a sufficient amount of entanglement between the qubits. We emphasize that our calculations allow us to couple detectors simultaneously to the field, meaning that we can get a globally entangling unitary on all detectors.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Pure initial states are very common in typical RQI setups, so this lower bound should be useful</a:t>
                </a:r>
              </a:p>
              <a:p>
                <a:pPr marL="171450" indent="-171450">
                  <a:buFont typeface="Arial" panose="020B0604020202020204" pitchFamily="34" charset="0"/>
                  <a:buChar char="•"/>
                </a:pPr>
                <a:endParaRPr lang="en-CA" dirty="0"/>
              </a:p>
            </p:txBody>
          </p:sp>
        </mc:Fallback>
      </mc:AlternateContent>
      <p:sp>
        <p:nvSpPr>
          <p:cNvPr id="4" name="Slide Number Placeholder 3">
            <a:extLst>
              <a:ext uri="{FF2B5EF4-FFF2-40B4-BE49-F238E27FC236}">
                <a16:creationId xmlns:a16="http://schemas.microsoft.com/office/drawing/2014/main" id="{95858097-45B8-A080-0BD1-79C0D4A5E9D4}"/>
              </a:ext>
            </a:extLst>
          </p:cNvPr>
          <p:cNvSpPr>
            <a:spLocks noGrp="1"/>
          </p:cNvSpPr>
          <p:nvPr>
            <p:ph type="sldNum" sz="quarter" idx="5"/>
          </p:nvPr>
        </p:nvSpPr>
        <p:spPr/>
        <p:txBody>
          <a:bodyPr/>
          <a:lstStyle/>
          <a:p>
            <a:fld id="{E40720B4-AB10-0342-9541-2DF5352E8B38}" type="slidenum">
              <a:rPr lang="en-CA" smtClean="0"/>
              <a:t>12</a:t>
            </a:fld>
            <a:endParaRPr lang="en-CA"/>
          </a:p>
        </p:txBody>
      </p:sp>
    </p:spTree>
    <p:extLst>
      <p:ext uri="{BB962C8B-B14F-4D97-AF65-F5344CB8AC3E}">
        <p14:creationId xmlns:p14="http://schemas.microsoft.com/office/powerpoint/2010/main" val="17778455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We technically don’t need to do the variational update of the trainable parameters to execute a particular quantum algorithm if we already know what rotation angles will work, but if there is some noise (e.g. externally, detector positions get perturbed, measurements are not performed perfectly, etc. ) preventing us from getting them precisely or measurement is involved in the middle of the algorithm, then the variational scheme is useful. Also, if we want to program the detectors to execute certain trajectories then this is basically like updating the parameters. </a:t>
            </a:r>
          </a:p>
          <a:p>
            <a:pPr marL="171450" indent="-171450">
              <a:buFont typeface="Arial" panose="020B0604020202020204" pitchFamily="34" charset="0"/>
              <a:buChar char="•"/>
            </a:pPr>
            <a:r>
              <a:rPr lang="en-CA" dirty="0"/>
              <a:t>When successive applications of the entangling channel $\</a:t>
            </a:r>
            <a:r>
              <a:rPr lang="en-CA" dirty="0" err="1"/>
              <a:t>mathcal</a:t>
            </a:r>
            <a:r>
              <a:rPr lang="en-CA" dirty="0"/>
              <a:t> E$ are considered, one requires an extra assumption regarding the initial state of the field being quasi-free. After one application of the channel $\</a:t>
            </a:r>
            <a:r>
              <a:rPr lang="en-CA" dirty="0" err="1"/>
              <a:t>mathcal</a:t>
            </a:r>
            <a:r>
              <a:rPr lang="en-CA" dirty="0"/>
              <a:t>{E}$, the state of the field also evolves due to the interaction with the detectors, and in general the field's final state will not be quasi-free. On the other hand, any effect that the detectors have on the field quickly dissipates away. That is, under the assumption that the time required to implement the free </a:t>
            </a:r>
            <a:r>
              <a:rPr lang="en-CA" dirty="0" err="1"/>
              <a:t>unitaries</a:t>
            </a:r>
            <a:r>
              <a:rPr lang="en-CA" dirty="0"/>
              <a:t> (when the detectors are not coupled to the field) is large compared to the detector's separation, one can effectively treat the local state of the field probed by the qubits as its previous initial state.</a:t>
            </a:r>
          </a:p>
          <a:p>
            <a:pPr marL="171450" indent="-171450">
              <a:buFont typeface="Arial" panose="020B0604020202020204" pitchFamily="34" charset="0"/>
              <a:buChar char="•"/>
            </a:pPr>
            <a:r>
              <a:rPr lang="en-CA" dirty="0"/>
              <a:t>We can just use the </a:t>
            </a:r>
            <a:r>
              <a:rPr lang="en-CA" dirty="0" err="1"/>
              <a:t>U_c</a:t>
            </a:r>
            <a:r>
              <a:rPr lang="en-CA" dirty="0"/>
              <a:t> entangling gate from now on because we can effectively make the noise zero</a:t>
            </a:r>
          </a:p>
        </p:txBody>
      </p:sp>
      <p:sp>
        <p:nvSpPr>
          <p:cNvPr id="4" name="Slide Number Placeholder 3"/>
          <p:cNvSpPr>
            <a:spLocks noGrp="1"/>
          </p:cNvSpPr>
          <p:nvPr>
            <p:ph type="sldNum" sz="quarter" idx="5"/>
          </p:nvPr>
        </p:nvSpPr>
        <p:spPr/>
        <p:txBody>
          <a:bodyPr/>
          <a:lstStyle/>
          <a:p>
            <a:fld id="{E40720B4-AB10-0342-9541-2DF5352E8B38}" type="slidenum">
              <a:rPr lang="en-CA" smtClean="0"/>
              <a:t>13</a:t>
            </a:fld>
            <a:endParaRPr lang="en-CA"/>
          </a:p>
        </p:txBody>
      </p:sp>
    </p:spTree>
    <p:extLst>
      <p:ext uri="{BB962C8B-B14F-4D97-AF65-F5344CB8AC3E}">
        <p14:creationId xmlns:p14="http://schemas.microsoft.com/office/powerpoint/2010/main" val="918401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14</a:t>
            </a:fld>
            <a:endParaRPr lang="en-CA"/>
          </a:p>
        </p:txBody>
      </p:sp>
    </p:spTree>
    <p:extLst>
      <p:ext uri="{BB962C8B-B14F-4D97-AF65-F5344CB8AC3E}">
        <p14:creationId xmlns:p14="http://schemas.microsoft.com/office/powerpoint/2010/main" val="949018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only obstacle is whether the global entangling unitary Eq. \ref{</a:t>
            </a:r>
            <a:r>
              <a:rPr lang="en-CA" dirty="0" err="1"/>
              <a:t>Equation:UDWEntangle</a:t>
            </a:r>
            <a:r>
              <a:rPr lang="en-CA" dirty="0"/>
              <a:t>} can be efficiently compiled into entangling gates acting only on pairs of detectors. This obstacle to universality is made even more difficult for detectors interacting with quantum fields, since the field interactions spread entanglement out in all directions in a highly uncontrolled manner, resulting in a fully connected detector configuration that is too entangled to do useful computation. The situation is further complicated by the fact that the inverse of Eq. \ref{</a:t>
            </a:r>
            <a:r>
              <a:rPr lang="en-CA" dirty="0" err="1"/>
              <a:t>Equation:UDWEntangle</a:t>
            </a:r>
            <a:r>
              <a:rPr lang="en-CA" dirty="0"/>
              <a:t>} is challenging to implement physically.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When successive applications of the entangling channel $\</a:t>
            </a:r>
            <a:r>
              <a:rPr lang="en-CA" dirty="0" err="1"/>
              <a:t>mathcal</a:t>
            </a:r>
            <a:r>
              <a:rPr lang="en-CA" dirty="0"/>
              <a:t> E$ are considered, one requires an extra assumption regarding the initial state of the field being quasi-free. After one application of the channel $\</a:t>
            </a:r>
            <a:r>
              <a:rPr lang="en-CA" dirty="0" err="1"/>
              <a:t>mathcal</a:t>
            </a:r>
            <a:r>
              <a:rPr lang="en-CA" dirty="0"/>
              <a:t>{E}$, the state of the field also evolves due to the interaction with the detectors, and in general the field's final state will not be quasi-free. On the other hand, any effect that the detectors have on the field quickly dissipates away. That is, under the assumption that the time required to implement the free </a:t>
            </a:r>
            <a:r>
              <a:rPr lang="en-CA" dirty="0" err="1"/>
              <a:t>unitaries</a:t>
            </a:r>
            <a:r>
              <a:rPr lang="en-CA" dirty="0"/>
              <a:t> (when the detectors are not coupled to the field) is large compared to the detector's separation, one can effectively treat the local state of the field probed by the qubits as its previous initial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fact that the entangling unitary entangles everything is not useful for proving universality, but that doesn’t mean the VQC cant be universal with the entangling gate in its current form for specific choices of rotation angles and directions, but we do not know what these are analytically (this is a good task for the VQC)</a:t>
            </a:r>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15</a:t>
            </a:fld>
            <a:endParaRPr lang="en-CA"/>
          </a:p>
        </p:txBody>
      </p:sp>
    </p:spTree>
    <p:extLst>
      <p:ext uri="{BB962C8B-B14F-4D97-AF65-F5344CB8AC3E}">
        <p14:creationId xmlns:p14="http://schemas.microsoft.com/office/powerpoint/2010/main" val="1461802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887A4-C774-920F-9590-A76EE1BE3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D62A6-0409-9E31-CD06-FD7C042D2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D3B94-6045-A8F6-9CD1-6DB68810ACF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only obstacle is whether the global entangling unitary Eq. \ref{</a:t>
            </a:r>
            <a:r>
              <a:rPr lang="en-CA" dirty="0" err="1"/>
              <a:t>Equation:UDWEntangle</a:t>
            </a:r>
            <a:r>
              <a:rPr lang="en-CA" dirty="0"/>
              <a:t>} can be efficiently compiled into entangling gates acting only on pairs of detectors. This obstacle to universality is made even more difficult for detectors interacting with quantum fields, since the field interactions spread entanglement out in all directions in a highly uncontrolled manner, resulting in a fully connected detector configuration that is too entangled to do useful computation. The situation is further complicated by the fact that the inverse of Eq. \ref{</a:t>
            </a:r>
            <a:r>
              <a:rPr lang="en-CA" dirty="0" err="1"/>
              <a:t>Equation:UDWEntangle</a:t>
            </a:r>
            <a:r>
              <a:rPr lang="en-CA" dirty="0"/>
              <a:t>} is challenging to implement physically.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When successive applications of the entangling channel $\</a:t>
            </a:r>
            <a:r>
              <a:rPr lang="en-CA" dirty="0" err="1"/>
              <a:t>mathcal</a:t>
            </a:r>
            <a:r>
              <a:rPr lang="en-CA" dirty="0"/>
              <a:t> E$ are considered, one requires an extra assumption regarding the initial state of the field being quasi-free. After one application of the channel $\</a:t>
            </a:r>
            <a:r>
              <a:rPr lang="en-CA" dirty="0" err="1"/>
              <a:t>mathcal</a:t>
            </a:r>
            <a:r>
              <a:rPr lang="en-CA" dirty="0"/>
              <a:t>{E}$, the state of the field also evolves due to the interaction with the detectors, and in general the field's final state will not be quasi-free. On the other hand, any effect that the detectors have on the field quickly dissipates away. That is, under the assumption that the time required to implement the free </a:t>
            </a:r>
            <a:r>
              <a:rPr lang="en-CA" dirty="0" err="1"/>
              <a:t>unitaries</a:t>
            </a:r>
            <a:r>
              <a:rPr lang="en-CA" dirty="0"/>
              <a:t> (when the detectors are not coupled to the field) is large compared to the detector's separation, one can effectively treat the local state of the field probed by the qubits as its previous initial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fact that the entangling unitary entangles everything is not useful for proving universality, but that doesn’t mean the VQC cant be universal with the entangling gate in its current form for specific choices of rotation angles and directions, but we do not know what these are analytically (this is a good task for the VQC)</a:t>
            </a:r>
          </a:p>
          <a:p>
            <a:pPr marL="171450" indent="-171450">
              <a:buFont typeface="Arial" panose="020B0604020202020204" pitchFamily="34" charset="0"/>
              <a:buChar char="•"/>
            </a:pPr>
            <a:endParaRPr lang="en-CA" dirty="0"/>
          </a:p>
        </p:txBody>
      </p:sp>
      <p:sp>
        <p:nvSpPr>
          <p:cNvPr id="4" name="Slide Number Placeholder 3">
            <a:extLst>
              <a:ext uri="{FF2B5EF4-FFF2-40B4-BE49-F238E27FC236}">
                <a16:creationId xmlns:a16="http://schemas.microsoft.com/office/drawing/2014/main" id="{BCC7A4F9-CA29-D8AF-510B-5AD71E03FBEE}"/>
              </a:ext>
            </a:extLst>
          </p:cNvPr>
          <p:cNvSpPr>
            <a:spLocks noGrp="1"/>
          </p:cNvSpPr>
          <p:nvPr>
            <p:ph type="sldNum" sz="quarter" idx="5"/>
          </p:nvPr>
        </p:nvSpPr>
        <p:spPr/>
        <p:txBody>
          <a:bodyPr/>
          <a:lstStyle/>
          <a:p>
            <a:fld id="{E40720B4-AB10-0342-9541-2DF5352E8B38}" type="slidenum">
              <a:rPr lang="en-CA" smtClean="0"/>
              <a:t>16</a:t>
            </a:fld>
            <a:endParaRPr lang="en-CA"/>
          </a:p>
        </p:txBody>
      </p:sp>
    </p:spTree>
    <p:extLst>
      <p:ext uri="{BB962C8B-B14F-4D97-AF65-F5344CB8AC3E}">
        <p14:creationId xmlns:p14="http://schemas.microsoft.com/office/powerpoint/2010/main" val="205326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8450A-A7A9-0426-1573-CAB7B0066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18CC9-E190-BE89-EF47-9BBDA36C04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C280D-9480-1805-5924-8711A0BFB87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only obstacle is whether the global entangling unitary Eq. \ref{</a:t>
            </a:r>
            <a:r>
              <a:rPr lang="en-CA" dirty="0" err="1"/>
              <a:t>Equation:UDWEntangle</a:t>
            </a:r>
            <a:r>
              <a:rPr lang="en-CA" dirty="0"/>
              <a:t>} can be efficiently compiled into entangling gates acting only on pairs of detectors. This obstacle to universality is made even more difficult for detectors interacting with quantum fields, since the field interactions spread entanglement out in all directions in a highly uncontrolled manner, resulting in a fully connected detector configuration that is too entangled to do useful computation. The situation is further complicated by the fact that the inverse of Eq. \ref{</a:t>
            </a:r>
            <a:r>
              <a:rPr lang="en-CA" dirty="0" err="1"/>
              <a:t>Equation:UDWEntangle</a:t>
            </a:r>
            <a:r>
              <a:rPr lang="en-CA" dirty="0"/>
              <a:t>} is challenging to implement physically.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When successive applications of the entangling channel $\</a:t>
            </a:r>
            <a:r>
              <a:rPr lang="en-CA" dirty="0" err="1"/>
              <a:t>mathcal</a:t>
            </a:r>
            <a:r>
              <a:rPr lang="en-CA" dirty="0"/>
              <a:t> E$ are considered, one requires an extra assumption regarding the initial state of the field being quasi-free. After one application of the channel $\</a:t>
            </a:r>
            <a:r>
              <a:rPr lang="en-CA" dirty="0" err="1"/>
              <a:t>mathcal</a:t>
            </a:r>
            <a:r>
              <a:rPr lang="en-CA" dirty="0"/>
              <a:t>{E}$, the state of the field also evolves due to the interaction with the detectors, and in general the field's final state will not be quasi-free. On the other hand, any effect that the detectors have on the field quickly dissipates away. That is, under the assumption that the time required to implement the free </a:t>
            </a:r>
            <a:r>
              <a:rPr lang="en-CA" dirty="0" err="1"/>
              <a:t>unitaries</a:t>
            </a:r>
            <a:r>
              <a:rPr lang="en-CA" dirty="0"/>
              <a:t> (when the detectors are not coupled to the field) is large compared to the detector's separation, one can effectively treat the local state of the field probed by the qubits as its previous initial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fact that the entangling unitary entangles everything is not useful for proving universality, but that doesn’t mean the VQC cant be universal with the entangling gate in its current form for specific choices of rotation angles and directions, but we do not know what these are analytically (this is a good task for the VQC)</a:t>
            </a:r>
          </a:p>
          <a:p>
            <a:pPr marL="171450" indent="-171450">
              <a:buFont typeface="Arial" panose="020B0604020202020204" pitchFamily="34" charset="0"/>
              <a:buChar char="•"/>
            </a:pPr>
            <a:endParaRPr lang="en-CA" dirty="0"/>
          </a:p>
        </p:txBody>
      </p:sp>
      <p:sp>
        <p:nvSpPr>
          <p:cNvPr id="4" name="Slide Number Placeholder 3">
            <a:extLst>
              <a:ext uri="{FF2B5EF4-FFF2-40B4-BE49-F238E27FC236}">
                <a16:creationId xmlns:a16="http://schemas.microsoft.com/office/drawing/2014/main" id="{FC283A89-76B3-72E7-CDDF-60479C603FC6}"/>
              </a:ext>
            </a:extLst>
          </p:cNvPr>
          <p:cNvSpPr>
            <a:spLocks noGrp="1"/>
          </p:cNvSpPr>
          <p:nvPr>
            <p:ph type="sldNum" sz="quarter" idx="5"/>
          </p:nvPr>
        </p:nvSpPr>
        <p:spPr/>
        <p:txBody>
          <a:bodyPr/>
          <a:lstStyle/>
          <a:p>
            <a:fld id="{E40720B4-AB10-0342-9541-2DF5352E8B38}" type="slidenum">
              <a:rPr lang="en-CA" smtClean="0"/>
              <a:t>17</a:t>
            </a:fld>
            <a:endParaRPr lang="en-CA"/>
          </a:p>
        </p:txBody>
      </p:sp>
    </p:spTree>
    <p:extLst>
      <p:ext uri="{BB962C8B-B14F-4D97-AF65-F5344CB8AC3E}">
        <p14:creationId xmlns:p14="http://schemas.microsoft.com/office/powerpoint/2010/main" val="1421514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In the QML setting, the above would constitute one round of training and there would be the additional step of running the parameter optimization routine with respect to some loss function $\</a:t>
                </a:r>
                <a:r>
                  <a:rPr lang="en-CA" dirty="0" err="1"/>
                  <a:t>mathcal</a:t>
                </a:r>
                <a:r>
                  <a:rPr lang="en-CA" dirty="0"/>
                  <a:t>{L}(\bm \theta, \bm x)$ featuring $f_{\bm \theta}(\bm x)$, before the next round.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dirty="0"/>
              </a:p>
              <a:p>
                <a:pPr marL="171450" indent="-171450">
                  <a:buFont typeface="Arial" panose="020B0604020202020204" pitchFamily="34" charset="0"/>
                  <a:buChar char="•"/>
                </a:pPr>
                <a:endParaRPr lang="en-CA" dirty="0"/>
              </a:p>
            </p:txBody>
          </p:sp>
        </mc:Choice>
        <mc:Fallback xmlns="">
          <p:sp>
            <p:nvSpPr>
              <p:cNvPr id="3" name="Notes Placeholder 2"/>
              <p:cNvSpPr>
                <a:spLocks noGrp="1"/>
              </p:cNvSpPr>
              <p:nvPr>
                <p:ph type="body" idx="1"/>
              </p:nvPr>
            </p:nvSpPr>
            <p:spPr/>
            <p:txBody>
              <a:bodyPr/>
              <a:lstStyle/>
              <a:p>
                <a:pPr/>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b="0" i="0" dirty="0">
                    <a:latin typeface="Cambria Math" panose="02040503050406030204" pitchFamily="18" charset="0"/>
                  </a:rPr>
                  <a:t>𝜏, 𝜏_0 )</a:t>
                </a:r>
                <a:r>
                  <a:rPr lang="en-CA" sz="1200" i="0" dirty="0">
                    <a:latin typeface="Cambria Math" panose="02040503050406030204" pitchFamily="18" charset="0"/>
                  </a:rPr>
                  <a:t>=𝒯𝑒^(</a:t>
                </a:r>
                <a:r>
                  <a:rPr lang="en-CA" sz="1200" i="0" dirty="0" err="1">
                    <a:latin typeface="Cambria Math" panose="02040503050406030204" pitchFamily="18" charset="0"/>
                  </a:rPr>
                  <a:t>𝑖</a:t>
                </a:r>
                <a:r>
                  <a:rPr lang="en-CA" sz="1200" i="0" dirty="0">
                    <a:latin typeface="Cambria Math" panose="02040503050406030204" pitchFamily="18" charset="0"/>
                  </a:rPr>
                  <a:t>∫</a:t>
                </a:r>
                <a:r>
                  <a:rPr lang="en-CA" sz="1200" b="0" i="0" dirty="0">
                    <a:latin typeface="Cambria Math" panose="02040503050406030204" pitchFamily="18" charset="0"/>
                  </a:rPr>
                  <a:t>_(𝜏_0)^𝜏▒𝑑𝑡 (</a:t>
                </a:r>
                <a:r>
                  <a:rPr lang="en-CA" sz="1200" i="0" dirty="0">
                    <a:latin typeface="Cambria Math" panose="02040503050406030204" pitchFamily="18" charset="0"/>
                  </a:rPr>
                  <a:t>𝐻</a:t>
                </a:r>
                <a:r>
                  <a:rPr lang="en-CA" sz="1200" b="0" i="0" dirty="0">
                    <a:latin typeface="Cambria Math" panose="02040503050406030204" pitchFamily="18" charset="0"/>
                  </a:rPr>
                  <a:t>(𝑡) ) ̂ )=</a:t>
                </a:r>
                <a:r>
                  <a:rPr lang="pt-BR" sz="1200" b="0" i="0" dirty="0">
                    <a:latin typeface="Cambria Math" panose="02040503050406030204" pitchFamily="18" charset="0"/>
                  </a:rPr>
                  <a:t>lim┬(</a:t>
                </a:r>
                <a:r>
                  <a:rPr lang="en-CA" sz="1200" b="0" i="0" dirty="0">
                    <a:latin typeface="Cambria Math" panose="02040503050406030204" pitchFamily="18" charset="0"/>
                  </a:rPr>
                  <a:t>𝑁</a:t>
                </a:r>
                <a:r>
                  <a:rPr lang="pt-BR" sz="1200" b="0" i="0" dirty="0">
                    <a:latin typeface="Cambria Math" panose="02040503050406030204" pitchFamily="18" charset="0"/>
                  </a:rPr>
                  <a:t>→∞)⁡lim┬(</a:t>
                </a:r>
                <a:r>
                  <a:rPr lang="en-CA" sz="1200" b="0" i="0" dirty="0">
                    <a:latin typeface="Cambria Math" panose="02040503050406030204" pitchFamily="18" charset="0"/>
                  </a:rPr>
                  <a:t>𝑘→∞</a:t>
                </a:r>
                <a:r>
                  <a:rPr lang="pt-BR" sz="1200" b="0" i="0" dirty="0">
                    <a:latin typeface="Cambria Math" panose="02040503050406030204" pitchFamily="18" charset="0"/>
                  </a:rPr>
                  <a:t>)⁡∏</a:t>
                </a:r>
                <a:r>
                  <a:rPr lang="en-CA" sz="1200" b="0" i="0" dirty="0">
                    <a:latin typeface="Cambria Math" panose="02040503050406030204" pitchFamily="18" charset="0"/>
                  </a:rPr>
                  <a:t>_𝑛^𝑁▒</a:t>
                </a:r>
                <a:r>
                  <a:rPr lang="pt-BR" sz="1200" b="0" i="0" dirty="0">
                    <a:latin typeface="Cambria Math" panose="02040503050406030204" pitchFamily="18" charset="0"/>
                  </a:rPr>
                  <a:t>(</a:t>
                </a:r>
                <a:r>
                  <a:rPr lang="en-CA" sz="1200" b="0" i="0" dirty="0">
                    <a:latin typeface="Cambria Math" panose="02040503050406030204" pitchFamily="18" charset="0"/>
                  </a:rPr>
                  <a:t>𝐼</a:t>
                </a:r>
                <a:r>
                  <a:rPr lang="pt-BR" sz="1200" i="0" dirty="0">
                    <a:latin typeface="Cambria Math" panose="02040503050406030204" pitchFamily="18" charset="0"/>
                  </a:rPr>
                  <a:t>+</a:t>
                </a:r>
                <a:r>
                  <a:rPr lang="en-CA" sz="1200" b="0" i="0" dirty="0">
                    <a:latin typeface="Cambria Math" panose="02040503050406030204" pitchFamily="18" charset="0"/>
                  </a:rPr>
                  <a:t>𝑖</a:t>
                </a:r>
                <a:r>
                  <a:rPr lang="pt-BR" sz="1200" b="0" i="0" dirty="0">
                    <a:latin typeface="Cambria Math" panose="02040503050406030204" pitchFamily="18" charset="0"/>
                  </a:rPr>
                  <a:t>/</a:t>
                </a:r>
                <a:r>
                  <a:rPr lang="en-CA" sz="1200" b="0" i="0" dirty="0">
                    <a:latin typeface="Cambria Math" panose="02040503050406030204" pitchFamily="18" charset="0"/>
                  </a:rPr>
                  <a:t>𝑘</a:t>
                </a:r>
                <a:r>
                  <a:rPr lang="pt-BR" sz="1200" b="0" i="0" dirty="0">
                    <a:latin typeface="Cambria Math" panose="02040503050406030204" pitchFamily="18" charset="0"/>
                  </a:rPr>
                  <a:t> </a:t>
                </a:r>
                <a:r>
                  <a:rPr lang="en-CA" sz="1200" b="0" i="0" dirty="0">
                    <a:latin typeface="Cambria Math" panose="02040503050406030204" pitchFamily="18" charset="0"/>
                  </a:rPr>
                  <a:t>𝐻</a:t>
                </a:r>
                <a:r>
                  <a:rPr lang="pt-BR" sz="1200" b="0" i="0" dirty="0">
                    <a:latin typeface="Cambria Math" panose="02040503050406030204" pitchFamily="18" charset="0"/>
                  </a:rPr>
                  <a:t> ̂</a:t>
                </a:r>
                <a:r>
                  <a:rPr lang="en-CA" sz="1200" b="0" i="0" dirty="0">
                    <a:latin typeface="Cambria Math" panose="02040503050406030204" pitchFamily="18" charset="0"/>
                  </a:rPr>
                  <a:t>(𝑛𝑑</a:t>
                </a:r>
                <a:r>
                  <a:rPr lang="en-CA" sz="1200" i="0" dirty="0">
                    <a:latin typeface="Cambria Math" panose="02040503050406030204" pitchFamily="18" charset="0"/>
                  </a:rPr>
                  <a:t>𝑡)</a:t>
                </a:r>
                <a:r>
                  <a:rPr lang="en-CA" sz="1200" b="0" i="0" dirty="0">
                    <a:latin typeface="Cambria Math" panose="02040503050406030204" pitchFamily="18" charset="0"/>
                  </a:rPr>
                  <a:t>𝑑𝑡)^𝑘  </a:t>
                </a:r>
                <a:endParaRPr lang="en-CA" dirty="0"/>
              </a:p>
              <a:p>
                <a:pPr/>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en-CA" sz="1200" b="0" i="0" dirty="0">
                    <a:latin typeface="Cambria Math" panose="02040503050406030204" pitchFamily="18" charset="0"/>
                  </a:rPr>
                  <a:t>=</a:t>
                </a:r>
                <a:r>
                  <a:rPr lang="pt-BR" sz="1200" i="0" dirty="0">
                    <a:latin typeface="Cambria Math" panose="02040503050406030204" pitchFamily="18" charset="0"/>
                  </a:rPr>
                  <a:t>lim┬(</a:t>
                </a:r>
                <a:r>
                  <a:rPr lang="en-CA" sz="1200" i="0" dirty="0">
                    <a:latin typeface="Cambria Math" panose="02040503050406030204" pitchFamily="18" charset="0"/>
                  </a:rPr>
                  <a:t>𝑘→𝐾</a:t>
                </a:r>
                <a:r>
                  <a:rPr lang="pt-BR" sz="1200" i="0" dirty="0">
                    <a:latin typeface="Cambria Math" panose="02040503050406030204" pitchFamily="18" charset="0"/>
                  </a:rPr>
                  <a:t>)⁡〖(</a:t>
                </a:r>
                <a:r>
                  <a:rPr lang="en-CA" sz="1200" i="0" dirty="0">
                    <a:latin typeface="Cambria Math" panose="02040503050406030204" pitchFamily="18" charset="0"/>
                  </a:rPr>
                  <a:t>𝐼</a:t>
                </a:r>
                <a:r>
                  <a:rPr lang="pt-BR" sz="1200" i="0" dirty="0">
                    <a:latin typeface="Cambria Math" panose="02040503050406030204" pitchFamily="18" charset="0"/>
                  </a:rPr>
                  <a:t>+</a:t>
                </a:r>
                <a:r>
                  <a:rPr lang="en-CA" sz="1200" i="0" dirty="0">
                    <a:latin typeface="Cambria Math" panose="02040503050406030204" pitchFamily="18" charset="0"/>
                  </a:rPr>
                  <a:t>𝑖</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pt-BR" sz="1200" i="0" dirty="0">
                    <a:latin typeface="Cambria Math" panose="02040503050406030204" pitchFamily="18" charset="0"/>
                  </a:rPr>
                  <a:t>/</a:t>
                </a:r>
                <a:r>
                  <a:rPr lang="en-CA" sz="1200" i="0" dirty="0">
                    <a:latin typeface="Cambria Math" panose="02040503050406030204" pitchFamily="18" charset="0"/>
                  </a:rPr>
                  <a:t>𝑘</a:t>
                </a:r>
                <a:r>
                  <a:rPr lang="pt-BR" sz="1200" i="0" dirty="0">
                    <a:latin typeface="Cambria Math" panose="02040503050406030204" pitchFamily="18" charset="0"/>
                  </a:rPr>
                  <a:t> </a:t>
                </a:r>
                <a:r>
                  <a:rPr lang="en-CA" sz="1200" i="0" dirty="0">
                    <a:latin typeface="Cambria Math" panose="02040503050406030204" pitchFamily="18" charset="0"/>
                  </a:rPr>
                  <a:t>𝐻</a:t>
                </a:r>
                <a:r>
                  <a:rPr lang="pt-BR" sz="1200" i="0" dirty="0">
                    <a:latin typeface="Cambria Math" panose="02040503050406030204" pitchFamily="18" charset="0"/>
                  </a:rPr>
                  <a:t> ̂</a:t>
                </a:r>
                <a:r>
                  <a:rPr lang="en-CA" sz="1200" i="0" dirty="0">
                    <a:latin typeface="Cambria Math" panose="02040503050406030204" pitchFamily="18" charset="0"/>
                  </a:rPr>
                  <a:t> )^𝑘 </a:t>
                </a:r>
                <a:r>
                  <a:rPr lang="pt-BR" sz="1200" i="0" dirty="0">
                    <a:latin typeface="Cambria Math" panose="02040503050406030204" pitchFamily="18" charset="0"/>
                  </a:rPr>
                  <a:t>〗</a:t>
                </a:r>
                <a:endParaRPr lang="en-CA" dirty="0"/>
              </a:p>
              <a:p>
                <a:pPr/>
                <a:r>
                  <a:rPr lang="en-US" i="0" dirty="0">
                    <a:solidFill>
                      <a:prstClr val="black"/>
                    </a:solidFill>
                    <a:latin typeface="Cambria Math" panose="02040503050406030204" pitchFamily="18" charset="0"/>
                  </a:rPr>
                  <a:t>𝑃_{</a:t>
                </a:r>
                <a:r>
                  <a:rPr lang="en-US" b="0" i="0" dirty="0">
                    <a:solidFill>
                      <a:prstClr val="black"/>
                    </a:solidFill>
                    <a:latin typeface="Cambria Math" panose="02040503050406030204" pitchFamily="18" charset="0"/>
                  </a:rPr>
                  <a:t>𝜏</a:t>
                </a:r>
                <a:r>
                  <a:rPr lang="ar-AE" i="0" dirty="0">
                    <a:solidFill>
                      <a:prstClr val="black"/>
                    </a:solidFill>
                    <a:latin typeface="Cambria Math" panose="02040503050406030204" pitchFamily="18" charset="0"/>
                  </a:rPr>
                  <a:t>, 𝜏_0 }^</a:t>
                </a:r>
                <a:r>
                  <a:rPr lang="en-US" i="0" dirty="0">
                    <a:solidFill>
                      <a:prstClr val="black"/>
                    </a:solidFill>
                    <a:latin typeface="Cambria Math" panose="02040503050406030204" pitchFamily="18" charset="0"/>
                  </a:rPr>
                  <a:t>((𝑛) )</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𝐴_𝑗│𝑆_𝑖 )</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𝜏_0 )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a:t>
                </a:r>
                <a:r>
                  <a:rPr lang="en-US" sz="1200" b="0" i="0" dirty="0">
                    <a:latin typeface="Cambria Math" panose="02040503050406030204" pitchFamily="18" charset="0"/>
                  </a:rPr>
                  <a:t>𝑆_𝑖, 0_(𝑆\S_𝑖 ), 0_𝐶, 0_𝐴</a:t>
                </a:r>
                <a:r>
                  <a:rPr lang="en-US" b="0" i="0" dirty="0">
                    <a:solidFill>
                      <a:prstClr val="black"/>
                    </a:solidFill>
                    <a:latin typeface="Cambria Math" panose="02040503050406030204" pitchFamily="18" charset="0"/>
                  </a:rPr>
                  <a:t>⟩⟨</a:t>
                </a:r>
                <a:r>
                  <a:rPr lang="en-US" sz="1200" b="0" i="0" dirty="0">
                    <a:latin typeface="Cambria Math" panose="02040503050406030204" pitchFamily="18" charset="0"/>
                  </a:rPr>
                  <a:t>𝑆_𝑖, 0_(𝑆\S_𝑖 ), 0_𝐶, 0_𝐴</a:t>
                </a:r>
                <a:r>
                  <a:rPr lang="en-US" sz="1200" b="0" i="0" dirty="0">
                    <a:solidFill>
                      <a:prstClr val="black"/>
                    </a:solidFill>
                    <a:latin typeface="Cambria Math" panose="02040503050406030204" pitchFamily="18" charset="0"/>
                  </a:rPr>
                  <a:t> </a:t>
                </a:r>
                <a:r>
                  <a:rPr lang="en-US" b="0" i="0" dirty="0">
                    <a:solidFill>
                      <a:prstClr val="black"/>
                    </a:solidFill>
                    <a:latin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Ω ̂_(𝑆_𝑖)^</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𝑆_𝑖 </a:t>
                </a:r>
                <a:r>
                  <a:rPr lang="en-US" b="0" i="0" dirty="0">
                    <a:solidFill>
                      <a:prstClr val="black"/>
                    </a:solidFill>
                    <a:latin typeface="Cambria Math" panose="02040503050406030204" pitchFamily="18" charset="0"/>
                    <a:ea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 Π ̂_(𝐴_𝑗 ) )</a:t>
                </a:r>
                <a:endParaRPr lang="en-CA" dirty="0"/>
              </a:p>
              <a:p>
                <a:r>
                  <a:rPr lang="en-CA" dirty="0"/>
                  <a:t>Where </a:t>
                </a:r>
                <a:r>
                  <a:rPr lang="en-US" b="0" i="0">
                    <a:latin typeface="Cambria Math" panose="02040503050406030204" pitchFamily="18" charset="0"/>
                  </a:rPr>
                  <a:t>Π</a:t>
                </a:r>
                <a:r>
                  <a:rPr lang="en-CA" b="0" i="0">
                    <a:latin typeface="Cambria Math" panose="02040503050406030204" pitchFamily="18" charset="0"/>
                  </a:rPr>
                  <a:t> ̂</a:t>
                </a:r>
                <a:r>
                  <a:rPr lang="en-US" b="0" i="0">
                    <a:latin typeface="Cambria Math" panose="02040503050406030204" pitchFamily="18" charset="0"/>
                  </a:rPr>
                  <a:t>_(𝐴_𝑗 )=</a:t>
                </a:r>
                <a:r>
                  <a:rPr lang="en-US" b="0" i="0" dirty="0">
                    <a:solidFill>
                      <a:prstClr val="black"/>
                    </a:solidFill>
                    <a:latin typeface="Cambria Math" panose="02040503050406030204" pitchFamily="18" charset="0"/>
                  </a:rPr>
                  <a:t>Ω ̂_(𝐴_𝑗)^</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𝐴_𝑗 </a:t>
                </a:r>
                <a:r>
                  <a:rPr lang="en-US" b="0" i="0" dirty="0">
                    <a:solidFill>
                      <a:prstClr val="black"/>
                    </a:solidFill>
                    <a:latin typeface="Cambria Math" panose="02040503050406030204" pitchFamily="18" charset="0"/>
                    <a:ea typeface="Cambria Math" panose="02040503050406030204" pitchFamily="18" charset="0"/>
                  </a:rPr>
                  <a:t>)</a:t>
                </a:r>
                <a:r>
                  <a:rPr lang="en-CA" dirty="0"/>
                  <a:t> is a projective measurement of the action modes corresponding to action hyperedge </a:t>
                </a:r>
                <a:r>
                  <a:rPr lang="en-US" b="0" i="0">
                    <a:latin typeface="Cambria Math" panose="02040503050406030204" pitchFamily="18" charset="0"/>
                  </a:rPr>
                  <a:t>𝐴_𝑗</a:t>
                </a:r>
                <a:r>
                  <a:rPr lang="en-CA" dirty="0"/>
                  <a:t>. In practice however,</a:t>
                </a:r>
                <a:r>
                  <a:rPr lang="en-CA" baseline="0" dirty="0"/>
                  <a:t> one could just use the projector for all action modes and then couple out all the actions (or some subset of them; i.e. the subset generation that happens in </a:t>
                </a:r>
                <a:r>
                  <a:rPr lang="en-CA" baseline="0" dirty="0" err="1"/>
                  <a:t>mePS</a:t>
                </a:r>
                <a:r>
                  <a:rPr lang="en-CA" baseline="0" dirty="0"/>
                  <a:t>, but with some consistency constraints) that have nonzero excitations.</a:t>
                </a:r>
              </a:p>
              <a:p>
                <a:r>
                  <a:rPr lang="en-CA" baseline="0" dirty="0"/>
                  <a:t>	- How to decide which action hyperedges get coupled out? We can first apply consistency condition to punish and/or eliminate conflicting actions, then apply a probability distribution to all subsets of the remaining actions and sample one subset (basically another 2-layer PS).</a:t>
                </a:r>
              </a:p>
              <a:p>
                <a:r>
                  <a:rPr lang="en-CA" baseline="0" dirty="0"/>
                  <a:t>	- What to do when none of the measured modes are action modes? We can just reset the deliberation until we get action modes, or we can dilate the space with many copies of the actions so that action modes are guaranteed to be measured.</a:t>
                </a:r>
              </a:p>
              <a:p>
                <a:r>
                  <a:rPr lang="en-CA" baseline="0" dirty="0"/>
                  <a:t>	</a:t>
                </a:r>
                <a:endParaRPr lang="en-CA" dirty="0"/>
              </a:p>
              <a:p>
                <a:endParaRPr lang="en-CA" dirty="0"/>
              </a:p>
              <a:p>
                <a:r>
                  <a:rPr lang="en-CA" dirty="0"/>
                  <a:t>Can we teleport the chosen action states to a new state that is then the input for a circuit that represents the environment and then repeat this procedure but for the environment circuit so that we have quantum interactions only?</a:t>
                </a:r>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18</a:t>
            </a:fld>
            <a:endParaRPr lang="en-CA"/>
          </a:p>
        </p:txBody>
      </p:sp>
    </p:spTree>
    <p:extLst>
      <p:ext uri="{BB962C8B-B14F-4D97-AF65-F5344CB8AC3E}">
        <p14:creationId xmlns:p14="http://schemas.microsoft.com/office/powerpoint/2010/main" val="3420737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26D9B-0CA7-3D1D-0129-CD74BE2AF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19EA0-7A14-D970-0806-2D0B3BABB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76555-2F1B-1E73-E733-8767E18053AD}"/>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a:extLst>
              <a:ext uri="{FF2B5EF4-FFF2-40B4-BE49-F238E27FC236}">
                <a16:creationId xmlns:a16="http://schemas.microsoft.com/office/drawing/2014/main" id="{F083720C-106A-012D-665F-C34C2ACC1963}"/>
              </a:ext>
            </a:extLst>
          </p:cNvPr>
          <p:cNvSpPr>
            <a:spLocks noGrp="1"/>
          </p:cNvSpPr>
          <p:nvPr>
            <p:ph type="sldNum" sz="quarter" idx="5"/>
          </p:nvPr>
        </p:nvSpPr>
        <p:spPr/>
        <p:txBody>
          <a:bodyPr/>
          <a:lstStyle/>
          <a:p>
            <a:fld id="{E40720B4-AB10-0342-9541-2DF5352E8B38}" type="slidenum">
              <a:rPr lang="en-CA" smtClean="0"/>
              <a:t>19</a:t>
            </a:fld>
            <a:endParaRPr lang="en-CA"/>
          </a:p>
        </p:txBody>
      </p:sp>
    </p:spTree>
    <p:extLst>
      <p:ext uri="{BB962C8B-B14F-4D97-AF65-F5344CB8AC3E}">
        <p14:creationId xmlns:p14="http://schemas.microsoft.com/office/powerpoint/2010/main" val="570639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662AE-BF93-59AF-2D93-49D698091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38663-B2BA-E0A2-5311-D3B8532908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1D161-6DF5-E26E-86B7-BDB144E19530}"/>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a:extLst>
              <a:ext uri="{FF2B5EF4-FFF2-40B4-BE49-F238E27FC236}">
                <a16:creationId xmlns:a16="http://schemas.microsoft.com/office/drawing/2014/main" id="{3419E9F9-7B96-0D73-F39F-6ACA4CB6F12D}"/>
              </a:ext>
            </a:extLst>
          </p:cNvPr>
          <p:cNvSpPr>
            <a:spLocks noGrp="1"/>
          </p:cNvSpPr>
          <p:nvPr>
            <p:ph type="sldNum" sz="quarter" idx="5"/>
          </p:nvPr>
        </p:nvSpPr>
        <p:spPr/>
        <p:txBody>
          <a:bodyPr/>
          <a:lstStyle/>
          <a:p>
            <a:fld id="{E40720B4-AB10-0342-9541-2DF5352E8B38}" type="slidenum">
              <a:rPr lang="en-CA" smtClean="0"/>
              <a:t>20</a:t>
            </a:fld>
            <a:endParaRPr lang="en-CA"/>
          </a:p>
        </p:txBody>
      </p:sp>
    </p:spTree>
    <p:extLst>
      <p:ext uri="{BB962C8B-B14F-4D97-AF65-F5344CB8AC3E}">
        <p14:creationId xmlns:p14="http://schemas.microsoft.com/office/powerpoint/2010/main" val="1769987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EA2AF-BA4A-CE92-0363-E005E7A58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F6B87-B534-F292-175C-3DBD55B54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81BE0-4038-1F24-F14A-733763C56F49}"/>
              </a:ext>
            </a:extLst>
          </p:cNvPr>
          <p:cNvSpPr>
            <a:spLocks noGrp="1"/>
          </p:cNvSpPr>
          <p:nvPr>
            <p:ph type="body" idx="1"/>
          </p:nvPr>
        </p:nvSpPr>
        <p:spPr/>
        <p:txBody>
          <a:bodyPr/>
          <a:lstStyle/>
          <a:p>
            <a:r>
              <a:rPr lang="en-CA" dirty="0"/>
              <a:t>- Moving through a gravitational field could naturally alter the entangling gates for different layers as the qubits advance along their trajectories</a:t>
            </a:r>
          </a:p>
        </p:txBody>
      </p:sp>
      <p:sp>
        <p:nvSpPr>
          <p:cNvPr id="4" name="Slide Number Placeholder 3">
            <a:extLst>
              <a:ext uri="{FF2B5EF4-FFF2-40B4-BE49-F238E27FC236}">
                <a16:creationId xmlns:a16="http://schemas.microsoft.com/office/drawing/2014/main" id="{D9C9F280-07BB-C5D3-877F-0723DD3C638A}"/>
              </a:ext>
            </a:extLst>
          </p:cNvPr>
          <p:cNvSpPr>
            <a:spLocks noGrp="1"/>
          </p:cNvSpPr>
          <p:nvPr>
            <p:ph type="sldNum" sz="quarter" idx="5"/>
          </p:nvPr>
        </p:nvSpPr>
        <p:spPr/>
        <p:txBody>
          <a:bodyPr/>
          <a:lstStyle/>
          <a:p>
            <a:fld id="{E40720B4-AB10-0342-9541-2DF5352E8B38}" type="slidenum">
              <a:rPr lang="en-CA" smtClean="0"/>
              <a:t>21</a:t>
            </a:fld>
            <a:endParaRPr lang="en-CA"/>
          </a:p>
        </p:txBody>
      </p:sp>
    </p:spTree>
    <p:extLst>
      <p:ext uri="{BB962C8B-B14F-4D97-AF65-F5344CB8AC3E}">
        <p14:creationId xmlns:p14="http://schemas.microsoft.com/office/powerpoint/2010/main" val="22914588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EE2A-A7AE-BA0E-2514-81771B5B4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474F3-C747-81A2-2F46-9834A69D9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8A581-CA5C-A235-ACA9-864972EAF5DE}"/>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a:extLst>
              <a:ext uri="{FF2B5EF4-FFF2-40B4-BE49-F238E27FC236}">
                <a16:creationId xmlns:a16="http://schemas.microsoft.com/office/drawing/2014/main" id="{4327FF15-04F0-ED9D-32A3-EBAF5269A1E2}"/>
              </a:ext>
            </a:extLst>
          </p:cNvPr>
          <p:cNvSpPr>
            <a:spLocks noGrp="1"/>
          </p:cNvSpPr>
          <p:nvPr>
            <p:ph type="sldNum" sz="quarter" idx="5"/>
          </p:nvPr>
        </p:nvSpPr>
        <p:spPr/>
        <p:txBody>
          <a:bodyPr/>
          <a:lstStyle/>
          <a:p>
            <a:fld id="{E40720B4-AB10-0342-9541-2DF5352E8B38}" type="slidenum">
              <a:rPr lang="en-CA" smtClean="0"/>
              <a:t>22</a:t>
            </a:fld>
            <a:endParaRPr lang="en-CA"/>
          </a:p>
        </p:txBody>
      </p:sp>
    </p:spTree>
    <p:extLst>
      <p:ext uri="{BB962C8B-B14F-4D97-AF65-F5344CB8AC3E}">
        <p14:creationId xmlns:p14="http://schemas.microsoft.com/office/powerpoint/2010/main" val="1808180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F9C37-9FC6-8B7F-FF2D-439FBFB7C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03EDB-EAF8-8469-0891-A5A67E4EA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84CC7-49C0-450F-0591-AC6C9A666C7E}"/>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a:extLst>
              <a:ext uri="{FF2B5EF4-FFF2-40B4-BE49-F238E27FC236}">
                <a16:creationId xmlns:a16="http://schemas.microsoft.com/office/drawing/2014/main" id="{72AA034C-08E7-1C7C-E85C-9561275C71D6}"/>
              </a:ext>
            </a:extLst>
          </p:cNvPr>
          <p:cNvSpPr>
            <a:spLocks noGrp="1"/>
          </p:cNvSpPr>
          <p:nvPr>
            <p:ph type="sldNum" sz="quarter" idx="5"/>
          </p:nvPr>
        </p:nvSpPr>
        <p:spPr/>
        <p:txBody>
          <a:bodyPr/>
          <a:lstStyle/>
          <a:p>
            <a:fld id="{E40720B4-AB10-0342-9541-2DF5352E8B38}" type="slidenum">
              <a:rPr lang="en-CA" smtClean="0"/>
              <a:t>23</a:t>
            </a:fld>
            <a:endParaRPr lang="en-CA"/>
          </a:p>
        </p:txBody>
      </p:sp>
    </p:spTree>
    <p:extLst>
      <p:ext uri="{BB962C8B-B14F-4D97-AF65-F5344CB8AC3E}">
        <p14:creationId xmlns:p14="http://schemas.microsoft.com/office/powerpoint/2010/main" val="129749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Contextuality is failure to find a joint distribution for a family of marginal distributions</a:t>
            </a:r>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24</a:t>
            </a:fld>
            <a:endParaRPr lang="en-CA"/>
          </a:p>
        </p:txBody>
      </p:sp>
    </p:spTree>
    <p:extLst>
      <p:ext uri="{BB962C8B-B14F-4D97-AF65-F5344CB8AC3E}">
        <p14:creationId xmlns:p14="http://schemas.microsoft.com/office/powerpoint/2010/main" val="34517782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4AFC-68D1-C317-8091-AFA353C3F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E8E1E-1295-8F18-B493-A798094DE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E978E-FAB8-4947-BD2B-29F8F2A035E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Contextuality is failure to find a joint distribution for a family of marginal distributions</a:t>
            </a:r>
          </a:p>
          <a:p>
            <a:pPr marL="171450" indent="-171450">
              <a:buFont typeface="Arial" panose="020B0604020202020204" pitchFamily="34" charset="0"/>
              <a:buChar char="•"/>
            </a:pPr>
            <a:endParaRPr lang="en-CA" dirty="0"/>
          </a:p>
        </p:txBody>
      </p:sp>
      <p:sp>
        <p:nvSpPr>
          <p:cNvPr id="4" name="Slide Number Placeholder 3">
            <a:extLst>
              <a:ext uri="{FF2B5EF4-FFF2-40B4-BE49-F238E27FC236}">
                <a16:creationId xmlns:a16="http://schemas.microsoft.com/office/drawing/2014/main" id="{F6DEDAD1-9350-9D0E-B323-AAC3E1E333B6}"/>
              </a:ext>
            </a:extLst>
          </p:cNvPr>
          <p:cNvSpPr>
            <a:spLocks noGrp="1"/>
          </p:cNvSpPr>
          <p:nvPr>
            <p:ph type="sldNum" sz="quarter" idx="5"/>
          </p:nvPr>
        </p:nvSpPr>
        <p:spPr/>
        <p:txBody>
          <a:bodyPr/>
          <a:lstStyle/>
          <a:p>
            <a:fld id="{E40720B4-AB10-0342-9541-2DF5352E8B38}" type="slidenum">
              <a:rPr lang="en-CA" smtClean="0"/>
              <a:t>25</a:t>
            </a:fld>
            <a:endParaRPr lang="en-CA"/>
          </a:p>
        </p:txBody>
      </p:sp>
    </p:spTree>
    <p:extLst>
      <p:ext uri="{BB962C8B-B14F-4D97-AF65-F5344CB8AC3E}">
        <p14:creationId xmlns:p14="http://schemas.microsoft.com/office/powerpoint/2010/main" val="2997272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2F88E-F135-502B-9E3F-5DD5303CB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F8295-ED38-BE69-21A3-B6032CB30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691EA-23DD-9014-58CD-5CD29F6B111C}"/>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D42DB024-C336-4CD6-5F6E-A0B336DBA52E}"/>
              </a:ext>
            </a:extLst>
          </p:cNvPr>
          <p:cNvSpPr>
            <a:spLocks noGrp="1"/>
          </p:cNvSpPr>
          <p:nvPr>
            <p:ph type="sldNum" sz="quarter" idx="5"/>
          </p:nvPr>
        </p:nvSpPr>
        <p:spPr/>
        <p:txBody>
          <a:bodyPr/>
          <a:lstStyle/>
          <a:p>
            <a:fld id="{E40720B4-AB10-0342-9541-2DF5352E8B38}" type="slidenum">
              <a:rPr lang="en-CA" smtClean="0"/>
              <a:t>26</a:t>
            </a:fld>
            <a:endParaRPr lang="en-CA"/>
          </a:p>
        </p:txBody>
      </p:sp>
    </p:spTree>
    <p:extLst>
      <p:ext uri="{BB962C8B-B14F-4D97-AF65-F5344CB8AC3E}">
        <p14:creationId xmlns:p14="http://schemas.microsoft.com/office/powerpoint/2010/main" val="4104110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B550-868C-82D5-158D-C2578EC6E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08073-2F21-C70A-8F83-BDCBE732F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F4494-49B5-356E-C3B8-A030C0227560}"/>
              </a:ext>
            </a:extLst>
          </p:cNvPr>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The idea of performing some aspects of quantum computing using relativistic motion is not new: Refs. \cite{Layden_Martin-Martinez_Kempf_2016,Martin-Martinez_Aasen_Kempf_2013,Martín-Martínez_Sutherland_2014} constructed 1 and 2-qubit gates in the perturbative regime using coherent field states and Refs. \cite{Bruschi_Dragan_Lee_Fuentes_Louko_2013,Bruschi_Sabín_Kok_Johansson_Delsing_Fuentes_2016,Friis_Bruschi_Louko_Fuentes_2012,AsplingLawler2024} managed the construction for the continuous-variable quantum computing setting. In the former case, we lack analytic expressions for the gates making a full analysis of their properties and any statement of universality seemingly opaque, while in the latter case, the absence of a gate noise analysis (which the authors acknowledge) makes it unclear whether a quantum circuit built from these gates would actually be useful.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We can have the usual universal gate set for quantum algorithms, but we can also have a big unitary that couples every detector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dirty="0"/>
              <a:t>Previous claims of universality did not explicitly show that their gate set could achieve this or claimed it for only a 2-detector setup</a:t>
            </a:r>
          </a:p>
          <a:p>
            <a:endParaRPr lang="en-CA" dirty="0"/>
          </a:p>
        </p:txBody>
      </p:sp>
      <p:sp>
        <p:nvSpPr>
          <p:cNvPr id="4" name="Slide Number Placeholder 3">
            <a:extLst>
              <a:ext uri="{FF2B5EF4-FFF2-40B4-BE49-F238E27FC236}">
                <a16:creationId xmlns:a16="http://schemas.microsoft.com/office/drawing/2014/main" id="{C3C83ED6-076B-E47F-123D-74EF0BA7376C}"/>
              </a:ext>
            </a:extLst>
          </p:cNvPr>
          <p:cNvSpPr>
            <a:spLocks noGrp="1"/>
          </p:cNvSpPr>
          <p:nvPr>
            <p:ph type="sldNum" sz="quarter" idx="5"/>
          </p:nvPr>
        </p:nvSpPr>
        <p:spPr/>
        <p:txBody>
          <a:bodyPr/>
          <a:lstStyle/>
          <a:p>
            <a:fld id="{E40720B4-AB10-0342-9541-2DF5352E8B38}" type="slidenum">
              <a:rPr lang="en-CA" smtClean="0"/>
              <a:t>27</a:t>
            </a:fld>
            <a:endParaRPr lang="en-CA"/>
          </a:p>
        </p:txBody>
      </p:sp>
    </p:spTree>
    <p:extLst>
      <p:ext uri="{BB962C8B-B14F-4D97-AF65-F5344CB8AC3E}">
        <p14:creationId xmlns:p14="http://schemas.microsoft.com/office/powerpoint/2010/main" val="3781602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242E-5D04-98DA-CC15-C2810FE99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044B9-D092-878C-DE58-22AA3DFD8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17918-38DB-16EB-A7C5-6349CE85DC2D}"/>
              </a:ext>
            </a:extLst>
          </p:cNvPr>
          <p:cNvSpPr>
            <a:spLocks noGrp="1"/>
          </p:cNvSpPr>
          <p:nvPr>
            <p:ph type="body" idx="1"/>
          </p:nvPr>
        </p:nvSpPr>
        <p:spPr/>
        <p:txBody>
          <a:bodyPr/>
          <a:lstStyle/>
          <a:p>
            <a:pPr marL="171450" indent="-171450">
              <a:buFont typeface="Arial" panose="020B0604020202020204" pitchFamily="34" charset="0"/>
              <a:buChar char="•"/>
            </a:pPr>
            <a:r>
              <a:rPr lang="en-CA" dirty="0"/>
              <a:t>PS has already been successfully applied to modelling animal foraging and behaviour patterns</a:t>
            </a:r>
          </a:p>
          <a:p>
            <a:pPr marL="628650" lvl="1" indent="-171450">
              <a:buFont typeface="Arial" panose="020B0604020202020204" pitchFamily="34" charset="0"/>
              <a:buChar char="•"/>
            </a:pPr>
            <a:r>
              <a:rPr lang="en-CA" dirty="0"/>
              <a:t>Flexibility of </a:t>
            </a:r>
            <a:r>
              <a:rPr lang="en-CA" dirty="0" err="1"/>
              <a:t>mePS</a:t>
            </a:r>
            <a:r>
              <a:rPr lang="en-CA" dirty="0"/>
              <a:t> would be beneficial</a:t>
            </a:r>
          </a:p>
          <a:p>
            <a:pPr marL="285750" indent="-285750">
              <a:buFont typeface="Arial" panose="020B0604020202020204" pitchFamily="34" charset="0"/>
              <a:buChar char="•"/>
            </a:pPr>
            <a:r>
              <a:rPr lang="en-CA" dirty="0"/>
              <a:t>Further incorporate many-body features into inductive bias such as Pauli-exclusion </a:t>
            </a:r>
          </a:p>
          <a:p>
            <a:pPr marL="742950" lvl="1" indent="-285750">
              <a:buFont typeface="Arial" panose="020B0604020202020204" pitchFamily="34" charset="0"/>
              <a:buChar char="•"/>
            </a:pPr>
            <a:r>
              <a:rPr lang="en-CA" dirty="0"/>
              <a:t>Would also be interesting to explore effect of particle statistics on deliberation</a:t>
            </a:r>
          </a:p>
          <a:p>
            <a:pPr marL="285750" indent="-285750">
              <a:buFont typeface="Arial" panose="020B0604020202020204" pitchFamily="34" charset="0"/>
              <a:buChar char="•"/>
            </a:pPr>
            <a:r>
              <a:rPr lang="en-CA" dirty="0"/>
              <a:t>Incorporate more advanced results from hypergraph literature to improve </a:t>
            </a:r>
            <a:r>
              <a:rPr lang="en-CA" dirty="0" err="1"/>
              <a:t>mePS</a:t>
            </a:r>
            <a:r>
              <a:rPr lang="en-CA" dirty="0"/>
              <a:t> scalability</a:t>
            </a:r>
          </a:p>
          <a:p>
            <a:pPr marL="285750" indent="-285750">
              <a:buFont typeface="Arial" panose="020B0604020202020204" pitchFamily="34" charset="0"/>
              <a:buChar char="•"/>
            </a:pPr>
            <a:r>
              <a:rPr lang="en-CA" dirty="0"/>
              <a:t>Explore possible connections with Neuro-Symbolic logic </a:t>
            </a:r>
          </a:p>
          <a:p>
            <a:pPr marL="285750" indent="-285750">
              <a:buFont typeface="Arial" panose="020B0604020202020204" pitchFamily="34" charset="0"/>
              <a:buChar char="•"/>
            </a:pPr>
            <a:r>
              <a:rPr lang="en-CA" dirty="0"/>
              <a:t>Further develop quantum </a:t>
            </a:r>
            <a:r>
              <a:rPr lang="en-CA" dirty="0" err="1"/>
              <a:t>mePS</a:t>
            </a:r>
            <a:r>
              <a:rPr lang="en-CA" dirty="0"/>
              <a:t> and find useful application where quantum advantage can be achieved</a:t>
            </a:r>
          </a:p>
          <a:p>
            <a:pPr marL="171450" lvl="0" indent="-171450">
              <a:buFont typeface="Arial" panose="020B0604020202020204" pitchFamily="34" charset="0"/>
              <a:buChar char="•"/>
            </a:pPr>
            <a:endParaRPr lang="en-CA" dirty="0"/>
          </a:p>
          <a:p>
            <a:pPr marL="171450" indent="-171450">
              <a:buFont typeface="Arial" panose="020B0604020202020204" pitchFamily="34" charset="0"/>
              <a:buChar char="•"/>
            </a:pPr>
            <a:endParaRPr lang="en-CA" dirty="0"/>
          </a:p>
        </p:txBody>
      </p:sp>
      <p:sp>
        <p:nvSpPr>
          <p:cNvPr id="4" name="Slide Number Placeholder 3">
            <a:extLst>
              <a:ext uri="{FF2B5EF4-FFF2-40B4-BE49-F238E27FC236}">
                <a16:creationId xmlns:a16="http://schemas.microsoft.com/office/drawing/2014/main" id="{5F7014B5-61A9-F84C-6EEB-DD775E31D066}"/>
              </a:ext>
            </a:extLst>
          </p:cNvPr>
          <p:cNvSpPr>
            <a:spLocks noGrp="1"/>
          </p:cNvSpPr>
          <p:nvPr>
            <p:ph type="sldNum" sz="quarter" idx="5"/>
          </p:nvPr>
        </p:nvSpPr>
        <p:spPr/>
        <p:txBody>
          <a:bodyPr/>
          <a:lstStyle/>
          <a:p>
            <a:fld id="{E40720B4-AB10-0342-9541-2DF5352E8B38}" type="slidenum">
              <a:rPr lang="en-CA" smtClean="0"/>
              <a:t>28</a:t>
            </a:fld>
            <a:endParaRPr lang="en-CA"/>
          </a:p>
        </p:txBody>
      </p:sp>
    </p:spTree>
    <p:extLst>
      <p:ext uri="{BB962C8B-B14F-4D97-AF65-F5344CB8AC3E}">
        <p14:creationId xmlns:p14="http://schemas.microsoft.com/office/powerpoint/2010/main" val="41921444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29</a:t>
            </a:fld>
            <a:endParaRPr lang="en-CA"/>
          </a:p>
        </p:txBody>
      </p:sp>
    </p:spTree>
    <p:extLst>
      <p:ext uri="{BB962C8B-B14F-4D97-AF65-F5344CB8AC3E}">
        <p14:creationId xmlns:p14="http://schemas.microsoft.com/office/powerpoint/2010/main" val="3976849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30</a:t>
            </a:fld>
            <a:endParaRPr lang="en-CA"/>
          </a:p>
        </p:txBody>
      </p:sp>
    </p:spTree>
    <p:extLst>
      <p:ext uri="{BB962C8B-B14F-4D97-AF65-F5344CB8AC3E}">
        <p14:creationId xmlns:p14="http://schemas.microsoft.com/office/powerpoint/2010/main" val="9490184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31</a:t>
            </a:fld>
            <a:endParaRPr lang="en-CA"/>
          </a:p>
        </p:txBody>
      </p:sp>
    </p:spTree>
    <p:extLst>
      <p:ext uri="{BB962C8B-B14F-4D97-AF65-F5344CB8AC3E}">
        <p14:creationId xmlns:p14="http://schemas.microsoft.com/office/powerpoint/2010/main" val="4824758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32</a:t>
            </a:fld>
            <a:endParaRPr lang="en-CA"/>
          </a:p>
        </p:txBody>
      </p:sp>
    </p:spTree>
    <p:extLst>
      <p:ext uri="{BB962C8B-B14F-4D97-AF65-F5344CB8AC3E}">
        <p14:creationId xmlns:p14="http://schemas.microsoft.com/office/powerpoint/2010/main" val="6180400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33</a:t>
            </a:fld>
            <a:endParaRPr lang="en-CA"/>
          </a:p>
        </p:txBody>
      </p:sp>
    </p:spTree>
    <p:extLst>
      <p:ext uri="{BB962C8B-B14F-4D97-AF65-F5344CB8AC3E}">
        <p14:creationId xmlns:p14="http://schemas.microsoft.com/office/powerpoint/2010/main" val="4281201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34</a:t>
            </a:fld>
            <a:endParaRPr lang="en-CA"/>
          </a:p>
        </p:txBody>
      </p:sp>
    </p:spTree>
    <p:extLst>
      <p:ext uri="{BB962C8B-B14F-4D97-AF65-F5344CB8AC3E}">
        <p14:creationId xmlns:p14="http://schemas.microsoft.com/office/powerpoint/2010/main" val="2683630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F24CEA-727C-42BA-9AB0-2A391237A795}"/>
              </a:ext>
            </a:extLst>
          </p:cNvPr>
          <p:cNvSpPr>
            <a:spLocks noGrp="1"/>
          </p:cNvSpPr>
          <p:nvPr>
            <p:ph type="ctrTitle"/>
          </p:nvPr>
        </p:nvSpPr>
        <p:spPr>
          <a:xfrm>
            <a:off x="695399" y="5459104"/>
            <a:ext cx="10801201" cy="485302"/>
          </a:xfrm>
          <a:prstGeom prst="rect">
            <a:avLst/>
          </a:prstGeom>
        </p:spPr>
        <p:txBody>
          <a:bodyPr anchor="b">
            <a:normAutofit/>
          </a:bodyPr>
          <a:lstStyle>
            <a:lvl1pPr algn="l">
              <a:defRPr sz="2800" b="1"/>
            </a:lvl1pPr>
          </a:lstStyle>
          <a:p>
            <a:r>
              <a:rPr lang="en-US"/>
              <a:t>Click to edit Master title style</a:t>
            </a:r>
            <a:endParaRPr lang="de-AT" dirty="0"/>
          </a:p>
        </p:txBody>
      </p:sp>
      <p:sp>
        <p:nvSpPr>
          <p:cNvPr id="4" name="Textplatzhalter 2">
            <a:extLst>
              <a:ext uri="{FF2B5EF4-FFF2-40B4-BE49-F238E27FC236}">
                <a16:creationId xmlns:a16="http://schemas.microsoft.com/office/drawing/2014/main" id="{0441614C-8250-4D7B-A116-94B79E1492AA}"/>
              </a:ext>
            </a:extLst>
          </p:cNvPr>
          <p:cNvSpPr>
            <a:spLocks noGrp="1"/>
          </p:cNvSpPr>
          <p:nvPr>
            <p:ph type="body" idx="1"/>
          </p:nvPr>
        </p:nvSpPr>
        <p:spPr>
          <a:xfrm>
            <a:off x="695325" y="6021288"/>
            <a:ext cx="10801275" cy="485302"/>
          </a:xfrm>
        </p:spPr>
        <p:txBody>
          <a:bodyPr>
            <a:normAutofit/>
          </a:bodyPr>
          <a:lstStyle>
            <a:lvl1pPr marL="0" indent="0">
              <a:buNone/>
              <a:defRPr sz="15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711976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1E7A02D9-28AC-4102-8D50-0161B6E6FF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BFF02FDD-BF21-49A1-A6A4-CEE1B425A938}"/>
              </a:ext>
            </a:extLst>
          </p:cNvPr>
          <p:cNvSpPr>
            <a:spLocks noGrp="1"/>
          </p:cNvSpPr>
          <p:nvPr>
            <p:ph type="dt" sz="half" idx="10"/>
          </p:nvPr>
        </p:nvSpPr>
        <p:spPr/>
        <p:txBody>
          <a:bodyPr/>
          <a:lstStyle/>
          <a:p>
            <a:fld id="{97525730-69DB-FB46-9732-1923AD64A604}" type="datetime1">
              <a:rPr lang="en-US" smtClean="0"/>
              <a:t>3/24/26</a:t>
            </a:fld>
            <a:endParaRPr lang="de-AT"/>
          </a:p>
        </p:txBody>
      </p:sp>
      <p:sp>
        <p:nvSpPr>
          <p:cNvPr id="5" name="Fußzeilenplatzhalter 4">
            <a:extLst>
              <a:ext uri="{FF2B5EF4-FFF2-40B4-BE49-F238E27FC236}">
                <a16:creationId xmlns:a16="http://schemas.microsoft.com/office/drawing/2014/main" id="{83ACD104-2273-476A-B4D8-E834260F2594}"/>
              </a:ext>
            </a:extLst>
          </p:cNvPr>
          <p:cNvSpPr>
            <a:spLocks noGrp="1"/>
          </p:cNvSpPr>
          <p:nvPr>
            <p:ph type="ftr" sz="quarter" idx="11"/>
          </p:nvPr>
        </p:nvSpPr>
        <p:spPr/>
        <p:txBody>
          <a:bodyPr/>
          <a:lstStyle/>
          <a:p>
            <a:r>
              <a:rPr lang="de-AT"/>
              <a:t>Quantum Foundations Group Seminar, NORDITA, Stockholm I Phil LeMaitre I 27.03.2026</a:t>
            </a:r>
          </a:p>
        </p:txBody>
      </p:sp>
      <p:sp>
        <p:nvSpPr>
          <p:cNvPr id="6" name="Foliennummernplatzhalter 5">
            <a:extLst>
              <a:ext uri="{FF2B5EF4-FFF2-40B4-BE49-F238E27FC236}">
                <a16:creationId xmlns:a16="http://schemas.microsoft.com/office/drawing/2014/main" id="{91AA336B-2E26-42E0-A00D-8E65CA4E7AE4}"/>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1CDC1238-C893-4835-85CC-6C255E9F560B}"/>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51623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B8FDBD-31B4-4D04-8B83-083656EE5FCF}"/>
              </a:ext>
            </a:extLst>
          </p:cNvPr>
          <p:cNvSpPr>
            <a:spLocks noGrp="1"/>
          </p:cNvSpPr>
          <p:nvPr>
            <p:ph type="title"/>
          </p:nvPr>
        </p:nvSpPr>
        <p:spPr>
          <a:xfrm>
            <a:off x="695325" y="1709738"/>
            <a:ext cx="10801275" cy="2852737"/>
          </a:xfrm>
          <a:prstGeom prst="rect">
            <a:avLst/>
          </a:prstGeom>
        </p:spPr>
        <p:txBody>
          <a:bodyPr anchor="b">
            <a:normAutofit/>
          </a:bodyPr>
          <a:lstStyle>
            <a:lvl1pPr>
              <a:defRPr sz="3000"/>
            </a:lvl1pPr>
          </a:lstStyle>
          <a:p>
            <a:r>
              <a:rPr lang="en-US"/>
              <a:t>Click to edit Master title style</a:t>
            </a:r>
            <a:endParaRPr lang="de-AT"/>
          </a:p>
        </p:txBody>
      </p:sp>
      <p:sp>
        <p:nvSpPr>
          <p:cNvPr id="3" name="Textplatzhalter 2">
            <a:extLst>
              <a:ext uri="{FF2B5EF4-FFF2-40B4-BE49-F238E27FC236}">
                <a16:creationId xmlns:a16="http://schemas.microsoft.com/office/drawing/2014/main" id="{38CAB8A3-9F60-49BC-B437-6B4E2253C6F3}"/>
              </a:ext>
            </a:extLst>
          </p:cNvPr>
          <p:cNvSpPr>
            <a:spLocks noGrp="1"/>
          </p:cNvSpPr>
          <p:nvPr>
            <p:ph type="body" idx="1"/>
          </p:nvPr>
        </p:nvSpPr>
        <p:spPr>
          <a:xfrm>
            <a:off x="695325" y="4589463"/>
            <a:ext cx="10801275" cy="135981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umsplatzhalter 3">
            <a:extLst>
              <a:ext uri="{FF2B5EF4-FFF2-40B4-BE49-F238E27FC236}">
                <a16:creationId xmlns:a16="http://schemas.microsoft.com/office/drawing/2014/main" id="{EDF1D4AB-3EEA-4B02-82C9-F6BB9E0123C6}"/>
              </a:ext>
            </a:extLst>
          </p:cNvPr>
          <p:cNvSpPr>
            <a:spLocks noGrp="1"/>
          </p:cNvSpPr>
          <p:nvPr>
            <p:ph type="dt" sz="half" idx="10"/>
          </p:nvPr>
        </p:nvSpPr>
        <p:spPr/>
        <p:txBody>
          <a:bodyPr/>
          <a:lstStyle/>
          <a:p>
            <a:fld id="{BF524567-7F9B-0F44-B811-92DF2C141AAE}" type="datetime1">
              <a:rPr lang="en-US" smtClean="0"/>
              <a:t>3/24/26</a:t>
            </a:fld>
            <a:endParaRPr lang="de-AT"/>
          </a:p>
        </p:txBody>
      </p:sp>
      <p:sp>
        <p:nvSpPr>
          <p:cNvPr id="5" name="Fußzeilenplatzhalter 4">
            <a:extLst>
              <a:ext uri="{FF2B5EF4-FFF2-40B4-BE49-F238E27FC236}">
                <a16:creationId xmlns:a16="http://schemas.microsoft.com/office/drawing/2014/main" id="{0233F298-7A96-4AF6-A2A2-1B8CCC54674A}"/>
              </a:ext>
            </a:extLst>
          </p:cNvPr>
          <p:cNvSpPr>
            <a:spLocks noGrp="1"/>
          </p:cNvSpPr>
          <p:nvPr>
            <p:ph type="ftr" sz="quarter" idx="11"/>
          </p:nvPr>
        </p:nvSpPr>
        <p:spPr/>
        <p:txBody>
          <a:bodyPr/>
          <a:lstStyle/>
          <a:p>
            <a:r>
              <a:rPr lang="de-AT"/>
              <a:t>Quantum Foundations Group Seminar, NORDITA, Stockholm I Phil LeMaitre I 27.03.2026</a:t>
            </a:r>
          </a:p>
        </p:txBody>
      </p:sp>
      <p:sp>
        <p:nvSpPr>
          <p:cNvPr id="6" name="Foliennummernplatzhalter 5">
            <a:extLst>
              <a:ext uri="{FF2B5EF4-FFF2-40B4-BE49-F238E27FC236}">
                <a16:creationId xmlns:a16="http://schemas.microsoft.com/office/drawing/2014/main" id="{DEF18B5A-DEA1-4D52-885C-6807D3E0ABEB}"/>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44792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60BB3F39-69C5-491A-B23E-3EC5DFC98E34}"/>
              </a:ext>
            </a:extLst>
          </p:cNvPr>
          <p:cNvSpPr>
            <a:spLocks noGrp="1"/>
          </p:cNvSpPr>
          <p:nvPr>
            <p:ph sz="half" idx="1"/>
          </p:nvPr>
        </p:nvSpPr>
        <p:spPr>
          <a:xfrm>
            <a:off x="695399"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Inhaltsplatzhalter 3">
            <a:extLst>
              <a:ext uri="{FF2B5EF4-FFF2-40B4-BE49-F238E27FC236}">
                <a16:creationId xmlns:a16="http://schemas.microsoft.com/office/drawing/2014/main" id="{37030C33-F186-4007-B1CD-D018983D95EB}"/>
              </a:ext>
            </a:extLst>
          </p:cNvPr>
          <p:cNvSpPr>
            <a:spLocks noGrp="1"/>
          </p:cNvSpPr>
          <p:nvPr>
            <p:ph sz="half" idx="2"/>
          </p:nvPr>
        </p:nvSpPr>
        <p:spPr>
          <a:xfrm>
            <a:off x="6240014"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Datumsplatzhalter 4">
            <a:extLst>
              <a:ext uri="{FF2B5EF4-FFF2-40B4-BE49-F238E27FC236}">
                <a16:creationId xmlns:a16="http://schemas.microsoft.com/office/drawing/2014/main" id="{F6B61046-E478-4C18-A7A7-989009BBDB96}"/>
              </a:ext>
            </a:extLst>
          </p:cNvPr>
          <p:cNvSpPr>
            <a:spLocks noGrp="1"/>
          </p:cNvSpPr>
          <p:nvPr>
            <p:ph type="dt" sz="half" idx="10"/>
          </p:nvPr>
        </p:nvSpPr>
        <p:spPr/>
        <p:txBody>
          <a:bodyPr/>
          <a:lstStyle/>
          <a:p>
            <a:fld id="{E676AB95-2844-9A43-BF94-4331996FBEA8}" type="datetime1">
              <a:rPr lang="en-US" smtClean="0"/>
              <a:t>3/24/26</a:t>
            </a:fld>
            <a:endParaRPr lang="de-AT"/>
          </a:p>
        </p:txBody>
      </p:sp>
      <p:sp>
        <p:nvSpPr>
          <p:cNvPr id="6" name="Fußzeilenplatzhalter 5">
            <a:extLst>
              <a:ext uri="{FF2B5EF4-FFF2-40B4-BE49-F238E27FC236}">
                <a16:creationId xmlns:a16="http://schemas.microsoft.com/office/drawing/2014/main" id="{6C0022B3-6375-4B24-A37E-9B4CFB067757}"/>
              </a:ext>
            </a:extLst>
          </p:cNvPr>
          <p:cNvSpPr>
            <a:spLocks noGrp="1"/>
          </p:cNvSpPr>
          <p:nvPr>
            <p:ph type="ftr" sz="quarter" idx="11"/>
          </p:nvPr>
        </p:nvSpPr>
        <p:spPr/>
        <p:txBody>
          <a:bodyPr/>
          <a:lstStyle/>
          <a:p>
            <a:r>
              <a:rPr lang="de-AT"/>
              <a:t>Quantum Foundations Group Seminar, NORDITA, Stockholm I Phil LeMaitre I 27.03.2026</a:t>
            </a:r>
          </a:p>
        </p:txBody>
      </p:sp>
      <p:sp>
        <p:nvSpPr>
          <p:cNvPr id="7" name="Foliennummernplatzhalter 6">
            <a:extLst>
              <a:ext uri="{FF2B5EF4-FFF2-40B4-BE49-F238E27FC236}">
                <a16:creationId xmlns:a16="http://schemas.microsoft.com/office/drawing/2014/main" id="{A1F0E2EA-826C-45D2-ACC0-C9C5FEDF5657}"/>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8" name="Titel 7">
            <a:extLst>
              <a:ext uri="{FF2B5EF4-FFF2-40B4-BE49-F238E27FC236}">
                <a16:creationId xmlns:a16="http://schemas.microsoft.com/office/drawing/2014/main" id="{0B57E19A-F4B8-4DC2-8BFF-E77129F06D9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28957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0EBAB14F-6F2B-46CB-AB06-768840028F78}"/>
              </a:ext>
            </a:extLst>
          </p:cNvPr>
          <p:cNvSpPr>
            <a:spLocks noGrp="1"/>
          </p:cNvSpPr>
          <p:nvPr>
            <p:ph type="body" idx="1"/>
          </p:nvPr>
        </p:nvSpPr>
        <p:spPr>
          <a:xfrm>
            <a:off x="695325" y="1124744"/>
            <a:ext cx="5256659"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a:extLst>
              <a:ext uri="{FF2B5EF4-FFF2-40B4-BE49-F238E27FC236}">
                <a16:creationId xmlns:a16="http://schemas.microsoft.com/office/drawing/2014/main" id="{642ADAC9-3884-480C-BE29-94657F38DBCA}"/>
              </a:ext>
            </a:extLst>
          </p:cNvPr>
          <p:cNvSpPr>
            <a:spLocks noGrp="1"/>
          </p:cNvSpPr>
          <p:nvPr>
            <p:ph sz="half" idx="2"/>
          </p:nvPr>
        </p:nvSpPr>
        <p:spPr>
          <a:xfrm>
            <a:off x="695325" y="1772816"/>
            <a:ext cx="5256659" cy="4176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Textplatzhalter 4">
            <a:extLst>
              <a:ext uri="{FF2B5EF4-FFF2-40B4-BE49-F238E27FC236}">
                <a16:creationId xmlns:a16="http://schemas.microsoft.com/office/drawing/2014/main" id="{F56FDCD5-B563-4FC7-988F-9947EA2BD9B8}"/>
              </a:ext>
            </a:extLst>
          </p:cNvPr>
          <p:cNvSpPr>
            <a:spLocks noGrp="1"/>
          </p:cNvSpPr>
          <p:nvPr>
            <p:ph type="body" sz="quarter" idx="3"/>
          </p:nvPr>
        </p:nvSpPr>
        <p:spPr>
          <a:xfrm>
            <a:off x="6240014" y="1120296"/>
            <a:ext cx="5256585"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a:extLst>
              <a:ext uri="{FF2B5EF4-FFF2-40B4-BE49-F238E27FC236}">
                <a16:creationId xmlns:a16="http://schemas.microsoft.com/office/drawing/2014/main" id="{659056A8-5F21-41F4-939D-6F8675D31C2E}"/>
              </a:ext>
            </a:extLst>
          </p:cNvPr>
          <p:cNvSpPr>
            <a:spLocks noGrp="1"/>
          </p:cNvSpPr>
          <p:nvPr>
            <p:ph sz="quarter" idx="4"/>
          </p:nvPr>
        </p:nvSpPr>
        <p:spPr>
          <a:xfrm>
            <a:off x="6240013" y="1769400"/>
            <a:ext cx="5256585" cy="417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7" name="Datumsplatzhalter 6">
            <a:extLst>
              <a:ext uri="{FF2B5EF4-FFF2-40B4-BE49-F238E27FC236}">
                <a16:creationId xmlns:a16="http://schemas.microsoft.com/office/drawing/2014/main" id="{9A263CFE-F881-4D85-86D9-85FA5842F427}"/>
              </a:ext>
            </a:extLst>
          </p:cNvPr>
          <p:cNvSpPr>
            <a:spLocks noGrp="1"/>
          </p:cNvSpPr>
          <p:nvPr>
            <p:ph type="dt" sz="half" idx="10"/>
          </p:nvPr>
        </p:nvSpPr>
        <p:spPr/>
        <p:txBody>
          <a:bodyPr/>
          <a:lstStyle/>
          <a:p>
            <a:fld id="{5D2B5DBF-1BA5-944A-A946-9673814F8386}" type="datetime1">
              <a:rPr lang="en-US" smtClean="0"/>
              <a:t>3/24/26</a:t>
            </a:fld>
            <a:endParaRPr lang="de-AT"/>
          </a:p>
        </p:txBody>
      </p:sp>
      <p:sp>
        <p:nvSpPr>
          <p:cNvPr id="8" name="Fußzeilenplatzhalter 7">
            <a:extLst>
              <a:ext uri="{FF2B5EF4-FFF2-40B4-BE49-F238E27FC236}">
                <a16:creationId xmlns:a16="http://schemas.microsoft.com/office/drawing/2014/main" id="{FCC2BBAD-3480-48CA-A529-35992336D4A3}"/>
              </a:ext>
            </a:extLst>
          </p:cNvPr>
          <p:cNvSpPr>
            <a:spLocks noGrp="1"/>
          </p:cNvSpPr>
          <p:nvPr>
            <p:ph type="ftr" sz="quarter" idx="11"/>
          </p:nvPr>
        </p:nvSpPr>
        <p:spPr/>
        <p:txBody>
          <a:bodyPr/>
          <a:lstStyle/>
          <a:p>
            <a:r>
              <a:rPr lang="de-AT"/>
              <a:t>Quantum Foundations Group Seminar, NORDITA, Stockholm I Phil LeMaitre I 27.03.2026</a:t>
            </a:r>
          </a:p>
        </p:txBody>
      </p:sp>
      <p:sp>
        <p:nvSpPr>
          <p:cNvPr id="9" name="Foliennummernplatzhalter 8">
            <a:extLst>
              <a:ext uri="{FF2B5EF4-FFF2-40B4-BE49-F238E27FC236}">
                <a16:creationId xmlns:a16="http://schemas.microsoft.com/office/drawing/2014/main" id="{31237708-2F44-402D-A07E-1A1D355A025C}"/>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10" name="Titel 9">
            <a:extLst>
              <a:ext uri="{FF2B5EF4-FFF2-40B4-BE49-F238E27FC236}">
                <a16:creationId xmlns:a16="http://schemas.microsoft.com/office/drawing/2014/main" id="{8184191F-B93B-44AA-8611-17F5295610ED}"/>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18850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1B10E69-4ECC-4600-9446-E89CD97F2F4A}"/>
              </a:ext>
            </a:extLst>
          </p:cNvPr>
          <p:cNvSpPr>
            <a:spLocks noGrp="1"/>
          </p:cNvSpPr>
          <p:nvPr>
            <p:ph type="dt" sz="half" idx="10"/>
          </p:nvPr>
        </p:nvSpPr>
        <p:spPr/>
        <p:txBody>
          <a:bodyPr/>
          <a:lstStyle/>
          <a:p>
            <a:fld id="{FD8BB623-760B-6540-9A2C-9A50B13A90D7}" type="datetime1">
              <a:rPr lang="en-US" smtClean="0"/>
              <a:t>3/24/26</a:t>
            </a:fld>
            <a:endParaRPr lang="de-AT"/>
          </a:p>
        </p:txBody>
      </p:sp>
      <p:sp>
        <p:nvSpPr>
          <p:cNvPr id="4" name="Fußzeilenplatzhalter 3">
            <a:extLst>
              <a:ext uri="{FF2B5EF4-FFF2-40B4-BE49-F238E27FC236}">
                <a16:creationId xmlns:a16="http://schemas.microsoft.com/office/drawing/2014/main" id="{E6038B8C-7CF4-4BA9-96EA-E297A5DA88AE}"/>
              </a:ext>
            </a:extLst>
          </p:cNvPr>
          <p:cNvSpPr>
            <a:spLocks noGrp="1"/>
          </p:cNvSpPr>
          <p:nvPr>
            <p:ph type="ftr" sz="quarter" idx="11"/>
          </p:nvPr>
        </p:nvSpPr>
        <p:spPr/>
        <p:txBody>
          <a:bodyPr/>
          <a:lstStyle/>
          <a:p>
            <a:r>
              <a:rPr lang="de-AT"/>
              <a:t>Quantum Foundations Group Seminar, NORDITA, Stockholm I Phil LeMaitre I 27.03.2026</a:t>
            </a:r>
          </a:p>
        </p:txBody>
      </p:sp>
      <p:sp>
        <p:nvSpPr>
          <p:cNvPr id="5" name="Foliennummernplatzhalter 4">
            <a:extLst>
              <a:ext uri="{FF2B5EF4-FFF2-40B4-BE49-F238E27FC236}">
                <a16:creationId xmlns:a16="http://schemas.microsoft.com/office/drawing/2014/main" id="{751118D6-5E56-4935-BA78-AF6BE9D12231}"/>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6" name="Titel 5">
            <a:extLst>
              <a:ext uri="{FF2B5EF4-FFF2-40B4-BE49-F238E27FC236}">
                <a16:creationId xmlns:a16="http://schemas.microsoft.com/office/drawing/2014/main" id="{DA2F99A1-CCA6-4863-8703-3807A8AD73B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67136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33B1515-0EC6-4B84-92AF-159C2C422F36}"/>
              </a:ext>
            </a:extLst>
          </p:cNvPr>
          <p:cNvSpPr>
            <a:spLocks noGrp="1"/>
          </p:cNvSpPr>
          <p:nvPr>
            <p:ph type="dt" sz="half" idx="10"/>
          </p:nvPr>
        </p:nvSpPr>
        <p:spPr/>
        <p:txBody>
          <a:bodyPr/>
          <a:lstStyle/>
          <a:p>
            <a:fld id="{7FBF4B37-D5AF-864A-B9B4-02A8A4CA1BF3}" type="datetime1">
              <a:rPr lang="en-US" smtClean="0"/>
              <a:t>3/24/26</a:t>
            </a:fld>
            <a:endParaRPr lang="de-AT"/>
          </a:p>
        </p:txBody>
      </p:sp>
      <p:sp>
        <p:nvSpPr>
          <p:cNvPr id="3" name="Fußzeilenplatzhalter 2">
            <a:extLst>
              <a:ext uri="{FF2B5EF4-FFF2-40B4-BE49-F238E27FC236}">
                <a16:creationId xmlns:a16="http://schemas.microsoft.com/office/drawing/2014/main" id="{4F6B6A2B-A4C8-4BCD-BFAF-2FF68AEAD7E0}"/>
              </a:ext>
            </a:extLst>
          </p:cNvPr>
          <p:cNvSpPr>
            <a:spLocks noGrp="1"/>
          </p:cNvSpPr>
          <p:nvPr>
            <p:ph type="ftr" sz="quarter" idx="11"/>
          </p:nvPr>
        </p:nvSpPr>
        <p:spPr/>
        <p:txBody>
          <a:bodyPr/>
          <a:lstStyle/>
          <a:p>
            <a:r>
              <a:rPr lang="de-AT"/>
              <a:t>Quantum Foundations Group Seminar, NORDITA, Stockholm I Phil LeMaitre I 27.03.2026</a:t>
            </a:r>
          </a:p>
        </p:txBody>
      </p:sp>
      <p:sp>
        <p:nvSpPr>
          <p:cNvPr id="4" name="Foliennummernplatzhalter 3">
            <a:extLst>
              <a:ext uri="{FF2B5EF4-FFF2-40B4-BE49-F238E27FC236}">
                <a16:creationId xmlns:a16="http://schemas.microsoft.com/office/drawing/2014/main" id="{99138A11-1CD8-4E58-A751-07DAE449FD96}"/>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389917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B835DC-1E16-4EDD-8F21-6C9F708B6161}"/>
              </a:ext>
            </a:extLst>
          </p:cNvPr>
          <p:cNvSpPr>
            <a:spLocks noGrp="1"/>
          </p:cNvSpPr>
          <p:nvPr>
            <p:ph type="title"/>
          </p:nvPr>
        </p:nvSpPr>
        <p:spPr>
          <a:xfrm>
            <a:off x="695326" y="333375"/>
            <a:ext cx="4104530" cy="1151409"/>
          </a:xfrm>
          <a:prstGeom prst="rect">
            <a:avLst/>
          </a:prstGeom>
        </p:spPr>
        <p:txBody>
          <a:bodyPr anchor="b">
            <a:normAutofit/>
          </a:bodyPr>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58C8C1CC-4F86-497F-9300-01063FC179DE}"/>
              </a:ext>
            </a:extLst>
          </p:cNvPr>
          <p:cNvSpPr>
            <a:spLocks noGrp="1"/>
          </p:cNvSpPr>
          <p:nvPr>
            <p:ph idx="1"/>
          </p:nvPr>
        </p:nvSpPr>
        <p:spPr>
          <a:xfrm>
            <a:off x="5087888" y="333375"/>
            <a:ext cx="6408712" cy="5615905"/>
          </a:xfrm>
        </p:spPr>
        <p:txBody>
          <a:bodyPr/>
          <a:lstStyle>
            <a:lvl1pPr>
              <a:defRPr sz="24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dirty="0"/>
          </a:p>
        </p:txBody>
      </p:sp>
      <p:sp>
        <p:nvSpPr>
          <p:cNvPr id="4" name="Textplatzhalter 3">
            <a:extLst>
              <a:ext uri="{FF2B5EF4-FFF2-40B4-BE49-F238E27FC236}">
                <a16:creationId xmlns:a16="http://schemas.microsoft.com/office/drawing/2014/main" id="{107D65E3-BA38-4663-80FD-629DAF4F96B8}"/>
              </a:ext>
            </a:extLst>
          </p:cNvPr>
          <p:cNvSpPr>
            <a:spLocks noGrp="1"/>
          </p:cNvSpPr>
          <p:nvPr>
            <p:ph type="body" sz="half" idx="2"/>
          </p:nvPr>
        </p:nvSpPr>
        <p:spPr>
          <a:xfrm>
            <a:off x="695326" y="1700808"/>
            <a:ext cx="4104530"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DF117A17-1C4B-487E-812B-ACE0154104EB}"/>
              </a:ext>
            </a:extLst>
          </p:cNvPr>
          <p:cNvSpPr>
            <a:spLocks noGrp="1"/>
          </p:cNvSpPr>
          <p:nvPr>
            <p:ph type="dt" sz="half" idx="10"/>
          </p:nvPr>
        </p:nvSpPr>
        <p:spPr/>
        <p:txBody>
          <a:bodyPr/>
          <a:lstStyle/>
          <a:p>
            <a:fld id="{113CEC34-0C9A-814D-AD7C-E4A8D2A24D3D}" type="datetime1">
              <a:rPr lang="en-US" smtClean="0"/>
              <a:t>3/24/26</a:t>
            </a:fld>
            <a:endParaRPr lang="de-AT"/>
          </a:p>
        </p:txBody>
      </p:sp>
      <p:sp>
        <p:nvSpPr>
          <p:cNvPr id="6" name="Fußzeilenplatzhalter 5">
            <a:extLst>
              <a:ext uri="{FF2B5EF4-FFF2-40B4-BE49-F238E27FC236}">
                <a16:creationId xmlns:a16="http://schemas.microsoft.com/office/drawing/2014/main" id="{08ECA08F-2904-4D77-A825-46BE30DE8E42}"/>
              </a:ext>
            </a:extLst>
          </p:cNvPr>
          <p:cNvSpPr>
            <a:spLocks noGrp="1"/>
          </p:cNvSpPr>
          <p:nvPr>
            <p:ph type="ftr" sz="quarter" idx="11"/>
          </p:nvPr>
        </p:nvSpPr>
        <p:spPr/>
        <p:txBody>
          <a:bodyPr/>
          <a:lstStyle/>
          <a:p>
            <a:r>
              <a:rPr lang="de-AT"/>
              <a:t>Quantum Foundations Group Seminar, NORDITA, Stockholm I Phil LeMaitre I 27.03.2026</a:t>
            </a:r>
          </a:p>
        </p:txBody>
      </p:sp>
      <p:sp>
        <p:nvSpPr>
          <p:cNvPr id="7" name="Foliennummernplatzhalter 6">
            <a:extLst>
              <a:ext uri="{FF2B5EF4-FFF2-40B4-BE49-F238E27FC236}">
                <a16:creationId xmlns:a16="http://schemas.microsoft.com/office/drawing/2014/main" id="{6EC7F59D-8933-4ED7-AA87-863803A8B989}"/>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245588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75EAE6-23BB-4FEA-852F-163D8E1669A3}"/>
              </a:ext>
            </a:extLst>
          </p:cNvPr>
          <p:cNvSpPr>
            <a:spLocks noGrp="1"/>
          </p:cNvSpPr>
          <p:nvPr>
            <p:ph type="title"/>
          </p:nvPr>
        </p:nvSpPr>
        <p:spPr>
          <a:xfrm>
            <a:off x="695324" y="333375"/>
            <a:ext cx="4104532" cy="1151409"/>
          </a:xfrm>
          <a:prstGeom prst="rect">
            <a:avLst/>
          </a:prstGeom>
        </p:spPr>
        <p:txBody>
          <a:bodyPr anchor="b">
            <a:normAutofit/>
          </a:bodyPr>
          <a:lstStyle>
            <a:lvl1pPr>
              <a:defRPr sz="2800"/>
            </a:lvl1pPr>
          </a:lstStyle>
          <a:p>
            <a:r>
              <a:rPr lang="en-US"/>
              <a:t>Click to edit Master title style</a:t>
            </a:r>
            <a:endParaRPr lang="de-AT"/>
          </a:p>
        </p:txBody>
      </p:sp>
      <p:sp>
        <p:nvSpPr>
          <p:cNvPr id="3" name="Bildplatzhalter 2">
            <a:extLst>
              <a:ext uri="{FF2B5EF4-FFF2-40B4-BE49-F238E27FC236}">
                <a16:creationId xmlns:a16="http://schemas.microsoft.com/office/drawing/2014/main" id="{D6586F6F-2E4F-4A36-96E3-6D497D84ECAE}"/>
              </a:ext>
            </a:extLst>
          </p:cNvPr>
          <p:cNvSpPr>
            <a:spLocks noGrp="1"/>
          </p:cNvSpPr>
          <p:nvPr>
            <p:ph type="pic" idx="1"/>
          </p:nvPr>
        </p:nvSpPr>
        <p:spPr>
          <a:xfrm>
            <a:off x="5087888" y="340226"/>
            <a:ext cx="6408712" cy="560905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AT"/>
          </a:p>
        </p:txBody>
      </p:sp>
      <p:sp>
        <p:nvSpPr>
          <p:cNvPr id="4" name="Textplatzhalter 3">
            <a:extLst>
              <a:ext uri="{FF2B5EF4-FFF2-40B4-BE49-F238E27FC236}">
                <a16:creationId xmlns:a16="http://schemas.microsoft.com/office/drawing/2014/main" id="{13D56DDB-FADF-49C5-9809-768422AD1492}"/>
              </a:ext>
            </a:extLst>
          </p:cNvPr>
          <p:cNvSpPr>
            <a:spLocks noGrp="1"/>
          </p:cNvSpPr>
          <p:nvPr>
            <p:ph type="body" sz="half" idx="2"/>
          </p:nvPr>
        </p:nvSpPr>
        <p:spPr>
          <a:xfrm>
            <a:off x="695325" y="1700808"/>
            <a:ext cx="4104531"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12E4E76F-0F8F-4D3E-911C-356098EB7A01}"/>
              </a:ext>
            </a:extLst>
          </p:cNvPr>
          <p:cNvSpPr>
            <a:spLocks noGrp="1"/>
          </p:cNvSpPr>
          <p:nvPr>
            <p:ph type="dt" sz="half" idx="10"/>
          </p:nvPr>
        </p:nvSpPr>
        <p:spPr/>
        <p:txBody>
          <a:bodyPr/>
          <a:lstStyle/>
          <a:p>
            <a:fld id="{313A0017-37C9-FD40-B63D-5C01BA6FD05B}" type="datetime1">
              <a:rPr lang="en-US" smtClean="0"/>
              <a:t>3/24/26</a:t>
            </a:fld>
            <a:endParaRPr lang="de-AT"/>
          </a:p>
        </p:txBody>
      </p:sp>
      <p:sp>
        <p:nvSpPr>
          <p:cNvPr id="6" name="Fußzeilenplatzhalter 5">
            <a:extLst>
              <a:ext uri="{FF2B5EF4-FFF2-40B4-BE49-F238E27FC236}">
                <a16:creationId xmlns:a16="http://schemas.microsoft.com/office/drawing/2014/main" id="{BF32B37C-0987-4DBE-8AE5-F6BE2589D6F0}"/>
              </a:ext>
            </a:extLst>
          </p:cNvPr>
          <p:cNvSpPr>
            <a:spLocks noGrp="1"/>
          </p:cNvSpPr>
          <p:nvPr>
            <p:ph type="ftr" sz="quarter" idx="11"/>
          </p:nvPr>
        </p:nvSpPr>
        <p:spPr/>
        <p:txBody>
          <a:bodyPr/>
          <a:lstStyle/>
          <a:p>
            <a:r>
              <a:rPr lang="de-AT"/>
              <a:t>Quantum Foundations Group Seminar, NORDITA, Stockholm I Phil LeMaitre I 27.03.2026</a:t>
            </a:r>
          </a:p>
        </p:txBody>
      </p:sp>
      <p:sp>
        <p:nvSpPr>
          <p:cNvPr id="7" name="Foliennummernplatzhalter 6">
            <a:extLst>
              <a:ext uri="{FF2B5EF4-FFF2-40B4-BE49-F238E27FC236}">
                <a16:creationId xmlns:a16="http://schemas.microsoft.com/office/drawing/2014/main" id="{2FE9802D-53D8-4ADF-A795-D77A3ED744FF}"/>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62848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und vertikaler Text">
    <p:spTree>
      <p:nvGrpSpPr>
        <p:cNvPr id="1" name=""/>
        <p:cNvGrpSpPr/>
        <p:nvPr/>
      </p:nvGrpSpPr>
      <p:grpSpPr>
        <a:xfrm>
          <a:off x="0" y="0"/>
          <a:ext cx="0" cy="0"/>
          <a:chOff x="0" y="0"/>
          <a:chExt cx="0" cy="0"/>
        </a:xfrm>
      </p:grpSpPr>
      <p:sp>
        <p:nvSpPr>
          <p:cNvPr id="3" name="Vertikaler Textplatzhalter 2">
            <a:extLst>
              <a:ext uri="{FF2B5EF4-FFF2-40B4-BE49-F238E27FC236}">
                <a16:creationId xmlns:a16="http://schemas.microsoft.com/office/drawing/2014/main" id="{4C5EAB1F-B43A-4658-9581-D76D14F85F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3389A0FB-EEC3-4EF0-9ADD-A25306DA90FE}"/>
              </a:ext>
            </a:extLst>
          </p:cNvPr>
          <p:cNvSpPr>
            <a:spLocks noGrp="1"/>
          </p:cNvSpPr>
          <p:nvPr>
            <p:ph type="dt" sz="half" idx="10"/>
          </p:nvPr>
        </p:nvSpPr>
        <p:spPr/>
        <p:txBody>
          <a:bodyPr/>
          <a:lstStyle/>
          <a:p>
            <a:fld id="{DE72D6F0-A923-9C4E-ACB0-C2D7DFFFC6FF}" type="datetime1">
              <a:rPr lang="en-US" smtClean="0"/>
              <a:t>3/24/26</a:t>
            </a:fld>
            <a:endParaRPr lang="de-AT"/>
          </a:p>
        </p:txBody>
      </p:sp>
      <p:sp>
        <p:nvSpPr>
          <p:cNvPr id="5" name="Fußzeilenplatzhalter 4">
            <a:extLst>
              <a:ext uri="{FF2B5EF4-FFF2-40B4-BE49-F238E27FC236}">
                <a16:creationId xmlns:a16="http://schemas.microsoft.com/office/drawing/2014/main" id="{BA7103B7-551F-4B50-A5D4-7E57DED5CE0A}"/>
              </a:ext>
            </a:extLst>
          </p:cNvPr>
          <p:cNvSpPr>
            <a:spLocks noGrp="1"/>
          </p:cNvSpPr>
          <p:nvPr>
            <p:ph type="ftr" sz="quarter" idx="11"/>
          </p:nvPr>
        </p:nvSpPr>
        <p:spPr/>
        <p:txBody>
          <a:bodyPr/>
          <a:lstStyle/>
          <a:p>
            <a:r>
              <a:rPr lang="de-AT"/>
              <a:t>Quantum Foundations Group Seminar, NORDITA, Stockholm I Phil LeMaitre I 27.03.2026</a:t>
            </a:r>
          </a:p>
        </p:txBody>
      </p:sp>
      <p:sp>
        <p:nvSpPr>
          <p:cNvPr id="6" name="Foliennummernplatzhalter 5">
            <a:extLst>
              <a:ext uri="{FF2B5EF4-FFF2-40B4-BE49-F238E27FC236}">
                <a16:creationId xmlns:a16="http://schemas.microsoft.com/office/drawing/2014/main" id="{EA3FF2B3-2015-4796-82BE-B3575BED550E}"/>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7B95CA12-F909-41D8-A784-E228C9072098}"/>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37591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6A27B21-E248-4667-B1A8-91247D8BB80C}"/>
              </a:ext>
            </a:extLst>
          </p:cNvPr>
          <p:cNvSpPr>
            <a:spLocks noGrp="1"/>
          </p:cNvSpPr>
          <p:nvPr>
            <p:ph type="title" orient="vert"/>
          </p:nvPr>
        </p:nvSpPr>
        <p:spPr>
          <a:xfrm>
            <a:off x="8724900" y="333375"/>
            <a:ext cx="2771700" cy="5615905"/>
          </a:xfrm>
          <a:prstGeom prst="rect">
            <a:avLst/>
          </a:prstGeom>
        </p:spPr>
        <p:txBody>
          <a:bodyPr vert="eaVert"/>
          <a:lstStyle/>
          <a:p>
            <a:r>
              <a:rPr lang="en-US"/>
              <a:t>Click to edit Master title style</a:t>
            </a:r>
            <a:endParaRPr lang="de-AT"/>
          </a:p>
        </p:txBody>
      </p:sp>
      <p:sp>
        <p:nvSpPr>
          <p:cNvPr id="3" name="Vertikaler Textplatzhalter 2">
            <a:extLst>
              <a:ext uri="{FF2B5EF4-FFF2-40B4-BE49-F238E27FC236}">
                <a16:creationId xmlns:a16="http://schemas.microsoft.com/office/drawing/2014/main" id="{9BAC2EE9-BFB6-4286-BD71-DDE7114176DC}"/>
              </a:ext>
            </a:extLst>
          </p:cNvPr>
          <p:cNvSpPr>
            <a:spLocks noGrp="1"/>
          </p:cNvSpPr>
          <p:nvPr>
            <p:ph type="body" orient="vert" idx="1"/>
          </p:nvPr>
        </p:nvSpPr>
        <p:spPr>
          <a:xfrm>
            <a:off x="695325" y="333375"/>
            <a:ext cx="7877175" cy="56159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77C7FD9C-CA6A-4C91-9817-8053D045C070}"/>
              </a:ext>
            </a:extLst>
          </p:cNvPr>
          <p:cNvSpPr>
            <a:spLocks noGrp="1"/>
          </p:cNvSpPr>
          <p:nvPr>
            <p:ph type="dt" sz="half" idx="10"/>
          </p:nvPr>
        </p:nvSpPr>
        <p:spPr/>
        <p:txBody>
          <a:bodyPr/>
          <a:lstStyle/>
          <a:p>
            <a:fld id="{FFABB0EB-605F-7A48-9D15-0EDE756571BC}" type="datetime1">
              <a:rPr lang="en-US" smtClean="0"/>
              <a:t>3/24/26</a:t>
            </a:fld>
            <a:endParaRPr lang="de-AT"/>
          </a:p>
        </p:txBody>
      </p:sp>
      <p:sp>
        <p:nvSpPr>
          <p:cNvPr id="5" name="Fußzeilenplatzhalter 4">
            <a:extLst>
              <a:ext uri="{FF2B5EF4-FFF2-40B4-BE49-F238E27FC236}">
                <a16:creationId xmlns:a16="http://schemas.microsoft.com/office/drawing/2014/main" id="{43DCE2AE-61CC-4750-9C5D-FDF78A698002}"/>
              </a:ext>
            </a:extLst>
          </p:cNvPr>
          <p:cNvSpPr>
            <a:spLocks noGrp="1"/>
          </p:cNvSpPr>
          <p:nvPr>
            <p:ph type="ftr" sz="quarter" idx="11"/>
          </p:nvPr>
        </p:nvSpPr>
        <p:spPr/>
        <p:txBody>
          <a:bodyPr/>
          <a:lstStyle/>
          <a:p>
            <a:r>
              <a:rPr lang="de-AT"/>
              <a:t>Quantum Foundations Group Seminar, NORDITA, Stockholm I Phil LeMaitre I 27.03.2026</a:t>
            </a:r>
          </a:p>
        </p:txBody>
      </p:sp>
      <p:sp>
        <p:nvSpPr>
          <p:cNvPr id="6" name="Foliennummernplatzhalter 5">
            <a:extLst>
              <a:ext uri="{FF2B5EF4-FFF2-40B4-BE49-F238E27FC236}">
                <a16:creationId xmlns:a16="http://schemas.microsoft.com/office/drawing/2014/main" id="{27BAD0E1-6707-4963-A804-E3B7549D6B7A}"/>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59429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8F077A78-823C-4FB1-A554-48EEEDB5B2BC}"/>
              </a:ext>
            </a:extLst>
          </p:cNvPr>
          <p:cNvPicPr>
            <a:picLocks noChangeAspect="1"/>
          </p:cNvPicPr>
          <p:nvPr userDrawn="1"/>
        </p:nvPicPr>
        <p:blipFill>
          <a:blip r:embed="rId13"/>
          <a:srcRect/>
          <a:stretch/>
        </p:blipFill>
        <p:spPr>
          <a:xfrm>
            <a:off x="0" y="0"/>
            <a:ext cx="12250813" cy="6891082"/>
          </a:xfrm>
          <a:prstGeom prst="rect">
            <a:avLst/>
          </a:prstGeom>
        </p:spPr>
      </p:pic>
      <p:sp>
        <p:nvSpPr>
          <p:cNvPr id="2" name="Titelplatzhalter 1">
            <a:extLst>
              <a:ext uri="{FF2B5EF4-FFF2-40B4-BE49-F238E27FC236}">
                <a16:creationId xmlns:a16="http://schemas.microsoft.com/office/drawing/2014/main" id="{BB2EF590-3470-459C-9316-671ECA281F27}"/>
              </a:ext>
            </a:extLst>
          </p:cNvPr>
          <p:cNvSpPr>
            <a:spLocks noGrp="1"/>
          </p:cNvSpPr>
          <p:nvPr>
            <p:ph type="title"/>
          </p:nvPr>
        </p:nvSpPr>
        <p:spPr>
          <a:xfrm>
            <a:off x="695400" y="332656"/>
            <a:ext cx="10801200" cy="576064"/>
          </a:xfrm>
          <a:prstGeom prst="rect">
            <a:avLst/>
          </a:prstGeom>
        </p:spPr>
        <p:txBody>
          <a:bodyPr vert="horz" lIns="91440" tIns="45720" rIns="91440" bIns="45720" rtlCol="0" anchor="b">
            <a:normAutofit/>
          </a:bodyPr>
          <a:lstStyle/>
          <a:p>
            <a:r>
              <a:rPr lang="de-DE" dirty="0"/>
              <a:t>Mastertitelformat bearbeiten</a:t>
            </a:r>
            <a:endParaRPr lang="de-AT" dirty="0"/>
          </a:p>
        </p:txBody>
      </p:sp>
      <p:sp>
        <p:nvSpPr>
          <p:cNvPr id="3" name="Textplatzhalter 2">
            <a:extLst>
              <a:ext uri="{FF2B5EF4-FFF2-40B4-BE49-F238E27FC236}">
                <a16:creationId xmlns:a16="http://schemas.microsoft.com/office/drawing/2014/main" id="{A68C32D3-9180-48A2-9E47-8252F5399794}"/>
              </a:ext>
            </a:extLst>
          </p:cNvPr>
          <p:cNvSpPr>
            <a:spLocks noGrp="1"/>
          </p:cNvSpPr>
          <p:nvPr>
            <p:ph type="body" idx="1"/>
          </p:nvPr>
        </p:nvSpPr>
        <p:spPr>
          <a:xfrm>
            <a:off x="695400" y="1124743"/>
            <a:ext cx="10801200" cy="4824537"/>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AT" dirty="0"/>
          </a:p>
        </p:txBody>
      </p:sp>
      <p:sp>
        <p:nvSpPr>
          <p:cNvPr id="4" name="Datumsplatzhalter 3">
            <a:extLst>
              <a:ext uri="{FF2B5EF4-FFF2-40B4-BE49-F238E27FC236}">
                <a16:creationId xmlns:a16="http://schemas.microsoft.com/office/drawing/2014/main" id="{EC326DDF-8A21-4E62-B496-3854373C44F6}"/>
              </a:ext>
            </a:extLst>
          </p:cNvPr>
          <p:cNvSpPr>
            <a:spLocks noGrp="1"/>
          </p:cNvSpPr>
          <p:nvPr>
            <p:ph type="dt" sz="half" idx="2"/>
          </p:nvPr>
        </p:nvSpPr>
        <p:spPr>
          <a:xfrm>
            <a:off x="5159896" y="6310311"/>
            <a:ext cx="1080119" cy="365125"/>
          </a:xfrm>
          <a:prstGeom prst="rect">
            <a:avLst/>
          </a:prstGeom>
        </p:spPr>
        <p:txBody>
          <a:bodyPr vert="horz" lIns="91440" tIns="45720" rIns="91440" bIns="45720" rtlCol="0" anchor="ctr"/>
          <a:lstStyle>
            <a:lvl1pPr algn="l">
              <a:defRPr sz="900">
                <a:solidFill>
                  <a:schemeClr val="accent3"/>
                </a:solidFill>
              </a:defRPr>
            </a:lvl1pPr>
          </a:lstStyle>
          <a:p>
            <a:fld id="{6E19576C-5BDA-E44B-B772-DC9D9FA8C5EE}" type="datetime1">
              <a:rPr lang="en-US" smtClean="0"/>
              <a:t>3/24/26</a:t>
            </a:fld>
            <a:endParaRPr lang="de-AT" dirty="0"/>
          </a:p>
        </p:txBody>
      </p:sp>
      <p:sp>
        <p:nvSpPr>
          <p:cNvPr id="5" name="Fußzeilenplatzhalter 4">
            <a:extLst>
              <a:ext uri="{FF2B5EF4-FFF2-40B4-BE49-F238E27FC236}">
                <a16:creationId xmlns:a16="http://schemas.microsoft.com/office/drawing/2014/main" id="{0F6A1B67-E1AA-4B80-BE53-EEFBF856BAAC}"/>
              </a:ext>
            </a:extLst>
          </p:cNvPr>
          <p:cNvSpPr>
            <a:spLocks noGrp="1"/>
          </p:cNvSpPr>
          <p:nvPr>
            <p:ph type="ftr" sz="quarter" idx="3"/>
          </p:nvPr>
        </p:nvSpPr>
        <p:spPr>
          <a:xfrm>
            <a:off x="6456039" y="6310311"/>
            <a:ext cx="3744417" cy="365125"/>
          </a:xfrm>
          <a:prstGeom prst="rect">
            <a:avLst/>
          </a:prstGeom>
        </p:spPr>
        <p:txBody>
          <a:bodyPr vert="horz" lIns="91440" tIns="45720" rIns="91440" bIns="45720" rtlCol="0" anchor="ctr"/>
          <a:lstStyle>
            <a:lvl1pPr algn="ctr">
              <a:defRPr sz="900">
                <a:solidFill>
                  <a:schemeClr val="accent3"/>
                </a:solidFill>
              </a:defRPr>
            </a:lvl1pPr>
          </a:lstStyle>
          <a:p>
            <a:r>
              <a:rPr lang="de-AT"/>
              <a:t>Quantum Foundations Group Seminar, NORDITA, Stockholm I Phil LeMaitre I 27.03.2026</a:t>
            </a:r>
            <a:endParaRPr lang="de-AT" dirty="0"/>
          </a:p>
        </p:txBody>
      </p:sp>
      <p:sp>
        <p:nvSpPr>
          <p:cNvPr id="6" name="Foliennummernplatzhalter 5">
            <a:extLst>
              <a:ext uri="{FF2B5EF4-FFF2-40B4-BE49-F238E27FC236}">
                <a16:creationId xmlns:a16="http://schemas.microsoft.com/office/drawing/2014/main" id="{482BB844-BB3C-4946-8814-43B26C37D90B}"/>
              </a:ext>
            </a:extLst>
          </p:cNvPr>
          <p:cNvSpPr>
            <a:spLocks noGrp="1"/>
          </p:cNvSpPr>
          <p:nvPr>
            <p:ph type="sldNum" sz="quarter" idx="4"/>
          </p:nvPr>
        </p:nvSpPr>
        <p:spPr>
          <a:xfrm>
            <a:off x="10416480" y="6310311"/>
            <a:ext cx="1080120" cy="365125"/>
          </a:xfrm>
          <a:prstGeom prst="rect">
            <a:avLst/>
          </a:prstGeom>
        </p:spPr>
        <p:txBody>
          <a:bodyPr vert="horz" lIns="91440" tIns="45720" rIns="91440" bIns="45720" rtlCol="0" anchor="ctr"/>
          <a:lstStyle>
            <a:lvl1pPr algn="r">
              <a:defRPr sz="900">
                <a:solidFill>
                  <a:schemeClr val="accent3"/>
                </a:solidFill>
              </a:defRPr>
            </a:lvl1pPr>
          </a:lstStyle>
          <a:p>
            <a:r>
              <a:rPr lang="de-AT"/>
              <a:t>Seite </a:t>
            </a:r>
            <a:fld id="{D0617D14-1B55-43C0-819D-0D244AC23646}" type="slidenum">
              <a:rPr lang="de-AT" smtClean="0"/>
              <a:pPr/>
              <a:t>‹#›</a:t>
            </a:fld>
            <a:endParaRPr lang="de-AT" dirty="0"/>
          </a:p>
        </p:txBody>
      </p:sp>
    </p:spTree>
    <p:extLst>
      <p:ext uri="{BB962C8B-B14F-4D97-AF65-F5344CB8AC3E}">
        <p14:creationId xmlns:p14="http://schemas.microsoft.com/office/powerpoint/2010/main" val="1515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0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SzPct val="80000"/>
        <a:buFont typeface="Wingdings" panose="05000000000000000000" pitchFamily="2" charset="2"/>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8">
          <p15:clr>
            <a:srgbClr val="F26B43"/>
          </p15:clr>
        </p15:guide>
        <p15:guide id="4" orient="horz" pos="210">
          <p15:clr>
            <a:srgbClr val="F26B43"/>
          </p15:clr>
        </p15:guide>
        <p15:guide id="5" orient="horz" pos="57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notesSlide" Target="../notesSlides/notesSlide2.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notesSlide" Target="../notesSlides/notesSlide3.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20.png"/><Relationship Id="rId18" Type="http://schemas.openxmlformats.org/officeDocument/2006/relationships/image" Target="../media/image250.png"/><Relationship Id="rId72" Type="http://schemas.openxmlformats.org/officeDocument/2006/relationships/image" Target="../media/image33.png"/><Relationship Id="rId3" Type="http://schemas.openxmlformats.org/officeDocument/2006/relationships/notesSlide" Target="../notesSlides/notesSlide6.xml"/><Relationship Id="rId21" Type="http://schemas.openxmlformats.org/officeDocument/2006/relationships/image" Target="../media/image28.png"/><Relationship Id="rId68" Type="http://schemas.openxmlformats.org/officeDocument/2006/relationships/image" Target="../media/image64.png"/><Relationship Id="rId7" Type="http://schemas.openxmlformats.org/officeDocument/2006/relationships/image" Target="../media/image14.png"/><Relationship Id="rId12" Type="http://schemas.openxmlformats.org/officeDocument/2006/relationships/image" Target="../media/image24.svg"/><Relationship Id="rId17" Type="http://schemas.openxmlformats.org/officeDocument/2006/relationships/image" Target="../media/image24.png"/><Relationship Id="rId71" Type="http://schemas.openxmlformats.org/officeDocument/2006/relationships/image" Target="../media/image67.png"/><Relationship Id="rId2" Type="http://schemas.openxmlformats.org/officeDocument/2006/relationships/slideLayout" Target="../slideLayouts/slideLayout2.xml"/><Relationship Id="rId16" Type="http://schemas.openxmlformats.org/officeDocument/2006/relationships/image" Target="../media/image230.png"/><Relationship Id="rId20" Type="http://schemas.openxmlformats.org/officeDocument/2006/relationships/image" Target="../media/image27.png"/><Relationship Id="rId70" Type="http://schemas.openxmlformats.org/officeDocument/2006/relationships/image" Target="../media/image66.png"/><Relationship Id="rId75" Type="http://schemas.openxmlformats.org/officeDocument/2006/relationships/image" Target="../media/image36.png"/><Relationship Id="rId1" Type="http://schemas.openxmlformats.org/officeDocument/2006/relationships/tags" Target="../tags/tag5.xml"/><Relationship Id="rId6" Type="http://schemas.openxmlformats.org/officeDocument/2006/relationships/image" Target="../media/image130.png"/><Relationship Id="rId11" Type="http://schemas.openxmlformats.org/officeDocument/2006/relationships/image" Target="../media/image23.png"/><Relationship Id="rId24" Type="http://schemas.openxmlformats.org/officeDocument/2006/relationships/image" Target="../media/image31.png"/><Relationship Id="rId74" Type="http://schemas.openxmlformats.org/officeDocument/2006/relationships/image" Target="../media/image35.png"/><Relationship Id="rId5" Type="http://schemas.openxmlformats.org/officeDocument/2006/relationships/image" Target="../media/image12.png"/><Relationship Id="rId15" Type="http://schemas.openxmlformats.org/officeDocument/2006/relationships/image" Target="../media/image26.svg"/><Relationship Id="rId23" Type="http://schemas.openxmlformats.org/officeDocument/2006/relationships/image" Target="../media/image30.png"/><Relationship Id="rId10" Type="http://schemas.openxmlformats.org/officeDocument/2006/relationships/image" Target="../media/image170.png"/><Relationship Id="rId19" Type="http://schemas.openxmlformats.org/officeDocument/2006/relationships/image" Target="../media/image26.png"/><Relationship Id="rId73" Type="http://schemas.openxmlformats.org/officeDocument/2006/relationships/image" Target="../media/image34.png"/><Relationship Id="rId9" Type="http://schemas.openxmlformats.org/officeDocument/2006/relationships/image" Target="../media/image16.png"/><Relationship Id="rId14" Type="http://schemas.openxmlformats.org/officeDocument/2006/relationships/image" Target="../media/image25.png"/><Relationship Id="rId22" Type="http://schemas.openxmlformats.org/officeDocument/2006/relationships/image" Target="../media/image29.png"/><Relationship Id="rId69"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43.png"/><Relationship Id="rId3" Type="http://schemas.openxmlformats.org/officeDocument/2006/relationships/notesSlide" Target="../notesSlides/notesSlide7.xml"/><Relationship Id="rId7" Type="http://schemas.openxmlformats.org/officeDocument/2006/relationships/image" Target="../media/image38.png"/><Relationship Id="rId12" Type="http://schemas.openxmlformats.org/officeDocument/2006/relationships/image" Target="../media/image42.png"/><Relationship Id="rId2" Type="http://schemas.openxmlformats.org/officeDocument/2006/relationships/slideLayout" Target="../slideLayouts/slideLayout2.xml"/><Relationship Id="rId16" Type="http://schemas.openxmlformats.org/officeDocument/2006/relationships/image" Target="../media/image46.png"/><Relationship Id="rId1" Type="http://schemas.openxmlformats.org/officeDocument/2006/relationships/tags" Target="../tags/tag6.xml"/><Relationship Id="rId6" Type="http://schemas.openxmlformats.org/officeDocument/2006/relationships/image" Target="../media/image370.png"/><Relationship Id="rId11" Type="http://schemas.openxmlformats.org/officeDocument/2006/relationships/image" Target="../media/image41.png"/><Relationship Id="rId5" Type="http://schemas.openxmlformats.org/officeDocument/2006/relationships/image" Target="../media/image311.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44.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39.png"/><Relationship Id="rId18" Type="http://schemas.openxmlformats.org/officeDocument/2006/relationships/image" Target="../media/image44.png"/><Relationship Id="rId3" Type="http://schemas.openxmlformats.org/officeDocument/2006/relationships/notesSlide" Target="../notesSlides/notesSlide8.xml"/><Relationship Id="rId21" Type="http://schemas.openxmlformats.org/officeDocument/2006/relationships/image" Target="../media/image52.png"/><Relationship Id="rId7" Type="http://schemas.openxmlformats.org/officeDocument/2006/relationships/image" Target="../media/image50.png"/><Relationship Id="rId12" Type="http://schemas.openxmlformats.org/officeDocument/2006/relationships/image" Target="../media/image18.png"/><Relationship Id="rId17" Type="http://schemas.openxmlformats.org/officeDocument/2006/relationships/image" Target="../media/image43.png"/><Relationship Id="rId2" Type="http://schemas.openxmlformats.org/officeDocument/2006/relationships/slideLayout" Target="../slideLayouts/slideLayout2.xml"/><Relationship Id="rId16" Type="http://schemas.openxmlformats.org/officeDocument/2006/relationships/image" Target="../media/image42.png"/><Relationship Id="rId20" Type="http://schemas.openxmlformats.org/officeDocument/2006/relationships/image" Target="../media/image51.png"/><Relationship Id="rId1" Type="http://schemas.openxmlformats.org/officeDocument/2006/relationships/tags" Target="../tags/tag7.xml"/><Relationship Id="rId6" Type="http://schemas.openxmlformats.org/officeDocument/2006/relationships/image" Target="../media/image49.png"/><Relationship Id="rId11" Type="http://schemas.openxmlformats.org/officeDocument/2006/relationships/image" Target="../media/image38.png"/><Relationship Id="rId24" Type="http://schemas.openxmlformats.org/officeDocument/2006/relationships/image" Target="../media/image55.png"/><Relationship Id="rId5" Type="http://schemas.openxmlformats.org/officeDocument/2006/relationships/image" Target="../media/image48.png"/><Relationship Id="rId15" Type="http://schemas.openxmlformats.org/officeDocument/2006/relationships/image" Target="../media/image41.png"/><Relationship Id="rId23" Type="http://schemas.openxmlformats.org/officeDocument/2006/relationships/image" Target="../media/image54.png"/><Relationship Id="rId10" Type="http://schemas.openxmlformats.org/officeDocument/2006/relationships/image" Target="../media/image370.png"/><Relationship Id="rId19" Type="http://schemas.openxmlformats.org/officeDocument/2006/relationships/image" Target="../media/image45.png"/><Relationship Id="rId4" Type="http://schemas.openxmlformats.org/officeDocument/2006/relationships/image" Target="../media/image47.png"/><Relationship Id="rId9" Type="http://schemas.openxmlformats.org/officeDocument/2006/relationships/image" Target="../media/image311.png"/><Relationship Id="rId14" Type="http://schemas.openxmlformats.org/officeDocument/2006/relationships/image" Target="../media/image40.png"/><Relationship Id="rId22" Type="http://schemas.openxmlformats.org/officeDocument/2006/relationships/image" Target="../media/image53.png"/></Relationships>
</file>

<file path=ppt/slides/_rels/slide9.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notesSlide" Target="../notesSlides/notesSlide9.xml"/><Relationship Id="rId7" Type="http://schemas.openxmlformats.org/officeDocument/2006/relationships/image" Target="../media/image320.png"/><Relationship Id="rId12" Type="http://schemas.openxmlformats.org/officeDocument/2006/relationships/image" Target="../media/image411.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310.png"/><Relationship Id="rId11" Type="http://schemas.openxmlformats.org/officeDocument/2006/relationships/image" Target="../media/image401.png"/><Relationship Id="rId10" Type="http://schemas.openxmlformats.org/officeDocument/2006/relationships/image" Target="../media/image390.png"/><Relationship Id="rId4" Type="http://schemas.openxmlformats.org/officeDocument/2006/relationships/image" Target="../media/image56.png"/><Relationship Id="rId9" Type="http://schemas.openxmlformats.org/officeDocument/2006/relationships/image" Target="../media/image380.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62.png"/><Relationship Id="rId3" Type="http://schemas.openxmlformats.org/officeDocument/2006/relationships/notesSlide" Target="../notesSlides/notesSlide10.xml"/><Relationship Id="rId7" Type="http://schemas.openxmlformats.org/officeDocument/2006/relationships/image" Target="../media/image410.png"/><Relationship Id="rId12" Type="http://schemas.openxmlformats.org/officeDocument/2006/relationships/image" Target="../media/image450.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400.png"/><Relationship Id="rId11" Type="http://schemas.openxmlformats.org/officeDocument/2006/relationships/image" Target="../media/image440.png"/><Relationship Id="rId5" Type="http://schemas.openxmlformats.org/officeDocument/2006/relationships/image" Target="../media/image431.png"/><Relationship Id="rId15" Type="http://schemas.openxmlformats.org/officeDocument/2006/relationships/image" Target="../media/image63.png"/><Relationship Id="rId10" Type="http://schemas.openxmlformats.org/officeDocument/2006/relationships/image" Target="../media/image430.png"/><Relationship Id="rId4" Type="http://schemas.openxmlformats.org/officeDocument/2006/relationships/image" Target="../media/image37.png"/><Relationship Id="rId9" Type="http://schemas.openxmlformats.org/officeDocument/2006/relationships/image" Target="../media/image420.png"/><Relationship Id="rId14" Type="http://schemas.openxmlformats.org/officeDocument/2006/relationships/image" Target="../media/image470.png"/></Relationships>
</file>

<file path=ppt/slides/_rels/slide11.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notesSlide" Target="../notesSlides/notesSlide11.xml"/><Relationship Id="rId7" Type="http://schemas.openxmlformats.org/officeDocument/2006/relationships/image" Target="../media/image70.pn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5.png"/><Relationship Id="rId9" Type="http://schemas.openxmlformats.org/officeDocument/2006/relationships/image" Target="../media/image72.png"/></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notesSlide" Target="../notesSlides/notesSlide12.xml"/><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630.png"/><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631.png"/><Relationship Id="rId5" Type="http://schemas.openxmlformats.org/officeDocument/2006/relationships/image" Target="../media/image85.png"/><Relationship Id="rId10" Type="http://schemas.openxmlformats.org/officeDocument/2006/relationships/image" Target="../media/image690.png"/><Relationship Id="rId4" Type="http://schemas.openxmlformats.org/officeDocument/2006/relationships/image" Target="../media/image57.png"/><Relationship Id="rId9" Type="http://schemas.openxmlformats.org/officeDocument/2006/relationships/image" Target="../media/image68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57.png"/></Relationships>
</file>

<file path=ppt/slides/_rels/slide15.xml.rels><?xml version="1.0" encoding="UTF-8" standalone="yes"?>
<Relationships xmlns="http://schemas.openxmlformats.org/package/2006/relationships"><Relationship Id="rId8" Type="http://schemas.openxmlformats.org/officeDocument/2006/relationships/image" Target="../media/image740.png"/><Relationship Id="rId13" Type="http://schemas.openxmlformats.org/officeDocument/2006/relationships/image" Target="../media/image791.png"/><Relationship Id="rId18" Type="http://schemas.openxmlformats.org/officeDocument/2006/relationships/image" Target="../media/image84.png"/><Relationship Id="rId3" Type="http://schemas.openxmlformats.org/officeDocument/2006/relationships/notesSlide" Target="../notesSlides/notesSlide15.xml"/><Relationship Id="rId21" Type="http://schemas.openxmlformats.org/officeDocument/2006/relationships/image" Target="../media/image87.png"/><Relationship Id="rId7" Type="http://schemas.openxmlformats.org/officeDocument/2006/relationships/image" Target="../media/image730.png"/><Relationship Id="rId12" Type="http://schemas.openxmlformats.org/officeDocument/2006/relationships/image" Target="../media/image780.png"/><Relationship Id="rId17" Type="http://schemas.openxmlformats.org/officeDocument/2006/relationships/image" Target="../media/image831.png"/><Relationship Id="rId2" Type="http://schemas.openxmlformats.org/officeDocument/2006/relationships/slideLayout" Target="../slideLayouts/slideLayout2.xml"/><Relationship Id="rId16" Type="http://schemas.openxmlformats.org/officeDocument/2006/relationships/image" Target="../media/image801.png"/><Relationship Id="rId20" Type="http://schemas.openxmlformats.org/officeDocument/2006/relationships/image" Target="../media/image86.png"/><Relationship Id="rId1" Type="http://schemas.openxmlformats.org/officeDocument/2006/relationships/tags" Target="../tags/tag14.xml"/><Relationship Id="rId11" Type="http://schemas.openxmlformats.org/officeDocument/2006/relationships/image" Target="../media/image770.png"/><Relationship Id="rId5" Type="http://schemas.openxmlformats.org/officeDocument/2006/relationships/image" Target="../media/image700.png"/><Relationship Id="rId15" Type="http://schemas.openxmlformats.org/officeDocument/2006/relationships/image" Target="../media/image720.png"/><Relationship Id="rId10" Type="http://schemas.openxmlformats.org/officeDocument/2006/relationships/image" Target="../media/image760.png"/><Relationship Id="rId19" Type="http://schemas.openxmlformats.org/officeDocument/2006/relationships/image" Target="../media/image851.png"/><Relationship Id="rId4" Type="http://schemas.openxmlformats.org/officeDocument/2006/relationships/image" Target="../media/image650.png"/><Relationship Id="rId9" Type="http://schemas.openxmlformats.org/officeDocument/2006/relationships/image" Target="../media/image750.png"/><Relationship Id="rId14" Type="http://schemas.openxmlformats.org/officeDocument/2006/relationships/image" Target="../media/image710.png"/></Relationships>
</file>

<file path=ppt/slides/_rels/slide1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notesSlide" Target="../notesSlides/notesSlide16.xml"/><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58.png"/><Relationship Id="rId10" Type="http://schemas.openxmlformats.org/officeDocument/2006/relationships/image" Target="../media/image92.png"/><Relationship Id="rId4" Type="http://schemas.openxmlformats.org/officeDocument/2006/relationships/image" Target="../media/image811.png"/><Relationship Id="rId9" Type="http://schemas.openxmlformats.org/officeDocument/2006/relationships/image" Target="../media/image91.png"/></Relationships>
</file>

<file path=ppt/slides/_rels/slide17.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notesSlide" Target="../notesSlides/notesSlide17.xml"/><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96.png"/><Relationship Id="rId10" Type="http://schemas.openxmlformats.org/officeDocument/2006/relationships/image" Target="../media/image92.png"/><Relationship Id="rId4" Type="http://schemas.openxmlformats.org/officeDocument/2006/relationships/image" Target="../media/image58.png"/><Relationship Id="rId9" Type="http://schemas.openxmlformats.org/officeDocument/2006/relationships/image" Target="../media/image91.png"/></Relationships>
</file>

<file path=ppt/slides/_rels/slide1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notesSlide" Target="../notesSlides/notesSlide18.xml"/><Relationship Id="rId7" Type="http://schemas.openxmlformats.org/officeDocument/2006/relationships/image" Target="../media/image62.svg"/><Relationship Id="rId12"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61.png"/><Relationship Id="rId11" Type="http://schemas.openxmlformats.org/officeDocument/2006/relationships/image" Target="../media/image100.svg"/><Relationship Id="rId5" Type="http://schemas.openxmlformats.org/officeDocument/2006/relationships/image" Target="../media/image60.png"/><Relationship Id="rId10" Type="http://schemas.openxmlformats.org/officeDocument/2006/relationships/image" Target="../media/image99.png"/><Relationship Id="rId4" Type="http://schemas.openxmlformats.org/officeDocument/2006/relationships/image" Target="../media/image59.png"/><Relationship Id="rId9" Type="http://schemas.openxmlformats.org/officeDocument/2006/relationships/image" Target="../media/image98.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notesSlide" Target="../notesSlides/notesSlide21.xml"/><Relationship Id="rId7" Type="http://schemas.openxmlformats.org/officeDocument/2006/relationships/image" Target="../media/image118.png"/><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117.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57.png"/><Relationship Id="rId9" Type="http://schemas.openxmlformats.org/officeDocument/2006/relationships/image" Target="../media/image12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101.png"/><Relationship Id="rId5" Type="http://schemas.openxmlformats.org/officeDocument/2006/relationships/image" Target="../media/image18.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102.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18.png"/><Relationship Id="rId5" Type="http://schemas.openxmlformats.org/officeDocument/2006/relationships/image" Target="../media/image123.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10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103.png"/></Relationships>
</file>

<file path=ppt/slides/_rels/slide26.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notesSlide" Target="../notesSlides/notesSlide26.xml"/><Relationship Id="rId7" Type="http://schemas.openxmlformats.org/officeDocument/2006/relationships/image" Target="../media/image122.png"/><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image" Target="../media/image111.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5.png"/><Relationship Id="rId4" Type="http://schemas.openxmlformats.org/officeDocument/2006/relationships/image" Target="../media/image104.png"/><Relationship Id="rId9" Type="http://schemas.openxmlformats.org/officeDocument/2006/relationships/image" Target="../media/image14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0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09.png"/><Relationship Id="rId4" Type="http://schemas.openxmlformats.org/officeDocument/2006/relationships/image" Target="../media/image108.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110.png"/></Relationships>
</file>

<file path=ppt/slides/_rels/slide31.xml.rels><?xml version="1.0" encoding="UTF-8" standalone="yes"?>
<Relationships xmlns="http://schemas.openxmlformats.org/package/2006/relationships"><Relationship Id="rId8" Type="http://schemas.openxmlformats.org/officeDocument/2006/relationships/image" Target="../media/image830.png"/><Relationship Id="rId3" Type="http://schemas.openxmlformats.org/officeDocument/2006/relationships/notesSlide" Target="../notesSlides/notesSlide31.xml"/><Relationship Id="rId7" Type="http://schemas.openxmlformats.org/officeDocument/2006/relationships/image" Target="../media/image820.png"/><Relationship Id="rId2" Type="http://schemas.openxmlformats.org/officeDocument/2006/relationships/slideLayout" Target="../slideLayouts/slideLayout2.xml"/><Relationship Id="rId1" Type="http://schemas.openxmlformats.org/officeDocument/2006/relationships/tags" Target="../tags/tag29.xml"/><Relationship Id="rId6" Type="http://schemas.openxmlformats.org/officeDocument/2006/relationships/image" Target="../media/image810.png"/><Relationship Id="rId5" Type="http://schemas.openxmlformats.org/officeDocument/2006/relationships/image" Target="../media/image800.png"/><Relationship Id="rId4" Type="http://schemas.openxmlformats.org/officeDocument/2006/relationships/image" Target="../media/image790.png"/></Relationships>
</file>

<file path=ppt/slides/_rels/slide32.xml.rels><?xml version="1.0" encoding="UTF-8" standalone="yes"?>
<Relationships xmlns="http://schemas.openxmlformats.org/package/2006/relationships"><Relationship Id="rId8" Type="http://schemas.openxmlformats.org/officeDocument/2006/relationships/image" Target="../media/image880.png"/><Relationship Id="rId3" Type="http://schemas.openxmlformats.org/officeDocument/2006/relationships/notesSlide" Target="../notesSlides/notesSlide32.xml"/><Relationship Id="rId7" Type="http://schemas.openxmlformats.org/officeDocument/2006/relationships/image" Target="../media/image870.png"/><Relationship Id="rId2" Type="http://schemas.openxmlformats.org/officeDocument/2006/relationships/slideLayout" Target="../slideLayouts/slideLayout2.xml"/><Relationship Id="rId1" Type="http://schemas.openxmlformats.org/officeDocument/2006/relationships/tags" Target="../tags/tag30.xml"/><Relationship Id="rId6" Type="http://schemas.openxmlformats.org/officeDocument/2006/relationships/image" Target="../media/image860.png"/><Relationship Id="rId5" Type="http://schemas.openxmlformats.org/officeDocument/2006/relationships/image" Target="../media/image850.png"/><Relationship Id="rId4" Type="http://schemas.openxmlformats.org/officeDocument/2006/relationships/image" Target="../media/image840.png"/></Relationships>
</file>

<file path=ppt/slides/_rels/slide33.xml.rels><?xml version="1.0" encoding="UTF-8" standalone="yes"?>
<Relationships xmlns="http://schemas.openxmlformats.org/package/2006/relationships"><Relationship Id="rId8" Type="http://schemas.openxmlformats.org/officeDocument/2006/relationships/image" Target="../media/image930.png"/><Relationship Id="rId3" Type="http://schemas.openxmlformats.org/officeDocument/2006/relationships/notesSlide" Target="../notesSlides/notesSlide33.xml"/><Relationship Id="rId7" Type="http://schemas.openxmlformats.org/officeDocument/2006/relationships/image" Target="../media/image920.png"/><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910.png"/><Relationship Id="rId5" Type="http://schemas.openxmlformats.org/officeDocument/2006/relationships/image" Target="../media/image900.png"/><Relationship Id="rId10" Type="http://schemas.openxmlformats.org/officeDocument/2006/relationships/image" Target="../media/image950.png"/><Relationship Id="rId4" Type="http://schemas.openxmlformats.org/officeDocument/2006/relationships/image" Target="../media/image890.png"/><Relationship Id="rId9" Type="http://schemas.openxmlformats.org/officeDocument/2006/relationships/image" Target="../media/image940.png"/></Relationships>
</file>

<file path=ppt/slides/_rels/slide34.xml.rels><?xml version="1.0" encoding="UTF-8" standalone="yes"?>
<Relationships xmlns="http://schemas.openxmlformats.org/package/2006/relationships"><Relationship Id="rId8" Type="http://schemas.openxmlformats.org/officeDocument/2006/relationships/image" Target="../media/image1000.png"/><Relationship Id="rId13" Type="http://schemas.openxmlformats.org/officeDocument/2006/relationships/image" Target="../media/image1170.png"/><Relationship Id="rId3" Type="http://schemas.openxmlformats.org/officeDocument/2006/relationships/notesSlide" Target="../notesSlides/notesSlide34.xml"/><Relationship Id="rId7" Type="http://schemas.openxmlformats.org/officeDocument/2006/relationships/image" Target="../media/image990.png"/><Relationship Id="rId12" Type="http://schemas.openxmlformats.org/officeDocument/2006/relationships/image" Target="../media/image1160.png"/><Relationship Id="rId2"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image" Target="../media/image980.png"/><Relationship Id="rId11" Type="http://schemas.openxmlformats.org/officeDocument/2006/relationships/image" Target="../media/image115.png"/><Relationship Id="rId5" Type="http://schemas.openxmlformats.org/officeDocument/2006/relationships/image" Target="../media/image970.png"/><Relationship Id="rId10" Type="http://schemas.openxmlformats.org/officeDocument/2006/relationships/image" Target="../media/image1140.png"/><Relationship Id="rId4" Type="http://schemas.openxmlformats.org/officeDocument/2006/relationships/image" Target="../media/image960.png"/><Relationship Id="rId9" Type="http://schemas.openxmlformats.org/officeDocument/2006/relationships/image" Target="../media/image10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48A768A2-9AF2-4905-34CE-EF3C06C5FBDE}"/>
              </a:ext>
            </a:extLst>
          </p:cNvPr>
          <p:cNvSpPr txBox="1">
            <a:spLocks/>
          </p:cNvSpPr>
          <p:nvPr/>
        </p:nvSpPr>
        <p:spPr bwMode="auto">
          <a:xfrm>
            <a:off x="3162528" y="0"/>
            <a:ext cx="9029472" cy="84022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2800" kern="0" dirty="0">
              <a:solidFill>
                <a:schemeClr val="bg1"/>
              </a:solidFill>
              <a:latin typeface="Calibri Light" panose="020F0302020204030204" pitchFamily="34" charset="0"/>
              <a:cs typeface="Calibri Light" panose="020F0302020204030204" pitchFamily="34" charset="0"/>
            </a:endParaRPr>
          </a:p>
        </p:txBody>
      </p:sp>
      <p:sp>
        <p:nvSpPr>
          <p:cNvPr id="4" name="Titel 3">
            <a:extLst>
              <a:ext uri="{FF2B5EF4-FFF2-40B4-BE49-F238E27FC236}">
                <a16:creationId xmlns:a16="http://schemas.microsoft.com/office/drawing/2014/main" id="{7FC92962-78A1-41F8-8629-003DFB9D2A86}"/>
              </a:ext>
            </a:extLst>
          </p:cNvPr>
          <p:cNvSpPr>
            <a:spLocks noGrp="1"/>
          </p:cNvSpPr>
          <p:nvPr>
            <p:ph type="ctrTitle"/>
          </p:nvPr>
        </p:nvSpPr>
        <p:spPr>
          <a:xfrm>
            <a:off x="1968202" y="1737299"/>
            <a:ext cx="8232701" cy="1233251"/>
          </a:xfrm>
        </p:spPr>
        <p:txBody>
          <a:bodyPr>
            <a:noAutofit/>
          </a:bodyPr>
          <a:lstStyle/>
          <a:p>
            <a:pPr algn="ctr"/>
            <a:r>
              <a:rPr lang="en-US" sz="4400" dirty="0"/>
              <a:t>A Universal Quantum Computer From Relativistic Motion</a:t>
            </a:r>
            <a:endParaRPr lang="de-AT" sz="4400" dirty="0"/>
          </a:p>
        </p:txBody>
      </p:sp>
      <p:sp>
        <p:nvSpPr>
          <p:cNvPr id="2" name="Textfeld 1">
            <a:extLst>
              <a:ext uri="{FF2B5EF4-FFF2-40B4-BE49-F238E27FC236}">
                <a16:creationId xmlns:a16="http://schemas.microsoft.com/office/drawing/2014/main" id="{12020C8E-D6C1-0DB1-CBA5-7EC3660E52C8}"/>
              </a:ext>
            </a:extLst>
          </p:cNvPr>
          <p:cNvSpPr txBox="1"/>
          <p:nvPr/>
        </p:nvSpPr>
        <p:spPr>
          <a:xfrm>
            <a:off x="6084553" y="-11447"/>
            <a:ext cx="184731" cy="584775"/>
          </a:xfrm>
          <a:prstGeom prst="rect">
            <a:avLst/>
          </a:prstGeom>
          <a:noFill/>
        </p:spPr>
        <p:txBody>
          <a:bodyPr wrap="none" rtlCol="0">
            <a:spAutoFit/>
          </a:bodyPr>
          <a:lstStyle/>
          <a:p>
            <a:endParaRPr lang="de-DE" sz="3200" dirty="0"/>
          </a:p>
        </p:txBody>
      </p:sp>
      <p:pic>
        <p:nvPicPr>
          <p:cNvPr id="3" name="Immagine 7">
            <a:extLst>
              <a:ext uri="{FF2B5EF4-FFF2-40B4-BE49-F238E27FC236}">
                <a16:creationId xmlns:a16="http://schemas.microsoft.com/office/drawing/2014/main" id="{A809EC6E-AA20-F3C3-5997-7FABF74C75D8}"/>
              </a:ext>
            </a:extLst>
          </p:cNvPr>
          <p:cNvPicPr>
            <a:picLocks noChangeAspect="1"/>
          </p:cNvPicPr>
          <p:nvPr/>
        </p:nvPicPr>
        <p:blipFill rotWithShape="1">
          <a:blip r:embed="rId3">
            <a:extLst>
              <a:ext uri="{28A0092B-C50C-407E-A947-70E740481C1C}">
                <a14:useLocalDpi xmlns:a14="http://schemas.microsoft.com/office/drawing/2010/main"/>
              </a:ext>
            </a:extLst>
          </a:blip>
          <a:srcRect t="4056"/>
          <a:stretch/>
        </p:blipFill>
        <p:spPr>
          <a:xfrm>
            <a:off x="0" y="0"/>
            <a:ext cx="3162528" cy="877310"/>
          </a:xfrm>
          <a:prstGeom prst="rect">
            <a:avLst/>
          </a:prstGeom>
        </p:spPr>
      </p:pic>
      <p:sp>
        <p:nvSpPr>
          <p:cNvPr id="8" name="Subtitle 2">
            <a:extLst>
              <a:ext uri="{FF2B5EF4-FFF2-40B4-BE49-F238E27FC236}">
                <a16:creationId xmlns:a16="http://schemas.microsoft.com/office/drawing/2014/main" id="{8E9D1A80-420D-81AB-B33D-F10A07A5B90F}"/>
              </a:ext>
            </a:extLst>
          </p:cNvPr>
          <p:cNvSpPr txBox="1">
            <a:spLocks/>
          </p:cNvSpPr>
          <p:nvPr/>
        </p:nvSpPr>
        <p:spPr>
          <a:xfrm>
            <a:off x="1524000" y="3429000"/>
            <a:ext cx="9144000" cy="101475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SzPct val="80000"/>
              <a:buFont typeface="Wingdings" panose="05000000000000000000" pitchFamily="2" charset="2"/>
              <a:buNone/>
              <a:defRPr sz="15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SzPct val="80000"/>
              <a:buFont typeface="Wingdings" panose="05000000000000000000" pitchFamily="2" charset="2"/>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SzPct val="80000"/>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400" dirty="0">
                <a:solidFill>
                  <a:schemeClr val="tx1"/>
                </a:solidFill>
              </a:rPr>
              <a:t>Philip A. </a:t>
            </a:r>
            <a:r>
              <a:rPr lang="en-US" sz="2400" dirty="0" err="1">
                <a:solidFill>
                  <a:schemeClr val="tx1"/>
                </a:solidFill>
              </a:rPr>
              <a:t>LeMaitre</a:t>
            </a:r>
            <a:endParaRPr lang="en-US" sz="2400" dirty="0">
              <a:solidFill>
                <a:schemeClr val="tx1"/>
              </a:solidFill>
            </a:endParaRPr>
          </a:p>
          <a:p>
            <a:pPr algn="ctr"/>
            <a:r>
              <a:rPr lang="en-US" sz="2400" dirty="0">
                <a:solidFill>
                  <a:schemeClr val="tx1"/>
                </a:solidFill>
              </a:rPr>
              <a:t>March 27, 2026</a:t>
            </a:r>
          </a:p>
        </p:txBody>
      </p:sp>
      <p:sp>
        <p:nvSpPr>
          <p:cNvPr id="10" name="Textfeld 20">
            <a:extLst>
              <a:ext uri="{FF2B5EF4-FFF2-40B4-BE49-F238E27FC236}">
                <a16:creationId xmlns:a16="http://schemas.microsoft.com/office/drawing/2014/main" id="{2AC05472-8872-D2A6-904C-C95A6EEAECB3}"/>
              </a:ext>
            </a:extLst>
          </p:cNvPr>
          <p:cNvSpPr txBox="1"/>
          <p:nvPr/>
        </p:nvSpPr>
        <p:spPr>
          <a:xfrm>
            <a:off x="2861289" y="4620340"/>
            <a:ext cx="6815990" cy="369332"/>
          </a:xfrm>
          <a:prstGeom prst="rect">
            <a:avLst/>
          </a:prstGeom>
          <a:noFill/>
        </p:spPr>
        <p:txBody>
          <a:bodyPr wrap="square">
            <a:spAutoFit/>
          </a:bodyPr>
          <a:lstStyle/>
          <a:p>
            <a:r>
              <a:rPr lang="en-CA" dirty="0">
                <a:solidFill>
                  <a:srgbClr val="0000FF"/>
                </a:solidFill>
              </a:rPr>
              <a:t>In collaboration with T. Rick Perche, Marius Krumm, and Hans J. </a:t>
            </a:r>
            <a:r>
              <a:rPr lang="en-CA" dirty="0" err="1">
                <a:solidFill>
                  <a:srgbClr val="0000FF"/>
                </a:solidFill>
              </a:rPr>
              <a:t>Briegel</a:t>
            </a:r>
            <a:endParaRPr lang="en-CA" dirty="0"/>
          </a:p>
        </p:txBody>
      </p:sp>
      <p:pic>
        <p:nvPicPr>
          <p:cNvPr id="5" name="Picture 4">
            <a:extLst>
              <a:ext uri="{FF2B5EF4-FFF2-40B4-BE49-F238E27FC236}">
                <a16:creationId xmlns:a16="http://schemas.microsoft.com/office/drawing/2014/main" id="{DCAA3EB6-5835-3FB8-1458-D6B61A75C48A}"/>
              </a:ext>
            </a:extLst>
          </p:cNvPr>
          <p:cNvPicPr>
            <a:picLocks noChangeAspect="1"/>
          </p:cNvPicPr>
          <p:nvPr/>
        </p:nvPicPr>
        <p:blipFill>
          <a:blip r:embed="rId4"/>
          <a:stretch>
            <a:fillRect/>
          </a:stretch>
        </p:blipFill>
        <p:spPr>
          <a:xfrm>
            <a:off x="6084552" y="5241806"/>
            <a:ext cx="1742839" cy="1307129"/>
          </a:xfrm>
          <a:prstGeom prst="rect">
            <a:avLst/>
          </a:prstGeom>
        </p:spPr>
      </p:pic>
      <p:pic>
        <p:nvPicPr>
          <p:cNvPr id="6" name="Picture 2">
            <a:extLst>
              <a:ext uri="{FF2B5EF4-FFF2-40B4-BE49-F238E27FC236}">
                <a16:creationId xmlns:a16="http://schemas.microsoft.com/office/drawing/2014/main" id="{116251D0-EE4D-38E4-A36F-772137F79AD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873488" y="5423189"/>
            <a:ext cx="2449178" cy="828849"/>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59" descr="Immagine che contiene screenshot&#10;&#10;Descrizione generata automaticamente">
            <a:extLst>
              <a:ext uri="{FF2B5EF4-FFF2-40B4-BE49-F238E27FC236}">
                <a16:creationId xmlns:a16="http://schemas.microsoft.com/office/drawing/2014/main" id="{22A443E8-F163-F98C-C097-26E5072C0867}"/>
              </a:ext>
            </a:extLst>
          </p:cNvPr>
          <p:cNvPicPr>
            <a:picLocks noChangeAspect="1"/>
          </p:cNvPicPr>
          <p:nvPr/>
        </p:nvPicPr>
        <p:blipFill rotWithShape="1">
          <a:blip r:embed="rId6">
            <a:extLst>
              <a:ext uri="{28A0092B-C50C-407E-A947-70E740481C1C}">
                <a14:useLocalDpi xmlns:a14="http://schemas.microsoft.com/office/drawing/2010/main"/>
              </a:ext>
            </a:extLst>
          </a:blip>
          <a:srcRect l="2427" t="13899" r="2389" b="23338"/>
          <a:stretch/>
        </p:blipFill>
        <p:spPr>
          <a:xfrm>
            <a:off x="7908252" y="5480945"/>
            <a:ext cx="1884375" cy="828849"/>
          </a:xfrm>
          <a:prstGeom prst="rect">
            <a:avLst/>
          </a:prstGeom>
        </p:spPr>
      </p:pic>
      <p:pic>
        <p:nvPicPr>
          <p:cNvPr id="11" name="Picture 2" descr="Logos | Brand | University of Waterloo">
            <a:extLst>
              <a:ext uri="{FF2B5EF4-FFF2-40B4-BE49-F238E27FC236}">
                <a16:creationId xmlns:a16="http://schemas.microsoft.com/office/drawing/2014/main" id="{D558E3CC-9176-C7D0-D8AA-D3951B3B05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8753" y="5166262"/>
            <a:ext cx="2243417" cy="145822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Natural Sciences and Engineering Research Council - Wikipedia">
            <a:extLst>
              <a:ext uri="{FF2B5EF4-FFF2-40B4-BE49-F238E27FC236}">
                <a16:creationId xmlns:a16="http://schemas.microsoft.com/office/drawing/2014/main" id="{9A62DF9D-95CA-5B3A-B703-5361C3436F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3634" y="5433786"/>
            <a:ext cx="2180866" cy="9341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Perimeter Institute - Partner Institute - McDonald Institute">
            <a:extLst>
              <a:ext uri="{FF2B5EF4-FFF2-40B4-BE49-F238E27FC236}">
                <a16:creationId xmlns:a16="http://schemas.microsoft.com/office/drawing/2014/main" id="{E054250D-3031-D739-E07C-FE9EFFCAE1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3982" y="5537948"/>
            <a:ext cx="1809308" cy="59933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57890882-E2C2-3F8D-8246-83E8F2EDB595}"/>
              </a:ext>
            </a:extLst>
          </p:cNvPr>
          <p:cNvPicPr>
            <a:picLocks noChangeAspect="1"/>
          </p:cNvPicPr>
          <p:nvPr/>
        </p:nvPicPr>
        <p:blipFill>
          <a:blip r:embed="rId10"/>
          <a:stretch>
            <a:fillRect/>
          </a:stretch>
        </p:blipFill>
        <p:spPr>
          <a:xfrm>
            <a:off x="462315" y="2715340"/>
            <a:ext cx="1905000" cy="1905000"/>
          </a:xfrm>
          <a:prstGeom prst="rect">
            <a:avLst/>
          </a:prstGeom>
        </p:spPr>
      </p:pic>
      <p:sp>
        <p:nvSpPr>
          <p:cNvPr id="14" name="TextBox 13">
            <a:extLst>
              <a:ext uri="{FF2B5EF4-FFF2-40B4-BE49-F238E27FC236}">
                <a16:creationId xmlns:a16="http://schemas.microsoft.com/office/drawing/2014/main" id="{2C2B4C13-860B-9BFF-90B2-0A8EFCDDBF54}"/>
              </a:ext>
            </a:extLst>
          </p:cNvPr>
          <p:cNvSpPr txBox="1"/>
          <p:nvPr/>
        </p:nvSpPr>
        <p:spPr>
          <a:xfrm>
            <a:off x="433436" y="4432459"/>
            <a:ext cx="2180866" cy="646331"/>
          </a:xfrm>
          <a:prstGeom prst="rect">
            <a:avLst/>
          </a:prstGeom>
          <a:noFill/>
        </p:spPr>
        <p:txBody>
          <a:bodyPr wrap="square" rtlCol="0">
            <a:spAutoFit/>
          </a:bodyPr>
          <a:lstStyle/>
          <a:p>
            <a:r>
              <a:rPr lang="en-CA" i="1" dirty="0"/>
              <a:t>Phys. Rev. Lett. </a:t>
            </a:r>
            <a:r>
              <a:rPr lang="en-CA" b="1" dirty="0"/>
              <a:t>134</a:t>
            </a:r>
            <a:r>
              <a:rPr lang="en-CA" dirty="0"/>
              <a:t>, 190601 (2025)</a:t>
            </a:r>
          </a:p>
        </p:txBody>
      </p:sp>
    </p:spTree>
    <p:extLst>
      <p:ext uri="{BB962C8B-B14F-4D97-AF65-F5344CB8AC3E}">
        <p14:creationId xmlns:p14="http://schemas.microsoft.com/office/powerpoint/2010/main" val="2451991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6E939-94E3-C093-145B-BCB949B359A0}"/>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3BB820FA-11CC-3613-1DEA-5066A8714FD4}"/>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1C22CA0-95AC-A7E4-9411-27F6ABC5C731}"/>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My Journey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2CDB2449-4117-7CBD-E6AC-3560E5B86858}"/>
              </a:ext>
            </a:extLst>
          </p:cNvPr>
          <p:cNvSpPr>
            <a:spLocks noGrp="1"/>
          </p:cNvSpPr>
          <p:nvPr>
            <p:ph type="sldNum" sz="quarter" idx="12"/>
          </p:nvPr>
        </p:nvSpPr>
        <p:spPr/>
        <p:txBody>
          <a:bodyPr/>
          <a:lstStyle/>
          <a:p>
            <a:fld id="{D0617D14-1B55-43C0-819D-0D244AC23646}" type="slidenum">
              <a:rPr lang="de-AT" smtClean="0"/>
              <a:t>2</a:t>
            </a:fld>
            <a:endParaRPr lang="de-AT"/>
          </a:p>
        </p:txBody>
      </p:sp>
      <p:pic>
        <p:nvPicPr>
          <p:cNvPr id="11" name="Picture 10">
            <a:extLst>
              <a:ext uri="{FF2B5EF4-FFF2-40B4-BE49-F238E27FC236}">
                <a16:creationId xmlns:a16="http://schemas.microsoft.com/office/drawing/2014/main" id="{262DFCA8-F6AA-7F3D-B097-0ED010BBDFAB}"/>
              </a:ext>
            </a:extLst>
          </p:cNvPr>
          <p:cNvPicPr>
            <a:picLocks noChangeAspect="1"/>
          </p:cNvPicPr>
          <p:nvPr/>
        </p:nvPicPr>
        <p:blipFill>
          <a:blip r:embed="rId4"/>
          <a:stretch>
            <a:fillRect/>
          </a:stretch>
        </p:blipFill>
        <p:spPr>
          <a:xfrm>
            <a:off x="7898924" y="3282605"/>
            <a:ext cx="4071486" cy="2703453"/>
          </a:xfrm>
          <a:prstGeom prst="rect">
            <a:avLst/>
          </a:prstGeom>
        </p:spPr>
      </p:pic>
      <p:pic>
        <p:nvPicPr>
          <p:cNvPr id="5" name="Graphic 4" descr="Airplane with solid fill">
            <a:extLst>
              <a:ext uri="{FF2B5EF4-FFF2-40B4-BE49-F238E27FC236}">
                <a16:creationId xmlns:a16="http://schemas.microsoft.com/office/drawing/2014/main" id="{090E8837-E508-956C-8D30-6C0394C2AB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3978173">
            <a:off x="4179235" y="1519954"/>
            <a:ext cx="914400" cy="914400"/>
          </a:xfrm>
          <a:prstGeom prst="rect">
            <a:avLst/>
          </a:prstGeom>
        </p:spPr>
      </p:pic>
      <p:pic>
        <p:nvPicPr>
          <p:cNvPr id="1026" name="Picture 2" descr="University of Guelph | Transition Resource Guide for Students with  Disabilities">
            <a:extLst>
              <a:ext uri="{FF2B5EF4-FFF2-40B4-BE49-F238E27FC236}">
                <a16:creationId xmlns:a16="http://schemas.microsoft.com/office/drawing/2014/main" id="{4211BF5A-DA51-CE34-890D-64D4959BB0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082" y="1093113"/>
            <a:ext cx="3274502" cy="18547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National Flag of Canada">
            <a:extLst>
              <a:ext uri="{FF2B5EF4-FFF2-40B4-BE49-F238E27FC236}">
                <a16:creationId xmlns:a16="http://schemas.microsoft.com/office/drawing/2014/main" id="{89399D3E-4C05-BECF-E67B-43B5C127E1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0610" y="3623091"/>
            <a:ext cx="1604579" cy="10697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Waterloo | Transition Resource Guide for Students with  Disabilities">
            <a:extLst>
              <a:ext uri="{FF2B5EF4-FFF2-40B4-BE49-F238E27FC236}">
                <a16:creationId xmlns:a16="http://schemas.microsoft.com/office/drawing/2014/main" id="{FFC5CFE5-3A2D-0943-9403-D3240FD41F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082" y="4126733"/>
            <a:ext cx="3392654" cy="175482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4 Reasons To Study In Innsbruck - #myinnsbruck">
            <a:extLst>
              <a:ext uri="{FF2B5EF4-FFF2-40B4-BE49-F238E27FC236}">
                <a16:creationId xmlns:a16="http://schemas.microsoft.com/office/drawing/2014/main" id="{EA6A638C-DF7D-4138-7E10-B47492D8BE8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97416" y="928699"/>
            <a:ext cx="3274502" cy="21830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ustria Flag - Hampshire Flag Company">
            <a:extLst>
              <a:ext uri="{FF2B5EF4-FFF2-40B4-BE49-F238E27FC236}">
                <a16:creationId xmlns:a16="http://schemas.microsoft.com/office/drawing/2014/main" id="{D377E884-C6C1-9D82-582A-844C5B66178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20923" y="1949048"/>
            <a:ext cx="1604579" cy="10698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D18B5A-08AD-51B1-8CA4-7007E61CFCC0}"/>
              </a:ext>
            </a:extLst>
          </p:cNvPr>
          <p:cNvSpPr txBox="1"/>
          <p:nvPr/>
        </p:nvSpPr>
        <p:spPr>
          <a:xfrm>
            <a:off x="5481557" y="1403153"/>
            <a:ext cx="2837601" cy="400110"/>
          </a:xfrm>
          <a:prstGeom prst="rect">
            <a:avLst/>
          </a:prstGeom>
          <a:noFill/>
        </p:spPr>
        <p:txBody>
          <a:bodyPr wrap="square" rtlCol="0">
            <a:spAutoFit/>
          </a:bodyPr>
          <a:lstStyle/>
          <a:p>
            <a:r>
              <a:rPr lang="en-CA" sz="2000" dirty="0"/>
              <a:t>Theoretical Physics Ph.D.</a:t>
            </a:r>
          </a:p>
        </p:txBody>
      </p:sp>
      <p:sp>
        <p:nvSpPr>
          <p:cNvPr id="8" name="TextBox 7">
            <a:extLst>
              <a:ext uri="{FF2B5EF4-FFF2-40B4-BE49-F238E27FC236}">
                <a16:creationId xmlns:a16="http://schemas.microsoft.com/office/drawing/2014/main" id="{46976111-E6DB-787D-20CC-D35F7D8B6CF8}"/>
              </a:ext>
            </a:extLst>
          </p:cNvPr>
          <p:cNvSpPr txBox="1"/>
          <p:nvPr/>
        </p:nvSpPr>
        <p:spPr>
          <a:xfrm>
            <a:off x="5750122" y="1032861"/>
            <a:ext cx="2719449" cy="400110"/>
          </a:xfrm>
          <a:prstGeom prst="rect">
            <a:avLst/>
          </a:prstGeom>
          <a:noFill/>
        </p:spPr>
        <p:txBody>
          <a:bodyPr wrap="square" rtlCol="0">
            <a:spAutoFit/>
          </a:bodyPr>
          <a:lstStyle/>
          <a:p>
            <a:r>
              <a:rPr lang="en-CA" sz="2000" dirty="0"/>
              <a:t>Hans Briegel Group</a:t>
            </a:r>
          </a:p>
        </p:txBody>
      </p:sp>
      <p:sp>
        <p:nvSpPr>
          <p:cNvPr id="9" name="TextBox 8">
            <a:extLst>
              <a:ext uri="{FF2B5EF4-FFF2-40B4-BE49-F238E27FC236}">
                <a16:creationId xmlns:a16="http://schemas.microsoft.com/office/drawing/2014/main" id="{7E8D781D-3AAC-9A99-8305-1DCBDF49A663}"/>
              </a:ext>
            </a:extLst>
          </p:cNvPr>
          <p:cNvSpPr txBox="1"/>
          <p:nvPr/>
        </p:nvSpPr>
        <p:spPr>
          <a:xfrm>
            <a:off x="3879110" y="5291037"/>
            <a:ext cx="2854199" cy="400110"/>
          </a:xfrm>
          <a:prstGeom prst="rect">
            <a:avLst/>
          </a:prstGeom>
          <a:noFill/>
        </p:spPr>
        <p:txBody>
          <a:bodyPr wrap="square" rtlCol="0">
            <a:spAutoFit/>
          </a:bodyPr>
          <a:lstStyle/>
          <a:p>
            <a:r>
              <a:rPr lang="en-CA" sz="2000" dirty="0"/>
              <a:t>Theoretical Physics M. Sc.</a:t>
            </a:r>
          </a:p>
        </p:txBody>
      </p:sp>
      <p:sp>
        <p:nvSpPr>
          <p:cNvPr id="10" name="TextBox 9">
            <a:extLst>
              <a:ext uri="{FF2B5EF4-FFF2-40B4-BE49-F238E27FC236}">
                <a16:creationId xmlns:a16="http://schemas.microsoft.com/office/drawing/2014/main" id="{03A545F2-C7BA-47D5-9CF1-16DD7A660FF2}"/>
              </a:ext>
            </a:extLst>
          </p:cNvPr>
          <p:cNvSpPr txBox="1"/>
          <p:nvPr/>
        </p:nvSpPr>
        <p:spPr>
          <a:xfrm>
            <a:off x="663684" y="3000596"/>
            <a:ext cx="2937900" cy="400110"/>
          </a:xfrm>
          <a:prstGeom prst="rect">
            <a:avLst/>
          </a:prstGeom>
          <a:noFill/>
        </p:spPr>
        <p:txBody>
          <a:bodyPr wrap="square" rtlCol="0">
            <a:spAutoFit/>
          </a:bodyPr>
          <a:lstStyle/>
          <a:p>
            <a:r>
              <a:rPr lang="en-CA" sz="2000" dirty="0"/>
              <a:t>Theoretical Physics B. Sc.</a:t>
            </a:r>
          </a:p>
        </p:txBody>
      </p:sp>
      <p:sp>
        <p:nvSpPr>
          <p:cNvPr id="12" name="TextBox 11">
            <a:extLst>
              <a:ext uri="{FF2B5EF4-FFF2-40B4-BE49-F238E27FC236}">
                <a16:creationId xmlns:a16="http://schemas.microsoft.com/office/drawing/2014/main" id="{2B40B2E0-205C-A82E-85FD-9E3E85BA9FDF}"/>
              </a:ext>
            </a:extLst>
          </p:cNvPr>
          <p:cNvSpPr txBox="1"/>
          <p:nvPr/>
        </p:nvSpPr>
        <p:spPr>
          <a:xfrm>
            <a:off x="3879110" y="4982941"/>
            <a:ext cx="2854199" cy="400110"/>
          </a:xfrm>
          <a:prstGeom prst="rect">
            <a:avLst/>
          </a:prstGeom>
          <a:noFill/>
        </p:spPr>
        <p:txBody>
          <a:bodyPr wrap="square" rtlCol="0">
            <a:spAutoFit/>
          </a:bodyPr>
          <a:lstStyle/>
          <a:p>
            <a:r>
              <a:rPr lang="en-CA" sz="2000" dirty="0"/>
              <a:t>Russell Thompson Group</a:t>
            </a:r>
          </a:p>
        </p:txBody>
      </p:sp>
      <p:sp>
        <p:nvSpPr>
          <p:cNvPr id="13" name="TextBox 12">
            <a:extLst>
              <a:ext uri="{FF2B5EF4-FFF2-40B4-BE49-F238E27FC236}">
                <a16:creationId xmlns:a16="http://schemas.microsoft.com/office/drawing/2014/main" id="{6D10D073-79FA-B998-C73B-99E13A09F765}"/>
              </a:ext>
            </a:extLst>
          </p:cNvPr>
          <p:cNvSpPr txBox="1"/>
          <p:nvPr/>
        </p:nvSpPr>
        <p:spPr>
          <a:xfrm>
            <a:off x="645664" y="3282605"/>
            <a:ext cx="2955920" cy="400110"/>
          </a:xfrm>
          <a:prstGeom prst="rect">
            <a:avLst/>
          </a:prstGeom>
          <a:noFill/>
        </p:spPr>
        <p:txBody>
          <a:bodyPr wrap="square" rtlCol="0">
            <a:spAutoFit/>
          </a:bodyPr>
          <a:lstStyle/>
          <a:p>
            <a:r>
              <a:rPr lang="en-CA" sz="2000" dirty="0"/>
              <a:t>Supervised by Eric Poisson</a:t>
            </a:r>
          </a:p>
        </p:txBody>
      </p:sp>
      <p:sp>
        <p:nvSpPr>
          <p:cNvPr id="15" name="Arc 14">
            <a:extLst>
              <a:ext uri="{FF2B5EF4-FFF2-40B4-BE49-F238E27FC236}">
                <a16:creationId xmlns:a16="http://schemas.microsoft.com/office/drawing/2014/main" id="{9D6E5F80-E12E-6579-4A53-E5460683993E}"/>
              </a:ext>
            </a:extLst>
          </p:cNvPr>
          <p:cNvSpPr/>
          <p:nvPr/>
        </p:nvSpPr>
        <p:spPr>
          <a:xfrm rot="2517079">
            <a:off x="1582066" y="3601631"/>
            <a:ext cx="517218" cy="575411"/>
          </a:xfrm>
          <a:prstGeom prst="arc">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6" name="Arc 15">
            <a:extLst>
              <a:ext uri="{FF2B5EF4-FFF2-40B4-BE49-F238E27FC236}">
                <a16:creationId xmlns:a16="http://schemas.microsoft.com/office/drawing/2014/main" id="{E7EB8BF8-201D-4510-F3E1-B85AEF553E38}"/>
              </a:ext>
            </a:extLst>
          </p:cNvPr>
          <p:cNvSpPr/>
          <p:nvPr/>
        </p:nvSpPr>
        <p:spPr>
          <a:xfrm rot="15875258">
            <a:off x="5280266" y="1144763"/>
            <a:ext cx="2076118" cy="4133507"/>
          </a:xfrm>
          <a:prstGeom prst="arc">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496835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Introduction and Motivation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a:t>
            </a:fld>
            <a:endParaRPr lang="de-AT"/>
          </a:p>
        </p:txBody>
      </p:sp>
      <p:sp>
        <p:nvSpPr>
          <p:cNvPr id="9" name="TextBox 8">
            <a:extLst>
              <a:ext uri="{FF2B5EF4-FFF2-40B4-BE49-F238E27FC236}">
                <a16:creationId xmlns:a16="http://schemas.microsoft.com/office/drawing/2014/main" id="{A5DE22EC-477C-EDCF-FAD8-D0A4E6F36DD6}"/>
              </a:ext>
            </a:extLst>
          </p:cNvPr>
          <p:cNvSpPr txBox="1"/>
          <p:nvPr/>
        </p:nvSpPr>
        <p:spPr>
          <a:xfrm>
            <a:off x="182993" y="3471994"/>
            <a:ext cx="9265370" cy="400110"/>
          </a:xfrm>
          <a:prstGeom prst="rect">
            <a:avLst/>
          </a:prstGeom>
          <a:noFill/>
        </p:spPr>
        <p:txBody>
          <a:bodyPr wrap="square" rtlCol="0">
            <a:spAutoFit/>
          </a:bodyPr>
          <a:lstStyle/>
          <a:p>
            <a:r>
              <a:rPr lang="en-CA" sz="2000" dirty="0"/>
              <a:t>Some works use relativistic motion of UDW detectors to construct 1 and 2-qubit gates </a:t>
            </a:r>
          </a:p>
        </p:txBody>
      </p:sp>
      <p:sp>
        <p:nvSpPr>
          <p:cNvPr id="36" name="TextBox 35">
            <a:extLst>
              <a:ext uri="{FF2B5EF4-FFF2-40B4-BE49-F238E27FC236}">
                <a16:creationId xmlns:a16="http://schemas.microsoft.com/office/drawing/2014/main" id="{9BE4610A-ECDB-917F-564B-F95ADCC000FE}"/>
              </a:ext>
            </a:extLst>
          </p:cNvPr>
          <p:cNvSpPr txBox="1"/>
          <p:nvPr/>
        </p:nvSpPr>
        <p:spPr>
          <a:xfrm>
            <a:off x="348500" y="5408423"/>
            <a:ext cx="10756795" cy="307777"/>
          </a:xfrm>
          <a:prstGeom prst="rect">
            <a:avLst/>
          </a:prstGeom>
          <a:noFill/>
        </p:spPr>
        <p:txBody>
          <a:bodyPr wrap="square">
            <a:spAutoFit/>
          </a:bodyPr>
          <a:lstStyle/>
          <a:p>
            <a:r>
              <a:rPr lang="en-US" sz="1400" dirty="0">
                <a:solidFill>
                  <a:schemeClr val="bg1">
                    <a:lumMod val="50000"/>
                  </a:schemeClr>
                </a:solidFill>
              </a:rPr>
              <a:t>6</a:t>
            </a:r>
            <a:r>
              <a:rPr lang="en-US" sz="1400" dirty="0">
                <a:solidFill>
                  <a:schemeClr val="bg1">
                    <a:lumMod val="50000"/>
                  </a:schemeClr>
                </a:solidFill>
                <a:effectLst/>
              </a:rPr>
              <a:t>. D. </a:t>
            </a:r>
            <a:r>
              <a:rPr lang="en-US" sz="1400" dirty="0" err="1">
                <a:solidFill>
                  <a:schemeClr val="bg1">
                    <a:lumMod val="50000"/>
                  </a:schemeClr>
                </a:solidFill>
                <a:effectLst/>
              </a:rPr>
              <a:t>Layden</a:t>
            </a:r>
            <a:r>
              <a:rPr lang="en-US" sz="1400" dirty="0">
                <a:solidFill>
                  <a:schemeClr val="bg1">
                    <a:lumMod val="50000"/>
                  </a:schemeClr>
                </a:solidFill>
                <a:effectLst/>
              </a:rPr>
              <a:t>, E. Martin-Martinez, and A. </a:t>
            </a:r>
            <a:r>
              <a:rPr lang="en-US" sz="1400" dirty="0" err="1">
                <a:solidFill>
                  <a:schemeClr val="bg1">
                    <a:lumMod val="50000"/>
                  </a:schemeClr>
                </a:solidFill>
                <a:effectLst/>
              </a:rPr>
              <a:t>Kempf</a:t>
            </a:r>
            <a:r>
              <a:rPr lang="en-US" sz="1400" dirty="0">
                <a:solidFill>
                  <a:schemeClr val="bg1">
                    <a:lumMod val="50000"/>
                  </a:schemeClr>
                </a:solidFill>
                <a:effectLst/>
              </a:rPr>
              <a:t>, Universal scheme for indirect quantum control. </a:t>
            </a:r>
            <a:r>
              <a:rPr lang="en-US" sz="1400" i="1" dirty="0">
                <a:solidFill>
                  <a:schemeClr val="bg1">
                    <a:lumMod val="50000"/>
                  </a:schemeClr>
                </a:solidFill>
                <a:effectLst/>
              </a:rPr>
              <a:t>Phys. Rev. A </a:t>
            </a:r>
            <a:r>
              <a:rPr lang="en-US" sz="1400" b="1" dirty="0">
                <a:solidFill>
                  <a:schemeClr val="bg1">
                    <a:lumMod val="50000"/>
                  </a:schemeClr>
                </a:solidFill>
                <a:effectLst/>
              </a:rPr>
              <a:t>93</a:t>
            </a:r>
            <a:r>
              <a:rPr lang="en-US" sz="1400" dirty="0">
                <a:solidFill>
                  <a:schemeClr val="bg1">
                    <a:lumMod val="50000"/>
                  </a:schemeClr>
                </a:solidFill>
                <a:effectLst/>
              </a:rPr>
              <a:t>, 040301</a:t>
            </a:r>
            <a:r>
              <a:rPr lang="en-US" sz="1400" dirty="0">
                <a:solidFill>
                  <a:schemeClr val="bg1">
                    <a:lumMod val="50000"/>
                  </a:schemeClr>
                </a:solidFill>
              </a:rPr>
              <a:t> (2016).</a:t>
            </a:r>
            <a:endParaRPr lang="en-US" sz="1400" dirty="0">
              <a:solidFill>
                <a:schemeClr val="bg1">
                  <a:lumMod val="50000"/>
                </a:schemeClr>
              </a:solidFill>
              <a:effectLst/>
            </a:endParaRPr>
          </a:p>
        </p:txBody>
      </p:sp>
      <p:sp>
        <p:nvSpPr>
          <p:cNvPr id="44" name="TextBox 43">
            <a:extLst>
              <a:ext uri="{FF2B5EF4-FFF2-40B4-BE49-F238E27FC236}">
                <a16:creationId xmlns:a16="http://schemas.microsoft.com/office/drawing/2014/main" id="{F6A7888D-5410-0D3B-C8C4-7BF4CBF3BDA6}"/>
              </a:ext>
            </a:extLst>
          </p:cNvPr>
          <p:cNvSpPr txBox="1"/>
          <p:nvPr/>
        </p:nvSpPr>
        <p:spPr>
          <a:xfrm>
            <a:off x="353870" y="5682180"/>
            <a:ext cx="10194087" cy="307777"/>
          </a:xfrm>
          <a:prstGeom prst="rect">
            <a:avLst/>
          </a:prstGeom>
          <a:noFill/>
        </p:spPr>
        <p:txBody>
          <a:bodyPr wrap="square">
            <a:spAutoFit/>
          </a:bodyPr>
          <a:lstStyle/>
          <a:p>
            <a:pPr>
              <a:spcBef>
                <a:spcPts val="0"/>
              </a:spcBef>
              <a:spcAft>
                <a:spcPts val="0"/>
              </a:spcAft>
            </a:pPr>
            <a:r>
              <a:rPr lang="en-US" sz="1400" dirty="0">
                <a:solidFill>
                  <a:schemeClr val="bg1">
                    <a:lumMod val="50000"/>
                  </a:schemeClr>
                </a:solidFill>
              </a:rPr>
              <a:t>7. E. </a:t>
            </a:r>
            <a:r>
              <a:rPr lang="en-US" sz="1400" dirty="0" err="1">
                <a:solidFill>
                  <a:schemeClr val="bg1">
                    <a:lumMod val="50000"/>
                  </a:schemeClr>
                </a:solidFill>
                <a:effectLst/>
              </a:rPr>
              <a:t>Aspling</a:t>
            </a:r>
            <a:r>
              <a:rPr lang="en-US" sz="1400" dirty="0">
                <a:solidFill>
                  <a:schemeClr val="bg1">
                    <a:lumMod val="50000"/>
                  </a:schemeClr>
                </a:solidFill>
                <a:effectLst/>
              </a:rPr>
              <a:t> </a:t>
            </a:r>
            <a:r>
              <a:rPr lang="en-US" sz="1400" dirty="0">
                <a:solidFill>
                  <a:schemeClr val="bg1">
                    <a:lumMod val="50000"/>
                  </a:schemeClr>
                </a:solidFill>
              </a:rPr>
              <a:t>and</a:t>
            </a:r>
            <a:r>
              <a:rPr lang="en-US" sz="1400" dirty="0">
                <a:solidFill>
                  <a:schemeClr val="bg1">
                    <a:lumMod val="50000"/>
                  </a:schemeClr>
                </a:solidFill>
                <a:effectLst/>
              </a:rPr>
              <a:t> M. Lawler, Universal Quantum Computing with Field-Mediated Unruh-DeWitt Qubits. arXiv:2402.10173 (2024).</a:t>
            </a:r>
          </a:p>
        </p:txBody>
      </p:sp>
      <p:sp>
        <p:nvSpPr>
          <p:cNvPr id="46" name="TextBox 45">
            <a:extLst>
              <a:ext uri="{FF2B5EF4-FFF2-40B4-BE49-F238E27FC236}">
                <a16:creationId xmlns:a16="http://schemas.microsoft.com/office/drawing/2014/main" id="{097783BC-B7E8-E3F3-862D-642AC8567A3D}"/>
              </a:ext>
            </a:extLst>
          </p:cNvPr>
          <p:cNvSpPr txBox="1"/>
          <p:nvPr/>
        </p:nvSpPr>
        <p:spPr>
          <a:xfrm>
            <a:off x="348500" y="4158396"/>
            <a:ext cx="11494999" cy="523220"/>
          </a:xfrm>
          <a:prstGeom prst="rect">
            <a:avLst/>
          </a:prstGeom>
          <a:noFill/>
        </p:spPr>
        <p:txBody>
          <a:bodyPr wrap="square">
            <a:spAutoFit/>
          </a:bodyPr>
          <a:lstStyle/>
          <a:p>
            <a:pPr>
              <a:spcBef>
                <a:spcPts val="0"/>
              </a:spcBef>
              <a:spcAft>
                <a:spcPts val="0"/>
              </a:spcAft>
            </a:pPr>
            <a:r>
              <a:rPr lang="en-US" sz="1400" dirty="0">
                <a:solidFill>
                  <a:schemeClr val="bg1">
                    <a:lumMod val="50000"/>
                  </a:schemeClr>
                </a:solidFill>
              </a:rPr>
              <a:t>2. D. E. </a:t>
            </a:r>
            <a:r>
              <a:rPr lang="en-US" sz="1400" dirty="0" err="1">
                <a:solidFill>
                  <a:schemeClr val="bg1">
                    <a:lumMod val="50000"/>
                  </a:schemeClr>
                </a:solidFill>
                <a:effectLst/>
              </a:rPr>
              <a:t>Bruschi</a:t>
            </a:r>
            <a:r>
              <a:rPr lang="en-US" sz="1400" dirty="0">
                <a:solidFill>
                  <a:schemeClr val="bg1">
                    <a:lumMod val="50000"/>
                  </a:schemeClr>
                </a:solidFill>
                <a:effectLst/>
              </a:rPr>
              <a:t>, A. Dragan, A. R. Lee, I. Fuentes, </a:t>
            </a:r>
            <a:r>
              <a:rPr lang="en-US" sz="1400" dirty="0">
                <a:solidFill>
                  <a:schemeClr val="bg1">
                    <a:lumMod val="50000"/>
                  </a:schemeClr>
                </a:solidFill>
              </a:rPr>
              <a:t>and J.</a:t>
            </a:r>
            <a:r>
              <a:rPr lang="en-US" sz="1400" dirty="0">
                <a:solidFill>
                  <a:schemeClr val="bg1">
                    <a:lumMod val="50000"/>
                  </a:schemeClr>
                </a:solidFill>
                <a:effectLst/>
              </a:rPr>
              <a:t> </a:t>
            </a:r>
            <a:r>
              <a:rPr lang="en-US" sz="1400" dirty="0" err="1">
                <a:solidFill>
                  <a:schemeClr val="bg1">
                    <a:lumMod val="50000"/>
                  </a:schemeClr>
                </a:solidFill>
                <a:effectLst/>
              </a:rPr>
              <a:t>Louko</a:t>
            </a:r>
            <a:r>
              <a:rPr lang="en-US" sz="1400" dirty="0">
                <a:solidFill>
                  <a:schemeClr val="bg1">
                    <a:lumMod val="50000"/>
                  </a:schemeClr>
                </a:solidFill>
                <a:effectLst/>
              </a:rPr>
              <a:t>, Relativistic Motion Generates Quantum Gates and Entanglement Resonances. </a:t>
            </a:r>
            <a:r>
              <a:rPr lang="en-US" sz="1400" i="1" dirty="0">
                <a:solidFill>
                  <a:schemeClr val="bg1">
                    <a:lumMod val="50000"/>
                  </a:schemeClr>
                </a:solidFill>
                <a:effectLst/>
              </a:rPr>
              <a:t>Phys. Rev. Lett.</a:t>
            </a:r>
            <a:r>
              <a:rPr lang="en-US" sz="1400" dirty="0">
                <a:solidFill>
                  <a:schemeClr val="bg1">
                    <a:lumMod val="50000"/>
                  </a:schemeClr>
                </a:solidFill>
                <a:effectLst/>
              </a:rPr>
              <a:t> </a:t>
            </a:r>
            <a:r>
              <a:rPr lang="en-US" sz="1400" b="1" dirty="0">
                <a:solidFill>
                  <a:schemeClr val="bg1">
                    <a:lumMod val="50000"/>
                  </a:schemeClr>
                </a:solidFill>
                <a:effectLst/>
              </a:rPr>
              <a:t>111</a:t>
            </a:r>
            <a:r>
              <a:rPr lang="en-US" sz="1400" dirty="0">
                <a:solidFill>
                  <a:schemeClr val="bg1">
                    <a:lumMod val="50000"/>
                  </a:schemeClr>
                </a:solidFill>
                <a:effectLst/>
              </a:rPr>
              <a:t>, 090504 (2013).</a:t>
            </a:r>
          </a:p>
        </p:txBody>
      </p:sp>
      <p:sp>
        <p:nvSpPr>
          <p:cNvPr id="52" name="TextBox 51">
            <a:extLst>
              <a:ext uri="{FF2B5EF4-FFF2-40B4-BE49-F238E27FC236}">
                <a16:creationId xmlns:a16="http://schemas.microsoft.com/office/drawing/2014/main" id="{376D0505-1DE1-62F6-ED46-E7B86698A221}"/>
              </a:ext>
            </a:extLst>
          </p:cNvPr>
          <p:cNvSpPr txBox="1"/>
          <p:nvPr/>
        </p:nvSpPr>
        <p:spPr>
          <a:xfrm>
            <a:off x="348500" y="4870678"/>
            <a:ext cx="9244520" cy="307777"/>
          </a:xfrm>
          <a:prstGeom prst="rect">
            <a:avLst/>
          </a:prstGeom>
          <a:noFill/>
        </p:spPr>
        <p:txBody>
          <a:bodyPr wrap="square">
            <a:spAutoFit/>
          </a:bodyPr>
          <a:lstStyle/>
          <a:p>
            <a:r>
              <a:rPr lang="en-US" sz="1400" dirty="0">
                <a:solidFill>
                  <a:schemeClr val="bg1">
                    <a:lumMod val="50000"/>
                  </a:schemeClr>
                </a:solidFill>
                <a:effectLst/>
              </a:rPr>
              <a:t>4. E. Martín-Martínez and C. Sutherland, Quantum gates via relativistic remote control. </a:t>
            </a:r>
            <a:r>
              <a:rPr lang="en-US" sz="1400" i="1" dirty="0">
                <a:solidFill>
                  <a:schemeClr val="bg1">
                    <a:lumMod val="50000"/>
                  </a:schemeClr>
                </a:solidFill>
                <a:effectLst/>
              </a:rPr>
              <a:t>Physics Letters B</a:t>
            </a:r>
            <a:r>
              <a:rPr lang="en-US" sz="1400" dirty="0">
                <a:solidFill>
                  <a:schemeClr val="bg1">
                    <a:lumMod val="50000"/>
                  </a:schemeClr>
                </a:solidFill>
                <a:effectLst/>
              </a:rPr>
              <a:t> </a:t>
            </a:r>
            <a:r>
              <a:rPr lang="en-US" sz="1400" b="1" dirty="0">
                <a:solidFill>
                  <a:schemeClr val="bg1">
                    <a:lumMod val="50000"/>
                  </a:schemeClr>
                </a:solidFill>
                <a:effectLst/>
              </a:rPr>
              <a:t>739</a:t>
            </a:r>
            <a:r>
              <a:rPr lang="en-US" sz="1400" dirty="0">
                <a:solidFill>
                  <a:schemeClr val="bg1">
                    <a:lumMod val="50000"/>
                  </a:schemeClr>
                </a:solidFill>
                <a:effectLst/>
              </a:rPr>
              <a:t>, 74–82 (2014).</a:t>
            </a:r>
          </a:p>
        </p:txBody>
      </p:sp>
      <p:sp>
        <p:nvSpPr>
          <p:cNvPr id="54" name="TextBox 53">
            <a:extLst>
              <a:ext uri="{FF2B5EF4-FFF2-40B4-BE49-F238E27FC236}">
                <a16:creationId xmlns:a16="http://schemas.microsoft.com/office/drawing/2014/main" id="{7769206C-8A88-7E6C-AE44-507DE489E389}"/>
              </a:ext>
            </a:extLst>
          </p:cNvPr>
          <p:cNvSpPr txBox="1"/>
          <p:nvPr/>
        </p:nvSpPr>
        <p:spPr>
          <a:xfrm>
            <a:off x="352021" y="3872104"/>
            <a:ext cx="8520316" cy="307777"/>
          </a:xfrm>
          <a:prstGeom prst="rect">
            <a:avLst/>
          </a:prstGeom>
          <a:noFill/>
        </p:spPr>
        <p:txBody>
          <a:bodyPr wrap="square">
            <a:spAutoFit/>
          </a:bodyPr>
          <a:lstStyle/>
          <a:p>
            <a:r>
              <a:rPr lang="en-US" sz="1400" dirty="0">
                <a:solidFill>
                  <a:schemeClr val="bg1">
                    <a:lumMod val="50000"/>
                  </a:schemeClr>
                </a:solidFill>
              </a:rPr>
              <a:t>1. N. </a:t>
            </a:r>
            <a:r>
              <a:rPr lang="en-US" sz="1400" dirty="0" err="1">
                <a:solidFill>
                  <a:schemeClr val="bg1">
                    <a:lumMod val="50000"/>
                  </a:schemeClr>
                </a:solidFill>
                <a:effectLst/>
              </a:rPr>
              <a:t>Friis</a:t>
            </a:r>
            <a:r>
              <a:rPr lang="en-US" sz="1400" dirty="0">
                <a:solidFill>
                  <a:schemeClr val="bg1">
                    <a:lumMod val="50000"/>
                  </a:schemeClr>
                </a:solidFill>
                <a:effectLst/>
              </a:rPr>
              <a:t>, D. E. </a:t>
            </a:r>
            <a:r>
              <a:rPr lang="en-US" sz="1400" dirty="0" err="1">
                <a:solidFill>
                  <a:schemeClr val="bg1">
                    <a:lumMod val="50000"/>
                  </a:schemeClr>
                </a:solidFill>
                <a:effectLst/>
              </a:rPr>
              <a:t>Bruschi</a:t>
            </a:r>
            <a:r>
              <a:rPr lang="en-US" sz="1400" dirty="0">
                <a:solidFill>
                  <a:schemeClr val="bg1">
                    <a:lumMod val="50000"/>
                  </a:schemeClr>
                </a:solidFill>
                <a:effectLst/>
              </a:rPr>
              <a:t>, J. </a:t>
            </a:r>
            <a:r>
              <a:rPr lang="en-US" sz="1400" dirty="0" err="1">
                <a:solidFill>
                  <a:schemeClr val="bg1">
                    <a:lumMod val="50000"/>
                  </a:schemeClr>
                </a:solidFill>
                <a:effectLst/>
              </a:rPr>
              <a:t>Louko</a:t>
            </a:r>
            <a:r>
              <a:rPr lang="en-US" sz="1400" dirty="0">
                <a:solidFill>
                  <a:schemeClr val="bg1">
                    <a:lumMod val="50000"/>
                  </a:schemeClr>
                </a:solidFill>
                <a:effectLst/>
              </a:rPr>
              <a:t>, </a:t>
            </a:r>
            <a:r>
              <a:rPr lang="en-US" sz="1400" dirty="0">
                <a:solidFill>
                  <a:schemeClr val="bg1">
                    <a:lumMod val="50000"/>
                  </a:schemeClr>
                </a:solidFill>
              </a:rPr>
              <a:t>and I.</a:t>
            </a:r>
            <a:r>
              <a:rPr lang="en-US" sz="1400" dirty="0">
                <a:solidFill>
                  <a:schemeClr val="bg1">
                    <a:lumMod val="50000"/>
                  </a:schemeClr>
                </a:solidFill>
                <a:effectLst/>
              </a:rPr>
              <a:t> Fuentes, Motion generates entanglement. </a:t>
            </a:r>
            <a:r>
              <a:rPr lang="en-US" sz="1400" i="1" dirty="0">
                <a:solidFill>
                  <a:schemeClr val="bg1">
                    <a:lumMod val="50000"/>
                  </a:schemeClr>
                </a:solidFill>
                <a:effectLst/>
              </a:rPr>
              <a:t>Phys. Rev. D</a:t>
            </a:r>
            <a:r>
              <a:rPr lang="en-US" sz="1400" dirty="0">
                <a:solidFill>
                  <a:schemeClr val="bg1">
                    <a:lumMod val="50000"/>
                  </a:schemeClr>
                </a:solidFill>
                <a:effectLst/>
              </a:rPr>
              <a:t> </a:t>
            </a:r>
            <a:r>
              <a:rPr lang="en-US" sz="1400" b="1" dirty="0">
                <a:solidFill>
                  <a:schemeClr val="bg1">
                    <a:lumMod val="50000"/>
                  </a:schemeClr>
                </a:solidFill>
                <a:effectLst/>
              </a:rPr>
              <a:t>85</a:t>
            </a:r>
            <a:r>
              <a:rPr lang="en-US" sz="1400" dirty="0">
                <a:solidFill>
                  <a:schemeClr val="bg1">
                    <a:lumMod val="50000"/>
                  </a:schemeClr>
                </a:solidFill>
                <a:effectLst/>
              </a:rPr>
              <a:t>, 081701 (2012).</a:t>
            </a:r>
          </a:p>
        </p:txBody>
      </p:sp>
      <p:sp>
        <p:nvSpPr>
          <p:cNvPr id="56" name="TextBox 55">
            <a:extLst>
              <a:ext uri="{FF2B5EF4-FFF2-40B4-BE49-F238E27FC236}">
                <a16:creationId xmlns:a16="http://schemas.microsoft.com/office/drawing/2014/main" id="{8CD3929E-6A57-D260-2751-33D72E1CA0A3}"/>
              </a:ext>
            </a:extLst>
          </p:cNvPr>
          <p:cNvSpPr txBox="1"/>
          <p:nvPr/>
        </p:nvSpPr>
        <p:spPr>
          <a:xfrm>
            <a:off x="348500" y="5144435"/>
            <a:ext cx="8830543" cy="307777"/>
          </a:xfrm>
          <a:prstGeom prst="rect">
            <a:avLst/>
          </a:prstGeom>
          <a:noFill/>
        </p:spPr>
        <p:txBody>
          <a:bodyPr wrap="square">
            <a:spAutoFit/>
          </a:bodyPr>
          <a:lstStyle/>
          <a:p>
            <a:pPr>
              <a:spcBef>
                <a:spcPts val="0"/>
              </a:spcBef>
              <a:spcAft>
                <a:spcPts val="0"/>
              </a:spcAft>
            </a:pPr>
            <a:r>
              <a:rPr lang="en-US" sz="1400" dirty="0">
                <a:solidFill>
                  <a:schemeClr val="bg1">
                    <a:lumMod val="50000"/>
                  </a:schemeClr>
                </a:solidFill>
              </a:rPr>
              <a:t>5</a:t>
            </a:r>
            <a:r>
              <a:rPr lang="en-US" sz="1400" dirty="0">
                <a:solidFill>
                  <a:schemeClr val="bg1">
                    <a:lumMod val="50000"/>
                  </a:schemeClr>
                </a:solidFill>
                <a:effectLst/>
              </a:rPr>
              <a:t>. D. E. </a:t>
            </a:r>
            <a:r>
              <a:rPr lang="en-US" sz="1400" dirty="0" err="1">
                <a:solidFill>
                  <a:schemeClr val="bg1">
                    <a:lumMod val="50000"/>
                  </a:schemeClr>
                </a:solidFill>
                <a:effectLst/>
              </a:rPr>
              <a:t>Bruschi</a:t>
            </a:r>
            <a:r>
              <a:rPr lang="en-US" sz="1400" dirty="0">
                <a:solidFill>
                  <a:schemeClr val="bg1">
                    <a:lumMod val="50000"/>
                  </a:schemeClr>
                </a:solidFill>
                <a:effectLst/>
              </a:rPr>
              <a:t> </a:t>
            </a:r>
            <a:r>
              <a:rPr lang="en-US" sz="1400" i="1" dirty="0">
                <a:solidFill>
                  <a:schemeClr val="bg1">
                    <a:lumMod val="50000"/>
                  </a:schemeClr>
                </a:solidFill>
                <a:effectLst/>
              </a:rPr>
              <a:t>et al.</a:t>
            </a:r>
            <a:r>
              <a:rPr lang="en-US" sz="1400" dirty="0">
                <a:solidFill>
                  <a:schemeClr val="bg1">
                    <a:lumMod val="50000"/>
                  </a:schemeClr>
                </a:solidFill>
                <a:effectLst/>
              </a:rPr>
              <a:t> Towards universal quantum computation through relativistic motion. </a:t>
            </a:r>
            <a:r>
              <a:rPr lang="en-US" sz="1400" i="1" dirty="0">
                <a:solidFill>
                  <a:schemeClr val="bg1">
                    <a:lumMod val="50000"/>
                  </a:schemeClr>
                </a:solidFill>
                <a:effectLst/>
              </a:rPr>
              <a:t>Sci Rep</a:t>
            </a:r>
            <a:r>
              <a:rPr lang="en-US" sz="1400" dirty="0">
                <a:solidFill>
                  <a:schemeClr val="bg1">
                    <a:lumMod val="50000"/>
                  </a:schemeClr>
                </a:solidFill>
                <a:effectLst/>
              </a:rPr>
              <a:t> </a:t>
            </a:r>
            <a:r>
              <a:rPr lang="en-US" sz="1400" b="1" dirty="0">
                <a:solidFill>
                  <a:schemeClr val="bg1">
                    <a:lumMod val="50000"/>
                  </a:schemeClr>
                </a:solidFill>
                <a:effectLst/>
              </a:rPr>
              <a:t>6</a:t>
            </a:r>
            <a:r>
              <a:rPr lang="en-US" sz="1400" dirty="0">
                <a:solidFill>
                  <a:schemeClr val="bg1">
                    <a:lumMod val="50000"/>
                  </a:schemeClr>
                </a:solidFill>
                <a:effectLst/>
              </a:rPr>
              <a:t>, 18349 (2016).</a:t>
            </a:r>
          </a:p>
        </p:txBody>
      </p:sp>
      <p:sp>
        <p:nvSpPr>
          <p:cNvPr id="5" name="TextBox 4">
            <a:extLst>
              <a:ext uri="{FF2B5EF4-FFF2-40B4-BE49-F238E27FC236}">
                <a16:creationId xmlns:a16="http://schemas.microsoft.com/office/drawing/2014/main" id="{4DE24C37-ECB4-0B53-D484-F8CB26105975}"/>
              </a:ext>
            </a:extLst>
          </p:cNvPr>
          <p:cNvSpPr txBox="1"/>
          <p:nvPr/>
        </p:nvSpPr>
        <p:spPr>
          <a:xfrm>
            <a:off x="348500" y="4591577"/>
            <a:ext cx="11237441" cy="307777"/>
          </a:xfrm>
          <a:prstGeom prst="rect">
            <a:avLst/>
          </a:prstGeom>
          <a:noFill/>
        </p:spPr>
        <p:txBody>
          <a:bodyPr wrap="square">
            <a:spAutoFit/>
          </a:bodyPr>
          <a:lstStyle/>
          <a:p>
            <a:r>
              <a:rPr lang="en-US" sz="1400" dirty="0">
                <a:solidFill>
                  <a:schemeClr val="bg2">
                    <a:lumMod val="50000"/>
                  </a:schemeClr>
                </a:solidFill>
              </a:rPr>
              <a:t>3</a:t>
            </a:r>
            <a:r>
              <a:rPr lang="en-US" sz="1400" dirty="0">
                <a:solidFill>
                  <a:schemeClr val="bg2">
                    <a:lumMod val="50000"/>
                  </a:schemeClr>
                </a:solidFill>
                <a:effectLst/>
              </a:rPr>
              <a:t>. E. Martin-Martinez, D. Aasen, and A. Kempf, Processing quantum information with relativistic motion of atoms, </a:t>
            </a:r>
            <a:r>
              <a:rPr lang="en-US" sz="1400" i="1" dirty="0">
                <a:solidFill>
                  <a:schemeClr val="bg2">
                    <a:lumMod val="50000"/>
                  </a:schemeClr>
                </a:solidFill>
                <a:effectLst/>
              </a:rPr>
              <a:t>Phys. Rev. Lett</a:t>
            </a:r>
            <a:r>
              <a:rPr lang="en-US" sz="1400" dirty="0">
                <a:solidFill>
                  <a:schemeClr val="bg2">
                    <a:lumMod val="50000"/>
                  </a:schemeClr>
                </a:solidFill>
                <a:effectLst/>
              </a:rPr>
              <a:t>. </a:t>
            </a:r>
            <a:r>
              <a:rPr lang="en-US" sz="1400" b="1" dirty="0">
                <a:solidFill>
                  <a:schemeClr val="bg2">
                    <a:lumMod val="50000"/>
                  </a:schemeClr>
                </a:solidFill>
                <a:effectLst/>
              </a:rPr>
              <a:t>110</a:t>
            </a:r>
            <a:r>
              <a:rPr lang="en-US" sz="1400" dirty="0">
                <a:solidFill>
                  <a:schemeClr val="bg2">
                    <a:lumMod val="50000"/>
                  </a:schemeClr>
                </a:solidFill>
                <a:effectLst/>
              </a:rPr>
              <a:t>, 160501 (2013).</a:t>
            </a:r>
          </a:p>
        </p:txBody>
      </p:sp>
      <p:pic>
        <p:nvPicPr>
          <p:cNvPr id="6" name="Picture 5">
            <a:extLst>
              <a:ext uri="{FF2B5EF4-FFF2-40B4-BE49-F238E27FC236}">
                <a16:creationId xmlns:a16="http://schemas.microsoft.com/office/drawing/2014/main" id="{080D4269-0AEA-2BE7-1447-D002BD76BD45}"/>
              </a:ext>
            </a:extLst>
          </p:cNvPr>
          <p:cNvPicPr>
            <a:picLocks noChangeAspect="1"/>
          </p:cNvPicPr>
          <p:nvPr/>
        </p:nvPicPr>
        <p:blipFill>
          <a:blip r:embed="rId4">
            <a:alphaModFix amt="77000"/>
          </a:blip>
          <a:stretch>
            <a:fillRect/>
          </a:stretch>
        </p:blipFill>
        <p:spPr>
          <a:xfrm rot="21259358">
            <a:off x="7417994" y="947190"/>
            <a:ext cx="4350050" cy="2610030"/>
          </a:xfrm>
          <a:prstGeom prst="rect">
            <a:avLst/>
          </a:prstGeom>
          <a:noFill/>
          <a:effectLst/>
          <a:scene3d>
            <a:camera prst="orthographicFront">
              <a:rot lat="2400000" lon="0" rev="0"/>
            </a:camera>
            <a:lightRig rig="threePt" dir="t"/>
          </a:scene3d>
        </p:spPr>
      </p:pic>
      <p:pic>
        <p:nvPicPr>
          <p:cNvPr id="8" name="Graphic 7" descr="Computer with solid fill">
            <a:extLst>
              <a:ext uri="{FF2B5EF4-FFF2-40B4-BE49-F238E27FC236}">
                <a16:creationId xmlns:a16="http://schemas.microsoft.com/office/drawing/2014/main" id="{34D493CE-219D-4894-EA71-61C53FA811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46470" y="1619301"/>
            <a:ext cx="1080120" cy="1080120"/>
          </a:xfrm>
          <a:prstGeom prst="rect">
            <a:avLst/>
          </a:prstGeom>
        </p:spPr>
      </p:pic>
      <p:pic>
        <p:nvPicPr>
          <p:cNvPr id="13" name="Graphic 12" descr="Question Mark with solid fill">
            <a:extLst>
              <a:ext uri="{FF2B5EF4-FFF2-40B4-BE49-F238E27FC236}">
                <a16:creationId xmlns:a16="http://schemas.microsoft.com/office/drawing/2014/main" id="{ACD857EB-CDE3-B9CE-166F-D0E53F587E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72337" y="1338632"/>
            <a:ext cx="1706233" cy="1706233"/>
          </a:xfrm>
          <a:prstGeom prst="rect">
            <a:avLst/>
          </a:prstGeom>
        </p:spPr>
      </p:pic>
      <p:sp>
        <p:nvSpPr>
          <p:cNvPr id="15" name="TextBox 14">
            <a:extLst>
              <a:ext uri="{FF2B5EF4-FFF2-40B4-BE49-F238E27FC236}">
                <a16:creationId xmlns:a16="http://schemas.microsoft.com/office/drawing/2014/main" id="{C8223F0C-0B88-26B4-0E7A-8065EC39571A}"/>
              </a:ext>
            </a:extLst>
          </p:cNvPr>
          <p:cNvSpPr txBox="1"/>
          <p:nvPr/>
        </p:nvSpPr>
        <p:spPr>
          <a:xfrm>
            <a:off x="637312" y="1960915"/>
            <a:ext cx="6295766" cy="461665"/>
          </a:xfrm>
          <a:prstGeom prst="rect">
            <a:avLst/>
          </a:prstGeom>
          <a:noFill/>
        </p:spPr>
        <p:txBody>
          <a:bodyPr wrap="square">
            <a:spAutoFit/>
          </a:bodyPr>
          <a:lstStyle/>
          <a:p>
            <a:r>
              <a:rPr lang="en-CA" sz="2400" dirty="0"/>
              <a:t>What does a quantum computer look like in RQI?</a:t>
            </a:r>
          </a:p>
        </p:txBody>
      </p:sp>
    </p:spTree>
    <p:custDataLst>
      <p:tags r:id="rId1"/>
    </p:custDataLst>
    <p:extLst>
      <p:ext uri="{BB962C8B-B14F-4D97-AF65-F5344CB8AC3E}">
        <p14:creationId xmlns:p14="http://schemas.microsoft.com/office/powerpoint/2010/main" val="346917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 grpId="0"/>
      <p:bldP spid="44" grpId="0"/>
      <p:bldP spid="46" grpId="0"/>
      <p:bldP spid="52" grpId="0"/>
      <p:bldP spid="54" grpId="0"/>
      <p:bldP spid="56"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A0C09-EDEE-E77B-EED4-06B1F0242FD1}"/>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216352A5-BCD0-FD76-839C-733A510751FF}"/>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35778216-3D9C-4866-9226-24C5B90DDDCC}"/>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Introduction and Motivation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0DAC418F-054B-5B96-1541-944C533329BE}"/>
              </a:ext>
            </a:extLst>
          </p:cNvPr>
          <p:cNvSpPr>
            <a:spLocks noGrp="1"/>
          </p:cNvSpPr>
          <p:nvPr>
            <p:ph type="sldNum" sz="quarter" idx="12"/>
          </p:nvPr>
        </p:nvSpPr>
        <p:spPr/>
        <p:txBody>
          <a:bodyPr/>
          <a:lstStyle/>
          <a:p>
            <a:fld id="{D0617D14-1B55-43C0-819D-0D244AC23646}" type="slidenum">
              <a:rPr lang="de-AT" smtClean="0"/>
              <a:t>4</a:t>
            </a:fld>
            <a:endParaRPr lang="de-AT"/>
          </a:p>
        </p:txBody>
      </p:sp>
      <p:sp>
        <p:nvSpPr>
          <p:cNvPr id="11" name="TextBox 10">
            <a:extLst>
              <a:ext uri="{FF2B5EF4-FFF2-40B4-BE49-F238E27FC236}">
                <a16:creationId xmlns:a16="http://schemas.microsoft.com/office/drawing/2014/main" id="{F285A709-B1F9-BBB5-D157-73531749C93B}"/>
              </a:ext>
            </a:extLst>
          </p:cNvPr>
          <p:cNvSpPr txBox="1"/>
          <p:nvPr/>
        </p:nvSpPr>
        <p:spPr>
          <a:xfrm>
            <a:off x="258966" y="2962209"/>
            <a:ext cx="4058237" cy="400110"/>
          </a:xfrm>
          <a:prstGeom prst="rect">
            <a:avLst/>
          </a:prstGeom>
          <a:noFill/>
        </p:spPr>
        <p:txBody>
          <a:bodyPr wrap="square" rtlCol="0">
            <a:spAutoFit/>
          </a:bodyPr>
          <a:lstStyle/>
          <a:p>
            <a:r>
              <a:rPr lang="en-CA" sz="2000" dirty="0"/>
              <a:t>Specifically, we show…</a:t>
            </a:r>
          </a:p>
        </p:txBody>
      </p:sp>
      <p:sp>
        <p:nvSpPr>
          <p:cNvPr id="12" name="TextBox 11">
            <a:extLst>
              <a:ext uri="{FF2B5EF4-FFF2-40B4-BE49-F238E27FC236}">
                <a16:creationId xmlns:a16="http://schemas.microsoft.com/office/drawing/2014/main" id="{2DBCE3F0-C7E8-81A3-7D6B-DF021C8A52E5}"/>
              </a:ext>
            </a:extLst>
          </p:cNvPr>
          <p:cNvSpPr txBox="1"/>
          <p:nvPr/>
        </p:nvSpPr>
        <p:spPr>
          <a:xfrm>
            <a:off x="739805" y="3429000"/>
            <a:ext cx="12252960" cy="2523768"/>
          </a:xfrm>
          <a:prstGeom prst="rect">
            <a:avLst/>
          </a:prstGeom>
          <a:noFill/>
        </p:spPr>
        <p:txBody>
          <a:bodyPr wrap="square" rtlCol="0">
            <a:spAutoFit/>
          </a:bodyPr>
          <a:lstStyle/>
          <a:p>
            <a:pPr marL="285750" indent="-285750">
              <a:buFont typeface="Arial" panose="020B0604020202020204" pitchFamily="34" charset="0"/>
              <a:buChar char="•"/>
            </a:pPr>
            <a:r>
              <a:rPr lang="en-CA" sz="2000" dirty="0"/>
              <a:t>How to execute quantum computation using only detector motion and field-mediated entanglement</a:t>
            </a:r>
            <a:br>
              <a:rPr lang="en-CA" sz="2000" dirty="0"/>
            </a:br>
            <a:r>
              <a:rPr lang="en-CA" sz="2000" dirty="0"/>
              <a:t> </a:t>
            </a:r>
          </a:p>
          <a:p>
            <a:pPr marL="285750" indent="-285750">
              <a:buFont typeface="Arial" panose="020B0604020202020204" pitchFamily="34" charset="0"/>
              <a:buChar char="•"/>
            </a:pPr>
            <a:r>
              <a:rPr lang="en-CA" sz="2000" dirty="0"/>
              <a:t>Analytic expressions for the gates in general spacetimes </a:t>
            </a:r>
            <a:br>
              <a:rPr lang="en-CA" sz="2000" dirty="0"/>
            </a:br>
            <a:endParaRPr lang="en-CA" sz="2000" dirty="0"/>
          </a:p>
          <a:p>
            <a:pPr marL="285750" indent="-285750">
              <a:buFont typeface="Arial" panose="020B0604020202020204" pitchFamily="34" charset="0"/>
              <a:buChar char="•"/>
            </a:pPr>
            <a:r>
              <a:rPr lang="en-CA" sz="2000" dirty="0"/>
              <a:t>That the noise from the detector-field interaction can be made negligible </a:t>
            </a:r>
            <a:br>
              <a:rPr lang="en-CA" sz="2000" dirty="0"/>
            </a:br>
            <a:endParaRPr lang="en-CA" sz="2000" dirty="0"/>
          </a:p>
          <a:p>
            <a:pPr marL="285750" indent="-285750">
              <a:buFont typeface="Arial" panose="020B0604020202020204" pitchFamily="34" charset="0"/>
              <a:buChar char="•"/>
            </a:pPr>
            <a:r>
              <a:rPr lang="en-CA" sz="2000" dirty="0"/>
              <a:t>That the model is a universal quantum computer</a:t>
            </a:r>
          </a:p>
          <a:p>
            <a:pPr marL="285750" indent="-285750">
              <a:buFont typeface="Arial" panose="020B0604020202020204" pitchFamily="34" charset="0"/>
              <a:buChar char="•"/>
            </a:pPr>
            <a:endParaRPr lang="en-CA" dirty="0"/>
          </a:p>
        </p:txBody>
      </p:sp>
      <p:sp>
        <p:nvSpPr>
          <p:cNvPr id="4" name="Rounded Rectangle 3">
            <a:extLst>
              <a:ext uri="{FF2B5EF4-FFF2-40B4-BE49-F238E27FC236}">
                <a16:creationId xmlns:a16="http://schemas.microsoft.com/office/drawing/2014/main" id="{18622B0A-3DCE-D1D9-E1FF-74E65E4C585C}"/>
              </a:ext>
            </a:extLst>
          </p:cNvPr>
          <p:cNvSpPr/>
          <p:nvPr/>
        </p:nvSpPr>
        <p:spPr>
          <a:xfrm>
            <a:off x="1981199" y="1481104"/>
            <a:ext cx="8538483" cy="841248"/>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09852917-8E6F-B097-0C1E-87EE26A2D8FA}"/>
              </a:ext>
            </a:extLst>
          </p:cNvPr>
          <p:cNvSpPr txBox="1"/>
          <p:nvPr/>
        </p:nvSpPr>
        <p:spPr>
          <a:xfrm>
            <a:off x="2094347" y="1547785"/>
            <a:ext cx="8538483" cy="707886"/>
          </a:xfrm>
          <a:prstGeom prst="rect">
            <a:avLst/>
          </a:prstGeom>
          <a:noFill/>
        </p:spPr>
        <p:txBody>
          <a:bodyPr wrap="square" rtlCol="0">
            <a:spAutoFit/>
          </a:bodyPr>
          <a:lstStyle/>
          <a:p>
            <a:r>
              <a:rPr lang="en-CA" sz="2000" dirty="0"/>
              <a:t>We also use relativistic motion as part of a specific architecture for a complete, universal quantum computer proposal.</a:t>
            </a:r>
          </a:p>
        </p:txBody>
      </p:sp>
    </p:spTree>
    <p:custDataLst>
      <p:tags r:id="rId1"/>
    </p:custDataLst>
    <p:extLst>
      <p:ext uri="{BB962C8B-B14F-4D97-AF65-F5344CB8AC3E}">
        <p14:creationId xmlns:p14="http://schemas.microsoft.com/office/powerpoint/2010/main" val="265240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Outline</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5</a:t>
            </a:fld>
            <a:endParaRPr lang="de-AT"/>
          </a:p>
        </p:txBody>
      </p:sp>
      <p:sp>
        <p:nvSpPr>
          <p:cNvPr id="4" name="TextBox 3">
            <a:extLst>
              <a:ext uri="{FF2B5EF4-FFF2-40B4-BE49-F238E27FC236}">
                <a16:creationId xmlns:a16="http://schemas.microsoft.com/office/drawing/2014/main" id="{1C1BF774-AEF8-7F8E-39EB-C654AA157D89}"/>
              </a:ext>
            </a:extLst>
          </p:cNvPr>
          <p:cNvSpPr txBox="1"/>
          <p:nvPr/>
        </p:nvSpPr>
        <p:spPr>
          <a:xfrm>
            <a:off x="554182" y="1385455"/>
            <a:ext cx="8035636" cy="3816429"/>
          </a:xfrm>
          <a:prstGeom prst="rect">
            <a:avLst/>
          </a:prstGeom>
          <a:noFill/>
        </p:spPr>
        <p:txBody>
          <a:bodyPr wrap="square" rtlCol="0">
            <a:spAutoFit/>
          </a:bodyPr>
          <a:lstStyle/>
          <a:p>
            <a:pPr marL="514350" indent="-514350">
              <a:spcAft>
                <a:spcPts val="1200"/>
              </a:spcAft>
              <a:buFont typeface="+mj-lt"/>
              <a:buAutoNum type="arabicParenR"/>
            </a:pPr>
            <a:r>
              <a:rPr lang="en-CA" sz="3200" dirty="0"/>
              <a:t>Variational Quantum Circuits</a:t>
            </a:r>
          </a:p>
          <a:p>
            <a:pPr marL="514350" indent="-514350">
              <a:spcAft>
                <a:spcPts val="1200"/>
              </a:spcAft>
              <a:buFont typeface="+mj-lt"/>
              <a:buAutoNum type="arabicParenR"/>
            </a:pPr>
            <a:r>
              <a:rPr lang="en-CA" sz="3200" dirty="0"/>
              <a:t>Unruh-DeWitt Qubits</a:t>
            </a:r>
          </a:p>
          <a:p>
            <a:pPr marL="514350" indent="-514350">
              <a:spcAft>
                <a:spcPts val="1200"/>
              </a:spcAft>
              <a:buFont typeface="+mj-lt"/>
              <a:buAutoNum type="arabicParenR"/>
            </a:pPr>
            <a:r>
              <a:rPr lang="en-CA" sz="3200" dirty="0"/>
              <a:t>A Relativistic Quantum Computer</a:t>
            </a:r>
          </a:p>
          <a:p>
            <a:pPr marL="514350" indent="-514350">
              <a:spcAft>
                <a:spcPts val="1200"/>
              </a:spcAft>
              <a:buFont typeface="+mj-lt"/>
              <a:buAutoNum type="arabicParenR"/>
            </a:pPr>
            <a:r>
              <a:rPr lang="en-CA" sz="3200" dirty="0"/>
              <a:t>Relativistic Quantum Machine Learning</a:t>
            </a:r>
          </a:p>
          <a:p>
            <a:pPr marL="514350" indent="-514350">
              <a:spcAft>
                <a:spcPts val="1200"/>
              </a:spcAft>
              <a:buFont typeface="+mj-lt"/>
              <a:buAutoNum type="arabicParenR"/>
            </a:pPr>
            <a:r>
              <a:rPr lang="en-CA" sz="3200" dirty="0"/>
              <a:t>Extensions</a:t>
            </a:r>
          </a:p>
          <a:p>
            <a:pPr marL="514350" indent="-514350">
              <a:spcAft>
                <a:spcPts val="1200"/>
              </a:spcAft>
              <a:buFont typeface="+mj-lt"/>
              <a:buAutoNum type="arabicParenR"/>
            </a:pPr>
            <a:r>
              <a:rPr lang="en-CA" sz="3200" dirty="0"/>
              <a:t>Questions and Outlook</a:t>
            </a:r>
          </a:p>
        </p:txBody>
      </p:sp>
    </p:spTree>
    <p:custDataLst>
      <p:tags r:id="rId1"/>
    </p:custDataLst>
    <p:extLst>
      <p:ext uri="{BB962C8B-B14F-4D97-AF65-F5344CB8AC3E}">
        <p14:creationId xmlns:p14="http://schemas.microsoft.com/office/powerpoint/2010/main" val="113352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C643CB9-B7A3-F1AD-2665-C6A1634C55D7}"/>
              </a:ext>
            </a:extLst>
          </p:cNvPr>
          <p:cNvSpPr/>
          <p:nvPr/>
        </p:nvSpPr>
        <p:spPr>
          <a:xfrm>
            <a:off x="155476" y="2119605"/>
            <a:ext cx="1336305" cy="717724"/>
          </a:xfrm>
          <a:prstGeom prst="rect">
            <a:avLst/>
          </a:prstGeom>
          <a:solidFill>
            <a:srgbClr val="FCFAC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3" name="Rounded Rectangle 182">
            <a:extLst>
              <a:ext uri="{FF2B5EF4-FFF2-40B4-BE49-F238E27FC236}">
                <a16:creationId xmlns:a16="http://schemas.microsoft.com/office/drawing/2014/main" id="{4A67DAF0-C31C-5672-96F0-AF671475A07B}"/>
              </a:ext>
            </a:extLst>
          </p:cNvPr>
          <p:cNvSpPr/>
          <p:nvPr/>
        </p:nvSpPr>
        <p:spPr>
          <a:xfrm>
            <a:off x="8581264" y="2432218"/>
            <a:ext cx="3413485" cy="76908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Variational Quantum Computing</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6</a:t>
            </a:fld>
            <a:endParaRPr lang="de-AT"/>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8FD325-EB23-948F-CA3A-1694A0F52F6D}"/>
                  </a:ext>
                </a:extLst>
              </p:cNvPr>
              <p:cNvSpPr txBox="1"/>
              <p:nvPr/>
            </p:nvSpPr>
            <p:spPr>
              <a:xfrm>
                <a:off x="8138160" y="978894"/>
                <a:ext cx="3539623" cy="6299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𝑝𝑎𝑟𝑎</m:t>
                          </m:r>
                        </m:sub>
                      </m:sSub>
                      <m:r>
                        <m:rPr>
                          <m:nor/>
                        </m:rPr>
                        <a:rPr lang="en-US" sz="2000" b="0" i="0"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US" sz="2000" b="1" i="1" dirty="0" smtClean="0">
                              <a:latin typeface="Cambria Math" panose="02040503050406030204" pitchFamily="18" charset="0"/>
                            </a:rPr>
                            <m:t>𝜽</m:t>
                          </m:r>
                        </m:e>
                        <m:sup>
                          <m:r>
                            <a:rPr lang="en-US" sz="2000" b="0" i="1" dirty="0" smtClean="0">
                              <a:latin typeface="Cambria Math" panose="02040503050406030204" pitchFamily="18" charset="0"/>
                            </a:rPr>
                            <m:t>(ℓ)</m:t>
                          </m:r>
                        </m:sup>
                      </m:sSup>
                      <m:r>
                        <m:rPr>
                          <m:nor/>
                        </m:rPr>
                        <a:rPr lang="en-CA" sz="2000" dirty="0"/>
                        <m:t>) = </m:t>
                      </m:r>
                      <m:nary>
                        <m:naryPr>
                          <m:chr m:val="∏"/>
                          <m:limLoc m:val="subSup"/>
                          <m:ctrlPr>
                            <a:rPr lang="en-CA" sz="2000" i="1" dirty="0" smtClean="0">
                              <a:latin typeface="Cambria Math" panose="02040503050406030204" pitchFamily="18" charset="0"/>
                            </a:rPr>
                          </m:ctrlPr>
                        </m:naryPr>
                        <m:sub>
                          <m:r>
                            <m:rPr>
                              <m:brk m:alnAt="25"/>
                            </m:rP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𝑁</m:t>
                          </m:r>
                        </m:sup>
                        <m:e>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𝑒</m:t>
                              </m:r>
                            </m:e>
                            <m:sup>
                              <m:r>
                                <a:rPr lang="en-US" sz="2000" b="0" i="1" dirty="0" smtClean="0">
                                  <a:latin typeface="Cambria Math" panose="02040503050406030204" pitchFamily="18" charset="0"/>
                                </a:rPr>
                                <m:t>−</m:t>
                              </m:r>
                              <m:r>
                                <a:rPr lang="en-US" sz="2000" b="0" i="1" dirty="0" smtClean="0">
                                  <a:latin typeface="Cambria Math" panose="02040503050406030204" pitchFamily="18" charset="0"/>
                                </a:rPr>
                                <m:t>𝑖</m:t>
                              </m:r>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𝜃</m:t>
                                  </m:r>
                                </m:e>
                                <m:sub>
                                  <m:r>
                                    <a:rPr lang="en-US" sz="2000" b="0" i="1" dirty="0" smtClean="0">
                                      <a:latin typeface="Cambria Math" panose="02040503050406030204" pitchFamily="18" charset="0"/>
                                    </a:rPr>
                                    <m:t>𝑖</m:t>
                                  </m:r>
                                </m:sub>
                                <m:sup>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ℓ</m:t>
                                      </m:r>
                                    </m:e>
                                  </m:d>
                                </m:sup>
                              </m:sSubSup>
                              <m:sSub>
                                <m:sSubPr>
                                  <m:ctrlPr>
                                    <a:rPr lang="en-US" sz="2000" b="0" i="1" dirty="0" smtClean="0">
                                      <a:latin typeface="Cambria Math" panose="02040503050406030204" pitchFamily="18" charset="0"/>
                                    </a:rPr>
                                  </m:ctrlPr>
                                </m:sSubPr>
                                <m:e>
                                  <m:d>
                                    <m:dPr>
                                      <m:ctrlPr>
                                        <a:rPr lang="en-US" sz="2000" b="0" i="1" dirty="0" smtClean="0">
                                          <a:latin typeface="Cambria Math" panose="02040503050406030204" pitchFamily="18" charset="0"/>
                                        </a:rPr>
                                      </m:ctrlPr>
                                    </m:dPr>
                                    <m:e>
                                      <m:r>
                                        <a:rPr lang="en-US" sz="2000" b="1" i="1" dirty="0" smtClean="0">
                                          <a:latin typeface="Cambria Math" panose="02040503050406030204" pitchFamily="18" charset="0"/>
                                        </a:rPr>
                                        <m:t>𝒏</m:t>
                                      </m:r>
                                      <m:r>
                                        <a:rPr lang="en-US" sz="2000" b="0" i="1" dirty="0" smtClean="0">
                                          <a:latin typeface="Cambria Math" panose="02040503050406030204" pitchFamily="18" charset="0"/>
                                        </a:rPr>
                                        <m:t>⋅</m:t>
                                      </m:r>
                                      <m:acc>
                                        <m:accPr>
                                          <m:chr m:val="̂"/>
                                          <m:ctrlPr>
                                            <a:rPr lang="en-US" sz="2000" b="1" i="1" dirty="0" smtClean="0">
                                              <a:latin typeface="Cambria Math" panose="02040503050406030204" pitchFamily="18" charset="0"/>
                                            </a:rPr>
                                          </m:ctrlPr>
                                        </m:accPr>
                                        <m:e>
                                          <m:r>
                                            <a:rPr lang="en-US" sz="2000" b="1" i="1" dirty="0" smtClean="0">
                                              <a:latin typeface="Cambria Math" panose="02040503050406030204" pitchFamily="18" charset="0"/>
                                            </a:rPr>
                                            <m:t>𝝈</m:t>
                                          </m:r>
                                        </m:e>
                                      </m:acc>
                                    </m:e>
                                  </m:d>
                                </m:e>
                                <m:sub>
                                  <m:r>
                                    <a:rPr lang="en-US" sz="2000" b="0" i="1" dirty="0" smtClean="0">
                                      <a:latin typeface="Cambria Math" panose="02040503050406030204" pitchFamily="18" charset="0"/>
                                    </a:rPr>
                                    <m:t>𝑖</m:t>
                                  </m:r>
                                </m:sub>
                              </m:sSub>
                            </m:sup>
                          </m:sSup>
                        </m:e>
                      </m:nary>
                    </m:oMath>
                  </m:oMathPara>
                </a14:m>
                <a:endParaRPr lang="en-CA" dirty="0"/>
              </a:p>
            </p:txBody>
          </p:sp>
        </mc:Choice>
        <mc:Fallback xmlns="">
          <p:sp>
            <p:nvSpPr>
              <p:cNvPr id="10" name="TextBox 9">
                <a:extLst>
                  <a:ext uri="{FF2B5EF4-FFF2-40B4-BE49-F238E27FC236}">
                    <a16:creationId xmlns:a16="http://schemas.microsoft.com/office/drawing/2014/main" id="{638FD325-EB23-948F-CA3A-1694A0F52F6D}"/>
                  </a:ext>
                </a:extLst>
              </p:cNvPr>
              <p:cNvSpPr txBox="1">
                <a:spLocks noRot="1" noChangeAspect="1" noMove="1" noResize="1" noEditPoints="1" noAdjustHandles="1" noChangeArrowheads="1" noChangeShapeType="1" noTextEdit="1"/>
              </p:cNvSpPr>
              <p:nvPr/>
            </p:nvSpPr>
            <p:spPr>
              <a:xfrm>
                <a:off x="8138160" y="978894"/>
                <a:ext cx="3539623" cy="629981"/>
              </a:xfrm>
              <a:prstGeom prst="rect">
                <a:avLst/>
              </a:prstGeom>
              <a:blipFill>
                <a:blip r:embed="rId5"/>
                <a:stretch>
                  <a:fillRect l="-1071" t="-178000" b="-258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E614B20-E443-895E-B1E0-5DFD4AD4272C}"/>
                  </a:ext>
                </a:extLst>
              </p:cNvPr>
              <p:cNvSpPr txBox="1"/>
              <p:nvPr/>
            </p:nvSpPr>
            <p:spPr>
              <a:xfrm>
                <a:off x="8138160" y="1750273"/>
                <a:ext cx="4114800" cy="400110"/>
              </a:xfrm>
              <a:prstGeom prst="rect">
                <a:avLst/>
              </a:prstGeom>
              <a:noFill/>
            </p:spPr>
            <p:txBody>
              <a:bodyPr wrap="square" rtlCol="0">
                <a:spAutoFit/>
              </a:bodyPr>
              <a:lstStyle/>
              <a:p>
                <a14:m>
                  <m:oMath xmlns:m="http://schemas.openxmlformats.org/officeDocument/2006/math">
                    <m:r>
                      <a:rPr lang="en-US" sz="2000" b="1" i="1" smtClean="0">
                        <a:latin typeface="Cambria Math" panose="02040503050406030204" pitchFamily="18" charset="0"/>
                      </a:rPr>
                      <m:t>𝒏</m:t>
                    </m:r>
                    <m:r>
                      <a:rPr lang="en-US" sz="2000" b="0" i="1" smtClean="0">
                        <a:latin typeface="Cambria Math" panose="02040503050406030204" pitchFamily="18" charset="0"/>
                      </a:rPr>
                      <m:t>≡</m:t>
                    </m:r>
                  </m:oMath>
                </a14:m>
                <a:r>
                  <a:rPr lang="en-CA" sz="2000" dirty="0"/>
                  <a:t> unit vector, </a:t>
                </a:r>
                <a14:m>
                  <m:oMath xmlns:m="http://schemas.openxmlformats.org/officeDocument/2006/math">
                    <m:acc>
                      <m:accPr>
                        <m:chr m:val="̂"/>
                        <m:ctrlPr>
                          <a:rPr lang="en-CA" sz="2000" b="1" i="1" smtClean="0">
                            <a:latin typeface="Cambria Math" panose="02040503050406030204" pitchFamily="18" charset="0"/>
                          </a:rPr>
                        </m:ctrlPr>
                      </m:accPr>
                      <m:e>
                        <m:r>
                          <a:rPr lang="en-US" sz="2000" b="1" i="1" smtClean="0">
                            <a:latin typeface="Cambria Math" panose="02040503050406030204" pitchFamily="18" charset="0"/>
                          </a:rPr>
                          <m:t>𝝈</m:t>
                        </m:r>
                      </m:e>
                    </m:acc>
                    <m:r>
                      <a:rPr lang="en-US" sz="2000" b="0" i="1" smtClean="0">
                        <a:latin typeface="Cambria Math" panose="02040503050406030204" pitchFamily="18" charset="0"/>
                      </a:rPr>
                      <m:t>≡</m:t>
                    </m:r>
                  </m:oMath>
                </a14:m>
                <a:r>
                  <a:rPr lang="en-CA" sz="2000" dirty="0"/>
                  <a:t> Pauli vector</a:t>
                </a:r>
              </a:p>
            </p:txBody>
          </p:sp>
        </mc:Choice>
        <mc:Fallback xmlns="">
          <p:sp>
            <p:nvSpPr>
              <p:cNvPr id="11" name="TextBox 10">
                <a:extLst>
                  <a:ext uri="{FF2B5EF4-FFF2-40B4-BE49-F238E27FC236}">
                    <a16:creationId xmlns:a16="http://schemas.microsoft.com/office/drawing/2014/main" id="{6E614B20-E443-895E-B1E0-5DFD4AD4272C}"/>
                  </a:ext>
                </a:extLst>
              </p:cNvPr>
              <p:cNvSpPr txBox="1">
                <a:spLocks noRot="1" noChangeAspect="1" noMove="1" noResize="1" noEditPoints="1" noAdjustHandles="1" noChangeArrowheads="1" noChangeShapeType="1" noTextEdit="1"/>
              </p:cNvSpPr>
              <p:nvPr/>
            </p:nvSpPr>
            <p:spPr>
              <a:xfrm>
                <a:off x="8138160" y="1750273"/>
                <a:ext cx="4114800" cy="400110"/>
              </a:xfrm>
              <a:prstGeom prst="rect">
                <a:avLst/>
              </a:prstGeom>
              <a:blipFill>
                <a:blip r:embed="rId6"/>
                <a:stretch>
                  <a:fillRect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EBF01C8-41B4-5D96-2A08-2FD54851BB0F}"/>
                  </a:ext>
                </a:extLst>
              </p:cNvPr>
              <p:cNvSpPr txBox="1"/>
              <p:nvPr/>
            </p:nvSpPr>
            <p:spPr>
              <a:xfrm>
                <a:off x="2848755" y="979150"/>
                <a:ext cx="3404778" cy="6297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r>
                        <m:rPr>
                          <m:nor/>
                        </m:rPr>
                        <a:rPr lang="en-US" sz="2000" b="0" i="0" dirty="0" smtClean="0">
                          <a:latin typeface="Cambria Math" panose="02040503050406030204" pitchFamily="18" charset="0"/>
                        </a:rPr>
                        <m:t>(</m:t>
                      </m:r>
                      <m:r>
                        <a:rPr lang="en-US" sz="2000" b="1" i="1" dirty="0" smtClean="0">
                          <a:latin typeface="Cambria Math" panose="02040503050406030204" pitchFamily="18" charset="0"/>
                        </a:rPr>
                        <m:t>𝜽</m:t>
                      </m:r>
                      <m:r>
                        <m:rPr>
                          <m:nor/>
                        </m:rPr>
                        <a:rPr lang="en-CA" sz="2000" dirty="0"/>
                        <m:t>) = </m:t>
                      </m:r>
                      <m:nary>
                        <m:naryPr>
                          <m:chr m:val="∏"/>
                          <m:limLoc m:val="subSup"/>
                          <m:ctrlPr>
                            <a:rPr lang="en-CA" sz="2000" i="1" dirty="0" smtClean="0">
                              <a:latin typeface="Cambria Math" panose="02040503050406030204" pitchFamily="18" charset="0"/>
                            </a:rPr>
                          </m:ctrlPr>
                        </m:naryPr>
                        <m:sub>
                          <m:r>
                            <m:rPr>
                              <m:brk m:alnAt="25"/>
                            </m:rPr>
                            <a:rPr lang="en-US" sz="2000" b="0" i="1" dirty="0" smtClean="0">
                              <a:latin typeface="Cambria Math" panose="02040503050406030204" pitchFamily="18" charset="0"/>
                            </a:rPr>
                            <m:t>ℓ</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𝐷</m:t>
                          </m:r>
                        </m:sup>
                        <m:e>
                          <m:sSub>
                            <m:sSubPr>
                              <m:ctrlPr>
                                <a:rPr lang="en-US" sz="2000" b="0" i="1" dirty="0" smtClean="0">
                                  <a:latin typeface="Cambria Math" panose="02040503050406030204" pitchFamily="18" charset="0"/>
                                </a:rPr>
                              </m:ctrlPr>
                            </m:sSubPr>
                            <m:e>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𝑒𝑛𝑡</m:t>
                              </m:r>
                            </m:sub>
                          </m:sSub>
                          <m:sSub>
                            <m:sSubPr>
                              <m:ctrlPr>
                                <a:rPr lang="en-US" sz="2000" b="0" i="1" dirty="0" smtClean="0">
                                  <a:latin typeface="Cambria Math" panose="02040503050406030204" pitchFamily="18" charset="0"/>
                                </a:rPr>
                              </m:ctrlPr>
                            </m:sSubPr>
                            <m:e>
                              <m:acc>
                                <m:accPr>
                                  <m:chr m:val="̂"/>
                                  <m:ctrlPr>
                                    <a:rPr lang="en-US" sz="2000" b="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𝑝𝑎𝑟𝑎</m:t>
                              </m:r>
                            </m:sub>
                          </m:sSub>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en-US" sz="2000" b="1" i="1" dirty="0" smtClean="0">
                                      <a:latin typeface="Cambria Math" panose="02040503050406030204" pitchFamily="18" charset="0"/>
                                    </a:rPr>
                                    <m:t>𝜽</m:t>
                                  </m:r>
                                </m:e>
                                <m:sup>
                                  <m:r>
                                    <a:rPr lang="en-US" sz="2000" b="0" i="1" dirty="0" smtClean="0">
                                      <a:latin typeface="Cambria Math" panose="02040503050406030204" pitchFamily="18" charset="0"/>
                                    </a:rPr>
                                    <m:t>(ℓ)</m:t>
                                  </m:r>
                                </m:sup>
                              </m:sSup>
                            </m:e>
                          </m:d>
                        </m:e>
                      </m:nary>
                    </m:oMath>
                  </m:oMathPara>
                </a14:m>
                <a:endParaRPr lang="en-CA" dirty="0"/>
              </a:p>
            </p:txBody>
          </p:sp>
        </mc:Choice>
        <mc:Fallback xmlns="">
          <p:sp>
            <p:nvSpPr>
              <p:cNvPr id="12" name="TextBox 11">
                <a:extLst>
                  <a:ext uri="{FF2B5EF4-FFF2-40B4-BE49-F238E27FC236}">
                    <a16:creationId xmlns:a16="http://schemas.microsoft.com/office/drawing/2014/main" id="{AEBF01C8-41B4-5D96-2A08-2FD54851BB0F}"/>
                  </a:ext>
                </a:extLst>
              </p:cNvPr>
              <p:cNvSpPr txBox="1">
                <a:spLocks noRot="1" noChangeAspect="1" noMove="1" noResize="1" noEditPoints="1" noAdjustHandles="1" noChangeArrowheads="1" noChangeShapeType="1" noTextEdit="1"/>
              </p:cNvSpPr>
              <p:nvPr/>
            </p:nvSpPr>
            <p:spPr>
              <a:xfrm>
                <a:off x="2848755" y="979150"/>
                <a:ext cx="3404778" cy="629788"/>
              </a:xfrm>
              <a:prstGeom prst="rect">
                <a:avLst/>
              </a:prstGeom>
              <a:blipFill>
                <a:blip r:embed="rId7"/>
                <a:stretch>
                  <a:fillRect l="-3346" t="-178000" b="-258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1B94544-22B4-12E1-5B9C-A63FEC2B0D8F}"/>
                  </a:ext>
                </a:extLst>
              </p:cNvPr>
              <p:cNvSpPr txBox="1"/>
              <p:nvPr/>
            </p:nvSpPr>
            <p:spPr>
              <a:xfrm>
                <a:off x="8727445" y="2618534"/>
                <a:ext cx="3208186" cy="3474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1" i="1" smtClean="0">
                              <a:latin typeface="Cambria Math" panose="02040503050406030204" pitchFamily="18" charset="0"/>
                            </a:rPr>
                            <m:t>𝜽</m:t>
                          </m:r>
                        </m:sub>
                      </m:sSub>
                      <m:d>
                        <m:dPr>
                          <m:ctrlPr>
                            <a:rPr lang="en-US" sz="2000" b="1" i="1" smtClean="0">
                              <a:latin typeface="Cambria Math" panose="02040503050406030204" pitchFamily="18" charset="0"/>
                            </a:rPr>
                          </m:ctrlPr>
                        </m:dPr>
                        <m:e>
                          <m:acc>
                            <m:accPr>
                              <m:chr m:val="̂"/>
                              <m:ctrlPr>
                                <a:rPr lang="en-US" sz="2000" b="1" i="1" smtClean="0">
                                  <a:latin typeface="Cambria Math" panose="02040503050406030204" pitchFamily="18" charset="0"/>
                                </a:rPr>
                              </m:ctrlPr>
                            </m:accPr>
                            <m:e>
                              <m:r>
                                <a:rPr lang="en-US" sz="2000" b="0" i="1" smtClean="0">
                                  <a:latin typeface="Cambria Math" panose="02040503050406030204" pitchFamily="18" charset="0"/>
                                </a:rPr>
                                <m:t>𝑂</m:t>
                              </m:r>
                            </m:e>
                          </m:acc>
                        </m:e>
                      </m:d>
                      <m:r>
                        <a:rPr lang="en-US" sz="2000" b="1" i="1" smtClean="0">
                          <a:latin typeface="Cambria Math" panose="02040503050406030204" pitchFamily="18" charset="0"/>
                        </a:rPr>
                        <m:t>=</m:t>
                      </m:r>
                      <m:r>
                        <a:rPr lang="en-US" sz="2000" b="0" i="1" smtClean="0">
                          <a:latin typeface="Cambria Math" panose="02040503050406030204" pitchFamily="18" charset="0"/>
                        </a:rPr>
                        <m:t>𝑇𝑟</m:t>
                      </m:r>
                      <m:d>
                        <m:dPr>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𝑂</m:t>
                              </m:r>
                            </m:e>
                          </m:acc>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0" i="1" smtClean="0">
                                  <a:latin typeface="Cambria Math" panose="02040503050406030204" pitchFamily="18" charset="0"/>
                                </a:rPr>
                              </m:ctrlPr>
                            </m:dPr>
                            <m:e>
                              <m:r>
                                <a:rPr lang="en-US" sz="2000" b="1" i="1" smtClean="0">
                                  <a:latin typeface="Cambria Math" panose="02040503050406030204" pitchFamily="18" charset="0"/>
                                </a:rPr>
                                <m:t>𝜽</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𝜌</m:t>
                                  </m:r>
                                </m:e>
                              </m:acc>
                            </m:e>
                            <m:sub>
                              <m:r>
                                <a:rPr lang="en-US" sz="2000" b="0" i="1" smtClean="0">
                                  <a:latin typeface="Cambria Math" panose="02040503050406030204" pitchFamily="18" charset="0"/>
                                </a:rPr>
                                <m:t>0</m:t>
                              </m:r>
                            </m:sub>
                          </m:sSub>
                          <m:sSup>
                            <m:sSupPr>
                              <m:ctrlPr>
                                <a:rPr lang="en-US" sz="2000" b="1" i="1" smtClean="0">
                                  <a:latin typeface="Cambria Math" panose="02040503050406030204" pitchFamily="18" charset="0"/>
                                </a:rPr>
                              </m:ctrlPr>
                            </m:s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rPr>
                            <m:t>(</m:t>
                          </m:r>
                          <m:r>
                            <a:rPr lang="en-US" sz="2000" b="1" i="1" smtClean="0">
                              <a:latin typeface="Cambria Math" panose="02040503050406030204" pitchFamily="18" charset="0"/>
                            </a:rPr>
                            <m:t>𝜽</m:t>
                          </m:r>
                          <m:r>
                            <a:rPr lang="en-US" sz="2000" b="0" i="1" smtClean="0">
                              <a:latin typeface="Cambria Math" panose="02040503050406030204" pitchFamily="18" charset="0"/>
                            </a:rPr>
                            <m:t>)</m:t>
                          </m:r>
                        </m:e>
                      </m:d>
                    </m:oMath>
                  </m:oMathPara>
                </a14:m>
                <a:endParaRPr lang="en-CA" b="1" dirty="0"/>
              </a:p>
            </p:txBody>
          </p:sp>
        </mc:Choice>
        <mc:Fallback xmlns="">
          <p:sp>
            <p:nvSpPr>
              <p:cNvPr id="13" name="TextBox 12">
                <a:extLst>
                  <a:ext uri="{FF2B5EF4-FFF2-40B4-BE49-F238E27FC236}">
                    <a16:creationId xmlns:a16="http://schemas.microsoft.com/office/drawing/2014/main" id="{51B94544-22B4-12E1-5B9C-A63FEC2B0D8F}"/>
                  </a:ext>
                </a:extLst>
              </p:cNvPr>
              <p:cNvSpPr txBox="1">
                <a:spLocks noRot="1" noChangeAspect="1" noMove="1" noResize="1" noEditPoints="1" noAdjustHandles="1" noChangeArrowheads="1" noChangeShapeType="1" noTextEdit="1"/>
              </p:cNvSpPr>
              <p:nvPr/>
            </p:nvSpPr>
            <p:spPr>
              <a:xfrm>
                <a:off x="8727445" y="2618534"/>
                <a:ext cx="3208186" cy="347403"/>
              </a:xfrm>
              <a:prstGeom prst="rect">
                <a:avLst/>
              </a:prstGeom>
              <a:blipFill>
                <a:blip r:embed="rId8"/>
                <a:stretch>
                  <a:fillRect l="-2372" t="-10714" b="-25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E9E195E-D3AE-E62D-1D74-67F47C584D29}"/>
                  </a:ext>
                </a:extLst>
              </p:cNvPr>
              <p:cNvSpPr txBox="1"/>
              <p:nvPr/>
            </p:nvSpPr>
            <p:spPr>
              <a:xfrm>
                <a:off x="568421" y="2367562"/>
                <a:ext cx="51041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𝜌</m:t>
                              </m:r>
                            </m:e>
                          </m:acc>
                        </m:e>
                        <m:sub>
                          <m:r>
                            <a:rPr lang="en-US" sz="2000" b="0" i="1" smtClean="0">
                              <a:latin typeface="Cambria Math" panose="02040503050406030204" pitchFamily="18" charset="0"/>
                            </a:rPr>
                            <m:t>0</m:t>
                          </m:r>
                        </m:sub>
                      </m:sSub>
                    </m:oMath>
                  </m:oMathPara>
                </a14:m>
                <a:endParaRPr lang="en-CA" dirty="0"/>
              </a:p>
            </p:txBody>
          </p:sp>
        </mc:Choice>
        <mc:Fallback xmlns="">
          <p:sp>
            <p:nvSpPr>
              <p:cNvPr id="14" name="TextBox 13">
                <a:extLst>
                  <a:ext uri="{FF2B5EF4-FFF2-40B4-BE49-F238E27FC236}">
                    <a16:creationId xmlns:a16="http://schemas.microsoft.com/office/drawing/2014/main" id="{5E9E195E-D3AE-E62D-1D74-67F47C584D29}"/>
                  </a:ext>
                </a:extLst>
              </p:cNvPr>
              <p:cNvSpPr txBox="1">
                <a:spLocks noRot="1" noChangeAspect="1" noMove="1" noResize="1" noEditPoints="1" noAdjustHandles="1" noChangeArrowheads="1" noChangeShapeType="1" noTextEdit="1"/>
              </p:cNvSpPr>
              <p:nvPr/>
            </p:nvSpPr>
            <p:spPr>
              <a:xfrm>
                <a:off x="568421" y="2367562"/>
                <a:ext cx="510416" cy="400110"/>
              </a:xfrm>
              <a:prstGeom prst="rect">
                <a:avLst/>
              </a:prstGeom>
              <a:blipFill>
                <a:blip r:embed="rId9"/>
                <a:stretch>
                  <a:fillRect t="-6250" b="-6250"/>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2437B3BF-2381-7ED5-4012-BE6DF5D3F0F8}"/>
              </a:ext>
            </a:extLst>
          </p:cNvPr>
          <p:cNvSpPr txBox="1"/>
          <p:nvPr/>
        </p:nvSpPr>
        <p:spPr>
          <a:xfrm>
            <a:off x="148701" y="2119605"/>
            <a:ext cx="1336304" cy="400110"/>
          </a:xfrm>
          <a:prstGeom prst="rect">
            <a:avLst/>
          </a:prstGeom>
          <a:noFill/>
        </p:spPr>
        <p:txBody>
          <a:bodyPr wrap="square">
            <a:spAutoFit/>
          </a:bodyPr>
          <a:lstStyle/>
          <a:p>
            <a:r>
              <a:rPr lang="en-CA" sz="2000" dirty="0"/>
              <a:t>Initial state </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B448624-64AF-4168-273E-D54DF6DBAF04}"/>
                  </a:ext>
                </a:extLst>
              </p:cNvPr>
              <p:cNvSpPr txBox="1"/>
              <p:nvPr/>
            </p:nvSpPr>
            <p:spPr>
              <a:xfrm>
                <a:off x="9607558" y="3958251"/>
                <a:ext cx="1698067" cy="707886"/>
              </a:xfrm>
              <a:prstGeom prst="rect">
                <a:avLst/>
              </a:prstGeom>
              <a:noFill/>
            </p:spPr>
            <p:txBody>
              <a:bodyPr wrap="square">
                <a:spAutoFit/>
              </a:bodyPr>
              <a:lstStyle/>
              <a:p>
                <a:r>
                  <a:rPr lang="en-CA" sz="2000" dirty="0"/>
                  <a:t>Optimize loss function </a:t>
                </a:r>
                <a14:m>
                  <m:oMath xmlns:m="http://schemas.openxmlformats.org/officeDocument/2006/math">
                    <m:r>
                      <a:rPr lang="en-CA" sz="2000" i="1" smtClean="0">
                        <a:latin typeface="Cambria Math" panose="02040503050406030204" pitchFamily="18" charset="0"/>
                        <a:ea typeface="Cambria Math" panose="02040503050406030204" pitchFamily="18" charset="0"/>
                      </a:rPr>
                      <m:t>ℒ</m:t>
                    </m:r>
                    <m:r>
                      <a:rPr lang="en-US" sz="2000" b="0"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𝜽</m:t>
                    </m:r>
                    <m:r>
                      <a:rPr lang="en-US" sz="2000" b="0" i="1" smtClean="0">
                        <a:latin typeface="Cambria Math" panose="02040503050406030204" pitchFamily="18" charset="0"/>
                        <a:ea typeface="Cambria Math" panose="02040503050406030204" pitchFamily="18" charset="0"/>
                      </a:rPr>
                      <m:t>)</m:t>
                    </m:r>
                  </m:oMath>
                </a14:m>
                <a:endParaRPr lang="en-CA" sz="2000" dirty="0"/>
              </a:p>
            </p:txBody>
          </p:sp>
        </mc:Choice>
        <mc:Fallback xmlns="">
          <p:sp>
            <p:nvSpPr>
              <p:cNvPr id="18" name="TextBox 17">
                <a:extLst>
                  <a:ext uri="{FF2B5EF4-FFF2-40B4-BE49-F238E27FC236}">
                    <a16:creationId xmlns:a16="http://schemas.microsoft.com/office/drawing/2014/main" id="{5B448624-64AF-4168-273E-D54DF6DBAF04}"/>
                  </a:ext>
                </a:extLst>
              </p:cNvPr>
              <p:cNvSpPr txBox="1">
                <a:spLocks noRot="1" noChangeAspect="1" noMove="1" noResize="1" noEditPoints="1" noAdjustHandles="1" noChangeArrowheads="1" noChangeShapeType="1" noTextEdit="1"/>
              </p:cNvSpPr>
              <p:nvPr/>
            </p:nvSpPr>
            <p:spPr>
              <a:xfrm>
                <a:off x="9607558" y="3958251"/>
                <a:ext cx="1698067" cy="707886"/>
              </a:xfrm>
              <a:prstGeom prst="rect">
                <a:avLst/>
              </a:prstGeom>
              <a:blipFill>
                <a:blip r:embed="rId10"/>
                <a:stretch>
                  <a:fillRect l="-3704" t="-3509" b="-14035"/>
                </a:stretch>
              </a:blipFill>
            </p:spPr>
            <p:txBody>
              <a:bodyPr/>
              <a:lstStyle/>
              <a:p>
                <a:r>
                  <a:rPr lang="en-CA">
                    <a:noFill/>
                  </a:rPr>
                  <a:t> </a:t>
                </a:r>
              </a:p>
            </p:txBody>
          </p:sp>
        </mc:Fallback>
      </mc:AlternateContent>
      <p:cxnSp>
        <p:nvCxnSpPr>
          <p:cNvPr id="26" name="Elbow Connector 25">
            <a:extLst>
              <a:ext uri="{FF2B5EF4-FFF2-40B4-BE49-F238E27FC236}">
                <a16:creationId xmlns:a16="http://schemas.microsoft.com/office/drawing/2014/main" id="{220C6279-D139-F408-58A0-0A91175ABA4B}"/>
              </a:ext>
            </a:extLst>
          </p:cNvPr>
          <p:cNvCxnSpPr>
            <a:stCxn id="21" idx="2"/>
          </p:cNvCxnSpPr>
          <p:nvPr/>
        </p:nvCxnSpPr>
        <p:spPr>
          <a:xfrm rot="16200000" flipH="1">
            <a:off x="834555" y="2826403"/>
            <a:ext cx="591671" cy="613522"/>
          </a:xfrm>
          <a:prstGeom prst="bent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7" name="Graphic 36" descr="Monitor with solid fill">
            <a:extLst>
              <a:ext uri="{FF2B5EF4-FFF2-40B4-BE49-F238E27FC236}">
                <a16:creationId xmlns:a16="http://schemas.microsoft.com/office/drawing/2014/main" id="{61801242-F117-B41D-42E1-F069AE6707C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36578" y="3452472"/>
            <a:ext cx="2160022" cy="1987153"/>
          </a:xfrm>
          <a:prstGeom prst="rect">
            <a:avLst/>
          </a:prstGeom>
        </p:spPr>
      </p:pic>
      <p:cxnSp>
        <p:nvCxnSpPr>
          <p:cNvPr id="47" name="Straight Arrow Connector 46">
            <a:extLst>
              <a:ext uri="{FF2B5EF4-FFF2-40B4-BE49-F238E27FC236}">
                <a16:creationId xmlns:a16="http://schemas.microsoft.com/office/drawing/2014/main" id="{9734B10B-A165-C9FF-848D-CF1E737764C6}"/>
              </a:ext>
            </a:extLst>
          </p:cNvPr>
          <p:cNvCxnSpPr>
            <a:cxnSpLocks/>
          </p:cNvCxnSpPr>
          <p:nvPr/>
        </p:nvCxnSpPr>
        <p:spPr>
          <a:xfrm>
            <a:off x="7961586" y="2805332"/>
            <a:ext cx="607049"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B76E40F-DCBF-AB68-79D3-1BBD98F17F42}"/>
              </a:ext>
            </a:extLst>
          </p:cNvPr>
          <p:cNvCxnSpPr>
            <a:cxnSpLocks/>
          </p:cNvCxnSpPr>
          <p:nvPr/>
        </p:nvCxnSpPr>
        <p:spPr>
          <a:xfrm>
            <a:off x="10416480" y="3192987"/>
            <a:ext cx="0" cy="44957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4B3F2082-1FF7-6EE7-8A64-644ABF2C8F7E}"/>
              </a:ext>
            </a:extLst>
          </p:cNvPr>
          <p:cNvCxnSpPr>
            <a:cxnSpLocks/>
            <a:stCxn id="37" idx="1"/>
            <a:endCxn id="148" idx="3"/>
          </p:cNvCxnSpPr>
          <p:nvPr/>
        </p:nvCxnSpPr>
        <p:spPr>
          <a:xfrm rot="10800000" flipV="1">
            <a:off x="6115654" y="4446049"/>
            <a:ext cx="3220925" cy="675116"/>
          </a:xfrm>
          <a:prstGeom prst="bentConnector3">
            <a:avLst>
              <a:gd name="adj1" fmla="val 5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F4BEB8A-FA1D-573D-CFD6-8CD01E77E547}"/>
                  </a:ext>
                </a:extLst>
              </p:cNvPr>
              <p:cNvSpPr txBox="1"/>
              <p:nvPr/>
            </p:nvSpPr>
            <p:spPr>
              <a:xfrm>
                <a:off x="7770572" y="4474660"/>
                <a:ext cx="1227044" cy="400110"/>
              </a:xfrm>
              <a:prstGeom prst="rect">
                <a:avLst/>
              </a:prstGeom>
              <a:noFill/>
            </p:spPr>
            <p:txBody>
              <a:bodyPr wrap="square">
                <a:spAutoFit/>
              </a:bodyPr>
              <a:lstStyle/>
              <a:p>
                <a:r>
                  <a:rPr lang="en-CA" sz="2000" dirty="0"/>
                  <a:t>Update </a:t>
                </a:r>
                <a14:m>
                  <m:oMath xmlns:m="http://schemas.openxmlformats.org/officeDocument/2006/math">
                    <m:r>
                      <a:rPr lang="en-US" sz="2000" b="1" i="1" smtClean="0">
                        <a:latin typeface="Cambria Math" panose="02040503050406030204" pitchFamily="18" charset="0"/>
                      </a:rPr>
                      <m:t>𝜽</m:t>
                    </m:r>
                  </m:oMath>
                </a14:m>
                <a:endParaRPr lang="en-CA" sz="2000" b="1" dirty="0"/>
              </a:p>
            </p:txBody>
          </p:sp>
        </mc:Choice>
        <mc:Fallback xmlns="">
          <p:sp>
            <p:nvSpPr>
              <p:cNvPr id="55" name="TextBox 54">
                <a:extLst>
                  <a:ext uri="{FF2B5EF4-FFF2-40B4-BE49-F238E27FC236}">
                    <a16:creationId xmlns:a16="http://schemas.microsoft.com/office/drawing/2014/main" id="{FF4BEB8A-FA1D-573D-CFD6-8CD01E77E547}"/>
                  </a:ext>
                </a:extLst>
              </p:cNvPr>
              <p:cNvSpPr txBox="1">
                <a:spLocks noRot="1" noChangeAspect="1" noMove="1" noResize="1" noEditPoints="1" noAdjustHandles="1" noChangeArrowheads="1" noChangeShapeType="1" noTextEdit="1"/>
              </p:cNvSpPr>
              <p:nvPr/>
            </p:nvSpPr>
            <p:spPr>
              <a:xfrm>
                <a:off x="7770572" y="4474660"/>
                <a:ext cx="1227044" cy="400110"/>
              </a:xfrm>
              <a:prstGeom prst="rect">
                <a:avLst/>
              </a:prstGeom>
              <a:blipFill>
                <a:blip r:embed="rId13"/>
                <a:stretch>
                  <a:fillRect l="-6186" t="-9375" b="-28125"/>
                </a:stretch>
              </a:blipFill>
            </p:spPr>
            <p:txBody>
              <a:bodyPr/>
              <a:lstStyle/>
              <a:p>
                <a:r>
                  <a:rPr lang="en-CA">
                    <a:noFill/>
                  </a:rPr>
                  <a:t> </a:t>
                </a:r>
              </a:p>
            </p:txBody>
          </p:sp>
        </mc:Fallback>
      </mc:AlternateContent>
      <p:pic>
        <p:nvPicPr>
          <p:cNvPr id="59" name="Graphic 58" descr="Repeat with solid fill">
            <a:extLst>
              <a:ext uri="{FF2B5EF4-FFF2-40B4-BE49-F238E27FC236}">
                <a16:creationId xmlns:a16="http://schemas.microsoft.com/office/drawing/2014/main" id="{6468B5C4-7B40-1CBA-E09B-3E48909764B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79846" y="4201858"/>
            <a:ext cx="914400" cy="914400"/>
          </a:xfrm>
          <a:prstGeom prst="rect">
            <a:avLst/>
          </a:prstGeom>
        </p:spPr>
      </p:pic>
      <p:sp>
        <p:nvSpPr>
          <p:cNvPr id="173" name="TextBox 172">
            <a:extLst>
              <a:ext uri="{FF2B5EF4-FFF2-40B4-BE49-F238E27FC236}">
                <a16:creationId xmlns:a16="http://schemas.microsoft.com/office/drawing/2014/main" id="{844A5166-EB1C-6C40-88AF-0AAB976B262A}"/>
              </a:ext>
            </a:extLst>
          </p:cNvPr>
          <p:cNvSpPr txBox="1"/>
          <p:nvPr/>
        </p:nvSpPr>
        <p:spPr>
          <a:xfrm>
            <a:off x="8265110" y="5512401"/>
            <a:ext cx="3977374" cy="523220"/>
          </a:xfrm>
          <a:prstGeom prst="rect">
            <a:avLst/>
          </a:prstGeom>
          <a:noFill/>
        </p:spPr>
        <p:txBody>
          <a:bodyPr wrap="square">
            <a:spAutoFit/>
          </a:bodyPr>
          <a:lstStyle/>
          <a:p>
            <a:r>
              <a:rPr lang="en-US" sz="1400" dirty="0">
                <a:solidFill>
                  <a:schemeClr val="bg1">
                    <a:lumMod val="50000"/>
                  </a:schemeClr>
                </a:solidFill>
              </a:rPr>
              <a:t>M. </a:t>
            </a:r>
            <a:r>
              <a:rPr lang="en-US" sz="1400" dirty="0" err="1">
                <a:solidFill>
                  <a:schemeClr val="bg1">
                    <a:lumMod val="50000"/>
                  </a:schemeClr>
                </a:solidFill>
                <a:effectLst/>
              </a:rPr>
              <a:t>Cerezo</a:t>
            </a:r>
            <a:r>
              <a:rPr lang="en-US" sz="1400" dirty="0">
                <a:solidFill>
                  <a:schemeClr val="bg1">
                    <a:lumMod val="50000"/>
                  </a:schemeClr>
                </a:solidFill>
                <a:effectLst/>
              </a:rPr>
              <a:t> </a:t>
            </a:r>
            <a:r>
              <a:rPr lang="en-US" sz="1400" i="1" dirty="0">
                <a:solidFill>
                  <a:schemeClr val="bg1">
                    <a:lumMod val="50000"/>
                  </a:schemeClr>
                </a:solidFill>
                <a:effectLst/>
              </a:rPr>
              <a:t>et al.</a:t>
            </a:r>
            <a:r>
              <a:rPr lang="en-US" sz="1400" dirty="0">
                <a:solidFill>
                  <a:schemeClr val="bg1">
                    <a:lumMod val="50000"/>
                  </a:schemeClr>
                </a:solidFill>
                <a:effectLst/>
              </a:rPr>
              <a:t> Variational Quantum Algorithms. </a:t>
            </a:r>
            <a:r>
              <a:rPr lang="en-US" sz="1400" i="1" dirty="0">
                <a:solidFill>
                  <a:schemeClr val="bg1">
                    <a:lumMod val="50000"/>
                  </a:schemeClr>
                </a:solidFill>
                <a:effectLst/>
              </a:rPr>
              <a:t>Nat Rev Phys</a:t>
            </a:r>
            <a:r>
              <a:rPr lang="en-US" sz="1400" dirty="0">
                <a:solidFill>
                  <a:schemeClr val="bg1">
                    <a:lumMod val="50000"/>
                  </a:schemeClr>
                </a:solidFill>
                <a:effectLst/>
              </a:rPr>
              <a:t> </a:t>
            </a:r>
            <a:r>
              <a:rPr lang="en-US" sz="1400" b="1" dirty="0">
                <a:solidFill>
                  <a:schemeClr val="bg1">
                    <a:lumMod val="50000"/>
                  </a:schemeClr>
                </a:solidFill>
                <a:effectLst/>
              </a:rPr>
              <a:t>3</a:t>
            </a:r>
            <a:r>
              <a:rPr lang="en-US" sz="1400" dirty="0">
                <a:solidFill>
                  <a:schemeClr val="bg1">
                    <a:lumMod val="50000"/>
                  </a:schemeClr>
                </a:solidFill>
                <a:effectLst/>
              </a:rPr>
              <a:t>, 625–644 (2021).</a:t>
            </a:r>
          </a:p>
        </p:txBody>
      </p:sp>
      <p:sp>
        <p:nvSpPr>
          <p:cNvPr id="148" name="Rectangle 147">
            <a:extLst>
              <a:ext uri="{FF2B5EF4-FFF2-40B4-BE49-F238E27FC236}">
                <a16:creationId xmlns:a16="http://schemas.microsoft.com/office/drawing/2014/main" id="{1D055066-6828-BA54-C1B7-9A1285C90CFB}"/>
              </a:ext>
            </a:extLst>
          </p:cNvPr>
          <p:cNvSpPr/>
          <p:nvPr/>
        </p:nvSpPr>
        <p:spPr>
          <a:xfrm>
            <a:off x="2768061" y="4226434"/>
            <a:ext cx="3347592" cy="1789462"/>
          </a:xfrm>
          <a:prstGeom prst="rect">
            <a:avLst/>
          </a:prstGeom>
          <a:solidFill>
            <a:schemeClr val="tx2">
              <a:lumMod val="60000"/>
              <a:lumOff val="40000"/>
            </a:schemeClr>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000">
              <a:latin typeface="+mj-lt"/>
            </a:endParaRPr>
          </a:p>
        </p:txBody>
      </p:sp>
      <p:grpSp>
        <p:nvGrpSpPr>
          <p:cNvPr id="149" name="Group 148">
            <a:extLst>
              <a:ext uri="{FF2B5EF4-FFF2-40B4-BE49-F238E27FC236}">
                <a16:creationId xmlns:a16="http://schemas.microsoft.com/office/drawing/2014/main" id="{B1F9D620-80AC-F598-D419-5580FA8A5D3A}"/>
              </a:ext>
            </a:extLst>
          </p:cNvPr>
          <p:cNvGrpSpPr/>
          <p:nvPr/>
        </p:nvGrpSpPr>
        <p:grpSpPr>
          <a:xfrm>
            <a:off x="2906428" y="4273279"/>
            <a:ext cx="2948489" cy="1641730"/>
            <a:chOff x="16560955" y="9294743"/>
            <a:chExt cx="3430115" cy="2340322"/>
          </a:xfrm>
        </p:grpSpPr>
        <p:cxnSp>
          <p:nvCxnSpPr>
            <p:cNvPr id="150" name="Straight Connector 149">
              <a:extLst>
                <a:ext uri="{FF2B5EF4-FFF2-40B4-BE49-F238E27FC236}">
                  <a16:creationId xmlns:a16="http://schemas.microsoft.com/office/drawing/2014/main" id="{DEDF5EDB-CAE6-4A59-4287-6AB20F4018C7}"/>
                </a:ext>
              </a:extLst>
            </p:cNvPr>
            <p:cNvCxnSpPr>
              <a:cxnSpLocks/>
            </p:cNvCxnSpPr>
            <p:nvPr/>
          </p:nvCxnSpPr>
          <p:spPr>
            <a:xfrm>
              <a:off x="17310065" y="9627891"/>
              <a:ext cx="268100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B9838CA8-FCD5-AAC2-F258-68BB756877E3}"/>
                </a:ext>
              </a:extLst>
            </p:cNvPr>
            <p:cNvCxnSpPr>
              <a:cxnSpLocks/>
            </p:cNvCxnSpPr>
            <p:nvPr/>
          </p:nvCxnSpPr>
          <p:spPr>
            <a:xfrm>
              <a:off x="17286235" y="10385561"/>
              <a:ext cx="267919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3" name="Straight Connector 152">
              <a:extLst>
                <a:ext uri="{FF2B5EF4-FFF2-40B4-BE49-F238E27FC236}">
                  <a16:creationId xmlns:a16="http://schemas.microsoft.com/office/drawing/2014/main" id="{DEB323ED-2E92-3EC7-5BE7-8BFC39BE7D0B}"/>
                </a:ext>
              </a:extLst>
            </p:cNvPr>
            <p:cNvCxnSpPr>
              <a:cxnSpLocks/>
            </p:cNvCxnSpPr>
            <p:nvPr/>
          </p:nvCxnSpPr>
          <p:spPr>
            <a:xfrm>
              <a:off x="17310066" y="11281698"/>
              <a:ext cx="2674677" cy="0"/>
            </a:xfrm>
            <a:prstGeom prst="line">
              <a:avLst/>
            </a:prstGeom>
            <a:ln w="19050"/>
          </p:spPr>
          <p:style>
            <a:lnRef idx="1">
              <a:schemeClr val="dk1"/>
            </a:lnRef>
            <a:fillRef idx="0">
              <a:schemeClr val="dk1"/>
            </a:fillRef>
            <a:effectRef idx="0">
              <a:schemeClr val="dk1"/>
            </a:effectRef>
            <a:fontRef idx="minor">
              <a:schemeClr val="tx1"/>
            </a:fontRef>
          </p:style>
        </p:cxnSp>
        <p:sp>
          <p:nvSpPr>
            <p:cNvPr id="154" name="Rounded Rectangle 153">
              <a:extLst>
                <a:ext uri="{FF2B5EF4-FFF2-40B4-BE49-F238E27FC236}">
                  <a16:creationId xmlns:a16="http://schemas.microsoft.com/office/drawing/2014/main" id="{DF4DF9CF-4E92-D1E6-DA8C-C9B618CB2A33}"/>
                </a:ext>
              </a:extLst>
            </p:cNvPr>
            <p:cNvSpPr/>
            <p:nvPr/>
          </p:nvSpPr>
          <p:spPr>
            <a:xfrm>
              <a:off x="19080036" y="9355729"/>
              <a:ext cx="731319" cy="22793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p:sp>
          <p:nvSpPr>
            <p:cNvPr id="155" name="Rounded Rectangle 154">
              <a:extLst>
                <a:ext uri="{FF2B5EF4-FFF2-40B4-BE49-F238E27FC236}">
                  <a16:creationId xmlns:a16="http://schemas.microsoft.com/office/drawing/2014/main" id="{8C2EF731-A24C-16B7-D98B-B0B04D1CBA1E}"/>
                </a:ext>
              </a:extLst>
            </p:cNvPr>
            <p:cNvSpPr/>
            <p:nvPr/>
          </p:nvSpPr>
          <p:spPr>
            <a:xfrm>
              <a:off x="17504910" y="10992671"/>
              <a:ext cx="1268568" cy="6300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p:sp>
          <p:nvSpPr>
            <p:cNvPr id="156" name="Rounded Rectangle 155">
              <a:extLst>
                <a:ext uri="{FF2B5EF4-FFF2-40B4-BE49-F238E27FC236}">
                  <a16:creationId xmlns:a16="http://schemas.microsoft.com/office/drawing/2014/main" id="{6D2A162F-8F1A-06C4-BD59-77312323194B}"/>
                </a:ext>
              </a:extLst>
            </p:cNvPr>
            <p:cNvSpPr/>
            <p:nvPr/>
          </p:nvSpPr>
          <p:spPr>
            <a:xfrm>
              <a:off x="17488216" y="9320690"/>
              <a:ext cx="1273682" cy="6300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p:sp>
          <p:nvSpPr>
            <p:cNvPr id="157" name="Rounded Rectangle 156">
              <a:extLst>
                <a:ext uri="{FF2B5EF4-FFF2-40B4-BE49-F238E27FC236}">
                  <a16:creationId xmlns:a16="http://schemas.microsoft.com/office/drawing/2014/main" id="{586A99AB-9B5E-D30F-80A7-6C8EA2BEE8F6}"/>
                </a:ext>
              </a:extLst>
            </p:cNvPr>
            <p:cNvSpPr/>
            <p:nvPr/>
          </p:nvSpPr>
          <p:spPr>
            <a:xfrm>
              <a:off x="17500787" y="10085403"/>
              <a:ext cx="1272691" cy="62401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88669576-82D5-702F-9488-D6A63704EB9E}"/>
                    </a:ext>
                  </a:extLst>
                </p:cNvPr>
                <p:cNvSpPr txBox="1"/>
                <p:nvPr/>
              </p:nvSpPr>
              <p:spPr>
                <a:xfrm>
                  <a:off x="19043087" y="10226316"/>
                  <a:ext cx="731319" cy="5822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𝑒𝑛𝑡</m:t>
                            </m:r>
                          </m:sub>
                        </m:sSub>
                      </m:oMath>
                    </m:oMathPara>
                  </a14:m>
                  <a:endParaRPr lang="en-CA" sz="2000" dirty="0">
                    <a:latin typeface="+mj-lt"/>
                  </a:endParaRPr>
                </a:p>
              </p:txBody>
            </p:sp>
          </mc:Choice>
          <mc:Fallback xmlns="">
            <p:sp>
              <p:nvSpPr>
                <p:cNvPr id="158" name="TextBox 157">
                  <a:extLst>
                    <a:ext uri="{FF2B5EF4-FFF2-40B4-BE49-F238E27FC236}">
                      <a16:creationId xmlns:a16="http://schemas.microsoft.com/office/drawing/2014/main" id="{88669576-82D5-702F-9488-D6A63704EB9E}"/>
                    </a:ext>
                  </a:extLst>
                </p:cNvPr>
                <p:cNvSpPr txBox="1">
                  <a:spLocks noRot="1" noChangeAspect="1" noMove="1" noResize="1" noEditPoints="1" noAdjustHandles="1" noChangeArrowheads="1" noChangeShapeType="1" noTextEdit="1"/>
                </p:cNvSpPr>
                <p:nvPr/>
              </p:nvSpPr>
              <p:spPr>
                <a:xfrm>
                  <a:off x="19043087" y="10226316"/>
                  <a:ext cx="731319" cy="582247"/>
                </a:xfrm>
                <a:prstGeom prst="rect">
                  <a:avLst/>
                </a:prstGeom>
                <a:blipFill>
                  <a:blip r:embed="rId1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CA1D5C0C-AEC0-DBF0-2A52-E8EBD7F6D125}"/>
                    </a:ext>
                  </a:extLst>
                </p:cNvPr>
                <p:cNvSpPr txBox="1"/>
                <p:nvPr/>
              </p:nvSpPr>
              <p:spPr>
                <a:xfrm>
                  <a:off x="17438355" y="9294743"/>
                  <a:ext cx="1299491" cy="6300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𝜃</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1</m:t>
                            </m:r>
                          </m:sup>
                        </m:sSubSup>
                        <m:r>
                          <a:rPr lang="en-US" sz="2000" b="0" i="1" smtClean="0">
                            <a:latin typeface="Cambria Math" panose="02040503050406030204" pitchFamily="18" charset="0"/>
                          </a:rPr>
                          <m:t>)</m:t>
                        </m:r>
                      </m:oMath>
                    </m:oMathPara>
                  </a14:m>
                  <a:endParaRPr lang="en-CA" sz="2000" dirty="0">
                    <a:latin typeface="+mj-lt"/>
                  </a:endParaRPr>
                </a:p>
              </p:txBody>
            </p:sp>
          </mc:Choice>
          <mc:Fallback xmlns="">
            <p:sp>
              <p:nvSpPr>
                <p:cNvPr id="159" name="TextBox 158">
                  <a:extLst>
                    <a:ext uri="{FF2B5EF4-FFF2-40B4-BE49-F238E27FC236}">
                      <a16:creationId xmlns:a16="http://schemas.microsoft.com/office/drawing/2014/main" id="{CA1D5C0C-AEC0-DBF0-2A52-E8EBD7F6D125}"/>
                    </a:ext>
                  </a:extLst>
                </p:cNvPr>
                <p:cNvSpPr txBox="1">
                  <a:spLocks noRot="1" noChangeAspect="1" noMove="1" noResize="1" noEditPoints="1" noAdjustHandles="1" noChangeArrowheads="1" noChangeShapeType="1" noTextEdit="1"/>
                </p:cNvSpPr>
                <p:nvPr/>
              </p:nvSpPr>
              <p:spPr>
                <a:xfrm>
                  <a:off x="17438355" y="9294743"/>
                  <a:ext cx="1299491" cy="630052"/>
                </a:xfrm>
                <a:prstGeom prst="rect">
                  <a:avLst/>
                </a:prstGeom>
                <a:blipFill>
                  <a:blip r:embed="rId17"/>
                  <a:stretch>
                    <a:fillRect b="-555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EC258243-B81F-9F93-97CA-62D49FE3A9B5}"/>
                    </a:ext>
                  </a:extLst>
                </p:cNvPr>
                <p:cNvSpPr txBox="1"/>
                <p:nvPr/>
              </p:nvSpPr>
              <p:spPr>
                <a:xfrm>
                  <a:off x="17473986" y="10049986"/>
                  <a:ext cx="1299492" cy="6300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2</m:t>
                                </m:r>
                              </m:sub>
                            </m:sSub>
                          </m:sub>
                        </m:sSub>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𝜃</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1</m:t>
                            </m:r>
                          </m:sup>
                        </m:sSubSup>
                        <m:r>
                          <a:rPr lang="en-US" sz="2000" i="1">
                            <a:latin typeface="Cambria Math" panose="02040503050406030204" pitchFamily="18" charset="0"/>
                          </a:rPr>
                          <m:t>)</m:t>
                        </m:r>
                      </m:oMath>
                    </m:oMathPara>
                  </a14:m>
                  <a:endParaRPr lang="en-CA" sz="2000" dirty="0">
                    <a:latin typeface="+mj-lt"/>
                  </a:endParaRPr>
                </a:p>
              </p:txBody>
            </p:sp>
          </mc:Choice>
          <mc:Fallback xmlns="">
            <p:sp>
              <p:nvSpPr>
                <p:cNvPr id="160" name="TextBox 159">
                  <a:extLst>
                    <a:ext uri="{FF2B5EF4-FFF2-40B4-BE49-F238E27FC236}">
                      <a16:creationId xmlns:a16="http://schemas.microsoft.com/office/drawing/2014/main" id="{EC258243-B81F-9F93-97CA-62D49FE3A9B5}"/>
                    </a:ext>
                  </a:extLst>
                </p:cNvPr>
                <p:cNvSpPr txBox="1">
                  <a:spLocks noRot="1" noChangeAspect="1" noMove="1" noResize="1" noEditPoints="1" noAdjustHandles="1" noChangeArrowheads="1" noChangeShapeType="1" noTextEdit="1"/>
                </p:cNvSpPr>
                <p:nvPr/>
              </p:nvSpPr>
              <p:spPr>
                <a:xfrm>
                  <a:off x="17473986" y="10049986"/>
                  <a:ext cx="1299492" cy="630052"/>
                </a:xfrm>
                <a:prstGeom prst="rect">
                  <a:avLst/>
                </a:prstGeom>
                <a:blipFill>
                  <a:blip r:embed="rId18"/>
                  <a:stretch>
                    <a:fillRect t="-2857" b="-857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972801C5-232A-B39A-F550-CDDA74093B4A}"/>
                    </a:ext>
                  </a:extLst>
                </p:cNvPr>
                <p:cNvSpPr txBox="1"/>
                <p:nvPr/>
              </p:nvSpPr>
              <p:spPr>
                <a:xfrm>
                  <a:off x="17471698" y="10965864"/>
                  <a:ext cx="877872" cy="6300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𝑁</m:t>
                                </m:r>
                              </m:sub>
                            </m:sSub>
                          </m:sub>
                        </m:sSub>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𝜃</m:t>
                            </m:r>
                          </m:e>
                          <m:sub>
                            <m:r>
                              <a:rPr lang="en-US" sz="2000" b="0" i="1" smtClean="0">
                                <a:latin typeface="Cambria Math" panose="02040503050406030204" pitchFamily="18" charset="0"/>
                              </a:rPr>
                              <m:t>𝑁</m:t>
                            </m:r>
                          </m:sub>
                          <m:sup>
                            <m:r>
                              <a:rPr lang="en-US" sz="2000" b="0" i="1" smtClean="0">
                                <a:latin typeface="Cambria Math" panose="02040503050406030204" pitchFamily="18" charset="0"/>
                              </a:rPr>
                              <m:t>1</m:t>
                            </m:r>
                          </m:sup>
                        </m:sSubSup>
                        <m:r>
                          <a:rPr lang="en-US" sz="2000" i="1">
                            <a:latin typeface="Cambria Math" panose="02040503050406030204" pitchFamily="18" charset="0"/>
                          </a:rPr>
                          <m:t>)</m:t>
                        </m:r>
                      </m:oMath>
                    </m:oMathPara>
                  </a14:m>
                  <a:endParaRPr lang="en-CA" sz="2000" dirty="0">
                    <a:latin typeface="+mj-lt"/>
                  </a:endParaRPr>
                </a:p>
              </p:txBody>
            </p:sp>
          </mc:Choice>
          <mc:Fallback xmlns="">
            <p:sp>
              <p:nvSpPr>
                <p:cNvPr id="161" name="TextBox 160">
                  <a:extLst>
                    <a:ext uri="{FF2B5EF4-FFF2-40B4-BE49-F238E27FC236}">
                      <a16:creationId xmlns:a16="http://schemas.microsoft.com/office/drawing/2014/main" id="{972801C5-232A-B39A-F550-CDDA74093B4A}"/>
                    </a:ext>
                  </a:extLst>
                </p:cNvPr>
                <p:cNvSpPr txBox="1">
                  <a:spLocks noRot="1" noChangeAspect="1" noMove="1" noResize="1" noEditPoints="1" noAdjustHandles="1" noChangeArrowheads="1" noChangeShapeType="1" noTextEdit="1"/>
                </p:cNvSpPr>
                <p:nvPr/>
              </p:nvSpPr>
              <p:spPr>
                <a:xfrm>
                  <a:off x="17471698" y="10965864"/>
                  <a:ext cx="877872" cy="630052"/>
                </a:xfrm>
                <a:prstGeom prst="rect">
                  <a:avLst/>
                </a:prstGeom>
                <a:blipFill>
                  <a:blip r:embed="rId19"/>
                  <a:stretch>
                    <a:fillRect r="-50000" b="-555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32C12DE0-336A-A69D-A39F-724623E4DEAB}"/>
                    </a:ext>
                  </a:extLst>
                </p:cNvPr>
                <p:cNvSpPr txBox="1"/>
                <p:nvPr/>
              </p:nvSpPr>
              <p:spPr>
                <a:xfrm>
                  <a:off x="16575216" y="9417996"/>
                  <a:ext cx="594861" cy="438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d>
                          </m:e>
                          <m:sub>
                            <m:r>
                              <a:rPr lang="en-US" sz="2000" b="0" i="1" smtClean="0">
                                <a:latin typeface="Cambria Math" panose="02040503050406030204" pitchFamily="18" charset="0"/>
                              </a:rPr>
                              <m:t>1</m:t>
                            </m:r>
                          </m:sub>
                        </m:sSub>
                      </m:oMath>
                    </m:oMathPara>
                  </a14:m>
                  <a:endParaRPr lang="en-CA" sz="2000" dirty="0">
                    <a:latin typeface="+mj-lt"/>
                  </a:endParaRPr>
                </a:p>
              </p:txBody>
            </p:sp>
          </mc:Choice>
          <mc:Fallback xmlns="">
            <p:sp>
              <p:nvSpPr>
                <p:cNvPr id="162" name="TextBox 161">
                  <a:extLst>
                    <a:ext uri="{FF2B5EF4-FFF2-40B4-BE49-F238E27FC236}">
                      <a16:creationId xmlns:a16="http://schemas.microsoft.com/office/drawing/2014/main" id="{32C12DE0-336A-A69D-A39F-724623E4DEAB}"/>
                    </a:ext>
                  </a:extLst>
                </p:cNvPr>
                <p:cNvSpPr txBox="1">
                  <a:spLocks noRot="1" noChangeAspect="1" noMove="1" noResize="1" noEditPoints="1" noAdjustHandles="1" noChangeArrowheads="1" noChangeShapeType="1" noTextEdit="1"/>
                </p:cNvSpPr>
                <p:nvPr/>
              </p:nvSpPr>
              <p:spPr>
                <a:xfrm>
                  <a:off x="16575216" y="9417996"/>
                  <a:ext cx="594861" cy="438743"/>
                </a:xfrm>
                <a:prstGeom prst="rect">
                  <a:avLst/>
                </a:prstGeom>
                <a:blipFill>
                  <a:blip r:embed="rId20"/>
                  <a:stretch>
                    <a:fillRect l="-2381" r="-4762" b="-32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4F7CD771-ED7C-674A-50E3-E28347277134}"/>
                    </a:ext>
                  </a:extLst>
                </p:cNvPr>
                <p:cNvSpPr txBox="1"/>
                <p:nvPr/>
              </p:nvSpPr>
              <p:spPr>
                <a:xfrm>
                  <a:off x="16560955" y="10163610"/>
                  <a:ext cx="631016" cy="438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d>
                          </m:e>
                          <m:sub>
                            <m:r>
                              <a:rPr lang="en-US" sz="2000" b="0" i="1" smtClean="0">
                                <a:latin typeface="Cambria Math" panose="02040503050406030204" pitchFamily="18" charset="0"/>
                              </a:rPr>
                              <m:t>2</m:t>
                            </m:r>
                          </m:sub>
                        </m:sSub>
                      </m:oMath>
                    </m:oMathPara>
                  </a14:m>
                  <a:endParaRPr lang="en-CA" sz="2000" dirty="0">
                    <a:latin typeface="+mj-lt"/>
                  </a:endParaRPr>
                </a:p>
              </p:txBody>
            </p:sp>
          </mc:Choice>
          <mc:Fallback xmlns="">
            <p:sp>
              <p:nvSpPr>
                <p:cNvPr id="163" name="TextBox 162">
                  <a:extLst>
                    <a:ext uri="{FF2B5EF4-FFF2-40B4-BE49-F238E27FC236}">
                      <a16:creationId xmlns:a16="http://schemas.microsoft.com/office/drawing/2014/main" id="{4F7CD771-ED7C-674A-50E3-E28347277134}"/>
                    </a:ext>
                  </a:extLst>
                </p:cNvPr>
                <p:cNvSpPr txBox="1">
                  <a:spLocks noRot="1" noChangeAspect="1" noMove="1" noResize="1" noEditPoints="1" noAdjustHandles="1" noChangeArrowheads="1" noChangeShapeType="1" noTextEdit="1"/>
                </p:cNvSpPr>
                <p:nvPr/>
              </p:nvSpPr>
              <p:spPr>
                <a:xfrm>
                  <a:off x="16560955" y="10163610"/>
                  <a:ext cx="631016" cy="438743"/>
                </a:xfrm>
                <a:prstGeom prst="rect">
                  <a:avLst/>
                </a:prstGeom>
                <a:blipFill>
                  <a:blip r:embed="rId21"/>
                  <a:stretch>
                    <a:fillRect r="-2273" b="-32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76D45A20-E55F-FAFA-C8E8-E44E6808B4DF}"/>
                    </a:ext>
                  </a:extLst>
                </p:cNvPr>
                <p:cNvSpPr txBox="1"/>
                <p:nvPr/>
              </p:nvSpPr>
              <p:spPr>
                <a:xfrm rot="5400000">
                  <a:off x="16720524" y="10482955"/>
                  <a:ext cx="285810" cy="4654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0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164" name="TextBox 163">
                  <a:extLst>
                    <a:ext uri="{FF2B5EF4-FFF2-40B4-BE49-F238E27FC236}">
                      <a16:creationId xmlns:a16="http://schemas.microsoft.com/office/drawing/2014/main" id="{76D45A20-E55F-FAFA-C8E8-E44E6808B4DF}"/>
                    </a:ext>
                  </a:extLst>
                </p:cNvPr>
                <p:cNvSpPr txBox="1">
                  <a:spLocks noRot="1" noChangeAspect="1" noMove="1" noResize="1" noEditPoints="1" noAdjustHandles="1" noChangeArrowheads="1" noChangeShapeType="1" noTextEdit="1"/>
                </p:cNvSpPr>
                <p:nvPr/>
              </p:nvSpPr>
              <p:spPr>
                <a:xfrm rot="5400000">
                  <a:off x="16720524" y="10482955"/>
                  <a:ext cx="285810" cy="465467"/>
                </a:xfrm>
                <a:prstGeom prst="rect">
                  <a:avLst/>
                </a:prstGeom>
                <a:blipFill>
                  <a:blip r:embed="rId22"/>
                  <a:stretch>
                    <a:fillRect b="-8125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7F4BDA8B-18F5-0DE6-72AD-B179A308CC89}"/>
                    </a:ext>
                  </a:extLst>
                </p:cNvPr>
                <p:cNvSpPr txBox="1"/>
                <p:nvPr/>
              </p:nvSpPr>
              <p:spPr>
                <a:xfrm>
                  <a:off x="16578547" y="11081643"/>
                  <a:ext cx="631016" cy="438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d>
                          </m:e>
                          <m:sub>
                            <m:r>
                              <a:rPr lang="en-US" sz="2000" b="0" i="1" smtClean="0">
                                <a:latin typeface="Cambria Math" panose="02040503050406030204" pitchFamily="18" charset="0"/>
                              </a:rPr>
                              <m:t>𝑁</m:t>
                            </m:r>
                          </m:sub>
                        </m:sSub>
                      </m:oMath>
                    </m:oMathPara>
                  </a14:m>
                  <a:endParaRPr lang="en-CA" sz="2000" dirty="0">
                    <a:latin typeface="+mj-lt"/>
                  </a:endParaRPr>
                </a:p>
              </p:txBody>
            </p:sp>
          </mc:Choice>
          <mc:Fallback xmlns="">
            <p:sp>
              <p:nvSpPr>
                <p:cNvPr id="165" name="TextBox 164">
                  <a:extLst>
                    <a:ext uri="{FF2B5EF4-FFF2-40B4-BE49-F238E27FC236}">
                      <a16:creationId xmlns:a16="http://schemas.microsoft.com/office/drawing/2014/main" id="{7F4BDA8B-18F5-0DE6-72AD-B179A308CC89}"/>
                    </a:ext>
                  </a:extLst>
                </p:cNvPr>
                <p:cNvSpPr txBox="1">
                  <a:spLocks noRot="1" noChangeAspect="1" noMove="1" noResize="1" noEditPoints="1" noAdjustHandles="1" noChangeArrowheads="1" noChangeShapeType="1" noTextEdit="1"/>
                </p:cNvSpPr>
                <p:nvPr/>
              </p:nvSpPr>
              <p:spPr>
                <a:xfrm>
                  <a:off x="16578547" y="11081643"/>
                  <a:ext cx="631016" cy="438743"/>
                </a:xfrm>
                <a:prstGeom prst="rect">
                  <a:avLst/>
                </a:prstGeom>
                <a:blipFill>
                  <a:blip r:embed="rId23"/>
                  <a:stretch>
                    <a:fillRect l="-2273" r="-6818" b="-32000"/>
                  </a:stretch>
                </a:blipFill>
              </p:spPr>
              <p:txBody>
                <a:bodyPr/>
                <a:lstStyle/>
                <a:p>
                  <a:r>
                    <a:rPr lang="en-CA">
                      <a:noFill/>
                    </a:rPr>
                    <a:t> </a:t>
                  </a:r>
                </a:p>
              </p:txBody>
            </p:sp>
          </mc:Fallback>
        </mc:AlternateContent>
      </p:grpSp>
      <p:sp>
        <p:nvSpPr>
          <p:cNvPr id="169" name="Freeform 168">
            <a:extLst>
              <a:ext uri="{FF2B5EF4-FFF2-40B4-BE49-F238E27FC236}">
                <a16:creationId xmlns:a16="http://schemas.microsoft.com/office/drawing/2014/main" id="{5BAB2454-CC8E-4843-9A02-F2FEC6CD36C4}"/>
              </a:ext>
            </a:extLst>
          </p:cNvPr>
          <p:cNvSpPr/>
          <p:nvPr/>
        </p:nvSpPr>
        <p:spPr>
          <a:xfrm>
            <a:off x="2767619" y="3949747"/>
            <a:ext cx="3320445" cy="291001"/>
          </a:xfrm>
          <a:custGeom>
            <a:avLst/>
            <a:gdLst>
              <a:gd name="connsiteX0" fmla="*/ 0 w 4027213"/>
              <a:gd name="connsiteY0" fmla="*/ 402469 h 467775"/>
              <a:gd name="connsiteX1" fmla="*/ 1743456 w 4027213"/>
              <a:gd name="connsiteY1" fmla="*/ 133 h 467775"/>
              <a:gd name="connsiteX2" fmla="*/ 3877056 w 4027213"/>
              <a:gd name="connsiteY2" fmla="*/ 439045 h 467775"/>
              <a:gd name="connsiteX3" fmla="*/ 3852672 w 4027213"/>
              <a:gd name="connsiteY3" fmla="*/ 426853 h 467775"/>
              <a:gd name="connsiteX0" fmla="*/ 0 w 4027213"/>
              <a:gd name="connsiteY0" fmla="*/ 392558 h 457864"/>
              <a:gd name="connsiteX1" fmla="*/ 2045213 w 4027213"/>
              <a:gd name="connsiteY1" fmla="*/ 140 h 457864"/>
              <a:gd name="connsiteX2" fmla="*/ 3877056 w 4027213"/>
              <a:gd name="connsiteY2" fmla="*/ 429134 h 457864"/>
              <a:gd name="connsiteX3" fmla="*/ 3852672 w 4027213"/>
              <a:gd name="connsiteY3" fmla="*/ 416942 h 457864"/>
              <a:gd name="connsiteX0" fmla="*/ 0 w 4027213"/>
              <a:gd name="connsiteY0" fmla="*/ 402470 h 467776"/>
              <a:gd name="connsiteX1" fmla="*/ 1881762 w 4027213"/>
              <a:gd name="connsiteY1" fmla="*/ 133 h 467776"/>
              <a:gd name="connsiteX2" fmla="*/ 3877056 w 4027213"/>
              <a:gd name="connsiteY2" fmla="*/ 439046 h 467776"/>
              <a:gd name="connsiteX3" fmla="*/ 3852672 w 4027213"/>
              <a:gd name="connsiteY3" fmla="*/ 426854 h 467776"/>
              <a:gd name="connsiteX0" fmla="*/ 0 w 4055830"/>
              <a:gd name="connsiteY0" fmla="*/ 402470 h 467776"/>
              <a:gd name="connsiteX1" fmla="*/ 1881762 w 4055830"/>
              <a:gd name="connsiteY1" fmla="*/ 133 h 467776"/>
              <a:gd name="connsiteX2" fmla="*/ 3877056 w 4055830"/>
              <a:gd name="connsiteY2" fmla="*/ 439046 h 467776"/>
              <a:gd name="connsiteX3" fmla="*/ 3953258 w 4055830"/>
              <a:gd name="connsiteY3" fmla="*/ 426854 h 467776"/>
              <a:gd name="connsiteX0" fmla="*/ 0 w 3953258"/>
              <a:gd name="connsiteY0" fmla="*/ 402366 h 426750"/>
              <a:gd name="connsiteX1" fmla="*/ 1881762 w 3953258"/>
              <a:gd name="connsiteY1" fmla="*/ 29 h 426750"/>
              <a:gd name="connsiteX2" fmla="*/ 3914775 w 3953258"/>
              <a:gd name="connsiteY2" fmla="*/ 419105 h 426750"/>
              <a:gd name="connsiteX3" fmla="*/ 3953258 w 3953258"/>
              <a:gd name="connsiteY3" fmla="*/ 426750 h 426750"/>
            </a:gdLst>
            <a:ahLst/>
            <a:cxnLst>
              <a:cxn ang="0">
                <a:pos x="connsiteX0" y="connsiteY0"/>
              </a:cxn>
              <a:cxn ang="0">
                <a:pos x="connsiteX1" y="connsiteY1"/>
              </a:cxn>
              <a:cxn ang="0">
                <a:pos x="connsiteX2" y="connsiteY2"/>
              </a:cxn>
              <a:cxn ang="0">
                <a:pos x="connsiteX3" y="connsiteY3"/>
              </a:cxn>
            </a:cxnLst>
            <a:rect l="l" t="t" r="r" b="b"/>
            <a:pathLst>
              <a:path w="3953258" h="426750">
                <a:moveTo>
                  <a:pt x="0" y="402366"/>
                </a:moveTo>
                <a:cubicBezTo>
                  <a:pt x="548640" y="198150"/>
                  <a:pt x="1229300" y="-2761"/>
                  <a:pt x="1881762" y="29"/>
                </a:cubicBezTo>
                <a:cubicBezTo>
                  <a:pt x="2534225" y="2819"/>
                  <a:pt x="3914775" y="419105"/>
                  <a:pt x="3914775" y="419105"/>
                </a:cubicBezTo>
                <a:lnTo>
                  <a:pt x="3953258" y="426750"/>
                </a:lnTo>
              </a:path>
            </a:pathLst>
          </a:custGeom>
          <a:noFill/>
          <a:ln w="2857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mj-lt"/>
            </a:endParaRPr>
          </a:p>
        </p:txBody>
      </p:sp>
      <p:grpSp>
        <p:nvGrpSpPr>
          <p:cNvPr id="5" name="Group 4">
            <a:extLst>
              <a:ext uri="{FF2B5EF4-FFF2-40B4-BE49-F238E27FC236}">
                <a16:creationId xmlns:a16="http://schemas.microsoft.com/office/drawing/2014/main" id="{B7F9C486-B7DB-D6AC-A91D-828026869A34}"/>
              </a:ext>
            </a:extLst>
          </p:cNvPr>
          <p:cNvGrpSpPr/>
          <p:nvPr/>
        </p:nvGrpSpPr>
        <p:grpSpPr>
          <a:xfrm>
            <a:off x="1550188" y="1787839"/>
            <a:ext cx="6221110" cy="2221746"/>
            <a:chOff x="15357326" y="11378312"/>
            <a:chExt cx="6817583" cy="2308708"/>
          </a:xfrm>
        </p:grpSpPr>
        <p:pic>
          <p:nvPicPr>
            <p:cNvPr id="6" name="Picture 2">
              <a:extLst>
                <a:ext uri="{FF2B5EF4-FFF2-40B4-BE49-F238E27FC236}">
                  <a16:creationId xmlns:a16="http://schemas.microsoft.com/office/drawing/2014/main" id="{09679D8D-B093-DA27-484D-5BD543B46896}"/>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57236" t="52584" r="31145" b="30875"/>
            <a:stretch/>
          </p:blipFill>
          <p:spPr bwMode="auto">
            <a:xfrm>
              <a:off x="21700989" y="13288106"/>
              <a:ext cx="467915" cy="36766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FD4DB4D6-5551-54E6-D666-AF786F128EF0}"/>
                </a:ext>
              </a:extLst>
            </p:cNvPr>
            <p:cNvCxnSpPr>
              <a:cxnSpLocks/>
            </p:cNvCxnSpPr>
            <p:nvPr/>
          </p:nvCxnSpPr>
          <p:spPr>
            <a:xfrm>
              <a:off x="15473103" y="11580838"/>
              <a:ext cx="18288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9DC59E6-29E2-1FFC-D9D2-6E15E22E9001}"/>
                </a:ext>
              </a:extLst>
            </p:cNvPr>
            <p:cNvCxnSpPr>
              <a:cxnSpLocks/>
            </p:cNvCxnSpPr>
            <p:nvPr/>
          </p:nvCxnSpPr>
          <p:spPr>
            <a:xfrm>
              <a:off x="15474025" y="12171986"/>
              <a:ext cx="18288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68ABB3A6-09CA-CC2B-EA8C-C01F601A4007}"/>
                </a:ext>
              </a:extLst>
            </p:cNvPr>
            <p:cNvCxnSpPr>
              <a:cxnSpLocks/>
            </p:cNvCxnSpPr>
            <p:nvPr/>
          </p:nvCxnSpPr>
          <p:spPr>
            <a:xfrm>
              <a:off x="15468352" y="13496892"/>
              <a:ext cx="18288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A90DD62C-266C-95D3-D283-016E1F9345CC}"/>
                </a:ext>
              </a:extLst>
            </p:cNvPr>
            <p:cNvCxnSpPr>
              <a:cxnSpLocks/>
            </p:cNvCxnSpPr>
            <p:nvPr/>
          </p:nvCxnSpPr>
          <p:spPr>
            <a:xfrm>
              <a:off x="15472867" y="13000940"/>
              <a:ext cx="1828800" cy="0"/>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E4AB244-61F9-6936-5691-1565F4368AC1}"/>
                    </a:ext>
                  </a:extLst>
                </p:cNvPr>
                <p:cNvSpPr txBox="1"/>
                <p:nvPr/>
              </p:nvSpPr>
              <p:spPr>
                <a:xfrm rot="5400000">
                  <a:off x="17087956" y="12255662"/>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0" name="TextBox 2929">
                  <a:extLst>
                    <a:ext uri="{FF2B5EF4-FFF2-40B4-BE49-F238E27FC236}">
                      <a16:creationId xmlns:a16="http://schemas.microsoft.com/office/drawing/2014/main" id="{A6FF17D9-AE64-2749-7DED-6F56CA19D29A}"/>
                    </a:ext>
                  </a:extLst>
                </p:cNvPr>
                <p:cNvSpPr txBox="1">
                  <a:spLocks noRot="1" noChangeAspect="1" noMove="1" noResize="1" noEditPoints="1" noAdjustHandles="1" noChangeArrowheads="1" noChangeShapeType="1" noTextEdit="1"/>
                </p:cNvSpPr>
                <p:nvPr/>
              </p:nvSpPr>
              <p:spPr>
                <a:xfrm rot="5400000">
                  <a:off x="17087956" y="12255662"/>
                  <a:ext cx="285810" cy="492443"/>
                </a:xfrm>
                <a:prstGeom prst="rect">
                  <a:avLst/>
                </a:prstGeom>
                <a:blipFill>
                  <a:blip r:embed="rId68"/>
                  <a:stretch>
                    <a:fillRect b="-5217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EC3F28D-B206-F05A-D7B8-0F1D6C6323B1}"/>
                    </a:ext>
                  </a:extLst>
                </p:cNvPr>
                <p:cNvSpPr txBox="1"/>
                <p:nvPr/>
              </p:nvSpPr>
              <p:spPr>
                <a:xfrm rot="5400000">
                  <a:off x="15460643" y="12267405"/>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1" name="TextBox 2930">
                  <a:extLst>
                    <a:ext uri="{FF2B5EF4-FFF2-40B4-BE49-F238E27FC236}">
                      <a16:creationId xmlns:a16="http://schemas.microsoft.com/office/drawing/2014/main" id="{02CFD4C1-C6AE-CD20-D4CE-3D18748BEFFF}"/>
                    </a:ext>
                  </a:extLst>
                </p:cNvPr>
                <p:cNvSpPr txBox="1">
                  <a:spLocks noRot="1" noChangeAspect="1" noMove="1" noResize="1" noEditPoints="1" noAdjustHandles="1" noChangeArrowheads="1" noChangeShapeType="1" noTextEdit="1"/>
                </p:cNvSpPr>
                <p:nvPr/>
              </p:nvSpPr>
              <p:spPr>
                <a:xfrm rot="5400000">
                  <a:off x="15460643" y="12267405"/>
                  <a:ext cx="285810" cy="492443"/>
                </a:xfrm>
                <a:prstGeom prst="rect">
                  <a:avLst/>
                </a:prstGeom>
                <a:blipFill>
                  <a:blip r:embed="rId68"/>
                  <a:stretch>
                    <a:fillRect b="-5217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2B34658-C7C5-C6C3-36A9-855647C50035}"/>
                    </a:ext>
                  </a:extLst>
                </p:cNvPr>
                <p:cNvSpPr txBox="1"/>
                <p:nvPr/>
              </p:nvSpPr>
              <p:spPr>
                <a:xfrm>
                  <a:off x="17157383" y="12273005"/>
                  <a:ext cx="699809"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oMath>
                    </m:oMathPara>
                  </a14:m>
                  <a:endParaRPr lang="en-CA" sz="3200" dirty="0">
                    <a:latin typeface="+mj-lt"/>
                  </a:endParaRPr>
                </a:p>
              </p:txBody>
            </p:sp>
          </mc:Choice>
          <mc:Fallback xmlns="">
            <p:sp>
              <p:nvSpPr>
                <p:cNvPr id="23" name="TextBox 22">
                  <a:extLst>
                    <a:ext uri="{FF2B5EF4-FFF2-40B4-BE49-F238E27FC236}">
                      <a16:creationId xmlns:a16="http://schemas.microsoft.com/office/drawing/2014/main" id="{42B34658-C7C5-C6C3-36A9-855647C50035}"/>
                    </a:ext>
                  </a:extLst>
                </p:cNvPr>
                <p:cNvSpPr txBox="1">
                  <a:spLocks noRot="1" noChangeAspect="1" noMove="1" noResize="1" noEditPoints="1" noAdjustHandles="1" noChangeArrowheads="1" noChangeShapeType="1" noTextEdit="1"/>
                </p:cNvSpPr>
                <p:nvPr/>
              </p:nvSpPr>
              <p:spPr>
                <a:xfrm>
                  <a:off x="17157383" y="12273005"/>
                  <a:ext cx="699809" cy="584775"/>
                </a:xfrm>
                <a:prstGeom prst="rect">
                  <a:avLst/>
                </a:prstGeom>
                <a:blipFill>
                  <a:blip r:embed="rId6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3C61640-AEC7-4CAF-5997-416952B10994}"/>
                    </a:ext>
                  </a:extLst>
                </p:cNvPr>
                <p:cNvSpPr txBox="1"/>
                <p:nvPr/>
              </p:nvSpPr>
              <p:spPr>
                <a:xfrm rot="5400000">
                  <a:off x="17698204" y="12249207"/>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3" name="TextBox 2932">
                  <a:extLst>
                    <a:ext uri="{FF2B5EF4-FFF2-40B4-BE49-F238E27FC236}">
                      <a16:creationId xmlns:a16="http://schemas.microsoft.com/office/drawing/2014/main" id="{D4A2EAA9-8857-8F6D-2071-C651063C9ED2}"/>
                    </a:ext>
                  </a:extLst>
                </p:cNvPr>
                <p:cNvSpPr txBox="1">
                  <a:spLocks noRot="1" noChangeAspect="1" noMove="1" noResize="1" noEditPoints="1" noAdjustHandles="1" noChangeArrowheads="1" noChangeShapeType="1" noTextEdit="1"/>
                </p:cNvSpPr>
                <p:nvPr/>
              </p:nvSpPr>
              <p:spPr>
                <a:xfrm rot="5400000">
                  <a:off x="17698204" y="12249207"/>
                  <a:ext cx="285810" cy="492443"/>
                </a:xfrm>
                <a:prstGeom prst="rect">
                  <a:avLst/>
                </a:prstGeom>
                <a:blipFill>
                  <a:blip r:embed="rId70"/>
                  <a:stretch>
                    <a:fillRect b="-45833"/>
                  </a:stretch>
                </a:blipFill>
              </p:spPr>
              <p:txBody>
                <a:bodyPr/>
                <a:lstStyle/>
                <a:p>
                  <a:r>
                    <a:rPr lang="en-CA">
                      <a:noFill/>
                    </a:rPr>
                    <a:t> </a:t>
                  </a:r>
                </a:p>
              </p:txBody>
            </p:sp>
          </mc:Fallback>
        </mc:AlternateContent>
        <p:cxnSp>
          <p:nvCxnSpPr>
            <p:cNvPr id="25" name="Straight Connector 24">
              <a:extLst>
                <a:ext uri="{FF2B5EF4-FFF2-40B4-BE49-F238E27FC236}">
                  <a16:creationId xmlns:a16="http://schemas.microsoft.com/office/drawing/2014/main" id="{E5B5C184-BCDA-A9F7-ABF1-21FCD7EEA5A6}"/>
                </a:ext>
              </a:extLst>
            </p:cNvPr>
            <p:cNvCxnSpPr>
              <a:cxnSpLocks/>
              <a:endCxn id="33" idx="1"/>
            </p:cNvCxnSpPr>
            <p:nvPr/>
          </p:nvCxnSpPr>
          <p:spPr>
            <a:xfrm flipV="1">
              <a:off x="17753932" y="11562146"/>
              <a:ext cx="3953062" cy="22589"/>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856B10C8-7E23-790B-EFC1-1FAFD26C49D7}"/>
                </a:ext>
              </a:extLst>
            </p:cNvPr>
            <p:cNvCxnSpPr>
              <a:cxnSpLocks/>
              <a:endCxn id="32" idx="1"/>
            </p:cNvCxnSpPr>
            <p:nvPr/>
          </p:nvCxnSpPr>
          <p:spPr>
            <a:xfrm flipV="1">
              <a:off x="17754854" y="12160866"/>
              <a:ext cx="3951175" cy="15017"/>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7C269A86-E35F-00B6-EE65-1FBB29DF7AD5}"/>
                </a:ext>
              </a:extLst>
            </p:cNvPr>
            <p:cNvCxnSpPr>
              <a:cxnSpLocks/>
              <a:endCxn id="6" idx="1"/>
            </p:cNvCxnSpPr>
            <p:nvPr/>
          </p:nvCxnSpPr>
          <p:spPr>
            <a:xfrm flipV="1">
              <a:off x="17749181" y="13471940"/>
              <a:ext cx="3951808" cy="28849"/>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68DB30C0-8D28-56CD-2701-7D48343D4CC8}"/>
                </a:ext>
              </a:extLst>
            </p:cNvPr>
            <p:cNvCxnSpPr>
              <a:cxnSpLocks/>
            </p:cNvCxnSpPr>
            <p:nvPr/>
          </p:nvCxnSpPr>
          <p:spPr>
            <a:xfrm flipV="1">
              <a:off x="17753696" y="13000940"/>
              <a:ext cx="3947293" cy="3897"/>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B93FEEC-5BB6-9C5B-C2ED-851A2EE95461}"/>
                    </a:ext>
                  </a:extLst>
                </p:cNvPr>
                <p:cNvSpPr txBox="1"/>
                <p:nvPr/>
              </p:nvSpPr>
              <p:spPr>
                <a:xfrm>
                  <a:off x="19992388" y="12347117"/>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38" name="TextBox 2937">
                  <a:extLst>
                    <a:ext uri="{FF2B5EF4-FFF2-40B4-BE49-F238E27FC236}">
                      <a16:creationId xmlns:a16="http://schemas.microsoft.com/office/drawing/2014/main" id="{EE763DF1-3EF8-AF18-7C97-E9C3D53B59F2}"/>
                    </a:ext>
                  </a:extLst>
                </p:cNvPr>
                <p:cNvSpPr txBox="1">
                  <a:spLocks noRot="1" noChangeAspect="1" noMove="1" noResize="1" noEditPoints="1" noAdjustHandles="1" noChangeArrowheads="1" noChangeShapeType="1" noTextEdit="1"/>
                </p:cNvSpPr>
                <p:nvPr/>
              </p:nvSpPr>
              <p:spPr>
                <a:xfrm>
                  <a:off x="19992388" y="12347117"/>
                  <a:ext cx="285810" cy="492443"/>
                </a:xfrm>
                <a:prstGeom prst="rect">
                  <a:avLst/>
                </a:prstGeom>
                <a:blipFill>
                  <a:blip r:embed="rId71"/>
                  <a:stretch>
                    <a:fillRect r="-45833"/>
                  </a:stretch>
                </a:blipFill>
              </p:spPr>
              <p:txBody>
                <a:bodyPr/>
                <a:lstStyle/>
                <a:p>
                  <a:r>
                    <a:rPr lang="en-CA">
                      <a:noFill/>
                    </a:rPr>
                    <a:t> </a:t>
                  </a:r>
                </a:p>
              </p:txBody>
            </p:sp>
          </mc:Fallback>
        </mc:AlternateContent>
        <p:pic>
          <p:nvPicPr>
            <p:cNvPr id="31" name="Picture 2">
              <a:extLst>
                <a:ext uri="{FF2B5EF4-FFF2-40B4-BE49-F238E27FC236}">
                  <a16:creationId xmlns:a16="http://schemas.microsoft.com/office/drawing/2014/main" id="{3F0A0EEA-010F-EB13-F3C4-AFECA32CEF32}"/>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57236" t="52584" r="31145" b="30875"/>
            <a:stretch/>
          </p:blipFill>
          <p:spPr bwMode="auto">
            <a:xfrm>
              <a:off x="21706411" y="12806498"/>
              <a:ext cx="467915" cy="36766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a:extLst>
                <a:ext uri="{FF2B5EF4-FFF2-40B4-BE49-F238E27FC236}">
                  <a16:creationId xmlns:a16="http://schemas.microsoft.com/office/drawing/2014/main" id="{521CF0B4-A082-3963-FB60-664B8A8CB033}"/>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57236" t="52584" r="31145" b="30875"/>
            <a:stretch/>
          </p:blipFill>
          <p:spPr bwMode="auto">
            <a:xfrm>
              <a:off x="21706029" y="11977032"/>
              <a:ext cx="467915" cy="36766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AC1CCBCA-6A36-434A-D29D-1BB708B3AEEC}"/>
                </a:ext>
              </a:extLst>
            </p:cNvPr>
            <p:cNvPicPr>
              <a:picLocks noChangeAspect="1" noChangeArrowheads="1"/>
            </p:cNvPicPr>
            <p:nvPr/>
          </p:nvPicPr>
          <p:blipFill rotWithShape="1">
            <a:blip r:embed="rId24">
              <a:extLst>
                <a:ext uri="{28A0092B-C50C-407E-A947-70E740481C1C}">
                  <a14:useLocalDpi xmlns:a14="http://schemas.microsoft.com/office/drawing/2010/main" val="0"/>
                </a:ext>
              </a:extLst>
            </a:blip>
            <a:srcRect l="57236" t="52584" r="31145" b="30875"/>
            <a:stretch/>
          </p:blipFill>
          <p:spPr bwMode="auto">
            <a:xfrm>
              <a:off x="21706994" y="11378312"/>
              <a:ext cx="467915" cy="36766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BBE8795-37FC-2308-6357-DC678D633577}"/>
                    </a:ext>
                  </a:extLst>
                </p:cNvPr>
                <p:cNvSpPr txBox="1"/>
                <p:nvPr/>
              </p:nvSpPr>
              <p:spPr>
                <a:xfrm rot="5400000">
                  <a:off x="21468416" y="12254459"/>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2946" name="TextBox 2945">
                  <a:extLst>
                    <a:ext uri="{FF2B5EF4-FFF2-40B4-BE49-F238E27FC236}">
                      <a16:creationId xmlns:a16="http://schemas.microsoft.com/office/drawing/2014/main" id="{CDB254FB-EED6-DE07-BB8E-BE0048B2806C}"/>
                    </a:ext>
                  </a:extLst>
                </p:cNvPr>
                <p:cNvSpPr txBox="1">
                  <a:spLocks noRot="1" noChangeAspect="1" noMove="1" noResize="1" noEditPoints="1" noAdjustHandles="1" noChangeArrowheads="1" noChangeShapeType="1" noTextEdit="1"/>
                </p:cNvSpPr>
                <p:nvPr/>
              </p:nvSpPr>
              <p:spPr>
                <a:xfrm rot="5400000">
                  <a:off x="21468416" y="12254459"/>
                  <a:ext cx="285810" cy="492443"/>
                </a:xfrm>
                <a:prstGeom prst="rect">
                  <a:avLst/>
                </a:prstGeom>
                <a:blipFill>
                  <a:blip r:embed="rId68"/>
                  <a:stretch>
                    <a:fillRect b="-52174"/>
                  </a:stretch>
                </a:blipFill>
              </p:spPr>
              <p:txBody>
                <a:bodyPr/>
                <a:lstStyle/>
                <a:p>
                  <a:r>
                    <a:rPr lang="en-CA">
                      <a:noFill/>
                    </a:rPr>
                    <a:t> </a:t>
                  </a:r>
                </a:p>
              </p:txBody>
            </p:sp>
          </mc:Fallback>
        </mc:AlternateContent>
        <p:sp>
          <p:nvSpPr>
            <p:cNvPr id="35" name="Rounded Rectangle 34">
              <a:extLst>
                <a:ext uri="{FF2B5EF4-FFF2-40B4-BE49-F238E27FC236}">
                  <a16:creationId xmlns:a16="http://schemas.microsoft.com/office/drawing/2014/main" id="{0B845F2F-6C67-6F57-86B6-95C651D3170E}"/>
                </a:ext>
              </a:extLst>
            </p:cNvPr>
            <p:cNvSpPr/>
            <p:nvPr/>
          </p:nvSpPr>
          <p:spPr>
            <a:xfrm>
              <a:off x="15710640" y="11396570"/>
              <a:ext cx="1368021" cy="22793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75C87C8-B024-9B3B-9719-AF9C8E89539C}"/>
                    </a:ext>
                  </a:extLst>
                </p:cNvPr>
                <p:cNvSpPr txBox="1"/>
                <p:nvPr/>
              </p:nvSpPr>
              <p:spPr>
                <a:xfrm>
                  <a:off x="15995895" y="12382461"/>
                  <a:ext cx="670918" cy="328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𝜽</m:t>
                            </m:r>
                          </m:e>
                        </m:d>
                      </m:oMath>
                    </m:oMathPara>
                  </a14:m>
                  <a:endParaRPr lang="en-CA" sz="2000" b="1" dirty="0">
                    <a:latin typeface="+mj-lt"/>
                  </a:endParaRPr>
                </a:p>
              </p:txBody>
            </p:sp>
          </mc:Choice>
          <mc:Fallback xmlns="">
            <p:sp>
              <p:nvSpPr>
                <p:cNvPr id="36" name="TextBox 35">
                  <a:extLst>
                    <a:ext uri="{FF2B5EF4-FFF2-40B4-BE49-F238E27FC236}">
                      <a16:creationId xmlns:a16="http://schemas.microsoft.com/office/drawing/2014/main" id="{775C87C8-B024-9B3B-9719-AF9C8E89539C}"/>
                    </a:ext>
                  </a:extLst>
                </p:cNvPr>
                <p:cNvSpPr txBox="1">
                  <a:spLocks noRot="1" noChangeAspect="1" noMove="1" noResize="1" noEditPoints="1" noAdjustHandles="1" noChangeArrowheads="1" noChangeShapeType="1" noTextEdit="1"/>
                </p:cNvSpPr>
                <p:nvPr/>
              </p:nvSpPr>
              <p:spPr>
                <a:xfrm>
                  <a:off x="15995895" y="12382461"/>
                  <a:ext cx="670918" cy="328485"/>
                </a:xfrm>
                <a:prstGeom prst="rect">
                  <a:avLst/>
                </a:prstGeom>
                <a:blipFill>
                  <a:blip r:embed="rId72"/>
                  <a:stretch>
                    <a:fillRect l="-10204" t="-15385" b="-11538"/>
                  </a:stretch>
                </a:blipFill>
              </p:spPr>
              <p:txBody>
                <a:bodyPr/>
                <a:lstStyle/>
                <a:p>
                  <a:r>
                    <a:rPr lang="en-CA">
                      <a:noFill/>
                    </a:rPr>
                    <a:t> </a:t>
                  </a:r>
                </a:p>
              </p:txBody>
            </p:sp>
          </mc:Fallback>
        </mc:AlternateContent>
        <p:sp>
          <p:nvSpPr>
            <p:cNvPr id="38" name="Rounded Rectangle 37">
              <a:extLst>
                <a:ext uri="{FF2B5EF4-FFF2-40B4-BE49-F238E27FC236}">
                  <a16:creationId xmlns:a16="http://schemas.microsoft.com/office/drawing/2014/main" id="{4A9C2E16-5F2F-F24C-49EC-0B74C607D173}"/>
                </a:ext>
              </a:extLst>
            </p:cNvPr>
            <p:cNvSpPr/>
            <p:nvPr/>
          </p:nvSpPr>
          <p:spPr>
            <a:xfrm>
              <a:off x="17943969" y="11398442"/>
              <a:ext cx="911340" cy="22774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p:sp>
          <p:nvSpPr>
            <p:cNvPr id="39" name="Rounded Rectangle 38">
              <a:extLst>
                <a:ext uri="{FF2B5EF4-FFF2-40B4-BE49-F238E27FC236}">
                  <a16:creationId xmlns:a16="http://schemas.microsoft.com/office/drawing/2014/main" id="{B8BAC242-C06B-72F2-05FC-87EF5DD1AF7E}"/>
                </a:ext>
              </a:extLst>
            </p:cNvPr>
            <p:cNvSpPr/>
            <p:nvPr/>
          </p:nvSpPr>
          <p:spPr>
            <a:xfrm>
              <a:off x="18977816" y="11407684"/>
              <a:ext cx="909774" cy="22793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1AA9DE9-3C2F-C3EA-249E-3CFC5C0BF9F7}"/>
                    </a:ext>
                  </a:extLst>
                </p:cNvPr>
                <p:cNvSpPr txBox="1"/>
                <p:nvPr/>
              </p:nvSpPr>
              <p:spPr>
                <a:xfrm>
                  <a:off x="17973941" y="12382461"/>
                  <a:ext cx="824804" cy="3610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𝜽</m:t>
                                </m:r>
                              </m:e>
                              <m:sup>
                                <m:r>
                                  <a:rPr lang="en-US" sz="2000" b="1" i="1" smtClean="0">
                                    <a:latin typeface="Cambria Math" panose="02040503050406030204" pitchFamily="18" charset="0"/>
                                  </a:rPr>
                                  <m:t>𝟏</m:t>
                                </m:r>
                              </m:sup>
                            </m:sSup>
                          </m:e>
                        </m:d>
                      </m:oMath>
                    </m:oMathPara>
                  </a14:m>
                  <a:endParaRPr lang="en-CA" sz="2000" b="1" dirty="0">
                    <a:latin typeface="+mj-lt"/>
                  </a:endParaRPr>
                </a:p>
              </p:txBody>
            </p:sp>
          </mc:Choice>
          <mc:Fallback xmlns="">
            <p:sp>
              <p:nvSpPr>
                <p:cNvPr id="46" name="TextBox 45">
                  <a:extLst>
                    <a:ext uri="{FF2B5EF4-FFF2-40B4-BE49-F238E27FC236}">
                      <a16:creationId xmlns:a16="http://schemas.microsoft.com/office/drawing/2014/main" id="{C1AA9DE9-3C2F-C3EA-249E-3CFC5C0BF9F7}"/>
                    </a:ext>
                  </a:extLst>
                </p:cNvPr>
                <p:cNvSpPr txBox="1">
                  <a:spLocks noRot="1" noChangeAspect="1" noMove="1" noResize="1" noEditPoints="1" noAdjustHandles="1" noChangeArrowheads="1" noChangeShapeType="1" noTextEdit="1"/>
                </p:cNvSpPr>
                <p:nvPr/>
              </p:nvSpPr>
              <p:spPr>
                <a:xfrm>
                  <a:off x="17973941" y="12382461"/>
                  <a:ext cx="824804" cy="361001"/>
                </a:xfrm>
                <a:prstGeom prst="rect">
                  <a:avLst/>
                </a:prstGeom>
                <a:blipFill>
                  <a:blip r:embed="rId73"/>
                  <a:stretch>
                    <a:fillRect l="-8333" t="-10345" b="-3448"/>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27A9FC3-9181-B450-6B8E-7C3418A5B85C}"/>
                    </a:ext>
                  </a:extLst>
                </p:cNvPr>
                <p:cNvSpPr txBox="1"/>
                <p:nvPr/>
              </p:nvSpPr>
              <p:spPr>
                <a:xfrm>
                  <a:off x="19049290" y="12393028"/>
                  <a:ext cx="824804" cy="3610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𝜽</m:t>
                                </m:r>
                              </m:e>
                              <m:sup>
                                <m:r>
                                  <a:rPr lang="en-US" sz="2000" b="1" i="1" smtClean="0">
                                    <a:latin typeface="Cambria Math" panose="02040503050406030204" pitchFamily="18" charset="0"/>
                                  </a:rPr>
                                  <m:t>𝟐</m:t>
                                </m:r>
                              </m:sup>
                            </m:sSup>
                          </m:e>
                        </m:d>
                      </m:oMath>
                    </m:oMathPara>
                  </a14:m>
                  <a:endParaRPr lang="en-CA" sz="2000" b="1" dirty="0">
                    <a:latin typeface="+mj-lt"/>
                  </a:endParaRPr>
                </a:p>
              </p:txBody>
            </p:sp>
          </mc:Choice>
          <mc:Fallback xmlns="">
            <p:sp>
              <p:nvSpPr>
                <p:cNvPr id="49" name="TextBox 48">
                  <a:extLst>
                    <a:ext uri="{FF2B5EF4-FFF2-40B4-BE49-F238E27FC236}">
                      <a16:creationId xmlns:a16="http://schemas.microsoft.com/office/drawing/2014/main" id="{C27A9FC3-9181-B450-6B8E-7C3418A5B85C}"/>
                    </a:ext>
                  </a:extLst>
                </p:cNvPr>
                <p:cNvSpPr txBox="1">
                  <a:spLocks noRot="1" noChangeAspect="1" noMove="1" noResize="1" noEditPoints="1" noAdjustHandles="1" noChangeArrowheads="1" noChangeShapeType="1" noTextEdit="1"/>
                </p:cNvSpPr>
                <p:nvPr/>
              </p:nvSpPr>
              <p:spPr>
                <a:xfrm>
                  <a:off x="19049290" y="12393028"/>
                  <a:ext cx="824804" cy="361001"/>
                </a:xfrm>
                <a:prstGeom prst="rect">
                  <a:avLst/>
                </a:prstGeom>
                <a:blipFill>
                  <a:blip r:embed="rId74"/>
                  <a:stretch>
                    <a:fillRect l="-6667" t="-10714" b="-3571"/>
                  </a:stretch>
                </a:blipFill>
              </p:spPr>
              <p:txBody>
                <a:bodyPr/>
                <a:lstStyle/>
                <a:p>
                  <a:r>
                    <a:rPr lang="en-CA">
                      <a:noFill/>
                    </a:rPr>
                    <a:t> </a:t>
                  </a:r>
                </a:p>
              </p:txBody>
            </p:sp>
          </mc:Fallback>
        </mc:AlternateContent>
        <p:sp>
          <p:nvSpPr>
            <p:cNvPr id="50" name="Rounded Rectangle 49">
              <a:extLst>
                <a:ext uri="{FF2B5EF4-FFF2-40B4-BE49-F238E27FC236}">
                  <a16:creationId xmlns:a16="http://schemas.microsoft.com/office/drawing/2014/main" id="{ED55587F-CDEC-A78C-8C79-4C81B2887FB2}"/>
                </a:ext>
              </a:extLst>
            </p:cNvPr>
            <p:cNvSpPr/>
            <p:nvPr/>
          </p:nvSpPr>
          <p:spPr>
            <a:xfrm>
              <a:off x="20540057" y="11409932"/>
              <a:ext cx="930890" cy="226597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9F9B25D-EFC5-BCF1-962C-E669D7335521}"/>
                    </a:ext>
                  </a:extLst>
                </p:cNvPr>
                <p:cNvSpPr txBox="1"/>
                <p:nvPr/>
              </p:nvSpPr>
              <p:spPr>
                <a:xfrm>
                  <a:off x="20607781" y="12403148"/>
                  <a:ext cx="856425" cy="3610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𝜽</m:t>
                                </m:r>
                              </m:e>
                              <m:sup>
                                <m:r>
                                  <a:rPr lang="en-US" sz="2000" b="1" i="1" smtClean="0">
                                    <a:latin typeface="Cambria Math" panose="02040503050406030204" pitchFamily="18" charset="0"/>
                                  </a:rPr>
                                  <m:t>𝑫</m:t>
                                </m:r>
                              </m:sup>
                            </m:sSup>
                          </m:e>
                        </m:d>
                      </m:oMath>
                    </m:oMathPara>
                  </a14:m>
                  <a:endParaRPr lang="en-CA" sz="2000" b="1" dirty="0">
                    <a:latin typeface="+mj-lt"/>
                  </a:endParaRPr>
                </a:p>
              </p:txBody>
            </p:sp>
          </mc:Choice>
          <mc:Fallback xmlns="">
            <p:sp>
              <p:nvSpPr>
                <p:cNvPr id="52" name="TextBox 51">
                  <a:extLst>
                    <a:ext uri="{FF2B5EF4-FFF2-40B4-BE49-F238E27FC236}">
                      <a16:creationId xmlns:a16="http://schemas.microsoft.com/office/drawing/2014/main" id="{29F9B25D-EFC5-BCF1-962C-E669D7335521}"/>
                    </a:ext>
                  </a:extLst>
                </p:cNvPr>
                <p:cNvSpPr txBox="1">
                  <a:spLocks noRot="1" noChangeAspect="1" noMove="1" noResize="1" noEditPoints="1" noAdjustHandles="1" noChangeArrowheads="1" noChangeShapeType="1" noTextEdit="1"/>
                </p:cNvSpPr>
                <p:nvPr/>
              </p:nvSpPr>
              <p:spPr>
                <a:xfrm>
                  <a:off x="20607781" y="12403148"/>
                  <a:ext cx="856425" cy="361001"/>
                </a:xfrm>
                <a:prstGeom prst="rect">
                  <a:avLst/>
                </a:prstGeom>
                <a:blipFill>
                  <a:blip r:embed="rId75"/>
                  <a:stretch>
                    <a:fillRect l="-8065" t="-10714" b="-3571"/>
                  </a:stretch>
                </a:blipFill>
              </p:spPr>
              <p:txBody>
                <a:bodyPr/>
                <a:lstStyle/>
                <a:p>
                  <a:r>
                    <a:rPr lang="en-CA">
                      <a:noFill/>
                    </a:rPr>
                    <a:t> </a:t>
                  </a:r>
                </a:p>
              </p:txBody>
            </p:sp>
          </mc:Fallback>
        </mc:AlternateContent>
      </p:grpSp>
    </p:spTree>
    <p:custDataLst>
      <p:tags r:id="rId1"/>
    </p:custDataLst>
    <p:extLst>
      <p:ext uri="{BB962C8B-B14F-4D97-AF65-F5344CB8AC3E}">
        <p14:creationId xmlns:p14="http://schemas.microsoft.com/office/powerpoint/2010/main" val="205387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animBg="1"/>
      <p:bldP spid="13" grpId="0"/>
      <p:bldP spid="18"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Quantum Fields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7</a:t>
            </a:fld>
            <a:endParaRPr lang="de-AT"/>
          </a:p>
        </p:txBody>
      </p:sp>
      <p:sp>
        <p:nvSpPr>
          <p:cNvPr id="31" name="Oval 30">
            <a:extLst>
              <a:ext uri="{FF2B5EF4-FFF2-40B4-BE49-F238E27FC236}">
                <a16:creationId xmlns:a16="http://schemas.microsoft.com/office/drawing/2014/main" id="{551F71CF-2D48-A286-84DE-F0BC848F78A3}"/>
              </a:ext>
            </a:extLst>
          </p:cNvPr>
          <p:cNvSpPr/>
          <p:nvPr/>
        </p:nvSpPr>
        <p:spPr>
          <a:xfrm>
            <a:off x="5249969" y="10960622"/>
            <a:ext cx="2173457" cy="1267635"/>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ounded Rectangle 31">
            <a:extLst>
              <a:ext uri="{FF2B5EF4-FFF2-40B4-BE49-F238E27FC236}">
                <a16:creationId xmlns:a16="http://schemas.microsoft.com/office/drawing/2014/main" id="{794E22AB-F99A-BB26-265B-E80A4CEECD25}"/>
              </a:ext>
            </a:extLst>
          </p:cNvPr>
          <p:cNvSpPr/>
          <p:nvPr/>
        </p:nvSpPr>
        <p:spPr>
          <a:xfrm>
            <a:off x="818862" y="10940283"/>
            <a:ext cx="3801935" cy="107292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3" name="Picture 32">
            <a:extLst>
              <a:ext uri="{FF2B5EF4-FFF2-40B4-BE49-F238E27FC236}">
                <a16:creationId xmlns:a16="http://schemas.microsoft.com/office/drawing/2014/main" id="{A5CD4C4D-F47E-48C0-0CA9-90ECB7F449C5}"/>
              </a:ext>
            </a:extLst>
          </p:cNvPr>
          <p:cNvPicPr>
            <a:picLocks noChangeAspect="1"/>
          </p:cNvPicPr>
          <p:nvPr/>
        </p:nvPicPr>
        <p:blipFill>
          <a:blip r:embed="rId4"/>
          <a:stretch>
            <a:fillRect/>
          </a:stretch>
        </p:blipFill>
        <p:spPr>
          <a:xfrm>
            <a:off x="7845558" y="7262249"/>
            <a:ext cx="2541963" cy="5099017"/>
          </a:xfrm>
          <a:prstGeom prst="rect">
            <a:avLst/>
          </a:prstGeom>
        </p:spPr>
      </p:pic>
      <p:sp>
        <p:nvSpPr>
          <p:cNvPr id="34" name="TextBox 33">
            <a:extLst>
              <a:ext uri="{FF2B5EF4-FFF2-40B4-BE49-F238E27FC236}">
                <a16:creationId xmlns:a16="http://schemas.microsoft.com/office/drawing/2014/main" id="{C734FFCF-246A-47A6-2C4D-6D1C357A76C6}"/>
              </a:ext>
            </a:extLst>
          </p:cNvPr>
          <p:cNvSpPr txBox="1"/>
          <p:nvPr/>
        </p:nvSpPr>
        <p:spPr>
          <a:xfrm>
            <a:off x="342917" y="7421767"/>
            <a:ext cx="6198665" cy="400110"/>
          </a:xfrm>
          <a:prstGeom prst="rect">
            <a:avLst/>
          </a:prstGeom>
          <a:noFill/>
        </p:spPr>
        <p:txBody>
          <a:bodyPr wrap="square" rtlCol="0">
            <a:spAutoFit/>
          </a:bodyPr>
          <a:lstStyle/>
          <a:p>
            <a:r>
              <a:rPr lang="en-CA" sz="2000" dirty="0"/>
              <a:t>Consider UDW scalar field interaction Hamiltonian density  </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A07C8D1-D347-AA8B-7F0B-37F7395FD177}"/>
                  </a:ext>
                </a:extLst>
              </p:cNvPr>
              <p:cNvSpPr txBox="1"/>
              <p:nvPr/>
            </p:nvSpPr>
            <p:spPr>
              <a:xfrm>
                <a:off x="1690139" y="7918131"/>
                <a:ext cx="2783070" cy="3242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h</m:t>
                              </m:r>
                            </m:e>
                          </m:acc>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r>
                        <a:rPr lang="en-US" sz="2000" b="0" i="1" smtClean="0">
                          <a:latin typeface="Cambria Math" panose="02040503050406030204" pitchFamily="18" charset="0"/>
                        </a:rPr>
                        <m:t>𝜆</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Λ</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35" name="TextBox 34">
                <a:extLst>
                  <a:ext uri="{FF2B5EF4-FFF2-40B4-BE49-F238E27FC236}">
                    <a16:creationId xmlns:a16="http://schemas.microsoft.com/office/drawing/2014/main" id="{EA07C8D1-D347-AA8B-7F0B-37F7395FD177}"/>
                  </a:ext>
                </a:extLst>
              </p:cNvPr>
              <p:cNvSpPr txBox="1">
                <a:spLocks noRot="1" noChangeAspect="1" noMove="1" noResize="1" noEditPoints="1" noAdjustHandles="1" noChangeArrowheads="1" noChangeShapeType="1" noTextEdit="1"/>
              </p:cNvSpPr>
              <p:nvPr/>
            </p:nvSpPr>
            <p:spPr>
              <a:xfrm>
                <a:off x="1690139" y="7918131"/>
                <a:ext cx="2783070" cy="324256"/>
              </a:xfrm>
              <a:prstGeom prst="rect">
                <a:avLst/>
              </a:prstGeom>
              <a:blipFill>
                <a:blip r:embed="rId5"/>
                <a:stretch>
                  <a:fillRect l="-1357" t="-19231" b="-3076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FE04D92-C010-4708-76D8-BA46D381B241}"/>
                  </a:ext>
                </a:extLst>
              </p:cNvPr>
              <p:cNvSpPr txBox="1"/>
              <p:nvPr/>
            </p:nvSpPr>
            <p:spPr>
              <a:xfrm>
                <a:off x="394118" y="9212168"/>
                <a:ext cx="2354875" cy="3796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rPr>
                        <m:t>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e>
                      </m:d>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ℇ</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acc>
                            <m:accPr>
                              <m:chr m:val="̂"/>
                              <m:ctrlPr>
                                <a:rPr lang="en-CA"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up>
                          <m:r>
                            <a:rPr lang="en-US" sz="2000" i="1">
                              <a:latin typeface="Cambria Math" panose="02040503050406030204" pitchFamily="18" charset="0"/>
                              <a:ea typeface="Cambria Math" panose="02040503050406030204" pitchFamily="18" charset="0"/>
                            </a:rPr>
                            <m:t>†</m:t>
                          </m:r>
                        </m:sup>
                      </m:sSubSup>
                    </m:oMath>
                  </m:oMathPara>
                </a14:m>
                <a:endParaRPr lang="en-CA" dirty="0"/>
              </a:p>
            </p:txBody>
          </p:sp>
        </mc:Choice>
        <mc:Fallback xmlns="">
          <p:sp>
            <p:nvSpPr>
              <p:cNvPr id="38" name="TextBox 37">
                <a:extLst>
                  <a:ext uri="{FF2B5EF4-FFF2-40B4-BE49-F238E27FC236}">
                    <a16:creationId xmlns:a16="http://schemas.microsoft.com/office/drawing/2014/main" id="{2FE04D92-C010-4708-76D8-BA46D381B241}"/>
                  </a:ext>
                </a:extLst>
              </p:cNvPr>
              <p:cNvSpPr txBox="1">
                <a:spLocks noRot="1" noChangeAspect="1" noMove="1" noResize="1" noEditPoints="1" noAdjustHandles="1" noChangeArrowheads="1" noChangeShapeType="1" noTextEdit="1"/>
              </p:cNvSpPr>
              <p:nvPr/>
            </p:nvSpPr>
            <p:spPr>
              <a:xfrm>
                <a:off x="394118" y="9212168"/>
                <a:ext cx="2354875" cy="379656"/>
              </a:xfrm>
              <a:prstGeom prst="rect">
                <a:avLst/>
              </a:prstGeom>
              <a:blipFill>
                <a:blip r:embed="rId6"/>
                <a:stretch>
                  <a:fillRect l="-2151" t="-6452" r="-1075" b="-1935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B539AB5-7152-FB8D-8100-9F32D2042085}"/>
                  </a:ext>
                </a:extLst>
              </p:cNvPr>
              <p:cNvSpPr txBox="1"/>
              <p:nvPr/>
            </p:nvSpPr>
            <p:spPr>
              <a:xfrm>
                <a:off x="3351996" y="9060025"/>
                <a:ext cx="2354684" cy="4900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𝑖</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den>
                          </m:f>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rPr>
                                <m:t>&lt;</m:t>
                              </m:r>
                              <m:r>
                                <a:rPr lang="en-US" sz="2000" b="0" i="1" smtClean="0">
                                  <a:latin typeface="Cambria Math" panose="02040503050406030204" pitchFamily="18" charset="0"/>
                                </a:rPr>
                                <m:t>𝑗</m:t>
                              </m:r>
                            </m:sub>
                            <m:sup/>
                            <m:e>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𝑗</m:t>
                                  </m:r>
                                </m:sub>
                              </m:sSub>
                            </m:e>
                          </m:nary>
                        </m:sup>
                      </m:sSup>
                    </m:oMath>
                  </m:oMathPara>
                </a14:m>
                <a:endParaRPr lang="en-CA" dirty="0"/>
              </a:p>
            </p:txBody>
          </p:sp>
        </mc:Choice>
        <mc:Fallback xmlns="">
          <p:sp>
            <p:nvSpPr>
              <p:cNvPr id="39" name="TextBox 38">
                <a:extLst>
                  <a:ext uri="{FF2B5EF4-FFF2-40B4-BE49-F238E27FC236}">
                    <a16:creationId xmlns:a16="http://schemas.microsoft.com/office/drawing/2014/main" id="{5B539AB5-7152-FB8D-8100-9F32D2042085}"/>
                  </a:ext>
                </a:extLst>
              </p:cNvPr>
              <p:cNvSpPr txBox="1">
                <a:spLocks noRot="1" noChangeAspect="1" noMove="1" noResize="1" noEditPoints="1" noAdjustHandles="1" noChangeArrowheads="1" noChangeShapeType="1" noTextEdit="1"/>
              </p:cNvSpPr>
              <p:nvPr/>
            </p:nvSpPr>
            <p:spPr>
              <a:xfrm>
                <a:off x="3351996" y="9060025"/>
                <a:ext cx="2354684" cy="490006"/>
              </a:xfrm>
              <a:prstGeom prst="rect">
                <a:avLst/>
              </a:prstGeom>
              <a:blipFill>
                <a:blip r:embed="rId7"/>
                <a:stretch>
                  <a:fillRect l="-2151" t="-57500" r="-538" b="-92500"/>
                </a:stretch>
              </a:blipFill>
            </p:spPr>
            <p:txBody>
              <a:bodyPr/>
              <a:lstStyle/>
              <a:p>
                <a:r>
                  <a:rPr lang="en-CA">
                    <a:noFill/>
                  </a:rPr>
                  <a:t> </a:t>
                </a:r>
              </a:p>
            </p:txBody>
          </p:sp>
        </mc:Fallback>
      </mc:AlternateContent>
      <p:pic>
        <p:nvPicPr>
          <p:cNvPr id="44" name="Picture 43">
            <a:extLst>
              <a:ext uri="{FF2B5EF4-FFF2-40B4-BE49-F238E27FC236}">
                <a16:creationId xmlns:a16="http://schemas.microsoft.com/office/drawing/2014/main" id="{82DD2716-7905-21F5-0CE1-62CEC7D33BEE}"/>
              </a:ext>
            </a:extLst>
          </p:cNvPr>
          <p:cNvPicPr>
            <a:picLocks noChangeAspect="1"/>
          </p:cNvPicPr>
          <p:nvPr/>
        </p:nvPicPr>
        <p:blipFill>
          <a:blip r:embed="rId8">
            <a:alphaModFix amt="60000"/>
          </a:blip>
          <a:stretch>
            <a:fillRect/>
          </a:stretch>
        </p:blipFill>
        <p:spPr>
          <a:xfrm rot="21259358">
            <a:off x="5771849" y="7357862"/>
            <a:ext cx="6249993" cy="3749995"/>
          </a:xfrm>
          <a:prstGeom prst="rect">
            <a:avLst/>
          </a:prstGeom>
          <a:effectLst/>
          <a:scene3d>
            <a:camera prst="orthographicFront">
              <a:rot lat="2400000" lon="0" rev="0"/>
            </a:camera>
            <a:lightRig rig="threePt" dir="t"/>
          </a:scene3d>
        </p:spPr>
      </p:pic>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1CD427F-D565-74B8-6E84-2B2BBEA57FF7}"/>
                  </a:ext>
                </a:extLst>
              </p:cNvPr>
              <p:cNvSpPr txBox="1"/>
              <p:nvPr/>
            </p:nvSpPr>
            <p:spPr>
              <a:xfrm>
                <a:off x="6196609" y="9070761"/>
                <a:ext cx="126239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&lt;</m:t>
                      </m:r>
                      <m:r>
                        <a:rPr lang="en-US" sz="2000" b="0" i="1" smtClean="0">
                          <a:latin typeface="Cambria Math" panose="02040503050406030204" pitchFamily="18" charset="0"/>
                        </a:rPr>
                        <m:t>𝑡</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2</m:t>
                          </m:r>
                        </m:sub>
                      </m:sSub>
                    </m:oMath>
                  </m:oMathPara>
                </a14:m>
                <a:endParaRPr lang="en-CA" dirty="0"/>
              </a:p>
            </p:txBody>
          </p:sp>
        </mc:Choice>
        <mc:Fallback xmlns="">
          <p:sp>
            <p:nvSpPr>
              <p:cNvPr id="48" name="TextBox 47">
                <a:extLst>
                  <a:ext uri="{FF2B5EF4-FFF2-40B4-BE49-F238E27FC236}">
                    <a16:creationId xmlns:a16="http://schemas.microsoft.com/office/drawing/2014/main" id="{81CD427F-D565-74B8-6E84-2B2BBEA57FF7}"/>
                  </a:ext>
                </a:extLst>
              </p:cNvPr>
              <p:cNvSpPr txBox="1">
                <a:spLocks noRot="1" noChangeAspect="1" noMove="1" noResize="1" noEditPoints="1" noAdjustHandles="1" noChangeArrowheads="1" noChangeShapeType="1" noTextEdit="1"/>
              </p:cNvSpPr>
              <p:nvPr/>
            </p:nvSpPr>
            <p:spPr>
              <a:xfrm>
                <a:off x="6196609" y="9070761"/>
                <a:ext cx="1262397" cy="307777"/>
              </a:xfrm>
              <a:prstGeom prst="rect">
                <a:avLst/>
              </a:prstGeom>
              <a:blipFill>
                <a:blip r:embed="rId9"/>
                <a:stretch>
                  <a:fillRect l="-4000" r="-1000" b="-16000"/>
                </a:stretch>
              </a:blipFill>
            </p:spPr>
            <p:txBody>
              <a:bodyPr/>
              <a:lstStyle/>
              <a:p>
                <a:r>
                  <a:rPr lang="en-CA">
                    <a:noFill/>
                  </a:rPr>
                  <a:t> </a:t>
                </a:r>
              </a:p>
            </p:txBody>
          </p:sp>
        </mc:Fallback>
      </mc:AlternateContent>
      <p:sp>
        <p:nvSpPr>
          <p:cNvPr id="54" name="Left Brace 53">
            <a:extLst>
              <a:ext uri="{FF2B5EF4-FFF2-40B4-BE49-F238E27FC236}">
                <a16:creationId xmlns:a16="http://schemas.microsoft.com/office/drawing/2014/main" id="{D07979C7-4786-C99A-BC6E-EF771904657E}"/>
              </a:ext>
            </a:extLst>
          </p:cNvPr>
          <p:cNvSpPr/>
          <p:nvPr/>
        </p:nvSpPr>
        <p:spPr>
          <a:xfrm rot="21404871">
            <a:off x="7542363" y="8601757"/>
            <a:ext cx="183464" cy="1280160"/>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286727B-D1B8-79FD-9BA2-CA9D72066E25}"/>
                  </a:ext>
                </a:extLst>
              </p:cNvPr>
              <p:cNvSpPr txBox="1"/>
              <p:nvPr/>
            </p:nvSpPr>
            <p:spPr>
              <a:xfrm>
                <a:off x="6477203" y="8609119"/>
                <a:ext cx="7927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oMath>
                  </m:oMathPara>
                </a14:m>
                <a:endParaRPr lang="en-CA" dirty="0"/>
              </a:p>
            </p:txBody>
          </p:sp>
        </mc:Choice>
        <mc:Fallback xmlns="">
          <p:sp>
            <p:nvSpPr>
              <p:cNvPr id="55" name="TextBox 54">
                <a:extLst>
                  <a:ext uri="{FF2B5EF4-FFF2-40B4-BE49-F238E27FC236}">
                    <a16:creationId xmlns:a16="http://schemas.microsoft.com/office/drawing/2014/main" id="{B286727B-D1B8-79FD-9BA2-CA9D72066E25}"/>
                  </a:ext>
                </a:extLst>
              </p:cNvPr>
              <p:cNvSpPr txBox="1">
                <a:spLocks noRot="1" noChangeAspect="1" noMove="1" noResize="1" noEditPoints="1" noAdjustHandles="1" noChangeArrowheads="1" noChangeShapeType="1" noTextEdit="1"/>
              </p:cNvSpPr>
              <p:nvPr/>
            </p:nvSpPr>
            <p:spPr>
              <a:xfrm>
                <a:off x="6477203" y="8609119"/>
                <a:ext cx="792718" cy="307777"/>
              </a:xfrm>
              <a:prstGeom prst="rect">
                <a:avLst/>
              </a:prstGeom>
              <a:blipFill>
                <a:blip r:embed="rId10"/>
                <a:stretch>
                  <a:fillRect l="-7937" r="-6349"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F374C16-2A60-C824-BDBE-72224887F192}"/>
                  </a:ext>
                </a:extLst>
              </p:cNvPr>
              <p:cNvSpPr txBox="1"/>
              <p:nvPr/>
            </p:nvSpPr>
            <p:spPr>
              <a:xfrm>
                <a:off x="10533225" y="9037193"/>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57" name="TextBox 56">
                <a:extLst>
                  <a:ext uri="{FF2B5EF4-FFF2-40B4-BE49-F238E27FC236}">
                    <a16:creationId xmlns:a16="http://schemas.microsoft.com/office/drawing/2014/main" id="{7F374C16-2A60-C824-BDBE-72224887F192}"/>
                  </a:ext>
                </a:extLst>
              </p:cNvPr>
              <p:cNvSpPr txBox="1">
                <a:spLocks noRot="1" noChangeAspect="1" noMove="1" noResize="1" noEditPoints="1" noAdjustHandles="1" noChangeArrowheads="1" noChangeShapeType="1" noTextEdit="1"/>
              </p:cNvSpPr>
              <p:nvPr/>
            </p:nvSpPr>
            <p:spPr>
              <a:xfrm>
                <a:off x="10533225" y="9037193"/>
                <a:ext cx="574260" cy="320729"/>
              </a:xfrm>
              <a:prstGeom prst="rect">
                <a:avLst/>
              </a:prstGeom>
              <a:blipFill>
                <a:blip r:embed="rId11"/>
                <a:stretch>
                  <a:fillRect l="-15217" t="-15385" b="-30769"/>
                </a:stretch>
              </a:blipFill>
            </p:spPr>
            <p:txBody>
              <a:bodyPr/>
              <a:lstStyle/>
              <a:p>
                <a:r>
                  <a:rPr lang="en-CA">
                    <a:noFill/>
                  </a:rPr>
                  <a:t> </a:t>
                </a:r>
              </a:p>
            </p:txBody>
          </p:sp>
        </mc:Fallback>
      </mc:AlternateContent>
      <p:sp>
        <p:nvSpPr>
          <p:cNvPr id="58" name="TextBox 57">
            <a:extLst>
              <a:ext uri="{FF2B5EF4-FFF2-40B4-BE49-F238E27FC236}">
                <a16:creationId xmlns:a16="http://schemas.microsoft.com/office/drawing/2014/main" id="{65EA11D9-4981-2440-561B-644C6E08410C}"/>
              </a:ext>
            </a:extLst>
          </p:cNvPr>
          <p:cNvSpPr txBox="1"/>
          <p:nvPr/>
        </p:nvSpPr>
        <p:spPr>
          <a:xfrm>
            <a:off x="10336210" y="11606169"/>
            <a:ext cx="1469452" cy="400110"/>
          </a:xfrm>
          <a:prstGeom prst="rect">
            <a:avLst/>
          </a:prstGeom>
          <a:noFill/>
        </p:spPr>
        <p:txBody>
          <a:bodyPr wrap="square" rtlCol="0">
            <a:spAutoFit/>
          </a:bodyPr>
          <a:lstStyle/>
          <a:p>
            <a:r>
              <a:rPr lang="en-CA" sz="2000" dirty="0"/>
              <a:t>worldlines</a:t>
            </a:r>
          </a:p>
        </p:txBody>
      </p:sp>
      <p:sp>
        <p:nvSpPr>
          <p:cNvPr id="59" name="Left Brace 58">
            <a:extLst>
              <a:ext uri="{FF2B5EF4-FFF2-40B4-BE49-F238E27FC236}">
                <a16:creationId xmlns:a16="http://schemas.microsoft.com/office/drawing/2014/main" id="{0DB906A3-2749-398E-A306-3A19A167E23D}"/>
              </a:ext>
            </a:extLst>
          </p:cNvPr>
          <p:cNvSpPr/>
          <p:nvPr/>
        </p:nvSpPr>
        <p:spPr>
          <a:xfrm rot="12934382">
            <a:off x="9886172" y="11205232"/>
            <a:ext cx="215796" cy="1424557"/>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2215B62B-05E3-E28C-283F-F44B6F198024}"/>
                  </a:ext>
                </a:extLst>
              </p:cNvPr>
              <p:cNvSpPr txBox="1"/>
              <p:nvPr/>
            </p:nvSpPr>
            <p:spPr>
              <a:xfrm>
                <a:off x="10426009" y="11932874"/>
                <a:ext cx="911316" cy="4361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r>
                        <a:rPr lang="en-CA" sz="2000" i="1" dirty="0">
                          <a:latin typeface="Cambria Math" panose="02040503050406030204" pitchFamily="18" charset="0"/>
                        </a:rPr>
                        <m:t>(</m:t>
                      </m:r>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r>
                        <a:rPr lang="en-CA" sz="2000" i="1" dirty="0">
                          <a:latin typeface="Cambria Math" panose="02040503050406030204" pitchFamily="18" charset="0"/>
                        </a:rPr>
                        <m:t>) </m:t>
                      </m:r>
                    </m:oMath>
                  </m:oMathPara>
                </a14:m>
                <a:endParaRPr lang="en-CA" dirty="0"/>
              </a:p>
            </p:txBody>
          </p:sp>
        </mc:Choice>
        <mc:Fallback xmlns="">
          <p:sp>
            <p:nvSpPr>
              <p:cNvPr id="60" name="TextBox 59">
                <a:extLst>
                  <a:ext uri="{FF2B5EF4-FFF2-40B4-BE49-F238E27FC236}">
                    <a16:creationId xmlns:a16="http://schemas.microsoft.com/office/drawing/2014/main" id="{2215B62B-05E3-E28C-283F-F44B6F198024}"/>
                  </a:ext>
                </a:extLst>
              </p:cNvPr>
              <p:cNvSpPr txBox="1">
                <a:spLocks noRot="1" noChangeAspect="1" noMove="1" noResize="1" noEditPoints="1" noAdjustHandles="1" noChangeArrowheads="1" noChangeShapeType="1" noTextEdit="1"/>
              </p:cNvSpPr>
              <p:nvPr/>
            </p:nvSpPr>
            <p:spPr>
              <a:xfrm>
                <a:off x="10426009" y="11932874"/>
                <a:ext cx="911316" cy="436145"/>
              </a:xfrm>
              <a:prstGeom prst="rect">
                <a:avLst/>
              </a:prstGeom>
              <a:blipFill>
                <a:blip r:embed="rId12"/>
                <a:stretch>
                  <a:fillRect r="-5479" b="-11429"/>
                </a:stretch>
              </a:blipFill>
            </p:spPr>
            <p:txBody>
              <a:bodyPr/>
              <a:lstStyle/>
              <a:p>
                <a:r>
                  <a:rPr lang="en-CA">
                    <a:noFill/>
                  </a:rPr>
                  <a:t> </a:t>
                </a:r>
              </a:p>
            </p:txBody>
          </p:sp>
        </mc:Fallback>
      </mc:AlternateContent>
      <p:sp>
        <p:nvSpPr>
          <p:cNvPr id="61" name="TextBox 60">
            <a:extLst>
              <a:ext uri="{FF2B5EF4-FFF2-40B4-BE49-F238E27FC236}">
                <a16:creationId xmlns:a16="http://schemas.microsoft.com/office/drawing/2014/main" id="{B42B3AC8-B9B7-C35A-7B7E-D6472050E736}"/>
              </a:ext>
            </a:extLst>
          </p:cNvPr>
          <p:cNvSpPr txBox="1"/>
          <p:nvPr/>
        </p:nvSpPr>
        <p:spPr>
          <a:xfrm>
            <a:off x="5970307" y="9736543"/>
            <a:ext cx="1804097" cy="1015663"/>
          </a:xfrm>
          <a:prstGeom prst="rect">
            <a:avLst/>
          </a:prstGeom>
          <a:noFill/>
        </p:spPr>
        <p:txBody>
          <a:bodyPr wrap="square" rtlCol="0">
            <a:spAutoFit/>
          </a:bodyPr>
          <a:lstStyle/>
          <a:p>
            <a:r>
              <a:rPr lang="en-CA" sz="2000" dirty="0"/>
              <a:t>Detector-field interaction regions</a:t>
            </a:r>
          </a:p>
        </p:txBody>
      </p:sp>
      <p:sp>
        <p:nvSpPr>
          <p:cNvPr id="62" name="Connector 61">
            <a:extLst>
              <a:ext uri="{FF2B5EF4-FFF2-40B4-BE49-F238E27FC236}">
                <a16:creationId xmlns:a16="http://schemas.microsoft.com/office/drawing/2014/main" id="{F45D324A-6671-C109-F718-A40B1F82BE07}"/>
              </a:ext>
            </a:extLst>
          </p:cNvPr>
          <p:cNvSpPr/>
          <p:nvPr/>
        </p:nvSpPr>
        <p:spPr>
          <a:xfrm>
            <a:off x="7786816" y="8171005"/>
            <a:ext cx="2549394" cy="1768783"/>
          </a:xfrm>
          <a:prstGeom prst="flowChartConnector">
            <a:avLst/>
          </a:prstGeom>
          <a:noFill/>
          <a:ln w="31750">
            <a:prstDash val="dash"/>
          </a:ln>
          <a:scene3d>
            <a:camera prst="orthographicFront">
              <a:rot lat="19210946" lon="21349022" rev="39093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TextBox 62">
            <a:extLst>
              <a:ext uri="{FF2B5EF4-FFF2-40B4-BE49-F238E27FC236}">
                <a16:creationId xmlns:a16="http://schemas.microsoft.com/office/drawing/2014/main" id="{B50067A7-1797-5E22-B281-B11AE5E5F7FE}"/>
              </a:ext>
            </a:extLst>
          </p:cNvPr>
          <p:cNvSpPr txBox="1"/>
          <p:nvPr/>
        </p:nvSpPr>
        <p:spPr>
          <a:xfrm>
            <a:off x="345524" y="8409065"/>
            <a:ext cx="5009371" cy="707886"/>
          </a:xfrm>
          <a:prstGeom prst="rect">
            <a:avLst/>
          </a:prstGeom>
          <a:noFill/>
        </p:spPr>
        <p:txBody>
          <a:bodyPr wrap="square" rtlCol="0">
            <a:spAutoFit/>
          </a:bodyPr>
          <a:lstStyle/>
          <a:p>
            <a:r>
              <a:rPr lang="en-CA" sz="2000" dirty="0"/>
              <a:t>Time-evolution plus tracing out field results in decohering channel</a:t>
            </a:r>
          </a:p>
        </p:txBody>
      </p:sp>
      <p:sp>
        <p:nvSpPr>
          <p:cNvPr id="64" name="TextBox 63">
            <a:extLst>
              <a:ext uri="{FF2B5EF4-FFF2-40B4-BE49-F238E27FC236}">
                <a16:creationId xmlns:a16="http://schemas.microsoft.com/office/drawing/2014/main" id="{1A30098F-9E15-B52B-6BAB-2D98C245E145}"/>
              </a:ext>
            </a:extLst>
          </p:cNvPr>
          <p:cNvSpPr txBox="1"/>
          <p:nvPr/>
        </p:nvSpPr>
        <p:spPr>
          <a:xfrm>
            <a:off x="2736571" y="9212168"/>
            <a:ext cx="720245" cy="369332"/>
          </a:xfrm>
          <a:prstGeom prst="rect">
            <a:avLst/>
          </a:prstGeom>
          <a:noFill/>
        </p:spPr>
        <p:txBody>
          <a:bodyPr wrap="square" rtlCol="0">
            <a:spAutoFit/>
          </a:bodyPr>
          <a:lstStyle/>
          <a:p>
            <a:r>
              <a:rPr lang="en-CA" dirty="0"/>
              <a:t>with</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9FDDDDD-902C-6E09-8AFD-4044F4360702}"/>
                  </a:ext>
                </a:extLst>
              </p:cNvPr>
              <p:cNvSpPr txBox="1"/>
              <p:nvPr/>
            </p:nvSpPr>
            <p:spPr>
              <a:xfrm>
                <a:off x="355489" y="9711857"/>
                <a:ext cx="5291852" cy="73257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oMath>
                </a14:m>
                <a:r>
                  <a:rPr lang="en-CA" sz="2000" dirty="0"/>
                  <a:t> are parameters that depend on propagation of detector interaction regions through field </a:t>
                </a:r>
                <a:endParaRPr lang="en-CA" dirty="0"/>
              </a:p>
            </p:txBody>
          </p:sp>
        </mc:Choice>
        <mc:Fallback xmlns="">
          <p:sp>
            <p:nvSpPr>
              <p:cNvPr id="65" name="TextBox 64">
                <a:extLst>
                  <a:ext uri="{FF2B5EF4-FFF2-40B4-BE49-F238E27FC236}">
                    <a16:creationId xmlns:a16="http://schemas.microsoft.com/office/drawing/2014/main" id="{B9FDDDDD-902C-6E09-8AFD-4044F4360702}"/>
                  </a:ext>
                </a:extLst>
              </p:cNvPr>
              <p:cNvSpPr txBox="1">
                <a:spLocks noRot="1" noChangeAspect="1" noMove="1" noResize="1" noEditPoints="1" noAdjustHandles="1" noChangeArrowheads="1" noChangeShapeType="1" noTextEdit="1"/>
              </p:cNvSpPr>
              <p:nvPr/>
            </p:nvSpPr>
            <p:spPr>
              <a:xfrm>
                <a:off x="355489" y="9711857"/>
                <a:ext cx="5291852" cy="732573"/>
              </a:xfrm>
              <a:prstGeom prst="rect">
                <a:avLst/>
              </a:prstGeom>
              <a:blipFill>
                <a:blip r:embed="rId13"/>
                <a:stretch>
                  <a:fillRect l="-957" t="-3390" b="-1355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9B2A6F7E-DC2E-8EC8-31C4-A16B8BD2C82C}"/>
                  </a:ext>
                </a:extLst>
              </p:cNvPr>
              <p:cNvSpPr txBox="1"/>
              <p:nvPr/>
            </p:nvSpPr>
            <p:spPr>
              <a:xfrm>
                <a:off x="5591601" y="11017407"/>
                <a:ext cx="1850333" cy="1062470"/>
              </a:xfrm>
              <a:prstGeom prst="rect">
                <a:avLst/>
              </a:prstGeom>
              <a:noFill/>
            </p:spPr>
            <p:txBody>
              <a:bodyPr wrap="square" rtlCol="0">
                <a:spAutoFit/>
              </a:bodyPr>
              <a:lstStyle/>
              <a:p>
                <a:r>
                  <a:rPr lang="en-CA" sz="2000" dirty="0"/>
                  <a:t>meaningful entanglement: </a:t>
                </a:r>
                <a14:m>
                  <m:oMath xmlns:m="http://schemas.openxmlformats.org/officeDocument/2006/math">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e>
                    </m:d>
                    <m:r>
                      <a:rPr lang="en-US" sz="2000" b="0" i="1" smtClean="0">
                        <a:latin typeface="Cambria Math" panose="02040503050406030204" pitchFamily="18" charset="0"/>
                      </a:rPr>
                      <m:t>∼1</m:t>
                    </m:r>
                  </m:oMath>
                </a14:m>
                <a:endParaRPr lang="en-CA" sz="2000" dirty="0"/>
              </a:p>
            </p:txBody>
          </p:sp>
        </mc:Choice>
        <mc:Fallback xmlns="">
          <p:sp>
            <p:nvSpPr>
              <p:cNvPr id="66" name="TextBox 65">
                <a:extLst>
                  <a:ext uri="{FF2B5EF4-FFF2-40B4-BE49-F238E27FC236}">
                    <a16:creationId xmlns:a16="http://schemas.microsoft.com/office/drawing/2014/main" id="{9B2A6F7E-DC2E-8EC8-31C4-A16B8BD2C82C}"/>
                  </a:ext>
                </a:extLst>
              </p:cNvPr>
              <p:cNvSpPr txBox="1">
                <a:spLocks noRot="1" noChangeAspect="1" noMove="1" noResize="1" noEditPoints="1" noAdjustHandles="1" noChangeArrowheads="1" noChangeShapeType="1" noTextEdit="1"/>
              </p:cNvSpPr>
              <p:nvPr/>
            </p:nvSpPr>
            <p:spPr>
              <a:xfrm>
                <a:off x="5591601" y="11017407"/>
                <a:ext cx="1850333" cy="1062470"/>
              </a:xfrm>
              <a:prstGeom prst="rect">
                <a:avLst/>
              </a:prstGeom>
              <a:blipFill>
                <a:blip r:embed="rId14"/>
                <a:stretch>
                  <a:fillRect l="-3401" t="-3529" b="-235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A10E02CA-5763-D2AB-E014-250DC578D9C4}"/>
                  </a:ext>
                </a:extLst>
              </p:cNvPr>
              <p:cNvSpPr txBox="1"/>
              <p:nvPr/>
            </p:nvSpPr>
            <p:spPr>
              <a:xfrm>
                <a:off x="809838" y="10944272"/>
                <a:ext cx="3801935" cy="1023998"/>
              </a:xfrm>
              <a:prstGeom prst="rect">
                <a:avLst/>
              </a:prstGeom>
              <a:noFill/>
              <a:ln>
                <a:noFill/>
              </a:ln>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2000" dirty="0"/>
                  <a:t>Detectors can couple to field simultaneously, so </a:t>
                </a:r>
                <a14:m>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oMath>
                </a14:m>
                <a:r>
                  <a:rPr lang="en-CA" sz="2000" dirty="0"/>
                  <a:t> is a globally entangling unitary on all detectors.</a:t>
                </a:r>
              </a:p>
            </p:txBody>
          </p:sp>
        </mc:Choice>
        <mc:Fallback xmlns="">
          <p:sp>
            <p:nvSpPr>
              <p:cNvPr id="67" name="TextBox 66">
                <a:extLst>
                  <a:ext uri="{FF2B5EF4-FFF2-40B4-BE49-F238E27FC236}">
                    <a16:creationId xmlns:a16="http://schemas.microsoft.com/office/drawing/2014/main" id="{A10E02CA-5763-D2AB-E014-250DC578D9C4}"/>
                  </a:ext>
                </a:extLst>
              </p:cNvPr>
              <p:cNvSpPr txBox="1">
                <a:spLocks noRot="1" noChangeAspect="1" noMove="1" noResize="1" noEditPoints="1" noAdjustHandles="1" noChangeArrowheads="1" noChangeShapeType="1" noTextEdit="1"/>
              </p:cNvSpPr>
              <p:nvPr/>
            </p:nvSpPr>
            <p:spPr>
              <a:xfrm>
                <a:off x="809838" y="10944272"/>
                <a:ext cx="3801935" cy="1023998"/>
              </a:xfrm>
              <a:prstGeom prst="rect">
                <a:avLst/>
              </a:prstGeom>
              <a:blipFill>
                <a:blip r:embed="rId15"/>
                <a:stretch>
                  <a:fillRect l="-1661" t="-2439" r="-997" b="-8537"/>
                </a:stretch>
              </a:blipFill>
              <a:ln>
                <a:noFill/>
              </a:ln>
            </p:spPr>
            <p:txBody>
              <a:bodyPr/>
              <a:lstStyle/>
              <a:p>
                <a:r>
                  <a:rPr lang="en-CA">
                    <a:noFill/>
                  </a:rPr>
                  <a:t> </a:t>
                </a:r>
              </a:p>
            </p:txBody>
          </p:sp>
        </mc:Fallback>
      </mc:AlternateContent>
      <p:pic>
        <p:nvPicPr>
          <p:cNvPr id="1030" name="Picture 6" descr="Mechanical analog of the harmonic lattice model. Oscillators of... |  Download Scientific Diagram">
            <a:extLst>
              <a:ext uri="{FF2B5EF4-FFF2-40B4-BE49-F238E27FC236}">
                <a16:creationId xmlns:a16="http://schemas.microsoft.com/office/drawing/2014/main" id="{038B3DD6-2F61-9B62-D75A-B73C1F8269D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90139" y="1365575"/>
            <a:ext cx="8366900" cy="4144457"/>
          </a:xfrm>
          <a:prstGeom prst="rect">
            <a:avLst/>
          </a:prstGeom>
          <a:noFill/>
          <a:extLst>
            <a:ext uri="{909E8E84-426E-40DD-AFC4-6F175D3DCCD1}">
              <a14:hiddenFill xmlns:a14="http://schemas.microsoft.com/office/drawing/2010/main">
                <a:solidFill>
                  <a:srgbClr val="FFFFFF"/>
                </a:solidFill>
              </a14:hiddenFill>
            </a:ext>
          </a:extLst>
        </p:spPr>
      </p:pic>
      <p:sp>
        <p:nvSpPr>
          <p:cNvPr id="80" name="TextBox 79">
            <a:extLst>
              <a:ext uri="{FF2B5EF4-FFF2-40B4-BE49-F238E27FC236}">
                <a16:creationId xmlns:a16="http://schemas.microsoft.com/office/drawing/2014/main" id="{769BEB5F-E1EE-E884-CA8F-83128FDEC1D7}"/>
              </a:ext>
            </a:extLst>
          </p:cNvPr>
          <p:cNvSpPr txBox="1"/>
          <p:nvPr/>
        </p:nvSpPr>
        <p:spPr>
          <a:xfrm>
            <a:off x="95282" y="5768718"/>
            <a:ext cx="10519226" cy="307777"/>
          </a:xfrm>
          <a:prstGeom prst="rect">
            <a:avLst/>
          </a:prstGeom>
          <a:noFill/>
        </p:spPr>
        <p:txBody>
          <a:bodyPr wrap="square">
            <a:spAutoFit/>
          </a:bodyPr>
          <a:lstStyle/>
          <a:p>
            <a:r>
              <a:rPr lang="en-CA" sz="1400" dirty="0">
                <a:solidFill>
                  <a:schemeClr val="bg1">
                    <a:lumMod val="75000"/>
                  </a:schemeClr>
                </a:solidFill>
              </a:rPr>
              <a:t>Thomas Barthel and Qiang Miao, Scaling functions for eigenstate entanglement crossovers in harmonic lattices. arXiv.1912.10045 (2019).</a:t>
            </a:r>
          </a:p>
        </p:txBody>
      </p:sp>
    </p:spTree>
    <p:custDataLst>
      <p:tags r:id="rId1"/>
    </p:custDataLst>
    <p:extLst>
      <p:ext uri="{BB962C8B-B14F-4D97-AF65-F5344CB8AC3E}">
        <p14:creationId xmlns:p14="http://schemas.microsoft.com/office/powerpoint/2010/main" val="1114942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1DD77-A88F-A90B-CEE8-ECF2B87844E9}"/>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A64F73E0-1EBC-6AC3-30B6-F97BC0BF0C3E}"/>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A9D621F5-AD29-5D05-0432-3DC461C24E04}"/>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Unruh-DeWitt (UDW) Qubits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DC00FDD-4727-FDBA-B66C-7A269A59B9C8}"/>
              </a:ext>
            </a:extLst>
          </p:cNvPr>
          <p:cNvSpPr>
            <a:spLocks noGrp="1"/>
          </p:cNvSpPr>
          <p:nvPr>
            <p:ph type="sldNum" sz="quarter" idx="12"/>
          </p:nvPr>
        </p:nvSpPr>
        <p:spPr/>
        <p:txBody>
          <a:bodyPr/>
          <a:lstStyle/>
          <a:p>
            <a:fld id="{D0617D14-1B55-43C0-819D-0D244AC23646}" type="slidenum">
              <a:rPr lang="de-AT" smtClean="0"/>
              <a:t>8</a:t>
            </a:fld>
            <a:endParaRPr lang="de-AT"/>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40D4F13-0141-023A-5E96-C9BAE5B5D601}"/>
                  </a:ext>
                </a:extLst>
              </p:cNvPr>
              <p:cNvSpPr txBox="1"/>
              <p:nvPr/>
            </p:nvSpPr>
            <p:spPr>
              <a:xfrm>
                <a:off x="7658657" y="1600669"/>
                <a:ext cx="2930482"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𝐻</m:t>
                          </m:r>
                        </m:e>
                      </m:acc>
                      <m:r>
                        <a:rPr lang="en-US" sz="2000" b="0" i="1" smtClean="0">
                          <a:latin typeface="Cambria Math" panose="02040503050406030204" pitchFamily="18" charset="0"/>
                        </a:rPr>
                        <m:t>(</m:t>
                      </m:r>
                      <m:r>
                        <m:rPr>
                          <m:sty m:val="p"/>
                        </m:rPr>
                        <a:rPr lang="en-US" sz="2000" b="0" i="0" smtClean="0">
                          <a:latin typeface="Cambria Math" panose="02040503050406030204" pitchFamily="18" charset="0"/>
                        </a:rPr>
                        <m:t>Ω</m:t>
                      </m:r>
                      <m:r>
                        <a:rPr lang="en-US" sz="2000" b="0" i="1" smtClean="0">
                          <a:latin typeface="Cambria Math" panose="02040503050406030204" pitchFamily="18" charset="0"/>
                        </a:rPr>
                        <m:t>,</m:t>
                      </m:r>
                      <m:r>
                        <a:rPr lang="en-US" sz="2000" b="0" i="1" smtClean="0">
                          <a:latin typeface="Cambria Math" panose="02040503050406030204" pitchFamily="18" charset="0"/>
                        </a:rPr>
                        <m:t>𝜗</m:t>
                      </m:r>
                      <m:r>
                        <a:rPr lang="en-US" sz="2000" b="0" i="1" smtClean="0">
                          <a:latin typeface="Cambria Math" panose="02040503050406030204" pitchFamily="18" charset="0"/>
                        </a:rPr>
                        <m:t>,</m:t>
                      </m:r>
                      <m:r>
                        <a:rPr lang="en-US" sz="2000" b="0" i="1" smtClean="0">
                          <a:latin typeface="Cambria Math" panose="02040503050406030204" pitchFamily="18" charset="0"/>
                        </a:rPr>
                        <m:t>𝜑</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m:rPr>
                              <m:sty m:val="p"/>
                            </m:rPr>
                            <a:rPr lang="en-US" sz="2000" b="0" i="0" smtClean="0">
                              <a:latin typeface="Cambria Math" panose="02040503050406030204" pitchFamily="18" charset="0"/>
                            </a:rPr>
                            <m:t>Ω</m:t>
                          </m:r>
                        </m:num>
                        <m:den>
                          <m:r>
                            <a:rPr lang="en-US" sz="2000" b="0" i="1" smtClean="0">
                              <a:latin typeface="Cambria Math" panose="02040503050406030204" pitchFamily="18" charset="0"/>
                            </a:rPr>
                            <m:t>2</m:t>
                          </m:r>
                        </m:den>
                      </m:f>
                      <m:r>
                        <a:rPr lang="en-US" sz="2000" b="1" i="1" smtClean="0">
                          <a:latin typeface="Cambria Math" panose="02040503050406030204" pitchFamily="18" charset="0"/>
                        </a:rPr>
                        <m:t>𝒏</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𝜗</m:t>
                          </m:r>
                          <m:r>
                            <a:rPr lang="en-US" sz="2000" b="0" i="1" smtClean="0">
                              <a:latin typeface="Cambria Math" panose="02040503050406030204" pitchFamily="18" charset="0"/>
                            </a:rPr>
                            <m:t>,</m:t>
                          </m:r>
                          <m:r>
                            <a:rPr lang="en-US" sz="2000" b="0" i="1" smtClean="0">
                              <a:latin typeface="Cambria Math" panose="02040503050406030204" pitchFamily="18" charset="0"/>
                            </a:rPr>
                            <m:t>𝜑</m:t>
                          </m:r>
                          <m:r>
                            <a:rPr lang="en-US" sz="2000" b="0" i="1" smtClean="0">
                              <a:latin typeface="Cambria Math" panose="02040503050406030204" pitchFamily="18" charset="0"/>
                            </a:rPr>
                            <m:t> </m:t>
                          </m:r>
                        </m:e>
                      </m:d>
                      <m:r>
                        <a:rPr lang="en-US" sz="2000" b="0" i="1" smtClean="0">
                          <a:latin typeface="Cambria Math" panose="02040503050406030204" pitchFamily="18" charset="0"/>
                        </a:rPr>
                        <m:t>⋅</m:t>
                      </m:r>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𝝈</m:t>
                          </m:r>
                        </m:e>
                      </m:acc>
                    </m:oMath>
                  </m:oMathPara>
                </a14:m>
                <a:endParaRPr lang="en-CA" sz="2000" dirty="0"/>
              </a:p>
            </p:txBody>
          </p:sp>
        </mc:Choice>
        <mc:Fallback xmlns="">
          <p:sp>
            <p:nvSpPr>
              <p:cNvPr id="26" name="TextBox 25">
                <a:extLst>
                  <a:ext uri="{FF2B5EF4-FFF2-40B4-BE49-F238E27FC236}">
                    <a16:creationId xmlns:a16="http://schemas.microsoft.com/office/drawing/2014/main" id="{840D4F13-0141-023A-5E96-C9BAE5B5D601}"/>
                  </a:ext>
                </a:extLst>
              </p:cNvPr>
              <p:cNvSpPr txBox="1">
                <a:spLocks noRot="1" noChangeAspect="1" noMove="1" noResize="1" noEditPoints="1" noAdjustHandles="1" noChangeArrowheads="1" noChangeShapeType="1" noTextEdit="1"/>
              </p:cNvSpPr>
              <p:nvPr/>
            </p:nvSpPr>
            <p:spPr>
              <a:xfrm>
                <a:off x="7658657" y="1600669"/>
                <a:ext cx="2930482" cy="576183"/>
              </a:xfrm>
              <a:prstGeom prst="rect">
                <a:avLst/>
              </a:prstGeom>
              <a:blipFill>
                <a:blip r:embed="rId4"/>
                <a:stretch>
                  <a:fillRect l="-1293" r="-862" b="-15217"/>
                </a:stretch>
              </a:blipFill>
            </p:spPr>
            <p:txBody>
              <a:bodyPr/>
              <a:lstStyle/>
              <a:p>
                <a:r>
                  <a:rPr lang="en-CA">
                    <a:noFill/>
                  </a:rPr>
                  <a:t> </a:t>
                </a:r>
              </a:p>
            </p:txBody>
          </p:sp>
        </mc:Fallback>
      </mc:AlternateContent>
      <p:sp>
        <p:nvSpPr>
          <p:cNvPr id="42" name="TextBox 41">
            <a:extLst>
              <a:ext uri="{FF2B5EF4-FFF2-40B4-BE49-F238E27FC236}">
                <a16:creationId xmlns:a16="http://schemas.microsoft.com/office/drawing/2014/main" id="{21BC65FD-E7B8-A0E9-9FE2-04AE80E100B7}"/>
              </a:ext>
            </a:extLst>
          </p:cNvPr>
          <p:cNvSpPr txBox="1"/>
          <p:nvPr/>
        </p:nvSpPr>
        <p:spPr>
          <a:xfrm>
            <a:off x="6732203" y="1020879"/>
            <a:ext cx="5326616" cy="400110"/>
          </a:xfrm>
          <a:prstGeom prst="rect">
            <a:avLst/>
          </a:prstGeom>
          <a:noFill/>
        </p:spPr>
        <p:txBody>
          <a:bodyPr wrap="square" rtlCol="0">
            <a:spAutoFit/>
          </a:bodyPr>
          <a:lstStyle/>
          <a:p>
            <a:r>
              <a:rPr lang="en-CA" sz="2000" dirty="0"/>
              <a:t>Internal dynamics prescribed by free Hamiltonian </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566985B-451D-45D3-FC5A-7F08C1938EA8}"/>
                  </a:ext>
                </a:extLst>
              </p:cNvPr>
              <p:cNvSpPr txBox="1"/>
              <p:nvPr/>
            </p:nvSpPr>
            <p:spPr>
              <a:xfrm>
                <a:off x="429086" y="5157349"/>
                <a:ext cx="259839"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p>
            </p:txBody>
          </p:sp>
        </mc:Choice>
        <mc:Fallback xmlns="">
          <p:sp>
            <p:nvSpPr>
              <p:cNvPr id="43" name="TextBox 42">
                <a:extLst>
                  <a:ext uri="{FF2B5EF4-FFF2-40B4-BE49-F238E27FC236}">
                    <a16:creationId xmlns:a16="http://schemas.microsoft.com/office/drawing/2014/main" id="{3566985B-451D-45D3-FC5A-7F08C1938EA8}"/>
                  </a:ext>
                </a:extLst>
              </p:cNvPr>
              <p:cNvSpPr txBox="1">
                <a:spLocks noRot="1" noChangeAspect="1" noMove="1" noResize="1" noEditPoints="1" noAdjustHandles="1" noChangeArrowheads="1" noChangeShapeType="1" noTextEdit="1"/>
              </p:cNvSpPr>
              <p:nvPr/>
            </p:nvSpPr>
            <p:spPr>
              <a:xfrm>
                <a:off x="429086" y="5157349"/>
                <a:ext cx="259839" cy="307777"/>
              </a:xfrm>
              <a:prstGeom prst="rect">
                <a:avLst/>
              </a:prstGeom>
              <a:blipFill>
                <a:blip r:embed="rId5"/>
                <a:stretch>
                  <a:fillRect b="-4000"/>
                </a:stretch>
              </a:blipFill>
            </p:spPr>
            <p:txBody>
              <a:bodyPr/>
              <a:lstStyle/>
              <a:p>
                <a:r>
                  <a:rPr lang="en-CA">
                    <a:noFill/>
                  </a:rPr>
                  <a:t> </a:t>
                </a:r>
              </a:p>
            </p:txBody>
          </p:sp>
        </mc:Fallback>
      </mc:AlternateContent>
      <p:cxnSp>
        <p:nvCxnSpPr>
          <p:cNvPr id="45" name="Straight Arrow Connector 44">
            <a:extLst>
              <a:ext uri="{FF2B5EF4-FFF2-40B4-BE49-F238E27FC236}">
                <a16:creationId xmlns:a16="http://schemas.microsoft.com/office/drawing/2014/main" id="{FD07C5EB-F282-32E7-B057-8D2871B00AA7}"/>
              </a:ext>
            </a:extLst>
          </p:cNvPr>
          <p:cNvCxnSpPr>
            <a:cxnSpLocks/>
          </p:cNvCxnSpPr>
          <p:nvPr/>
        </p:nvCxnSpPr>
        <p:spPr>
          <a:xfrm flipH="1" flipV="1">
            <a:off x="709200" y="4960615"/>
            <a:ext cx="8728" cy="60573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F7AA62E-0BFD-2E6F-03B1-1810D8E36C6E}"/>
                  </a:ext>
                </a:extLst>
              </p:cNvPr>
              <p:cNvSpPr txBox="1"/>
              <p:nvPr/>
            </p:nvSpPr>
            <p:spPr>
              <a:xfrm>
                <a:off x="770754" y="5670525"/>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dirty="0"/>
              </a:p>
            </p:txBody>
          </p:sp>
        </mc:Choice>
        <mc:Fallback xmlns="">
          <p:sp>
            <p:nvSpPr>
              <p:cNvPr id="46" name="TextBox 45">
                <a:extLst>
                  <a:ext uri="{FF2B5EF4-FFF2-40B4-BE49-F238E27FC236}">
                    <a16:creationId xmlns:a16="http://schemas.microsoft.com/office/drawing/2014/main" id="{CF7AA62E-0BFD-2E6F-03B1-1810D8E36C6E}"/>
                  </a:ext>
                </a:extLst>
              </p:cNvPr>
              <p:cNvSpPr txBox="1">
                <a:spLocks noRot="1" noChangeAspect="1" noMove="1" noResize="1" noEditPoints="1" noAdjustHandles="1" noChangeArrowheads="1" noChangeShapeType="1" noTextEdit="1"/>
              </p:cNvSpPr>
              <p:nvPr/>
            </p:nvSpPr>
            <p:spPr>
              <a:xfrm>
                <a:off x="770754" y="5670525"/>
                <a:ext cx="201722" cy="307777"/>
              </a:xfrm>
              <a:prstGeom prst="rect">
                <a:avLst/>
              </a:prstGeom>
              <a:blipFill>
                <a:blip r:embed="rId6"/>
                <a:stretch>
                  <a:fillRect l="-17647" r="-11765"/>
                </a:stretch>
              </a:blipFill>
            </p:spPr>
            <p:txBody>
              <a:bodyPr/>
              <a:lstStyle/>
              <a:p>
                <a:r>
                  <a:rPr lang="en-CA">
                    <a:noFill/>
                  </a:rPr>
                  <a:t> </a:t>
                </a:r>
              </a:p>
            </p:txBody>
          </p:sp>
        </mc:Fallback>
      </mc:AlternateContent>
      <p:cxnSp>
        <p:nvCxnSpPr>
          <p:cNvPr id="47" name="Straight Arrow Connector 46">
            <a:extLst>
              <a:ext uri="{FF2B5EF4-FFF2-40B4-BE49-F238E27FC236}">
                <a16:creationId xmlns:a16="http://schemas.microsoft.com/office/drawing/2014/main" id="{BE3EA674-F5F1-D9C7-008B-07196D4C1119}"/>
              </a:ext>
            </a:extLst>
          </p:cNvPr>
          <p:cNvCxnSpPr>
            <a:cxnSpLocks/>
          </p:cNvCxnSpPr>
          <p:nvPr/>
        </p:nvCxnSpPr>
        <p:spPr>
          <a:xfrm>
            <a:off x="722091" y="5568325"/>
            <a:ext cx="477385" cy="24319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ED86633-A489-45B9-EFEE-A3DCD809992F}"/>
                  </a:ext>
                </a:extLst>
              </p:cNvPr>
              <p:cNvSpPr txBox="1"/>
              <p:nvPr/>
            </p:nvSpPr>
            <p:spPr>
              <a:xfrm>
                <a:off x="39863" y="2311912"/>
                <a:ext cx="2696708" cy="439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CA" sz="2000" i="1" dirty="0" smtClean="0">
                              <a:latin typeface="Cambria Math" panose="02040503050406030204" pitchFamily="18" charset="0"/>
                            </a:rPr>
                          </m:ctrlPr>
                        </m:sSupPr>
                        <m:e>
                          <m:r>
                            <a:rPr lang="en-CA" sz="2000" i="1" dirty="0" smtClean="0">
                              <a:latin typeface="Cambria Math" panose="02040503050406030204" pitchFamily="18" charset="0"/>
                            </a:rPr>
                            <m:t>𝑧</m:t>
                          </m:r>
                        </m:e>
                        <m:sup>
                          <m:r>
                            <a:rPr lang="en-CA" sz="2000" i="1" dirty="0" smtClean="0">
                              <a:latin typeface="Cambria Math" panose="02040503050406030204" pitchFamily="18" charset="0"/>
                            </a:rPr>
                            <m:t>𝜇</m:t>
                          </m:r>
                        </m:sup>
                      </m:sSup>
                      <m:d>
                        <m:dPr>
                          <m:ctrlPr>
                            <a:rPr lang="en-CA" sz="2000" i="1" dirty="0">
                              <a:latin typeface="Cambria Math" panose="02040503050406030204" pitchFamily="18" charset="0"/>
                            </a:rPr>
                          </m:ctrlPr>
                        </m:dPr>
                        <m:e>
                          <m:r>
                            <a:rPr lang="en-US" sz="2000" b="0" i="1" dirty="0" smtClean="0">
                              <a:latin typeface="Cambria Math" panose="02040503050406030204" pitchFamily="18" charset="0"/>
                            </a:rPr>
                            <m:t>𝜏</m:t>
                          </m:r>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𝑡</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𝜏</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𝜏</m:t>
                              </m:r>
                            </m:e>
                          </m:d>
                        </m:e>
                      </m:d>
                      <m:r>
                        <a:rPr lang="en-CA" sz="2000" i="1" dirty="0">
                          <a:latin typeface="Cambria Math" panose="02040503050406030204" pitchFamily="18" charset="0"/>
                        </a:rPr>
                        <m:t> </m:t>
                      </m:r>
                    </m:oMath>
                  </m:oMathPara>
                </a14:m>
                <a:endParaRPr lang="en-CA" dirty="0"/>
              </a:p>
            </p:txBody>
          </p:sp>
        </mc:Choice>
        <mc:Fallback xmlns="">
          <p:sp>
            <p:nvSpPr>
              <p:cNvPr id="51" name="TextBox 50">
                <a:extLst>
                  <a:ext uri="{FF2B5EF4-FFF2-40B4-BE49-F238E27FC236}">
                    <a16:creationId xmlns:a16="http://schemas.microsoft.com/office/drawing/2014/main" id="{8ED86633-A489-45B9-EFEE-A3DCD809992F}"/>
                  </a:ext>
                </a:extLst>
              </p:cNvPr>
              <p:cNvSpPr txBox="1">
                <a:spLocks noRot="1" noChangeAspect="1" noMove="1" noResize="1" noEditPoints="1" noAdjustHandles="1" noChangeArrowheads="1" noChangeShapeType="1" noTextEdit="1"/>
              </p:cNvSpPr>
              <p:nvPr/>
            </p:nvSpPr>
            <p:spPr>
              <a:xfrm>
                <a:off x="39863" y="2311912"/>
                <a:ext cx="2696708" cy="439736"/>
              </a:xfrm>
              <a:prstGeom prst="rect">
                <a:avLst/>
              </a:prstGeom>
              <a:blipFill>
                <a:blip r:embed="rId7"/>
                <a:stretch>
                  <a:fillRect b="-13889"/>
                </a:stretch>
              </a:blipFill>
            </p:spPr>
            <p:txBody>
              <a:bodyPr/>
              <a:lstStyle/>
              <a:p>
                <a:r>
                  <a:rPr lang="en-CA">
                    <a:noFill/>
                  </a:rPr>
                  <a:t> </a:t>
                </a:r>
              </a:p>
            </p:txBody>
          </p:sp>
        </mc:Fallback>
      </mc:AlternateContent>
      <p:sp>
        <p:nvSpPr>
          <p:cNvPr id="31" name="Oval 30">
            <a:extLst>
              <a:ext uri="{FF2B5EF4-FFF2-40B4-BE49-F238E27FC236}">
                <a16:creationId xmlns:a16="http://schemas.microsoft.com/office/drawing/2014/main" id="{FE67414C-B464-F744-7B80-EDA097AFF6AE}"/>
              </a:ext>
            </a:extLst>
          </p:cNvPr>
          <p:cNvSpPr/>
          <p:nvPr/>
        </p:nvSpPr>
        <p:spPr>
          <a:xfrm>
            <a:off x="5249969" y="10960622"/>
            <a:ext cx="2173457" cy="1267635"/>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ounded Rectangle 31">
            <a:extLst>
              <a:ext uri="{FF2B5EF4-FFF2-40B4-BE49-F238E27FC236}">
                <a16:creationId xmlns:a16="http://schemas.microsoft.com/office/drawing/2014/main" id="{F4AAFDE3-36F3-3125-1E22-E831E4E17B07}"/>
              </a:ext>
            </a:extLst>
          </p:cNvPr>
          <p:cNvSpPr/>
          <p:nvPr/>
        </p:nvSpPr>
        <p:spPr>
          <a:xfrm>
            <a:off x="818862" y="10940283"/>
            <a:ext cx="3801935" cy="107292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3" name="Picture 32">
            <a:extLst>
              <a:ext uri="{FF2B5EF4-FFF2-40B4-BE49-F238E27FC236}">
                <a16:creationId xmlns:a16="http://schemas.microsoft.com/office/drawing/2014/main" id="{43D51BD3-BADD-7E93-0FC0-98546BB65DCD}"/>
              </a:ext>
            </a:extLst>
          </p:cNvPr>
          <p:cNvPicPr>
            <a:picLocks noChangeAspect="1"/>
          </p:cNvPicPr>
          <p:nvPr/>
        </p:nvPicPr>
        <p:blipFill>
          <a:blip r:embed="rId8"/>
          <a:stretch>
            <a:fillRect/>
          </a:stretch>
        </p:blipFill>
        <p:spPr>
          <a:xfrm>
            <a:off x="7845558" y="7262249"/>
            <a:ext cx="2541963" cy="5099017"/>
          </a:xfrm>
          <a:prstGeom prst="rect">
            <a:avLst/>
          </a:prstGeom>
        </p:spPr>
      </p:pic>
      <p:sp>
        <p:nvSpPr>
          <p:cNvPr id="34" name="TextBox 33">
            <a:extLst>
              <a:ext uri="{FF2B5EF4-FFF2-40B4-BE49-F238E27FC236}">
                <a16:creationId xmlns:a16="http://schemas.microsoft.com/office/drawing/2014/main" id="{B5EE601C-1F56-D8AB-D3DA-E467AE4076DE}"/>
              </a:ext>
            </a:extLst>
          </p:cNvPr>
          <p:cNvSpPr txBox="1"/>
          <p:nvPr/>
        </p:nvSpPr>
        <p:spPr>
          <a:xfrm>
            <a:off x="342917" y="7421767"/>
            <a:ext cx="6198665" cy="400110"/>
          </a:xfrm>
          <a:prstGeom prst="rect">
            <a:avLst/>
          </a:prstGeom>
          <a:noFill/>
        </p:spPr>
        <p:txBody>
          <a:bodyPr wrap="square" rtlCol="0">
            <a:spAutoFit/>
          </a:bodyPr>
          <a:lstStyle/>
          <a:p>
            <a:r>
              <a:rPr lang="en-CA" sz="2000" dirty="0"/>
              <a:t>Consider UDW scalar field interaction Hamiltonian density  </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89F93D5-A8A6-1ABF-B225-58BDCF4421D8}"/>
                  </a:ext>
                </a:extLst>
              </p:cNvPr>
              <p:cNvSpPr txBox="1"/>
              <p:nvPr/>
            </p:nvSpPr>
            <p:spPr>
              <a:xfrm>
                <a:off x="1690139" y="7918131"/>
                <a:ext cx="2783070" cy="3242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h</m:t>
                              </m:r>
                            </m:e>
                          </m:acc>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r>
                        <a:rPr lang="en-US" sz="2000" b="0" i="1" smtClean="0">
                          <a:latin typeface="Cambria Math" panose="02040503050406030204" pitchFamily="18" charset="0"/>
                        </a:rPr>
                        <m:t>𝜆</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Λ</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35" name="TextBox 34">
                <a:extLst>
                  <a:ext uri="{FF2B5EF4-FFF2-40B4-BE49-F238E27FC236}">
                    <a16:creationId xmlns:a16="http://schemas.microsoft.com/office/drawing/2014/main" id="{089F93D5-A8A6-1ABF-B225-58BDCF4421D8}"/>
                  </a:ext>
                </a:extLst>
              </p:cNvPr>
              <p:cNvSpPr txBox="1">
                <a:spLocks noRot="1" noChangeAspect="1" noMove="1" noResize="1" noEditPoints="1" noAdjustHandles="1" noChangeArrowheads="1" noChangeShapeType="1" noTextEdit="1"/>
              </p:cNvSpPr>
              <p:nvPr/>
            </p:nvSpPr>
            <p:spPr>
              <a:xfrm>
                <a:off x="1690139" y="7918131"/>
                <a:ext cx="2783070" cy="324256"/>
              </a:xfrm>
              <a:prstGeom prst="rect">
                <a:avLst/>
              </a:prstGeom>
              <a:blipFill>
                <a:blip r:embed="rId9"/>
                <a:stretch>
                  <a:fillRect l="-1357" t="-19231" b="-3076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145CE61-EFC0-93E4-5174-0C3D88C670C9}"/>
                  </a:ext>
                </a:extLst>
              </p:cNvPr>
              <p:cNvSpPr txBox="1"/>
              <p:nvPr/>
            </p:nvSpPr>
            <p:spPr>
              <a:xfrm>
                <a:off x="394118" y="9212168"/>
                <a:ext cx="2354875" cy="3796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rPr>
                        <m:t>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e>
                      </m:d>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ℇ</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acc>
                            <m:accPr>
                              <m:chr m:val="̂"/>
                              <m:ctrlPr>
                                <a:rPr lang="en-CA"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up>
                          <m:r>
                            <a:rPr lang="en-US" sz="2000" i="1">
                              <a:latin typeface="Cambria Math" panose="02040503050406030204" pitchFamily="18" charset="0"/>
                              <a:ea typeface="Cambria Math" panose="02040503050406030204" pitchFamily="18" charset="0"/>
                            </a:rPr>
                            <m:t>†</m:t>
                          </m:r>
                        </m:sup>
                      </m:sSubSup>
                    </m:oMath>
                  </m:oMathPara>
                </a14:m>
                <a:endParaRPr lang="en-CA" dirty="0"/>
              </a:p>
            </p:txBody>
          </p:sp>
        </mc:Choice>
        <mc:Fallback xmlns="">
          <p:sp>
            <p:nvSpPr>
              <p:cNvPr id="38" name="TextBox 37">
                <a:extLst>
                  <a:ext uri="{FF2B5EF4-FFF2-40B4-BE49-F238E27FC236}">
                    <a16:creationId xmlns:a16="http://schemas.microsoft.com/office/drawing/2014/main" id="{A145CE61-EFC0-93E4-5174-0C3D88C670C9}"/>
                  </a:ext>
                </a:extLst>
              </p:cNvPr>
              <p:cNvSpPr txBox="1">
                <a:spLocks noRot="1" noChangeAspect="1" noMove="1" noResize="1" noEditPoints="1" noAdjustHandles="1" noChangeArrowheads="1" noChangeShapeType="1" noTextEdit="1"/>
              </p:cNvSpPr>
              <p:nvPr/>
            </p:nvSpPr>
            <p:spPr>
              <a:xfrm>
                <a:off x="394118" y="9212168"/>
                <a:ext cx="2354875" cy="379656"/>
              </a:xfrm>
              <a:prstGeom prst="rect">
                <a:avLst/>
              </a:prstGeom>
              <a:blipFill>
                <a:blip r:embed="rId10"/>
                <a:stretch>
                  <a:fillRect l="-2151" t="-6452" r="-1075" b="-1935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C5B5F89-DC34-1482-D6A8-6B0F98D60C6F}"/>
                  </a:ext>
                </a:extLst>
              </p:cNvPr>
              <p:cNvSpPr txBox="1"/>
              <p:nvPr/>
            </p:nvSpPr>
            <p:spPr>
              <a:xfrm>
                <a:off x="3351996" y="9060025"/>
                <a:ext cx="2354684" cy="4900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𝑖</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den>
                          </m:f>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rPr>
                                <m:t>&lt;</m:t>
                              </m:r>
                              <m:r>
                                <a:rPr lang="en-US" sz="2000" b="0" i="1" smtClean="0">
                                  <a:latin typeface="Cambria Math" panose="02040503050406030204" pitchFamily="18" charset="0"/>
                                </a:rPr>
                                <m:t>𝑗</m:t>
                              </m:r>
                            </m:sub>
                            <m:sup/>
                            <m:e>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𝑗</m:t>
                                  </m:r>
                                </m:sub>
                              </m:sSub>
                            </m:e>
                          </m:nary>
                        </m:sup>
                      </m:sSup>
                    </m:oMath>
                  </m:oMathPara>
                </a14:m>
                <a:endParaRPr lang="en-CA" dirty="0"/>
              </a:p>
            </p:txBody>
          </p:sp>
        </mc:Choice>
        <mc:Fallback xmlns="">
          <p:sp>
            <p:nvSpPr>
              <p:cNvPr id="39" name="TextBox 38">
                <a:extLst>
                  <a:ext uri="{FF2B5EF4-FFF2-40B4-BE49-F238E27FC236}">
                    <a16:creationId xmlns:a16="http://schemas.microsoft.com/office/drawing/2014/main" id="{9C5B5F89-DC34-1482-D6A8-6B0F98D60C6F}"/>
                  </a:ext>
                </a:extLst>
              </p:cNvPr>
              <p:cNvSpPr txBox="1">
                <a:spLocks noRot="1" noChangeAspect="1" noMove="1" noResize="1" noEditPoints="1" noAdjustHandles="1" noChangeArrowheads="1" noChangeShapeType="1" noTextEdit="1"/>
              </p:cNvSpPr>
              <p:nvPr/>
            </p:nvSpPr>
            <p:spPr>
              <a:xfrm>
                <a:off x="3351996" y="9060025"/>
                <a:ext cx="2354684" cy="490006"/>
              </a:xfrm>
              <a:prstGeom prst="rect">
                <a:avLst/>
              </a:prstGeom>
              <a:blipFill>
                <a:blip r:embed="rId11"/>
                <a:stretch>
                  <a:fillRect l="-2151" t="-57500" r="-538" b="-92500"/>
                </a:stretch>
              </a:blipFill>
            </p:spPr>
            <p:txBody>
              <a:bodyPr/>
              <a:lstStyle/>
              <a:p>
                <a:r>
                  <a:rPr lang="en-CA">
                    <a:noFill/>
                  </a:rPr>
                  <a:t> </a:t>
                </a:r>
              </a:p>
            </p:txBody>
          </p:sp>
        </mc:Fallback>
      </mc:AlternateContent>
      <p:pic>
        <p:nvPicPr>
          <p:cNvPr id="44" name="Picture 43">
            <a:extLst>
              <a:ext uri="{FF2B5EF4-FFF2-40B4-BE49-F238E27FC236}">
                <a16:creationId xmlns:a16="http://schemas.microsoft.com/office/drawing/2014/main" id="{B0927769-1D9C-390A-C512-767F547D4422}"/>
              </a:ext>
            </a:extLst>
          </p:cNvPr>
          <p:cNvPicPr>
            <a:picLocks noChangeAspect="1"/>
          </p:cNvPicPr>
          <p:nvPr/>
        </p:nvPicPr>
        <p:blipFill>
          <a:blip r:embed="rId12">
            <a:alphaModFix amt="60000"/>
          </a:blip>
          <a:stretch>
            <a:fillRect/>
          </a:stretch>
        </p:blipFill>
        <p:spPr>
          <a:xfrm rot="21259358">
            <a:off x="5771849" y="7357862"/>
            <a:ext cx="6249993" cy="3749995"/>
          </a:xfrm>
          <a:prstGeom prst="rect">
            <a:avLst/>
          </a:prstGeom>
          <a:effectLst/>
          <a:scene3d>
            <a:camera prst="orthographicFront">
              <a:rot lat="2400000" lon="0" rev="0"/>
            </a:camera>
            <a:lightRig rig="threePt" dir="t"/>
          </a:scene3d>
        </p:spPr>
      </p:pic>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29A3C1E-A2F2-2084-AD87-7C3906A7FE2B}"/>
                  </a:ext>
                </a:extLst>
              </p:cNvPr>
              <p:cNvSpPr txBox="1"/>
              <p:nvPr/>
            </p:nvSpPr>
            <p:spPr>
              <a:xfrm>
                <a:off x="6196609" y="9070761"/>
                <a:ext cx="126239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&lt;</m:t>
                      </m:r>
                      <m:r>
                        <a:rPr lang="en-US" sz="2000" b="0" i="1" smtClean="0">
                          <a:latin typeface="Cambria Math" panose="02040503050406030204" pitchFamily="18" charset="0"/>
                        </a:rPr>
                        <m:t>𝑡</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2</m:t>
                          </m:r>
                        </m:sub>
                      </m:sSub>
                    </m:oMath>
                  </m:oMathPara>
                </a14:m>
                <a:endParaRPr lang="en-CA" dirty="0"/>
              </a:p>
            </p:txBody>
          </p:sp>
        </mc:Choice>
        <mc:Fallback xmlns="">
          <p:sp>
            <p:nvSpPr>
              <p:cNvPr id="48" name="TextBox 47">
                <a:extLst>
                  <a:ext uri="{FF2B5EF4-FFF2-40B4-BE49-F238E27FC236}">
                    <a16:creationId xmlns:a16="http://schemas.microsoft.com/office/drawing/2014/main" id="{829A3C1E-A2F2-2084-AD87-7C3906A7FE2B}"/>
                  </a:ext>
                </a:extLst>
              </p:cNvPr>
              <p:cNvSpPr txBox="1">
                <a:spLocks noRot="1" noChangeAspect="1" noMove="1" noResize="1" noEditPoints="1" noAdjustHandles="1" noChangeArrowheads="1" noChangeShapeType="1" noTextEdit="1"/>
              </p:cNvSpPr>
              <p:nvPr/>
            </p:nvSpPr>
            <p:spPr>
              <a:xfrm>
                <a:off x="6196609" y="9070761"/>
                <a:ext cx="1262397" cy="307777"/>
              </a:xfrm>
              <a:prstGeom prst="rect">
                <a:avLst/>
              </a:prstGeom>
              <a:blipFill>
                <a:blip r:embed="rId13"/>
                <a:stretch>
                  <a:fillRect l="-4000" r="-1000" b="-16000"/>
                </a:stretch>
              </a:blipFill>
            </p:spPr>
            <p:txBody>
              <a:bodyPr/>
              <a:lstStyle/>
              <a:p>
                <a:r>
                  <a:rPr lang="en-CA">
                    <a:noFill/>
                  </a:rPr>
                  <a:t> </a:t>
                </a:r>
              </a:p>
            </p:txBody>
          </p:sp>
        </mc:Fallback>
      </mc:AlternateContent>
      <p:sp>
        <p:nvSpPr>
          <p:cNvPr id="54" name="Left Brace 53">
            <a:extLst>
              <a:ext uri="{FF2B5EF4-FFF2-40B4-BE49-F238E27FC236}">
                <a16:creationId xmlns:a16="http://schemas.microsoft.com/office/drawing/2014/main" id="{9AC3815F-D93A-D454-45E2-524DB2F42085}"/>
              </a:ext>
            </a:extLst>
          </p:cNvPr>
          <p:cNvSpPr/>
          <p:nvPr/>
        </p:nvSpPr>
        <p:spPr>
          <a:xfrm rot="21404871">
            <a:off x="7542363" y="8601757"/>
            <a:ext cx="183464" cy="1280160"/>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6B3790B-6354-99B8-1930-242B8E0DA990}"/>
                  </a:ext>
                </a:extLst>
              </p:cNvPr>
              <p:cNvSpPr txBox="1"/>
              <p:nvPr/>
            </p:nvSpPr>
            <p:spPr>
              <a:xfrm>
                <a:off x="6477203" y="8609119"/>
                <a:ext cx="7927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oMath>
                  </m:oMathPara>
                </a14:m>
                <a:endParaRPr lang="en-CA" dirty="0"/>
              </a:p>
            </p:txBody>
          </p:sp>
        </mc:Choice>
        <mc:Fallback xmlns="">
          <p:sp>
            <p:nvSpPr>
              <p:cNvPr id="55" name="TextBox 54">
                <a:extLst>
                  <a:ext uri="{FF2B5EF4-FFF2-40B4-BE49-F238E27FC236}">
                    <a16:creationId xmlns:a16="http://schemas.microsoft.com/office/drawing/2014/main" id="{46B3790B-6354-99B8-1930-242B8E0DA990}"/>
                  </a:ext>
                </a:extLst>
              </p:cNvPr>
              <p:cNvSpPr txBox="1">
                <a:spLocks noRot="1" noChangeAspect="1" noMove="1" noResize="1" noEditPoints="1" noAdjustHandles="1" noChangeArrowheads="1" noChangeShapeType="1" noTextEdit="1"/>
              </p:cNvSpPr>
              <p:nvPr/>
            </p:nvSpPr>
            <p:spPr>
              <a:xfrm>
                <a:off x="6477203" y="8609119"/>
                <a:ext cx="792718" cy="307777"/>
              </a:xfrm>
              <a:prstGeom prst="rect">
                <a:avLst/>
              </a:prstGeom>
              <a:blipFill>
                <a:blip r:embed="rId14"/>
                <a:stretch>
                  <a:fillRect l="-7937" r="-6349"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0E85937-81A3-A36D-4A55-6C01B0633D70}"/>
                  </a:ext>
                </a:extLst>
              </p:cNvPr>
              <p:cNvSpPr txBox="1"/>
              <p:nvPr/>
            </p:nvSpPr>
            <p:spPr>
              <a:xfrm>
                <a:off x="10533225" y="9037193"/>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57" name="TextBox 56">
                <a:extLst>
                  <a:ext uri="{FF2B5EF4-FFF2-40B4-BE49-F238E27FC236}">
                    <a16:creationId xmlns:a16="http://schemas.microsoft.com/office/drawing/2014/main" id="{00E85937-81A3-A36D-4A55-6C01B0633D70}"/>
                  </a:ext>
                </a:extLst>
              </p:cNvPr>
              <p:cNvSpPr txBox="1">
                <a:spLocks noRot="1" noChangeAspect="1" noMove="1" noResize="1" noEditPoints="1" noAdjustHandles="1" noChangeArrowheads="1" noChangeShapeType="1" noTextEdit="1"/>
              </p:cNvSpPr>
              <p:nvPr/>
            </p:nvSpPr>
            <p:spPr>
              <a:xfrm>
                <a:off x="10533225" y="9037193"/>
                <a:ext cx="574260" cy="320729"/>
              </a:xfrm>
              <a:prstGeom prst="rect">
                <a:avLst/>
              </a:prstGeom>
              <a:blipFill>
                <a:blip r:embed="rId15"/>
                <a:stretch>
                  <a:fillRect l="-15217" t="-15385" b="-30769"/>
                </a:stretch>
              </a:blipFill>
            </p:spPr>
            <p:txBody>
              <a:bodyPr/>
              <a:lstStyle/>
              <a:p>
                <a:r>
                  <a:rPr lang="en-CA">
                    <a:noFill/>
                  </a:rPr>
                  <a:t> </a:t>
                </a:r>
              </a:p>
            </p:txBody>
          </p:sp>
        </mc:Fallback>
      </mc:AlternateContent>
      <p:sp>
        <p:nvSpPr>
          <p:cNvPr id="58" name="TextBox 57">
            <a:extLst>
              <a:ext uri="{FF2B5EF4-FFF2-40B4-BE49-F238E27FC236}">
                <a16:creationId xmlns:a16="http://schemas.microsoft.com/office/drawing/2014/main" id="{5F2E9EFD-B03D-0E88-03D5-124F96C8D386}"/>
              </a:ext>
            </a:extLst>
          </p:cNvPr>
          <p:cNvSpPr txBox="1"/>
          <p:nvPr/>
        </p:nvSpPr>
        <p:spPr>
          <a:xfrm>
            <a:off x="10336210" y="11606169"/>
            <a:ext cx="1469452" cy="400110"/>
          </a:xfrm>
          <a:prstGeom prst="rect">
            <a:avLst/>
          </a:prstGeom>
          <a:noFill/>
        </p:spPr>
        <p:txBody>
          <a:bodyPr wrap="square" rtlCol="0">
            <a:spAutoFit/>
          </a:bodyPr>
          <a:lstStyle/>
          <a:p>
            <a:r>
              <a:rPr lang="en-CA" sz="2000" dirty="0"/>
              <a:t>worldlines</a:t>
            </a:r>
          </a:p>
        </p:txBody>
      </p:sp>
      <p:sp>
        <p:nvSpPr>
          <p:cNvPr id="59" name="Left Brace 58">
            <a:extLst>
              <a:ext uri="{FF2B5EF4-FFF2-40B4-BE49-F238E27FC236}">
                <a16:creationId xmlns:a16="http://schemas.microsoft.com/office/drawing/2014/main" id="{7DE2D3A9-5AAF-7EB9-E8DB-FFB7DB387162}"/>
              </a:ext>
            </a:extLst>
          </p:cNvPr>
          <p:cNvSpPr/>
          <p:nvPr/>
        </p:nvSpPr>
        <p:spPr>
          <a:xfrm rot="12934382">
            <a:off x="9886172" y="11205232"/>
            <a:ext cx="215796" cy="1424557"/>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1932E5D1-5824-5447-9177-4DC6118BDF9F}"/>
                  </a:ext>
                </a:extLst>
              </p:cNvPr>
              <p:cNvSpPr txBox="1"/>
              <p:nvPr/>
            </p:nvSpPr>
            <p:spPr>
              <a:xfrm>
                <a:off x="10426009" y="11932874"/>
                <a:ext cx="911316" cy="4361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r>
                        <a:rPr lang="en-CA" sz="2000" i="1" dirty="0">
                          <a:latin typeface="Cambria Math" panose="02040503050406030204" pitchFamily="18" charset="0"/>
                        </a:rPr>
                        <m:t>(</m:t>
                      </m:r>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r>
                        <a:rPr lang="en-CA" sz="2000" i="1" dirty="0">
                          <a:latin typeface="Cambria Math" panose="02040503050406030204" pitchFamily="18" charset="0"/>
                        </a:rPr>
                        <m:t>) </m:t>
                      </m:r>
                    </m:oMath>
                  </m:oMathPara>
                </a14:m>
                <a:endParaRPr lang="en-CA" dirty="0"/>
              </a:p>
            </p:txBody>
          </p:sp>
        </mc:Choice>
        <mc:Fallback xmlns="">
          <p:sp>
            <p:nvSpPr>
              <p:cNvPr id="60" name="TextBox 59">
                <a:extLst>
                  <a:ext uri="{FF2B5EF4-FFF2-40B4-BE49-F238E27FC236}">
                    <a16:creationId xmlns:a16="http://schemas.microsoft.com/office/drawing/2014/main" id="{1932E5D1-5824-5447-9177-4DC6118BDF9F}"/>
                  </a:ext>
                </a:extLst>
              </p:cNvPr>
              <p:cNvSpPr txBox="1">
                <a:spLocks noRot="1" noChangeAspect="1" noMove="1" noResize="1" noEditPoints="1" noAdjustHandles="1" noChangeArrowheads="1" noChangeShapeType="1" noTextEdit="1"/>
              </p:cNvSpPr>
              <p:nvPr/>
            </p:nvSpPr>
            <p:spPr>
              <a:xfrm>
                <a:off x="10426009" y="11932874"/>
                <a:ext cx="911316" cy="436145"/>
              </a:xfrm>
              <a:prstGeom prst="rect">
                <a:avLst/>
              </a:prstGeom>
              <a:blipFill>
                <a:blip r:embed="rId16"/>
                <a:stretch>
                  <a:fillRect r="-5479" b="-11429"/>
                </a:stretch>
              </a:blipFill>
            </p:spPr>
            <p:txBody>
              <a:bodyPr/>
              <a:lstStyle/>
              <a:p>
                <a:r>
                  <a:rPr lang="en-CA">
                    <a:noFill/>
                  </a:rPr>
                  <a:t> </a:t>
                </a:r>
              </a:p>
            </p:txBody>
          </p:sp>
        </mc:Fallback>
      </mc:AlternateContent>
      <p:sp>
        <p:nvSpPr>
          <p:cNvPr id="61" name="TextBox 60">
            <a:extLst>
              <a:ext uri="{FF2B5EF4-FFF2-40B4-BE49-F238E27FC236}">
                <a16:creationId xmlns:a16="http://schemas.microsoft.com/office/drawing/2014/main" id="{EB5CADEB-283A-343D-12A2-D7474DA9BF19}"/>
              </a:ext>
            </a:extLst>
          </p:cNvPr>
          <p:cNvSpPr txBox="1"/>
          <p:nvPr/>
        </p:nvSpPr>
        <p:spPr>
          <a:xfrm>
            <a:off x="5970307" y="9736543"/>
            <a:ext cx="1804097" cy="1015663"/>
          </a:xfrm>
          <a:prstGeom prst="rect">
            <a:avLst/>
          </a:prstGeom>
          <a:noFill/>
        </p:spPr>
        <p:txBody>
          <a:bodyPr wrap="square" rtlCol="0">
            <a:spAutoFit/>
          </a:bodyPr>
          <a:lstStyle/>
          <a:p>
            <a:r>
              <a:rPr lang="en-CA" sz="2000" dirty="0"/>
              <a:t>Detector-field interaction regions</a:t>
            </a:r>
          </a:p>
        </p:txBody>
      </p:sp>
      <p:sp>
        <p:nvSpPr>
          <p:cNvPr id="62" name="Connector 61">
            <a:extLst>
              <a:ext uri="{FF2B5EF4-FFF2-40B4-BE49-F238E27FC236}">
                <a16:creationId xmlns:a16="http://schemas.microsoft.com/office/drawing/2014/main" id="{5CE1A321-854A-38C8-FF7F-E5F718C864FD}"/>
              </a:ext>
            </a:extLst>
          </p:cNvPr>
          <p:cNvSpPr/>
          <p:nvPr/>
        </p:nvSpPr>
        <p:spPr>
          <a:xfrm>
            <a:off x="7786816" y="8171005"/>
            <a:ext cx="2549394" cy="1768783"/>
          </a:xfrm>
          <a:prstGeom prst="flowChartConnector">
            <a:avLst/>
          </a:prstGeom>
          <a:noFill/>
          <a:ln w="31750">
            <a:prstDash val="dash"/>
          </a:ln>
          <a:scene3d>
            <a:camera prst="orthographicFront">
              <a:rot lat="19210946" lon="21349022" rev="39093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3" name="TextBox 62">
            <a:extLst>
              <a:ext uri="{FF2B5EF4-FFF2-40B4-BE49-F238E27FC236}">
                <a16:creationId xmlns:a16="http://schemas.microsoft.com/office/drawing/2014/main" id="{66E1E6A6-929E-2D76-B854-992B69AC5DDF}"/>
              </a:ext>
            </a:extLst>
          </p:cNvPr>
          <p:cNvSpPr txBox="1"/>
          <p:nvPr/>
        </p:nvSpPr>
        <p:spPr>
          <a:xfrm>
            <a:off x="345524" y="8409065"/>
            <a:ext cx="5009371" cy="707886"/>
          </a:xfrm>
          <a:prstGeom prst="rect">
            <a:avLst/>
          </a:prstGeom>
          <a:noFill/>
        </p:spPr>
        <p:txBody>
          <a:bodyPr wrap="square" rtlCol="0">
            <a:spAutoFit/>
          </a:bodyPr>
          <a:lstStyle/>
          <a:p>
            <a:r>
              <a:rPr lang="en-CA" sz="2000" dirty="0"/>
              <a:t>Time-evolution plus tracing out field results in decohering channel</a:t>
            </a:r>
          </a:p>
        </p:txBody>
      </p:sp>
      <p:sp>
        <p:nvSpPr>
          <p:cNvPr id="64" name="TextBox 63">
            <a:extLst>
              <a:ext uri="{FF2B5EF4-FFF2-40B4-BE49-F238E27FC236}">
                <a16:creationId xmlns:a16="http://schemas.microsoft.com/office/drawing/2014/main" id="{FCDE0FC0-4202-A57B-909E-7EAC63CD82B6}"/>
              </a:ext>
            </a:extLst>
          </p:cNvPr>
          <p:cNvSpPr txBox="1"/>
          <p:nvPr/>
        </p:nvSpPr>
        <p:spPr>
          <a:xfrm>
            <a:off x="2736571" y="9212168"/>
            <a:ext cx="720245" cy="369332"/>
          </a:xfrm>
          <a:prstGeom prst="rect">
            <a:avLst/>
          </a:prstGeom>
          <a:noFill/>
        </p:spPr>
        <p:txBody>
          <a:bodyPr wrap="square" rtlCol="0">
            <a:spAutoFit/>
          </a:bodyPr>
          <a:lstStyle/>
          <a:p>
            <a:r>
              <a:rPr lang="en-CA" dirty="0"/>
              <a:t>with</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FA88D836-078A-8685-34E3-3A52DCC700A8}"/>
                  </a:ext>
                </a:extLst>
              </p:cNvPr>
              <p:cNvSpPr txBox="1"/>
              <p:nvPr/>
            </p:nvSpPr>
            <p:spPr>
              <a:xfrm>
                <a:off x="355489" y="9711857"/>
                <a:ext cx="5291852" cy="73257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oMath>
                </a14:m>
                <a:r>
                  <a:rPr lang="en-CA" sz="2000" dirty="0"/>
                  <a:t> are parameters that depend on propagation of detector interaction regions through field </a:t>
                </a:r>
                <a:endParaRPr lang="en-CA" dirty="0"/>
              </a:p>
            </p:txBody>
          </p:sp>
        </mc:Choice>
        <mc:Fallback xmlns="">
          <p:sp>
            <p:nvSpPr>
              <p:cNvPr id="65" name="TextBox 64">
                <a:extLst>
                  <a:ext uri="{FF2B5EF4-FFF2-40B4-BE49-F238E27FC236}">
                    <a16:creationId xmlns:a16="http://schemas.microsoft.com/office/drawing/2014/main" id="{FA88D836-078A-8685-34E3-3A52DCC700A8}"/>
                  </a:ext>
                </a:extLst>
              </p:cNvPr>
              <p:cNvSpPr txBox="1">
                <a:spLocks noRot="1" noChangeAspect="1" noMove="1" noResize="1" noEditPoints="1" noAdjustHandles="1" noChangeArrowheads="1" noChangeShapeType="1" noTextEdit="1"/>
              </p:cNvSpPr>
              <p:nvPr/>
            </p:nvSpPr>
            <p:spPr>
              <a:xfrm>
                <a:off x="355489" y="9711857"/>
                <a:ext cx="5291852" cy="732573"/>
              </a:xfrm>
              <a:prstGeom prst="rect">
                <a:avLst/>
              </a:prstGeom>
              <a:blipFill>
                <a:blip r:embed="rId17"/>
                <a:stretch>
                  <a:fillRect l="-957" t="-3390" b="-1355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285155C-FE21-606B-61EE-436772F93AD3}"/>
                  </a:ext>
                </a:extLst>
              </p:cNvPr>
              <p:cNvSpPr txBox="1"/>
              <p:nvPr/>
            </p:nvSpPr>
            <p:spPr>
              <a:xfrm>
                <a:off x="5591601" y="11017407"/>
                <a:ext cx="1850333" cy="1062470"/>
              </a:xfrm>
              <a:prstGeom prst="rect">
                <a:avLst/>
              </a:prstGeom>
              <a:noFill/>
            </p:spPr>
            <p:txBody>
              <a:bodyPr wrap="square" rtlCol="0">
                <a:spAutoFit/>
              </a:bodyPr>
              <a:lstStyle/>
              <a:p>
                <a:r>
                  <a:rPr lang="en-CA" sz="2000" dirty="0"/>
                  <a:t>meaningful entanglement: </a:t>
                </a:r>
                <a14:m>
                  <m:oMath xmlns:m="http://schemas.openxmlformats.org/officeDocument/2006/math">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e>
                    </m:d>
                    <m:r>
                      <a:rPr lang="en-US" sz="2000" b="0" i="1" smtClean="0">
                        <a:latin typeface="Cambria Math" panose="02040503050406030204" pitchFamily="18" charset="0"/>
                      </a:rPr>
                      <m:t>∼1</m:t>
                    </m:r>
                  </m:oMath>
                </a14:m>
                <a:endParaRPr lang="en-CA" sz="2000" dirty="0"/>
              </a:p>
            </p:txBody>
          </p:sp>
        </mc:Choice>
        <mc:Fallback xmlns="">
          <p:sp>
            <p:nvSpPr>
              <p:cNvPr id="66" name="TextBox 65">
                <a:extLst>
                  <a:ext uri="{FF2B5EF4-FFF2-40B4-BE49-F238E27FC236}">
                    <a16:creationId xmlns:a16="http://schemas.microsoft.com/office/drawing/2014/main" id="{6285155C-FE21-606B-61EE-436772F93AD3}"/>
                  </a:ext>
                </a:extLst>
              </p:cNvPr>
              <p:cNvSpPr txBox="1">
                <a:spLocks noRot="1" noChangeAspect="1" noMove="1" noResize="1" noEditPoints="1" noAdjustHandles="1" noChangeArrowheads="1" noChangeShapeType="1" noTextEdit="1"/>
              </p:cNvSpPr>
              <p:nvPr/>
            </p:nvSpPr>
            <p:spPr>
              <a:xfrm>
                <a:off x="5591601" y="11017407"/>
                <a:ext cx="1850333" cy="1062470"/>
              </a:xfrm>
              <a:prstGeom prst="rect">
                <a:avLst/>
              </a:prstGeom>
              <a:blipFill>
                <a:blip r:embed="rId18"/>
                <a:stretch>
                  <a:fillRect l="-3401" t="-3529" b="-235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7820318-E5EF-57AF-60D4-AB8306B6218F}"/>
                  </a:ext>
                </a:extLst>
              </p:cNvPr>
              <p:cNvSpPr txBox="1"/>
              <p:nvPr/>
            </p:nvSpPr>
            <p:spPr>
              <a:xfrm>
                <a:off x="809838" y="10944272"/>
                <a:ext cx="3801935" cy="1023998"/>
              </a:xfrm>
              <a:prstGeom prst="rect">
                <a:avLst/>
              </a:prstGeom>
              <a:noFill/>
              <a:ln>
                <a:noFill/>
              </a:ln>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2000" dirty="0"/>
                  <a:t>Detectors can couple to field simultaneously, so </a:t>
                </a:r>
                <a14:m>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oMath>
                </a14:m>
                <a:r>
                  <a:rPr lang="en-CA" sz="2000" dirty="0"/>
                  <a:t> is a globally entangling unitary on all detectors.</a:t>
                </a:r>
              </a:p>
            </p:txBody>
          </p:sp>
        </mc:Choice>
        <mc:Fallback xmlns="">
          <p:sp>
            <p:nvSpPr>
              <p:cNvPr id="67" name="TextBox 66">
                <a:extLst>
                  <a:ext uri="{FF2B5EF4-FFF2-40B4-BE49-F238E27FC236}">
                    <a16:creationId xmlns:a16="http://schemas.microsoft.com/office/drawing/2014/main" id="{67820318-E5EF-57AF-60D4-AB8306B6218F}"/>
                  </a:ext>
                </a:extLst>
              </p:cNvPr>
              <p:cNvSpPr txBox="1">
                <a:spLocks noRot="1" noChangeAspect="1" noMove="1" noResize="1" noEditPoints="1" noAdjustHandles="1" noChangeArrowheads="1" noChangeShapeType="1" noTextEdit="1"/>
              </p:cNvSpPr>
              <p:nvPr/>
            </p:nvSpPr>
            <p:spPr>
              <a:xfrm>
                <a:off x="809838" y="10944272"/>
                <a:ext cx="3801935" cy="1023998"/>
              </a:xfrm>
              <a:prstGeom prst="rect">
                <a:avLst/>
              </a:prstGeom>
              <a:blipFill>
                <a:blip r:embed="rId19"/>
                <a:stretch>
                  <a:fillRect l="-1661" t="-2439" r="-997" b="-8537"/>
                </a:stretch>
              </a:blipFill>
              <a:ln>
                <a:noFill/>
              </a:ln>
            </p:spPr>
            <p:txBody>
              <a:bodyPr/>
              <a:lstStyle/>
              <a:p>
                <a:r>
                  <a:rPr lang="en-CA">
                    <a:noFill/>
                  </a:rPr>
                  <a:t> </a:t>
                </a:r>
              </a:p>
            </p:txBody>
          </p:sp>
        </mc:Fallback>
      </mc:AlternateContent>
      <p:sp>
        <p:nvSpPr>
          <p:cNvPr id="68" name="TextBox 67">
            <a:extLst>
              <a:ext uri="{FF2B5EF4-FFF2-40B4-BE49-F238E27FC236}">
                <a16:creationId xmlns:a16="http://schemas.microsoft.com/office/drawing/2014/main" id="{CD6E21BA-CBF6-BAE0-FD67-8629B09B11EE}"/>
              </a:ext>
            </a:extLst>
          </p:cNvPr>
          <p:cNvSpPr txBox="1"/>
          <p:nvPr/>
        </p:nvSpPr>
        <p:spPr>
          <a:xfrm>
            <a:off x="559005" y="1208529"/>
            <a:ext cx="5326616" cy="400110"/>
          </a:xfrm>
          <a:prstGeom prst="rect">
            <a:avLst/>
          </a:prstGeom>
          <a:noFill/>
        </p:spPr>
        <p:txBody>
          <a:bodyPr wrap="square" rtlCol="0">
            <a:spAutoFit/>
          </a:bodyPr>
          <a:lstStyle/>
          <a:p>
            <a:r>
              <a:rPr lang="en-CA" sz="2000" dirty="0"/>
              <a:t>Qubit following trajectory through spacetime </a:t>
            </a:r>
          </a:p>
        </p:txBody>
      </p:sp>
      <p:pic>
        <p:nvPicPr>
          <p:cNvPr id="69" name="Picture 68">
            <a:extLst>
              <a:ext uri="{FF2B5EF4-FFF2-40B4-BE49-F238E27FC236}">
                <a16:creationId xmlns:a16="http://schemas.microsoft.com/office/drawing/2014/main" id="{E25C73EF-CC13-9926-CAA0-4D3C0E9A898C}"/>
              </a:ext>
            </a:extLst>
          </p:cNvPr>
          <p:cNvPicPr>
            <a:picLocks noChangeAspect="1"/>
          </p:cNvPicPr>
          <p:nvPr/>
        </p:nvPicPr>
        <p:blipFill>
          <a:blip r:embed="rId20"/>
          <a:srcRect r="4575" b="1778"/>
          <a:stretch>
            <a:fillRect/>
          </a:stretch>
        </p:blipFill>
        <p:spPr>
          <a:xfrm>
            <a:off x="2795042" y="1830381"/>
            <a:ext cx="1546099" cy="4041008"/>
          </a:xfrm>
          <a:prstGeom prst="rect">
            <a:avLst/>
          </a:prstGeom>
        </p:spPr>
      </p:pic>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D2B0641B-9059-35AE-724B-0EF7E6516985}"/>
                  </a:ext>
                </a:extLst>
              </p:cNvPr>
              <p:cNvSpPr txBox="1"/>
              <p:nvPr/>
            </p:nvSpPr>
            <p:spPr>
              <a:xfrm>
                <a:off x="6790676" y="2585156"/>
                <a:ext cx="5144025" cy="720838"/>
              </a:xfrm>
              <a:prstGeom prst="rect">
                <a:avLst/>
              </a:prstGeom>
              <a:noFill/>
            </p:spPr>
            <p:txBody>
              <a:bodyPr wrap="square" rtlCol="0">
                <a:spAutoFit/>
              </a:bodyPr>
              <a:lstStyle/>
              <a:p>
                <a:r>
                  <a:rPr lang="en-CA" sz="2000" dirty="0"/>
                  <a:t>Interacts with quantum field </a:t>
                </a:r>
                <a14:m>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i="1">
                            <a:latin typeface="Cambria Math" panose="02040503050406030204" pitchFamily="18" charset="0"/>
                          </a:rPr>
                        </m:ctrlPr>
                      </m:dPr>
                      <m:e>
                        <m:r>
                          <m:rPr>
                            <m:sty m:val="p"/>
                          </m:rPr>
                          <a:rPr lang="en-US" sz="2000">
                            <a:latin typeface="Cambria Math" panose="02040503050406030204" pitchFamily="18" charset="0"/>
                          </a:rPr>
                          <m:t>x</m:t>
                        </m:r>
                      </m:e>
                    </m:d>
                  </m:oMath>
                </a14:m>
                <a:r>
                  <a:rPr lang="en-CA" sz="2000" dirty="0"/>
                  <a:t> via Hamiltonian density  </a:t>
                </a:r>
              </a:p>
            </p:txBody>
          </p:sp>
        </mc:Choice>
        <mc:Fallback xmlns="">
          <p:sp>
            <p:nvSpPr>
              <p:cNvPr id="70" name="TextBox 69">
                <a:extLst>
                  <a:ext uri="{FF2B5EF4-FFF2-40B4-BE49-F238E27FC236}">
                    <a16:creationId xmlns:a16="http://schemas.microsoft.com/office/drawing/2014/main" id="{D2B0641B-9059-35AE-724B-0EF7E6516985}"/>
                  </a:ext>
                </a:extLst>
              </p:cNvPr>
              <p:cNvSpPr txBox="1">
                <a:spLocks noRot="1" noChangeAspect="1" noMove="1" noResize="1" noEditPoints="1" noAdjustHandles="1" noChangeArrowheads="1" noChangeShapeType="1" noTextEdit="1"/>
              </p:cNvSpPr>
              <p:nvPr/>
            </p:nvSpPr>
            <p:spPr>
              <a:xfrm>
                <a:off x="6790676" y="2585156"/>
                <a:ext cx="5144025" cy="720838"/>
              </a:xfrm>
              <a:prstGeom prst="rect">
                <a:avLst/>
              </a:prstGeom>
              <a:blipFill>
                <a:blip r:embed="rId21"/>
                <a:stretch>
                  <a:fillRect l="-1232" t="-1724" b="-137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C423A258-1935-90B7-0989-81B99386A944}"/>
                  </a:ext>
                </a:extLst>
              </p:cNvPr>
              <p:cNvSpPr txBox="1"/>
              <p:nvPr/>
            </p:nvSpPr>
            <p:spPr>
              <a:xfrm>
                <a:off x="8037285" y="3550094"/>
                <a:ext cx="2534092" cy="3242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h</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r>
                        <a:rPr lang="en-US" sz="2000" b="0" i="1" smtClean="0">
                          <a:latin typeface="Cambria Math" panose="02040503050406030204" pitchFamily="18" charset="0"/>
                        </a:rPr>
                        <m:t>𝜆</m:t>
                      </m:r>
                      <m:r>
                        <m:rPr>
                          <m:sty m:val="p"/>
                        </m:rPr>
                        <a:rPr lang="en-US" sz="2000" b="0" i="0" smtClean="0">
                          <a:latin typeface="Cambria Math" panose="02040503050406030204" pitchFamily="18" charset="0"/>
                        </a:rPr>
                        <m:t>Λ</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71" name="TextBox 70">
                <a:extLst>
                  <a:ext uri="{FF2B5EF4-FFF2-40B4-BE49-F238E27FC236}">
                    <a16:creationId xmlns:a16="http://schemas.microsoft.com/office/drawing/2014/main" id="{C423A258-1935-90B7-0989-81B99386A944}"/>
                  </a:ext>
                </a:extLst>
              </p:cNvPr>
              <p:cNvSpPr txBox="1">
                <a:spLocks noRot="1" noChangeAspect="1" noMove="1" noResize="1" noEditPoints="1" noAdjustHandles="1" noChangeArrowheads="1" noChangeShapeType="1" noTextEdit="1"/>
              </p:cNvSpPr>
              <p:nvPr/>
            </p:nvSpPr>
            <p:spPr>
              <a:xfrm>
                <a:off x="8037285" y="3550094"/>
                <a:ext cx="2534092" cy="324256"/>
              </a:xfrm>
              <a:prstGeom prst="rect">
                <a:avLst/>
              </a:prstGeom>
              <a:blipFill>
                <a:blip r:embed="rId22"/>
                <a:stretch>
                  <a:fillRect l="-1990" t="-14815" b="-25926"/>
                </a:stretch>
              </a:blipFill>
            </p:spPr>
            <p:txBody>
              <a:bodyPr/>
              <a:lstStyle/>
              <a:p>
                <a:r>
                  <a:rPr lang="en-CA">
                    <a:noFill/>
                  </a:rPr>
                  <a:t> </a:t>
                </a:r>
              </a:p>
            </p:txBody>
          </p:sp>
        </mc:Fallback>
      </mc:AlternateContent>
      <p:pic>
        <p:nvPicPr>
          <p:cNvPr id="72" name="Picture 71">
            <a:extLst>
              <a:ext uri="{FF2B5EF4-FFF2-40B4-BE49-F238E27FC236}">
                <a16:creationId xmlns:a16="http://schemas.microsoft.com/office/drawing/2014/main" id="{526D1C4D-E5B0-DF52-5782-4B150C53C75A}"/>
              </a:ext>
            </a:extLst>
          </p:cNvPr>
          <p:cNvPicPr>
            <a:picLocks noChangeAspect="1"/>
          </p:cNvPicPr>
          <p:nvPr/>
        </p:nvPicPr>
        <p:blipFill>
          <a:blip r:embed="rId12">
            <a:alphaModFix amt="60000"/>
          </a:blip>
          <a:stretch>
            <a:fillRect/>
          </a:stretch>
        </p:blipFill>
        <p:spPr>
          <a:xfrm rot="21259358">
            <a:off x="312053" y="2335899"/>
            <a:ext cx="6249993" cy="3749995"/>
          </a:xfrm>
          <a:prstGeom prst="rect">
            <a:avLst/>
          </a:prstGeom>
          <a:effectLst/>
          <a:scene3d>
            <a:camera prst="orthographicFront">
              <a:rot lat="2400000" lon="0" rev="0"/>
            </a:camera>
            <a:lightRig rig="threePt" dir="t"/>
          </a:scene3d>
        </p:spPr>
      </p:pic>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35FAE01F-48F6-1B51-B402-25616B0692A7}"/>
                  </a:ext>
                </a:extLst>
              </p:cNvPr>
              <p:cNvSpPr txBox="1"/>
              <p:nvPr/>
            </p:nvSpPr>
            <p:spPr>
              <a:xfrm>
                <a:off x="1596629" y="3999622"/>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73" name="TextBox 72">
                <a:extLst>
                  <a:ext uri="{FF2B5EF4-FFF2-40B4-BE49-F238E27FC236}">
                    <a16:creationId xmlns:a16="http://schemas.microsoft.com/office/drawing/2014/main" id="{35FAE01F-48F6-1B51-B402-25616B0692A7}"/>
                  </a:ext>
                </a:extLst>
              </p:cNvPr>
              <p:cNvSpPr txBox="1">
                <a:spLocks noRot="1" noChangeAspect="1" noMove="1" noResize="1" noEditPoints="1" noAdjustHandles="1" noChangeArrowheads="1" noChangeShapeType="1" noTextEdit="1"/>
              </p:cNvSpPr>
              <p:nvPr/>
            </p:nvSpPr>
            <p:spPr>
              <a:xfrm>
                <a:off x="1596629" y="3999622"/>
                <a:ext cx="574260" cy="320729"/>
              </a:xfrm>
              <a:prstGeom prst="rect">
                <a:avLst/>
              </a:prstGeom>
              <a:blipFill>
                <a:blip r:embed="rId23"/>
                <a:stretch>
                  <a:fillRect l="-13043" t="-14815" b="-259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2D1AFD26-32FA-C25E-C3E9-574416014B57}"/>
                  </a:ext>
                </a:extLst>
              </p:cNvPr>
              <p:cNvSpPr txBox="1"/>
              <p:nvPr/>
            </p:nvSpPr>
            <p:spPr>
              <a:xfrm>
                <a:off x="6799265" y="4350841"/>
                <a:ext cx="4697335" cy="1015663"/>
              </a:xfrm>
              <a:prstGeom prst="rect">
                <a:avLst/>
              </a:prstGeom>
              <a:noFill/>
            </p:spPr>
            <p:txBody>
              <a:bodyPr wrap="square" rtlCol="0">
                <a:spAutoFit/>
              </a:bodyPr>
              <a:lstStyle/>
              <a:p>
                <a:r>
                  <a:rPr lang="en-US" sz="2000" dirty="0"/>
                  <a:t>Interaction is smeared out over some spacetime region via smearing function </a:t>
                </a:r>
                <a14:m>
                  <m:oMath xmlns:m="http://schemas.openxmlformats.org/officeDocument/2006/math">
                    <m:r>
                      <m:rPr>
                        <m:sty m:val="p"/>
                      </m:rPr>
                      <a:rPr lang="en-US" sz="2000">
                        <a:latin typeface="Cambria Math" panose="02040503050406030204" pitchFamily="18" charset="0"/>
                      </a:rPr>
                      <m:t>Λ</m:t>
                    </m:r>
                    <m:d>
                      <m:dPr>
                        <m:ctrlPr>
                          <a:rPr lang="en-US" sz="2000" i="1">
                            <a:latin typeface="Cambria Math" panose="02040503050406030204" pitchFamily="18" charset="0"/>
                          </a:rPr>
                        </m:ctrlPr>
                      </m:dPr>
                      <m:e>
                        <m:r>
                          <m:rPr>
                            <m:sty m:val="p"/>
                          </m:rPr>
                          <a:rPr lang="en-US" sz="2000">
                            <a:latin typeface="Cambria Math" panose="02040503050406030204" pitchFamily="18" charset="0"/>
                          </a:rPr>
                          <m:t>x</m:t>
                        </m:r>
                      </m:e>
                    </m:d>
                  </m:oMath>
                </a14:m>
                <a:endParaRPr lang="en-CA" sz="2000" dirty="0"/>
              </a:p>
            </p:txBody>
          </p:sp>
        </mc:Choice>
        <mc:Fallback xmlns="">
          <p:sp>
            <p:nvSpPr>
              <p:cNvPr id="74" name="TextBox 73">
                <a:extLst>
                  <a:ext uri="{FF2B5EF4-FFF2-40B4-BE49-F238E27FC236}">
                    <a16:creationId xmlns:a16="http://schemas.microsoft.com/office/drawing/2014/main" id="{2D1AFD26-32FA-C25E-C3E9-574416014B57}"/>
                  </a:ext>
                </a:extLst>
              </p:cNvPr>
              <p:cNvSpPr txBox="1">
                <a:spLocks noRot="1" noChangeAspect="1" noMove="1" noResize="1" noEditPoints="1" noAdjustHandles="1" noChangeArrowheads="1" noChangeShapeType="1" noTextEdit="1"/>
              </p:cNvSpPr>
              <p:nvPr/>
            </p:nvSpPr>
            <p:spPr>
              <a:xfrm>
                <a:off x="6799265" y="4350841"/>
                <a:ext cx="4697335" cy="1015663"/>
              </a:xfrm>
              <a:prstGeom prst="rect">
                <a:avLst/>
              </a:prstGeom>
              <a:blipFill>
                <a:blip r:embed="rId24"/>
                <a:stretch>
                  <a:fillRect l="-1348" t="-3704"/>
                </a:stretch>
              </a:blipFill>
            </p:spPr>
            <p:txBody>
              <a:bodyPr/>
              <a:lstStyle/>
              <a:p>
                <a:r>
                  <a:rPr lang="en-CA">
                    <a:noFill/>
                  </a:rPr>
                  <a:t> </a:t>
                </a:r>
              </a:p>
            </p:txBody>
          </p:sp>
        </mc:Fallback>
      </mc:AlternateContent>
      <p:cxnSp>
        <p:nvCxnSpPr>
          <p:cNvPr id="76" name="Straight Connector 75">
            <a:extLst>
              <a:ext uri="{FF2B5EF4-FFF2-40B4-BE49-F238E27FC236}">
                <a16:creationId xmlns:a16="http://schemas.microsoft.com/office/drawing/2014/main" id="{6BDA7FD1-F8CA-6986-856F-6DB50D25BD2B}"/>
              </a:ext>
            </a:extLst>
          </p:cNvPr>
          <p:cNvCxnSpPr>
            <a:cxnSpLocks/>
          </p:cNvCxnSpPr>
          <p:nvPr/>
        </p:nvCxnSpPr>
        <p:spPr>
          <a:xfrm>
            <a:off x="4250810" y="4099619"/>
            <a:ext cx="2510631" cy="542148"/>
          </a:xfrm>
          <a:prstGeom prst="line">
            <a:avLst/>
          </a:prstGeom>
          <a:ln w="25400">
            <a:headEnd type="stealth" w="lg"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3909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2" grpId="0"/>
      <p:bldP spid="70" grpId="0"/>
      <p:bldP spid="71" grpId="0"/>
      <p:bldP spid="7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ounded Rectangle 55">
            <a:extLst>
              <a:ext uri="{FF2B5EF4-FFF2-40B4-BE49-F238E27FC236}">
                <a16:creationId xmlns:a16="http://schemas.microsoft.com/office/drawing/2014/main" id="{D83C7B39-2498-9001-349F-7E28421D39B9}"/>
              </a:ext>
            </a:extLst>
          </p:cNvPr>
          <p:cNvSpPr/>
          <p:nvPr/>
        </p:nvSpPr>
        <p:spPr>
          <a:xfrm>
            <a:off x="6979168" y="4751492"/>
            <a:ext cx="4783746" cy="107292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a:extLst>
              <a:ext uri="{FF2B5EF4-FFF2-40B4-BE49-F238E27FC236}">
                <a16:creationId xmlns:a16="http://schemas.microsoft.com/office/drawing/2014/main" id="{2BC8ABD9-32D1-E9DC-3E76-616C2EC37E35}"/>
              </a:ext>
            </a:extLst>
          </p:cNvPr>
          <p:cNvPicPr>
            <a:picLocks noChangeAspect="1"/>
          </p:cNvPicPr>
          <p:nvPr/>
        </p:nvPicPr>
        <p:blipFill rotWithShape="1">
          <a:blip r:embed="rId4"/>
          <a:srcRect l="9161" t="5033" r="7108" b="6881"/>
          <a:stretch/>
        </p:blipFill>
        <p:spPr>
          <a:xfrm>
            <a:off x="429086" y="1631200"/>
            <a:ext cx="4242338" cy="4098708"/>
          </a:xfrm>
          <a:prstGeom prst="rect">
            <a:avLst/>
          </a:prstGeom>
        </p:spPr>
      </p:pic>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Gate Set – Local Operations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9</a:t>
            </a:fld>
            <a:endParaRPr lang="de-AT"/>
          </a:p>
        </p:txBody>
      </p:sp>
      <p:sp>
        <p:nvSpPr>
          <p:cNvPr id="17" name="TextBox 16">
            <a:extLst>
              <a:ext uri="{FF2B5EF4-FFF2-40B4-BE49-F238E27FC236}">
                <a16:creationId xmlns:a16="http://schemas.microsoft.com/office/drawing/2014/main" id="{20A798AB-66BE-44F3-DF61-AED1C07165A3}"/>
              </a:ext>
            </a:extLst>
          </p:cNvPr>
          <p:cNvSpPr txBox="1"/>
          <p:nvPr/>
        </p:nvSpPr>
        <p:spPr>
          <a:xfrm>
            <a:off x="1405589" y="1084157"/>
            <a:ext cx="2640013" cy="400110"/>
          </a:xfrm>
          <a:prstGeom prst="rect">
            <a:avLst/>
          </a:prstGeom>
          <a:noFill/>
        </p:spPr>
        <p:txBody>
          <a:bodyPr wrap="square">
            <a:spAutoFit/>
          </a:bodyPr>
          <a:lstStyle/>
          <a:p>
            <a:r>
              <a:rPr lang="en-CA" sz="2000" dirty="0"/>
              <a:t>Array of UDW detectors</a:t>
            </a:r>
          </a:p>
        </p:txBody>
      </p:sp>
      <p:sp>
        <p:nvSpPr>
          <p:cNvPr id="23" name="TextBox 22">
            <a:extLst>
              <a:ext uri="{FF2B5EF4-FFF2-40B4-BE49-F238E27FC236}">
                <a16:creationId xmlns:a16="http://schemas.microsoft.com/office/drawing/2014/main" id="{EC3CD122-FDE7-A51C-8613-63687C3C5E24}"/>
              </a:ext>
            </a:extLst>
          </p:cNvPr>
          <p:cNvSpPr txBox="1"/>
          <p:nvPr/>
        </p:nvSpPr>
        <p:spPr>
          <a:xfrm>
            <a:off x="7079035" y="4751249"/>
            <a:ext cx="4683879" cy="1015663"/>
          </a:xfrm>
          <a:prstGeom prst="rect">
            <a:avLst/>
          </a:prstGeom>
          <a:noFill/>
          <a:ln>
            <a:noFill/>
          </a:ln>
        </p:spPr>
        <p:txBody>
          <a:bodyPr wrap="square">
            <a:spAutoFit/>
          </a:bodyPr>
          <a:lstStyle/>
          <a:p>
            <a:r>
              <a:rPr lang="en-CA" sz="2000" dirty="0"/>
              <a:t>Rotation angles can be controlled by changing spacetime trajectories of detectors rather than through energy gap. </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361D27-29F4-0528-322E-9B99A0377000}"/>
                  </a:ext>
                </a:extLst>
              </p:cNvPr>
              <p:cNvSpPr txBox="1"/>
              <p:nvPr/>
            </p:nvSpPr>
            <p:spPr>
              <a:xfrm>
                <a:off x="7995041" y="1589497"/>
                <a:ext cx="3473708"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𝐻</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𝜗</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𝜑</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num>
                        <m:den>
                          <m:r>
                            <a:rPr lang="en-US" sz="2000" b="0" i="1" smtClean="0">
                              <a:latin typeface="Cambria Math" panose="02040503050406030204" pitchFamily="18" charset="0"/>
                            </a:rPr>
                            <m:t>2</m:t>
                          </m:r>
                        </m:den>
                      </m:f>
                      <m:r>
                        <a:rPr lang="en-US" sz="2000" b="1" i="1" smtClean="0">
                          <a:latin typeface="Cambria Math" panose="02040503050406030204" pitchFamily="18" charset="0"/>
                        </a:rPr>
                        <m:t>𝒏</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𝜗</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𝜑</m:t>
                              </m:r>
                            </m:e>
                            <m:sub>
                              <m:r>
                                <a:rPr lang="en-US" sz="2000" b="0" i="1" smtClean="0">
                                  <a:latin typeface="Cambria Math" panose="02040503050406030204" pitchFamily="18" charset="0"/>
                                </a:rPr>
                                <m:t>𝑖</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𝝈</m:t>
                              </m:r>
                            </m:e>
                          </m:acc>
                        </m:e>
                        <m:sub>
                          <m:r>
                            <a:rPr lang="en-US" sz="2000" b="0" i="1" smtClean="0">
                              <a:latin typeface="Cambria Math" panose="02040503050406030204" pitchFamily="18" charset="0"/>
                            </a:rPr>
                            <m:t>𝑖</m:t>
                          </m:r>
                        </m:sub>
                      </m:sSub>
                    </m:oMath>
                  </m:oMathPara>
                </a14:m>
                <a:endParaRPr lang="en-CA" sz="2000" dirty="0"/>
              </a:p>
            </p:txBody>
          </p:sp>
        </mc:Choice>
        <mc:Fallback xmlns="">
          <p:sp>
            <p:nvSpPr>
              <p:cNvPr id="26" name="TextBox 25">
                <a:extLst>
                  <a:ext uri="{FF2B5EF4-FFF2-40B4-BE49-F238E27FC236}">
                    <a16:creationId xmlns:a16="http://schemas.microsoft.com/office/drawing/2014/main" id="{8F361D27-29F4-0528-322E-9B99A0377000}"/>
                  </a:ext>
                </a:extLst>
              </p:cNvPr>
              <p:cNvSpPr txBox="1">
                <a:spLocks noRot="1" noChangeAspect="1" noMove="1" noResize="1" noEditPoints="1" noAdjustHandles="1" noChangeArrowheads="1" noChangeShapeType="1" noTextEdit="1"/>
              </p:cNvSpPr>
              <p:nvPr/>
            </p:nvSpPr>
            <p:spPr>
              <a:xfrm>
                <a:off x="7995041" y="1589497"/>
                <a:ext cx="3473708" cy="576183"/>
              </a:xfrm>
              <a:prstGeom prst="rect">
                <a:avLst/>
              </a:prstGeom>
              <a:blipFill>
                <a:blip r:embed="rId6"/>
                <a:stretch>
                  <a:fillRect l="-1095" r="-365" b="-1521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DEB0FBD-0C02-6A03-18A8-73D1355CB9B5}"/>
                  </a:ext>
                </a:extLst>
              </p:cNvPr>
              <p:cNvSpPr txBox="1"/>
              <p:nvPr/>
            </p:nvSpPr>
            <p:spPr>
              <a:xfrm>
                <a:off x="7536235" y="3680554"/>
                <a:ext cx="4186192" cy="707886"/>
              </a:xfrm>
              <a:prstGeom prst="rect">
                <a:avLst/>
              </a:prstGeom>
              <a:noFill/>
            </p:spPr>
            <p:txBody>
              <a:bodyPr wrap="square" rtlCol="0">
                <a:spAutoFit/>
              </a:bodyPr>
              <a:lstStyle/>
              <a:p>
                <a:r>
                  <a:rPr lang="en-CA" sz="2000" dirty="0"/>
                  <a:t>with rotation angles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/2</m:t>
                    </m:r>
                  </m:oMath>
                </a14:m>
                <a:r>
                  <a:rPr lang="en-CA" sz="2000" dirty="0"/>
                  <a:t> and trainable parameters </a:t>
                </a:r>
                <a14:m>
                  <m:oMath xmlns:m="http://schemas.openxmlformats.org/officeDocument/2006/math">
                    <m:r>
                      <a:rPr lang="en-US" sz="2000" b="1" i="1" smtClean="0">
                        <a:latin typeface="Cambria Math" panose="02040503050406030204" pitchFamily="18" charset="0"/>
                      </a:rPr>
                      <m:t>𝜽</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𝜗</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𝜑</m:t>
                                </m:r>
                              </m:e>
                              <m:sub>
                                <m:r>
                                  <a:rPr lang="en-US" sz="2000" b="0" i="1" smtClean="0">
                                    <a:latin typeface="Cambria Math" panose="02040503050406030204" pitchFamily="18" charset="0"/>
                                  </a:rPr>
                                  <m:t>𝑖</m:t>
                                </m:r>
                              </m:sub>
                            </m:sSub>
                          </m:e>
                        </m:d>
                      </m:e>
                      <m:sub>
                        <m:r>
                          <a:rPr lang="en-US" sz="2000" b="0" i="1" smtClean="0">
                            <a:latin typeface="Cambria Math" panose="02040503050406030204" pitchFamily="18" charset="0"/>
                          </a:rPr>
                          <m:t>𝑖</m:t>
                        </m:r>
                      </m:sub>
                    </m:sSub>
                  </m:oMath>
                </a14:m>
                <a:endParaRPr lang="en-CA" sz="2000" dirty="0"/>
              </a:p>
            </p:txBody>
          </p:sp>
        </mc:Choice>
        <mc:Fallback xmlns="">
          <p:sp>
            <p:nvSpPr>
              <p:cNvPr id="36" name="TextBox 35">
                <a:extLst>
                  <a:ext uri="{FF2B5EF4-FFF2-40B4-BE49-F238E27FC236}">
                    <a16:creationId xmlns:a16="http://schemas.microsoft.com/office/drawing/2014/main" id="{6DEB0FBD-0C02-6A03-18A8-73D1355CB9B5}"/>
                  </a:ext>
                </a:extLst>
              </p:cNvPr>
              <p:cNvSpPr txBox="1">
                <a:spLocks noRot="1" noChangeAspect="1" noMove="1" noResize="1" noEditPoints="1" noAdjustHandles="1" noChangeArrowheads="1" noChangeShapeType="1" noTextEdit="1"/>
              </p:cNvSpPr>
              <p:nvPr/>
            </p:nvSpPr>
            <p:spPr>
              <a:xfrm>
                <a:off x="7536235" y="3680554"/>
                <a:ext cx="4186192" cy="707886"/>
              </a:xfrm>
              <a:prstGeom prst="rect">
                <a:avLst/>
              </a:prstGeom>
              <a:blipFill>
                <a:blip r:embed="rId7"/>
                <a:stretch>
                  <a:fillRect l="-1511" t="-3509" r="-2417" b="-14035"/>
                </a:stretch>
              </a:blipFill>
            </p:spPr>
            <p:txBody>
              <a:bodyPr/>
              <a:lstStyle/>
              <a:p>
                <a:r>
                  <a:rPr lang="en-CA">
                    <a:noFill/>
                  </a:rPr>
                  <a:t> </a:t>
                </a:r>
              </a:p>
            </p:txBody>
          </p:sp>
        </mc:Fallback>
      </mc:AlternateContent>
      <p:sp>
        <p:nvSpPr>
          <p:cNvPr id="37" name="Right Arrow 36">
            <a:extLst>
              <a:ext uri="{FF2B5EF4-FFF2-40B4-BE49-F238E27FC236}">
                <a16:creationId xmlns:a16="http://schemas.microsoft.com/office/drawing/2014/main" id="{B4AB1A60-14B9-E225-BC44-04CDAA778871}"/>
              </a:ext>
            </a:extLst>
          </p:cNvPr>
          <p:cNvSpPr/>
          <p:nvPr/>
        </p:nvSpPr>
        <p:spPr>
          <a:xfrm>
            <a:off x="7079035" y="2601709"/>
            <a:ext cx="914400" cy="2274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TextBox 39">
            <a:extLst>
              <a:ext uri="{FF2B5EF4-FFF2-40B4-BE49-F238E27FC236}">
                <a16:creationId xmlns:a16="http://schemas.microsoft.com/office/drawing/2014/main" id="{439993C3-9F91-1CBA-C463-A0A4DBAB9685}"/>
              </a:ext>
            </a:extLst>
          </p:cNvPr>
          <p:cNvSpPr txBox="1"/>
          <p:nvPr/>
        </p:nvSpPr>
        <p:spPr>
          <a:xfrm>
            <a:off x="8206485" y="2514482"/>
            <a:ext cx="3443443" cy="400110"/>
          </a:xfrm>
          <a:prstGeom prst="rect">
            <a:avLst/>
          </a:prstGeom>
          <a:noFill/>
        </p:spPr>
        <p:txBody>
          <a:bodyPr wrap="square" rtlCol="0">
            <a:spAutoFit/>
          </a:bodyPr>
          <a:lstStyle/>
          <a:p>
            <a:r>
              <a:rPr lang="en-CA" sz="2000" dirty="0"/>
              <a:t>1-qubit rotation operators</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A5F1E1C-61D5-C9F9-C187-FFA1706F7BFE}"/>
                  </a:ext>
                </a:extLst>
              </p:cNvPr>
              <p:cNvSpPr txBox="1"/>
              <p:nvPr/>
            </p:nvSpPr>
            <p:spPr>
              <a:xfrm>
                <a:off x="7993435" y="2981583"/>
                <a:ext cx="3971985" cy="6299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acc>
                            <m:accPr>
                              <m:chr m:val="̂"/>
                              <m:ctrlPr>
                                <a:rPr lang="en-CA" sz="2000" i="1" dirty="0" smtClean="0">
                                  <a:latin typeface="Cambria Math" panose="02040503050406030204" pitchFamily="18" charset="0"/>
                                </a:rPr>
                              </m:ctrlPr>
                            </m:accPr>
                            <m:e>
                              <m:r>
                                <a:rPr lang="en-US" sz="2000" b="0" i="1" dirty="0" smtClean="0">
                                  <a:latin typeface="Cambria Math" panose="02040503050406030204" pitchFamily="18" charset="0"/>
                                </a:rPr>
                                <m:t>𝑈</m:t>
                              </m:r>
                            </m:e>
                          </m:acc>
                        </m:e>
                        <m:sub>
                          <m:r>
                            <a:rPr lang="en-US" sz="2000" b="0" i="1" dirty="0" smtClean="0">
                              <a:latin typeface="Cambria Math" panose="02040503050406030204" pitchFamily="18" charset="0"/>
                            </a:rPr>
                            <m:t>𝑝𝑎𝑟𝑎</m:t>
                          </m:r>
                        </m:sub>
                      </m:sSub>
                      <m:r>
                        <m:rPr>
                          <m:nor/>
                        </m:rPr>
                        <a:rPr lang="en-US" sz="2000" b="0" i="0"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US" sz="2000" b="1" i="1" dirty="0" smtClean="0">
                              <a:latin typeface="Cambria Math" panose="02040503050406030204" pitchFamily="18" charset="0"/>
                            </a:rPr>
                            <m:t>𝜽</m:t>
                          </m:r>
                        </m:e>
                        <m:sup>
                          <m:r>
                            <a:rPr lang="en-US" sz="2000" b="0" i="1" dirty="0" smtClean="0">
                              <a:latin typeface="Cambria Math" panose="02040503050406030204" pitchFamily="18" charset="0"/>
                            </a:rPr>
                            <m:t>(ℓ)</m:t>
                          </m:r>
                        </m:sup>
                      </m:sSup>
                      <m:r>
                        <m:rPr>
                          <m:nor/>
                        </m:rPr>
                        <a:rPr lang="en-CA" sz="2000" dirty="0"/>
                        <m:t>) = </m:t>
                      </m:r>
                      <m:nary>
                        <m:naryPr>
                          <m:chr m:val="∏"/>
                          <m:limLoc m:val="subSup"/>
                          <m:ctrlPr>
                            <a:rPr lang="en-CA" sz="2000" i="1" dirty="0" smtClean="0">
                              <a:latin typeface="Cambria Math" panose="02040503050406030204" pitchFamily="18" charset="0"/>
                            </a:rPr>
                          </m:ctrlPr>
                        </m:naryPr>
                        <m:sub>
                          <m:r>
                            <m:rPr>
                              <m:brk m:alnAt="25"/>
                            </m:rP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𝑁</m:t>
                          </m:r>
                        </m:sup>
                        <m:e>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𝑒</m:t>
                              </m:r>
                            </m:e>
                            <m:sup>
                              <m:r>
                                <a:rPr lang="en-US" sz="2000" b="0" i="1" dirty="0" smtClean="0">
                                  <a:latin typeface="Cambria Math" panose="02040503050406030204" pitchFamily="18" charset="0"/>
                                </a:rPr>
                                <m:t>−</m:t>
                              </m:r>
                              <m:r>
                                <a:rPr lang="en-US" sz="2000" b="0" i="1" dirty="0" smtClean="0">
                                  <a:latin typeface="Cambria Math" panose="02040503050406030204" pitchFamily="18" charset="0"/>
                                </a:rPr>
                                <m:t>𝑖</m:t>
                              </m:r>
                              <m:sSub>
                                <m:sSubPr>
                                  <m:ctrlPr>
                                    <a:rPr lang="en-US" sz="2000" i="1">
                                      <a:latin typeface="Cambria Math" panose="02040503050406030204" pitchFamily="18" charset="0"/>
                                    </a:rPr>
                                  </m:ctrlPr>
                                </m:sSubPr>
                                <m:e>
                                  <m:acc>
                                    <m:accPr>
                                      <m:chr m:val="̂"/>
                                      <m:ctrlPr>
                                        <a:rPr lang="en-CA" sz="2000" i="1">
                                          <a:latin typeface="Cambria Math" panose="02040503050406030204" pitchFamily="18" charset="0"/>
                                        </a:rPr>
                                      </m:ctrlPr>
                                    </m:accPr>
                                    <m:e>
                                      <m:r>
                                        <a:rPr lang="en-US" sz="2000" i="1">
                                          <a:latin typeface="Cambria Math" panose="02040503050406030204" pitchFamily="18" charset="0"/>
                                        </a:rPr>
                                        <m:t>𝐻</m:t>
                                      </m:r>
                                    </m:e>
                                  </m:acc>
                                </m:e>
                                <m:sub>
                                  <m:r>
                                    <a:rPr lang="en-US" sz="2000" i="1">
                                      <a:latin typeface="Cambria Math" panose="02040503050406030204" pitchFamily="18" charset="0"/>
                                    </a:rPr>
                                    <m:t>𝑖</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m:rPr>
                                          <m:sty m:val="p"/>
                                        </m:rPr>
                                        <a:rPr lang="en-US" sz="2000">
                                          <a:latin typeface="Cambria Math" panose="02040503050406030204" pitchFamily="18" charset="0"/>
                                        </a:rPr>
                                        <m:t>Ω</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𝜗</m:t>
                                      </m:r>
                                    </m:e>
                                    <m:sub>
                                      <m:r>
                                        <a:rPr lang="en-US" sz="2000" i="1">
                                          <a:latin typeface="Cambria Math" panose="02040503050406030204" pitchFamily="18" charset="0"/>
                                        </a:rPr>
                                        <m:t>𝑖</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𝜑</m:t>
                                      </m:r>
                                    </m:e>
                                    <m:sub>
                                      <m:r>
                                        <a:rPr lang="en-US" sz="2000" i="1">
                                          <a:latin typeface="Cambria Math" panose="02040503050406030204" pitchFamily="18" charset="0"/>
                                        </a:rPr>
                                        <m:t>𝑖</m:t>
                                      </m:r>
                                    </m:sub>
                                  </m:sSub>
                                </m:e>
                              </m:d>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sup>
                          </m:sSup>
                        </m:e>
                      </m:nary>
                    </m:oMath>
                  </m:oMathPara>
                </a14:m>
                <a:endParaRPr lang="en-CA" dirty="0"/>
              </a:p>
            </p:txBody>
          </p:sp>
        </mc:Choice>
        <mc:Fallback xmlns="">
          <p:sp>
            <p:nvSpPr>
              <p:cNvPr id="41" name="TextBox 40">
                <a:extLst>
                  <a:ext uri="{FF2B5EF4-FFF2-40B4-BE49-F238E27FC236}">
                    <a16:creationId xmlns:a16="http://schemas.microsoft.com/office/drawing/2014/main" id="{7A5F1E1C-61D5-C9F9-C187-FFA1706F7BFE}"/>
                  </a:ext>
                </a:extLst>
              </p:cNvPr>
              <p:cNvSpPr txBox="1">
                <a:spLocks noRot="1" noChangeAspect="1" noMove="1" noResize="1" noEditPoints="1" noAdjustHandles="1" noChangeArrowheads="1" noChangeShapeType="1" noTextEdit="1"/>
              </p:cNvSpPr>
              <p:nvPr/>
            </p:nvSpPr>
            <p:spPr>
              <a:xfrm>
                <a:off x="7993435" y="2981583"/>
                <a:ext cx="3971985" cy="629981"/>
              </a:xfrm>
              <a:prstGeom prst="rect">
                <a:avLst/>
              </a:prstGeom>
              <a:blipFill>
                <a:blip r:embed="rId8"/>
                <a:stretch>
                  <a:fillRect l="-955" t="-172549" b="-250980"/>
                </a:stretch>
              </a:blipFill>
            </p:spPr>
            <p:txBody>
              <a:bodyPr/>
              <a:lstStyle/>
              <a:p>
                <a:r>
                  <a:rPr lang="en-CA">
                    <a:noFill/>
                  </a:rPr>
                  <a:t> </a:t>
                </a:r>
              </a:p>
            </p:txBody>
          </p:sp>
        </mc:Fallback>
      </mc:AlternateContent>
      <p:sp>
        <p:nvSpPr>
          <p:cNvPr id="42" name="TextBox 41">
            <a:extLst>
              <a:ext uri="{FF2B5EF4-FFF2-40B4-BE49-F238E27FC236}">
                <a16:creationId xmlns:a16="http://schemas.microsoft.com/office/drawing/2014/main" id="{39FE8FEF-E4C8-EC3B-E490-4E62AC4D463D}"/>
              </a:ext>
            </a:extLst>
          </p:cNvPr>
          <p:cNvSpPr txBox="1"/>
          <p:nvPr/>
        </p:nvSpPr>
        <p:spPr>
          <a:xfrm>
            <a:off x="6732203" y="1020879"/>
            <a:ext cx="5326616" cy="400110"/>
          </a:xfrm>
          <a:prstGeom prst="rect">
            <a:avLst/>
          </a:prstGeom>
          <a:noFill/>
        </p:spPr>
        <p:txBody>
          <a:bodyPr wrap="square" rtlCol="0">
            <a:spAutoFit/>
          </a:bodyPr>
          <a:lstStyle/>
          <a:p>
            <a:r>
              <a:rPr lang="en-CA" sz="2000" dirty="0"/>
              <a:t>Internal dynamics prescribed by free Hamiltonian </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13C21C6-F392-4781-E9E7-7FF1BF95198F}"/>
                  </a:ext>
                </a:extLst>
              </p:cNvPr>
              <p:cNvSpPr txBox="1"/>
              <p:nvPr/>
            </p:nvSpPr>
            <p:spPr>
              <a:xfrm>
                <a:off x="429086" y="5157349"/>
                <a:ext cx="259839"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p>
            </p:txBody>
          </p:sp>
        </mc:Choice>
        <mc:Fallback xmlns="">
          <p:sp>
            <p:nvSpPr>
              <p:cNvPr id="43" name="TextBox 42">
                <a:extLst>
                  <a:ext uri="{FF2B5EF4-FFF2-40B4-BE49-F238E27FC236}">
                    <a16:creationId xmlns:a16="http://schemas.microsoft.com/office/drawing/2014/main" id="{313C21C6-F392-4781-E9E7-7FF1BF95198F}"/>
                  </a:ext>
                </a:extLst>
              </p:cNvPr>
              <p:cNvSpPr txBox="1">
                <a:spLocks noRot="1" noChangeAspect="1" noMove="1" noResize="1" noEditPoints="1" noAdjustHandles="1" noChangeArrowheads="1" noChangeShapeType="1" noTextEdit="1"/>
              </p:cNvSpPr>
              <p:nvPr/>
            </p:nvSpPr>
            <p:spPr>
              <a:xfrm>
                <a:off x="429086" y="5157349"/>
                <a:ext cx="259839" cy="307777"/>
              </a:xfrm>
              <a:prstGeom prst="rect">
                <a:avLst/>
              </a:prstGeom>
              <a:blipFill>
                <a:blip r:embed="rId9"/>
                <a:stretch>
                  <a:fillRect b="-4000"/>
                </a:stretch>
              </a:blipFill>
            </p:spPr>
            <p:txBody>
              <a:bodyPr/>
              <a:lstStyle/>
              <a:p>
                <a:r>
                  <a:rPr lang="en-CA">
                    <a:noFill/>
                  </a:rPr>
                  <a:t> </a:t>
                </a:r>
              </a:p>
            </p:txBody>
          </p:sp>
        </mc:Fallback>
      </mc:AlternateContent>
      <p:cxnSp>
        <p:nvCxnSpPr>
          <p:cNvPr id="45" name="Straight Arrow Connector 44">
            <a:extLst>
              <a:ext uri="{FF2B5EF4-FFF2-40B4-BE49-F238E27FC236}">
                <a16:creationId xmlns:a16="http://schemas.microsoft.com/office/drawing/2014/main" id="{5FF0D635-E8E9-A1F9-BA43-7B5B31692913}"/>
              </a:ext>
            </a:extLst>
          </p:cNvPr>
          <p:cNvCxnSpPr>
            <a:cxnSpLocks/>
          </p:cNvCxnSpPr>
          <p:nvPr/>
        </p:nvCxnSpPr>
        <p:spPr>
          <a:xfrm flipH="1" flipV="1">
            <a:off x="709200" y="4960615"/>
            <a:ext cx="8728" cy="605736"/>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A241F6A-D7D9-C546-9DF3-400CEC105D9B}"/>
                  </a:ext>
                </a:extLst>
              </p:cNvPr>
              <p:cNvSpPr txBox="1"/>
              <p:nvPr/>
            </p:nvSpPr>
            <p:spPr>
              <a:xfrm>
                <a:off x="770754" y="5670525"/>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dirty="0"/>
              </a:p>
            </p:txBody>
          </p:sp>
        </mc:Choice>
        <mc:Fallback xmlns="">
          <p:sp>
            <p:nvSpPr>
              <p:cNvPr id="46" name="TextBox 45">
                <a:extLst>
                  <a:ext uri="{FF2B5EF4-FFF2-40B4-BE49-F238E27FC236}">
                    <a16:creationId xmlns:a16="http://schemas.microsoft.com/office/drawing/2014/main" id="{4A241F6A-D7D9-C546-9DF3-400CEC105D9B}"/>
                  </a:ext>
                </a:extLst>
              </p:cNvPr>
              <p:cNvSpPr txBox="1">
                <a:spLocks noRot="1" noChangeAspect="1" noMove="1" noResize="1" noEditPoints="1" noAdjustHandles="1" noChangeArrowheads="1" noChangeShapeType="1" noTextEdit="1"/>
              </p:cNvSpPr>
              <p:nvPr/>
            </p:nvSpPr>
            <p:spPr>
              <a:xfrm>
                <a:off x="770754" y="5670525"/>
                <a:ext cx="201722" cy="307777"/>
              </a:xfrm>
              <a:prstGeom prst="rect">
                <a:avLst/>
              </a:prstGeom>
              <a:blipFill>
                <a:blip r:embed="rId10"/>
                <a:stretch>
                  <a:fillRect l="-17647" r="-11765"/>
                </a:stretch>
              </a:blipFill>
            </p:spPr>
            <p:txBody>
              <a:bodyPr/>
              <a:lstStyle/>
              <a:p>
                <a:r>
                  <a:rPr lang="en-CA">
                    <a:noFill/>
                  </a:rPr>
                  <a:t> </a:t>
                </a:r>
              </a:p>
            </p:txBody>
          </p:sp>
        </mc:Fallback>
      </mc:AlternateContent>
      <p:cxnSp>
        <p:nvCxnSpPr>
          <p:cNvPr id="47" name="Straight Arrow Connector 46">
            <a:extLst>
              <a:ext uri="{FF2B5EF4-FFF2-40B4-BE49-F238E27FC236}">
                <a16:creationId xmlns:a16="http://schemas.microsoft.com/office/drawing/2014/main" id="{5500F243-333B-BAD8-CB3B-05142F1E78DA}"/>
              </a:ext>
            </a:extLst>
          </p:cNvPr>
          <p:cNvCxnSpPr>
            <a:cxnSpLocks/>
          </p:cNvCxnSpPr>
          <p:nvPr/>
        </p:nvCxnSpPr>
        <p:spPr>
          <a:xfrm>
            <a:off x="722091" y="5568325"/>
            <a:ext cx="477385" cy="24319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2B078777-EEBD-FCDE-5C26-95AC1C20C545}"/>
              </a:ext>
            </a:extLst>
          </p:cNvPr>
          <p:cNvSpPr txBox="1"/>
          <p:nvPr/>
        </p:nvSpPr>
        <p:spPr>
          <a:xfrm>
            <a:off x="4232246" y="4773458"/>
            <a:ext cx="1469452" cy="400110"/>
          </a:xfrm>
          <a:prstGeom prst="rect">
            <a:avLst/>
          </a:prstGeom>
          <a:noFill/>
        </p:spPr>
        <p:txBody>
          <a:bodyPr wrap="square" rtlCol="0">
            <a:spAutoFit/>
          </a:bodyPr>
          <a:lstStyle/>
          <a:p>
            <a:r>
              <a:rPr lang="en-CA" sz="2000" dirty="0"/>
              <a:t>worldlines</a:t>
            </a:r>
          </a:p>
        </p:txBody>
      </p:sp>
      <p:sp>
        <p:nvSpPr>
          <p:cNvPr id="50" name="Left Brace 49">
            <a:extLst>
              <a:ext uri="{FF2B5EF4-FFF2-40B4-BE49-F238E27FC236}">
                <a16:creationId xmlns:a16="http://schemas.microsoft.com/office/drawing/2014/main" id="{A567861D-8ADD-8622-192B-9406A4C4FD56}"/>
              </a:ext>
            </a:extLst>
          </p:cNvPr>
          <p:cNvSpPr/>
          <p:nvPr/>
        </p:nvSpPr>
        <p:spPr>
          <a:xfrm rot="12934382">
            <a:off x="3993537" y="3949840"/>
            <a:ext cx="134658" cy="1910798"/>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A2F56BF-A71B-F2DA-940B-5DF25BD9F092}"/>
                  </a:ext>
                </a:extLst>
              </p:cNvPr>
              <p:cNvSpPr txBox="1"/>
              <p:nvPr/>
            </p:nvSpPr>
            <p:spPr>
              <a:xfrm>
                <a:off x="3931856" y="5170247"/>
                <a:ext cx="2696708" cy="4406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d>
                        <m:dPr>
                          <m:ctrlPr>
                            <a:rPr lang="en-CA" sz="2000" i="1" dirty="0">
                              <a:latin typeface="Cambria Math" panose="02040503050406030204" pitchFamily="18" charset="0"/>
                            </a:rPr>
                          </m:ctrlPr>
                        </m:dPr>
                        <m:e>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e>
                      </m:d>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𝑡</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𝜏</m:t>
                                  </m:r>
                                </m:e>
                                <m:sub>
                                  <m:r>
                                    <a:rPr lang="en-US" sz="2000" b="0" i="1" dirty="0" smtClean="0">
                                      <a:latin typeface="Cambria Math" panose="02040503050406030204" pitchFamily="18" charset="0"/>
                                    </a:rPr>
                                    <m:t>𝑖</m:t>
                                  </m:r>
                                </m:sub>
                              </m:sSub>
                            </m:e>
                          </m:d>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𝜏</m:t>
                                  </m:r>
                                </m:e>
                                <m:sub>
                                  <m:r>
                                    <a:rPr lang="en-US" sz="2000" b="0" i="1" dirty="0" smtClean="0">
                                      <a:latin typeface="Cambria Math" panose="02040503050406030204" pitchFamily="18" charset="0"/>
                                    </a:rPr>
                                    <m:t>𝑖</m:t>
                                  </m:r>
                                </m:sub>
                              </m:sSub>
                            </m:e>
                          </m:d>
                        </m:e>
                      </m:d>
                      <m:r>
                        <a:rPr lang="en-CA" sz="2000" i="1" dirty="0">
                          <a:latin typeface="Cambria Math" panose="02040503050406030204" pitchFamily="18" charset="0"/>
                        </a:rPr>
                        <m:t> </m:t>
                      </m:r>
                    </m:oMath>
                  </m:oMathPara>
                </a14:m>
                <a:endParaRPr lang="en-CA" dirty="0"/>
              </a:p>
            </p:txBody>
          </p:sp>
        </mc:Choice>
        <mc:Fallback xmlns="">
          <p:sp>
            <p:nvSpPr>
              <p:cNvPr id="51" name="TextBox 50">
                <a:extLst>
                  <a:ext uri="{FF2B5EF4-FFF2-40B4-BE49-F238E27FC236}">
                    <a16:creationId xmlns:a16="http://schemas.microsoft.com/office/drawing/2014/main" id="{CA2F56BF-A71B-F2DA-940B-5DF25BD9F092}"/>
                  </a:ext>
                </a:extLst>
              </p:cNvPr>
              <p:cNvSpPr txBox="1">
                <a:spLocks noRot="1" noChangeAspect="1" noMove="1" noResize="1" noEditPoints="1" noAdjustHandles="1" noChangeArrowheads="1" noChangeShapeType="1" noTextEdit="1"/>
              </p:cNvSpPr>
              <p:nvPr/>
            </p:nvSpPr>
            <p:spPr>
              <a:xfrm>
                <a:off x="3931856" y="5170247"/>
                <a:ext cx="2696708" cy="440633"/>
              </a:xfrm>
              <a:prstGeom prst="rect">
                <a:avLst/>
              </a:prstGeom>
              <a:blipFill>
                <a:blip r:embed="rId11"/>
                <a:stretch>
                  <a:fillRect r="-469" b="-1428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A420A57-E458-68CA-DE93-716004CA4095}"/>
                  </a:ext>
                </a:extLst>
              </p:cNvPr>
              <p:cNvSpPr txBox="1"/>
              <p:nvPr/>
            </p:nvSpPr>
            <p:spPr>
              <a:xfrm>
                <a:off x="5082839" y="2978124"/>
                <a:ext cx="167379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&lt;</m:t>
                      </m:r>
                      <m:r>
                        <a:rPr lang="en-US" sz="2000" b="0" i="1" smtClean="0">
                          <a:latin typeface="Cambria Math" panose="02040503050406030204" pitchFamily="18" charset="0"/>
                        </a:rPr>
                        <m:t>𝑡</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1</m:t>
                          </m:r>
                        </m:sub>
                      </m:sSub>
                    </m:oMath>
                  </m:oMathPara>
                </a14:m>
                <a:endParaRPr lang="en-CA" dirty="0"/>
              </a:p>
            </p:txBody>
          </p:sp>
        </mc:Choice>
        <mc:Fallback xmlns="">
          <p:sp>
            <p:nvSpPr>
              <p:cNvPr id="52" name="TextBox 51">
                <a:extLst>
                  <a:ext uri="{FF2B5EF4-FFF2-40B4-BE49-F238E27FC236}">
                    <a16:creationId xmlns:a16="http://schemas.microsoft.com/office/drawing/2014/main" id="{5A420A57-E458-68CA-DE93-716004CA4095}"/>
                  </a:ext>
                </a:extLst>
              </p:cNvPr>
              <p:cNvSpPr txBox="1">
                <a:spLocks noRot="1" noChangeAspect="1" noMove="1" noResize="1" noEditPoints="1" noAdjustHandles="1" noChangeArrowheads="1" noChangeShapeType="1" noTextEdit="1"/>
              </p:cNvSpPr>
              <p:nvPr/>
            </p:nvSpPr>
            <p:spPr>
              <a:xfrm>
                <a:off x="5082839" y="2978124"/>
                <a:ext cx="1673792" cy="307777"/>
              </a:xfrm>
              <a:prstGeom prst="rect">
                <a:avLst/>
              </a:prstGeom>
              <a:blipFill>
                <a:blip r:embed="rId12"/>
                <a:stretch>
                  <a:fillRect l="-3030" r="-758" b="-32000"/>
                </a:stretch>
              </a:blipFill>
            </p:spPr>
            <p:txBody>
              <a:bodyPr/>
              <a:lstStyle/>
              <a:p>
                <a:r>
                  <a:rPr lang="en-CA">
                    <a:noFill/>
                  </a:rPr>
                  <a:t> </a:t>
                </a:r>
              </a:p>
            </p:txBody>
          </p:sp>
        </mc:Fallback>
      </mc:AlternateContent>
      <p:sp>
        <p:nvSpPr>
          <p:cNvPr id="53" name="Left Brace 52">
            <a:extLst>
              <a:ext uri="{FF2B5EF4-FFF2-40B4-BE49-F238E27FC236}">
                <a16:creationId xmlns:a16="http://schemas.microsoft.com/office/drawing/2014/main" id="{5998E553-BA59-4E18-3D14-EB1A0BFB3700}"/>
              </a:ext>
            </a:extLst>
          </p:cNvPr>
          <p:cNvSpPr/>
          <p:nvPr/>
        </p:nvSpPr>
        <p:spPr>
          <a:xfrm rot="10980742">
            <a:off x="4802700" y="2266230"/>
            <a:ext cx="125516" cy="1759574"/>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316015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17" grpId="0"/>
      <p:bldP spid="23" grpId="0"/>
      <p:bldP spid="26" grpId="0"/>
      <p:bldP spid="36" grpId="0"/>
      <p:bldP spid="37" grpId="0" animBg="1"/>
      <p:bldP spid="40" grpId="0"/>
      <p:bldP spid="41" grpId="0"/>
      <p:bldP spid="42" grpId="0"/>
      <p:bldP spid="43" grpId="0"/>
      <p:bldP spid="46" grpId="0"/>
      <p:bldP spid="49" grpId="0"/>
      <p:bldP spid="50" grpId="0" animBg="1"/>
      <p:bldP spid="51" grpId="0"/>
      <p:bldP spid="52" grpId="0"/>
      <p:bldP spid="5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Oval 60">
            <a:extLst>
              <a:ext uri="{FF2B5EF4-FFF2-40B4-BE49-F238E27FC236}">
                <a16:creationId xmlns:a16="http://schemas.microsoft.com/office/drawing/2014/main" id="{5750DC77-57E9-F818-A486-73FDFEC5B16A}"/>
              </a:ext>
            </a:extLst>
          </p:cNvPr>
          <p:cNvSpPr/>
          <p:nvPr/>
        </p:nvSpPr>
        <p:spPr>
          <a:xfrm>
            <a:off x="5249968" y="4574780"/>
            <a:ext cx="2173457" cy="1267635"/>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Rounded Rectangle 59">
            <a:extLst>
              <a:ext uri="{FF2B5EF4-FFF2-40B4-BE49-F238E27FC236}">
                <a16:creationId xmlns:a16="http://schemas.microsoft.com/office/drawing/2014/main" id="{7CE61570-F06F-F91D-89F7-9FF66722CDCE}"/>
              </a:ext>
            </a:extLst>
          </p:cNvPr>
          <p:cNvSpPr/>
          <p:nvPr/>
        </p:nvSpPr>
        <p:spPr>
          <a:xfrm>
            <a:off x="818861" y="4554441"/>
            <a:ext cx="3801935" cy="107292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7" name="Picture 36">
            <a:extLst>
              <a:ext uri="{FF2B5EF4-FFF2-40B4-BE49-F238E27FC236}">
                <a16:creationId xmlns:a16="http://schemas.microsoft.com/office/drawing/2014/main" id="{7FED866F-32B6-31D5-6D6D-6EEBD3E832A4}"/>
              </a:ext>
            </a:extLst>
          </p:cNvPr>
          <p:cNvPicPr>
            <a:picLocks noChangeAspect="1"/>
          </p:cNvPicPr>
          <p:nvPr/>
        </p:nvPicPr>
        <p:blipFill>
          <a:blip r:embed="rId4"/>
          <a:stretch>
            <a:fillRect/>
          </a:stretch>
        </p:blipFill>
        <p:spPr>
          <a:xfrm>
            <a:off x="7845557" y="876407"/>
            <a:ext cx="2541963" cy="5099017"/>
          </a:xfrm>
          <a:prstGeom prst="rect">
            <a:avLst/>
          </a:prstGeom>
        </p:spPr>
      </p:pic>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Gate Set – Entangling Operations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10</a:t>
            </a:fld>
            <a:endParaRPr lang="de-AT"/>
          </a:p>
        </p:txBody>
      </p:sp>
      <p:sp>
        <p:nvSpPr>
          <p:cNvPr id="10" name="TextBox 9">
            <a:extLst>
              <a:ext uri="{FF2B5EF4-FFF2-40B4-BE49-F238E27FC236}">
                <a16:creationId xmlns:a16="http://schemas.microsoft.com/office/drawing/2014/main" id="{4E509AE1-58FE-80E7-C26A-7D4C7CDB2D9E}"/>
              </a:ext>
            </a:extLst>
          </p:cNvPr>
          <p:cNvSpPr txBox="1"/>
          <p:nvPr/>
        </p:nvSpPr>
        <p:spPr>
          <a:xfrm>
            <a:off x="342916" y="1035925"/>
            <a:ext cx="6198665" cy="400110"/>
          </a:xfrm>
          <a:prstGeom prst="rect">
            <a:avLst/>
          </a:prstGeom>
          <a:noFill/>
        </p:spPr>
        <p:txBody>
          <a:bodyPr wrap="square" rtlCol="0">
            <a:spAutoFit/>
          </a:bodyPr>
          <a:lstStyle/>
          <a:p>
            <a:r>
              <a:rPr lang="en-CA" sz="2000" dirty="0"/>
              <a:t>Consider UDW scalar field interaction Hamiltonian density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47A53C-8B23-28FF-BA2C-F4603AA2572E}"/>
                  </a:ext>
                </a:extLst>
              </p:cNvPr>
              <p:cNvSpPr txBox="1"/>
              <p:nvPr/>
            </p:nvSpPr>
            <p:spPr>
              <a:xfrm>
                <a:off x="1690138" y="1532289"/>
                <a:ext cx="2783070" cy="3242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h</m:t>
                              </m:r>
                            </m:e>
                          </m:acc>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r>
                        <a:rPr lang="en-US" sz="2000" b="0" i="1" smtClean="0">
                          <a:latin typeface="Cambria Math" panose="02040503050406030204" pitchFamily="18" charset="0"/>
                        </a:rPr>
                        <m:t>𝜆</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Λ</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11" name="TextBox 10">
                <a:extLst>
                  <a:ext uri="{FF2B5EF4-FFF2-40B4-BE49-F238E27FC236}">
                    <a16:creationId xmlns:a16="http://schemas.microsoft.com/office/drawing/2014/main" id="{0A47A53C-8B23-28FF-BA2C-F4603AA2572E}"/>
                  </a:ext>
                </a:extLst>
              </p:cNvPr>
              <p:cNvSpPr txBox="1">
                <a:spLocks noRot="1" noChangeAspect="1" noMove="1" noResize="1" noEditPoints="1" noAdjustHandles="1" noChangeArrowheads="1" noChangeShapeType="1" noTextEdit="1"/>
              </p:cNvSpPr>
              <p:nvPr/>
            </p:nvSpPr>
            <p:spPr>
              <a:xfrm>
                <a:off x="1690138" y="1532289"/>
                <a:ext cx="2783070" cy="324256"/>
              </a:xfrm>
              <a:prstGeom prst="rect">
                <a:avLst/>
              </a:prstGeom>
              <a:blipFill>
                <a:blip r:embed="rId5"/>
                <a:stretch>
                  <a:fillRect l="-1357" t="-14815" b="-2963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C35B29-6455-F088-4159-993B715DB9FD}"/>
                  </a:ext>
                </a:extLst>
              </p:cNvPr>
              <p:cNvSpPr txBox="1"/>
              <p:nvPr/>
            </p:nvSpPr>
            <p:spPr>
              <a:xfrm>
                <a:off x="394117" y="2826326"/>
                <a:ext cx="2354875" cy="3796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rPr>
                        <m:t>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e>
                      </m:d>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ℇ</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𝜌</m:t>
                              </m:r>
                            </m:e>
                          </m:acc>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acc>
                            <m:accPr>
                              <m:chr m:val="̂"/>
                              <m:ctrlPr>
                                <a:rPr lang="en-CA"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𝑈</m:t>
                              </m:r>
                            </m:e>
                          </m:acc>
                        </m:e>
                        <m:sub>
                          <m:r>
                            <a:rPr lang="en-US" sz="2000" b="0" i="1" smtClean="0">
                              <a:latin typeface="Cambria Math" panose="02040503050406030204" pitchFamily="18" charset="0"/>
                              <a:ea typeface="Cambria Math" panose="02040503050406030204" pitchFamily="18" charset="0"/>
                            </a:rPr>
                            <m:t>𝑐</m:t>
                          </m:r>
                        </m:sub>
                        <m:sup>
                          <m:r>
                            <a:rPr lang="en-US" sz="2000" i="1">
                              <a:latin typeface="Cambria Math" panose="02040503050406030204" pitchFamily="18" charset="0"/>
                              <a:ea typeface="Cambria Math" panose="02040503050406030204" pitchFamily="18" charset="0"/>
                            </a:rPr>
                            <m:t>†</m:t>
                          </m:r>
                        </m:sup>
                      </m:sSubSup>
                    </m:oMath>
                  </m:oMathPara>
                </a14:m>
                <a:endParaRPr lang="en-CA" dirty="0"/>
              </a:p>
            </p:txBody>
          </p:sp>
        </mc:Choice>
        <mc:Fallback xmlns="">
          <p:sp>
            <p:nvSpPr>
              <p:cNvPr id="17" name="TextBox 16">
                <a:extLst>
                  <a:ext uri="{FF2B5EF4-FFF2-40B4-BE49-F238E27FC236}">
                    <a16:creationId xmlns:a16="http://schemas.microsoft.com/office/drawing/2014/main" id="{7DC35B29-6455-F088-4159-993B715DB9FD}"/>
                  </a:ext>
                </a:extLst>
              </p:cNvPr>
              <p:cNvSpPr txBox="1">
                <a:spLocks noRot="1" noChangeAspect="1" noMove="1" noResize="1" noEditPoints="1" noAdjustHandles="1" noChangeArrowheads="1" noChangeShapeType="1" noTextEdit="1"/>
              </p:cNvSpPr>
              <p:nvPr/>
            </p:nvSpPr>
            <p:spPr>
              <a:xfrm>
                <a:off x="394117" y="2826326"/>
                <a:ext cx="2354875" cy="379656"/>
              </a:xfrm>
              <a:prstGeom prst="rect">
                <a:avLst/>
              </a:prstGeom>
              <a:blipFill>
                <a:blip r:embed="rId6"/>
                <a:stretch>
                  <a:fillRect l="-2151" t="-6452" r="-1075" b="-1935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82BA5E-AF18-1E51-9E03-0CA33B40F23F}"/>
                  </a:ext>
                </a:extLst>
              </p:cNvPr>
              <p:cNvSpPr txBox="1"/>
              <p:nvPr/>
            </p:nvSpPr>
            <p:spPr>
              <a:xfrm>
                <a:off x="3351995" y="2674183"/>
                <a:ext cx="2354684" cy="4900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𝑖</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den>
                          </m:f>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𝑖</m:t>
                              </m:r>
                              <m:r>
                                <a:rPr lang="en-US" sz="2000" b="0" i="1" smtClean="0">
                                  <a:latin typeface="Cambria Math" panose="02040503050406030204" pitchFamily="18" charset="0"/>
                                </a:rPr>
                                <m:t>&lt;</m:t>
                              </m:r>
                              <m:r>
                                <a:rPr lang="en-US" sz="2000" b="0" i="1" smtClean="0">
                                  <a:latin typeface="Cambria Math" panose="02040503050406030204" pitchFamily="18" charset="0"/>
                                </a:rPr>
                                <m:t>𝑗</m:t>
                              </m:r>
                            </m:sub>
                            <m:sup/>
                            <m:e>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𝑗</m:t>
                                  </m:r>
                                </m:sub>
                              </m:sSub>
                            </m:e>
                          </m:nary>
                        </m:sup>
                      </m:sSup>
                    </m:oMath>
                  </m:oMathPara>
                </a14:m>
                <a:endParaRPr lang="en-CA" dirty="0"/>
              </a:p>
            </p:txBody>
          </p:sp>
        </mc:Choice>
        <mc:Fallback xmlns="">
          <p:sp>
            <p:nvSpPr>
              <p:cNvPr id="18" name="TextBox 17">
                <a:extLst>
                  <a:ext uri="{FF2B5EF4-FFF2-40B4-BE49-F238E27FC236}">
                    <a16:creationId xmlns:a16="http://schemas.microsoft.com/office/drawing/2014/main" id="{5C82BA5E-AF18-1E51-9E03-0CA33B40F23F}"/>
                  </a:ext>
                </a:extLst>
              </p:cNvPr>
              <p:cNvSpPr txBox="1">
                <a:spLocks noRot="1" noChangeAspect="1" noMove="1" noResize="1" noEditPoints="1" noAdjustHandles="1" noChangeArrowheads="1" noChangeShapeType="1" noTextEdit="1"/>
              </p:cNvSpPr>
              <p:nvPr/>
            </p:nvSpPr>
            <p:spPr>
              <a:xfrm>
                <a:off x="3351995" y="2674183"/>
                <a:ext cx="2354684" cy="490006"/>
              </a:xfrm>
              <a:prstGeom prst="rect">
                <a:avLst/>
              </a:prstGeom>
              <a:blipFill>
                <a:blip r:embed="rId7"/>
                <a:stretch>
                  <a:fillRect l="-2151" t="-55000" r="-538" b="-92500"/>
                </a:stretch>
              </a:blipFill>
            </p:spPr>
            <p:txBody>
              <a:bodyPr/>
              <a:lstStyle/>
              <a:p>
                <a:r>
                  <a:rPr lang="en-CA">
                    <a:noFill/>
                  </a:rPr>
                  <a:t> </a:t>
                </a:r>
              </a:p>
            </p:txBody>
          </p:sp>
        </mc:Fallback>
      </mc:AlternateContent>
      <p:pic>
        <p:nvPicPr>
          <p:cNvPr id="36" name="Picture 35">
            <a:extLst>
              <a:ext uri="{FF2B5EF4-FFF2-40B4-BE49-F238E27FC236}">
                <a16:creationId xmlns:a16="http://schemas.microsoft.com/office/drawing/2014/main" id="{71C4C3C9-2DE7-7FC5-6D16-1D22698986B4}"/>
              </a:ext>
            </a:extLst>
          </p:cNvPr>
          <p:cNvPicPr>
            <a:picLocks noChangeAspect="1"/>
          </p:cNvPicPr>
          <p:nvPr/>
        </p:nvPicPr>
        <p:blipFill>
          <a:blip r:embed="rId8">
            <a:alphaModFix amt="60000"/>
          </a:blip>
          <a:stretch>
            <a:fillRect/>
          </a:stretch>
        </p:blipFill>
        <p:spPr>
          <a:xfrm rot="21259358">
            <a:off x="5771848" y="972020"/>
            <a:ext cx="6249993" cy="3749995"/>
          </a:xfrm>
          <a:prstGeom prst="rect">
            <a:avLst/>
          </a:prstGeom>
          <a:effectLst/>
          <a:scene3d>
            <a:camera prst="orthographicFront">
              <a:rot lat="2400000" lon="0" rev="0"/>
            </a:camera>
            <a:lightRig rig="threePt" dir="t"/>
          </a:scene3d>
        </p:spPr>
      </p:pic>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2329E07-E0AD-EEF6-10B4-D6F901DF1A5D}"/>
                  </a:ext>
                </a:extLst>
              </p:cNvPr>
              <p:cNvSpPr txBox="1"/>
              <p:nvPr/>
            </p:nvSpPr>
            <p:spPr>
              <a:xfrm>
                <a:off x="6196608" y="2684919"/>
                <a:ext cx="126239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&lt;</m:t>
                      </m:r>
                      <m:r>
                        <a:rPr lang="en-US" sz="2000" b="0" i="1" smtClean="0">
                          <a:latin typeface="Cambria Math" panose="02040503050406030204" pitchFamily="18" charset="0"/>
                        </a:rPr>
                        <m:t>𝑡</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2</m:t>
                          </m:r>
                        </m:sub>
                      </m:sSub>
                    </m:oMath>
                  </m:oMathPara>
                </a14:m>
                <a:endParaRPr lang="en-CA" dirty="0"/>
              </a:p>
            </p:txBody>
          </p:sp>
        </mc:Choice>
        <mc:Fallback xmlns="">
          <p:sp>
            <p:nvSpPr>
              <p:cNvPr id="41" name="TextBox 40">
                <a:extLst>
                  <a:ext uri="{FF2B5EF4-FFF2-40B4-BE49-F238E27FC236}">
                    <a16:creationId xmlns:a16="http://schemas.microsoft.com/office/drawing/2014/main" id="{D2329E07-E0AD-EEF6-10B4-D6F901DF1A5D}"/>
                  </a:ext>
                </a:extLst>
              </p:cNvPr>
              <p:cNvSpPr txBox="1">
                <a:spLocks noRot="1" noChangeAspect="1" noMove="1" noResize="1" noEditPoints="1" noAdjustHandles="1" noChangeArrowheads="1" noChangeShapeType="1" noTextEdit="1"/>
              </p:cNvSpPr>
              <p:nvPr/>
            </p:nvSpPr>
            <p:spPr>
              <a:xfrm>
                <a:off x="6196608" y="2684919"/>
                <a:ext cx="1262397" cy="307777"/>
              </a:xfrm>
              <a:prstGeom prst="rect">
                <a:avLst/>
              </a:prstGeom>
              <a:blipFill>
                <a:blip r:embed="rId9"/>
                <a:stretch>
                  <a:fillRect l="-4000" r="-1000" b="-16000"/>
                </a:stretch>
              </a:blipFill>
            </p:spPr>
            <p:txBody>
              <a:bodyPr/>
              <a:lstStyle/>
              <a:p>
                <a:r>
                  <a:rPr lang="en-CA">
                    <a:noFill/>
                  </a:rPr>
                  <a:t> </a:t>
                </a:r>
              </a:p>
            </p:txBody>
          </p:sp>
        </mc:Fallback>
      </mc:AlternateContent>
      <p:sp>
        <p:nvSpPr>
          <p:cNvPr id="42" name="Left Brace 41">
            <a:extLst>
              <a:ext uri="{FF2B5EF4-FFF2-40B4-BE49-F238E27FC236}">
                <a16:creationId xmlns:a16="http://schemas.microsoft.com/office/drawing/2014/main" id="{DE832867-4248-CE58-844D-F5035EC9C421}"/>
              </a:ext>
            </a:extLst>
          </p:cNvPr>
          <p:cNvSpPr/>
          <p:nvPr/>
        </p:nvSpPr>
        <p:spPr>
          <a:xfrm rot="21404871">
            <a:off x="7542362" y="2215915"/>
            <a:ext cx="183464" cy="1280160"/>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72080BF-FBB2-595F-F3AA-E36201628F16}"/>
                  </a:ext>
                </a:extLst>
              </p:cNvPr>
              <p:cNvSpPr txBox="1"/>
              <p:nvPr/>
            </p:nvSpPr>
            <p:spPr>
              <a:xfrm>
                <a:off x="6477202" y="2223277"/>
                <a:ext cx="7927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m:t>
                      </m:r>
                    </m:oMath>
                  </m:oMathPara>
                </a14:m>
                <a:endParaRPr lang="en-CA" dirty="0"/>
              </a:p>
            </p:txBody>
          </p:sp>
        </mc:Choice>
        <mc:Fallback xmlns="">
          <p:sp>
            <p:nvSpPr>
              <p:cNvPr id="43" name="TextBox 42">
                <a:extLst>
                  <a:ext uri="{FF2B5EF4-FFF2-40B4-BE49-F238E27FC236}">
                    <a16:creationId xmlns:a16="http://schemas.microsoft.com/office/drawing/2014/main" id="{F72080BF-FBB2-595F-F3AA-E36201628F16}"/>
                  </a:ext>
                </a:extLst>
              </p:cNvPr>
              <p:cNvSpPr txBox="1">
                <a:spLocks noRot="1" noChangeAspect="1" noMove="1" noResize="1" noEditPoints="1" noAdjustHandles="1" noChangeArrowheads="1" noChangeShapeType="1" noTextEdit="1"/>
              </p:cNvSpPr>
              <p:nvPr/>
            </p:nvSpPr>
            <p:spPr>
              <a:xfrm>
                <a:off x="6477202" y="2223277"/>
                <a:ext cx="792718" cy="307777"/>
              </a:xfrm>
              <a:prstGeom prst="rect">
                <a:avLst/>
              </a:prstGeom>
              <a:blipFill>
                <a:blip r:embed="rId10"/>
                <a:stretch>
                  <a:fillRect l="-7937" r="-6349" b="-16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745480B-E6D0-A961-D038-2C2794D417BD}"/>
                  </a:ext>
                </a:extLst>
              </p:cNvPr>
              <p:cNvSpPr txBox="1"/>
              <p:nvPr/>
            </p:nvSpPr>
            <p:spPr>
              <a:xfrm>
                <a:off x="10533224" y="2651351"/>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xmlns="">
          <p:sp>
            <p:nvSpPr>
              <p:cNvPr id="44" name="TextBox 43">
                <a:extLst>
                  <a:ext uri="{FF2B5EF4-FFF2-40B4-BE49-F238E27FC236}">
                    <a16:creationId xmlns:a16="http://schemas.microsoft.com/office/drawing/2014/main" id="{4745480B-E6D0-A961-D038-2C2794D417BD}"/>
                  </a:ext>
                </a:extLst>
              </p:cNvPr>
              <p:cNvSpPr txBox="1">
                <a:spLocks noRot="1" noChangeAspect="1" noMove="1" noResize="1" noEditPoints="1" noAdjustHandles="1" noChangeArrowheads="1" noChangeShapeType="1" noTextEdit="1"/>
              </p:cNvSpPr>
              <p:nvPr/>
            </p:nvSpPr>
            <p:spPr>
              <a:xfrm>
                <a:off x="10533224" y="2651351"/>
                <a:ext cx="574260" cy="320729"/>
              </a:xfrm>
              <a:prstGeom prst="rect">
                <a:avLst/>
              </a:prstGeom>
              <a:blipFill>
                <a:blip r:embed="rId11"/>
                <a:stretch>
                  <a:fillRect l="-15217" t="-14815" b="-25926"/>
                </a:stretch>
              </a:blipFill>
            </p:spPr>
            <p:txBody>
              <a:bodyPr/>
              <a:lstStyle/>
              <a:p>
                <a:r>
                  <a:rPr lang="en-CA">
                    <a:noFill/>
                  </a:rPr>
                  <a:t> </a:t>
                </a:r>
              </a:p>
            </p:txBody>
          </p:sp>
        </mc:Fallback>
      </mc:AlternateContent>
      <p:sp>
        <p:nvSpPr>
          <p:cNvPr id="45" name="TextBox 44">
            <a:extLst>
              <a:ext uri="{FF2B5EF4-FFF2-40B4-BE49-F238E27FC236}">
                <a16:creationId xmlns:a16="http://schemas.microsoft.com/office/drawing/2014/main" id="{781D11B5-14B1-1116-BEDB-3A0F06A23F49}"/>
              </a:ext>
            </a:extLst>
          </p:cNvPr>
          <p:cNvSpPr txBox="1"/>
          <p:nvPr/>
        </p:nvSpPr>
        <p:spPr>
          <a:xfrm>
            <a:off x="10336209" y="5220327"/>
            <a:ext cx="1469452" cy="400110"/>
          </a:xfrm>
          <a:prstGeom prst="rect">
            <a:avLst/>
          </a:prstGeom>
          <a:noFill/>
        </p:spPr>
        <p:txBody>
          <a:bodyPr wrap="square" rtlCol="0">
            <a:spAutoFit/>
          </a:bodyPr>
          <a:lstStyle/>
          <a:p>
            <a:r>
              <a:rPr lang="en-CA" sz="2000" dirty="0"/>
              <a:t>worldlines</a:t>
            </a:r>
          </a:p>
        </p:txBody>
      </p:sp>
      <p:sp>
        <p:nvSpPr>
          <p:cNvPr id="46" name="Left Brace 45">
            <a:extLst>
              <a:ext uri="{FF2B5EF4-FFF2-40B4-BE49-F238E27FC236}">
                <a16:creationId xmlns:a16="http://schemas.microsoft.com/office/drawing/2014/main" id="{8BE3F1B1-BE13-585F-486E-B808CB78DBD5}"/>
              </a:ext>
            </a:extLst>
          </p:cNvPr>
          <p:cNvSpPr/>
          <p:nvPr/>
        </p:nvSpPr>
        <p:spPr>
          <a:xfrm rot="12934382">
            <a:off x="9886171" y="4819390"/>
            <a:ext cx="215796" cy="1424557"/>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51C4D1F-D6B7-8517-82B1-38E19EF60662}"/>
                  </a:ext>
                </a:extLst>
              </p:cNvPr>
              <p:cNvSpPr txBox="1"/>
              <p:nvPr/>
            </p:nvSpPr>
            <p:spPr>
              <a:xfrm>
                <a:off x="10426008" y="5547032"/>
                <a:ext cx="911316" cy="4361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r>
                        <a:rPr lang="en-CA" sz="2000" i="1" dirty="0">
                          <a:latin typeface="Cambria Math" panose="02040503050406030204" pitchFamily="18" charset="0"/>
                        </a:rPr>
                        <m:t>(</m:t>
                      </m:r>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r>
                        <a:rPr lang="en-CA" sz="2000" i="1" dirty="0">
                          <a:latin typeface="Cambria Math" panose="02040503050406030204" pitchFamily="18" charset="0"/>
                        </a:rPr>
                        <m:t>) </m:t>
                      </m:r>
                    </m:oMath>
                  </m:oMathPara>
                </a14:m>
                <a:endParaRPr lang="en-CA" dirty="0"/>
              </a:p>
            </p:txBody>
          </p:sp>
        </mc:Choice>
        <mc:Fallback xmlns="">
          <p:sp>
            <p:nvSpPr>
              <p:cNvPr id="47" name="TextBox 46">
                <a:extLst>
                  <a:ext uri="{FF2B5EF4-FFF2-40B4-BE49-F238E27FC236}">
                    <a16:creationId xmlns:a16="http://schemas.microsoft.com/office/drawing/2014/main" id="{851C4D1F-D6B7-8517-82B1-38E19EF60662}"/>
                  </a:ext>
                </a:extLst>
              </p:cNvPr>
              <p:cNvSpPr txBox="1">
                <a:spLocks noRot="1" noChangeAspect="1" noMove="1" noResize="1" noEditPoints="1" noAdjustHandles="1" noChangeArrowheads="1" noChangeShapeType="1" noTextEdit="1"/>
              </p:cNvSpPr>
              <p:nvPr/>
            </p:nvSpPr>
            <p:spPr>
              <a:xfrm>
                <a:off x="10426008" y="5547032"/>
                <a:ext cx="911316" cy="436145"/>
              </a:xfrm>
              <a:prstGeom prst="rect">
                <a:avLst/>
              </a:prstGeom>
              <a:blipFill>
                <a:blip r:embed="rId12"/>
                <a:stretch>
                  <a:fillRect r="-5479" b="-14286"/>
                </a:stretch>
              </a:blipFill>
            </p:spPr>
            <p:txBody>
              <a:bodyPr/>
              <a:lstStyle/>
              <a:p>
                <a:r>
                  <a:rPr lang="en-CA">
                    <a:noFill/>
                  </a:rPr>
                  <a:t> </a:t>
                </a:r>
              </a:p>
            </p:txBody>
          </p:sp>
        </mc:Fallback>
      </mc:AlternateContent>
      <p:sp>
        <p:nvSpPr>
          <p:cNvPr id="48" name="TextBox 47">
            <a:extLst>
              <a:ext uri="{FF2B5EF4-FFF2-40B4-BE49-F238E27FC236}">
                <a16:creationId xmlns:a16="http://schemas.microsoft.com/office/drawing/2014/main" id="{48FF5B0A-A305-A4F5-5F0D-8EC3BD59056E}"/>
              </a:ext>
            </a:extLst>
          </p:cNvPr>
          <p:cNvSpPr txBox="1"/>
          <p:nvPr/>
        </p:nvSpPr>
        <p:spPr>
          <a:xfrm>
            <a:off x="5970306" y="3350701"/>
            <a:ext cx="1804097" cy="1015663"/>
          </a:xfrm>
          <a:prstGeom prst="rect">
            <a:avLst/>
          </a:prstGeom>
          <a:noFill/>
        </p:spPr>
        <p:txBody>
          <a:bodyPr wrap="square" rtlCol="0">
            <a:spAutoFit/>
          </a:bodyPr>
          <a:lstStyle/>
          <a:p>
            <a:r>
              <a:rPr lang="en-CA" sz="2000" dirty="0"/>
              <a:t>Qubit-field interaction regions</a:t>
            </a:r>
          </a:p>
        </p:txBody>
      </p:sp>
      <p:sp>
        <p:nvSpPr>
          <p:cNvPr id="49" name="Connector 48">
            <a:extLst>
              <a:ext uri="{FF2B5EF4-FFF2-40B4-BE49-F238E27FC236}">
                <a16:creationId xmlns:a16="http://schemas.microsoft.com/office/drawing/2014/main" id="{0FB34A47-12D7-93EB-AAEE-267134598ADB}"/>
              </a:ext>
            </a:extLst>
          </p:cNvPr>
          <p:cNvSpPr/>
          <p:nvPr/>
        </p:nvSpPr>
        <p:spPr>
          <a:xfrm>
            <a:off x="7786815" y="1785163"/>
            <a:ext cx="2549394" cy="1768783"/>
          </a:xfrm>
          <a:prstGeom prst="flowChartConnector">
            <a:avLst/>
          </a:prstGeom>
          <a:noFill/>
          <a:ln w="31750">
            <a:prstDash val="dash"/>
          </a:ln>
          <a:scene3d>
            <a:camera prst="orthographicFront">
              <a:rot lat="19210946" lon="21349022" rev="39093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4" name="TextBox 53">
            <a:extLst>
              <a:ext uri="{FF2B5EF4-FFF2-40B4-BE49-F238E27FC236}">
                <a16:creationId xmlns:a16="http://schemas.microsoft.com/office/drawing/2014/main" id="{F79BE05D-787D-2E18-854A-CA6582E41F7B}"/>
              </a:ext>
            </a:extLst>
          </p:cNvPr>
          <p:cNvSpPr txBox="1"/>
          <p:nvPr/>
        </p:nvSpPr>
        <p:spPr>
          <a:xfrm>
            <a:off x="345523" y="2023223"/>
            <a:ext cx="5009371" cy="707886"/>
          </a:xfrm>
          <a:prstGeom prst="rect">
            <a:avLst/>
          </a:prstGeom>
          <a:noFill/>
        </p:spPr>
        <p:txBody>
          <a:bodyPr wrap="square" rtlCol="0">
            <a:spAutoFit/>
          </a:bodyPr>
          <a:lstStyle/>
          <a:p>
            <a:r>
              <a:rPr lang="en-CA" sz="2000" dirty="0"/>
              <a:t>Time-evolution plus tracing out field results in decohering channel</a:t>
            </a:r>
          </a:p>
        </p:txBody>
      </p:sp>
      <p:sp>
        <p:nvSpPr>
          <p:cNvPr id="55" name="TextBox 54">
            <a:extLst>
              <a:ext uri="{FF2B5EF4-FFF2-40B4-BE49-F238E27FC236}">
                <a16:creationId xmlns:a16="http://schemas.microsoft.com/office/drawing/2014/main" id="{4C8CE643-F318-8497-A379-7849E1307C3E}"/>
              </a:ext>
            </a:extLst>
          </p:cNvPr>
          <p:cNvSpPr txBox="1"/>
          <p:nvPr/>
        </p:nvSpPr>
        <p:spPr>
          <a:xfrm>
            <a:off x="2736570" y="2826326"/>
            <a:ext cx="720245" cy="369332"/>
          </a:xfrm>
          <a:prstGeom prst="rect">
            <a:avLst/>
          </a:prstGeom>
          <a:noFill/>
        </p:spPr>
        <p:txBody>
          <a:bodyPr wrap="square" rtlCol="0">
            <a:spAutoFit/>
          </a:bodyPr>
          <a:lstStyle/>
          <a:p>
            <a:r>
              <a:rPr lang="en-CA" dirty="0"/>
              <a:t>with</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0824EA4-00DC-7A7E-9B8F-752A7C816BB7}"/>
                  </a:ext>
                </a:extLst>
              </p:cNvPr>
              <p:cNvSpPr txBox="1"/>
              <p:nvPr/>
            </p:nvSpPr>
            <p:spPr>
              <a:xfrm>
                <a:off x="355488" y="3326015"/>
                <a:ext cx="5291852" cy="73257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oMath>
                </a14:m>
                <a:r>
                  <a:rPr lang="en-CA" sz="2000" dirty="0"/>
                  <a:t> are parameters that depend on propagation of qubits’ interaction regions through field </a:t>
                </a:r>
                <a:endParaRPr lang="en-CA" dirty="0"/>
              </a:p>
            </p:txBody>
          </p:sp>
        </mc:Choice>
        <mc:Fallback xmlns="">
          <p:sp>
            <p:nvSpPr>
              <p:cNvPr id="56" name="TextBox 55">
                <a:extLst>
                  <a:ext uri="{FF2B5EF4-FFF2-40B4-BE49-F238E27FC236}">
                    <a16:creationId xmlns:a16="http://schemas.microsoft.com/office/drawing/2014/main" id="{50824EA4-00DC-7A7E-9B8F-752A7C816BB7}"/>
                  </a:ext>
                </a:extLst>
              </p:cNvPr>
              <p:cNvSpPr txBox="1">
                <a:spLocks noRot="1" noChangeAspect="1" noMove="1" noResize="1" noEditPoints="1" noAdjustHandles="1" noChangeArrowheads="1" noChangeShapeType="1" noTextEdit="1"/>
              </p:cNvSpPr>
              <p:nvPr/>
            </p:nvSpPr>
            <p:spPr>
              <a:xfrm>
                <a:off x="355488" y="3326015"/>
                <a:ext cx="5291852" cy="732573"/>
              </a:xfrm>
              <a:prstGeom prst="rect">
                <a:avLst/>
              </a:prstGeom>
              <a:blipFill>
                <a:blip r:embed="rId13"/>
                <a:stretch>
                  <a:fillRect l="-957" t="-5172" b="-137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C64ABBE-76C7-A48A-E9F8-A067E27F6139}"/>
                  </a:ext>
                </a:extLst>
              </p:cNvPr>
              <p:cNvSpPr txBox="1"/>
              <p:nvPr/>
            </p:nvSpPr>
            <p:spPr>
              <a:xfrm>
                <a:off x="5591600" y="4631565"/>
                <a:ext cx="1850333" cy="1062470"/>
              </a:xfrm>
              <a:prstGeom prst="rect">
                <a:avLst/>
              </a:prstGeom>
              <a:noFill/>
            </p:spPr>
            <p:txBody>
              <a:bodyPr wrap="square" rtlCol="0">
                <a:spAutoFit/>
              </a:bodyPr>
              <a:lstStyle/>
              <a:p>
                <a:r>
                  <a:rPr lang="en-CA" sz="2000" dirty="0"/>
                  <a:t>meaningful entanglement: </a:t>
                </a:r>
                <a14:m>
                  <m:oMath xmlns:m="http://schemas.openxmlformats.org/officeDocument/2006/math">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e>
                    </m:d>
                    <m:r>
                      <a:rPr lang="en-US" sz="2000" b="0" i="1" smtClean="0">
                        <a:latin typeface="Cambria Math" panose="02040503050406030204" pitchFamily="18" charset="0"/>
                      </a:rPr>
                      <m:t>∼1</m:t>
                    </m:r>
                  </m:oMath>
                </a14:m>
                <a:endParaRPr lang="en-CA" sz="2000" dirty="0"/>
              </a:p>
            </p:txBody>
          </p:sp>
        </mc:Choice>
        <mc:Fallback xmlns="">
          <p:sp>
            <p:nvSpPr>
              <p:cNvPr id="57" name="TextBox 56">
                <a:extLst>
                  <a:ext uri="{FF2B5EF4-FFF2-40B4-BE49-F238E27FC236}">
                    <a16:creationId xmlns:a16="http://schemas.microsoft.com/office/drawing/2014/main" id="{6C64ABBE-76C7-A48A-E9F8-A067E27F6139}"/>
                  </a:ext>
                </a:extLst>
              </p:cNvPr>
              <p:cNvSpPr txBox="1">
                <a:spLocks noRot="1" noChangeAspect="1" noMove="1" noResize="1" noEditPoints="1" noAdjustHandles="1" noChangeArrowheads="1" noChangeShapeType="1" noTextEdit="1"/>
              </p:cNvSpPr>
              <p:nvPr/>
            </p:nvSpPr>
            <p:spPr>
              <a:xfrm>
                <a:off x="5591600" y="4631565"/>
                <a:ext cx="1850333" cy="1062470"/>
              </a:xfrm>
              <a:prstGeom prst="rect">
                <a:avLst/>
              </a:prstGeom>
              <a:blipFill>
                <a:blip r:embed="rId14"/>
                <a:stretch>
                  <a:fillRect l="-3401" t="-3529" b="-352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380DED2-A58C-F4ED-D764-D8D84CAD09C8}"/>
                  </a:ext>
                </a:extLst>
              </p:cNvPr>
              <p:cNvSpPr txBox="1"/>
              <p:nvPr/>
            </p:nvSpPr>
            <p:spPr>
              <a:xfrm>
                <a:off x="809837" y="4558430"/>
                <a:ext cx="3801935" cy="1023998"/>
              </a:xfrm>
              <a:prstGeom prst="rect">
                <a:avLst/>
              </a:prstGeom>
              <a:noFill/>
              <a:ln>
                <a:noFill/>
              </a:ln>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lang="en-US" sz="2000" dirty="0"/>
                  <a:t>Qubits can couple to field simultaneously, so </a:t>
                </a:r>
                <a14:m>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oMath>
                </a14:m>
                <a:r>
                  <a:rPr lang="en-CA" sz="2000" dirty="0"/>
                  <a:t> is a globally entangling unitary on all qubits.</a:t>
                </a:r>
              </a:p>
            </p:txBody>
          </p:sp>
        </mc:Choice>
        <mc:Fallback xmlns="">
          <p:sp>
            <p:nvSpPr>
              <p:cNvPr id="59" name="TextBox 58">
                <a:extLst>
                  <a:ext uri="{FF2B5EF4-FFF2-40B4-BE49-F238E27FC236}">
                    <a16:creationId xmlns:a16="http://schemas.microsoft.com/office/drawing/2014/main" id="{4380DED2-A58C-F4ED-D764-D8D84CAD09C8}"/>
                  </a:ext>
                </a:extLst>
              </p:cNvPr>
              <p:cNvSpPr txBox="1">
                <a:spLocks noRot="1" noChangeAspect="1" noMove="1" noResize="1" noEditPoints="1" noAdjustHandles="1" noChangeArrowheads="1" noChangeShapeType="1" noTextEdit="1"/>
              </p:cNvSpPr>
              <p:nvPr/>
            </p:nvSpPr>
            <p:spPr>
              <a:xfrm>
                <a:off x="809837" y="4558430"/>
                <a:ext cx="3801935" cy="1023998"/>
              </a:xfrm>
              <a:prstGeom prst="rect">
                <a:avLst/>
              </a:prstGeom>
              <a:blipFill>
                <a:blip r:embed="rId15"/>
                <a:stretch>
                  <a:fillRect l="-1661" t="-3704" b="-8642"/>
                </a:stretch>
              </a:blipFill>
              <a:ln>
                <a:noFill/>
              </a:ln>
            </p:spPr>
            <p:txBody>
              <a:bodyPr/>
              <a:lstStyle/>
              <a:p>
                <a:r>
                  <a:rPr lang="en-CA">
                    <a:noFill/>
                  </a:rPr>
                  <a:t> </a:t>
                </a:r>
              </a:p>
            </p:txBody>
          </p:sp>
        </mc:Fallback>
      </mc:AlternateContent>
    </p:spTree>
    <p:custDataLst>
      <p:tags r:id="rId1"/>
    </p:custDataLst>
    <p:extLst>
      <p:ext uri="{BB962C8B-B14F-4D97-AF65-F5344CB8AC3E}">
        <p14:creationId xmlns:p14="http://schemas.microsoft.com/office/powerpoint/2010/main" val="247017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0" grpId="0" animBg="1"/>
      <p:bldP spid="17" grpId="0"/>
      <p:bldP spid="18" grpId="0"/>
      <p:bldP spid="54" grpId="0"/>
      <p:bldP spid="55" grpId="0"/>
      <p:bldP spid="56" grpId="0"/>
      <p:bldP spid="57" grpId="0"/>
      <p:bldP spid="5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ounded Rectangle 53">
            <a:extLst>
              <a:ext uri="{FF2B5EF4-FFF2-40B4-BE49-F238E27FC236}">
                <a16:creationId xmlns:a16="http://schemas.microsoft.com/office/drawing/2014/main" id="{F4C26FDB-BDA5-563B-644E-97357EC92C20}"/>
              </a:ext>
            </a:extLst>
          </p:cNvPr>
          <p:cNvSpPr/>
          <p:nvPr/>
        </p:nvSpPr>
        <p:spPr>
          <a:xfrm>
            <a:off x="6236532" y="1005578"/>
            <a:ext cx="5625160" cy="4932084"/>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9" name="Rounded Rectangle 58">
            <a:extLst>
              <a:ext uri="{FF2B5EF4-FFF2-40B4-BE49-F238E27FC236}">
                <a16:creationId xmlns:a16="http://schemas.microsoft.com/office/drawing/2014/main" id="{EEF8E665-5F68-B604-6DFE-DFD241783CF1}"/>
              </a:ext>
            </a:extLst>
          </p:cNvPr>
          <p:cNvSpPr/>
          <p:nvPr/>
        </p:nvSpPr>
        <p:spPr>
          <a:xfrm>
            <a:off x="7474381" y="3156812"/>
            <a:ext cx="3423759" cy="423252"/>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Noise Analysis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11</a:t>
            </a:fld>
            <a:endParaRPr lang="de-AT"/>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9913F44-60A8-5F34-38C0-88DA079AD188}"/>
                  </a:ext>
                </a:extLst>
              </p:cNvPr>
              <p:cNvSpPr txBox="1"/>
              <p:nvPr/>
            </p:nvSpPr>
            <p:spPr>
              <a:xfrm>
                <a:off x="537071" y="3154655"/>
                <a:ext cx="5015752" cy="4670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𝐹</m:t>
                      </m:r>
                      <m:d>
                        <m:dPr>
                          <m:ctrlPr>
                            <a:rPr lang="en-US" sz="2000" i="1" dirty="0">
                              <a:latin typeface="Cambria Math" panose="02040503050406030204" pitchFamily="18" charset="0"/>
                            </a:rPr>
                          </m:ctrlPr>
                        </m:dPr>
                        <m:e>
                          <m:r>
                            <a:rPr lang="en-CA" sz="2000" i="1" dirty="0">
                              <a:latin typeface="Cambria Math" panose="02040503050406030204" pitchFamily="18" charset="0"/>
                              <a:ea typeface="Cambria Math" panose="02040503050406030204" pitchFamily="18" charset="0"/>
                            </a:rPr>
                            <m:t>ℇ</m:t>
                          </m:r>
                          <m:d>
                            <m:dPr>
                              <m:ctrlPr>
                                <a:rPr lang="en-US" sz="2000" i="1" dirty="0">
                                  <a:latin typeface="Cambria Math" panose="02040503050406030204" pitchFamily="18" charset="0"/>
                                  <a:ea typeface="Cambria Math" panose="02040503050406030204" pitchFamily="18" charset="0"/>
                                </a:rPr>
                              </m:ctrlPr>
                            </m:dPr>
                            <m:e>
                              <m:acc>
                                <m:accPr>
                                  <m:chr m:val="̂"/>
                                  <m:ctrlPr>
                                    <a:rPr lang="en-US" sz="2000" i="1" dirty="0">
                                      <a:latin typeface="Cambria Math" panose="02040503050406030204" pitchFamily="18" charset="0"/>
                                      <a:ea typeface="Cambria Math" panose="02040503050406030204" pitchFamily="18" charset="0"/>
                                    </a:rPr>
                                  </m:ctrlPr>
                                </m:accPr>
                                <m:e>
                                  <m:r>
                                    <a:rPr lang="en-US" sz="2000" i="1" dirty="0">
                                      <a:latin typeface="Cambria Math" panose="02040503050406030204" pitchFamily="18" charset="0"/>
                                      <a:ea typeface="Cambria Math" panose="02040503050406030204" pitchFamily="18" charset="0"/>
                                    </a:rPr>
                                    <m:t>𝜌</m:t>
                                  </m:r>
                                </m:e>
                              </m:acc>
                            </m:e>
                          </m:d>
                          <m:r>
                            <a:rPr lang="en-US" sz="2000" i="1" dirty="0">
                              <a:latin typeface="Cambria Math" panose="02040503050406030204" pitchFamily="18" charset="0"/>
                              <a:ea typeface="Cambria Math" panose="02040503050406030204" pitchFamily="18" charset="0"/>
                            </a:rPr>
                            <m:t>,</m:t>
                          </m:r>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𝑈</m:t>
                                  </m:r>
                                </m:e>
                              </m:acc>
                            </m:e>
                            <m:sub>
                              <m:r>
                                <a:rPr lang="en-US" sz="2000" i="1" dirty="0">
                                  <a:latin typeface="Cambria Math" panose="02040503050406030204" pitchFamily="18" charset="0"/>
                                </a:rPr>
                                <m:t>𝑐</m:t>
                              </m:r>
                            </m:sub>
                          </m:sSub>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𝜌</m:t>
                              </m:r>
                            </m:e>
                          </m:acc>
                          <m:sSubSup>
                            <m:sSubSupPr>
                              <m:ctrlPr>
                                <a:rPr lang="en-US" sz="2000" i="1" dirty="0">
                                  <a:latin typeface="Cambria Math" panose="02040503050406030204" pitchFamily="18" charset="0"/>
                                </a:rPr>
                              </m:ctrlPr>
                            </m:sSubSup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𝑈</m:t>
                                  </m:r>
                                </m:e>
                              </m:acc>
                            </m:e>
                            <m:sub>
                              <m:r>
                                <a:rPr lang="en-US" sz="2000" i="1" dirty="0">
                                  <a:latin typeface="Cambria Math" panose="02040503050406030204" pitchFamily="18" charset="0"/>
                                </a:rPr>
                                <m:t>𝑐</m:t>
                              </m:r>
                            </m:sub>
                            <m:sup>
                              <m:r>
                                <a:rPr lang="en-US" sz="2000" i="1" dirty="0">
                                  <a:latin typeface="Cambria Math" panose="02040503050406030204" pitchFamily="18" charset="0"/>
                                  <a:ea typeface="Cambria Math" panose="02040503050406030204" pitchFamily="18" charset="0"/>
                                </a:rPr>
                                <m:t>†</m:t>
                              </m:r>
                            </m:sup>
                          </m:sSubSup>
                        </m:e>
                      </m:d>
                      <m:r>
                        <m:rPr>
                          <m:nor/>
                        </m:rPr>
                        <a:rPr lang="en-CA" sz="2000" dirty="0"/>
                        <m:t> </m:t>
                      </m:r>
                      <m:r>
                        <a:rPr lang="en-CA" sz="2000" i="1" dirty="0">
                          <a:latin typeface="Cambria Math" panose="02040503050406030204" pitchFamily="18" charset="0"/>
                        </a:rPr>
                        <m:t>≥</m:t>
                      </m:r>
                      <m:r>
                        <a:rPr lang="en-US" sz="2000" i="1" dirty="0">
                          <a:latin typeface="Cambria Math" panose="02040503050406030204" pitchFamily="18" charset="0"/>
                        </a:rPr>
                        <m:t>𝑇𝑟</m:t>
                      </m:r>
                      <m:r>
                        <a:rPr lang="en-US" sz="2000" i="1" dirty="0">
                          <a:latin typeface="Cambria Math" panose="02040503050406030204" pitchFamily="18" charset="0"/>
                        </a:rPr>
                        <m:t>(</m:t>
                      </m:r>
                      <m:sSup>
                        <m:sSupPr>
                          <m:ctrlPr>
                            <a:rPr lang="en-US" sz="2000" i="1" dirty="0">
                              <a:latin typeface="Cambria Math" panose="02040503050406030204" pitchFamily="18" charset="0"/>
                            </a:rPr>
                          </m:ctrlPr>
                        </m:sSup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𝜌</m:t>
                              </m:r>
                            </m:e>
                          </m:acc>
                        </m:e>
                        <m:sup>
                          <m:r>
                            <a:rPr lang="en-US" sz="2000" i="1" dirty="0">
                              <a:latin typeface="Cambria Math" panose="02040503050406030204" pitchFamily="18" charset="0"/>
                            </a:rPr>
                            <m:t>2</m:t>
                          </m:r>
                        </m:sup>
                      </m:sSup>
                      <m:r>
                        <a:rPr lang="en-US" sz="2000" i="1" dirty="0">
                          <a:latin typeface="Cambria Math" panose="02040503050406030204" pitchFamily="18" charset="0"/>
                        </a:rPr>
                        <m:t>)</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𝑒</m:t>
                          </m:r>
                        </m:e>
                        <m:sup>
                          <m:r>
                            <a:rPr lang="en-US" sz="2000" i="1" dirty="0">
                              <a:latin typeface="Cambria Math" panose="02040503050406030204" pitchFamily="18" charset="0"/>
                            </a:rPr>
                            <m:t>−2</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𝑁</m:t>
                              </m:r>
                            </m:e>
                            <m:sup>
                              <m:r>
                                <a:rPr lang="en-US" sz="2000" i="1" dirty="0">
                                  <a:latin typeface="Cambria Math" panose="02040503050406030204" pitchFamily="18" charset="0"/>
                                </a:rPr>
                                <m:t>2</m:t>
                              </m:r>
                            </m:sup>
                          </m:sSup>
                          <m:sSup>
                            <m:sSupPr>
                              <m:ctrlPr>
                                <a:rPr lang="en-US" sz="2000" i="1" dirty="0">
                                  <a:latin typeface="Cambria Math" panose="02040503050406030204" pitchFamily="18" charset="0"/>
                                </a:rPr>
                              </m:ctrlPr>
                            </m:sSupPr>
                            <m:e>
                              <m:r>
                                <a:rPr lang="en-US" sz="2000" i="1" dirty="0">
                                  <a:latin typeface="Cambria Math" panose="02040503050406030204" pitchFamily="18" charset="0"/>
                                </a:rPr>
                                <m:t>𝜆</m:t>
                              </m:r>
                            </m:e>
                            <m:sup>
                              <m:r>
                                <a:rPr lang="en-US" sz="2000" i="1" dirty="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sup>
                      </m:sSup>
                    </m:oMath>
                  </m:oMathPara>
                </a14:m>
                <a:endParaRPr lang="en-CA" sz="2000" dirty="0"/>
              </a:p>
            </p:txBody>
          </p:sp>
        </mc:Choice>
        <mc:Fallback xmlns="">
          <p:sp>
            <p:nvSpPr>
              <p:cNvPr id="9" name="TextBox 8">
                <a:extLst>
                  <a:ext uri="{FF2B5EF4-FFF2-40B4-BE49-F238E27FC236}">
                    <a16:creationId xmlns:a16="http://schemas.microsoft.com/office/drawing/2014/main" id="{39913F44-60A8-5F34-38C0-88DA079AD188}"/>
                  </a:ext>
                </a:extLst>
              </p:cNvPr>
              <p:cNvSpPr txBox="1">
                <a:spLocks noRot="1" noChangeAspect="1" noMove="1" noResize="1" noEditPoints="1" noAdjustHandles="1" noChangeArrowheads="1" noChangeShapeType="1" noTextEdit="1"/>
              </p:cNvSpPr>
              <p:nvPr/>
            </p:nvSpPr>
            <p:spPr>
              <a:xfrm>
                <a:off x="537071" y="3154655"/>
                <a:ext cx="5015752" cy="467051"/>
              </a:xfrm>
              <a:prstGeom prst="rect">
                <a:avLst/>
              </a:prstGeom>
              <a:blipFill>
                <a:blip r:embed="rId4"/>
                <a:stretch>
                  <a:fillRect b="-13158"/>
                </a:stretch>
              </a:blipFill>
            </p:spPr>
            <p:txBody>
              <a:bodyPr/>
              <a:lstStyle/>
              <a:p>
                <a:r>
                  <a:rPr lang="en-CA">
                    <a:noFill/>
                  </a:rPr>
                  <a:t> </a:t>
                </a:r>
              </a:p>
            </p:txBody>
          </p:sp>
        </mc:Fallback>
      </mc:AlternateContent>
      <p:sp>
        <p:nvSpPr>
          <p:cNvPr id="10" name="TextBox 9">
            <a:extLst>
              <a:ext uri="{FF2B5EF4-FFF2-40B4-BE49-F238E27FC236}">
                <a16:creationId xmlns:a16="http://schemas.microsoft.com/office/drawing/2014/main" id="{6D82C545-5BA6-4C60-853B-A4256D7974D2}"/>
              </a:ext>
            </a:extLst>
          </p:cNvPr>
          <p:cNvSpPr txBox="1"/>
          <p:nvPr/>
        </p:nvSpPr>
        <p:spPr>
          <a:xfrm>
            <a:off x="406522" y="1465671"/>
            <a:ext cx="5015752" cy="707886"/>
          </a:xfrm>
          <a:prstGeom prst="rect">
            <a:avLst/>
          </a:prstGeom>
          <a:noFill/>
        </p:spPr>
        <p:txBody>
          <a:bodyPr wrap="square" rtlCol="0">
            <a:spAutoFit/>
          </a:bodyPr>
          <a:lstStyle/>
          <a:p>
            <a:r>
              <a:rPr lang="en-CA" sz="2000" dirty="0"/>
              <a:t>How bad is the noise from interacting with the field?</a:t>
            </a:r>
          </a:p>
        </p:txBody>
      </p:sp>
      <p:sp>
        <p:nvSpPr>
          <p:cNvPr id="11" name="TextBox 10">
            <a:extLst>
              <a:ext uri="{FF2B5EF4-FFF2-40B4-BE49-F238E27FC236}">
                <a16:creationId xmlns:a16="http://schemas.microsoft.com/office/drawing/2014/main" id="{A3A5FF86-5759-A849-2033-9F5658F0474E}"/>
              </a:ext>
            </a:extLst>
          </p:cNvPr>
          <p:cNvSpPr txBox="1"/>
          <p:nvPr/>
        </p:nvSpPr>
        <p:spPr>
          <a:xfrm>
            <a:off x="6953166" y="1100262"/>
            <a:ext cx="4251100" cy="400110"/>
          </a:xfrm>
          <a:prstGeom prst="rect">
            <a:avLst/>
          </a:prstGeom>
          <a:noFill/>
        </p:spPr>
        <p:txBody>
          <a:bodyPr wrap="none" rtlCol="0">
            <a:spAutoFit/>
          </a:bodyPr>
          <a:lstStyle/>
          <a:p>
            <a:r>
              <a:rPr lang="en-CA" sz="2000" dirty="0"/>
              <a:t>Where on the spectrum is our setting? </a:t>
            </a:r>
          </a:p>
        </p:txBody>
      </p:sp>
      <p:sp>
        <p:nvSpPr>
          <p:cNvPr id="13" name="TextBox 12">
            <a:extLst>
              <a:ext uri="{FF2B5EF4-FFF2-40B4-BE49-F238E27FC236}">
                <a16:creationId xmlns:a16="http://schemas.microsoft.com/office/drawing/2014/main" id="{667D82B8-D89E-5C06-8C07-B1F2870E06F6}"/>
              </a:ext>
            </a:extLst>
          </p:cNvPr>
          <p:cNvSpPr txBox="1"/>
          <p:nvPr/>
        </p:nvSpPr>
        <p:spPr>
          <a:xfrm>
            <a:off x="3688216" y="3947350"/>
            <a:ext cx="2370556" cy="707886"/>
          </a:xfrm>
          <a:prstGeom prst="rect">
            <a:avLst/>
          </a:prstGeom>
          <a:noFill/>
        </p:spPr>
        <p:txBody>
          <a:bodyPr wrap="square">
            <a:spAutoFit/>
          </a:bodyPr>
          <a:lstStyle/>
          <a:p>
            <a:r>
              <a:rPr lang="en-CA" sz="2000" dirty="0"/>
              <a:t>field-dependent local noise term</a:t>
            </a:r>
          </a:p>
        </p:txBody>
      </p:sp>
      <p:sp>
        <p:nvSpPr>
          <p:cNvPr id="17" name="Circular Arrow 16">
            <a:extLst>
              <a:ext uri="{FF2B5EF4-FFF2-40B4-BE49-F238E27FC236}">
                <a16:creationId xmlns:a16="http://schemas.microsoft.com/office/drawing/2014/main" id="{180FF9D0-975C-8E06-D0F2-E938BEDF91C7}"/>
              </a:ext>
            </a:extLst>
          </p:cNvPr>
          <p:cNvSpPr/>
          <p:nvPr/>
        </p:nvSpPr>
        <p:spPr>
          <a:xfrm rot="5621568" flipH="1">
            <a:off x="4478532" y="3333984"/>
            <a:ext cx="1129305" cy="996489"/>
          </a:xfrm>
          <a:prstGeom prst="circularArrow">
            <a:avLst>
              <a:gd name="adj1" fmla="val 12500"/>
              <a:gd name="adj2" fmla="val 1142319"/>
              <a:gd name="adj3" fmla="val 20457681"/>
              <a:gd name="adj4" fmla="val 16239022"/>
              <a:gd name="adj5"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90C14FE-CA4B-CDD4-9F4A-7D27C8FBC485}"/>
                  </a:ext>
                </a:extLst>
              </p:cNvPr>
              <p:cNvSpPr txBox="1"/>
              <p:nvPr/>
            </p:nvSpPr>
            <p:spPr>
              <a:xfrm>
                <a:off x="6927336" y="2198764"/>
                <a:ext cx="141968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𝑁</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1</m:t>
                      </m:r>
                    </m:oMath>
                  </m:oMathPara>
                </a14:m>
                <a:endParaRPr lang="en-CA" dirty="0"/>
              </a:p>
            </p:txBody>
          </p:sp>
        </mc:Choice>
        <mc:Fallback xmlns="">
          <p:sp>
            <p:nvSpPr>
              <p:cNvPr id="18" name="TextBox 17">
                <a:extLst>
                  <a:ext uri="{FF2B5EF4-FFF2-40B4-BE49-F238E27FC236}">
                    <a16:creationId xmlns:a16="http://schemas.microsoft.com/office/drawing/2014/main" id="{290C14FE-CA4B-CDD4-9F4A-7D27C8FBC485}"/>
                  </a:ext>
                </a:extLst>
              </p:cNvPr>
              <p:cNvSpPr txBox="1">
                <a:spLocks noRot="1" noChangeAspect="1" noMove="1" noResize="1" noEditPoints="1" noAdjustHandles="1" noChangeArrowheads="1" noChangeShapeType="1" noTextEdit="1"/>
              </p:cNvSpPr>
              <p:nvPr/>
            </p:nvSpPr>
            <p:spPr>
              <a:xfrm>
                <a:off x="6927336" y="2198764"/>
                <a:ext cx="1419684" cy="307777"/>
              </a:xfrm>
              <a:prstGeom prst="rect">
                <a:avLst/>
              </a:prstGeom>
              <a:blipFill>
                <a:blip r:embed="rId5"/>
                <a:stretch>
                  <a:fillRect l="-3540" r="-2655" b="-8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304D34C-B551-9D5E-E305-1E209774D248}"/>
                  </a:ext>
                </a:extLst>
              </p:cNvPr>
              <p:cNvSpPr txBox="1"/>
              <p:nvPr/>
            </p:nvSpPr>
            <p:spPr>
              <a:xfrm>
                <a:off x="6973011" y="1654986"/>
                <a:ext cx="1230978" cy="338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r>
                            <a:rPr lang="en-US" sz="2000" b="0" i="1" smtClean="0">
                              <a:latin typeface="Cambria Math" panose="02040503050406030204" pitchFamily="18" charset="0"/>
                            </a:rPr>
                            <m:t>𝜆</m:t>
                          </m:r>
                        </m:e>
                        <m:sup>
                          <m:r>
                            <a:rPr lang="en-US" sz="2000" b="0" i="1" smtClean="0">
                              <a:latin typeface="Cambria Math" panose="02040503050406030204" pitchFamily="18" charset="0"/>
                            </a:rPr>
                            <m:t>2</m:t>
                          </m:r>
                        </m:sup>
                      </m:sSup>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 </m:t>
                      </m:r>
                      <m:r>
                        <a:rPr lang="en-US" sz="2000" i="1" dirty="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 1</m:t>
                      </m:r>
                    </m:oMath>
                  </m:oMathPara>
                </a14:m>
                <a:endParaRPr lang="en-CA" dirty="0"/>
              </a:p>
            </p:txBody>
          </p:sp>
        </mc:Choice>
        <mc:Fallback xmlns="">
          <p:sp>
            <p:nvSpPr>
              <p:cNvPr id="19" name="TextBox 18">
                <a:extLst>
                  <a:ext uri="{FF2B5EF4-FFF2-40B4-BE49-F238E27FC236}">
                    <a16:creationId xmlns:a16="http://schemas.microsoft.com/office/drawing/2014/main" id="{9304D34C-B551-9D5E-E305-1E209774D248}"/>
                  </a:ext>
                </a:extLst>
              </p:cNvPr>
              <p:cNvSpPr txBox="1">
                <a:spLocks noRot="1" noChangeAspect="1" noMove="1" noResize="1" noEditPoints="1" noAdjustHandles="1" noChangeArrowheads="1" noChangeShapeType="1" noTextEdit="1"/>
              </p:cNvSpPr>
              <p:nvPr/>
            </p:nvSpPr>
            <p:spPr>
              <a:xfrm>
                <a:off x="6973011" y="1654986"/>
                <a:ext cx="1230978" cy="338682"/>
              </a:xfrm>
              <a:prstGeom prst="rect">
                <a:avLst/>
              </a:prstGeom>
              <a:blipFill>
                <a:blip r:embed="rId6"/>
                <a:stretch>
                  <a:fillRect l="-7143" t="-7407" r="-3061" b="-2963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40C4181-3C75-AB92-2D1A-C1FC6576E5F4}"/>
                  </a:ext>
                </a:extLst>
              </p:cNvPr>
              <p:cNvSpPr txBox="1"/>
              <p:nvPr/>
            </p:nvSpPr>
            <p:spPr>
              <a:xfrm>
                <a:off x="8549138" y="2670238"/>
                <a:ext cx="1351331" cy="338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𝑁</m:t>
                          </m:r>
                        </m:e>
                        <m:sup>
                          <m:r>
                            <a:rPr lang="en-US" sz="2000" b="0" i="1"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r>
                        <a:rPr lang="en-US" sz="2000" i="1" dirty="0" smtClean="0">
                          <a:latin typeface="Cambria Math" panose="02040503050406030204" pitchFamily="18" charset="0"/>
                          <a:ea typeface="Cambria Math" panose="02040503050406030204" pitchFamily="18" charset="0"/>
                        </a:rPr>
                        <m:t>≪</m:t>
                      </m:r>
                      <m:sSub>
                        <m:sSubPr>
                          <m:ctrlPr>
                            <a:rPr lang="en-US" sz="2000" b="0" i="1" dirty="0" smtClean="0">
                              <a:latin typeface="Cambria Math" panose="02040503050406030204" pitchFamily="18" charset="0"/>
                              <a:ea typeface="Cambria Math" panose="02040503050406030204" pitchFamily="18" charset="0"/>
                            </a:rPr>
                          </m:ctrlPr>
                        </m:sSubPr>
                        <m:e>
                          <m:r>
                            <m:rPr>
                              <m:sty m:val="p"/>
                            </m:rPr>
                            <a:rPr lang="en-US" sz="2000" b="0" i="0" dirty="0" smtClean="0">
                              <a:latin typeface="Cambria Math" panose="02040503050406030204" pitchFamily="18" charset="0"/>
                              <a:ea typeface="Cambria Math" panose="02040503050406030204" pitchFamily="18" charset="0"/>
                            </a:rPr>
                            <m:t>Δ</m:t>
                          </m:r>
                        </m:e>
                        <m:sub>
                          <m:r>
                            <a:rPr lang="en-US" sz="2000" b="0" i="1" dirty="0" smtClean="0">
                              <a:latin typeface="Cambria Math" panose="02040503050406030204" pitchFamily="18" charset="0"/>
                              <a:ea typeface="Cambria Math" panose="02040503050406030204" pitchFamily="18" charset="0"/>
                            </a:rPr>
                            <m:t>𝑖𝑗</m:t>
                          </m:r>
                        </m:sub>
                      </m:sSub>
                    </m:oMath>
                  </m:oMathPara>
                </a14:m>
                <a:endParaRPr lang="en-CA" sz="2000" dirty="0"/>
              </a:p>
            </p:txBody>
          </p:sp>
        </mc:Choice>
        <mc:Fallback xmlns="">
          <p:sp>
            <p:nvSpPr>
              <p:cNvPr id="21" name="TextBox 20">
                <a:extLst>
                  <a:ext uri="{FF2B5EF4-FFF2-40B4-BE49-F238E27FC236}">
                    <a16:creationId xmlns:a16="http://schemas.microsoft.com/office/drawing/2014/main" id="{940C4181-3C75-AB92-2D1A-C1FC6576E5F4}"/>
                  </a:ext>
                </a:extLst>
              </p:cNvPr>
              <p:cNvSpPr txBox="1">
                <a:spLocks noRot="1" noChangeAspect="1" noMove="1" noResize="1" noEditPoints="1" noAdjustHandles="1" noChangeArrowheads="1" noChangeShapeType="1" noTextEdit="1"/>
              </p:cNvSpPr>
              <p:nvPr/>
            </p:nvSpPr>
            <p:spPr>
              <a:xfrm>
                <a:off x="8549138" y="2670238"/>
                <a:ext cx="1351331" cy="338682"/>
              </a:xfrm>
              <a:prstGeom prst="rect">
                <a:avLst/>
              </a:prstGeom>
              <a:blipFill>
                <a:blip r:embed="rId7"/>
                <a:stretch>
                  <a:fillRect l="-2778" r="-2778" b="-17857"/>
                </a:stretch>
              </a:blipFill>
            </p:spPr>
            <p:txBody>
              <a:bodyPr/>
              <a:lstStyle/>
              <a:p>
                <a:r>
                  <a:rPr lang="en-CA">
                    <a:noFill/>
                  </a:rPr>
                  <a:t> </a:t>
                </a:r>
              </a:p>
            </p:txBody>
          </p:sp>
        </mc:Fallback>
      </mc:AlternateContent>
      <p:sp>
        <p:nvSpPr>
          <p:cNvPr id="22" name="TextBox 21">
            <a:extLst>
              <a:ext uri="{FF2B5EF4-FFF2-40B4-BE49-F238E27FC236}">
                <a16:creationId xmlns:a16="http://schemas.microsoft.com/office/drawing/2014/main" id="{A0CC305E-A228-11C4-5509-F9DA3BC78340}"/>
              </a:ext>
            </a:extLst>
          </p:cNvPr>
          <p:cNvSpPr txBox="1"/>
          <p:nvPr/>
        </p:nvSpPr>
        <p:spPr>
          <a:xfrm>
            <a:off x="8911996" y="2147277"/>
            <a:ext cx="1863605" cy="400110"/>
          </a:xfrm>
          <a:prstGeom prst="rect">
            <a:avLst/>
          </a:prstGeom>
          <a:noFill/>
        </p:spPr>
        <p:txBody>
          <a:bodyPr wrap="square" rtlCol="0">
            <a:spAutoFit/>
          </a:bodyPr>
          <a:lstStyle/>
          <a:p>
            <a:r>
              <a:rPr lang="en-CA" sz="2000" dirty="0"/>
              <a:t>Negligible noise</a:t>
            </a:r>
          </a:p>
        </p:txBody>
      </p:sp>
      <p:sp>
        <p:nvSpPr>
          <p:cNvPr id="23" name="TextBox 22">
            <a:extLst>
              <a:ext uri="{FF2B5EF4-FFF2-40B4-BE49-F238E27FC236}">
                <a16:creationId xmlns:a16="http://schemas.microsoft.com/office/drawing/2014/main" id="{C1B2FBA0-1A2F-3D0A-7345-D81DC852127B}"/>
              </a:ext>
            </a:extLst>
          </p:cNvPr>
          <p:cNvSpPr txBox="1"/>
          <p:nvPr/>
        </p:nvSpPr>
        <p:spPr>
          <a:xfrm>
            <a:off x="8484951" y="1603424"/>
            <a:ext cx="2970253" cy="400110"/>
          </a:xfrm>
          <a:prstGeom prst="rect">
            <a:avLst/>
          </a:prstGeom>
          <a:noFill/>
        </p:spPr>
        <p:txBody>
          <a:bodyPr wrap="square" rtlCol="0">
            <a:spAutoFit/>
          </a:bodyPr>
          <a:lstStyle/>
          <a:p>
            <a:r>
              <a:rPr lang="en-CA" sz="2000" dirty="0"/>
              <a:t>Meaningful entanglement</a:t>
            </a:r>
          </a:p>
        </p:txBody>
      </p:sp>
      <p:sp>
        <p:nvSpPr>
          <p:cNvPr id="24" name="Right Arrow 23">
            <a:extLst>
              <a:ext uri="{FF2B5EF4-FFF2-40B4-BE49-F238E27FC236}">
                <a16:creationId xmlns:a16="http://schemas.microsoft.com/office/drawing/2014/main" id="{156528E1-776A-7048-E1B6-5788CF73863C}"/>
              </a:ext>
            </a:extLst>
          </p:cNvPr>
          <p:cNvSpPr/>
          <p:nvPr/>
        </p:nvSpPr>
        <p:spPr>
          <a:xfrm>
            <a:off x="7524488" y="2726514"/>
            <a:ext cx="669965" cy="2261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B5AFD1E-76EE-34C3-865F-17011171EB3B}"/>
                  </a:ext>
                </a:extLst>
              </p:cNvPr>
              <p:cNvSpPr txBox="1"/>
              <p:nvPr/>
            </p:nvSpPr>
            <p:spPr>
              <a:xfrm>
                <a:off x="6487588" y="3725436"/>
                <a:ext cx="4393062" cy="332463"/>
              </a:xfrm>
              <a:prstGeom prst="rect">
                <a:avLst/>
              </a:prstGeom>
              <a:noFill/>
            </p:spPr>
            <p:txBody>
              <a:bodyPr wrap="none" lIns="0" tIns="0" rIns="0" bIns="0"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oMath>
                </a14:m>
                <a:r>
                  <a:rPr lang="en-CA" sz="2000" dirty="0"/>
                  <a:t> typically scales with interaction times </a:t>
                </a:r>
                <a:endParaRPr lang="en-CA" dirty="0"/>
              </a:p>
            </p:txBody>
          </p:sp>
        </mc:Choice>
        <mc:Fallback xmlns="">
          <p:sp>
            <p:nvSpPr>
              <p:cNvPr id="26" name="TextBox 25">
                <a:extLst>
                  <a:ext uri="{FF2B5EF4-FFF2-40B4-BE49-F238E27FC236}">
                    <a16:creationId xmlns:a16="http://schemas.microsoft.com/office/drawing/2014/main" id="{FB5AFD1E-76EE-34C3-865F-17011171EB3B}"/>
                  </a:ext>
                </a:extLst>
              </p:cNvPr>
              <p:cNvSpPr txBox="1">
                <a:spLocks noRot="1" noChangeAspect="1" noMove="1" noResize="1" noEditPoints="1" noAdjustHandles="1" noChangeArrowheads="1" noChangeShapeType="1" noTextEdit="1"/>
              </p:cNvSpPr>
              <p:nvPr/>
            </p:nvSpPr>
            <p:spPr>
              <a:xfrm>
                <a:off x="6487588" y="3725436"/>
                <a:ext cx="4393062" cy="332463"/>
              </a:xfrm>
              <a:prstGeom prst="rect">
                <a:avLst/>
              </a:prstGeom>
              <a:blipFill>
                <a:blip r:embed="rId8"/>
                <a:stretch>
                  <a:fillRect l="-1729" t="-22222" r="-1153" b="-37037"/>
                </a:stretch>
              </a:blipFill>
            </p:spPr>
            <p:txBody>
              <a:bodyPr/>
              <a:lstStyle/>
              <a:p>
                <a:r>
                  <a:rPr lang="en-CA">
                    <a:noFill/>
                  </a:rPr>
                  <a:t> </a:t>
                </a:r>
              </a:p>
            </p:txBody>
          </p:sp>
        </mc:Fallback>
      </mc:AlternateContent>
      <p:sp>
        <p:nvSpPr>
          <p:cNvPr id="36" name="TextBox 35">
            <a:extLst>
              <a:ext uri="{FF2B5EF4-FFF2-40B4-BE49-F238E27FC236}">
                <a16:creationId xmlns:a16="http://schemas.microsoft.com/office/drawing/2014/main" id="{5BE606A1-6902-B427-B6B3-A3446392F7B4}"/>
              </a:ext>
            </a:extLst>
          </p:cNvPr>
          <p:cNvSpPr txBox="1"/>
          <p:nvPr/>
        </p:nvSpPr>
        <p:spPr>
          <a:xfrm>
            <a:off x="406522" y="2564011"/>
            <a:ext cx="2113597" cy="400110"/>
          </a:xfrm>
          <a:prstGeom prst="rect">
            <a:avLst/>
          </a:prstGeom>
          <a:noFill/>
        </p:spPr>
        <p:txBody>
          <a:bodyPr wrap="square" rtlCol="0">
            <a:spAutoFit/>
          </a:bodyPr>
          <a:lstStyle/>
          <a:p>
            <a:r>
              <a:rPr lang="en-CA" sz="2000" dirty="0"/>
              <a:t>Channel Fidelity:</a:t>
            </a:r>
          </a:p>
        </p:txBody>
      </p:sp>
      <p:sp>
        <p:nvSpPr>
          <p:cNvPr id="55" name="TextBox 54">
            <a:extLst>
              <a:ext uri="{FF2B5EF4-FFF2-40B4-BE49-F238E27FC236}">
                <a16:creationId xmlns:a16="http://schemas.microsoft.com/office/drawing/2014/main" id="{B9E42DFD-314A-83A9-19FC-2513882837E3}"/>
              </a:ext>
            </a:extLst>
          </p:cNvPr>
          <p:cNvSpPr txBox="1"/>
          <p:nvPr/>
        </p:nvSpPr>
        <p:spPr>
          <a:xfrm>
            <a:off x="7629084" y="3156812"/>
            <a:ext cx="3092538" cy="400110"/>
          </a:xfrm>
          <a:prstGeom prst="rect">
            <a:avLst/>
          </a:prstGeom>
          <a:noFill/>
        </p:spPr>
        <p:txBody>
          <a:bodyPr wrap="square" rtlCol="0">
            <a:spAutoFit/>
          </a:bodyPr>
          <a:lstStyle/>
          <a:p>
            <a:r>
              <a:rPr lang="en-CA" sz="2000" dirty="0"/>
              <a:t>True for general spacetimes</a:t>
            </a:r>
          </a:p>
        </p:txBody>
      </p:sp>
      <p:sp>
        <p:nvSpPr>
          <p:cNvPr id="56" name="TextBox 55">
            <a:extLst>
              <a:ext uri="{FF2B5EF4-FFF2-40B4-BE49-F238E27FC236}">
                <a16:creationId xmlns:a16="http://schemas.microsoft.com/office/drawing/2014/main" id="{5EE76558-734D-BE58-F95E-14F9D72137B5}"/>
              </a:ext>
            </a:extLst>
          </p:cNvPr>
          <p:cNvSpPr txBox="1"/>
          <p:nvPr/>
        </p:nvSpPr>
        <p:spPr>
          <a:xfrm>
            <a:off x="6394405" y="1606940"/>
            <a:ext cx="532931" cy="400110"/>
          </a:xfrm>
          <a:prstGeom prst="rect">
            <a:avLst/>
          </a:prstGeom>
          <a:noFill/>
        </p:spPr>
        <p:txBody>
          <a:bodyPr wrap="square" rtlCol="0">
            <a:spAutoFit/>
          </a:bodyPr>
          <a:lstStyle/>
          <a:p>
            <a:r>
              <a:rPr lang="en-CA" sz="2000" dirty="0"/>
              <a:t>1)</a:t>
            </a:r>
          </a:p>
        </p:txBody>
      </p:sp>
      <p:sp>
        <p:nvSpPr>
          <p:cNvPr id="57" name="TextBox 56">
            <a:extLst>
              <a:ext uri="{FF2B5EF4-FFF2-40B4-BE49-F238E27FC236}">
                <a16:creationId xmlns:a16="http://schemas.microsoft.com/office/drawing/2014/main" id="{CF88AA5C-845A-9238-5CCF-D00F27AAB79D}"/>
              </a:ext>
            </a:extLst>
          </p:cNvPr>
          <p:cNvSpPr txBox="1"/>
          <p:nvPr/>
        </p:nvSpPr>
        <p:spPr>
          <a:xfrm>
            <a:off x="6399806" y="2152597"/>
            <a:ext cx="532931" cy="400110"/>
          </a:xfrm>
          <a:prstGeom prst="rect">
            <a:avLst/>
          </a:prstGeom>
          <a:noFill/>
        </p:spPr>
        <p:txBody>
          <a:bodyPr wrap="square" rtlCol="0">
            <a:spAutoFit/>
          </a:bodyPr>
          <a:lstStyle/>
          <a:p>
            <a:r>
              <a:rPr lang="en-CA" sz="2000" dirty="0"/>
              <a:t>2)</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A1400ED-A065-E20E-A40C-408064B0C550}"/>
                  </a:ext>
                </a:extLst>
              </p:cNvPr>
              <p:cNvSpPr txBox="1"/>
              <p:nvPr/>
            </p:nvSpPr>
            <p:spPr>
              <a:xfrm>
                <a:off x="8394868" y="4221154"/>
                <a:ext cx="894540"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𝐿</m:t>
                          </m:r>
                        </m:e>
                        <m:sub>
                          <m:r>
                            <a:rPr lang="en-US" sz="2000" b="0" i="1" dirty="0" smtClean="0">
                              <a:latin typeface="Cambria Math" panose="02040503050406030204" pitchFamily="18" charset="0"/>
                              <a:ea typeface="Cambria Math" panose="02040503050406030204" pitchFamily="18" charset="0"/>
                            </a:rPr>
                            <m:t>𝑖𝑗</m:t>
                          </m:r>
                        </m:sub>
                      </m:sSub>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𝑇</m:t>
                      </m:r>
                    </m:oMath>
                  </m:oMathPara>
                </a14:m>
                <a:endParaRPr lang="en-CA" sz="2000" dirty="0"/>
              </a:p>
            </p:txBody>
          </p:sp>
        </mc:Choice>
        <mc:Fallback xmlns="">
          <p:sp>
            <p:nvSpPr>
              <p:cNvPr id="66" name="TextBox 65">
                <a:extLst>
                  <a:ext uri="{FF2B5EF4-FFF2-40B4-BE49-F238E27FC236}">
                    <a16:creationId xmlns:a16="http://schemas.microsoft.com/office/drawing/2014/main" id="{3A1400ED-A065-E20E-A40C-408064B0C550}"/>
                  </a:ext>
                </a:extLst>
              </p:cNvPr>
              <p:cNvSpPr txBox="1">
                <a:spLocks noRot="1" noChangeAspect="1" noMove="1" noResize="1" noEditPoints="1" noAdjustHandles="1" noChangeArrowheads="1" noChangeShapeType="1" noTextEdit="1"/>
              </p:cNvSpPr>
              <p:nvPr/>
            </p:nvSpPr>
            <p:spPr>
              <a:xfrm>
                <a:off x="8394868" y="4221154"/>
                <a:ext cx="894540" cy="332463"/>
              </a:xfrm>
              <a:prstGeom prst="rect">
                <a:avLst/>
              </a:prstGeom>
              <a:blipFill>
                <a:blip r:embed="rId9"/>
                <a:stretch>
                  <a:fillRect l="-5556" r="-5556" b="-25926"/>
                </a:stretch>
              </a:blipFill>
            </p:spPr>
            <p:txBody>
              <a:bodyPr/>
              <a:lstStyle/>
              <a:p>
                <a:r>
                  <a:rPr lang="en-CA">
                    <a:noFill/>
                  </a:rPr>
                  <a:t> </a:t>
                </a:r>
              </a:p>
            </p:txBody>
          </p:sp>
        </mc:Fallback>
      </mc:AlternateContent>
      <p:sp>
        <p:nvSpPr>
          <p:cNvPr id="67" name="Right Arrow 66">
            <a:extLst>
              <a:ext uri="{FF2B5EF4-FFF2-40B4-BE49-F238E27FC236}">
                <a16:creationId xmlns:a16="http://schemas.microsoft.com/office/drawing/2014/main" id="{ED416EB3-0213-FC55-B562-43B0A72B73ED}"/>
              </a:ext>
            </a:extLst>
          </p:cNvPr>
          <p:cNvSpPr/>
          <p:nvPr/>
        </p:nvSpPr>
        <p:spPr>
          <a:xfrm>
            <a:off x="7547143" y="4267243"/>
            <a:ext cx="669965" cy="2261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Box 3">
            <a:extLst>
              <a:ext uri="{FF2B5EF4-FFF2-40B4-BE49-F238E27FC236}">
                <a16:creationId xmlns:a16="http://schemas.microsoft.com/office/drawing/2014/main" id="{FBDFB7CC-6D88-2D6A-B40D-E8165D28F39F}"/>
              </a:ext>
            </a:extLst>
          </p:cNvPr>
          <p:cNvSpPr txBox="1"/>
          <p:nvPr/>
        </p:nvSpPr>
        <p:spPr>
          <a:xfrm>
            <a:off x="499557" y="4136103"/>
            <a:ext cx="1140070" cy="707886"/>
          </a:xfrm>
          <a:prstGeom prst="rect">
            <a:avLst/>
          </a:prstGeom>
          <a:noFill/>
        </p:spPr>
        <p:txBody>
          <a:bodyPr wrap="square">
            <a:spAutoFit/>
          </a:bodyPr>
          <a:lstStyle/>
          <a:p>
            <a:r>
              <a:rPr lang="en-CA" sz="2000" dirty="0"/>
              <a:t>Full channel</a:t>
            </a:r>
          </a:p>
        </p:txBody>
      </p:sp>
      <p:sp>
        <p:nvSpPr>
          <p:cNvPr id="5" name="TextBox 4">
            <a:extLst>
              <a:ext uri="{FF2B5EF4-FFF2-40B4-BE49-F238E27FC236}">
                <a16:creationId xmlns:a16="http://schemas.microsoft.com/office/drawing/2014/main" id="{85F7EB08-24BA-5126-5361-483D68B1249C}"/>
              </a:ext>
            </a:extLst>
          </p:cNvPr>
          <p:cNvSpPr txBox="1"/>
          <p:nvPr/>
        </p:nvSpPr>
        <p:spPr>
          <a:xfrm>
            <a:off x="1895530" y="4136103"/>
            <a:ext cx="1461590" cy="707886"/>
          </a:xfrm>
          <a:prstGeom prst="rect">
            <a:avLst/>
          </a:prstGeom>
          <a:noFill/>
        </p:spPr>
        <p:txBody>
          <a:bodyPr wrap="square">
            <a:spAutoFit/>
          </a:bodyPr>
          <a:lstStyle/>
          <a:p>
            <a:r>
              <a:rPr lang="en-CA" sz="2000" dirty="0"/>
              <a:t>Unitary-only channel</a:t>
            </a:r>
          </a:p>
        </p:txBody>
      </p:sp>
      <p:cxnSp>
        <p:nvCxnSpPr>
          <p:cNvPr id="8" name="Straight Arrow Connector 7">
            <a:extLst>
              <a:ext uri="{FF2B5EF4-FFF2-40B4-BE49-F238E27FC236}">
                <a16:creationId xmlns:a16="http://schemas.microsoft.com/office/drawing/2014/main" id="{E4B0DDDE-A285-E729-A8BA-1BD3C50A1BFA}"/>
              </a:ext>
            </a:extLst>
          </p:cNvPr>
          <p:cNvCxnSpPr>
            <a:stCxn id="4" idx="0"/>
          </p:cNvCxnSpPr>
          <p:nvPr/>
        </p:nvCxnSpPr>
        <p:spPr>
          <a:xfrm flipV="1">
            <a:off x="1069592" y="3621706"/>
            <a:ext cx="393728" cy="514397"/>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45B87450-5CE0-9B93-6064-1F932BB66C80}"/>
              </a:ext>
            </a:extLst>
          </p:cNvPr>
          <p:cNvCxnSpPr>
            <a:cxnSpLocks/>
            <a:stCxn id="5" idx="0"/>
          </p:cNvCxnSpPr>
          <p:nvPr/>
        </p:nvCxnSpPr>
        <p:spPr>
          <a:xfrm flipH="1" flipV="1">
            <a:off x="2401564" y="3614541"/>
            <a:ext cx="224761" cy="521562"/>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10EBC5F-393D-9543-949E-39C3347C5DCB}"/>
                  </a:ext>
                </a:extLst>
              </p:cNvPr>
              <p:cNvSpPr txBox="1"/>
              <p:nvPr/>
            </p:nvSpPr>
            <p:spPr>
              <a:xfrm>
                <a:off x="6394547" y="4655236"/>
                <a:ext cx="5034897" cy="707886"/>
              </a:xfrm>
              <a:prstGeom prst="rect">
                <a:avLst/>
              </a:prstGeom>
              <a:noFill/>
            </p:spPr>
            <p:txBody>
              <a:bodyPr wrap="square">
                <a:spAutoFit/>
              </a:bodyPr>
              <a:lstStyle/>
              <a:p>
                <a:r>
                  <a:rPr lang="en-CA" sz="2000" dirty="0"/>
                  <a:t>Assume large </a:t>
                </a:r>
                <a14:m>
                  <m:oMath xmlns:m="http://schemas.openxmlformats.org/officeDocument/2006/math">
                    <m:r>
                      <m:rPr>
                        <m:sty m:val="p"/>
                      </m:rPr>
                      <a:rPr lang="en-US" sz="2000" b="0" i="1" smtClean="0">
                        <a:latin typeface="Cambria Math" panose="02040503050406030204" pitchFamily="18" charset="0"/>
                      </a:rPr>
                      <m:t>T</m:t>
                    </m:r>
                  </m:oMath>
                </a14:m>
                <a:r>
                  <a:rPr lang="en-CA" sz="2000" dirty="0"/>
                  <a:t> to maintain quasi-free state between layers:</a:t>
                </a:r>
              </a:p>
            </p:txBody>
          </p:sp>
        </mc:Choice>
        <mc:Fallback xmlns="">
          <p:sp>
            <p:nvSpPr>
              <p:cNvPr id="16" name="TextBox 15">
                <a:extLst>
                  <a:ext uri="{FF2B5EF4-FFF2-40B4-BE49-F238E27FC236}">
                    <a16:creationId xmlns:a16="http://schemas.microsoft.com/office/drawing/2014/main" id="{010EBC5F-393D-9543-949E-39C3347C5DCB}"/>
                  </a:ext>
                </a:extLst>
              </p:cNvPr>
              <p:cNvSpPr txBox="1">
                <a:spLocks noRot="1" noChangeAspect="1" noMove="1" noResize="1" noEditPoints="1" noAdjustHandles="1" noChangeArrowheads="1" noChangeShapeType="1" noTextEdit="1"/>
              </p:cNvSpPr>
              <p:nvPr/>
            </p:nvSpPr>
            <p:spPr>
              <a:xfrm>
                <a:off x="6394547" y="4655236"/>
                <a:ext cx="5034897" cy="707886"/>
              </a:xfrm>
              <a:prstGeom prst="rect">
                <a:avLst/>
              </a:prstGeom>
              <a:blipFill>
                <a:blip r:embed="rId10"/>
                <a:stretch>
                  <a:fillRect l="-1256" t="-5263" b="-1403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4BB7235-9B0D-A133-76FA-3DAAE1FFE038}"/>
                  </a:ext>
                </a:extLst>
              </p:cNvPr>
              <p:cNvSpPr txBox="1"/>
              <p:nvPr/>
            </p:nvSpPr>
            <p:spPr>
              <a:xfrm>
                <a:off x="8194453" y="5094003"/>
                <a:ext cx="3173710" cy="5631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sz="2000" i="1" dirty="0" smtClean="0">
                          <a:latin typeface="Cambria Math" panose="02040503050406030204" pitchFamily="18" charset="0"/>
                        </a:rPr>
                        <m:t>𝜔</m:t>
                      </m:r>
                      <m:d>
                        <m:dPr>
                          <m:ctrlPr>
                            <a:rPr lang="en-CA" sz="2000" i="1" dirty="0" smtClean="0">
                              <a:latin typeface="Cambria Math" panose="02040503050406030204" pitchFamily="18" charset="0"/>
                            </a:rPr>
                          </m:ctrlPr>
                        </m:dPr>
                        <m:e>
                          <m:sSup>
                            <m:sSupPr>
                              <m:ctrlPr>
                                <a:rPr lang="en-CA" sz="2000" i="1" dirty="0" smtClean="0">
                                  <a:latin typeface="Cambria Math" panose="02040503050406030204" pitchFamily="18" charset="0"/>
                                </a:rPr>
                              </m:ctrlPr>
                            </m:sSupPr>
                            <m:e>
                              <m:r>
                                <a:rPr lang="en-CA" sz="2000" i="1" dirty="0" smtClean="0">
                                  <a:latin typeface="Cambria Math" panose="02040503050406030204" pitchFamily="18" charset="0"/>
                                </a:rPr>
                                <m:t>𝑒</m:t>
                              </m:r>
                            </m:e>
                            <m:sup>
                              <m:r>
                                <a:rPr lang="en-CA" sz="2000" i="1" dirty="0" err="1">
                                  <a:latin typeface="Cambria Math" panose="02040503050406030204" pitchFamily="18" charset="0"/>
                                </a:rPr>
                                <m:t>𝑖</m:t>
                              </m:r>
                              <m:acc>
                                <m:accPr>
                                  <m:chr m:val="̂"/>
                                  <m:ctrlPr>
                                    <a:rPr lang="en-CA" sz="2000" i="1" dirty="0">
                                      <a:latin typeface="Cambria Math" panose="02040503050406030204" pitchFamily="18" charset="0"/>
                                    </a:rPr>
                                  </m:ctrlPr>
                                </m:accPr>
                                <m:e>
                                  <m:r>
                                    <a:rPr lang="en-CA" sz="2000" i="1" dirty="0">
                                      <a:latin typeface="Cambria Math" panose="02040503050406030204" pitchFamily="18" charset="0"/>
                                    </a:rPr>
                                    <m:t>𝜙</m:t>
                                  </m:r>
                                </m:e>
                              </m:acc>
                              <m:d>
                                <m:dPr>
                                  <m:ctrlPr>
                                    <a:rPr lang="en-CA" sz="2000" i="1" dirty="0">
                                      <a:latin typeface="Cambria Math" panose="02040503050406030204" pitchFamily="18" charset="0"/>
                                    </a:rPr>
                                  </m:ctrlPr>
                                </m:dPr>
                                <m:e>
                                  <m:r>
                                    <a:rPr lang="en-CA" sz="2000" i="1" dirty="0">
                                      <a:latin typeface="Cambria Math" panose="02040503050406030204" pitchFamily="18" charset="0"/>
                                    </a:rPr>
                                    <m:t>𝑔</m:t>
                                  </m:r>
                                </m:e>
                              </m:d>
                            </m:sup>
                          </m:sSup>
                        </m:e>
                      </m:d>
                      <m:r>
                        <a:rPr lang="en-CA" sz="2000" i="1" dirty="0">
                          <a:latin typeface="Cambria Math" panose="02040503050406030204" pitchFamily="18" charset="0"/>
                        </a:rPr>
                        <m:t>=</m:t>
                      </m:r>
                      <m:sSup>
                        <m:sSupPr>
                          <m:ctrlPr>
                            <a:rPr lang="en-CA" sz="2000" i="1" dirty="0">
                              <a:latin typeface="Cambria Math" panose="02040503050406030204" pitchFamily="18" charset="0"/>
                            </a:rPr>
                          </m:ctrlPr>
                        </m:sSupPr>
                        <m:e>
                          <m:r>
                            <a:rPr lang="en-CA" sz="2000" i="1" dirty="0">
                              <a:latin typeface="Cambria Math" panose="02040503050406030204" pitchFamily="18" charset="0"/>
                            </a:rPr>
                            <m:t>𝑒</m:t>
                          </m:r>
                        </m:e>
                        <m:sup>
                          <m:r>
                            <a:rPr lang="en-CA" sz="2000" i="1" dirty="0">
                              <a:latin typeface="Cambria Math" panose="02040503050406030204" pitchFamily="18" charset="0"/>
                            </a:rPr>
                            <m:t>−</m:t>
                          </m:r>
                          <m:f>
                            <m:fPr>
                              <m:ctrlPr>
                                <a:rPr lang="en-CA" sz="2000" i="1" dirty="0">
                                  <a:latin typeface="Cambria Math" panose="02040503050406030204" pitchFamily="18" charset="0"/>
                                </a:rPr>
                              </m:ctrlPr>
                            </m:fPr>
                            <m:num>
                              <m:r>
                                <a:rPr lang="en-CA" sz="2000" i="1" dirty="0">
                                  <a:latin typeface="Cambria Math" panose="02040503050406030204" pitchFamily="18" charset="0"/>
                                </a:rPr>
                                <m:t>1</m:t>
                              </m:r>
                            </m:num>
                            <m:den>
                              <m:r>
                                <a:rPr lang="en-CA" sz="2000" i="1" dirty="0">
                                  <a:latin typeface="Cambria Math" panose="02040503050406030204" pitchFamily="18" charset="0"/>
                                </a:rPr>
                                <m:t>2</m:t>
                              </m:r>
                            </m:den>
                          </m:f>
                          <m:r>
                            <a:rPr lang="en-CA" sz="2000" i="1" dirty="0">
                              <a:latin typeface="Cambria Math" panose="02040503050406030204" pitchFamily="18" charset="0"/>
                            </a:rPr>
                            <m:t>𝑊</m:t>
                          </m:r>
                          <m:d>
                            <m:dPr>
                              <m:ctrlPr>
                                <a:rPr lang="en-CA" sz="2000" i="1" dirty="0">
                                  <a:latin typeface="Cambria Math" panose="02040503050406030204" pitchFamily="18" charset="0"/>
                                </a:rPr>
                              </m:ctrlPr>
                            </m:dPr>
                            <m:e>
                              <m:r>
                                <a:rPr lang="en-CA" sz="2000" i="1" dirty="0">
                                  <a:latin typeface="Cambria Math" panose="02040503050406030204" pitchFamily="18" charset="0"/>
                                </a:rPr>
                                <m:t>𝑔</m:t>
                              </m:r>
                              <m:r>
                                <a:rPr lang="en-CA" sz="2000" i="1" dirty="0">
                                  <a:latin typeface="Cambria Math" panose="02040503050406030204" pitchFamily="18" charset="0"/>
                                </a:rPr>
                                <m:t>,</m:t>
                              </m:r>
                              <m:r>
                                <a:rPr lang="en-CA" sz="2000" i="1" dirty="0">
                                  <a:latin typeface="Cambria Math" panose="02040503050406030204" pitchFamily="18" charset="0"/>
                                </a:rPr>
                                <m:t>𝑔</m:t>
                              </m:r>
                            </m:e>
                          </m:d>
                        </m:sup>
                      </m:sSup>
                    </m:oMath>
                  </m:oMathPara>
                </a14:m>
                <a:endParaRPr lang="en-CA" sz="2000" dirty="0"/>
              </a:p>
            </p:txBody>
          </p:sp>
        </mc:Choice>
        <mc:Fallback xmlns="">
          <p:sp>
            <p:nvSpPr>
              <p:cNvPr id="25" name="TextBox 24">
                <a:extLst>
                  <a:ext uri="{FF2B5EF4-FFF2-40B4-BE49-F238E27FC236}">
                    <a16:creationId xmlns:a16="http://schemas.microsoft.com/office/drawing/2014/main" id="{D4BB7235-9B0D-A133-76FA-3DAAE1FFE038}"/>
                  </a:ext>
                </a:extLst>
              </p:cNvPr>
              <p:cNvSpPr txBox="1">
                <a:spLocks noRot="1" noChangeAspect="1" noMove="1" noResize="1" noEditPoints="1" noAdjustHandles="1" noChangeArrowheads="1" noChangeShapeType="1" noTextEdit="1"/>
              </p:cNvSpPr>
              <p:nvPr/>
            </p:nvSpPr>
            <p:spPr>
              <a:xfrm>
                <a:off x="8194453" y="5094003"/>
                <a:ext cx="3173710" cy="563103"/>
              </a:xfrm>
              <a:prstGeom prst="rect">
                <a:avLst/>
              </a:prstGeom>
              <a:blipFill>
                <a:blip r:embed="rId11"/>
                <a:stretch>
                  <a:fillRect/>
                </a:stretch>
              </a:blipFill>
            </p:spPr>
            <p:txBody>
              <a:bodyPr/>
              <a:lstStyle/>
              <a:p>
                <a:r>
                  <a:rPr lang="en-CA">
                    <a:noFill/>
                  </a:rPr>
                  <a:t> </a:t>
                </a:r>
              </a:p>
            </p:txBody>
          </p:sp>
        </mc:Fallback>
      </mc:AlternateContent>
    </p:spTree>
    <p:custDataLst>
      <p:tags r:id="rId1"/>
    </p:custDataLst>
    <p:extLst>
      <p:ext uri="{BB962C8B-B14F-4D97-AF65-F5344CB8AC3E}">
        <p14:creationId xmlns:p14="http://schemas.microsoft.com/office/powerpoint/2010/main" val="374599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9" grpId="0" animBg="1"/>
      <p:bldP spid="9" grpId="0"/>
      <p:bldP spid="11" grpId="0"/>
      <p:bldP spid="13" grpId="0"/>
      <p:bldP spid="17" grpId="0" animBg="1"/>
      <p:bldP spid="18" grpId="0"/>
      <p:bldP spid="19" grpId="0"/>
      <p:bldP spid="21" grpId="0"/>
      <p:bldP spid="22" grpId="0"/>
      <p:bldP spid="23" grpId="0"/>
      <p:bldP spid="24" grpId="0" animBg="1"/>
      <p:bldP spid="26" grpId="0"/>
      <p:bldP spid="36" grpId="0"/>
      <p:bldP spid="55" grpId="0"/>
      <p:bldP spid="56" grpId="0"/>
      <p:bldP spid="57" grpId="0"/>
      <p:bldP spid="66" grpId="0"/>
      <p:bldP spid="67" grpId="0" animBg="1"/>
      <p:bldP spid="4" grpId="0"/>
      <p:bldP spid="5" grpId="0"/>
      <p:bldP spid="16"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E0662-D312-7ACC-DEB0-6B9B33D15C3B}"/>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106D2F4A-4F98-B7AD-AAD1-0EC4E53A3264}"/>
              </a:ext>
            </a:extLst>
          </p:cNvPr>
          <p:cNvSpPr/>
          <p:nvPr/>
        </p:nvSpPr>
        <p:spPr>
          <a:xfrm>
            <a:off x="5723907" y="1396949"/>
            <a:ext cx="5983406" cy="1349302"/>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Fußzeilenplatzhalter 1">
            <a:extLst>
              <a:ext uri="{FF2B5EF4-FFF2-40B4-BE49-F238E27FC236}">
                <a16:creationId xmlns:a16="http://schemas.microsoft.com/office/drawing/2014/main" id="{4A31F323-D0DD-34E1-842A-B869FFBC5825}"/>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42EF2886-5F38-1E2C-8F1A-DA3168F751BF}"/>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Noise Analysis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6BDD8445-21DC-8F43-C636-92C55C109BA3}"/>
              </a:ext>
            </a:extLst>
          </p:cNvPr>
          <p:cNvSpPr>
            <a:spLocks noGrp="1"/>
          </p:cNvSpPr>
          <p:nvPr>
            <p:ph type="sldNum" sz="quarter" idx="12"/>
          </p:nvPr>
        </p:nvSpPr>
        <p:spPr/>
        <p:txBody>
          <a:bodyPr/>
          <a:lstStyle/>
          <a:p>
            <a:fld id="{D0617D14-1B55-43C0-819D-0D244AC23646}" type="slidenum">
              <a:rPr lang="de-AT" smtClean="0"/>
              <a:t>12</a:t>
            </a:fld>
            <a:endParaRPr lang="de-AT"/>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EB152F-12BC-C763-D5B8-38287021B6CB}"/>
                  </a:ext>
                </a:extLst>
              </p:cNvPr>
              <p:cNvSpPr txBox="1"/>
              <p:nvPr/>
            </p:nvSpPr>
            <p:spPr>
              <a:xfrm>
                <a:off x="7089566" y="1558022"/>
                <a:ext cx="5015752" cy="4670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𝐹</m:t>
                      </m:r>
                      <m:d>
                        <m:dPr>
                          <m:ctrlPr>
                            <a:rPr lang="en-US" sz="2000" i="1" dirty="0">
                              <a:latin typeface="Cambria Math" panose="02040503050406030204" pitchFamily="18" charset="0"/>
                            </a:rPr>
                          </m:ctrlPr>
                        </m:dPr>
                        <m:e>
                          <m:r>
                            <a:rPr lang="en-CA" sz="2000" i="1" dirty="0">
                              <a:latin typeface="Cambria Math" panose="02040503050406030204" pitchFamily="18" charset="0"/>
                              <a:ea typeface="Cambria Math" panose="02040503050406030204" pitchFamily="18" charset="0"/>
                            </a:rPr>
                            <m:t>ℇ</m:t>
                          </m:r>
                          <m:d>
                            <m:dPr>
                              <m:ctrlPr>
                                <a:rPr lang="en-US" sz="2000" i="1" dirty="0">
                                  <a:latin typeface="Cambria Math" panose="02040503050406030204" pitchFamily="18" charset="0"/>
                                  <a:ea typeface="Cambria Math" panose="02040503050406030204" pitchFamily="18" charset="0"/>
                                </a:rPr>
                              </m:ctrlPr>
                            </m:dPr>
                            <m:e>
                              <m:acc>
                                <m:accPr>
                                  <m:chr m:val="̂"/>
                                  <m:ctrlPr>
                                    <a:rPr lang="en-US" sz="2000" i="1" dirty="0">
                                      <a:latin typeface="Cambria Math" panose="02040503050406030204" pitchFamily="18" charset="0"/>
                                      <a:ea typeface="Cambria Math" panose="02040503050406030204" pitchFamily="18" charset="0"/>
                                    </a:rPr>
                                  </m:ctrlPr>
                                </m:accPr>
                                <m:e>
                                  <m:r>
                                    <a:rPr lang="en-US" sz="2000" i="1" dirty="0">
                                      <a:latin typeface="Cambria Math" panose="02040503050406030204" pitchFamily="18" charset="0"/>
                                      <a:ea typeface="Cambria Math" panose="02040503050406030204" pitchFamily="18" charset="0"/>
                                    </a:rPr>
                                    <m:t>𝜌</m:t>
                                  </m:r>
                                </m:e>
                              </m:acc>
                            </m:e>
                          </m:d>
                          <m:r>
                            <a:rPr lang="en-US" sz="2000" i="1" dirty="0">
                              <a:latin typeface="Cambria Math" panose="02040503050406030204" pitchFamily="18" charset="0"/>
                              <a:ea typeface="Cambria Math" panose="02040503050406030204" pitchFamily="18" charset="0"/>
                            </a:rPr>
                            <m:t>,</m:t>
                          </m:r>
                          <m:sSub>
                            <m:sSubPr>
                              <m:ctrlPr>
                                <a:rPr lang="en-US"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𝑈</m:t>
                                  </m:r>
                                </m:e>
                              </m:acc>
                            </m:e>
                            <m:sub>
                              <m:r>
                                <a:rPr lang="en-US" sz="2000" i="1" dirty="0">
                                  <a:latin typeface="Cambria Math" panose="02040503050406030204" pitchFamily="18" charset="0"/>
                                </a:rPr>
                                <m:t>𝑐</m:t>
                              </m:r>
                            </m:sub>
                          </m:sSub>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𝜌</m:t>
                              </m:r>
                            </m:e>
                          </m:acc>
                          <m:sSubSup>
                            <m:sSubSupPr>
                              <m:ctrlPr>
                                <a:rPr lang="en-US" sz="2000" i="1" dirty="0">
                                  <a:latin typeface="Cambria Math" panose="02040503050406030204" pitchFamily="18" charset="0"/>
                                </a:rPr>
                              </m:ctrlPr>
                            </m:sSubSup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𝑈</m:t>
                                  </m:r>
                                </m:e>
                              </m:acc>
                            </m:e>
                            <m:sub>
                              <m:r>
                                <a:rPr lang="en-US" sz="2000" i="1" dirty="0">
                                  <a:latin typeface="Cambria Math" panose="02040503050406030204" pitchFamily="18" charset="0"/>
                                </a:rPr>
                                <m:t>𝑐</m:t>
                              </m:r>
                            </m:sub>
                            <m:sup>
                              <m:r>
                                <a:rPr lang="en-US" sz="2000" i="1" dirty="0">
                                  <a:latin typeface="Cambria Math" panose="02040503050406030204" pitchFamily="18" charset="0"/>
                                  <a:ea typeface="Cambria Math" panose="02040503050406030204" pitchFamily="18" charset="0"/>
                                </a:rPr>
                                <m:t>†</m:t>
                              </m:r>
                            </m:sup>
                          </m:sSubSup>
                        </m:e>
                      </m:d>
                      <m:r>
                        <m:rPr>
                          <m:nor/>
                        </m:rPr>
                        <a:rPr lang="en-CA" sz="2000" dirty="0"/>
                        <m:t> </m:t>
                      </m:r>
                      <m:r>
                        <a:rPr lang="en-CA" sz="2000" i="1" dirty="0">
                          <a:latin typeface="Cambria Math" panose="02040503050406030204" pitchFamily="18" charset="0"/>
                        </a:rPr>
                        <m:t>≥</m:t>
                      </m:r>
                      <m:r>
                        <a:rPr lang="en-US" sz="2000" i="1" dirty="0">
                          <a:latin typeface="Cambria Math" panose="02040503050406030204" pitchFamily="18" charset="0"/>
                        </a:rPr>
                        <m:t>𝑇𝑟</m:t>
                      </m:r>
                      <m:r>
                        <a:rPr lang="en-US" sz="2000" i="1" dirty="0">
                          <a:latin typeface="Cambria Math" panose="02040503050406030204" pitchFamily="18" charset="0"/>
                        </a:rPr>
                        <m:t>(</m:t>
                      </m:r>
                      <m:sSup>
                        <m:sSupPr>
                          <m:ctrlPr>
                            <a:rPr lang="en-US" sz="2000" i="1" dirty="0">
                              <a:latin typeface="Cambria Math" panose="02040503050406030204" pitchFamily="18" charset="0"/>
                            </a:rPr>
                          </m:ctrlPr>
                        </m:sSup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𝜌</m:t>
                              </m:r>
                            </m:e>
                          </m:acc>
                        </m:e>
                        <m:sup>
                          <m:r>
                            <a:rPr lang="en-US" sz="2000" i="1" dirty="0">
                              <a:latin typeface="Cambria Math" panose="02040503050406030204" pitchFamily="18" charset="0"/>
                            </a:rPr>
                            <m:t>2</m:t>
                          </m:r>
                        </m:sup>
                      </m:sSup>
                      <m:r>
                        <a:rPr lang="en-US" sz="2000" i="1" dirty="0">
                          <a:latin typeface="Cambria Math" panose="02040503050406030204" pitchFamily="18" charset="0"/>
                        </a:rPr>
                        <m:t>)</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𝑒</m:t>
                          </m:r>
                        </m:e>
                        <m:sup>
                          <m:r>
                            <a:rPr lang="en-US" sz="2000" i="1" dirty="0">
                              <a:latin typeface="Cambria Math" panose="02040503050406030204" pitchFamily="18" charset="0"/>
                            </a:rPr>
                            <m:t>−2</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𝑁</m:t>
                              </m:r>
                            </m:e>
                            <m:sup>
                              <m:r>
                                <a:rPr lang="en-US" sz="2000" i="1" dirty="0">
                                  <a:latin typeface="Cambria Math" panose="02040503050406030204" pitchFamily="18" charset="0"/>
                                </a:rPr>
                                <m:t>2</m:t>
                              </m:r>
                            </m:sup>
                          </m:sSup>
                          <m:sSup>
                            <m:sSupPr>
                              <m:ctrlPr>
                                <a:rPr lang="en-US" sz="2000" i="1" dirty="0">
                                  <a:latin typeface="Cambria Math" panose="02040503050406030204" pitchFamily="18" charset="0"/>
                                </a:rPr>
                              </m:ctrlPr>
                            </m:sSupPr>
                            <m:e>
                              <m:r>
                                <a:rPr lang="en-US" sz="2000" i="1" dirty="0">
                                  <a:latin typeface="Cambria Math" panose="02040503050406030204" pitchFamily="18" charset="0"/>
                                </a:rPr>
                                <m:t>𝜆</m:t>
                              </m:r>
                            </m:e>
                            <m:sup>
                              <m:r>
                                <a:rPr lang="en-US" sz="2000" i="1" dirty="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sup>
                      </m:sSup>
                    </m:oMath>
                  </m:oMathPara>
                </a14:m>
                <a:endParaRPr lang="en-CA" sz="2000" dirty="0"/>
              </a:p>
            </p:txBody>
          </p:sp>
        </mc:Choice>
        <mc:Fallback xmlns="">
          <p:sp>
            <p:nvSpPr>
              <p:cNvPr id="9" name="TextBox 8">
                <a:extLst>
                  <a:ext uri="{FF2B5EF4-FFF2-40B4-BE49-F238E27FC236}">
                    <a16:creationId xmlns:a16="http://schemas.microsoft.com/office/drawing/2014/main" id="{D7EB152F-12BC-C763-D5B8-38287021B6CB}"/>
                  </a:ext>
                </a:extLst>
              </p:cNvPr>
              <p:cNvSpPr txBox="1">
                <a:spLocks noRot="1" noChangeAspect="1" noMove="1" noResize="1" noEditPoints="1" noAdjustHandles="1" noChangeArrowheads="1" noChangeShapeType="1" noTextEdit="1"/>
              </p:cNvSpPr>
              <p:nvPr/>
            </p:nvSpPr>
            <p:spPr>
              <a:xfrm>
                <a:off x="7089566" y="1558022"/>
                <a:ext cx="5015752" cy="467051"/>
              </a:xfrm>
              <a:prstGeom prst="rect">
                <a:avLst/>
              </a:prstGeom>
              <a:blipFill>
                <a:blip r:embed="rId4"/>
                <a:stretch>
                  <a:fillRect b="-15789"/>
                </a:stretch>
              </a:blipFill>
            </p:spPr>
            <p:txBody>
              <a:bodyPr/>
              <a:lstStyle/>
              <a:p>
                <a:r>
                  <a:rPr lang="en-CA">
                    <a:noFill/>
                  </a:rPr>
                  <a:t> </a:t>
                </a:r>
              </a:p>
            </p:txBody>
          </p:sp>
        </mc:Fallback>
      </mc:AlternateContent>
      <p:sp>
        <p:nvSpPr>
          <p:cNvPr id="36" name="TextBox 35">
            <a:extLst>
              <a:ext uri="{FF2B5EF4-FFF2-40B4-BE49-F238E27FC236}">
                <a16:creationId xmlns:a16="http://schemas.microsoft.com/office/drawing/2014/main" id="{D5B32F96-9185-A275-0AB3-55A7771D3AA8}"/>
              </a:ext>
            </a:extLst>
          </p:cNvPr>
          <p:cNvSpPr txBox="1"/>
          <p:nvPr/>
        </p:nvSpPr>
        <p:spPr>
          <a:xfrm>
            <a:off x="5825619" y="1624963"/>
            <a:ext cx="1596834" cy="400110"/>
          </a:xfrm>
          <a:prstGeom prst="rect">
            <a:avLst/>
          </a:prstGeom>
          <a:noFill/>
        </p:spPr>
        <p:txBody>
          <a:bodyPr wrap="square" rtlCol="0">
            <a:spAutoFit/>
          </a:bodyPr>
          <a:lstStyle/>
          <a:p>
            <a:r>
              <a:rPr lang="en-CA" sz="2000" dirty="0"/>
              <a:t>Noise Bound:</a:t>
            </a:r>
          </a:p>
        </p:txBody>
      </p:sp>
      <p:sp>
        <p:nvSpPr>
          <p:cNvPr id="37" name="TextBox 36">
            <a:extLst>
              <a:ext uri="{FF2B5EF4-FFF2-40B4-BE49-F238E27FC236}">
                <a16:creationId xmlns:a16="http://schemas.microsoft.com/office/drawing/2014/main" id="{CCFB82DF-4A4A-A8CB-4445-B6E4E1843988}"/>
              </a:ext>
            </a:extLst>
          </p:cNvPr>
          <p:cNvSpPr txBox="1"/>
          <p:nvPr/>
        </p:nvSpPr>
        <p:spPr>
          <a:xfrm>
            <a:off x="385924" y="2354881"/>
            <a:ext cx="5015752" cy="707886"/>
          </a:xfrm>
          <a:prstGeom prst="rect">
            <a:avLst/>
          </a:prstGeom>
          <a:noFill/>
        </p:spPr>
        <p:txBody>
          <a:bodyPr wrap="square" rtlCol="0">
            <a:spAutoFit/>
          </a:bodyPr>
          <a:lstStyle/>
          <a:p>
            <a:r>
              <a:rPr lang="en-CA" sz="2000" u="sng" dirty="0"/>
              <a:t>Example</a:t>
            </a:r>
            <a:r>
              <a:rPr lang="en-CA" sz="2000" dirty="0"/>
              <a:t>: Gaussian smearing in Minkowski</a:t>
            </a:r>
          </a:p>
          <a:p>
            <a:endParaRPr lang="en-CA" sz="200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84DF43F-6CFC-25F7-A6BB-300D917300D3}"/>
                  </a:ext>
                </a:extLst>
              </p:cNvPr>
              <p:cNvSpPr txBox="1"/>
              <p:nvPr/>
            </p:nvSpPr>
            <p:spPr>
              <a:xfrm>
                <a:off x="7612926" y="3779006"/>
                <a:ext cx="3603466" cy="400110"/>
              </a:xfrm>
              <a:prstGeom prst="rect">
                <a:avLst/>
              </a:prstGeom>
              <a:noFill/>
            </p:spPr>
            <p:txBody>
              <a:bodyPr wrap="square">
                <a:spAutoFit/>
              </a:bodyPr>
              <a:lstStyle/>
              <a:p>
                <a:r>
                  <a:rPr lang="en-US" sz="2000" b="0" dirty="0">
                    <a:ea typeface="Cambria Math" panose="02040503050406030204" pitchFamily="18" charset="0"/>
                  </a:rPr>
                  <a:t>Per layer: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𝐹</m:t>
                    </m:r>
                    <m:r>
                      <a:rPr lang="en-US" sz="2000" b="0" i="1" dirty="0" smtClean="0">
                        <a:latin typeface="Cambria Math" panose="02040503050406030204" pitchFamily="18" charset="0"/>
                        <a:ea typeface="Cambria Math" panose="02040503050406030204" pitchFamily="18" charset="0"/>
                      </a:rPr>
                      <m:t> ≥99.998%</m:t>
                    </m:r>
                  </m:oMath>
                </a14:m>
                <a:endParaRPr lang="en-CA" sz="2000" dirty="0"/>
              </a:p>
            </p:txBody>
          </p:sp>
        </mc:Choice>
        <mc:Fallback xmlns="">
          <p:sp>
            <p:nvSpPr>
              <p:cNvPr id="41" name="TextBox 40">
                <a:extLst>
                  <a:ext uri="{FF2B5EF4-FFF2-40B4-BE49-F238E27FC236}">
                    <a16:creationId xmlns:a16="http://schemas.microsoft.com/office/drawing/2014/main" id="{584DF43F-6CFC-25F7-A6BB-300D917300D3}"/>
                  </a:ext>
                </a:extLst>
              </p:cNvPr>
              <p:cNvSpPr txBox="1">
                <a:spLocks noRot="1" noChangeAspect="1" noMove="1" noResize="1" noEditPoints="1" noAdjustHandles="1" noChangeArrowheads="1" noChangeShapeType="1" noTextEdit="1"/>
              </p:cNvSpPr>
              <p:nvPr/>
            </p:nvSpPr>
            <p:spPr>
              <a:xfrm>
                <a:off x="7612926" y="3779006"/>
                <a:ext cx="3603466" cy="400110"/>
              </a:xfrm>
              <a:prstGeom prst="rect">
                <a:avLst/>
              </a:prstGeom>
              <a:blipFill>
                <a:blip r:embed="rId5"/>
                <a:stretch>
                  <a:fillRect l="-1754" t="-909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F301666-FC39-E193-7494-83609BE38C89}"/>
                  </a:ext>
                </a:extLst>
              </p:cNvPr>
              <p:cNvSpPr txBox="1"/>
              <p:nvPr/>
            </p:nvSpPr>
            <p:spPr>
              <a:xfrm>
                <a:off x="642002" y="3105167"/>
                <a:ext cx="3855799" cy="6790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Λ</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𝜋</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e>
                                  </m:d>
                                </m:e>
                                <m:sup>
                                  <m:r>
                                    <a:rPr lang="en-US" sz="2000" b="0" i="1" smtClean="0">
                                      <a:latin typeface="Cambria Math" panose="02040503050406030204" pitchFamily="18" charset="0"/>
                                    </a:rPr>
                                    <m:t>3/2</m:t>
                                  </m:r>
                                </m:sup>
                              </m:sSup>
                            </m:den>
                          </m:f>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𝑐</m:t>
                                          </m:r>
                                        </m:sub>
                                      </m:sSub>
                                    </m:e>
                                  </m:d>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CA" sz="2000">
                                          <a:latin typeface="Cambria Math" panose="02040503050406030204" pitchFamily="18" charset="0"/>
                                        </a:rPr>
                                        <m:t>​</m:t>
                                      </m:r>
                                    </m:e>
                                  </m:d>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den>
                          </m:f>
                        </m:sup>
                      </m:sSup>
                    </m:oMath>
                  </m:oMathPara>
                </a14:m>
                <a:endParaRPr lang="en-CA" dirty="0"/>
              </a:p>
            </p:txBody>
          </p:sp>
        </mc:Choice>
        <mc:Fallback xmlns="">
          <p:sp>
            <p:nvSpPr>
              <p:cNvPr id="50" name="TextBox 49">
                <a:extLst>
                  <a:ext uri="{FF2B5EF4-FFF2-40B4-BE49-F238E27FC236}">
                    <a16:creationId xmlns:a16="http://schemas.microsoft.com/office/drawing/2014/main" id="{8F301666-FC39-E193-7494-83609BE38C89}"/>
                  </a:ext>
                </a:extLst>
              </p:cNvPr>
              <p:cNvSpPr txBox="1">
                <a:spLocks noRot="1" noChangeAspect="1" noMove="1" noResize="1" noEditPoints="1" noAdjustHandles="1" noChangeArrowheads="1" noChangeShapeType="1" noTextEdit="1"/>
              </p:cNvSpPr>
              <p:nvPr/>
            </p:nvSpPr>
            <p:spPr>
              <a:xfrm>
                <a:off x="642002" y="3105167"/>
                <a:ext cx="3855799" cy="679097"/>
              </a:xfrm>
              <a:prstGeom prst="rect">
                <a:avLst/>
              </a:prstGeom>
              <a:blipFill>
                <a:blip r:embed="rId6"/>
                <a:stretch>
                  <a:fillRect l="-984" t="-54545" r="-3607" b="-2545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253964C4-7141-3F27-7BD5-DDAF381754B3}"/>
                  </a:ext>
                </a:extLst>
              </p:cNvPr>
              <p:cNvSpPr txBox="1"/>
              <p:nvPr/>
            </p:nvSpPr>
            <p:spPr>
              <a:xfrm>
                <a:off x="948267" y="4058057"/>
                <a:ext cx="1945533"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rPr>
                        <m:t>𝒲</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𝑇</m:t>
                              </m:r>
                            </m:e>
                            <m:sup>
                              <m:r>
                                <a:rPr lang="en-US" sz="2000" b="0" i="1" smtClean="0">
                                  <a:latin typeface="Cambria Math" panose="02040503050406030204" pitchFamily="18" charset="0"/>
                                  <a:ea typeface="Cambria Math" panose="02040503050406030204" pitchFamily="18" charset="0"/>
                                </a:rPr>
                                <m:t>2</m:t>
                              </m:r>
                            </m:sup>
                          </m:sSup>
                        </m:num>
                        <m:den>
                          <m:r>
                            <a:rPr lang="en-US" sz="2000" b="0" i="1" smtClean="0">
                              <a:latin typeface="Cambria Math" panose="02040503050406030204" pitchFamily="18" charset="0"/>
                              <a:ea typeface="Cambria Math" panose="02040503050406030204" pitchFamily="18" charset="0"/>
                            </a:rPr>
                            <m:t>4</m:t>
                          </m:r>
                          <m:r>
                            <a:rPr lang="en-US" sz="2000" b="0" i="1" smtClean="0">
                              <a:latin typeface="Cambria Math" panose="02040503050406030204" pitchFamily="18" charset="0"/>
                              <a:ea typeface="Cambria Math" panose="02040503050406030204" pitchFamily="18" charset="0"/>
                            </a:rPr>
                            <m:t>𝜋</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ea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𝑇</m:t>
                              </m:r>
                            </m:e>
                            <m:sup>
                              <m:r>
                                <a:rPr lang="en-US" sz="2000" b="0" i="1" smtClean="0">
                                  <a:latin typeface="Cambria Math" panose="02040503050406030204" pitchFamily="18" charset="0"/>
                                  <a:ea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m:t>
                          </m:r>
                        </m:den>
                      </m:f>
                    </m:oMath>
                  </m:oMathPara>
                </a14:m>
                <a:endParaRPr lang="en-CA" sz="2000" dirty="0"/>
              </a:p>
            </p:txBody>
          </p:sp>
        </mc:Choice>
        <mc:Fallback xmlns="">
          <p:sp>
            <p:nvSpPr>
              <p:cNvPr id="51" name="TextBox 50">
                <a:extLst>
                  <a:ext uri="{FF2B5EF4-FFF2-40B4-BE49-F238E27FC236}">
                    <a16:creationId xmlns:a16="http://schemas.microsoft.com/office/drawing/2014/main" id="{253964C4-7141-3F27-7BD5-DDAF381754B3}"/>
                  </a:ext>
                </a:extLst>
              </p:cNvPr>
              <p:cNvSpPr txBox="1">
                <a:spLocks noRot="1" noChangeAspect="1" noMove="1" noResize="1" noEditPoints="1" noAdjustHandles="1" noChangeArrowheads="1" noChangeShapeType="1" noTextEdit="1"/>
              </p:cNvSpPr>
              <p:nvPr/>
            </p:nvSpPr>
            <p:spPr>
              <a:xfrm>
                <a:off x="948267" y="4058057"/>
                <a:ext cx="1945533" cy="672172"/>
              </a:xfrm>
              <a:prstGeom prst="rect">
                <a:avLst/>
              </a:prstGeom>
              <a:blipFill>
                <a:blip r:embed="rId7"/>
                <a:stretch>
                  <a:fillRect l="-1935" r="-3871" b="-1666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F924951-C89D-43E0-6E68-1BFC8D4A7D31}"/>
                  </a:ext>
                </a:extLst>
              </p:cNvPr>
              <p:cNvSpPr txBox="1"/>
              <p:nvPr/>
            </p:nvSpPr>
            <p:spPr>
              <a:xfrm>
                <a:off x="865140" y="4832303"/>
                <a:ext cx="5709192" cy="8645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r>
                            <a:rPr lang="en-US" sz="2000" b="0" i="1" smtClean="0">
                              <a:latin typeface="Cambria Math" panose="02040503050406030204" pitchFamily="18" charset="0"/>
                            </a:rPr>
                            <m:t>𝜋</m:t>
                          </m:r>
                          <m:rad>
                            <m:radPr>
                              <m:degHide m:val="on"/>
                              <m:ctrlPr>
                                <a:rPr lang="en-US" sz="2000" b="0" i="1" smtClean="0">
                                  <a:latin typeface="Cambria Math" panose="02040503050406030204" pitchFamily="18" charset="0"/>
                                </a:rPr>
                              </m:ctrlPr>
                            </m:radPr>
                            <m:deg/>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e>
                          </m:ra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𝑖𝑗</m:t>
                              </m:r>
                            </m:sub>
                          </m:sSub>
                        </m:den>
                      </m:f>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𝐿</m:t>
                                  </m:r>
                                </m:e>
                                <m:sub>
                                  <m:r>
                                    <a:rPr lang="en-US" sz="2000" b="0" i="1" smtClean="0">
                                      <a:latin typeface="Cambria Math" panose="02040503050406030204" pitchFamily="18" charset="0"/>
                                    </a:rPr>
                                    <m:t>𝑖𝑗</m:t>
                                  </m:r>
                                </m:sub>
                                <m:sup>
                                  <m:r>
                                    <a:rPr lang="en-US" sz="2000" b="0" i="1" smtClean="0">
                                      <a:latin typeface="Cambria Math" panose="02040503050406030204" pitchFamily="18" charset="0"/>
                                    </a:rPr>
                                    <m:t>2</m:t>
                                  </m:r>
                                </m:sup>
                              </m:sSubSup>
                            </m:num>
                            <m:den>
                              <m:r>
                                <a:rPr lang="en-US" sz="2000" b="0" i="1" smtClean="0">
                                  <a:latin typeface="Cambria Math" panose="02040503050406030204" pitchFamily="18" charset="0"/>
                                </a:rPr>
                                <m:t>4(</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den>
                          </m:f>
                        </m:sup>
                      </m:sSup>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erf</m:t>
                          </m:r>
                        </m:fName>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𝑖𝑗</m:t>
                                      </m:r>
                                    </m:sub>
                                  </m:sSub>
                                </m:num>
                                <m:den>
                                  <m:r>
                                    <a:rPr lang="en-US" sz="2000" b="0" i="1" smtClean="0">
                                      <a:latin typeface="Cambria Math" panose="02040503050406030204" pitchFamily="18" charset="0"/>
                                    </a:rPr>
                                    <m:t>2</m:t>
                                  </m:r>
                                  <m:r>
                                    <a:rPr lang="en-US" sz="2000" b="0" i="1" smtClean="0">
                                      <a:latin typeface="Cambria Math" panose="02040503050406030204" pitchFamily="18" charset="0"/>
                                    </a:rPr>
                                    <m:t>𝜎</m:t>
                                  </m:r>
                                  <m:rad>
                                    <m:radPr>
                                      <m:degHide m:val="on"/>
                                      <m:ctrlPr>
                                        <a:rPr lang="en-US" sz="2000" b="0" i="1" smtClean="0">
                                          <a:latin typeface="Cambria Math" panose="02040503050406030204" pitchFamily="18" charset="0"/>
                                        </a:rPr>
                                      </m:ctrlPr>
                                    </m:radPr>
                                    <m:deg/>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𝜎</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𝑇</m:t>
                                          </m:r>
                                        </m:e>
                                        <m:sup>
                                          <m:r>
                                            <a:rPr lang="en-US" sz="2000" b="0" i="1" smtClean="0">
                                              <a:latin typeface="Cambria Math" panose="02040503050406030204" pitchFamily="18" charset="0"/>
                                            </a:rPr>
                                            <m:t>2</m:t>
                                          </m:r>
                                        </m:sup>
                                      </m:sSup>
                                    </m:e>
                                  </m:rad>
                                </m:den>
                              </m:f>
                            </m:e>
                          </m:d>
                        </m:e>
                      </m:func>
                    </m:oMath>
                  </m:oMathPara>
                </a14:m>
                <a:endParaRPr lang="en-CA" dirty="0"/>
              </a:p>
            </p:txBody>
          </p:sp>
        </mc:Choice>
        <mc:Fallback xmlns="">
          <p:sp>
            <p:nvSpPr>
              <p:cNvPr id="52" name="TextBox 51">
                <a:extLst>
                  <a:ext uri="{FF2B5EF4-FFF2-40B4-BE49-F238E27FC236}">
                    <a16:creationId xmlns:a16="http://schemas.microsoft.com/office/drawing/2014/main" id="{6F924951-C89D-43E0-6E68-1BFC8D4A7D31}"/>
                  </a:ext>
                </a:extLst>
              </p:cNvPr>
              <p:cNvSpPr txBox="1">
                <a:spLocks noRot="1" noChangeAspect="1" noMove="1" noResize="1" noEditPoints="1" noAdjustHandles="1" noChangeArrowheads="1" noChangeShapeType="1" noTextEdit="1"/>
              </p:cNvSpPr>
              <p:nvPr/>
            </p:nvSpPr>
            <p:spPr>
              <a:xfrm>
                <a:off x="865140" y="4832303"/>
                <a:ext cx="5709192" cy="864532"/>
              </a:xfrm>
              <a:prstGeom prst="rect">
                <a:avLst/>
              </a:prstGeom>
              <a:blipFill>
                <a:blip r:embed="rId8"/>
                <a:stretch>
                  <a:fillRect l="-667" b="-869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3F6B292-107F-D849-B794-1189E1E53A72}"/>
                  </a:ext>
                </a:extLst>
              </p:cNvPr>
              <p:cNvSpPr txBox="1"/>
              <p:nvPr/>
            </p:nvSpPr>
            <p:spPr>
              <a:xfrm>
                <a:off x="7312863" y="3348499"/>
                <a:ext cx="3593841" cy="400110"/>
              </a:xfrm>
              <a:prstGeom prst="rect">
                <a:avLst/>
              </a:prstGeom>
              <a:noFill/>
            </p:spPr>
            <p:txBody>
              <a:bodyPr wrap="square">
                <a:spAutoFit/>
              </a:bodyPr>
              <a:lstStyle/>
              <a:p>
                <a:r>
                  <a:rPr lang="en-CA" sz="2000" dirty="0"/>
                  <a:t>e.g. for </a:t>
                </a:r>
                <a14:m>
                  <m:oMath xmlns:m="http://schemas.openxmlformats.org/officeDocument/2006/math">
                    <m:r>
                      <a:rPr lang="en-US" sz="2000" b="0" i="1" smtClean="0">
                        <a:latin typeface="Cambria Math" panose="02040503050406030204" pitchFamily="18" charset="0"/>
                      </a:rPr>
                      <m:t>𝜆</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−4</m:t>
                        </m:r>
                      </m:sup>
                    </m:sSup>
                  </m:oMath>
                </a14:m>
                <a:r>
                  <a:rPr lang="en-CA" sz="2000" dirty="0"/>
                  <a:t> and </a:t>
                </a:r>
                <a14:m>
                  <m:oMath xmlns:m="http://schemas.openxmlformats.org/officeDocument/2006/math">
                    <m:r>
                      <a:rPr lang="en-US" sz="2000" b="0" i="1" smtClean="0">
                        <a:latin typeface="Cambria Math" panose="02040503050406030204" pitchFamily="18" charset="0"/>
                      </a:rPr>
                      <m:t>𝑁</m:t>
                    </m:r>
                    <m:r>
                      <a:rPr lang="en-US" sz="2000" b="0" i="1" smtClean="0">
                        <a:latin typeface="Cambria Math" panose="02040503050406030204" pitchFamily="18" charset="0"/>
                      </a:rPr>
                      <m:t>=100</m:t>
                    </m:r>
                  </m:oMath>
                </a14:m>
                <a:endParaRPr lang="en-US" sz="2000" b="0" dirty="0"/>
              </a:p>
            </p:txBody>
          </p:sp>
        </mc:Choice>
        <mc:Fallback xmlns="">
          <p:sp>
            <p:nvSpPr>
              <p:cNvPr id="62" name="TextBox 61">
                <a:extLst>
                  <a:ext uri="{FF2B5EF4-FFF2-40B4-BE49-F238E27FC236}">
                    <a16:creationId xmlns:a16="http://schemas.microsoft.com/office/drawing/2014/main" id="{13F6B292-107F-D849-B794-1189E1E53A72}"/>
                  </a:ext>
                </a:extLst>
              </p:cNvPr>
              <p:cNvSpPr txBox="1">
                <a:spLocks noRot="1" noChangeAspect="1" noMove="1" noResize="1" noEditPoints="1" noAdjustHandles="1" noChangeArrowheads="1" noChangeShapeType="1" noTextEdit="1"/>
              </p:cNvSpPr>
              <p:nvPr/>
            </p:nvSpPr>
            <p:spPr>
              <a:xfrm>
                <a:off x="7312863" y="3348499"/>
                <a:ext cx="3593841" cy="400110"/>
              </a:xfrm>
              <a:prstGeom prst="rect">
                <a:avLst/>
              </a:prstGeom>
              <a:blipFill>
                <a:blip r:embed="rId9"/>
                <a:stretch>
                  <a:fillRect l="-2120"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346D674-B803-B307-5EF8-DE3A262B7CEE}"/>
                  </a:ext>
                </a:extLst>
              </p:cNvPr>
              <p:cNvSpPr txBox="1"/>
              <p:nvPr/>
            </p:nvSpPr>
            <p:spPr>
              <a:xfrm>
                <a:off x="7471757" y="4205703"/>
                <a:ext cx="3705710" cy="400110"/>
              </a:xfrm>
              <a:prstGeom prst="rect">
                <a:avLst/>
              </a:prstGeom>
              <a:noFill/>
            </p:spPr>
            <p:txBody>
              <a:bodyPr wrap="square">
                <a:spAutoFit/>
              </a:bodyPr>
              <a:lstStyle/>
              <a:p>
                <a:r>
                  <a:rPr lang="en-CA" sz="2000" dirty="0"/>
                  <a:t>100 layers: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𝐹</m:t>
                    </m:r>
                    <m:r>
                      <a:rPr lang="en-US" sz="2000" b="0" i="1" dirty="0" smtClean="0">
                        <a:latin typeface="Cambria Math" panose="02040503050406030204" pitchFamily="18" charset="0"/>
                        <a:ea typeface="Cambria Math" panose="02040503050406030204" pitchFamily="18" charset="0"/>
                      </a:rPr>
                      <m:t> ≥99.8%</m:t>
                    </m:r>
                  </m:oMath>
                </a14:m>
                <a:endParaRPr lang="en-CA" sz="2000" dirty="0"/>
              </a:p>
            </p:txBody>
          </p:sp>
        </mc:Choice>
        <mc:Fallback xmlns="">
          <p:sp>
            <p:nvSpPr>
              <p:cNvPr id="64" name="TextBox 63">
                <a:extLst>
                  <a:ext uri="{FF2B5EF4-FFF2-40B4-BE49-F238E27FC236}">
                    <a16:creationId xmlns:a16="http://schemas.microsoft.com/office/drawing/2014/main" id="{0346D674-B803-B307-5EF8-DE3A262B7CEE}"/>
                  </a:ext>
                </a:extLst>
              </p:cNvPr>
              <p:cNvSpPr txBox="1">
                <a:spLocks noRot="1" noChangeAspect="1" noMove="1" noResize="1" noEditPoints="1" noAdjustHandles="1" noChangeArrowheads="1" noChangeShapeType="1" noTextEdit="1"/>
              </p:cNvSpPr>
              <p:nvPr/>
            </p:nvSpPr>
            <p:spPr>
              <a:xfrm>
                <a:off x="7471757" y="4205703"/>
                <a:ext cx="3705710" cy="400110"/>
              </a:xfrm>
              <a:prstGeom prst="rect">
                <a:avLst/>
              </a:prstGeom>
              <a:blipFill>
                <a:blip r:embed="rId10"/>
                <a:stretch>
                  <a:fillRect l="-1706" t="-9375" b="-2812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DA9B667-48CB-F468-2650-D9D68364AD57}"/>
                  </a:ext>
                </a:extLst>
              </p:cNvPr>
              <p:cNvSpPr txBox="1"/>
              <p:nvPr/>
            </p:nvSpPr>
            <p:spPr>
              <a:xfrm>
                <a:off x="7620065" y="2277522"/>
                <a:ext cx="1351331" cy="338682"/>
              </a:xfrm>
              <a:prstGeom prst="rect">
                <a:avLst/>
              </a:prstGeom>
              <a:noFill/>
            </p:spPr>
            <p:txBody>
              <a:bodyPr wrap="none" lIns="0" tIns="0" rIns="0" bIns="0" rtlCol="0">
                <a:spAutoFit/>
              </a:bodyPr>
              <a:lstStyle/>
              <a:p>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𝑁</m:t>
                        </m:r>
                      </m:e>
                      <m:sup>
                        <m:r>
                          <a:rPr lang="en-US" sz="2000" b="0" i="1" smtClean="0">
                            <a:latin typeface="Cambria Math" panose="02040503050406030204" pitchFamily="18" charset="0"/>
                          </a:rPr>
                          <m:t>2</m:t>
                        </m:r>
                      </m:sup>
                    </m:sSup>
                    <m:r>
                      <a:rPr lang="en-US" sz="2000" i="1" dirty="0">
                        <a:latin typeface="Cambria Math" panose="02040503050406030204" pitchFamily="18" charset="0"/>
                        <a:ea typeface="Cambria Math" panose="02040503050406030204" pitchFamily="18" charset="0"/>
                      </a:rPr>
                      <m:t>𝒲</m:t>
                    </m:r>
                    <m:r>
                      <a:rPr lang="en-US" sz="2000" i="1" dirty="0" smtClean="0">
                        <a:latin typeface="Cambria Math" panose="02040503050406030204" pitchFamily="18" charset="0"/>
                        <a:ea typeface="Cambria Math" panose="02040503050406030204" pitchFamily="18" charset="0"/>
                      </a:rPr>
                      <m:t>≪</m:t>
                    </m:r>
                    <m:sSub>
                      <m:sSubPr>
                        <m:ctrlPr>
                          <a:rPr lang="en-US" sz="2000" b="0" i="1" dirty="0" smtClean="0">
                            <a:latin typeface="Cambria Math" panose="02040503050406030204" pitchFamily="18" charset="0"/>
                            <a:ea typeface="Cambria Math" panose="02040503050406030204" pitchFamily="18" charset="0"/>
                          </a:rPr>
                        </m:ctrlPr>
                      </m:sSubPr>
                      <m:e>
                        <m:r>
                          <m:rPr>
                            <m:sty m:val="p"/>
                          </m:rPr>
                          <a:rPr lang="en-US" sz="2000" b="0" i="0" dirty="0" smtClean="0">
                            <a:latin typeface="Cambria Math" panose="02040503050406030204" pitchFamily="18" charset="0"/>
                            <a:ea typeface="Cambria Math" panose="02040503050406030204" pitchFamily="18" charset="0"/>
                          </a:rPr>
                          <m:t>Δ</m:t>
                        </m:r>
                      </m:e>
                      <m:sub>
                        <m:r>
                          <a:rPr lang="en-US" sz="2000" b="0" i="1" dirty="0" smtClean="0">
                            <a:latin typeface="Cambria Math" panose="02040503050406030204" pitchFamily="18" charset="0"/>
                            <a:ea typeface="Cambria Math" panose="02040503050406030204" pitchFamily="18" charset="0"/>
                          </a:rPr>
                          <m:t>𝑖𝑗</m:t>
                        </m:r>
                      </m:sub>
                    </m:sSub>
                  </m:oMath>
                </a14:m>
                <a:r>
                  <a:rPr lang="en-CA" sz="2000" dirty="0"/>
                  <a:t>,</a:t>
                </a:r>
              </a:p>
            </p:txBody>
          </p:sp>
        </mc:Choice>
        <mc:Fallback xmlns="">
          <p:sp>
            <p:nvSpPr>
              <p:cNvPr id="5" name="TextBox 4">
                <a:extLst>
                  <a:ext uri="{FF2B5EF4-FFF2-40B4-BE49-F238E27FC236}">
                    <a16:creationId xmlns:a16="http://schemas.microsoft.com/office/drawing/2014/main" id="{1DA9B667-48CB-F468-2650-D9D68364AD57}"/>
                  </a:ext>
                </a:extLst>
              </p:cNvPr>
              <p:cNvSpPr txBox="1">
                <a:spLocks noRot="1" noChangeAspect="1" noMove="1" noResize="1" noEditPoints="1" noAdjustHandles="1" noChangeArrowheads="1" noChangeShapeType="1" noTextEdit="1"/>
              </p:cNvSpPr>
              <p:nvPr/>
            </p:nvSpPr>
            <p:spPr>
              <a:xfrm>
                <a:off x="7620065" y="2277522"/>
                <a:ext cx="1351331" cy="338682"/>
              </a:xfrm>
              <a:prstGeom prst="rect">
                <a:avLst/>
              </a:prstGeom>
              <a:blipFill>
                <a:blip r:embed="rId11"/>
                <a:stretch>
                  <a:fillRect l="-6542" t="-22222" r="-11215" b="-3703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B1CF396-75E0-12A8-0FF4-99C633EC2043}"/>
                  </a:ext>
                </a:extLst>
              </p:cNvPr>
              <p:cNvSpPr txBox="1"/>
              <p:nvPr/>
            </p:nvSpPr>
            <p:spPr>
              <a:xfrm>
                <a:off x="9109784" y="2279909"/>
                <a:ext cx="894540" cy="332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𝐿</m:t>
                          </m:r>
                        </m:e>
                        <m:sub>
                          <m:r>
                            <a:rPr lang="en-US" sz="2000" b="0" i="1" dirty="0" smtClean="0">
                              <a:latin typeface="Cambria Math" panose="02040503050406030204" pitchFamily="18" charset="0"/>
                              <a:ea typeface="Cambria Math" panose="02040503050406030204" pitchFamily="18" charset="0"/>
                            </a:rPr>
                            <m:t>𝑖𝑗</m:t>
                          </m:r>
                        </m:sub>
                      </m:sSub>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𝑇</m:t>
                      </m:r>
                    </m:oMath>
                  </m:oMathPara>
                </a14:m>
                <a:endParaRPr lang="en-CA" sz="2000" dirty="0"/>
              </a:p>
            </p:txBody>
          </p:sp>
        </mc:Choice>
        <mc:Fallback xmlns="">
          <p:sp>
            <p:nvSpPr>
              <p:cNvPr id="6" name="TextBox 5">
                <a:extLst>
                  <a:ext uri="{FF2B5EF4-FFF2-40B4-BE49-F238E27FC236}">
                    <a16:creationId xmlns:a16="http://schemas.microsoft.com/office/drawing/2014/main" id="{9B1CF396-75E0-12A8-0FF4-99C633EC2043}"/>
                  </a:ext>
                </a:extLst>
              </p:cNvPr>
              <p:cNvSpPr txBox="1">
                <a:spLocks noRot="1" noChangeAspect="1" noMove="1" noResize="1" noEditPoints="1" noAdjustHandles="1" noChangeArrowheads="1" noChangeShapeType="1" noTextEdit="1"/>
              </p:cNvSpPr>
              <p:nvPr/>
            </p:nvSpPr>
            <p:spPr>
              <a:xfrm>
                <a:off x="9109784" y="2279909"/>
                <a:ext cx="894540" cy="332463"/>
              </a:xfrm>
              <a:prstGeom prst="rect">
                <a:avLst/>
              </a:prstGeom>
              <a:blipFill>
                <a:blip r:embed="rId12"/>
                <a:stretch>
                  <a:fillRect l="-5634" r="-5634" b="-25926"/>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2624EFDC-C54A-D65C-4563-2E7383CED9CD}"/>
              </a:ext>
            </a:extLst>
          </p:cNvPr>
          <p:cNvSpPr txBox="1"/>
          <p:nvPr/>
        </p:nvSpPr>
        <p:spPr>
          <a:xfrm>
            <a:off x="5893662" y="2219107"/>
            <a:ext cx="1776454" cy="400110"/>
          </a:xfrm>
          <a:prstGeom prst="rect">
            <a:avLst/>
          </a:prstGeom>
          <a:noFill/>
        </p:spPr>
        <p:txBody>
          <a:bodyPr wrap="square" rtlCol="0">
            <a:spAutoFit/>
          </a:bodyPr>
          <a:lstStyle/>
          <a:p>
            <a:r>
              <a:rPr lang="en-CA" sz="2000" dirty="0"/>
              <a:t>Our Regime:</a:t>
            </a:r>
          </a:p>
        </p:txBody>
      </p:sp>
    </p:spTree>
    <p:custDataLst>
      <p:tags r:id="rId1"/>
    </p:custDataLst>
    <p:extLst>
      <p:ext uri="{BB962C8B-B14F-4D97-AF65-F5344CB8AC3E}">
        <p14:creationId xmlns:p14="http://schemas.microsoft.com/office/powerpoint/2010/main" val="100388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1" grpId="0"/>
      <p:bldP spid="50" grpId="0"/>
      <p:bldP spid="51" grpId="0"/>
      <p:bldP spid="52" grpId="0"/>
      <p:bldP spid="62" grpId="0"/>
      <p:bldP spid="6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FB4233-F492-9C0A-ED93-E29C41EAFE0A}"/>
              </a:ext>
            </a:extLst>
          </p:cNvPr>
          <p:cNvPicPr>
            <a:picLocks noChangeAspect="1"/>
          </p:cNvPicPr>
          <p:nvPr/>
        </p:nvPicPr>
        <p:blipFill>
          <a:blip r:embed="rId4"/>
          <a:stretch>
            <a:fillRect/>
          </a:stretch>
        </p:blipFill>
        <p:spPr>
          <a:xfrm>
            <a:off x="1400063" y="880522"/>
            <a:ext cx="6757925" cy="5227187"/>
          </a:xfrm>
          <a:prstGeom prst="rect">
            <a:avLst/>
          </a:prstGeom>
        </p:spPr>
      </p:pic>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Relativistic Variational Quantum Circuit (RVQC)</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13</a:t>
            </a:fld>
            <a:endParaRPr lang="de-AT"/>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BD9AFF3-DA89-0538-EF21-2937997AB388}"/>
                  </a:ext>
                </a:extLst>
              </p:cNvPr>
              <p:cNvSpPr txBox="1"/>
              <p:nvPr/>
            </p:nvSpPr>
            <p:spPr>
              <a:xfrm>
                <a:off x="8385700" y="1758281"/>
                <a:ext cx="3532096" cy="3157980"/>
              </a:xfrm>
              <a:prstGeom prst="rect">
                <a:avLst/>
              </a:prstGeom>
              <a:noFill/>
            </p:spPr>
            <p:txBody>
              <a:bodyPr wrap="square" rtlCol="0">
                <a:spAutoFit/>
              </a:bodyPr>
              <a:lstStyle/>
              <a:p>
                <a:pPr marL="342900" indent="-342900">
                  <a:buFont typeface="+mj-lt"/>
                  <a:buAutoNum type="arabicPeriod"/>
                </a:pPr>
                <a:r>
                  <a:rPr lang="en-CA" sz="2000" dirty="0"/>
                  <a:t>Apply single qubit rotations </a:t>
                </a:r>
                <a14:m>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𝑖</m:t>
                            </m:r>
                          </m:sub>
                        </m:sSub>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e>
                    </m:d>
                  </m:oMath>
                </a14:m>
                <a:r>
                  <a:rPr lang="en-CA" sz="2000" dirty="0"/>
                  <a:t> to each UDW qubit</a:t>
                </a:r>
                <a:br>
                  <a:rPr lang="en-CA" dirty="0"/>
                </a:br>
                <a:endParaRPr lang="en-CA" dirty="0"/>
              </a:p>
              <a:p>
                <a:pPr marL="342900" indent="-342900">
                  <a:buFont typeface="+mj-lt"/>
                  <a:buAutoNum type="arabicPeriod"/>
                </a:pPr>
                <a:r>
                  <a:rPr lang="en-CA" sz="2000" dirty="0"/>
                  <a:t>Couple all UDW qubits to field and entangle them through channel </a:t>
                </a:r>
                <a14:m>
                  <m:oMath xmlns:m="http://schemas.openxmlformats.org/officeDocument/2006/math">
                    <m:r>
                      <a:rPr lang="en-CA" sz="2000" i="1" smtClean="0">
                        <a:latin typeface="Cambria Math" panose="02040503050406030204" pitchFamily="18" charset="0"/>
                        <a:ea typeface="Cambria Math" panose="02040503050406030204" pitchFamily="18" charset="0"/>
                      </a:rPr>
                      <m:t>ℇ</m:t>
                    </m:r>
                  </m:oMath>
                </a14:m>
                <a:br>
                  <a:rPr lang="en-CA" dirty="0"/>
                </a:br>
                <a:endParaRPr lang="en-CA" dirty="0"/>
              </a:p>
              <a:p>
                <a:pPr marL="342900" indent="-342900">
                  <a:buFont typeface="+mj-lt"/>
                  <a:buAutoNum type="arabicPeriod"/>
                </a:pPr>
                <a:r>
                  <a:rPr lang="en-CA" sz="2000" dirty="0"/>
                  <a:t>Repeat steps 1 and 2 </a:t>
                </a:r>
                <a14:m>
                  <m:oMath xmlns:m="http://schemas.openxmlformats.org/officeDocument/2006/math">
                    <m:r>
                      <a:rPr lang="en-US" sz="2000" b="0" i="1" smtClean="0">
                        <a:latin typeface="Cambria Math" panose="02040503050406030204" pitchFamily="18" charset="0"/>
                      </a:rPr>
                      <m:t>𝐷</m:t>
                    </m:r>
                  </m:oMath>
                </a14:m>
                <a:r>
                  <a:rPr lang="en-CA" sz="2000" dirty="0"/>
                  <a:t> times, then measure output with respect to </a:t>
                </a:r>
                <a14:m>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𝑂</m:t>
                        </m:r>
                      </m:e>
                    </m:acc>
                  </m:oMath>
                </a14:m>
                <a:r>
                  <a:rPr lang="en-CA" sz="2000" dirty="0"/>
                  <a:t>:</a:t>
                </a:r>
              </a:p>
            </p:txBody>
          </p:sp>
        </mc:Choice>
        <mc:Fallback xmlns="">
          <p:sp>
            <p:nvSpPr>
              <p:cNvPr id="15" name="TextBox 14">
                <a:extLst>
                  <a:ext uri="{FF2B5EF4-FFF2-40B4-BE49-F238E27FC236}">
                    <a16:creationId xmlns:a16="http://schemas.microsoft.com/office/drawing/2014/main" id="{FBD9AFF3-DA89-0538-EF21-2937997AB388}"/>
                  </a:ext>
                </a:extLst>
              </p:cNvPr>
              <p:cNvSpPr txBox="1">
                <a:spLocks noRot="1" noChangeAspect="1" noMove="1" noResize="1" noEditPoints="1" noAdjustHandles="1" noChangeArrowheads="1" noChangeShapeType="1" noTextEdit="1"/>
              </p:cNvSpPr>
              <p:nvPr/>
            </p:nvSpPr>
            <p:spPr>
              <a:xfrm>
                <a:off x="8385700" y="1758281"/>
                <a:ext cx="3532096" cy="3157980"/>
              </a:xfrm>
              <a:prstGeom prst="rect">
                <a:avLst/>
              </a:prstGeom>
              <a:blipFill>
                <a:blip r:embed="rId5"/>
                <a:stretch>
                  <a:fillRect l="-1792" t="-1205" b="-281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C060752-5FCB-4394-60AF-6C10014E417E}"/>
                  </a:ext>
                </a:extLst>
              </p:cNvPr>
              <p:cNvSpPr txBox="1"/>
              <p:nvPr/>
            </p:nvSpPr>
            <p:spPr>
              <a:xfrm>
                <a:off x="8518095" y="5015553"/>
                <a:ext cx="3208186" cy="3474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1" i="1" smtClean="0">
                              <a:latin typeface="Cambria Math" panose="02040503050406030204" pitchFamily="18" charset="0"/>
                            </a:rPr>
                            <m:t>𝜽</m:t>
                          </m:r>
                        </m:sub>
                      </m:sSub>
                      <m:d>
                        <m:dPr>
                          <m:ctrlPr>
                            <a:rPr lang="en-US" sz="2000" b="1" i="1" smtClean="0">
                              <a:latin typeface="Cambria Math" panose="02040503050406030204" pitchFamily="18" charset="0"/>
                            </a:rPr>
                          </m:ctrlPr>
                        </m:dPr>
                        <m:e>
                          <m:acc>
                            <m:accPr>
                              <m:chr m:val="̂"/>
                              <m:ctrlPr>
                                <a:rPr lang="en-US" sz="2000" b="1" i="1" smtClean="0">
                                  <a:latin typeface="Cambria Math" panose="02040503050406030204" pitchFamily="18" charset="0"/>
                                </a:rPr>
                              </m:ctrlPr>
                            </m:accPr>
                            <m:e>
                              <m:r>
                                <a:rPr lang="en-US" sz="2000" b="0" i="1" smtClean="0">
                                  <a:latin typeface="Cambria Math" panose="02040503050406030204" pitchFamily="18" charset="0"/>
                                </a:rPr>
                                <m:t>𝑂</m:t>
                              </m:r>
                            </m:e>
                          </m:acc>
                        </m:e>
                      </m:d>
                      <m:r>
                        <a:rPr lang="en-US" sz="2000" b="1" i="1" smtClean="0">
                          <a:latin typeface="Cambria Math" panose="02040503050406030204" pitchFamily="18" charset="0"/>
                        </a:rPr>
                        <m:t>=</m:t>
                      </m:r>
                      <m:r>
                        <a:rPr lang="en-US" sz="2000" b="0" i="1" smtClean="0">
                          <a:latin typeface="Cambria Math" panose="02040503050406030204" pitchFamily="18" charset="0"/>
                        </a:rPr>
                        <m:t>𝑇𝑟</m:t>
                      </m:r>
                      <m:d>
                        <m:dPr>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𝑂</m:t>
                              </m:r>
                            </m:e>
                          </m:acc>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d>
                            <m:dPr>
                              <m:ctrlPr>
                                <a:rPr lang="en-US" sz="2000" b="0" i="1" smtClean="0">
                                  <a:latin typeface="Cambria Math" panose="02040503050406030204" pitchFamily="18" charset="0"/>
                                </a:rPr>
                              </m:ctrlPr>
                            </m:dPr>
                            <m:e>
                              <m:r>
                                <a:rPr lang="en-US" sz="2000" b="1" i="1" smtClean="0">
                                  <a:latin typeface="Cambria Math" panose="02040503050406030204" pitchFamily="18" charset="0"/>
                                </a:rPr>
                                <m:t>𝜽</m:t>
                              </m:r>
                            </m:e>
                          </m:d>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𝜌</m:t>
                                  </m:r>
                                </m:e>
                              </m:acc>
                            </m:e>
                            <m:sub>
                              <m:r>
                                <a:rPr lang="en-US" sz="2000" b="0" i="1" smtClean="0">
                                  <a:latin typeface="Cambria Math" panose="02040503050406030204" pitchFamily="18" charset="0"/>
                                </a:rPr>
                                <m:t>0</m:t>
                              </m:r>
                            </m:sub>
                          </m:sSub>
                          <m:sSup>
                            <m:sSupPr>
                              <m:ctrlPr>
                                <a:rPr lang="en-US" sz="2000" b="1" i="1" smtClean="0">
                                  <a:latin typeface="Cambria Math" panose="02040503050406030204" pitchFamily="18" charset="0"/>
                                </a:rPr>
                              </m:ctrlPr>
                            </m:sSup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𝑈</m:t>
                                  </m:r>
                                </m:e>
                              </m:acc>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rPr>
                            <m:t>(</m:t>
                          </m:r>
                          <m:r>
                            <a:rPr lang="en-US" sz="2000" b="1" i="1" smtClean="0">
                              <a:latin typeface="Cambria Math" panose="02040503050406030204" pitchFamily="18" charset="0"/>
                            </a:rPr>
                            <m:t>𝜽</m:t>
                          </m:r>
                          <m:r>
                            <a:rPr lang="en-US" sz="2000" b="0" i="1" smtClean="0">
                              <a:latin typeface="Cambria Math" panose="02040503050406030204" pitchFamily="18" charset="0"/>
                            </a:rPr>
                            <m:t>)</m:t>
                          </m:r>
                        </m:e>
                      </m:d>
                    </m:oMath>
                  </m:oMathPara>
                </a14:m>
                <a:endParaRPr lang="en-CA" b="1" dirty="0"/>
              </a:p>
            </p:txBody>
          </p:sp>
        </mc:Choice>
        <mc:Fallback xmlns="">
          <p:sp>
            <p:nvSpPr>
              <p:cNvPr id="19" name="TextBox 18">
                <a:extLst>
                  <a:ext uri="{FF2B5EF4-FFF2-40B4-BE49-F238E27FC236}">
                    <a16:creationId xmlns:a16="http://schemas.microsoft.com/office/drawing/2014/main" id="{CC060752-5FCB-4394-60AF-6C10014E417E}"/>
                  </a:ext>
                </a:extLst>
              </p:cNvPr>
              <p:cNvSpPr txBox="1">
                <a:spLocks noRot="1" noChangeAspect="1" noMove="1" noResize="1" noEditPoints="1" noAdjustHandles="1" noChangeArrowheads="1" noChangeShapeType="1" noTextEdit="1"/>
              </p:cNvSpPr>
              <p:nvPr/>
            </p:nvSpPr>
            <p:spPr>
              <a:xfrm>
                <a:off x="8518095" y="5015553"/>
                <a:ext cx="3208186" cy="347403"/>
              </a:xfrm>
              <a:prstGeom prst="rect">
                <a:avLst/>
              </a:prstGeom>
              <a:blipFill>
                <a:blip r:embed="rId6"/>
                <a:stretch>
                  <a:fillRect l="-2362" t="-14286" b="-25000"/>
                </a:stretch>
              </a:blipFill>
            </p:spPr>
            <p:txBody>
              <a:bodyPr/>
              <a:lstStyle/>
              <a:p>
                <a:r>
                  <a:rPr lang="en-CA">
                    <a:noFill/>
                  </a:rPr>
                  <a:t> </a:t>
                </a:r>
              </a:p>
            </p:txBody>
          </p:sp>
        </mc:Fallback>
      </mc:AlternateContent>
      <p:sp>
        <p:nvSpPr>
          <p:cNvPr id="4" name="TextBox 3">
            <a:extLst>
              <a:ext uri="{FF2B5EF4-FFF2-40B4-BE49-F238E27FC236}">
                <a16:creationId xmlns:a16="http://schemas.microsoft.com/office/drawing/2014/main" id="{75402227-5288-3241-E276-48544D27192E}"/>
              </a:ext>
            </a:extLst>
          </p:cNvPr>
          <p:cNvSpPr txBox="1"/>
          <p:nvPr/>
        </p:nvSpPr>
        <p:spPr>
          <a:xfrm>
            <a:off x="5057645" y="4697999"/>
            <a:ext cx="1927117" cy="400110"/>
          </a:xfrm>
          <a:prstGeom prst="rect">
            <a:avLst/>
          </a:prstGeom>
          <a:noFill/>
        </p:spPr>
        <p:txBody>
          <a:bodyPr wrap="square" rtlCol="0">
            <a:spAutoFit/>
          </a:bodyPr>
          <a:lstStyle/>
          <a:p>
            <a:r>
              <a:rPr lang="en-CA" sz="2000" dirty="0">
                <a:solidFill>
                  <a:srgbClr val="FF0000"/>
                </a:solidFill>
              </a:rPr>
              <a:t>Field state</a:t>
            </a:r>
          </a:p>
        </p:txBody>
      </p:sp>
      <p:sp>
        <p:nvSpPr>
          <p:cNvPr id="8" name="TextBox 7">
            <a:extLst>
              <a:ext uri="{FF2B5EF4-FFF2-40B4-BE49-F238E27FC236}">
                <a16:creationId xmlns:a16="http://schemas.microsoft.com/office/drawing/2014/main" id="{521632FA-C040-A6FC-0ECB-0AEEBDF0E4EA}"/>
              </a:ext>
            </a:extLst>
          </p:cNvPr>
          <p:cNvSpPr txBox="1"/>
          <p:nvPr/>
        </p:nvSpPr>
        <p:spPr>
          <a:xfrm>
            <a:off x="192212" y="5572731"/>
            <a:ext cx="1809667" cy="400110"/>
          </a:xfrm>
          <a:prstGeom prst="rect">
            <a:avLst/>
          </a:prstGeom>
          <a:noFill/>
        </p:spPr>
        <p:txBody>
          <a:bodyPr wrap="square" rtlCol="0">
            <a:spAutoFit/>
          </a:bodyPr>
          <a:lstStyle/>
          <a:p>
            <a:r>
              <a:rPr lang="en-CA" sz="2000" dirty="0"/>
              <a:t>worldlines</a:t>
            </a:r>
          </a:p>
        </p:txBody>
      </p:sp>
      <p:sp>
        <p:nvSpPr>
          <p:cNvPr id="9" name="Left Brace 8">
            <a:extLst>
              <a:ext uri="{FF2B5EF4-FFF2-40B4-BE49-F238E27FC236}">
                <a16:creationId xmlns:a16="http://schemas.microsoft.com/office/drawing/2014/main" id="{A36DECD5-61A8-D98D-F10E-F424A964AD13}"/>
              </a:ext>
            </a:extLst>
          </p:cNvPr>
          <p:cNvSpPr/>
          <p:nvPr/>
        </p:nvSpPr>
        <p:spPr>
          <a:xfrm rot="17564063">
            <a:off x="2333978" y="4776416"/>
            <a:ext cx="166798" cy="1866118"/>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sz="2600">
              <a:latin typeface="+mj-lt"/>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76B325C-1BB2-0535-F163-579CE7FCFCA9}"/>
                  </a:ext>
                </a:extLst>
              </p:cNvPr>
              <p:cNvSpPr txBox="1"/>
              <p:nvPr/>
            </p:nvSpPr>
            <p:spPr>
              <a:xfrm>
                <a:off x="1360515" y="5559456"/>
                <a:ext cx="911316" cy="4361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r>
                        <a:rPr lang="en-CA" sz="2000" i="1" dirty="0">
                          <a:latin typeface="Cambria Math" panose="02040503050406030204" pitchFamily="18" charset="0"/>
                        </a:rPr>
                        <m:t>(</m:t>
                      </m:r>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r>
                        <a:rPr lang="en-CA" sz="2000" i="1" dirty="0">
                          <a:latin typeface="Cambria Math" panose="02040503050406030204" pitchFamily="18" charset="0"/>
                        </a:rPr>
                        <m:t>) </m:t>
                      </m:r>
                    </m:oMath>
                  </m:oMathPara>
                </a14:m>
                <a:endParaRPr lang="en-CA" sz="2000" dirty="0">
                  <a:latin typeface="+mj-lt"/>
                </a:endParaRPr>
              </a:p>
            </p:txBody>
          </p:sp>
        </mc:Choice>
        <mc:Fallback xmlns="">
          <p:sp>
            <p:nvSpPr>
              <p:cNvPr id="16" name="TextBox 15">
                <a:extLst>
                  <a:ext uri="{FF2B5EF4-FFF2-40B4-BE49-F238E27FC236}">
                    <a16:creationId xmlns:a16="http://schemas.microsoft.com/office/drawing/2014/main" id="{376B325C-1BB2-0535-F163-579CE7FCFCA9}"/>
                  </a:ext>
                </a:extLst>
              </p:cNvPr>
              <p:cNvSpPr txBox="1">
                <a:spLocks noRot="1" noChangeAspect="1" noMove="1" noResize="1" noEditPoints="1" noAdjustHandles="1" noChangeArrowheads="1" noChangeShapeType="1" noTextEdit="1"/>
              </p:cNvSpPr>
              <p:nvPr/>
            </p:nvSpPr>
            <p:spPr>
              <a:xfrm>
                <a:off x="1360515" y="5559456"/>
                <a:ext cx="911316" cy="436145"/>
              </a:xfrm>
              <a:prstGeom prst="rect">
                <a:avLst/>
              </a:prstGeom>
              <a:blipFill>
                <a:blip r:embed="rId8"/>
                <a:stretch>
                  <a:fillRect r="-4110" b="-1111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5AEA314-FAC8-9A45-F483-4847CCA11697}"/>
                  </a:ext>
                </a:extLst>
              </p:cNvPr>
              <p:cNvSpPr txBox="1"/>
              <p:nvPr/>
            </p:nvSpPr>
            <p:spPr>
              <a:xfrm>
                <a:off x="392590" y="3868360"/>
                <a:ext cx="16498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latin typeface="+mj-lt"/>
                </a:endParaRPr>
              </a:p>
            </p:txBody>
          </p:sp>
        </mc:Choice>
        <mc:Fallback xmlns="">
          <p:sp>
            <p:nvSpPr>
              <p:cNvPr id="17" name="TextBox 16">
                <a:extLst>
                  <a:ext uri="{FF2B5EF4-FFF2-40B4-BE49-F238E27FC236}">
                    <a16:creationId xmlns:a16="http://schemas.microsoft.com/office/drawing/2014/main" id="{05AEA314-FAC8-9A45-F483-4847CCA11697}"/>
                  </a:ext>
                </a:extLst>
              </p:cNvPr>
              <p:cNvSpPr txBox="1">
                <a:spLocks noRot="1" noChangeAspect="1" noMove="1" noResize="1" noEditPoints="1" noAdjustHandles="1" noChangeArrowheads="1" noChangeShapeType="1" noTextEdit="1"/>
              </p:cNvSpPr>
              <p:nvPr/>
            </p:nvSpPr>
            <p:spPr>
              <a:xfrm>
                <a:off x="392590" y="3868360"/>
                <a:ext cx="164981" cy="307777"/>
              </a:xfrm>
              <a:prstGeom prst="rect">
                <a:avLst/>
              </a:prstGeom>
              <a:blipFill>
                <a:blip r:embed="rId9"/>
                <a:stretch>
                  <a:fillRect l="-28571" r="-28571" b="-4000"/>
                </a:stretch>
              </a:blipFill>
            </p:spPr>
            <p:txBody>
              <a:bodyPr/>
              <a:lstStyle/>
              <a:p>
                <a:r>
                  <a:rPr lang="en-CA">
                    <a:noFill/>
                  </a:rPr>
                  <a:t> </a:t>
                </a:r>
              </a:p>
            </p:txBody>
          </p:sp>
        </mc:Fallback>
      </mc:AlternateContent>
      <p:cxnSp>
        <p:nvCxnSpPr>
          <p:cNvPr id="18" name="Straight Arrow Connector 17">
            <a:extLst>
              <a:ext uri="{FF2B5EF4-FFF2-40B4-BE49-F238E27FC236}">
                <a16:creationId xmlns:a16="http://schemas.microsoft.com/office/drawing/2014/main" id="{C0545CDE-4626-FD56-7EC5-5F98747016CA}"/>
              </a:ext>
            </a:extLst>
          </p:cNvPr>
          <p:cNvCxnSpPr/>
          <p:nvPr/>
        </p:nvCxnSpPr>
        <p:spPr>
          <a:xfrm flipV="1">
            <a:off x="615384" y="3638201"/>
            <a:ext cx="0" cy="768096"/>
          </a:xfrm>
          <a:prstGeom prst="straightConnector1">
            <a:avLst/>
          </a:prstGeom>
          <a:ln w="25400">
            <a:tailEnd type="triangle" w="lg"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27C5B93-3578-D976-28FA-92F414A1F738}"/>
                  </a:ext>
                </a:extLst>
              </p:cNvPr>
              <p:cNvSpPr txBox="1"/>
              <p:nvPr/>
            </p:nvSpPr>
            <p:spPr>
              <a:xfrm>
                <a:off x="898147" y="4015696"/>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sz="2000" dirty="0">
                  <a:latin typeface="+mj-lt"/>
                </a:endParaRPr>
              </a:p>
            </p:txBody>
          </p:sp>
        </mc:Choice>
        <mc:Fallback xmlns="">
          <p:sp>
            <p:nvSpPr>
              <p:cNvPr id="20" name="TextBox 19">
                <a:extLst>
                  <a:ext uri="{FF2B5EF4-FFF2-40B4-BE49-F238E27FC236}">
                    <a16:creationId xmlns:a16="http://schemas.microsoft.com/office/drawing/2014/main" id="{927C5B93-3578-D976-28FA-92F414A1F738}"/>
                  </a:ext>
                </a:extLst>
              </p:cNvPr>
              <p:cNvSpPr txBox="1">
                <a:spLocks noRot="1" noChangeAspect="1" noMove="1" noResize="1" noEditPoints="1" noAdjustHandles="1" noChangeArrowheads="1" noChangeShapeType="1" noTextEdit="1"/>
              </p:cNvSpPr>
              <p:nvPr/>
            </p:nvSpPr>
            <p:spPr>
              <a:xfrm>
                <a:off x="898147" y="4015696"/>
                <a:ext cx="201722" cy="307777"/>
              </a:xfrm>
              <a:prstGeom prst="rect">
                <a:avLst/>
              </a:prstGeom>
              <a:blipFill>
                <a:blip r:embed="rId10"/>
                <a:stretch>
                  <a:fillRect l="-17647" r="-11765"/>
                </a:stretch>
              </a:blipFill>
            </p:spPr>
            <p:txBody>
              <a:bodyPr/>
              <a:lstStyle/>
              <a:p>
                <a:r>
                  <a:rPr lang="en-CA">
                    <a:noFill/>
                  </a:rPr>
                  <a:t> </a:t>
                </a:r>
              </a:p>
            </p:txBody>
          </p:sp>
        </mc:Fallback>
      </mc:AlternateContent>
      <p:cxnSp>
        <p:nvCxnSpPr>
          <p:cNvPr id="23" name="Straight Arrow Connector 22">
            <a:extLst>
              <a:ext uri="{FF2B5EF4-FFF2-40B4-BE49-F238E27FC236}">
                <a16:creationId xmlns:a16="http://schemas.microsoft.com/office/drawing/2014/main" id="{B49DF307-06B4-C3C3-C243-F9324B45B804}"/>
              </a:ext>
            </a:extLst>
          </p:cNvPr>
          <p:cNvCxnSpPr>
            <a:cxnSpLocks/>
          </p:cNvCxnSpPr>
          <p:nvPr/>
        </p:nvCxnSpPr>
        <p:spPr>
          <a:xfrm flipV="1">
            <a:off x="623943" y="3789839"/>
            <a:ext cx="548408" cy="605656"/>
          </a:xfrm>
          <a:prstGeom prst="straightConnector1">
            <a:avLst/>
          </a:prstGeom>
          <a:ln w="25400">
            <a:tailEnd type="triangle" w="lg" len="med"/>
          </a:ln>
        </p:spPr>
        <p:style>
          <a:lnRef idx="1">
            <a:schemeClr val="dk1"/>
          </a:lnRef>
          <a:fillRef idx="0">
            <a:schemeClr val="dk1"/>
          </a:fillRef>
          <a:effectRef idx="0">
            <a:schemeClr val="dk1"/>
          </a:effectRef>
          <a:fontRef idx="minor">
            <a:schemeClr val="tx1"/>
          </a:fontRef>
        </p:style>
      </p:cxnSp>
      <p:sp>
        <p:nvSpPr>
          <p:cNvPr id="25" name="Connector 24">
            <a:extLst>
              <a:ext uri="{FF2B5EF4-FFF2-40B4-BE49-F238E27FC236}">
                <a16:creationId xmlns:a16="http://schemas.microsoft.com/office/drawing/2014/main" id="{EFECD022-E541-1F5A-8283-06837DFF3C9A}"/>
              </a:ext>
            </a:extLst>
          </p:cNvPr>
          <p:cNvSpPr/>
          <p:nvPr/>
        </p:nvSpPr>
        <p:spPr>
          <a:xfrm>
            <a:off x="1400063" y="1719854"/>
            <a:ext cx="2981904" cy="1930820"/>
          </a:xfrm>
          <a:prstGeom prst="flowChartConnector">
            <a:avLst/>
          </a:prstGeom>
          <a:noFill/>
          <a:ln w="31750">
            <a:prstDash val="dash"/>
          </a:ln>
          <a:scene3d>
            <a:camera prst="orthographicFront">
              <a:rot lat="19210946" lon="21349022" rev="39093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600" dirty="0">
              <a:latin typeface="+mj-lt"/>
            </a:endParaRPr>
          </a:p>
        </p:txBody>
      </p:sp>
      <p:sp>
        <p:nvSpPr>
          <p:cNvPr id="27" name="Connector 26">
            <a:extLst>
              <a:ext uri="{FF2B5EF4-FFF2-40B4-BE49-F238E27FC236}">
                <a16:creationId xmlns:a16="http://schemas.microsoft.com/office/drawing/2014/main" id="{023590DD-D789-3A57-72E9-35A6F76B3D9F}"/>
              </a:ext>
            </a:extLst>
          </p:cNvPr>
          <p:cNvSpPr/>
          <p:nvPr/>
        </p:nvSpPr>
        <p:spPr>
          <a:xfrm>
            <a:off x="5596755" y="4196567"/>
            <a:ext cx="424449" cy="333958"/>
          </a:xfrm>
          <a:prstGeom prst="flowChartConnector">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600">
              <a:latin typeface="+mj-lt"/>
            </a:endParaRPr>
          </a:p>
        </p:txBody>
      </p:sp>
      <p:sp>
        <p:nvSpPr>
          <p:cNvPr id="28" name="TextBox 27">
            <a:extLst>
              <a:ext uri="{FF2B5EF4-FFF2-40B4-BE49-F238E27FC236}">
                <a16:creationId xmlns:a16="http://schemas.microsoft.com/office/drawing/2014/main" id="{B11FCF47-7EE3-178D-7A4F-B34966A64598}"/>
              </a:ext>
            </a:extLst>
          </p:cNvPr>
          <p:cNvSpPr txBox="1"/>
          <p:nvPr/>
        </p:nvSpPr>
        <p:spPr>
          <a:xfrm>
            <a:off x="232620" y="1461160"/>
            <a:ext cx="2039211" cy="1015663"/>
          </a:xfrm>
          <a:prstGeom prst="rect">
            <a:avLst/>
          </a:prstGeom>
          <a:noFill/>
        </p:spPr>
        <p:txBody>
          <a:bodyPr wrap="square" rtlCol="0">
            <a:spAutoFit/>
          </a:bodyPr>
          <a:lstStyle/>
          <a:p>
            <a:r>
              <a:rPr lang="en-CA" sz="2000" dirty="0"/>
              <a:t>System-field interaction regions</a:t>
            </a:r>
          </a:p>
        </p:txBody>
      </p:sp>
    </p:spTree>
    <p:custDataLst>
      <p:tags r:id="rId1"/>
    </p:custDataLst>
    <p:extLst>
      <p:ext uri="{BB962C8B-B14F-4D97-AF65-F5344CB8AC3E}">
        <p14:creationId xmlns:p14="http://schemas.microsoft.com/office/powerpoint/2010/main" val="2754164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RVQC</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14</a:t>
            </a:fld>
            <a:endParaRPr lang="de-AT"/>
          </a:p>
        </p:txBody>
      </p:sp>
      <p:sp>
        <p:nvSpPr>
          <p:cNvPr id="10" name="TextBox 9">
            <a:extLst>
              <a:ext uri="{FF2B5EF4-FFF2-40B4-BE49-F238E27FC236}">
                <a16:creationId xmlns:a16="http://schemas.microsoft.com/office/drawing/2014/main" id="{6452846F-E66E-E1EF-9859-51005FF25648}"/>
              </a:ext>
            </a:extLst>
          </p:cNvPr>
          <p:cNvSpPr txBox="1"/>
          <p:nvPr/>
        </p:nvSpPr>
        <p:spPr>
          <a:xfrm>
            <a:off x="7536060" y="1177788"/>
            <a:ext cx="3960540" cy="707886"/>
          </a:xfrm>
          <a:prstGeom prst="rect">
            <a:avLst/>
          </a:prstGeom>
          <a:noFill/>
        </p:spPr>
        <p:txBody>
          <a:bodyPr wrap="square">
            <a:spAutoFit/>
          </a:bodyPr>
          <a:lstStyle/>
          <a:p>
            <a:r>
              <a:rPr lang="en-CA" sz="2000" dirty="0"/>
              <a:t>Key distinctions between typical non-relativistic setups and ours:</a:t>
            </a:r>
          </a:p>
        </p:txBody>
      </p:sp>
      <p:sp>
        <p:nvSpPr>
          <p:cNvPr id="12" name="TextBox 11">
            <a:extLst>
              <a:ext uri="{FF2B5EF4-FFF2-40B4-BE49-F238E27FC236}">
                <a16:creationId xmlns:a16="http://schemas.microsoft.com/office/drawing/2014/main" id="{1F6EC534-1776-FEBA-397B-0540F9D51382}"/>
              </a:ext>
            </a:extLst>
          </p:cNvPr>
          <p:cNvSpPr txBox="1"/>
          <p:nvPr/>
        </p:nvSpPr>
        <p:spPr>
          <a:xfrm>
            <a:off x="7536060" y="2114015"/>
            <a:ext cx="4577680" cy="3785652"/>
          </a:xfrm>
          <a:prstGeom prst="rect">
            <a:avLst/>
          </a:prstGeom>
          <a:noFill/>
        </p:spPr>
        <p:txBody>
          <a:bodyPr wrap="square">
            <a:spAutoFit/>
          </a:bodyPr>
          <a:lstStyle/>
          <a:p>
            <a:pPr marL="342900" indent="-342900">
              <a:buFont typeface="+mj-lt"/>
              <a:buAutoNum type="arabicPeriod"/>
            </a:pPr>
            <a:r>
              <a:rPr lang="en-CA" sz="2000" dirty="0"/>
              <a:t>Trainable parameters explicitly involve spacetime motion of UDW qubits through their proper time during evolution</a:t>
            </a:r>
            <a:br>
              <a:rPr lang="en-CA" sz="2000" dirty="0"/>
            </a:br>
            <a:endParaRPr lang="en-CA" sz="2000" dirty="0"/>
          </a:p>
          <a:p>
            <a:pPr marL="342900" indent="-342900">
              <a:buFont typeface="+mj-lt"/>
              <a:buAutoNum type="arabicPeriod"/>
            </a:pPr>
            <a:r>
              <a:rPr lang="en-CA" sz="2000" dirty="0"/>
              <a:t>Interactions between UDW qubits are entirely mediated through local interactions with quantum field</a:t>
            </a:r>
            <a:br>
              <a:rPr lang="en-CA" sz="2000" dirty="0"/>
            </a:br>
            <a:r>
              <a:rPr lang="en-CA" sz="2000" dirty="0"/>
              <a:t> </a:t>
            </a:r>
          </a:p>
          <a:p>
            <a:pPr marL="342900" indent="-342900">
              <a:buFont typeface="+mj-lt"/>
              <a:buAutoNum type="arabicPeriod"/>
            </a:pPr>
            <a:r>
              <a:rPr lang="en-CA" sz="2000" dirty="0"/>
              <a:t>Presence of noise terms from entanglement between UDW qubits and quantum field</a:t>
            </a:r>
          </a:p>
        </p:txBody>
      </p:sp>
      <p:pic>
        <p:nvPicPr>
          <p:cNvPr id="4" name="Picture 3">
            <a:extLst>
              <a:ext uri="{FF2B5EF4-FFF2-40B4-BE49-F238E27FC236}">
                <a16:creationId xmlns:a16="http://schemas.microsoft.com/office/drawing/2014/main" id="{F912E424-A311-7BDA-A0A4-816A15FA09E9}"/>
              </a:ext>
            </a:extLst>
          </p:cNvPr>
          <p:cNvPicPr>
            <a:picLocks noChangeAspect="1"/>
          </p:cNvPicPr>
          <p:nvPr/>
        </p:nvPicPr>
        <p:blipFill>
          <a:blip r:embed="rId4"/>
          <a:stretch>
            <a:fillRect/>
          </a:stretch>
        </p:blipFill>
        <p:spPr>
          <a:xfrm>
            <a:off x="203351" y="900821"/>
            <a:ext cx="6757925" cy="5227187"/>
          </a:xfrm>
          <a:prstGeom prst="rect">
            <a:avLst/>
          </a:prstGeom>
        </p:spPr>
      </p:pic>
    </p:spTree>
    <p:custDataLst>
      <p:tags r:id="rId1"/>
    </p:custDataLst>
    <p:extLst>
      <p:ext uri="{BB962C8B-B14F-4D97-AF65-F5344CB8AC3E}">
        <p14:creationId xmlns:p14="http://schemas.microsoft.com/office/powerpoint/2010/main" val="196632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Universality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15</a:t>
            </a:fld>
            <a:endParaRPr lang="de-AT"/>
          </a:p>
        </p:txBody>
      </p:sp>
      <p:sp>
        <p:nvSpPr>
          <p:cNvPr id="9" name="TextBox 8">
            <a:extLst>
              <a:ext uri="{FF2B5EF4-FFF2-40B4-BE49-F238E27FC236}">
                <a16:creationId xmlns:a16="http://schemas.microsoft.com/office/drawing/2014/main" id="{B21A078F-30FE-E24B-E3B5-51B168C607B9}"/>
              </a:ext>
            </a:extLst>
          </p:cNvPr>
          <p:cNvSpPr txBox="1"/>
          <p:nvPr/>
        </p:nvSpPr>
        <p:spPr>
          <a:xfrm>
            <a:off x="536438" y="1255560"/>
            <a:ext cx="4302602" cy="461665"/>
          </a:xfrm>
          <a:prstGeom prst="rect">
            <a:avLst/>
          </a:prstGeom>
          <a:noFill/>
        </p:spPr>
        <p:txBody>
          <a:bodyPr wrap="square" rtlCol="0">
            <a:spAutoFit/>
          </a:bodyPr>
          <a:lstStyle/>
          <a:p>
            <a:r>
              <a:rPr lang="en-CA" sz="2400" dirty="0"/>
              <a:t>How do we know it’s universal?</a:t>
            </a:r>
          </a:p>
        </p:txBody>
      </p:sp>
      <p:sp>
        <p:nvSpPr>
          <p:cNvPr id="10" name="Right Arrow 9">
            <a:extLst>
              <a:ext uri="{FF2B5EF4-FFF2-40B4-BE49-F238E27FC236}">
                <a16:creationId xmlns:a16="http://schemas.microsoft.com/office/drawing/2014/main" id="{5A18AA85-6DD0-E3F9-A88C-F22FA8C7AA2C}"/>
              </a:ext>
            </a:extLst>
          </p:cNvPr>
          <p:cNvSpPr/>
          <p:nvPr/>
        </p:nvSpPr>
        <p:spPr>
          <a:xfrm>
            <a:off x="5090603" y="1369920"/>
            <a:ext cx="617931" cy="253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A3876D-D11F-356E-710E-087402BDB2D4}"/>
                  </a:ext>
                </a:extLst>
              </p:cNvPr>
              <p:cNvSpPr txBox="1"/>
              <p:nvPr/>
            </p:nvSpPr>
            <p:spPr>
              <a:xfrm>
                <a:off x="6182022" y="1079005"/>
                <a:ext cx="5770491" cy="755335"/>
              </a:xfrm>
              <a:prstGeom prst="rect">
                <a:avLst/>
              </a:prstGeom>
              <a:noFill/>
            </p:spPr>
            <p:txBody>
              <a:bodyPr wrap="square">
                <a:spAutoFit/>
              </a:bodyPr>
              <a:lstStyle/>
              <a:p>
                <a:r>
                  <a:rPr lang="en-US" sz="2000" b="0" dirty="0"/>
                  <a:t>We have </a:t>
                </a:r>
                <a:r>
                  <a:rPr lang="en-CA" sz="2000" dirty="0"/>
                  <a:t>arbitrary 1-qubit rotations </a:t>
                </a:r>
                <a14:m>
                  <m:oMath xmlns:m="http://schemas.openxmlformats.org/officeDocument/2006/math">
                    <m:sSub>
                      <m:sSubPr>
                        <m:ctrlPr>
                          <a:rPr lang="en-US" sz="2000" i="1">
                            <a:latin typeface="Cambria Math" panose="02040503050406030204" pitchFamily="18" charset="0"/>
                          </a:rPr>
                        </m:ctrlPr>
                      </m:sSubPr>
                      <m:e>
                        <m:acc>
                          <m:accPr>
                            <m:chr m:val="̂"/>
                            <m:ctrlPr>
                              <a:rPr lang="en-CA" sz="2000" i="1">
                                <a:latin typeface="Cambria Math" panose="02040503050406030204" pitchFamily="18" charset="0"/>
                              </a:rPr>
                            </m:ctrlPr>
                          </m:accPr>
                          <m:e>
                            <m:r>
                              <a:rPr lang="en-US" sz="2000" i="1">
                                <a:latin typeface="Cambria Math" panose="02040503050406030204" pitchFamily="18" charset="0"/>
                              </a:rPr>
                              <m:t>𝑈</m:t>
                            </m:r>
                          </m:e>
                        </m:acc>
                      </m:e>
                      <m:sub>
                        <m:r>
                          <a:rPr lang="en-US" sz="2000" i="1">
                            <a:latin typeface="Cambria Math" panose="02040503050406030204" pitchFamily="18" charset="0"/>
                          </a:rPr>
                          <m:t>𝑝𝑎𝑟𝑎</m:t>
                        </m:r>
                      </m:sub>
                    </m:sSub>
                    <m:d>
                      <m:dPr>
                        <m:ctrlPr>
                          <a:rPr lang="en-US" sz="2000" i="1">
                            <a:latin typeface="Cambria Math" panose="02040503050406030204" pitchFamily="18" charset="0"/>
                          </a:rPr>
                        </m:ctrlPr>
                      </m:dPr>
                      <m:e>
                        <m:r>
                          <a:rPr lang="en-US" sz="2000" b="1" i="1">
                            <a:latin typeface="Cambria Math" panose="02040503050406030204" pitchFamily="18" charset="0"/>
                          </a:rPr>
                          <m:t>𝜽</m:t>
                        </m:r>
                      </m:e>
                    </m:d>
                  </m:oMath>
                </a14:m>
                <a:r>
                  <a:rPr lang="en-CA" sz="2000" dirty="0"/>
                  <a:t> and 2-qubit entangling gate </a:t>
                </a:r>
                <a14:m>
                  <m:oMath xmlns:m="http://schemas.openxmlformats.org/officeDocument/2006/math">
                    <m:sSub>
                      <m:sSubPr>
                        <m:ctrlPr>
                          <a:rPr lang="en-US" sz="2000" i="1">
                            <a:latin typeface="Cambria Math" panose="02040503050406030204" pitchFamily="18" charset="0"/>
                          </a:rPr>
                        </m:ctrlPr>
                      </m:sSubPr>
                      <m:e>
                        <m:acc>
                          <m:accPr>
                            <m:chr m:val="̂"/>
                            <m:ctrlPr>
                              <a:rPr lang="en-CA" sz="2000" i="1">
                                <a:latin typeface="Cambria Math" panose="02040503050406030204" pitchFamily="18" charset="0"/>
                              </a:rPr>
                            </m:ctrlPr>
                          </m:accPr>
                          <m:e>
                            <m:r>
                              <a:rPr lang="en-US" sz="2000" i="1">
                                <a:latin typeface="Cambria Math" panose="02040503050406030204" pitchFamily="18" charset="0"/>
                              </a:rPr>
                              <m:t>𝑈</m:t>
                            </m:r>
                          </m:e>
                        </m:acc>
                      </m:e>
                      <m:sub>
                        <m:r>
                          <a:rPr lang="en-US" sz="2000" i="1">
                            <a:latin typeface="Cambria Math" panose="02040503050406030204" pitchFamily="18" charset="0"/>
                          </a:rPr>
                          <m:t>𝑐</m:t>
                        </m:r>
                      </m:sub>
                    </m:sSub>
                  </m:oMath>
                </a14:m>
                <a:r>
                  <a:rPr lang="en-CA" sz="2000" dirty="0"/>
                  <a:t> </a:t>
                </a:r>
              </a:p>
            </p:txBody>
          </p:sp>
        </mc:Choice>
        <mc:Fallback xmlns="">
          <p:sp>
            <p:nvSpPr>
              <p:cNvPr id="12" name="TextBox 11">
                <a:extLst>
                  <a:ext uri="{FF2B5EF4-FFF2-40B4-BE49-F238E27FC236}">
                    <a16:creationId xmlns:a16="http://schemas.microsoft.com/office/drawing/2014/main" id="{7FA3876D-D11F-356E-710E-087402BDB2D4}"/>
                  </a:ext>
                </a:extLst>
              </p:cNvPr>
              <p:cNvSpPr txBox="1">
                <a:spLocks noRot="1" noChangeAspect="1" noMove="1" noResize="1" noEditPoints="1" noAdjustHandles="1" noChangeArrowheads="1" noChangeShapeType="1" noTextEdit="1"/>
              </p:cNvSpPr>
              <p:nvPr/>
            </p:nvSpPr>
            <p:spPr>
              <a:xfrm>
                <a:off x="6182022" y="1079005"/>
                <a:ext cx="5770491" cy="755335"/>
              </a:xfrm>
              <a:prstGeom prst="rect">
                <a:avLst/>
              </a:prstGeom>
              <a:blipFill>
                <a:blip r:embed="rId4"/>
                <a:stretch>
                  <a:fillRect l="-1096" t="-1639" b="-1311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5E396D9-AFC9-8EE6-4A67-996629388161}"/>
                  </a:ext>
                </a:extLst>
              </p:cNvPr>
              <p:cNvSpPr txBox="1"/>
              <p:nvPr/>
            </p:nvSpPr>
            <p:spPr>
              <a:xfrm>
                <a:off x="6178792" y="2340666"/>
                <a:ext cx="6123199" cy="408445"/>
              </a:xfrm>
              <a:prstGeom prst="rect">
                <a:avLst/>
              </a:prstGeom>
              <a:noFill/>
            </p:spPr>
            <p:txBody>
              <a:bodyPr wrap="square">
                <a:spAutoFit/>
              </a:bodyPr>
              <a:lstStyle/>
              <a:p>
                <a14:m>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𝑈</m:t>
                            </m:r>
                          </m:e>
                        </m:acc>
                      </m:e>
                      <m:sub>
                        <m:r>
                          <a:rPr lang="en-US" sz="2000" b="0" i="1" smtClean="0">
                            <a:latin typeface="Cambria Math" panose="02040503050406030204" pitchFamily="18" charset="0"/>
                          </a:rPr>
                          <m:t>𝑐</m:t>
                        </m:r>
                      </m:sub>
                    </m:sSub>
                  </m:oMath>
                </a14:m>
                <a:r>
                  <a:rPr lang="en-CA" sz="2000" dirty="0"/>
                  <a:t> entangles everything: not known to be universal</a:t>
                </a:r>
                <a:endParaRPr lang="en-CA" dirty="0"/>
              </a:p>
            </p:txBody>
          </p:sp>
        </mc:Choice>
        <mc:Fallback xmlns="">
          <p:sp>
            <p:nvSpPr>
              <p:cNvPr id="14" name="TextBox 13">
                <a:extLst>
                  <a:ext uri="{FF2B5EF4-FFF2-40B4-BE49-F238E27FC236}">
                    <a16:creationId xmlns:a16="http://schemas.microsoft.com/office/drawing/2014/main" id="{75E396D9-AFC9-8EE6-4A67-996629388161}"/>
                  </a:ext>
                </a:extLst>
              </p:cNvPr>
              <p:cNvSpPr txBox="1">
                <a:spLocks noRot="1" noChangeAspect="1" noMove="1" noResize="1" noEditPoints="1" noAdjustHandles="1" noChangeArrowheads="1" noChangeShapeType="1" noTextEdit="1"/>
              </p:cNvSpPr>
              <p:nvPr/>
            </p:nvSpPr>
            <p:spPr>
              <a:xfrm>
                <a:off x="6178792" y="2340666"/>
                <a:ext cx="6123199" cy="408445"/>
              </a:xfrm>
              <a:prstGeom prst="rect">
                <a:avLst/>
              </a:prstGeom>
              <a:blipFill>
                <a:blip r:embed="rId5"/>
                <a:stretch>
                  <a:fillRect t="-6061" b="-27273"/>
                </a:stretch>
              </a:blipFill>
            </p:spPr>
            <p:txBody>
              <a:bodyPr/>
              <a:lstStyle/>
              <a:p>
                <a:r>
                  <a:rPr lang="en-CA">
                    <a:noFill/>
                  </a:rPr>
                  <a:t> </a:t>
                </a:r>
              </a:p>
            </p:txBody>
          </p:sp>
        </mc:Fallback>
      </mc:AlternateContent>
      <p:sp>
        <p:nvSpPr>
          <p:cNvPr id="15" name="TextBox 14">
            <a:extLst>
              <a:ext uri="{FF2B5EF4-FFF2-40B4-BE49-F238E27FC236}">
                <a16:creationId xmlns:a16="http://schemas.microsoft.com/office/drawing/2014/main" id="{AE3ADA08-0EF1-8FF5-3AFD-2056E0D60F48}"/>
              </a:ext>
            </a:extLst>
          </p:cNvPr>
          <p:cNvSpPr txBox="1"/>
          <p:nvPr/>
        </p:nvSpPr>
        <p:spPr>
          <a:xfrm>
            <a:off x="8673813" y="1879001"/>
            <a:ext cx="983288" cy="461665"/>
          </a:xfrm>
          <a:prstGeom prst="rect">
            <a:avLst/>
          </a:prstGeom>
          <a:noFill/>
        </p:spPr>
        <p:txBody>
          <a:bodyPr wrap="square" rtlCol="0">
            <a:spAutoFit/>
          </a:bodyPr>
          <a:lstStyle/>
          <a:p>
            <a:r>
              <a:rPr lang="en-CA" sz="2400" dirty="0">
                <a:solidFill>
                  <a:srgbClr val="FF0000"/>
                </a:solidFill>
              </a:rPr>
              <a:t>BUT</a:t>
            </a:r>
          </a:p>
        </p:txBody>
      </p:sp>
      <p:grpSp>
        <p:nvGrpSpPr>
          <p:cNvPr id="54" name="Group 53">
            <a:extLst>
              <a:ext uri="{FF2B5EF4-FFF2-40B4-BE49-F238E27FC236}">
                <a16:creationId xmlns:a16="http://schemas.microsoft.com/office/drawing/2014/main" id="{5511BA0A-476D-CBBB-D620-B8B8EE2DC95E}"/>
              </a:ext>
            </a:extLst>
          </p:cNvPr>
          <p:cNvGrpSpPr/>
          <p:nvPr/>
        </p:nvGrpSpPr>
        <p:grpSpPr>
          <a:xfrm>
            <a:off x="1452448" y="3611755"/>
            <a:ext cx="9786373" cy="1918097"/>
            <a:chOff x="-8951584" y="3977178"/>
            <a:chExt cx="9786373" cy="1918097"/>
          </a:xfrm>
        </p:grpSpPr>
        <p:cxnSp>
          <p:nvCxnSpPr>
            <p:cNvPr id="26" name="Straight Connector 25">
              <a:extLst>
                <a:ext uri="{FF2B5EF4-FFF2-40B4-BE49-F238E27FC236}">
                  <a16:creationId xmlns:a16="http://schemas.microsoft.com/office/drawing/2014/main" id="{291012ED-C94A-A2F6-C985-58267D90C478}"/>
                </a:ext>
              </a:extLst>
            </p:cNvPr>
            <p:cNvCxnSpPr>
              <a:cxnSpLocks/>
            </p:cNvCxnSpPr>
            <p:nvPr/>
          </p:nvCxnSpPr>
          <p:spPr>
            <a:xfrm flipV="1">
              <a:off x="-8216733" y="4236659"/>
              <a:ext cx="5392115" cy="3912"/>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8822F416-2F1D-CADD-44DB-4AB97406472E}"/>
                </a:ext>
              </a:extLst>
            </p:cNvPr>
            <p:cNvCxnSpPr>
              <a:cxnSpLocks/>
            </p:cNvCxnSpPr>
            <p:nvPr/>
          </p:nvCxnSpPr>
          <p:spPr>
            <a:xfrm>
              <a:off x="-8082730" y="4846250"/>
              <a:ext cx="525811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1EFDD3E5-8F1F-90DC-183B-F9E61BF18542}"/>
                </a:ext>
              </a:extLst>
            </p:cNvPr>
            <p:cNvCxnSpPr>
              <a:cxnSpLocks/>
            </p:cNvCxnSpPr>
            <p:nvPr/>
          </p:nvCxnSpPr>
          <p:spPr>
            <a:xfrm>
              <a:off x="-8216969" y="5660673"/>
              <a:ext cx="5392351" cy="0"/>
            </a:xfrm>
            <a:prstGeom prst="line">
              <a:avLst/>
            </a:prstGeom>
            <a:ln w="19050"/>
          </p:spPr>
          <p:style>
            <a:lnRef idx="1">
              <a:schemeClr val="dk1"/>
            </a:lnRef>
            <a:fillRef idx="0">
              <a:schemeClr val="dk1"/>
            </a:fillRef>
            <a:effectRef idx="0">
              <a:schemeClr val="dk1"/>
            </a:effectRef>
            <a:fontRef idx="minor">
              <a:schemeClr val="tx1"/>
            </a:fontRef>
          </p:style>
        </p:cxnSp>
        <p:sp>
          <p:nvSpPr>
            <p:cNvPr id="29" name="Rounded Rectangle 28">
              <a:extLst>
                <a:ext uri="{FF2B5EF4-FFF2-40B4-BE49-F238E27FC236}">
                  <a16:creationId xmlns:a16="http://schemas.microsoft.com/office/drawing/2014/main" id="{387D3D77-E76E-7D8B-EAB3-528979BF5DC4}"/>
                </a:ext>
              </a:extLst>
            </p:cNvPr>
            <p:cNvSpPr/>
            <p:nvPr/>
          </p:nvSpPr>
          <p:spPr>
            <a:xfrm>
              <a:off x="-7362878" y="3985020"/>
              <a:ext cx="656165" cy="186579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p:sp>
          <p:nvSpPr>
            <p:cNvPr id="30" name="Rounded Rectangle 29">
              <a:extLst>
                <a:ext uri="{FF2B5EF4-FFF2-40B4-BE49-F238E27FC236}">
                  <a16:creationId xmlns:a16="http://schemas.microsoft.com/office/drawing/2014/main" id="{CF23580F-3249-A975-5C19-B73E878BC5E3}"/>
                </a:ext>
              </a:extLst>
            </p:cNvPr>
            <p:cNvSpPr/>
            <p:nvPr/>
          </p:nvSpPr>
          <p:spPr>
            <a:xfrm>
              <a:off x="-8038464" y="3987771"/>
              <a:ext cx="552689" cy="5005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B994D93-B264-0977-EBC2-A6AEA2CE011F}"/>
                    </a:ext>
                  </a:extLst>
                </p:cNvPr>
                <p:cNvSpPr txBox="1"/>
                <p:nvPr/>
              </p:nvSpPr>
              <p:spPr>
                <a:xfrm>
                  <a:off x="-7385964" y="4640743"/>
                  <a:ext cx="731319" cy="5468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acc>
                              <m:accPr>
                                <m:chr m:val="̂"/>
                                <m:ctrlPr>
                                  <a:rPr lang="en-CA" sz="2600" i="1" smtClean="0">
                                    <a:latin typeface="Cambria Math" panose="02040503050406030204" pitchFamily="18" charset="0"/>
                                  </a:rPr>
                                </m:ctrlPr>
                              </m:accPr>
                              <m:e>
                                <m:r>
                                  <a:rPr lang="en-US" sz="2600" b="0" i="1" smtClean="0">
                                    <a:latin typeface="Cambria Math" panose="02040503050406030204" pitchFamily="18" charset="0"/>
                                  </a:rPr>
                                  <m:t>𝑈</m:t>
                                </m:r>
                              </m:e>
                            </m:acc>
                          </m:e>
                          <m: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𝐼</m:t>
                                </m:r>
                              </m:e>
                              <m:sub>
                                <m:r>
                                  <a:rPr lang="en-US" sz="2600" b="0" i="1" smtClean="0">
                                    <a:latin typeface="Cambria Math" panose="02040503050406030204" pitchFamily="18" charset="0"/>
                                  </a:rPr>
                                  <m:t>1</m:t>
                                </m:r>
                              </m:sub>
                            </m:sSub>
                          </m:sub>
                        </m:sSub>
                      </m:oMath>
                    </m:oMathPara>
                  </a14:m>
                  <a:endParaRPr lang="en-CA" sz="2600" dirty="0">
                    <a:latin typeface="+mj-lt"/>
                  </a:endParaRPr>
                </a:p>
              </p:txBody>
            </p:sp>
          </mc:Choice>
          <mc:Fallback xmlns="">
            <p:sp>
              <p:nvSpPr>
                <p:cNvPr id="31" name="TextBox 30">
                  <a:extLst>
                    <a:ext uri="{FF2B5EF4-FFF2-40B4-BE49-F238E27FC236}">
                      <a16:creationId xmlns:a16="http://schemas.microsoft.com/office/drawing/2014/main" id="{AB994D93-B264-0977-EBC2-A6AEA2CE011F}"/>
                    </a:ext>
                  </a:extLst>
                </p:cNvPr>
                <p:cNvSpPr txBox="1">
                  <a:spLocks noRot="1" noChangeAspect="1" noMove="1" noResize="1" noEditPoints="1" noAdjustHandles="1" noChangeArrowheads="1" noChangeShapeType="1" noTextEdit="1"/>
                </p:cNvSpPr>
                <p:nvPr/>
              </p:nvSpPr>
              <p:spPr>
                <a:xfrm>
                  <a:off x="-7385964" y="4640743"/>
                  <a:ext cx="731319" cy="546881"/>
                </a:xfrm>
                <a:prstGeom prst="rect">
                  <a:avLst/>
                </a:prstGeom>
                <a:blipFill>
                  <a:blip r:embed="rId7"/>
                  <a:stretch>
                    <a:fillRect t="-6667" b="-22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2D004A0-66E1-7EAF-3AD9-724D6EAA1FAA}"/>
                    </a:ext>
                  </a:extLst>
                </p:cNvPr>
                <p:cNvSpPr txBox="1"/>
                <p:nvPr/>
              </p:nvSpPr>
              <p:spPr>
                <a:xfrm>
                  <a:off x="-8010278" y="3985020"/>
                  <a:ext cx="544025" cy="5032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acc>
                              <m:accPr>
                                <m:chr m:val="̂"/>
                                <m:ctrlPr>
                                  <a:rPr lang="en-CA" sz="2600" i="1" smtClean="0">
                                    <a:latin typeface="Cambria Math" panose="02040503050406030204" pitchFamily="18" charset="0"/>
                                  </a:rPr>
                                </m:ctrlPr>
                              </m:accPr>
                              <m:e>
                                <m:r>
                                  <a:rPr lang="en-US" sz="2600" b="0" i="1" smtClean="0">
                                    <a:latin typeface="Cambria Math" panose="02040503050406030204" pitchFamily="18" charset="0"/>
                                  </a:rPr>
                                  <m:t>𝑋</m:t>
                                </m:r>
                              </m:e>
                            </m:acc>
                          </m:e>
                          <m:sub>
                            <m:r>
                              <a:rPr lang="en-US" sz="2600" b="0" i="1" smtClean="0">
                                <a:latin typeface="Cambria Math" panose="02040503050406030204" pitchFamily="18" charset="0"/>
                              </a:rPr>
                              <m:t>1</m:t>
                            </m:r>
                          </m:sub>
                        </m:sSub>
                      </m:oMath>
                    </m:oMathPara>
                  </a14:m>
                  <a:endParaRPr lang="en-CA" sz="2600" dirty="0">
                    <a:latin typeface="+mj-lt"/>
                  </a:endParaRPr>
                </a:p>
              </p:txBody>
            </p:sp>
          </mc:Choice>
          <mc:Fallback xmlns="">
            <p:sp>
              <p:nvSpPr>
                <p:cNvPr id="32" name="TextBox 31">
                  <a:extLst>
                    <a:ext uri="{FF2B5EF4-FFF2-40B4-BE49-F238E27FC236}">
                      <a16:creationId xmlns:a16="http://schemas.microsoft.com/office/drawing/2014/main" id="{A2D004A0-66E1-7EAF-3AD9-724D6EAA1FAA}"/>
                    </a:ext>
                  </a:extLst>
                </p:cNvPr>
                <p:cNvSpPr txBox="1">
                  <a:spLocks noRot="1" noChangeAspect="1" noMove="1" noResize="1" noEditPoints="1" noAdjustHandles="1" noChangeArrowheads="1" noChangeShapeType="1" noTextEdit="1"/>
                </p:cNvSpPr>
                <p:nvPr/>
              </p:nvSpPr>
              <p:spPr>
                <a:xfrm>
                  <a:off x="-8010278" y="3985020"/>
                  <a:ext cx="544025" cy="503279"/>
                </a:xfrm>
                <a:prstGeom prst="rect">
                  <a:avLst/>
                </a:prstGeom>
                <a:blipFill>
                  <a:blip r:embed="rId8"/>
                  <a:stretch>
                    <a:fillRect l="-2273" t="-12500" b="-25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64A895E-12D9-28AD-7BFD-E1894F20E741}"/>
                    </a:ext>
                  </a:extLst>
                </p:cNvPr>
                <p:cNvSpPr txBox="1"/>
                <p:nvPr/>
              </p:nvSpPr>
              <p:spPr>
                <a:xfrm>
                  <a:off x="-8951582" y="4030676"/>
                  <a:ext cx="594861"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d>
                              <m:dPr>
                                <m:begChr m:val="|"/>
                                <m:endChr m:val="⟩"/>
                                <m:ctrlPr>
                                  <a:rPr lang="en-US" sz="2600" b="0" i="1" smtClean="0">
                                    <a:latin typeface="Cambria Math" panose="02040503050406030204" pitchFamily="18" charset="0"/>
                                  </a:rPr>
                                </m:ctrlPr>
                              </m:dPr>
                              <m:e>
                                <m:r>
                                  <a:rPr lang="en-US" sz="2600" b="0" i="1" smtClean="0">
                                    <a:latin typeface="Cambria Math" panose="02040503050406030204" pitchFamily="18" charset="0"/>
                                  </a:rPr>
                                  <m:t>𝜓</m:t>
                                </m:r>
                              </m:e>
                            </m:d>
                          </m:e>
                          <m:sub>
                            <m:r>
                              <a:rPr lang="en-US" sz="2600" b="0" i="1" smtClean="0">
                                <a:latin typeface="Cambria Math" panose="02040503050406030204" pitchFamily="18" charset="0"/>
                              </a:rPr>
                              <m:t>1</m:t>
                            </m:r>
                          </m:sub>
                        </m:sSub>
                      </m:oMath>
                    </m:oMathPara>
                  </a14:m>
                  <a:endParaRPr lang="en-CA" sz="2600" dirty="0">
                    <a:latin typeface="+mj-lt"/>
                  </a:endParaRPr>
                </a:p>
              </p:txBody>
            </p:sp>
          </mc:Choice>
          <mc:Fallback xmlns="">
            <p:sp>
              <p:nvSpPr>
                <p:cNvPr id="33" name="TextBox 32">
                  <a:extLst>
                    <a:ext uri="{FF2B5EF4-FFF2-40B4-BE49-F238E27FC236}">
                      <a16:creationId xmlns:a16="http://schemas.microsoft.com/office/drawing/2014/main" id="{564A895E-12D9-28AD-7BFD-E1894F20E741}"/>
                    </a:ext>
                  </a:extLst>
                </p:cNvPr>
                <p:cNvSpPr txBox="1">
                  <a:spLocks noRot="1" noChangeAspect="1" noMove="1" noResize="1" noEditPoints="1" noAdjustHandles="1" noChangeArrowheads="1" noChangeShapeType="1" noTextEdit="1"/>
                </p:cNvSpPr>
                <p:nvPr/>
              </p:nvSpPr>
              <p:spPr>
                <a:xfrm>
                  <a:off x="-8951582" y="4030676"/>
                  <a:ext cx="594861" cy="400110"/>
                </a:xfrm>
                <a:prstGeom prst="rect">
                  <a:avLst/>
                </a:prstGeom>
                <a:blipFill>
                  <a:blip r:embed="rId9"/>
                  <a:stretch>
                    <a:fillRect l="-8333" r="-10417" b="-2727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72E9609-875D-5D0C-5557-058810168EAC}"/>
                    </a:ext>
                  </a:extLst>
                </p:cNvPr>
                <p:cNvSpPr txBox="1"/>
                <p:nvPr/>
              </p:nvSpPr>
              <p:spPr>
                <a:xfrm>
                  <a:off x="-8951584" y="4631664"/>
                  <a:ext cx="631015"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d>
                              <m:dPr>
                                <m:begChr m:val="|"/>
                                <m:endChr m:val="⟩"/>
                                <m:ctrlPr>
                                  <a:rPr lang="en-US" sz="2600" b="0" i="1" smtClean="0">
                                    <a:latin typeface="Cambria Math" panose="02040503050406030204" pitchFamily="18" charset="0"/>
                                  </a:rPr>
                                </m:ctrlPr>
                              </m:dPr>
                              <m:e>
                                <m:r>
                                  <a:rPr lang="en-US" sz="2600" b="0" i="1" smtClean="0">
                                    <a:latin typeface="Cambria Math" panose="02040503050406030204" pitchFamily="18" charset="0"/>
                                  </a:rPr>
                                  <m:t>𝜓</m:t>
                                </m:r>
                              </m:e>
                            </m:d>
                          </m:e>
                          <m:sub>
                            <m:r>
                              <a:rPr lang="en-US" sz="2600" b="0" i="1" smtClean="0">
                                <a:latin typeface="Cambria Math" panose="02040503050406030204" pitchFamily="18" charset="0"/>
                              </a:rPr>
                              <m:t>2</m:t>
                            </m:r>
                          </m:sub>
                        </m:sSub>
                      </m:oMath>
                    </m:oMathPara>
                  </a14:m>
                  <a:endParaRPr lang="en-CA" sz="2600" dirty="0">
                    <a:latin typeface="+mj-lt"/>
                  </a:endParaRPr>
                </a:p>
              </p:txBody>
            </p:sp>
          </mc:Choice>
          <mc:Fallback xmlns="">
            <p:sp>
              <p:nvSpPr>
                <p:cNvPr id="34" name="TextBox 33">
                  <a:extLst>
                    <a:ext uri="{FF2B5EF4-FFF2-40B4-BE49-F238E27FC236}">
                      <a16:creationId xmlns:a16="http://schemas.microsoft.com/office/drawing/2014/main" id="{872E9609-875D-5D0C-5557-058810168EAC}"/>
                    </a:ext>
                  </a:extLst>
                </p:cNvPr>
                <p:cNvSpPr txBox="1">
                  <a:spLocks noRot="1" noChangeAspect="1" noMove="1" noResize="1" noEditPoints="1" noAdjustHandles="1" noChangeArrowheads="1" noChangeShapeType="1" noTextEdit="1"/>
                </p:cNvSpPr>
                <p:nvPr/>
              </p:nvSpPr>
              <p:spPr>
                <a:xfrm>
                  <a:off x="-8951584" y="4631664"/>
                  <a:ext cx="631015" cy="400110"/>
                </a:xfrm>
                <a:prstGeom prst="rect">
                  <a:avLst/>
                </a:prstGeom>
                <a:blipFill>
                  <a:blip r:embed="rId10"/>
                  <a:stretch>
                    <a:fillRect l="-5882" r="-7843" b="-2727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EC107B3-A30C-2A64-F118-0F69EBF819DB}"/>
                    </a:ext>
                  </a:extLst>
                </p:cNvPr>
                <p:cNvSpPr txBox="1"/>
                <p:nvPr/>
              </p:nvSpPr>
              <p:spPr>
                <a:xfrm rot="5400000">
                  <a:off x="-8788926" y="4934112"/>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35" name="TextBox 34">
                  <a:extLst>
                    <a:ext uri="{FF2B5EF4-FFF2-40B4-BE49-F238E27FC236}">
                      <a16:creationId xmlns:a16="http://schemas.microsoft.com/office/drawing/2014/main" id="{2EC107B3-A30C-2A64-F118-0F69EBF819DB}"/>
                    </a:ext>
                  </a:extLst>
                </p:cNvPr>
                <p:cNvSpPr txBox="1">
                  <a:spLocks noRot="1" noChangeAspect="1" noMove="1" noResize="1" noEditPoints="1" noAdjustHandles="1" noChangeArrowheads="1" noChangeShapeType="1" noTextEdit="1"/>
                </p:cNvSpPr>
                <p:nvPr/>
              </p:nvSpPr>
              <p:spPr>
                <a:xfrm rot="5400000">
                  <a:off x="-8788926" y="4934112"/>
                  <a:ext cx="285810" cy="492443"/>
                </a:xfrm>
                <a:prstGeom prst="rect">
                  <a:avLst/>
                </a:prstGeom>
                <a:blipFill>
                  <a:blip r:embed="rId11"/>
                  <a:stretch>
                    <a:fillRect b="-5217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70EF126-2E0F-547A-663A-7E399FEA24CE}"/>
                    </a:ext>
                  </a:extLst>
                </p:cNvPr>
                <p:cNvSpPr txBox="1"/>
                <p:nvPr/>
              </p:nvSpPr>
              <p:spPr>
                <a:xfrm>
                  <a:off x="-8948489" y="5460618"/>
                  <a:ext cx="631015"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d>
                              <m:dPr>
                                <m:begChr m:val="|"/>
                                <m:endChr m:val="⟩"/>
                                <m:ctrlPr>
                                  <a:rPr lang="en-US" sz="2600" b="0" i="1" smtClean="0">
                                    <a:latin typeface="Cambria Math" panose="02040503050406030204" pitchFamily="18" charset="0"/>
                                  </a:rPr>
                                </m:ctrlPr>
                              </m:dPr>
                              <m:e>
                                <m:r>
                                  <a:rPr lang="en-US" sz="2600" b="0" i="1" smtClean="0">
                                    <a:latin typeface="Cambria Math" panose="02040503050406030204" pitchFamily="18" charset="0"/>
                                  </a:rPr>
                                  <m:t>𝜓</m:t>
                                </m:r>
                              </m:e>
                            </m:d>
                          </m:e>
                          <m:sub>
                            <m:r>
                              <a:rPr lang="en-US" sz="2600" b="0" i="1" smtClean="0">
                                <a:latin typeface="Cambria Math" panose="02040503050406030204" pitchFamily="18" charset="0"/>
                              </a:rPr>
                              <m:t>𝑁</m:t>
                            </m:r>
                          </m:sub>
                        </m:sSub>
                      </m:oMath>
                    </m:oMathPara>
                  </a14:m>
                  <a:endParaRPr lang="en-CA" sz="2600" dirty="0">
                    <a:latin typeface="+mj-lt"/>
                  </a:endParaRPr>
                </a:p>
              </p:txBody>
            </p:sp>
          </mc:Choice>
          <mc:Fallback xmlns="">
            <p:sp>
              <p:nvSpPr>
                <p:cNvPr id="36" name="TextBox 35">
                  <a:extLst>
                    <a:ext uri="{FF2B5EF4-FFF2-40B4-BE49-F238E27FC236}">
                      <a16:creationId xmlns:a16="http://schemas.microsoft.com/office/drawing/2014/main" id="{570EF126-2E0F-547A-663A-7E399FEA24CE}"/>
                    </a:ext>
                  </a:extLst>
                </p:cNvPr>
                <p:cNvSpPr txBox="1">
                  <a:spLocks noRot="1" noChangeAspect="1" noMove="1" noResize="1" noEditPoints="1" noAdjustHandles="1" noChangeArrowheads="1" noChangeShapeType="1" noTextEdit="1"/>
                </p:cNvSpPr>
                <p:nvPr/>
              </p:nvSpPr>
              <p:spPr>
                <a:xfrm>
                  <a:off x="-8948489" y="5460618"/>
                  <a:ext cx="631015" cy="400110"/>
                </a:xfrm>
                <a:prstGeom prst="rect">
                  <a:avLst/>
                </a:prstGeom>
                <a:blipFill>
                  <a:blip r:embed="rId12"/>
                  <a:stretch>
                    <a:fillRect l="-5882" r="-13725" b="-2727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FBBB105-90E4-94EB-BA2D-FC13F67AC664}"/>
                    </a:ext>
                  </a:extLst>
                </p:cNvPr>
                <p:cNvSpPr txBox="1"/>
                <p:nvPr/>
              </p:nvSpPr>
              <p:spPr>
                <a:xfrm>
                  <a:off x="-2550055" y="4576582"/>
                  <a:ext cx="285810"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600" b="0" i="0" u="none" strike="noStrike" kern="1200" cap="none" spc="0" normalizeH="0" baseline="0" noProof="0" dirty="0">
                    <a:ln>
                      <a:noFill/>
                    </a:ln>
                    <a:solidFill>
                      <a:prstClr val="black"/>
                    </a:solidFill>
                    <a:effectLst/>
                    <a:uLnTx/>
                    <a:uFillTx/>
                    <a:latin typeface="+mj-lt"/>
                    <a:ea typeface="+mn-ea"/>
                    <a:cs typeface="+mn-cs"/>
                  </a:endParaRPr>
                </a:p>
              </p:txBody>
            </p:sp>
          </mc:Choice>
          <mc:Fallback xmlns="">
            <p:sp>
              <p:nvSpPr>
                <p:cNvPr id="37" name="TextBox 36">
                  <a:extLst>
                    <a:ext uri="{FF2B5EF4-FFF2-40B4-BE49-F238E27FC236}">
                      <a16:creationId xmlns:a16="http://schemas.microsoft.com/office/drawing/2014/main" id="{7FBBB105-90E4-94EB-BA2D-FC13F67AC664}"/>
                    </a:ext>
                  </a:extLst>
                </p:cNvPr>
                <p:cNvSpPr txBox="1">
                  <a:spLocks noRot="1" noChangeAspect="1" noMove="1" noResize="1" noEditPoints="1" noAdjustHandles="1" noChangeArrowheads="1" noChangeShapeType="1" noTextEdit="1"/>
                </p:cNvSpPr>
                <p:nvPr/>
              </p:nvSpPr>
              <p:spPr>
                <a:xfrm>
                  <a:off x="-2550055" y="4576582"/>
                  <a:ext cx="285810" cy="492443"/>
                </a:xfrm>
                <a:prstGeom prst="rect">
                  <a:avLst/>
                </a:prstGeom>
                <a:blipFill>
                  <a:blip r:embed="rId13"/>
                  <a:stretch>
                    <a:fillRect r="-52174"/>
                  </a:stretch>
                </a:blipFill>
              </p:spPr>
              <p:txBody>
                <a:bodyPr/>
                <a:lstStyle/>
                <a:p>
                  <a:r>
                    <a:rPr lang="en-CA">
                      <a:noFill/>
                    </a:rPr>
                    <a:t> </a:t>
                  </a:r>
                </a:p>
              </p:txBody>
            </p:sp>
          </mc:Fallback>
        </mc:AlternateContent>
        <p:cxnSp>
          <p:nvCxnSpPr>
            <p:cNvPr id="38" name="Straight Connector 37">
              <a:extLst>
                <a:ext uri="{FF2B5EF4-FFF2-40B4-BE49-F238E27FC236}">
                  <a16:creationId xmlns:a16="http://schemas.microsoft.com/office/drawing/2014/main" id="{7339ED39-20CA-1134-197D-CEC921FC309F}"/>
                </a:ext>
              </a:extLst>
            </p:cNvPr>
            <p:cNvCxnSpPr>
              <a:cxnSpLocks/>
            </p:cNvCxnSpPr>
            <p:nvPr/>
          </p:nvCxnSpPr>
          <p:spPr>
            <a:xfrm>
              <a:off x="-220517" y="4242994"/>
              <a:ext cx="105530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D372502-FF5F-86E5-FD4A-721D5746A2B3}"/>
                </a:ext>
              </a:extLst>
            </p:cNvPr>
            <p:cNvCxnSpPr>
              <a:cxnSpLocks/>
            </p:cNvCxnSpPr>
            <p:nvPr/>
          </p:nvCxnSpPr>
          <p:spPr>
            <a:xfrm>
              <a:off x="-220753" y="5663096"/>
              <a:ext cx="1046469" cy="0"/>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12EAA9C-BF5B-A711-B268-10A6B8B152D5}"/>
                    </a:ext>
                  </a:extLst>
                </p:cNvPr>
                <p:cNvSpPr txBox="1"/>
                <p:nvPr/>
              </p:nvSpPr>
              <p:spPr>
                <a:xfrm>
                  <a:off x="-955366" y="4033099"/>
                  <a:ext cx="594861"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d>
                              <m:dPr>
                                <m:begChr m:val="|"/>
                                <m:endChr m:val="⟩"/>
                                <m:ctrlPr>
                                  <a:rPr lang="en-US" sz="2600" b="0" i="1" smtClean="0">
                                    <a:latin typeface="Cambria Math" panose="02040503050406030204" pitchFamily="18" charset="0"/>
                                  </a:rPr>
                                </m:ctrlPr>
                              </m:dPr>
                              <m:e>
                                <m:r>
                                  <a:rPr lang="en-US" sz="2600" b="0" i="1" smtClean="0">
                                    <a:latin typeface="Cambria Math" panose="02040503050406030204" pitchFamily="18" charset="0"/>
                                  </a:rPr>
                                  <m:t>𝜓</m:t>
                                </m:r>
                              </m:e>
                            </m:d>
                          </m:e>
                          <m:sub>
                            <m:r>
                              <a:rPr lang="en-US" sz="2600" b="0" i="1" smtClean="0">
                                <a:latin typeface="Cambria Math" panose="02040503050406030204" pitchFamily="18" charset="0"/>
                              </a:rPr>
                              <m:t>𝑖</m:t>
                            </m:r>
                          </m:sub>
                        </m:sSub>
                      </m:oMath>
                    </m:oMathPara>
                  </a14:m>
                  <a:endParaRPr lang="en-CA" sz="2600" dirty="0">
                    <a:latin typeface="+mj-lt"/>
                  </a:endParaRPr>
                </a:p>
              </p:txBody>
            </p:sp>
          </mc:Choice>
          <mc:Fallback xmlns="">
            <p:sp>
              <p:nvSpPr>
                <p:cNvPr id="40" name="TextBox 39">
                  <a:extLst>
                    <a:ext uri="{FF2B5EF4-FFF2-40B4-BE49-F238E27FC236}">
                      <a16:creationId xmlns:a16="http://schemas.microsoft.com/office/drawing/2014/main" id="{812EAA9C-BF5B-A711-B268-10A6B8B152D5}"/>
                    </a:ext>
                  </a:extLst>
                </p:cNvPr>
                <p:cNvSpPr txBox="1">
                  <a:spLocks noRot="1" noChangeAspect="1" noMove="1" noResize="1" noEditPoints="1" noAdjustHandles="1" noChangeArrowheads="1" noChangeShapeType="1" noTextEdit="1"/>
                </p:cNvSpPr>
                <p:nvPr/>
              </p:nvSpPr>
              <p:spPr>
                <a:xfrm>
                  <a:off x="-955366" y="4033099"/>
                  <a:ext cx="594861" cy="400110"/>
                </a:xfrm>
                <a:prstGeom prst="rect">
                  <a:avLst/>
                </a:prstGeom>
                <a:blipFill>
                  <a:blip r:embed="rId14"/>
                  <a:stretch>
                    <a:fillRect l="-4167" r="-8333" b="-2727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72ABBC5-ED51-5FF4-BE1A-DF52AA1E5109}"/>
                    </a:ext>
                  </a:extLst>
                </p:cNvPr>
                <p:cNvSpPr txBox="1"/>
                <p:nvPr/>
              </p:nvSpPr>
              <p:spPr>
                <a:xfrm>
                  <a:off x="-952273" y="5463041"/>
                  <a:ext cx="631015" cy="4322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d>
                              <m:dPr>
                                <m:begChr m:val="|"/>
                                <m:endChr m:val="⟩"/>
                                <m:ctrlPr>
                                  <a:rPr lang="en-US" sz="2600" b="0" i="1" smtClean="0">
                                    <a:latin typeface="Cambria Math" panose="02040503050406030204" pitchFamily="18" charset="0"/>
                                  </a:rPr>
                                </m:ctrlPr>
                              </m:dPr>
                              <m:e>
                                <m:r>
                                  <a:rPr lang="en-US" sz="2600" b="0" i="1" smtClean="0">
                                    <a:latin typeface="Cambria Math" panose="02040503050406030204" pitchFamily="18" charset="0"/>
                                  </a:rPr>
                                  <m:t>𝜓</m:t>
                                </m:r>
                              </m:e>
                            </m:d>
                          </m:e>
                          <m:sub>
                            <m:r>
                              <a:rPr lang="en-US" sz="2600" b="0" i="1" smtClean="0">
                                <a:latin typeface="Cambria Math" panose="02040503050406030204" pitchFamily="18" charset="0"/>
                              </a:rPr>
                              <m:t>𝑗</m:t>
                            </m:r>
                          </m:sub>
                        </m:sSub>
                      </m:oMath>
                    </m:oMathPara>
                  </a14:m>
                  <a:endParaRPr lang="en-CA" sz="2600" dirty="0">
                    <a:latin typeface="+mj-lt"/>
                  </a:endParaRPr>
                </a:p>
              </p:txBody>
            </p:sp>
          </mc:Choice>
          <mc:Fallback xmlns="">
            <p:sp>
              <p:nvSpPr>
                <p:cNvPr id="41" name="TextBox 40">
                  <a:extLst>
                    <a:ext uri="{FF2B5EF4-FFF2-40B4-BE49-F238E27FC236}">
                      <a16:creationId xmlns:a16="http://schemas.microsoft.com/office/drawing/2014/main" id="{D72ABBC5-ED51-5FF4-BE1A-DF52AA1E5109}"/>
                    </a:ext>
                  </a:extLst>
                </p:cNvPr>
                <p:cNvSpPr txBox="1">
                  <a:spLocks noRot="1" noChangeAspect="1" noMove="1" noResize="1" noEditPoints="1" noAdjustHandles="1" noChangeArrowheads="1" noChangeShapeType="1" noTextEdit="1"/>
                </p:cNvSpPr>
                <p:nvPr/>
              </p:nvSpPr>
              <p:spPr>
                <a:xfrm>
                  <a:off x="-952273" y="5463041"/>
                  <a:ext cx="631015" cy="432234"/>
                </a:xfrm>
                <a:prstGeom prst="rect">
                  <a:avLst/>
                </a:prstGeom>
                <a:blipFill>
                  <a:blip r:embed="rId15"/>
                  <a:stretch>
                    <a:fillRect l="-3922" r="-9804" b="-22857"/>
                  </a:stretch>
                </a:blipFill>
              </p:spPr>
              <p:txBody>
                <a:bodyPr/>
                <a:lstStyle/>
                <a:p>
                  <a:r>
                    <a:rPr lang="en-CA">
                      <a:noFill/>
                    </a:rPr>
                    <a:t> </a:t>
                  </a:r>
                </a:p>
              </p:txBody>
            </p:sp>
          </mc:Fallback>
        </mc:AlternateContent>
        <p:sp>
          <p:nvSpPr>
            <p:cNvPr id="42" name="Rounded Rectangle 41">
              <a:extLst>
                <a:ext uri="{FF2B5EF4-FFF2-40B4-BE49-F238E27FC236}">
                  <a16:creationId xmlns:a16="http://schemas.microsoft.com/office/drawing/2014/main" id="{68B17698-9CD2-BB93-98DC-17D225DE6B66}"/>
                </a:ext>
              </a:extLst>
            </p:cNvPr>
            <p:cNvSpPr/>
            <p:nvPr/>
          </p:nvSpPr>
          <p:spPr>
            <a:xfrm>
              <a:off x="-8853" y="4015294"/>
              <a:ext cx="656165" cy="186579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D612EAC-D577-B014-EF93-B77BBFBF893E}"/>
                    </a:ext>
                  </a:extLst>
                </p:cNvPr>
                <p:cNvSpPr txBox="1"/>
                <p:nvPr/>
              </p:nvSpPr>
              <p:spPr>
                <a:xfrm>
                  <a:off x="-8853" y="4619636"/>
                  <a:ext cx="731319" cy="5446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acc>
                              <m:accPr>
                                <m:chr m:val="̂"/>
                                <m:ctrlPr>
                                  <a:rPr lang="en-CA" sz="2600" i="1" smtClean="0">
                                    <a:latin typeface="Cambria Math" panose="02040503050406030204" pitchFamily="18" charset="0"/>
                                  </a:rPr>
                                </m:ctrlPr>
                              </m:accPr>
                              <m:e>
                                <m:r>
                                  <a:rPr lang="en-US" sz="2600" b="0" i="1" smtClean="0">
                                    <a:latin typeface="Cambria Math" panose="02040503050406030204" pitchFamily="18" charset="0"/>
                                  </a:rPr>
                                  <m:t>𝑈</m:t>
                                </m:r>
                              </m:e>
                            </m:acc>
                          </m:e>
                          <m:sub>
                            <m:r>
                              <a:rPr lang="en-US" sz="2600" b="0" i="1" smtClean="0">
                                <a:latin typeface="Cambria Math" panose="02040503050406030204" pitchFamily="18" charset="0"/>
                              </a:rPr>
                              <m:t>𝑖𝑗</m:t>
                            </m:r>
                          </m:sub>
                        </m:sSub>
                      </m:oMath>
                    </m:oMathPara>
                  </a14:m>
                  <a:endParaRPr lang="en-CA" sz="2600" dirty="0">
                    <a:latin typeface="+mj-lt"/>
                  </a:endParaRPr>
                </a:p>
              </p:txBody>
            </p:sp>
          </mc:Choice>
          <mc:Fallback xmlns="">
            <p:sp>
              <p:nvSpPr>
                <p:cNvPr id="43" name="TextBox 42">
                  <a:extLst>
                    <a:ext uri="{FF2B5EF4-FFF2-40B4-BE49-F238E27FC236}">
                      <a16:creationId xmlns:a16="http://schemas.microsoft.com/office/drawing/2014/main" id="{AD612EAC-D577-B014-EF93-B77BBFBF893E}"/>
                    </a:ext>
                  </a:extLst>
                </p:cNvPr>
                <p:cNvSpPr txBox="1">
                  <a:spLocks noRot="1" noChangeAspect="1" noMove="1" noResize="1" noEditPoints="1" noAdjustHandles="1" noChangeArrowheads="1" noChangeShapeType="1" noTextEdit="1"/>
                </p:cNvSpPr>
                <p:nvPr/>
              </p:nvSpPr>
              <p:spPr>
                <a:xfrm>
                  <a:off x="-8853" y="4619636"/>
                  <a:ext cx="731319" cy="544636"/>
                </a:xfrm>
                <a:prstGeom prst="rect">
                  <a:avLst/>
                </a:prstGeom>
                <a:blipFill>
                  <a:blip r:embed="rId16"/>
                  <a:stretch>
                    <a:fillRect t="-6818" b="-9091"/>
                  </a:stretch>
                </a:blipFill>
              </p:spPr>
              <p:txBody>
                <a:bodyPr/>
                <a:lstStyle/>
                <a:p>
                  <a:r>
                    <a:rPr lang="en-CA">
                      <a:noFill/>
                    </a:rPr>
                    <a:t> </a:t>
                  </a:r>
                </a:p>
              </p:txBody>
            </p:sp>
          </mc:Fallback>
        </mc:AlternateContent>
        <p:sp>
          <p:nvSpPr>
            <p:cNvPr id="44" name="Rounded Rectangle 43">
              <a:extLst>
                <a:ext uri="{FF2B5EF4-FFF2-40B4-BE49-F238E27FC236}">
                  <a16:creationId xmlns:a16="http://schemas.microsoft.com/office/drawing/2014/main" id="{F8285E3A-6928-90AF-46E2-C651FB3A9121}"/>
                </a:ext>
              </a:extLst>
            </p:cNvPr>
            <p:cNvSpPr/>
            <p:nvPr/>
          </p:nvSpPr>
          <p:spPr>
            <a:xfrm>
              <a:off x="-6572023" y="3985199"/>
              <a:ext cx="572790" cy="5029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454BC174-9734-DD9A-EE2D-81BE6318BA27}"/>
                    </a:ext>
                  </a:extLst>
                </p:cNvPr>
                <p:cNvSpPr txBox="1"/>
                <p:nvPr/>
              </p:nvSpPr>
              <p:spPr>
                <a:xfrm>
                  <a:off x="-6525306" y="3977178"/>
                  <a:ext cx="552689" cy="5032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i="1">
                                <a:latin typeface="Cambria Math" panose="02040503050406030204" pitchFamily="18" charset="0"/>
                              </a:rPr>
                            </m:ctrlPr>
                          </m:sSubPr>
                          <m:e>
                            <m:acc>
                              <m:accPr>
                                <m:chr m:val="̂"/>
                                <m:ctrlPr>
                                  <a:rPr lang="en-CA" sz="2600" i="1">
                                    <a:latin typeface="Cambria Math" panose="02040503050406030204" pitchFamily="18" charset="0"/>
                                  </a:rPr>
                                </m:ctrlPr>
                              </m:accPr>
                              <m:e>
                                <m:r>
                                  <a:rPr lang="en-US" sz="2600" i="1">
                                    <a:latin typeface="Cambria Math" panose="02040503050406030204" pitchFamily="18" charset="0"/>
                                  </a:rPr>
                                  <m:t>𝑋</m:t>
                                </m:r>
                              </m:e>
                            </m:acc>
                          </m:e>
                          <m:sub>
                            <m:r>
                              <a:rPr lang="en-US" sz="2600" i="1">
                                <a:latin typeface="Cambria Math" panose="02040503050406030204" pitchFamily="18" charset="0"/>
                              </a:rPr>
                              <m:t>1</m:t>
                            </m:r>
                          </m:sub>
                        </m:sSub>
                      </m:oMath>
                    </m:oMathPara>
                  </a14:m>
                  <a:endParaRPr lang="en-CA" sz="2600" dirty="0">
                    <a:latin typeface="+mj-lt"/>
                  </a:endParaRPr>
                </a:p>
              </p:txBody>
            </p:sp>
          </mc:Choice>
          <mc:Fallback xmlns="">
            <p:sp>
              <p:nvSpPr>
                <p:cNvPr id="45" name="TextBox 44">
                  <a:extLst>
                    <a:ext uri="{FF2B5EF4-FFF2-40B4-BE49-F238E27FC236}">
                      <a16:creationId xmlns:a16="http://schemas.microsoft.com/office/drawing/2014/main" id="{454BC174-9734-DD9A-EE2D-81BE6318BA27}"/>
                    </a:ext>
                  </a:extLst>
                </p:cNvPr>
                <p:cNvSpPr txBox="1">
                  <a:spLocks noRot="1" noChangeAspect="1" noMove="1" noResize="1" noEditPoints="1" noAdjustHandles="1" noChangeArrowheads="1" noChangeShapeType="1" noTextEdit="1"/>
                </p:cNvSpPr>
                <p:nvPr/>
              </p:nvSpPr>
              <p:spPr>
                <a:xfrm>
                  <a:off x="-6525306" y="3977178"/>
                  <a:ext cx="552689" cy="503279"/>
                </a:xfrm>
                <a:prstGeom prst="rect">
                  <a:avLst/>
                </a:prstGeom>
                <a:blipFill>
                  <a:blip r:embed="rId17"/>
                  <a:stretch>
                    <a:fillRect l="-2273" t="-12500"/>
                  </a:stretch>
                </a:blipFill>
              </p:spPr>
              <p:txBody>
                <a:bodyPr/>
                <a:lstStyle/>
                <a:p>
                  <a:r>
                    <a:rPr lang="en-CA">
                      <a:noFill/>
                    </a:rPr>
                    <a:t> </a:t>
                  </a:r>
                </a:p>
              </p:txBody>
            </p:sp>
          </mc:Fallback>
        </mc:AlternateContent>
        <p:sp>
          <p:nvSpPr>
            <p:cNvPr id="46" name="Rounded Rectangle 45">
              <a:extLst>
                <a:ext uri="{FF2B5EF4-FFF2-40B4-BE49-F238E27FC236}">
                  <a16:creationId xmlns:a16="http://schemas.microsoft.com/office/drawing/2014/main" id="{A940A7E6-9184-B472-9AA7-9557CF8B87B3}"/>
                </a:ext>
              </a:extLst>
            </p:cNvPr>
            <p:cNvSpPr/>
            <p:nvPr/>
          </p:nvSpPr>
          <p:spPr>
            <a:xfrm>
              <a:off x="-5852527" y="3994935"/>
              <a:ext cx="656165" cy="186579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768E483-BA14-6DB3-032C-44294FE088D0}"/>
                    </a:ext>
                  </a:extLst>
                </p:cNvPr>
                <p:cNvSpPr txBox="1"/>
                <p:nvPr/>
              </p:nvSpPr>
              <p:spPr>
                <a:xfrm>
                  <a:off x="-5875613" y="4650658"/>
                  <a:ext cx="731319" cy="54688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acc>
                              <m:accPr>
                                <m:chr m:val="̂"/>
                                <m:ctrlPr>
                                  <a:rPr lang="en-CA" sz="2600" i="1" smtClean="0">
                                    <a:latin typeface="Cambria Math" panose="02040503050406030204" pitchFamily="18" charset="0"/>
                                  </a:rPr>
                                </m:ctrlPr>
                              </m:accPr>
                              <m:e>
                                <m:r>
                                  <a:rPr lang="en-US" sz="2600" b="0" i="1" smtClean="0">
                                    <a:latin typeface="Cambria Math" panose="02040503050406030204" pitchFamily="18" charset="0"/>
                                  </a:rPr>
                                  <m:t>𝑈</m:t>
                                </m:r>
                              </m:e>
                            </m:acc>
                          </m:e>
                          <m: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𝐼</m:t>
                                </m:r>
                              </m:e>
                              <m:sub>
                                <m:r>
                                  <a:rPr lang="en-US" sz="2600" b="0" i="1" smtClean="0">
                                    <a:latin typeface="Cambria Math" panose="02040503050406030204" pitchFamily="18" charset="0"/>
                                  </a:rPr>
                                  <m:t>1</m:t>
                                </m:r>
                              </m:sub>
                            </m:sSub>
                          </m:sub>
                        </m:sSub>
                      </m:oMath>
                    </m:oMathPara>
                  </a14:m>
                  <a:endParaRPr lang="en-CA" sz="2600" dirty="0">
                    <a:latin typeface="+mj-lt"/>
                  </a:endParaRPr>
                </a:p>
              </p:txBody>
            </p:sp>
          </mc:Choice>
          <mc:Fallback xmlns="">
            <p:sp>
              <p:nvSpPr>
                <p:cNvPr id="47" name="TextBox 46">
                  <a:extLst>
                    <a:ext uri="{FF2B5EF4-FFF2-40B4-BE49-F238E27FC236}">
                      <a16:creationId xmlns:a16="http://schemas.microsoft.com/office/drawing/2014/main" id="{8768E483-BA14-6DB3-032C-44294FE088D0}"/>
                    </a:ext>
                  </a:extLst>
                </p:cNvPr>
                <p:cNvSpPr txBox="1">
                  <a:spLocks noRot="1" noChangeAspect="1" noMove="1" noResize="1" noEditPoints="1" noAdjustHandles="1" noChangeArrowheads="1" noChangeShapeType="1" noTextEdit="1"/>
                </p:cNvSpPr>
                <p:nvPr/>
              </p:nvSpPr>
              <p:spPr>
                <a:xfrm>
                  <a:off x="-5875613" y="4650658"/>
                  <a:ext cx="731319" cy="546881"/>
                </a:xfrm>
                <a:prstGeom prst="rect">
                  <a:avLst/>
                </a:prstGeom>
                <a:blipFill>
                  <a:blip r:embed="rId18"/>
                  <a:stretch>
                    <a:fillRect t="-6667" b="-2222"/>
                  </a:stretch>
                </a:blipFill>
              </p:spPr>
              <p:txBody>
                <a:bodyPr/>
                <a:lstStyle/>
                <a:p>
                  <a:r>
                    <a:rPr lang="en-CA">
                      <a:noFill/>
                    </a:rPr>
                    <a:t> </a:t>
                  </a:r>
                </a:p>
              </p:txBody>
            </p:sp>
          </mc:Fallback>
        </mc:AlternateContent>
        <p:sp>
          <p:nvSpPr>
            <p:cNvPr id="48" name="Rounded Rectangle 47">
              <a:extLst>
                <a:ext uri="{FF2B5EF4-FFF2-40B4-BE49-F238E27FC236}">
                  <a16:creationId xmlns:a16="http://schemas.microsoft.com/office/drawing/2014/main" id="{E2EC7B7C-7746-D630-DA08-5EFC42E749E0}"/>
                </a:ext>
              </a:extLst>
            </p:cNvPr>
            <p:cNvSpPr/>
            <p:nvPr/>
          </p:nvSpPr>
          <p:spPr>
            <a:xfrm>
              <a:off x="-5070279" y="4582387"/>
              <a:ext cx="552689" cy="5005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9BF404E-C832-A730-F97A-A0CE2D59E5A5}"/>
                    </a:ext>
                  </a:extLst>
                </p:cNvPr>
                <p:cNvSpPr txBox="1"/>
                <p:nvPr/>
              </p:nvSpPr>
              <p:spPr>
                <a:xfrm>
                  <a:off x="-5042093" y="4579636"/>
                  <a:ext cx="544025" cy="5032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acc>
                              <m:accPr>
                                <m:chr m:val="̂"/>
                                <m:ctrlPr>
                                  <a:rPr lang="en-CA" sz="2600" i="1" smtClean="0">
                                    <a:latin typeface="Cambria Math" panose="02040503050406030204" pitchFamily="18" charset="0"/>
                                  </a:rPr>
                                </m:ctrlPr>
                              </m:accPr>
                              <m:e>
                                <m:r>
                                  <a:rPr lang="en-US" sz="2600" b="0" i="1" smtClean="0">
                                    <a:latin typeface="Cambria Math" panose="02040503050406030204" pitchFamily="18" charset="0"/>
                                  </a:rPr>
                                  <m:t>𝑋</m:t>
                                </m:r>
                              </m:e>
                            </m:acc>
                          </m:e>
                          <m:sub>
                            <m:r>
                              <a:rPr lang="en-US" sz="2600" b="0" i="1" smtClean="0">
                                <a:latin typeface="Cambria Math" panose="02040503050406030204" pitchFamily="18" charset="0"/>
                              </a:rPr>
                              <m:t>2</m:t>
                            </m:r>
                          </m:sub>
                        </m:sSub>
                      </m:oMath>
                    </m:oMathPara>
                  </a14:m>
                  <a:endParaRPr lang="en-CA" sz="2600" dirty="0">
                    <a:latin typeface="+mj-lt"/>
                  </a:endParaRPr>
                </a:p>
              </p:txBody>
            </p:sp>
          </mc:Choice>
          <mc:Fallback xmlns="">
            <p:sp>
              <p:nvSpPr>
                <p:cNvPr id="49" name="TextBox 48">
                  <a:extLst>
                    <a:ext uri="{FF2B5EF4-FFF2-40B4-BE49-F238E27FC236}">
                      <a16:creationId xmlns:a16="http://schemas.microsoft.com/office/drawing/2014/main" id="{C9BF404E-C832-A730-F97A-A0CE2D59E5A5}"/>
                    </a:ext>
                  </a:extLst>
                </p:cNvPr>
                <p:cNvSpPr txBox="1">
                  <a:spLocks noRot="1" noChangeAspect="1" noMove="1" noResize="1" noEditPoints="1" noAdjustHandles="1" noChangeArrowheads="1" noChangeShapeType="1" noTextEdit="1"/>
                </p:cNvSpPr>
                <p:nvPr/>
              </p:nvSpPr>
              <p:spPr>
                <a:xfrm>
                  <a:off x="-5042093" y="4579636"/>
                  <a:ext cx="544025" cy="503279"/>
                </a:xfrm>
                <a:prstGeom prst="rect">
                  <a:avLst/>
                </a:prstGeom>
                <a:blipFill>
                  <a:blip r:embed="rId19"/>
                  <a:stretch>
                    <a:fillRect l="-4545" t="-12500" b="-2500"/>
                  </a:stretch>
                </a:blipFill>
              </p:spPr>
              <p:txBody>
                <a:bodyPr/>
                <a:lstStyle/>
                <a:p>
                  <a:r>
                    <a:rPr lang="en-CA">
                      <a:noFill/>
                    </a:rPr>
                    <a:t> </a:t>
                  </a:r>
                </a:p>
              </p:txBody>
            </p:sp>
          </mc:Fallback>
        </mc:AlternateContent>
        <p:sp>
          <p:nvSpPr>
            <p:cNvPr id="50" name="Rounded Rectangle 49">
              <a:extLst>
                <a:ext uri="{FF2B5EF4-FFF2-40B4-BE49-F238E27FC236}">
                  <a16:creationId xmlns:a16="http://schemas.microsoft.com/office/drawing/2014/main" id="{8C7A8263-36E1-1675-058D-933BAA469935}"/>
                </a:ext>
              </a:extLst>
            </p:cNvPr>
            <p:cNvSpPr/>
            <p:nvPr/>
          </p:nvSpPr>
          <p:spPr>
            <a:xfrm>
              <a:off x="-3603838" y="4579815"/>
              <a:ext cx="572790" cy="50292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283E07D-5A23-0482-10B8-7E2771206C5E}"/>
                    </a:ext>
                  </a:extLst>
                </p:cNvPr>
                <p:cNvSpPr txBox="1"/>
                <p:nvPr/>
              </p:nvSpPr>
              <p:spPr>
                <a:xfrm>
                  <a:off x="-3557121" y="4571794"/>
                  <a:ext cx="552689" cy="5032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rPr>
                            </m:ctrlPr>
                          </m:sSubPr>
                          <m:e>
                            <m:acc>
                              <m:accPr>
                                <m:chr m:val="̂"/>
                                <m:ctrlPr>
                                  <a:rPr lang="en-CA" sz="2600" i="1">
                                    <a:latin typeface="Cambria Math" panose="02040503050406030204" pitchFamily="18" charset="0"/>
                                  </a:rPr>
                                </m:ctrlPr>
                              </m:accPr>
                              <m:e>
                                <m:r>
                                  <a:rPr lang="en-US" sz="2600" i="1">
                                    <a:latin typeface="Cambria Math" panose="02040503050406030204" pitchFamily="18" charset="0"/>
                                  </a:rPr>
                                  <m:t>𝑋</m:t>
                                </m:r>
                              </m:e>
                            </m:acc>
                          </m:e>
                          <m:sub>
                            <m:r>
                              <a:rPr lang="en-US" sz="2600" b="0" i="1" smtClean="0">
                                <a:latin typeface="Cambria Math" panose="02040503050406030204" pitchFamily="18" charset="0"/>
                              </a:rPr>
                              <m:t>2</m:t>
                            </m:r>
                          </m:sub>
                        </m:sSub>
                      </m:oMath>
                    </m:oMathPara>
                  </a14:m>
                  <a:endParaRPr lang="en-CA" sz="2600" dirty="0">
                    <a:latin typeface="+mj-lt"/>
                  </a:endParaRPr>
                </a:p>
              </p:txBody>
            </p:sp>
          </mc:Choice>
          <mc:Fallback xmlns="">
            <p:sp>
              <p:nvSpPr>
                <p:cNvPr id="51" name="TextBox 50">
                  <a:extLst>
                    <a:ext uri="{FF2B5EF4-FFF2-40B4-BE49-F238E27FC236}">
                      <a16:creationId xmlns:a16="http://schemas.microsoft.com/office/drawing/2014/main" id="{7283E07D-5A23-0482-10B8-7E2771206C5E}"/>
                    </a:ext>
                  </a:extLst>
                </p:cNvPr>
                <p:cNvSpPr txBox="1">
                  <a:spLocks noRot="1" noChangeAspect="1" noMove="1" noResize="1" noEditPoints="1" noAdjustHandles="1" noChangeArrowheads="1" noChangeShapeType="1" noTextEdit="1"/>
                </p:cNvSpPr>
                <p:nvPr/>
              </p:nvSpPr>
              <p:spPr>
                <a:xfrm>
                  <a:off x="-3557121" y="4571794"/>
                  <a:ext cx="552689" cy="503279"/>
                </a:xfrm>
                <a:prstGeom prst="rect">
                  <a:avLst/>
                </a:prstGeom>
                <a:blipFill>
                  <a:blip r:embed="rId20"/>
                  <a:stretch>
                    <a:fillRect t="-9756"/>
                  </a:stretch>
                </a:blipFill>
              </p:spPr>
              <p:txBody>
                <a:bodyPr/>
                <a:lstStyle/>
                <a:p>
                  <a:r>
                    <a:rPr lang="en-CA">
                      <a:noFill/>
                    </a:rPr>
                    <a:t> </a:t>
                  </a:r>
                </a:p>
              </p:txBody>
            </p:sp>
          </mc:Fallback>
        </mc:AlternateContent>
        <p:sp>
          <p:nvSpPr>
            <p:cNvPr id="52" name="Rounded Rectangle 51">
              <a:extLst>
                <a:ext uri="{FF2B5EF4-FFF2-40B4-BE49-F238E27FC236}">
                  <a16:creationId xmlns:a16="http://schemas.microsoft.com/office/drawing/2014/main" id="{F0DAFA3B-9B65-C991-A0DB-DAF6D139ECC1}"/>
                </a:ext>
              </a:extLst>
            </p:cNvPr>
            <p:cNvSpPr/>
            <p:nvPr/>
          </p:nvSpPr>
          <p:spPr>
            <a:xfrm>
              <a:off x="-4370854" y="3987378"/>
              <a:ext cx="656165" cy="186579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2600" b="0" i="0" u="none" strike="noStrike" kern="1200" cap="none" spc="0" normalizeH="0" baseline="0" noProof="0">
                <a:ln>
                  <a:noFill/>
                </a:ln>
                <a:no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EFD0755-4ECA-6B34-E334-CEC4015C6581}"/>
                    </a:ext>
                  </a:extLst>
                </p:cNvPr>
                <p:cNvSpPr txBox="1"/>
                <p:nvPr/>
              </p:nvSpPr>
              <p:spPr>
                <a:xfrm>
                  <a:off x="-4393940" y="4643101"/>
                  <a:ext cx="731319" cy="56271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600" b="0" i="1" smtClean="0">
                                <a:latin typeface="Cambria Math" panose="02040503050406030204" pitchFamily="18" charset="0"/>
                              </a:rPr>
                            </m:ctrlPr>
                          </m:sSubPr>
                          <m:e>
                            <m:acc>
                              <m:accPr>
                                <m:chr m:val="̂"/>
                                <m:ctrlPr>
                                  <a:rPr lang="en-CA" sz="2600" i="1" smtClean="0">
                                    <a:latin typeface="Cambria Math" panose="02040503050406030204" pitchFamily="18" charset="0"/>
                                  </a:rPr>
                                </m:ctrlPr>
                              </m:accPr>
                              <m:e>
                                <m:r>
                                  <a:rPr lang="en-US" sz="2600" b="0" i="1" smtClean="0">
                                    <a:latin typeface="Cambria Math" panose="02040503050406030204" pitchFamily="18" charset="0"/>
                                  </a:rPr>
                                  <m:t>𝑈</m:t>
                                </m:r>
                              </m:e>
                            </m:acc>
                          </m:e>
                          <m:sub>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𝐼</m:t>
                                </m:r>
                              </m:e>
                              <m:sub>
                                <m:r>
                                  <a:rPr lang="en-US" sz="2600" b="0" i="1" smtClean="0">
                                    <a:latin typeface="Cambria Math" panose="02040503050406030204" pitchFamily="18" charset="0"/>
                                  </a:rPr>
                                  <m:t>2</m:t>
                                </m:r>
                              </m:sub>
                            </m:sSub>
                          </m:sub>
                        </m:sSub>
                      </m:oMath>
                    </m:oMathPara>
                  </a14:m>
                  <a:endParaRPr lang="en-CA" sz="2600" dirty="0">
                    <a:latin typeface="+mj-lt"/>
                  </a:endParaRPr>
                </a:p>
              </p:txBody>
            </p:sp>
          </mc:Choice>
          <mc:Fallback xmlns="">
            <p:sp>
              <p:nvSpPr>
                <p:cNvPr id="53" name="TextBox 52">
                  <a:extLst>
                    <a:ext uri="{FF2B5EF4-FFF2-40B4-BE49-F238E27FC236}">
                      <a16:creationId xmlns:a16="http://schemas.microsoft.com/office/drawing/2014/main" id="{DEFD0755-4ECA-6B34-E334-CEC4015C6581}"/>
                    </a:ext>
                  </a:extLst>
                </p:cNvPr>
                <p:cNvSpPr txBox="1">
                  <a:spLocks noRot="1" noChangeAspect="1" noMove="1" noResize="1" noEditPoints="1" noAdjustHandles="1" noChangeArrowheads="1" noChangeShapeType="1" noTextEdit="1"/>
                </p:cNvSpPr>
                <p:nvPr/>
              </p:nvSpPr>
              <p:spPr>
                <a:xfrm>
                  <a:off x="-4393940" y="4643101"/>
                  <a:ext cx="731319" cy="562718"/>
                </a:xfrm>
                <a:prstGeom prst="rect">
                  <a:avLst/>
                </a:prstGeom>
                <a:blipFill>
                  <a:blip r:embed="rId21"/>
                  <a:stretch>
                    <a:fillRect t="-8889"/>
                  </a:stretch>
                </a:blipFill>
              </p:spPr>
              <p:txBody>
                <a:bodyPr/>
                <a:lstStyle/>
                <a:p>
                  <a:r>
                    <a:rPr lang="en-CA">
                      <a:noFill/>
                    </a:rPr>
                    <a:t> </a:t>
                  </a:r>
                </a:p>
              </p:txBody>
            </p:sp>
          </mc:Fallback>
        </mc:AlternateContent>
      </p:grpSp>
      <p:sp>
        <p:nvSpPr>
          <p:cNvPr id="4" name="Right Arrow 3">
            <a:extLst>
              <a:ext uri="{FF2B5EF4-FFF2-40B4-BE49-F238E27FC236}">
                <a16:creationId xmlns:a16="http://schemas.microsoft.com/office/drawing/2014/main" id="{6F22764D-11D6-923D-E83D-DCCCB2567FBB}"/>
              </a:ext>
            </a:extLst>
          </p:cNvPr>
          <p:cNvSpPr/>
          <p:nvPr/>
        </p:nvSpPr>
        <p:spPr>
          <a:xfrm>
            <a:off x="8462797" y="4339264"/>
            <a:ext cx="617931" cy="253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F7D93C70-AA3F-9436-370B-CF4E5C13E0AD}"/>
              </a:ext>
            </a:extLst>
          </p:cNvPr>
          <p:cNvSpPr txBox="1"/>
          <p:nvPr/>
        </p:nvSpPr>
        <p:spPr>
          <a:xfrm>
            <a:off x="325422" y="2930353"/>
            <a:ext cx="3154935" cy="461665"/>
          </a:xfrm>
          <a:prstGeom prst="rect">
            <a:avLst/>
          </a:prstGeom>
          <a:noFill/>
        </p:spPr>
        <p:txBody>
          <a:bodyPr wrap="square" rtlCol="0">
            <a:spAutoFit/>
          </a:bodyPr>
          <a:lstStyle/>
          <a:p>
            <a:r>
              <a:rPr lang="en-CA" sz="2400" dirty="0"/>
              <a:t>Consider the following</a:t>
            </a:r>
          </a:p>
        </p:txBody>
      </p:sp>
    </p:spTree>
    <p:custDataLst>
      <p:tags r:id="rId1"/>
    </p:custDataLst>
    <p:extLst>
      <p:ext uri="{BB962C8B-B14F-4D97-AF65-F5344CB8AC3E}">
        <p14:creationId xmlns:p14="http://schemas.microsoft.com/office/powerpoint/2010/main" val="122017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4" grpId="0"/>
      <p:bldP spid="15" grpId="0"/>
      <p:bldP spid="4" grpId="0" animBg="1"/>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3C11E-8202-0BA8-4C40-3374C639AAD5}"/>
            </a:ext>
          </a:extLst>
        </p:cNvPr>
        <p:cNvGrpSpPr/>
        <p:nvPr/>
      </p:nvGrpSpPr>
      <p:grpSpPr>
        <a:xfrm>
          <a:off x="0" y="0"/>
          <a:ext cx="0" cy="0"/>
          <a:chOff x="0" y="0"/>
          <a:chExt cx="0" cy="0"/>
        </a:xfrm>
      </p:grpSpPr>
      <p:sp>
        <p:nvSpPr>
          <p:cNvPr id="10" name="Rounded Rectangle 9">
            <a:extLst>
              <a:ext uri="{FF2B5EF4-FFF2-40B4-BE49-F238E27FC236}">
                <a16:creationId xmlns:a16="http://schemas.microsoft.com/office/drawing/2014/main" id="{5F4A307B-D601-06DD-23CC-0459435C099A}"/>
              </a:ext>
            </a:extLst>
          </p:cNvPr>
          <p:cNvSpPr/>
          <p:nvPr/>
        </p:nvSpPr>
        <p:spPr>
          <a:xfrm>
            <a:off x="732418" y="1494824"/>
            <a:ext cx="3861524" cy="400519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Fußzeilenplatzhalter 1">
            <a:extLst>
              <a:ext uri="{FF2B5EF4-FFF2-40B4-BE49-F238E27FC236}">
                <a16:creationId xmlns:a16="http://schemas.microsoft.com/office/drawing/2014/main" id="{D6F74F26-5539-77AB-214D-A685F3618EE0}"/>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7FF23F58-8CA5-AA88-5374-27A24B47C0E3}"/>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Quantum Fourier Transform Example</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6C62F9FA-82C2-9725-73D7-DA1B3871E955}"/>
              </a:ext>
            </a:extLst>
          </p:cNvPr>
          <p:cNvSpPr>
            <a:spLocks noGrp="1"/>
          </p:cNvSpPr>
          <p:nvPr>
            <p:ph type="sldNum" sz="quarter" idx="12"/>
          </p:nvPr>
        </p:nvSpPr>
        <p:spPr/>
        <p:txBody>
          <a:bodyPr/>
          <a:lstStyle/>
          <a:p>
            <a:fld id="{D0617D14-1B55-43C0-819D-0D244AC23646}" type="slidenum">
              <a:rPr lang="de-AT" smtClean="0"/>
              <a:t>16</a:t>
            </a:fld>
            <a:endParaRPr lang="de-AT"/>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8FB7869-D4AC-3734-A5D5-F9E9F12701E9}"/>
                  </a:ext>
                </a:extLst>
              </p:cNvPr>
              <p:cNvSpPr txBox="1"/>
              <p:nvPr/>
            </p:nvSpPr>
            <p:spPr>
              <a:xfrm>
                <a:off x="5074312" y="5334237"/>
                <a:ext cx="7287918" cy="547907"/>
              </a:xfrm>
              <a:prstGeom prst="rect">
                <a:avLst/>
              </a:prstGeom>
              <a:noFill/>
            </p:spPr>
            <p:txBody>
              <a:bodyPr wrap="square">
                <a:spAutoFit/>
              </a:bodyPr>
              <a:lstStyle/>
              <a:p>
                <a:r>
                  <a:rPr lang="en-CA" sz="2000" dirty="0"/>
                  <a:t>Average final precision: </a:t>
                </a:r>
                <a14:m>
                  <m:oMath xmlns:m="http://schemas.openxmlformats.org/officeDocument/2006/math">
                    <m:f>
                      <m:fPr>
                        <m:ctrlPr>
                          <a:rPr lang="en-CA"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𝑁</m:t>
                        </m:r>
                      </m:den>
                    </m:f>
                    <m:sSubSup>
                      <m:sSubSupPr>
                        <m:ctrlPr>
                          <a:rPr lang="en-US" sz="2000" b="0" i="1" smtClean="0">
                            <a:latin typeface="Cambria Math" panose="02040503050406030204" pitchFamily="18" charset="0"/>
                          </a:rPr>
                        </m:ctrlPr>
                      </m:sSubSupPr>
                      <m:e>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𝑈</m:t>
                                    </m:r>
                                  </m:e>
                                </m:acc>
                              </m:e>
                              <m:sub>
                                <m:r>
                                  <a:rPr lang="en-US" sz="2000" i="1">
                                    <a:latin typeface="Cambria Math" panose="02040503050406030204" pitchFamily="18" charset="0"/>
                                  </a:rPr>
                                  <m:t>𝜃</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𝑈</m:t>
                                    </m:r>
                                  </m:e>
                                </m:acc>
                              </m:e>
                              <m:sub>
                                <m:r>
                                  <a:rPr lang="en-US" sz="2000" i="1">
                                    <a:latin typeface="Cambria Math" panose="02040503050406030204" pitchFamily="18" charset="0"/>
                                  </a:rPr>
                                  <m:t>𝑄𝐹𝑇</m:t>
                                </m:r>
                              </m:sub>
                            </m:sSub>
                          </m:e>
                        </m:d>
                      </m:e>
                      <m:sub>
                        <m:r>
                          <a:rPr lang="en-US" sz="2000" b="0" i="1" smtClean="0">
                            <a:latin typeface="Cambria Math" panose="02040503050406030204" pitchFamily="18" charset="0"/>
                          </a:rPr>
                          <m:t>𝐻𝑆</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r>
                      <m:rPr>
                        <m:nor/>
                      </m:rPr>
                      <a:rPr lang="en-CA" sz="2000" dirty="0"/>
                      <m:t>0.00444 ± 0.00138</m:t>
                    </m:r>
                  </m:oMath>
                </a14:m>
                <a:endParaRPr lang="en-CA" sz="2000" dirty="0"/>
              </a:p>
            </p:txBody>
          </p:sp>
        </mc:Choice>
        <mc:Fallback xmlns="">
          <p:sp>
            <p:nvSpPr>
              <p:cNvPr id="4" name="TextBox 3">
                <a:extLst>
                  <a:ext uri="{FF2B5EF4-FFF2-40B4-BE49-F238E27FC236}">
                    <a16:creationId xmlns:a16="http://schemas.microsoft.com/office/drawing/2014/main" id="{E8FB7869-D4AC-3734-A5D5-F9E9F12701E9}"/>
                  </a:ext>
                </a:extLst>
              </p:cNvPr>
              <p:cNvSpPr txBox="1">
                <a:spLocks noRot="1" noChangeAspect="1" noMove="1" noResize="1" noEditPoints="1" noAdjustHandles="1" noChangeArrowheads="1" noChangeShapeType="1" noTextEdit="1"/>
              </p:cNvSpPr>
              <p:nvPr/>
            </p:nvSpPr>
            <p:spPr>
              <a:xfrm>
                <a:off x="5074312" y="5334237"/>
                <a:ext cx="7287918" cy="547907"/>
              </a:xfrm>
              <a:prstGeom prst="rect">
                <a:avLst/>
              </a:prstGeom>
              <a:blipFill>
                <a:blip r:embed="rId4"/>
                <a:stretch>
                  <a:fillRect l="-870" b="-6818"/>
                </a:stretch>
              </a:blipFill>
            </p:spPr>
            <p:txBody>
              <a:bodyPr/>
              <a:lstStyle/>
              <a:p>
                <a:r>
                  <a:rPr lang="en-CA">
                    <a:noFill/>
                  </a:rPr>
                  <a:t> </a:t>
                </a:r>
              </a:p>
            </p:txBody>
          </p:sp>
        </mc:Fallback>
      </mc:AlternateContent>
      <p:pic>
        <p:nvPicPr>
          <p:cNvPr id="5" name="Picture 4">
            <a:extLst>
              <a:ext uri="{FF2B5EF4-FFF2-40B4-BE49-F238E27FC236}">
                <a16:creationId xmlns:a16="http://schemas.microsoft.com/office/drawing/2014/main" id="{90E69DC5-4568-DE0A-EFAA-6B256515D8BA}"/>
              </a:ext>
            </a:extLst>
          </p:cNvPr>
          <p:cNvPicPr>
            <a:picLocks noChangeAspect="1"/>
          </p:cNvPicPr>
          <p:nvPr/>
        </p:nvPicPr>
        <p:blipFill>
          <a:blip r:embed="rId5"/>
          <a:srcRect t="51127"/>
          <a:stretch/>
        </p:blipFill>
        <p:spPr>
          <a:xfrm>
            <a:off x="5252300" y="1098454"/>
            <a:ext cx="6429447" cy="413917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A34CCB5-7E3C-6B94-599C-F3119E0D47A0}"/>
                  </a:ext>
                </a:extLst>
              </p:cNvPr>
              <p:cNvSpPr txBox="1"/>
              <p:nvPr/>
            </p:nvSpPr>
            <p:spPr>
              <a:xfrm>
                <a:off x="917565" y="2737005"/>
                <a:ext cx="1313688" cy="400110"/>
              </a:xfrm>
              <a:prstGeom prst="rect">
                <a:avLst/>
              </a:prstGeom>
              <a:noFill/>
            </p:spPr>
            <p:txBody>
              <a:bodyPr wrap="square">
                <a:spAutoFit/>
              </a:bodyPr>
              <a:lstStyle/>
              <a:p>
                <a14:m>
                  <m:oMath xmlns:m="http://schemas.openxmlformats.org/officeDocument/2006/math">
                    <m:r>
                      <a:rPr lang="en-CA" sz="2000" i="1" dirty="0" smtClean="0">
                        <a:latin typeface="Cambria Math" panose="02040503050406030204" pitchFamily="18" charset="0"/>
                      </a:rPr>
                      <m:t>𝑇</m:t>
                    </m:r>
                    <m:r>
                      <a:rPr lang="en-CA"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10</m:t>
                        </m:r>
                      </m:e>
                      <m:sup>
                        <m:r>
                          <a:rPr lang="en-US" sz="2000" b="0" i="1" dirty="0" smtClean="0">
                            <a:latin typeface="Cambria Math" panose="02040503050406030204" pitchFamily="18" charset="0"/>
                          </a:rPr>
                          <m:t>8</m:t>
                        </m:r>
                      </m:sup>
                    </m:sSup>
                    <m:r>
                      <a:rPr lang="en-CA" sz="2000" i="1" dirty="0" smtClean="0">
                        <a:latin typeface="Cambria Math" panose="02040503050406030204" pitchFamily="18" charset="0"/>
                      </a:rPr>
                      <m:t> </m:t>
                    </m:r>
                  </m:oMath>
                </a14:m>
                <a:r>
                  <a:rPr lang="en-CA" sz="2000" dirty="0"/>
                  <a:t>,</a:t>
                </a:r>
              </a:p>
            </p:txBody>
          </p:sp>
        </mc:Choice>
        <mc:Fallback xmlns="">
          <p:sp>
            <p:nvSpPr>
              <p:cNvPr id="11" name="TextBox 10">
                <a:extLst>
                  <a:ext uri="{FF2B5EF4-FFF2-40B4-BE49-F238E27FC236}">
                    <a16:creationId xmlns:a16="http://schemas.microsoft.com/office/drawing/2014/main" id="{AA34CCB5-7E3C-6B94-599C-F3119E0D47A0}"/>
                  </a:ext>
                </a:extLst>
              </p:cNvPr>
              <p:cNvSpPr txBox="1">
                <a:spLocks noRot="1" noChangeAspect="1" noMove="1" noResize="1" noEditPoints="1" noAdjustHandles="1" noChangeArrowheads="1" noChangeShapeType="1" noTextEdit="1"/>
              </p:cNvSpPr>
              <p:nvPr/>
            </p:nvSpPr>
            <p:spPr>
              <a:xfrm>
                <a:off x="917565" y="2737005"/>
                <a:ext cx="1313688" cy="400110"/>
              </a:xfrm>
              <a:prstGeom prst="rect">
                <a:avLst/>
              </a:prstGeom>
              <a:blipFill>
                <a:blip r:embed="rId6"/>
                <a:stretch>
                  <a:fillRect t="-909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DF3F56-892D-4B87-DA0C-9A581B73E31F}"/>
                  </a:ext>
                </a:extLst>
              </p:cNvPr>
              <p:cNvSpPr txBox="1"/>
              <p:nvPr/>
            </p:nvSpPr>
            <p:spPr>
              <a:xfrm>
                <a:off x="2047620" y="2743744"/>
                <a:ext cx="1313688" cy="400110"/>
              </a:xfrm>
              <a:prstGeom prst="rect">
                <a:avLst/>
              </a:prstGeom>
              <a:noFill/>
            </p:spPr>
            <p:txBody>
              <a:bodyPr wrap="square">
                <a:spAutoFit/>
              </a:bodyPr>
              <a:lstStyle/>
              <a:p>
                <a14:m>
                  <m:oMath xmlns:m="http://schemas.openxmlformats.org/officeDocument/2006/math">
                    <m:r>
                      <a:rPr lang="en-US" sz="2000" b="0" i="1" dirty="0" smtClean="0">
                        <a:latin typeface="Cambria Math" panose="02040503050406030204" pitchFamily="18" charset="0"/>
                      </a:rPr>
                      <m:t>𝜆</m:t>
                    </m:r>
                    <m:r>
                      <a:rPr lang="en-CA"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10</m:t>
                        </m:r>
                      </m:e>
                      <m:sup>
                        <m:r>
                          <a:rPr lang="en-US" sz="2000" b="0" i="1" dirty="0" smtClean="0">
                            <a:latin typeface="Cambria Math" panose="02040503050406030204" pitchFamily="18" charset="0"/>
                          </a:rPr>
                          <m:t>−4</m:t>
                        </m:r>
                      </m:sup>
                    </m:sSup>
                    <m:r>
                      <a:rPr lang="en-CA" sz="2000" i="1" dirty="0" smtClean="0">
                        <a:latin typeface="Cambria Math" panose="02040503050406030204" pitchFamily="18" charset="0"/>
                      </a:rPr>
                      <m:t> </m:t>
                    </m:r>
                  </m:oMath>
                </a14:m>
                <a:r>
                  <a:rPr lang="en-CA" sz="2000" dirty="0"/>
                  <a:t>,</a:t>
                </a:r>
              </a:p>
            </p:txBody>
          </p:sp>
        </mc:Choice>
        <mc:Fallback xmlns="">
          <p:sp>
            <p:nvSpPr>
              <p:cNvPr id="13" name="TextBox 12">
                <a:extLst>
                  <a:ext uri="{FF2B5EF4-FFF2-40B4-BE49-F238E27FC236}">
                    <a16:creationId xmlns:a16="http://schemas.microsoft.com/office/drawing/2014/main" id="{5DDF3F56-892D-4B87-DA0C-9A581B73E31F}"/>
                  </a:ext>
                </a:extLst>
              </p:cNvPr>
              <p:cNvSpPr txBox="1">
                <a:spLocks noRot="1" noChangeAspect="1" noMove="1" noResize="1" noEditPoints="1" noAdjustHandles="1" noChangeArrowheads="1" noChangeShapeType="1" noTextEdit="1"/>
              </p:cNvSpPr>
              <p:nvPr/>
            </p:nvSpPr>
            <p:spPr>
              <a:xfrm>
                <a:off x="2047620" y="2743744"/>
                <a:ext cx="1313688" cy="400110"/>
              </a:xfrm>
              <a:prstGeom prst="rect">
                <a:avLst/>
              </a:prstGeom>
              <a:blipFill>
                <a:blip r:embed="rId7"/>
                <a:stretch>
                  <a:fillRect t="-9375" r="-4808" b="-25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57B32EE-300A-B6EA-3470-4F5186F78FF1}"/>
                  </a:ext>
                </a:extLst>
              </p:cNvPr>
              <p:cNvSpPr txBox="1"/>
              <p:nvPr/>
            </p:nvSpPr>
            <p:spPr>
              <a:xfrm>
                <a:off x="3280254" y="2737005"/>
                <a:ext cx="131368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𝜎</m:t>
                      </m:r>
                      <m:r>
                        <a:rPr lang="en-CA"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10</m:t>
                          </m:r>
                        </m:e>
                        <m:sup>
                          <m:r>
                            <a:rPr lang="en-US" sz="2000" b="0" i="1" dirty="0" smtClean="0">
                              <a:latin typeface="Cambria Math" panose="02040503050406030204" pitchFamily="18" charset="0"/>
                            </a:rPr>
                            <m:t>−8</m:t>
                          </m:r>
                        </m:sup>
                      </m:sSup>
                      <m:r>
                        <a:rPr lang="en-CA" sz="2000" i="1" dirty="0" smtClean="0">
                          <a:latin typeface="Cambria Math" panose="02040503050406030204" pitchFamily="18" charset="0"/>
                        </a:rPr>
                        <m:t> </m:t>
                      </m:r>
                    </m:oMath>
                  </m:oMathPara>
                </a14:m>
                <a:endParaRPr lang="en-CA" sz="2000" dirty="0"/>
              </a:p>
            </p:txBody>
          </p:sp>
        </mc:Choice>
        <mc:Fallback xmlns="">
          <p:sp>
            <p:nvSpPr>
              <p:cNvPr id="16" name="TextBox 15">
                <a:extLst>
                  <a:ext uri="{FF2B5EF4-FFF2-40B4-BE49-F238E27FC236}">
                    <a16:creationId xmlns:a16="http://schemas.microsoft.com/office/drawing/2014/main" id="{657B32EE-300A-B6EA-3470-4F5186F78FF1}"/>
                  </a:ext>
                </a:extLst>
              </p:cNvPr>
              <p:cNvSpPr txBox="1">
                <a:spLocks noRot="1" noChangeAspect="1" noMove="1" noResize="1" noEditPoints="1" noAdjustHandles="1" noChangeArrowheads="1" noChangeShapeType="1" noTextEdit="1"/>
              </p:cNvSpPr>
              <p:nvPr/>
            </p:nvSpPr>
            <p:spPr>
              <a:xfrm>
                <a:off x="3280254" y="2737005"/>
                <a:ext cx="1313688" cy="400110"/>
              </a:xfrm>
              <a:prstGeom prst="rect">
                <a:avLst/>
              </a:prstGeom>
              <a:blipFill>
                <a:blip r:embed="rId8"/>
                <a:stretch>
                  <a:fillRect r="-962"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467BB03-4000-5F1E-F927-D1C04D112950}"/>
                  </a:ext>
                </a:extLst>
              </p:cNvPr>
              <p:cNvSpPr txBox="1"/>
              <p:nvPr/>
            </p:nvSpPr>
            <p:spPr>
              <a:xfrm>
                <a:off x="1891053" y="1530296"/>
                <a:ext cx="1869579" cy="400110"/>
              </a:xfrm>
              <a:prstGeom prst="rect">
                <a:avLst/>
              </a:prstGeom>
              <a:noFill/>
            </p:spPr>
            <p:txBody>
              <a:bodyPr wrap="square">
                <a:spAutoFit/>
              </a:bodyPr>
              <a:lstStyle/>
              <a:p>
                <a14:m>
                  <m:oMath xmlns:m="http://schemas.openxmlformats.org/officeDocument/2006/math">
                    <m:r>
                      <a:rPr lang="en-US" sz="2000" b="0" i="1" dirty="0" smtClean="0">
                        <a:latin typeface="Cambria Math" panose="02040503050406030204" pitchFamily="18" charset="0"/>
                      </a:rPr>
                      <m:t>𝑁</m:t>
                    </m:r>
                    <m:r>
                      <a:rPr lang="en-CA" sz="2000" i="1" dirty="0" smtClean="0">
                        <a:latin typeface="Cambria Math" panose="02040503050406030204" pitchFamily="18" charset="0"/>
                      </a:rPr>
                      <m:t>=</m:t>
                    </m:r>
                    <m:r>
                      <a:rPr lang="en-US" sz="2000" b="0" i="1" dirty="0" smtClean="0">
                        <a:latin typeface="Cambria Math" panose="02040503050406030204" pitchFamily="18" charset="0"/>
                      </a:rPr>
                      <m:t>6</m:t>
                    </m:r>
                  </m:oMath>
                </a14:m>
                <a:r>
                  <a:rPr lang="en-CA" sz="2000" dirty="0"/>
                  <a:t> qubits</a:t>
                </a:r>
              </a:p>
            </p:txBody>
          </p:sp>
        </mc:Choice>
        <mc:Fallback xmlns="">
          <p:sp>
            <p:nvSpPr>
              <p:cNvPr id="19" name="TextBox 18">
                <a:extLst>
                  <a:ext uri="{FF2B5EF4-FFF2-40B4-BE49-F238E27FC236}">
                    <a16:creationId xmlns:a16="http://schemas.microsoft.com/office/drawing/2014/main" id="{5467BB03-4000-5F1E-F927-D1C04D112950}"/>
                  </a:ext>
                </a:extLst>
              </p:cNvPr>
              <p:cNvSpPr txBox="1">
                <a:spLocks noRot="1" noChangeAspect="1" noMove="1" noResize="1" noEditPoints="1" noAdjustHandles="1" noChangeArrowheads="1" noChangeShapeType="1" noTextEdit="1"/>
              </p:cNvSpPr>
              <p:nvPr/>
            </p:nvSpPr>
            <p:spPr>
              <a:xfrm>
                <a:off x="1891053" y="1530296"/>
                <a:ext cx="1869579" cy="400110"/>
              </a:xfrm>
              <a:prstGeom prst="rect">
                <a:avLst/>
              </a:prstGeom>
              <a:blipFill>
                <a:blip r:embed="rId9"/>
                <a:stretch>
                  <a:fillRect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C3ECFCC-AFE4-F0BC-338E-90D4E866B5DF}"/>
                  </a:ext>
                </a:extLst>
              </p:cNvPr>
              <p:cNvSpPr txBox="1"/>
              <p:nvPr/>
            </p:nvSpPr>
            <p:spPr>
              <a:xfrm>
                <a:off x="1402327" y="4018280"/>
                <a:ext cx="253477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CA" sz="2000" i="1" dirty="0" smtClean="0">
                              <a:latin typeface="Cambria Math" panose="02040503050406030204" pitchFamily="18" charset="0"/>
                            </a:rPr>
                          </m:ctrlPr>
                        </m:dPr>
                        <m:e>
                          <m:r>
                            <a:rPr lang="en-CA" sz="2000" i="1" dirty="0" smtClean="0">
                              <a:latin typeface="Cambria Math" panose="02040503050406030204" pitchFamily="18" charset="0"/>
                            </a:rPr>
                            <m:t>∆</m:t>
                          </m:r>
                          <m:r>
                            <a:rPr lang="en-CA" sz="2000" i="1" dirty="0" smtClean="0">
                              <a:latin typeface="Cambria Math" panose="02040503050406030204" pitchFamily="18" charset="0"/>
                            </a:rPr>
                            <m:t>𝑥</m:t>
                          </m:r>
                          <m:r>
                            <a:rPr lang="en-CA" sz="2000" i="1" dirty="0" smtClean="0">
                              <a:latin typeface="Cambria Math" panose="02040503050406030204" pitchFamily="18" charset="0"/>
                            </a:rPr>
                            <m:t>, ∆</m:t>
                          </m:r>
                          <m:r>
                            <a:rPr lang="en-CA" sz="2000" i="1" dirty="0" smtClean="0">
                              <a:latin typeface="Cambria Math" panose="02040503050406030204" pitchFamily="18" charset="0"/>
                            </a:rPr>
                            <m:t>𝑦</m:t>
                          </m:r>
                        </m:e>
                      </m:d>
                      <m:r>
                        <a:rPr lang="en-US" sz="2000" b="0" i="1" dirty="0" smtClean="0">
                          <a:latin typeface="Cambria Math" panose="02040503050406030204" pitchFamily="18" charset="0"/>
                        </a:rPr>
                        <m:t>=</m:t>
                      </m:r>
                      <m:r>
                        <a:rPr lang="en-CA" sz="2000" i="1" dirty="0" smtClean="0">
                          <a:latin typeface="Cambria Math" panose="02040503050406030204" pitchFamily="18" charset="0"/>
                        </a:rPr>
                        <m:t>𝑇</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𝜆</m:t>
                          </m:r>
                        </m:e>
                        <m:sup>
                          <m:r>
                            <a:rPr lang="en-CA" sz="2000" i="1" dirty="0" smtClean="0">
                              <a:latin typeface="Cambria Math" panose="02040503050406030204" pitchFamily="18" charset="0"/>
                            </a:rPr>
                            <m:t>2</m:t>
                          </m:r>
                        </m:sup>
                      </m:sSup>
                      <m:r>
                        <a:rPr lang="en-CA" sz="2000" i="1" dirty="0" smtClean="0">
                          <a:latin typeface="Cambria Math" panose="02040503050406030204" pitchFamily="18" charset="0"/>
                        </a:rPr>
                        <m:t>(5, 3) </m:t>
                      </m:r>
                    </m:oMath>
                  </m:oMathPara>
                </a14:m>
                <a:endParaRPr lang="en-CA" sz="2000" dirty="0"/>
              </a:p>
            </p:txBody>
          </p:sp>
        </mc:Choice>
        <mc:Fallback xmlns="">
          <p:sp>
            <p:nvSpPr>
              <p:cNvPr id="22" name="TextBox 21">
                <a:extLst>
                  <a:ext uri="{FF2B5EF4-FFF2-40B4-BE49-F238E27FC236}">
                    <a16:creationId xmlns:a16="http://schemas.microsoft.com/office/drawing/2014/main" id="{5C3ECFCC-AFE4-F0BC-338E-90D4E866B5DF}"/>
                  </a:ext>
                </a:extLst>
              </p:cNvPr>
              <p:cNvSpPr txBox="1">
                <a:spLocks noRot="1" noChangeAspect="1" noMove="1" noResize="1" noEditPoints="1" noAdjustHandles="1" noChangeArrowheads="1" noChangeShapeType="1" noTextEdit="1"/>
              </p:cNvSpPr>
              <p:nvPr/>
            </p:nvSpPr>
            <p:spPr>
              <a:xfrm>
                <a:off x="1402327" y="4018280"/>
                <a:ext cx="2534771" cy="400110"/>
              </a:xfrm>
              <a:prstGeom prst="rect">
                <a:avLst/>
              </a:prstGeom>
              <a:blipFill>
                <a:blip r:embed="rId10"/>
                <a:stretch>
                  <a:fillRect b="-1875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3758C58-1013-56CA-E333-1AB1D70A6C21}"/>
                  </a:ext>
                </a:extLst>
              </p:cNvPr>
              <p:cNvSpPr txBox="1"/>
              <p:nvPr/>
            </p:nvSpPr>
            <p:spPr>
              <a:xfrm>
                <a:off x="1891054" y="1837393"/>
                <a:ext cx="1747151" cy="400110"/>
              </a:xfrm>
              <a:prstGeom prst="rect">
                <a:avLst/>
              </a:prstGeom>
              <a:noFill/>
            </p:spPr>
            <p:txBody>
              <a:bodyPr wrap="square">
                <a:spAutoFit/>
              </a:bodyPr>
              <a:lstStyle/>
              <a:p>
                <a14:m>
                  <m:oMath xmlns:m="http://schemas.openxmlformats.org/officeDocument/2006/math">
                    <m:r>
                      <a:rPr lang="en-CA" sz="2000" i="1" dirty="0" smtClean="0">
                        <a:latin typeface="Cambria Math" panose="02040503050406030204" pitchFamily="18" charset="0"/>
                      </a:rPr>
                      <m:t>𝐷</m:t>
                    </m:r>
                    <m:r>
                      <a:rPr lang="en-CA" sz="2000" i="1" dirty="0" smtClean="0">
                        <a:latin typeface="Cambria Math" panose="02040503050406030204" pitchFamily="18" charset="0"/>
                      </a:rPr>
                      <m:t>=50 </m:t>
                    </m:r>
                  </m:oMath>
                </a14:m>
                <a:r>
                  <a:rPr lang="en-CA" sz="2000" dirty="0"/>
                  <a:t>layers</a:t>
                </a:r>
              </a:p>
            </p:txBody>
          </p:sp>
        </mc:Choice>
        <mc:Fallback xmlns="">
          <p:sp>
            <p:nvSpPr>
              <p:cNvPr id="24" name="TextBox 23">
                <a:extLst>
                  <a:ext uri="{FF2B5EF4-FFF2-40B4-BE49-F238E27FC236}">
                    <a16:creationId xmlns:a16="http://schemas.microsoft.com/office/drawing/2014/main" id="{43758C58-1013-56CA-E333-1AB1D70A6C21}"/>
                  </a:ext>
                </a:extLst>
              </p:cNvPr>
              <p:cNvSpPr txBox="1">
                <a:spLocks noRot="1" noChangeAspect="1" noMove="1" noResize="1" noEditPoints="1" noAdjustHandles="1" noChangeArrowheads="1" noChangeShapeType="1" noTextEdit="1"/>
              </p:cNvSpPr>
              <p:nvPr/>
            </p:nvSpPr>
            <p:spPr>
              <a:xfrm>
                <a:off x="1891054" y="1837393"/>
                <a:ext cx="1747151" cy="400110"/>
              </a:xfrm>
              <a:prstGeom prst="rect">
                <a:avLst/>
              </a:prstGeom>
              <a:blipFill>
                <a:blip r:embed="rId11"/>
                <a:stretch>
                  <a:fillRect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88FB634-BFB0-5848-48AB-5A98B2B4BF21}"/>
                  </a:ext>
                </a:extLst>
              </p:cNvPr>
              <p:cNvSpPr txBox="1"/>
              <p:nvPr/>
            </p:nvSpPr>
            <p:spPr>
              <a:xfrm>
                <a:off x="1976041" y="4926950"/>
                <a:ext cx="115519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𝜎</m:t>
                              </m:r>
                            </m:e>
                          </m:acc>
                        </m:e>
                        <m:sub>
                          <m:r>
                            <a:rPr lang="en-US" sz="2000" b="0" i="1" smtClean="0">
                              <a:latin typeface="Cambria Math" panose="02040503050406030204" pitchFamily="18" charset="0"/>
                            </a:rPr>
                            <m:t>𝑧</m:t>
                          </m:r>
                        </m:sub>
                      </m:sSub>
                    </m:oMath>
                  </m:oMathPara>
                </a14:m>
                <a:endParaRPr lang="en-CA" sz="2000" dirty="0"/>
              </a:p>
            </p:txBody>
          </p:sp>
        </mc:Choice>
        <mc:Fallback xmlns="">
          <p:sp>
            <p:nvSpPr>
              <p:cNvPr id="55" name="TextBox 54">
                <a:extLst>
                  <a:ext uri="{FF2B5EF4-FFF2-40B4-BE49-F238E27FC236}">
                    <a16:creationId xmlns:a16="http://schemas.microsoft.com/office/drawing/2014/main" id="{D88FB634-BFB0-5848-48AB-5A98B2B4BF21}"/>
                  </a:ext>
                </a:extLst>
              </p:cNvPr>
              <p:cNvSpPr txBox="1">
                <a:spLocks noRot="1" noChangeAspect="1" noMove="1" noResize="1" noEditPoints="1" noAdjustHandles="1" noChangeArrowheads="1" noChangeShapeType="1" noTextEdit="1"/>
              </p:cNvSpPr>
              <p:nvPr/>
            </p:nvSpPr>
            <p:spPr>
              <a:xfrm>
                <a:off x="1976041" y="4926950"/>
                <a:ext cx="1155192" cy="400110"/>
              </a:xfrm>
              <a:prstGeom prst="rect">
                <a:avLst/>
              </a:prstGeom>
              <a:blipFill>
                <a:blip r:embed="rId12"/>
                <a:stretch>
                  <a:fillRect t="-3030" b="-606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7B9DDE3-0E8D-D572-BDBD-9C090B7ED1E6}"/>
                  </a:ext>
                </a:extLst>
              </p:cNvPr>
              <p:cNvSpPr txBox="1"/>
              <p:nvPr/>
            </p:nvSpPr>
            <p:spPr>
              <a:xfrm>
                <a:off x="845276" y="3243917"/>
                <a:ext cx="3748665" cy="707886"/>
              </a:xfrm>
              <a:prstGeom prst="rect">
                <a:avLst/>
              </a:prstGeom>
              <a:noFill/>
            </p:spPr>
            <p:txBody>
              <a:bodyPr wrap="square">
                <a:spAutoFit/>
              </a:bodyPr>
              <a:lstStyle/>
              <a:p>
                <a:r>
                  <a:rPr lang="en-CA" sz="2000" dirty="0"/>
                  <a:t>Fix qubit geometry to </a:t>
                </a:r>
                <a14:m>
                  <m:oMath xmlns:m="http://schemas.openxmlformats.org/officeDocument/2006/math">
                    <m:r>
                      <a:rPr lang="en-CA" sz="2000" i="1" dirty="0" smtClean="0">
                        <a:latin typeface="Cambria Math" panose="02040503050406030204" pitchFamily="18" charset="0"/>
                      </a:rPr>
                      <m:t>3×2 </m:t>
                    </m:r>
                  </m:oMath>
                </a14:m>
                <a:r>
                  <a:rPr lang="en-CA" sz="2000" dirty="0"/>
                  <a:t>lattice with separations </a:t>
                </a:r>
              </a:p>
            </p:txBody>
          </p:sp>
        </mc:Choice>
        <mc:Fallback xmlns="">
          <p:sp>
            <p:nvSpPr>
              <p:cNvPr id="57" name="TextBox 56">
                <a:extLst>
                  <a:ext uri="{FF2B5EF4-FFF2-40B4-BE49-F238E27FC236}">
                    <a16:creationId xmlns:a16="http://schemas.microsoft.com/office/drawing/2014/main" id="{A7B9DDE3-0E8D-D572-BDBD-9C090B7ED1E6}"/>
                  </a:ext>
                </a:extLst>
              </p:cNvPr>
              <p:cNvSpPr txBox="1">
                <a:spLocks noRot="1" noChangeAspect="1" noMove="1" noResize="1" noEditPoints="1" noAdjustHandles="1" noChangeArrowheads="1" noChangeShapeType="1" noTextEdit="1"/>
              </p:cNvSpPr>
              <p:nvPr/>
            </p:nvSpPr>
            <p:spPr>
              <a:xfrm>
                <a:off x="845276" y="3243917"/>
                <a:ext cx="3748665" cy="707886"/>
              </a:xfrm>
              <a:prstGeom prst="rect">
                <a:avLst/>
              </a:prstGeom>
              <a:blipFill>
                <a:blip r:embed="rId13"/>
                <a:stretch>
                  <a:fillRect l="-1689" t="-5263" b="-14035"/>
                </a:stretch>
              </a:blipFill>
            </p:spPr>
            <p:txBody>
              <a:bodyPr/>
              <a:lstStyle/>
              <a:p>
                <a:r>
                  <a:rPr lang="en-CA">
                    <a:noFill/>
                  </a:rPr>
                  <a:t> </a:t>
                </a:r>
              </a:p>
            </p:txBody>
          </p:sp>
        </mc:Fallback>
      </mc:AlternateContent>
      <p:sp>
        <p:nvSpPr>
          <p:cNvPr id="59" name="TextBox 58">
            <a:extLst>
              <a:ext uri="{FF2B5EF4-FFF2-40B4-BE49-F238E27FC236}">
                <a16:creationId xmlns:a16="http://schemas.microsoft.com/office/drawing/2014/main" id="{A6B370CC-6D9B-01CF-2FD0-29170CAFA6FA}"/>
              </a:ext>
            </a:extLst>
          </p:cNvPr>
          <p:cNvSpPr txBox="1"/>
          <p:nvPr/>
        </p:nvSpPr>
        <p:spPr>
          <a:xfrm>
            <a:off x="845276" y="4483149"/>
            <a:ext cx="3556465" cy="400110"/>
          </a:xfrm>
          <a:prstGeom prst="rect">
            <a:avLst/>
          </a:prstGeom>
          <a:noFill/>
        </p:spPr>
        <p:txBody>
          <a:bodyPr wrap="square" rtlCol="0">
            <a:spAutoFit/>
          </a:bodyPr>
          <a:lstStyle/>
          <a:p>
            <a:r>
              <a:rPr lang="en-CA" sz="2000" dirty="0"/>
              <a:t>and entangling gate operators</a:t>
            </a:r>
          </a:p>
        </p:txBody>
      </p:sp>
      <p:sp>
        <p:nvSpPr>
          <p:cNvPr id="12" name="TextBox 11">
            <a:extLst>
              <a:ext uri="{FF2B5EF4-FFF2-40B4-BE49-F238E27FC236}">
                <a16:creationId xmlns:a16="http://schemas.microsoft.com/office/drawing/2014/main" id="{CC97A543-2FAD-267F-2355-79EAF6F838D3}"/>
              </a:ext>
            </a:extLst>
          </p:cNvPr>
          <p:cNvSpPr txBox="1"/>
          <p:nvPr/>
        </p:nvSpPr>
        <p:spPr>
          <a:xfrm>
            <a:off x="2231253" y="2269187"/>
            <a:ext cx="644769" cy="400110"/>
          </a:xfrm>
          <a:prstGeom prst="rect">
            <a:avLst/>
          </a:prstGeom>
          <a:noFill/>
        </p:spPr>
        <p:txBody>
          <a:bodyPr wrap="square" rtlCol="0">
            <a:spAutoFit/>
          </a:bodyPr>
          <a:lstStyle/>
          <a:p>
            <a:r>
              <a:rPr lang="en-CA" sz="2000" dirty="0"/>
              <a:t>with</a:t>
            </a:r>
          </a:p>
        </p:txBody>
      </p:sp>
    </p:spTree>
    <p:custDataLst>
      <p:tags r:id="rId1"/>
    </p:custDataLst>
    <p:extLst>
      <p:ext uri="{BB962C8B-B14F-4D97-AF65-F5344CB8AC3E}">
        <p14:creationId xmlns:p14="http://schemas.microsoft.com/office/powerpoint/2010/main" val="190011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2C67C-8A49-B596-EE74-1FBE40345E4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29AC9E6F-E9B3-5879-FC03-0E161006D0F2}"/>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1B3E08AC-796F-3F60-47F0-8C9A35BEB0F9}"/>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Quantum Fourier Transform Example</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3906ED59-2BBB-3495-0820-96DDA6FA797C}"/>
              </a:ext>
            </a:extLst>
          </p:cNvPr>
          <p:cNvSpPr>
            <a:spLocks noGrp="1"/>
          </p:cNvSpPr>
          <p:nvPr>
            <p:ph type="sldNum" sz="quarter" idx="12"/>
          </p:nvPr>
        </p:nvSpPr>
        <p:spPr/>
        <p:txBody>
          <a:bodyPr/>
          <a:lstStyle/>
          <a:p>
            <a:fld id="{D0617D14-1B55-43C0-819D-0D244AC23646}" type="slidenum">
              <a:rPr lang="de-AT" smtClean="0"/>
              <a:t>17</a:t>
            </a:fld>
            <a:endParaRPr lang="de-AT"/>
          </a:p>
        </p:txBody>
      </p:sp>
      <p:pic>
        <p:nvPicPr>
          <p:cNvPr id="6" name="Picture 5">
            <a:extLst>
              <a:ext uri="{FF2B5EF4-FFF2-40B4-BE49-F238E27FC236}">
                <a16:creationId xmlns:a16="http://schemas.microsoft.com/office/drawing/2014/main" id="{A447C250-CA11-45AE-2173-03C885C35EA7}"/>
              </a:ext>
            </a:extLst>
          </p:cNvPr>
          <p:cNvPicPr>
            <a:picLocks noChangeAspect="1"/>
          </p:cNvPicPr>
          <p:nvPr/>
        </p:nvPicPr>
        <p:blipFill>
          <a:blip r:embed="rId4"/>
          <a:srcRect b="51126"/>
          <a:stretch/>
        </p:blipFill>
        <p:spPr>
          <a:xfrm>
            <a:off x="5137039" y="1158199"/>
            <a:ext cx="6656375" cy="428526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FF6039A-AE68-186B-03F8-7E2FB46F9863}"/>
                  </a:ext>
                </a:extLst>
              </p:cNvPr>
              <p:cNvSpPr txBox="1"/>
              <p:nvPr/>
            </p:nvSpPr>
            <p:spPr>
              <a:xfrm>
                <a:off x="6316112" y="5528074"/>
                <a:ext cx="4949765" cy="400110"/>
              </a:xfrm>
              <a:prstGeom prst="rect">
                <a:avLst/>
              </a:prstGeom>
              <a:noFill/>
            </p:spPr>
            <p:txBody>
              <a:bodyPr wrap="square">
                <a:spAutoFit/>
              </a:bodyPr>
              <a:lstStyle/>
              <a:p>
                <a:r>
                  <a:rPr lang="en-CA" sz="2000" dirty="0"/>
                  <a:t>Average final fidelity: </a:t>
                </a:r>
                <a14:m>
                  <m:oMath xmlns:m="http://schemas.openxmlformats.org/officeDocument/2006/math">
                    <m:r>
                      <a:rPr lang="en-CA" sz="2000" i="1" dirty="0" smtClean="0">
                        <a:latin typeface="Cambria Math" panose="02040503050406030204" pitchFamily="18" charset="0"/>
                      </a:rPr>
                      <m:t>𝐹</m:t>
                    </m:r>
                    <m:r>
                      <a:rPr lang="en-CA" sz="2000" i="1" dirty="0" smtClean="0">
                        <a:latin typeface="Cambria Math" panose="02040503050406030204" pitchFamily="18" charset="0"/>
                      </a:rPr>
                      <m:t>=0.9962±0.0014</m:t>
                    </m:r>
                  </m:oMath>
                </a14:m>
                <a:endParaRPr lang="en-CA" sz="2000" dirty="0"/>
              </a:p>
            </p:txBody>
          </p:sp>
        </mc:Choice>
        <mc:Fallback xmlns="">
          <p:sp>
            <p:nvSpPr>
              <p:cNvPr id="9" name="TextBox 8">
                <a:extLst>
                  <a:ext uri="{FF2B5EF4-FFF2-40B4-BE49-F238E27FC236}">
                    <a16:creationId xmlns:a16="http://schemas.microsoft.com/office/drawing/2014/main" id="{EFF6039A-AE68-186B-03F8-7E2FB46F9863}"/>
                  </a:ext>
                </a:extLst>
              </p:cNvPr>
              <p:cNvSpPr txBox="1">
                <a:spLocks noRot="1" noChangeAspect="1" noMove="1" noResize="1" noEditPoints="1" noAdjustHandles="1" noChangeArrowheads="1" noChangeShapeType="1" noTextEdit="1"/>
              </p:cNvSpPr>
              <p:nvPr/>
            </p:nvSpPr>
            <p:spPr>
              <a:xfrm>
                <a:off x="6316112" y="5528074"/>
                <a:ext cx="4949765" cy="400110"/>
              </a:xfrm>
              <a:prstGeom prst="rect">
                <a:avLst/>
              </a:prstGeom>
              <a:blipFill>
                <a:blip r:embed="rId5"/>
                <a:stretch>
                  <a:fillRect l="-1279" t="-9375" b="-28125"/>
                </a:stretch>
              </a:blipFill>
            </p:spPr>
            <p:txBody>
              <a:bodyPr/>
              <a:lstStyle/>
              <a:p>
                <a:r>
                  <a:rPr lang="en-CA">
                    <a:noFill/>
                  </a:rPr>
                  <a:t> </a:t>
                </a:r>
              </a:p>
            </p:txBody>
          </p:sp>
        </mc:Fallback>
      </mc:AlternateContent>
      <p:sp>
        <p:nvSpPr>
          <p:cNvPr id="8" name="Rounded Rectangle 7">
            <a:extLst>
              <a:ext uri="{FF2B5EF4-FFF2-40B4-BE49-F238E27FC236}">
                <a16:creationId xmlns:a16="http://schemas.microsoft.com/office/drawing/2014/main" id="{187B4027-A32F-F581-8118-E22BB6A0F851}"/>
              </a:ext>
            </a:extLst>
          </p:cNvPr>
          <p:cNvSpPr/>
          <p:nvPr/>
        </p:nvSpPr>
        <p:spPr>
          <a:xfrm>
            <a:off x="732418" y="1494824"/>
            <a:ext cx="3861524" cy="400519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F6B8519-0297-4208-DE4A-8926B41BFC9B}"/>
                  </a:ext>
                </a:extLst>
              </p:cNvPr>
              <p:cNvSpPr txBox="1"/>
              <p:nvPr/>
            </p:nvSpPr>
            <p:spPr>
              <a:xfrm>
                <a:off x="917565" y="2737005"/>
                <a:ext cx="1313688" cy="400110"/>
              </a:xfrm>
              <a:prstGeom prst="rect">
                <a:avLst/>
              </a:prstGeom>
              <a:noFill/>
            </p:spPr>
            <p:txBody>
              <a:bodyPr wrap="square">
                <a:spAutoFit/>
              </a:bodyPr>
              <a:lstStyle/>
              <a:p>
                <a14:m>
                  <m:oMath xmlns:m="http://schemas.openxmlformats.org/officeDocument/2006/math">
                    <m:r>
                      <a:rPr lang="en-CA" sz="2000" i="1" dirty="0" smtClean="0">
                        <a:latin typeface="Cambria Math" panose="02040503050406030204" pitchFamily="18" charset="0"/>
                      </a:rPr>
                      <m:t>𝑇</m:t>
                    </m:r>
                    <m:r>
                      <a:rPr lang="en-CA"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10</m:t>
                        </m:r>
                      </m:e>
                      <m:sup>
                        <m:r>
                          <a:rPr lang="en-US" sz="2000" b="0" i="1" dirty="0" smtClean="0">
                            <a:latin typeface="Cambria Math" panose="02040503050406030204" pitchFamily="18" charset="0"/>
                          </a:rPr>
                          <m:t>8</m:t>
                        </m:r>
                      </m:sup>
                    </m:sSup>
                    <m:r>
                      <a:rPr lang="en-CA" sz="2000" i="1" dirty="0" smtClean="0">
                        <a:latin typeface="Cambria Math" panose="02040503050406030204" pitchFamily="18" charset="0"/>
                      </a:rPr>
                      <m:t> </m:t>
                    </m:r>
                  </m:oMath>
                </a14:m>
                <a:r>
                  <a:rPr lang="en-CA" sz="2000" dirty="0"/>
                  <a:t>,</a:t>
                </a:r>
              </a:p>
            </p:txBody>
          </p:sp>
        </mc:Choice>
        <mc:Fallback xmlns="">
          <p:sp>
            <p:nvSpPr>
              <p:cNvPr id="10" name="TextBox 9">
                <a:extLst>
                  <a:ext uri="{FF2B5EF4-FFF2-40B4-BE49-F238E27FC236}">
                    <a16:creationId xmlns:a16="http://schemas.microsoft.com/office/drawing/2014/main" id="{2F6B8519-0297-4208-DE4A-8926B41BFC9B}"/>
                  </a:ext>
                </a:extLst>
              </p:cNvPr>
              <p:cNvSpPr txBox="1">
                <a:spLocks noRot="1" noChangeAspect="1" noMove="1" noResize="1" noEditPoints="1" noAdjustHandles="1" noChangeArrowheads="1" noChangeShapeType="1" noTextEdit="1"/>
              </p:cNvSpPr>
              <p:nvPr/>
            </p:nvSpPr>
            <p:spPr>
              <a:xfrm>
                <a:off x="917565" y="2737005"/>
                <a:ext cx="1313688" cy="400110"/>
              </a:xfrm>
              <a:prstGeom prst="rect">
                <a:avLst/>
              </a:prstGeom>
              <a:blipFill>
                <a:blip r:embed="rId6"/>
                <a:stretch>
                  <a:fillRect t="-909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0A3FF2C-E2D8-DF4C-AAF9-F361B362BAC2}"/>
                  </a:ext>
                </a:extLst>
              </p:cNvPr>
              <p:cNvSpPr txBox="1"/>
              <p:nvPr/>
            </p:nvSpPr>
            <p:spPr>
              <a:xfrm>
                <a:off x="2047620" y="2743744"/>
                <a:ext cx="1313688" cy="400110"/>
              </a:xfrm>
              <a:prstGeom prst="rect">
                <a:avLst/>
              </a:prstGeom>
              <a:noFill/>
            </p:spPr>
            <p:txBody>
              <a:bodyPr wrap="square">
                <a:spAutoFit/>
              </a:bodyPr>
              <a:lstStyle/>
              <a:p>
                <a14:m>
                  <m:oMath xmlns:m="http://schemas.openxmlformats.org/officeDocument/2006/math">
                    <m:r>
                      <a:rPr lang="en-US" sz="2000" b="0" i="1" dirty="0" smtClean="0">
                        <a:latin typeface="Cambria Math" panose="02040503050406030204" pitchFamily="18" charset="0"/>
                      </a:rPr>
                      <m:t>𝜆</m:t>
                    </m:r>
                    <m:r>
                      <a:rPr lang="en-CA"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10</m:t>
                        </m:r>
                      </m:e>
                      <m:sup>
                        <m:r>
                          <a:rPr lang="en-US" sz="2000" b="0" i="1" dirty="0" smtClean="0">
                            <a:latin typeface="Cambria Math" panose="02040503050406030204" pitchFamily="18" charset="0"/>
                          </a:rPr>
                          <m:t>−4</m:t>
                        </m:r>
                      </m:sup>
                    </m:sSup>
                    <m:r>
                      <a:rPr lang="en-CA" sz="2000" i="1" dirty="0" smtClean="0">
                        <a:latin typeface="Cambria Math" panose="02040503050406030204" pitchFamily="18" charset="0"/>
                      </a:rPr>
                      <m:t> </m:t>
                    </m:r>
                  </m:oMath>
                </a14:m>
                <a:r>
                  <a:rPr lang="en-CA" sz="2000" dirty="0"/>
                  <a:t>,</a:t>
                </a:r>
              </a:p>
            </p:txBody>
          </p:sp>
        </mc:Choice>
        <mc:Fallback xmlns="">
          <p:sp>
            <p:nvSpPr>
              <p:cNvPr id="12" name="TextBox 11">
                <a:extLst>
                  <a:ext uri="{FF2B5EF4-FFF2-40B4-BE49-F238E27FC236}">
                    <a16:creationId xmlns:a16="http://schemas.microsoft.com/office/drawing/2014/main" id="{70A3FF2C-E2D8-DF4C-AAF9-F361B362BAC2}"/>
                  </a:ext>
                </a:extLst>
              </p:cNvPr>
              <p:cNvSpPr txBox="1">
                <a:spLocks noRot="1" noChangeAspect="1" noMove="1" noResize="1" noEditPoints="1" noAdjustHandles="1" noChangeArrowheads="1" noChangeShapeType="1" noTextEdit="1"/>
              </p:cNvSpPr>
              <p:nvPr/>
            </p:nvSpPr>
            <p:spPr>
              <a:xfrm>
                <a:off x="2047620" y="2743744"/>
                <a:ext cx="1313688" cy="400110"/>
              </a:xfrm>
              <a:prstGeom prst="rect">
                <a:avLst/>
              </a:prstGeom>
              <a:blipFill>
                <a:blip r:embed="rId7"/>
                <a:stretch>
                  <a:fillRect t="-9375" r="-4808" b="-25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47FC7ED-039A-A70B-CD6C-3A6DCA0A119D}"/>
                  </a:ext>
                </a:extLst>
              </p:cNvPr>
              <p:cNvSpPr txBox="1"/>
              <p:nvPr/>
            </p:nvSpPr>
            <p:spPr>
              <a:xfrm>
                <a:off x="3280254" y="2737005"/>
                <a:ext cx="131368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𝜎</m:t>
                      </m:r>
                      <m:r>
                        <a:rPr lang="en-CA" sz="2000" i="1" dirty="0" smtClean="0">
                          <a:latin typeface="Cambria Math" panose="02040503050406030204" pitchFamily="18" charset="0"/>
                        </a:rPr>
                        <m:t>=</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10</m:t>
                          </m:r>
                        </m:e>
                        <m:sup>
                          <m:r>
                            <a:rPr lang="en-US" sz="2000" b="0" i="1" dirty="0" smtClean="0">
                              <a:latin typeface="Cambria Math" panose="02040503050406030204" pitchFamily="18" charset="0"/>
                            </a:rPr>
                            <m:t>−8</m:t>
                          </m:r>
                        </m:sup>
                      </m:sSup>
                      <m:r>
                        <a:rPr lang="en-CA" sz="2000" i="1" dirty="0" smtClean="0">
                          <a:latin typeface="Cambria Math" panose="02040503050406030204" pitchFamily="18" charset="0"/>
                        </a:rPr>
                        <m:t> </m:t>
                      </m:r>
                    </m:oMath>
                  </m:oMathPara>
                </a14:m>
                <a:endParaRPr lang="en-CA" sz="2000" dirty="0"/>
              </a:p>
            </p:txBody>
          </p:sp>
        </mc:Choice>
        <mc:Fallback xmlns="">
          <p:sp>
            <p:nvSpPr>
              <p:cNvPr id="14" name="TextBox 13">
                <a:extLst>
                  <a:ext uri="{FF2B5EF4-FFF2-40B4-BE49-F238E27FC236}">
                    <a16:creationId xmlns:a16="http://schemas.microsoft.com/office/drawing/2014/main" id="{B47FC7ED-039A-A70B-CD6C-3A6DCA0A119D}"/>
                  </a:ext>
                </a:extLst>
              </p:cNvPr>
              <p:cNvSpPr txBox="1">
                <a:spLocks noRot="1" noChangeAspect="1" noMove="1" noResize="1" noEditPoints="1" noAdjustHandles="1" noChangeArrowheads="1" noChangeShapeType="1" noTextEdit="1"/>
              </p:cNvSpPr>
              <p:nvPr/>
            </p:nvSpPr>
            <p:spPr>
              <a:xfrm>
                <a:off x="3280254" y="2737005"/>
                <a:ext cx="1313688" cy="400110"/>
              </a:xfrm>
              <a:prstGeom prst="rect">
                <a:avLst/>
              </a:prstGeom>
              <a:blipFill>
                <a:blip r:embed="rId8"/>
                <a:stretch>
                  <a:fillRect r="-962"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C66D7F2-6350-E650-EBB9-730E9DDA45FD}"/>
                  </a:ext>
                </a:extLst>
              </p:cNvPr>
              <p:cNvSpPr txBox="1"/>
              <p:nvPr/>
            </p:nvSpPr>
            <p:spPr>
              <a:xfrm>
                <a:off x="1891053" y="1530296"/>
                <a:ext cx="1869579" cy="400110"/>
              </a:xfrm>
              <a:prstGeom prst="rect">
                <a:avLst/>
              </a:prstGeom>
              <a:noFill/>
            </p:spPr>
            <p:txBody>
              <a:bodyPr wrap="square">
                <a:spAutoFit/>
              </a:bodyPr>
              <a:lstStyle/>
              <a:p>
                <a14:m>
                  <m:oMath xmlns:m="http://schemas.openxmlformats.org/officeDocument/2006/math">
                    <m:r>
                      <a:rPr lang="en-US" sz="2000" b="0" i="1" dirty="0" smtClean="0">
                        <a:latin typeface="Cambria Math" panose="02040503050406030204" pitchFamily="18" charset="0"/>
                      </a:rPr>
                      <m:t>𝑁</m:t>
                    </m:r>
                    <m:r>
                      <a:rPr lang="en-CA" sz="2000" i="1" dirty="0" smtClean="0">
                        <a:latin typeface="Cambria Math" panose="02040503050406030204" pitchFamily="18" charset="0"/>
                      </a:rPr>
                      <m:t>=</m:t>
                    </m:r>
                    <m:r>
                      <a:rPr lang="en-US" sz="2000" b="0" i="1" dirty="0" smtClean="0">
                        <a:latin typeface="Cambria Math" panose="02040503050406030204" pitchFamily="18" charset="0"/>
                      </a:rPr>
                      <m:t>6</m:t>
                    </m:r>
                  </m:oMath>
                </a14:m>
                <a:r>
                  <a:rPr lang="en-CA" sz="2000" dirty="0"/>
                  <a:t> qubits</a:t>
                </a:r>
              </a:p>
            </p:txBody>
          </p:sp>
        </mc:Choice>
        <mc:Fallback xmlns="">
          <p:sp>
            <p:nvSpPr>
              <p:cNvPr id="15" name="TextBox 14">
                <a:extLst>
                  <a:ext uri="{FF2B5EF4-FFF2-40B4-BE49-F238E27FC236}">
                    <a16:creationId xmlns:a16="http://schemas.microsoft.com/office/drawing/2014/main" id="{9C66D7F2-6350-E650-EBB9-730E9DDA45FD}"/>
                  </a:ext>
                </a:extLst>
              </p:cNvPr>
              <p:cNvSpPr txBox="1">
                <a:spLocks noRot="1" noChangeAspect="1" noMove="1" noResize="1" noEditPoints="1" noAdjustHandles="1" noChangeArrowheads="1" noChangeShapeType="1" noTextEdit="1"/>
              </p:cNvSpPr>
              <p:nvPr/>
            </p:nvSpPr>
            <p:spPr>
              <a:xfrm>
                <a:off x="1891053" y="1530296"/>
                <a:ext cx="1869579" cy="400110"/>
              </a:xfrm>
              <a:prstGeom prst="rect">
                <a:avLst/>
              </a:prstGeom>
              <a:blipFill>
                <a:blip r:embed="rId9"/>
                <a:stretch>
                  <a:fillRect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F69D68-A54E-72FA-EC22-46A8399431EC}"/>
                  </a:ext>
                </a:extLst>
              </p:cNvPr>
              <p:cNvSpPr txBox="1"/>
              <p:nvPr/>
            </p:nvSpPr>
            <p:spPr>
              <a:xfrm>
                <a:off x="1402327" y="4018280"/>
                <a:ext cx="253477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CA" sz="2000" i="1" dirty="0" smtClean="0">
                              <a:latin typeface="Cambria Math" panose="02040503050406030204" pitchFamily="18" charset="0"/>
                            </a:rPr>
                          </m:ctrlPr>
                        </m:dPr>
                        <m:e>
                          <m:r>
                            <a:rPr lang="en-CA" sz="2000" i="1" dirty="0" smtClean="0">
                              <a:latin typeface="Cambria Math" panose="02040503050406030204" pitchFamily="18" charset="0"/>
                            </a:rPr>
                            <m:t>∆</m:t>
                          </m:r>
                          <m:r>
                            <a:rPr lang="en-CA" sz="2000" i="1" dirty="0" smtClean="0">
                              <a:latin typeface="Cambria Math" panose="02040503050406030204" pitchFamily="18" charset="0"/>
                            </a:rPr>
                            <m:t>𝑥</m:t>
                          </m:r>
                          <m:r>
                            <a:rPr lang="en-CA" sz="2000" i="1" dirty="0" smtClean="0">
                              <a:latin typeface="Cambria Math" panose="02040503050406030204" pitchFamily="18" charset="0"/>
                            </a:rPr>
                            <m:t>, ∆</m:t>
                          </m:r>
                          <m:r>
                            <a:rPr lang="en-CA" sz="2000" i="1" dirty="0" smtClean="0">
                              <a:latin typeface="Cambria Math" panose="02040503050406030204" pitchFamily="18" charset="0"/>
                            </a:rPr>
                            <m:t>𝑦</m:t>
                          </m:r>
                        </m:e>
                      </m:d>
                      <m:r>
                        <a:rPr lang="en-US" sz="2000" b="0" i="1" dirty="0" smtClean="0">
                          <a:latin typeface="Cambria Math" panose="02040503050406030204" pitchFamily="18" charset="0"/>
                        </a:rPr>
                        <m:t>=</m:t>
                      </m:r>
                      <m:r>
                        <a:rPr lang="en-CA" sz="2000" i="1" dirty="0" smtClean="0">
                          <a:latin typeface="Cambria Math" panose="02040503050406030204" pitchFamily="18" charset="0"/>
                        </a:rPr>
                        <m:t>𝑇</m:t>
                      </m:r>
                      <m:sSup>
                        <m:sSupPr>
                          <m:ctrlPr>
                            <a:rPr lang="en-US" sz="2000" b="0" i="1" dirty="0" smtClean="0">
                              <a:latin typeface="Cambria Math" panose="02040503050406030204" pitchFamily="18" charset="0"/>
                            </a:rPr>
                          </m:ctrlPr>
                        </m:sSupPr>
                        <m:e>
                          <m:r>
                            <a:rPr lang="en-CA" sz="2000" i="1" dirty="0" smtClean="0">
                              <a:latin typeface="Cambria Math" panose="02040503050406030204" pitchFamily="18" charset="0"/>
                            </a:rPr>
                            <m:t>𝜆</m:t>
                          </m:r>
                        </m:e>
                        <m:sup>
                          <m:r>
                            <a:rPr lang="en-CA" sz="2000" i="1" dirty="0" smtClean="0">
                              <a:latin typeface="Cambria Math" panose="02040503050406030204" pitchFamily="18" charset="0"/>
                            </a:rPr>
                            <m:t>2</m:t>
                          </m:r>
                        </m:sup>
                      </m:sSup>
                      <m:r>
                        <a:rPr lang="en-CA" sz="2000" i="1" dirty="0" smtClean="0">
                          <a:latin typeface="Cambria Math" panose="02040503050406030204" pitchFamily="18" charset="0"/>
                        </a:rPr>
                        <m:t>(5, 3) </m:t>
                      </m:r>
                    </m:oMath>
                  </m:oMathPara>
                </a14:m>
                <a:endParaRPr lang="en-CA" sz="2000" dirty="0"/>
              </a:p>
            </p:txBody>
          </p:sp>
        </mc:Choice>
        <mc:Fallback xmlns="">
          <p:sp>
            <p:nvSpPr>
              <p:cNvPr id="17" name="TextBox 16">
                <a:extLst>
                  <a:ext uri="{FF2B5EF4-FFF2-40B4-BE49-F238E27FC236}">
                    <a16:creationId xmlns:a16="http://schemas.microsoft.com/office/drawing/2014/main" id="{83F69D68-A54E-72FA-EC22-46A8399431EC}"/>
                  </a:ext>
                </a:extLst>
              </p:cNvPr>
              <p:cNvSpPr txBox="1">
                <a:spLocks noRot="1" noChangeAspect="1" noMove="1" noResize="1" noEditPoints="1" noAdjustHandles="1" noChangeArrowheads="1" noChangeShapeType="1" noTextEdit="1"/>
              </p:cNvSpPr>
              <p:nvPr/>
            </p:nvSpPr>
            <p:spPr>
              <a:xfrm>
                <a:off x="1402327" y="4018280"/>
                <a:ext cx="2534771" cy="400110"/>
              </a:xfrm>
              <a:prstGeom prst="rect">
                <a:avLst/>
              </a:prstGeom>
              <a:blipFill>
                <a:blip r:embed="rId10"/>
                <a:stretch>
                  <a:fillRect b="-1875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55C9FA-B5F6-31B6-C61A-4357CE4AF637}"/>
                  </a:ext>
                </a:extLst>
              </p:cNvPr>
              <p:cNvSpPr txBox="1"/>
              <p:nvPr/>
            </p:nvSpPr>
            <p:spPr>
              <a:xfrm>
                <a:off x="1891054" y="1837393"/>
                <a:ext cx="1747151" cy="400110"/>
              </a:xfrm>
              <a:prstGeom prst="rect">
                <a:avLst/>
              </a:prstGeom>
              <a:noFill/>
            </p:spPr>
            <p:txBody>
              <a:bodyPr wrap="square">
                <a:spAutoFit/>
              </a:bodyPr>
              <a:lstStyle/>
              <a:p>
                <a14:m>
                  <m:oMath xmlns:m="http://schemas.openxmlformats.org/officeDocument/2006/math">
                    <m:r>
                      <a:rPr lang="en-CA" sz="2000" i="1" dirty="0" smtClean="0">
                        <a:latin typeface="Cambria Math" panose="02040503050406030204" pitchFamily="18" charset="0"/>
                      </a:rPr>
                      <m:t>𝐷</m:t>
                    </m:r>
                    <m:r>
                      <a:rPr lang="en-CA" sz="2000" i="1" dirty="0" smtClean="0">
                        <a:latin typeface="Cambria Math" panose="02040503050406030204" pitchFamily="18" charset="0"/>
                      </a:rPr>
                      <m:t>=50 </m:t>
                    </m:r>
                  </m:oMath>
                </a14:m>
                <a:r>
                  <a:rPr lang="en-CA" sz="2000" dirty="0"/>
                  <a:t>layers</a:t>
                </a:r>
              </a:p>
            </p:txBody>
          </p:sp>
        </mc:Choice>
        <mc:Fallback xmlns="">
          <p:sp>
            <p:nvSpPr>
              <p:cNvPr id="18" name="TextBox 17">
                <a:extLst>
                  <a:ext uri="{FF2B5EF4-FFF2-40B4-BE49-F238E27FC236}">
                    <a16:creationId xmlns:a16="http://schemas.microsoft.com/office/drawing/2014/main" id="{9555C9FA-B5F6-31B6-C61A-4357CE4AF637}"/>
                  </a:ext>
                </a:extLst>
              </p:cNvPr>
              <p:cNvSpPr txBox="1">
                <a:spLocks noRot="1" noChangeAspect="1" noMove="1" noResize="1" noEditPoints="1" noAdjustHandles="1" noChangeArrowheads="1" noChangeShapeType="1" noTextEdit="1"/>
              </p:cNvSpPr>
              <p:nvPr/>
            </p:nvSpPr>
            <p:spPr>
              <a:xfrm>
                <a:off x="1891054" y="1837393"/>
                <a:ext cx="1747151" cy="400110"/>
              </a:xfrm>
              <a:prstGeom prst="rect">
                <a:avLst/>
              </a:prstGeom>
              <a:blipFill>
                <a:blip r:embed="rId11"/>
                <a:stretch>
                  <a:fillRect t="-6061" b="-2424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868FB7-C62C-E197-A797-9EDFECD5473A}"/>
                  </a:ext>
                </a:extLst>
              </p:cNvPr>
              <p:cNvSpPr txBox="1"/>
              <p:nvPr/>
            </p:nvSpPr>
            <p:spPr>
              <a:xfrm>
                <a:off x="1976041" y="4926950"/>
                <a:ext cx="115519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𝜇</m:t>
                              </m:r>
                            </m:e>
                          </m:acc>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𝜎</m:t>
                              </m:r>
                            </m:e>
                          </m:acc>
                        </m:e>
                        <m:sub>
                          <m:r>
                            <a:rPr lang="en-US" sz="2000" b="0" i="1" smtClean="0">
                              <a:latin typeface="Cambria Math" panose="02040503050406030204" pitchFamily="18" charset="0"/>
                            </a:rPr>
                            <m:t>𝑧</m:t>
                          </m:r>
                        </m:sub>
                      </m:sSub>
                    </m:oMath>
                  </m:oMathPara>
                </a14:m>
                <a:endParaRPr lang="en-CA" sz="2000" dirty="0"/>
              </a:p>
            </p:txBody>
          </p:sp>
        </mc:Choice>
        <mc:Fallback xmlns="">
          <p:sp>
            <p:nvSpPr>
              <p:cNvPr id="20" name="TextBox 19">
                <a:extLst>
                  <a:ext uri="{FF2B5EF4-FFF2-40B4-BE49-F238E27FC236}">
                    <a16:creationId xmlns:a16="http://schemas.microsoft.com/office/drawing/2014/main" id="{78868FB7-C62C-E197-A797-9EDFECD5473A}"/>
                  </a:ext>
                </a:extLst>
              </p:cNvPr>
              <p:cNvSpPr txBox="1">
                <a:spLocks noRot="1" noChangeAspect="1" noMove="1" noResize="1" noEditPoints="1" noAdjustHandles="1" noChangeArrowheads="1" noChangeShapeType="1" noTextEdit="1"/>
              </p:cNvSpPr>
              <p:nvPr/>
            </p:nvSpPr>
            <p:spPr>
              <a:xfrm>
                <a:off x="1976041" y="4926950"/>
                <a:ext cx="1155192" cy="400110"/>
              </a:xfrm>
              <a:prstGeom prst="rect">
                <a:avLst/>
              </a:prstGeom>
              <a:blipFill>
                <a:blip r:embed="rId12"/>
                <a:stretch>
                  <a:fillRect t="-3030" b="-606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015952C-BCA0-C6DF-B952-F4EB3ED23EE7}"/>
                  </a:ext>
                </a:extLst>
              </p:cNvPr>
              <p:cNvSpPr txBox="1"/>
              <p:nvPr/>
            </p:nvSpPr>
            <p:spPr>
              <a:xfrm>
                <a:off x="845276" y="3243917"/>
                <a:ext cx="3748665" cy="707886"/>
              </a:xfrm>
              <a:prstGeom prst="rect">
                <a:avLst/>
              </a:prstGeom>
              <a:noFill/>
            </p:spPr>
            <p:txBody>
              <a:bodyPr wrap="square">
                <a:spAutoFit/>
              </a:bodyPr>
              <a:lstStyle/>
              <a:p>
                <a:r>
                  <a:rPr lang="en-CA" sz="2000" dirty="0"/>
                  <a:t>Fix qubit geometry to </a:t>
                </a:r>
                <a14:m>
                  <m:oMath xmlns:m="http://schemas.openxmlformats.org/officeDocument/2006/math">
                    <m:r>
                      <a:rPr lang="en-CA" sz="2000" i="1" dirty="0" smtClean="0">
                        <a:latin typeface="Cambria Math" panose="02040503050406030204" pitchFamily="18" charset="0"/>
                      </a:rPr>
                      <m:t>3×2 </m:t>
                    </m:r>
                  </m:oMath>
                </a14:m>
                <a:r>
                  <a:rPr lang="en-CA" sz="2000" dirty="0"/>
                  <a:t>lattice with separations </a:t>
                </a:r>
              </a:p>
            </p:txBody>
          </p:sp>
        </mc:Choice>
        <mc:Fallback xmlns="">
          <p:sp>
            <p:nvSpPr>
              <p:cNvPr id="21" name="TextBox 20">
                <a:extLst>
                  <a:ext uri="{FF2B5EF4-FFF2-40B4-BE49-F238E27FC236}">
                    <a16:creationId xmlns:a16="http://schemas.microsoft.com/office/drawing/2014/main" id="{3015952C-BCA0-C6DF-B952-F4EB3ED23EE7}"/>
                  </a:ext>
                </a:extLst>
              </p:cNvPr>
              <p:cNvSpPr txBox="1">
                <a:spLocks noRot="1" noChangeAspect="1" noMove="1" noResize="1" noEditPoints="1" noAdjustHandles="1" noChangeArrowheads="1" noChangeShapeType="1" noTextEdit="1"/>
              </p:cNvSpPr>
              <p:nvPr/>
            </p:nvSpPr>
            <p:spPr>
              <a:xfrm>
                <a:off x="845276" y="3243917"/>
                <a:ext cx="3748665" cy="707886"/>
              </a:xfrm>
              <a:prstGeom prst="rect">
                <a:avLst/>
              </a:prstGeom>
              <a:blipFill>
                <a:blip r:embed="rId13"/>
                <a:stretch>
                  <a:fillRect l="-1689" t="-5263" b="-14035"/>
                </a:stretch>
              </a:blipFill>
            </p:spPr>
            <p:txBody>
              <a:bodyPr/>
              <a:lstStyle/>
              <a:p>
                <a:r>
                  <a:rPr lang="en-CA">
                    <a:noFill/>
                  </a:rPr>
                  <a:t> </a:t>
                </a:r>
              </a:p>
            </p:txBody>
          </p:sp>
        </mc:Fallback>
      </mc:AlternateContent>
      <p:sp>
        <p:nvSpPr>
          <p:cNvPr id="23" name="TextBox 22">
            <a:extLst>
              <a:ext uri="{FF2B5EF4-FFF2-40B4-BE49-F238E27FC236}">
                <a16:creationId xmlns:a16="http://schemas.microsoft.com/office/drawing/2014/main" id="{447C0589-9659-43B3-E826-3B6F6E935D41}"/>
              </a:ext>
            </a:extLst>
          </p:cNvPr>
          <p:cNvSpPr txBox="1"/>
          <p:nvPr/>
        </p:nvSpPr>
        <p:spPr>
          <a:xfrm>
            <a:off x="845276" y="4483149"/>
            <a:ext cx="3556465" cy="400110"/>
          </a:xfrm>
          <a:prstGeom prst="rect">
            <a:avLst/>
          </a:prstGeom>
          <a:noFill/>
        </p:spPr>
        <p:txBody>
          <a:bodyPr wrap="square" rtlCol="0">
            <a:spAutoFit/>
          </a:bodyPr>
          <a:lstStyle/>
          <a:p>
            <a:r>
              <a:rPr lang="en-CA" sz="2000" dirty="0"/>
              <a:t>and entangling gate operators</a:t>
            </a:r>
          </a:p>
        </p:txBody>
      </p:sp>
      <p:sp>
        <p:nvSpPr>
          <p:cNvPr id="25" name="TextBox 24">
            <a:extLst>
              <a:ext uri="{FF2B5EF4-FFF2-40B4-BE49-F238E27FC236}">
                <a16:creationId xmlns:a16="http://schemas.microsoft.com/office/drawing/2014/main" id="{4F19CBE6-3A10-9E12-6278-3C33B85726C9}"/>
              </a:ext>
            </a:extLst>
          </p:cNvPr>
          <p:cNvSpPr txBox="1"/>
          <p:nvPr/>
        </p:nvSpPr>
        <p:spPr>
          <a:xfrm>
            <a:off x="2231253" y="2269187"/>
            <a:ext cx="644769" cy="400110"/>
          </a:xfrm>
          <a:prstGeom prst="rect">
            <a:avLst/>
          </a:prstGeom>
          <a:noFill/>
        </p:spPr>
        <p:txBody>
          <a:bodyPr wrap="square" rtlCol="0">
            <a:spAutoFit/>
          </a:bodyPr>
          <a:lstStyle/>
          <a:p>
            <a:r>
              <a:rPr lang="en-CA" sz="2000" dirty="0"/>
              <a:t>with</a:t>
            </a:r>
          </a:p>
        </p:txBody>
      </p:sp>
    </p:spTree>
    <p:custDataLst>
      <p:tags r:id="rId1"/>
    </p:custDataLst>
    <p:extLst>
      <p:ext uri="{BB962C8B-B14F-4D97-AF65-F5344CB8AC3E}">
        <p14:creationId xmlns:p14="http://schemas.microsoft.com/office/powerpoint/2010/main" val="1375972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3ED4AE4-9653-3699-C8AE-FFFF1A928327}"/>
              </a:ext>
            </a:extLst>
          </p:cNvPr>
          <p:cNvPicPr>
            <a:picLocks noChangeAspect="1"/>
          </p:cNvPicPr>
          <p:nvPr/>
        </p:nvPicPr>
        <p:blipFill rotWithShape="1">
          <a:blip r:embed="rId4"/>
          <a:srcRect l="31793" r="20090" b="4249"/>
          <a:stretch/>
        </p:blipFill>
        <p:spPr>
          <a:xfrm>
            <a:off x="117415" y="1068228"/>
            <a:ext cx="2541429" cy="5057480"/>
          </a:xfrm>
          <a:prstGeom prst="rect">
            <a:avLst/>
          </a:prstGeom>
        </p:spPr>
      </p:pic>
      <p:pic>
        <p:nvPicPr>
          <p:cNvPr id="3099" name="Picture 3098">
            <a:extLst>
              <a:ext uri="{FF2B5EF4-FFF2-40B4-BE49-F238E27FC236}">
                <a16:creationId xmlns:a16="http://schemas.microsoft.com/office/drawing/2014/main" id="{20C90AFE-5252-7EFF-7CB2-8404331EF519}"/>
              </a:ext>
            </a:extLst>
          </p:cNvPr>
          <p:cNvPicPr>
            <a:picLocks noChangeAspect="1"/>
          </p:cNvPicPr>
          <p:nvPr/>
        </p:nvPicPr>
        <p:blipFill rotWithShape="1">
          <a:blip r:embed="rId5"/>
          <a:srcRect t="11907" b="8642"/>
          <a:stretch/>
        </p:blipFill>
        <p:spPr>
          <a:xfrm>
            <a:off x="5309733" y="948102"/>
            <a:ext cx="3694692" cy="2446226"/>
          </a:xfrm>
          <a:prstGeom prst="rect">
            <a:avLst/>
          </a:prstGeom>
        </p:spPr>
      </p:pic>
      <p:sp>
        <p:nvSpPr>
          <p:cNvPr id="2" name="Fußzeilenplatzhalter 1"/>
          <p:cNvSpPr>
            <a:spLocks noGrp="1"/>
          </p:cNvSpPr>
          <p:nvPr>
            <p:ph type="ftr" sz="quarter" idx="3"/>
          </p:nvPr>
        </p:nvSpPr>
        <p:spPr>
          <a:xfrm>
            <a:off x="3807160" y="6341879"/>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Prospects</a:t>
            </a:r>
            <a:r>
              <a:rPr lang="de-AT" sz="3200" kern="0" dirty="0">
                <a:solidFill>
                  <a:schemeClr val="bg1"/>
                </a:solidFill>
                <a:latin typeface="Calibri Light" panose="020F0302020204030204" pitchFamily="34" charset="0"/>
                <a:cs typeface="Calibri Light" panose="020F0302020204030204" pitchFamily="34" charset="0"/>
              </a:rPr>
              <a:t> </a:t>
            </a:r>
            <a:r>
              <a:rPr lang="de-AT" sz="3200" kern="0" dirty="0" err="1">
                <a:solidFill>
                  <a:schemeClr val="bg1"/>
                </a:solidFill>
                <a:latin typeface="Calibri Light" panose="020F0302020204030204" pitchFamily="34" charset="0"/>
                <a:cs typeface="Calibri Light" panose="020F0302020204030204" pitchFamily="34" charset="0"/>
              </a:rPr>
              <a:t>for</a:t>
            </a:r>
            <a:r>
              <a:rPr lang="de-AT" sz="3200" kern="0" dirty="0">
                <a:solidFill>
                  <a:schemeClr val="bg1"/>
                </a:solidFill>
                <a:latin typeface="Calibri Light" panose="020F0302020204030204" pitchFamily="34" charset="0"/>
                <a:cs typeface="Calibri Light" panose="020F0302020204030204" pitchFamily="34" charset="0"/>
              </a:rPr>
              <a:t> </a:t>
            </a:r>
            <a:r>
              <a:rPr lang="de-AT" sz="3200" kern="0" dirty="0" err="1">
                <a:solidFill>
                  <a:schemeClr val="bg1"/>
                </a:solidFill>
                <a:latin typeface="Calibri Light" panose="020F0302020204030204" pitchFamily="34" charset="0"/>
                <a:cs typeface="Calibri Light" panose="020F0302020204030204" pitchFamily="34" charset="0"/>
              </a:rPr>
              <a:t>Relativistic</a:t>
            </a:r>
            <a:r>
              <a:rPr lang="de-AT" sz="3200" kern="0" dirty="0">
                <a:solidFill>
                  <a:schemeClr val="bg1"/>
                </a:solidFill>
                <a:latin typeface="Calibri Light" panose="020F0302020204030204" pitchFamily="34" charset="0"/>
                <a:cs typeface="Calibri Light" panose="020F0302020204030204" pitchFamily="34" charset="0"/>
              </a:rPr>
              <a:t> Quantum </a:t>
            </a:r>
            <a:r>
              <a:rPr lang="en-CA" sz="3200" kern="0" dirty="0">
                <a:solidFill>
                  <a:schemeClr val="bg1"/>
                </a:solidFill>
                <a:latin typeface="Calibri Light" panose="020F0302020204030204" pitchFamily="34" charset="0"/>
                <a:cs typeface="Calibri Light" panose="020F0302020204030204" pitchFamily="34" charset="0"/>
              </a:rPr>
              <a:t>Machine</a:t>
            </a:r>
            <a:r>
              <a:rPr lang="de-AT" sz="3200" kern="0" dirty="0">
                <a:solidFill>
                  <a:schemeClr val="bg1"/>
                </a:solidFill>
                <a:latin typeface="Calibri Light" panose="020F0302020204030204" pitchFamily="34" charset="0"/>
                <a:cs typeface="Calibri Light" panose="020F0302020204030204" pitchFamily="34" charset="0"/>
              </a:rPr>
              <a:t> Learning (RQML)</a:t>
            </a:r>
          </a:p>
        </p:txBody>
      </p:sp>
      <p:sp>
        <p:nvSpPr>
          <p:cNvPr id="7" name="Slide Number Placeholder 6">
            <a:extLst>
              <a:ext uri="{FF2B5EF4-FFF2-40B4-BE49-F238E27FC236}">
                <a16:creationId xmlns:a16="http://schemas.microsoft.com/office/drawing/2014/main" id="{F4A24675-E9F9-B996-D7DB-60295AF348BC}"/>
              </a:ext>
            </a:extLst>
          </p:cNvPr>
          <p:cNvSpPr>
            <a:spLocks noGrp="1"/>
          </p:cNvSpPr>
          <p:nvPr>
            <p:ph type="sldNum" sz="quarter" idx="12"/>
          </p:nvPr>
        </p:nvSpPr>
        <p:spPr/>
        <p:txBody>
          <a:bodyPr/>
          <a:lstStyle/>
          <a:p>
            <a:fld id="{D0617D14-1B55-43C0-819D-0D244AC23646}" type="slidenum">
              <a:rPr lang="de-AT" smtClean="0"/>
              <a:t>18</a:t>
            </a:fld>
            <a:endParaRPr lang="de-AT"/>
          </a:p>
        </p:txBody>
      </p:sp>
      <p:sp>
        <p:nvSpPr>
          <p:cNvPr id="8" name="TextBox 7">
            <a:extLst>
              <a:ext uri="{FF2B5EF4-FFF2-40B4-BE49-F238E27FC236}">
                <a16:creationId xmlns:a16="http://schemas.microsoft.com/office/drawing/2014/main" id="{06C3E6DC-9D0D-0053-2A97-E96BF7F43B1A}"/>
              </a:ext>
            </a:extLst>
          </p:cNvPr>
          <p:cNvSpPr txBox="1"/>
          <p:nvPr/>
        </p:nvSpPr>
        <p:spPr>
          <a:xfrm>
            <a:off x="8384840" y="2915843"/>
            <a:ext cx="3519055" cy="1938992"/>
          </a:xfrm>
          <a:prstGeom prst="rect">
            <a:avLst/>
          </a:prstGeom>
          <a:noFill/>
        </p:spPr>
        <p:txBody>
          <a:bodyPr wrap="square" rtlCol="0">
            <a:spAutoFit/>
          </a:bodyPr>
          <a:lstStyle/>
          <a:p>
            <a:pPr marL="285750" indent="-285750">
              <a:buFont typeface="Arial" panose="020B0604020202020204" pitchFamily="34" charset="0"/>
              <a:buChar char="•"/>
            </a:pPr>
            <a:r>
              <a:rPr lang="en-CA" sz="2000" dirty="0"/>
              <a:t>VQC structure already allows us to implement quantum machine learning algorithms</a:t>
            </a:r>
          </a:p>
          <a:p>
            <a:pPr marL="742950" lvl="1" indent="-285750">
              <a:buFont typeface="Arial" panose="020B0604020202020204" pitchFamily="34" charset="0"/>
              <a:buChar char="•"/>
            </a:pPr>
            <a:r>
              <a:rPr lang="en-CA" sz="2000" dirty="0"/>
              <a:t>Just need optimization procedure and learning task</a:t>
            </a:r>
          </a:p>
        </p:txBody>
      </p:sp>
      <p:sp>
        <p:nvSpPr>
          <p:cNvPr id="11" name="TextBox 10">
            <a:extLst>
              <a:ext uri="{FF2B5EF4-FFF2-40B4-BE49-F238E27FC236}">
                <a16:creationId xmlns:a16="http://schemas.microsoft.com/office/drawing/2014/main" id="{3392F89F-6A1A-09A5-A59D-16E67493C249}"/>
              </a:ext>
            </a:extLst>
          </p:cNvPr>
          <p:cNvSpPr txBox="1"/>
          <p:nvPr/>
        </p:nvSpPr>
        <p:spPr>
          <a:xfrm>
            <a:off x="8384840" y="4894235"/>
            <a:ext cx="3519055" cy="1015663"/>
          </a:xfrm>
          <a:prstGeom prst="rect">
            <a:avLst/>
          </a:prstGeom>
          <a:noFill/>
        </p:spPr>
        <p:txBody>
          <a:bodyPr wrap="square" rtlCol="0">
            <a:spAutoFit/>
          </a:bodyPr>
          <a:lstStyle/>
          <a:p>
            <a:pPr marL="285750" indent="-285750">
              <a:buFont typeface="Arial" panose="020B0604020202020204" pitchFamily="34" charset="0"/>
              <a:buChar char="•"/>
            </a:pPr>
            <a:r>
              <a:rPr lang="en-CA" sz="2000" dirty="0"/>
              <a:t>Learning happens through manipulating relativistic motion </a:t>
            </a:r>
          </a:p>
        </p:txBody>
      </p:sp>
      <p:sp>
        <p:nvSpPr>
          <p:cNvPr id="20" name="Oval 19">
            <a:extLst>
              <a:ext uri="{FF2B5EF4-FFF2-40B4-BE49-F238E27FC236}">
                <a16:creationId xmlns:a16="http://schemas.microsoft.com/office/drawing/2014/main" id="{E4190110-A06E-FEA4-EC46-A606CD1568CF}"/>
              </a:ext>
            </a:extLst>
          </p:cNvPr>
          <p:cNvSpPr/>
          <p:nvPr/>
        </p:nvSpPr>
        <p:spPr>
          <a:xfrm>
            <a:off x="2421651" y="3342333"/>
            <a:ext cx="4958205" cy="261666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Arc 20">
            <a:extLst>
              <a:ext uri="{FF2B5EF4-FFF2-40B4-BE49-F238E27FC236}">
                <a16:creationId xmlns:a16="http://schemas.microsoft.com/office/drawing/2014/main" id="{E29180D1-3FE4-8B45-0ABE-9A878D0E4147}"/>
              </a:ext>
            </a:extLst>
          </p:cNvPr>
          <p:cNvSpPr/>
          <p:nvPr/>
        </p:nvSpPr>
        <p:spPr>
          <a:xfrm rot="21443742" flipH="1" flipV="1">
            <a:off x="2327898" y="3063622"/>
            <a:ext cx="2894518" cy="421676"/>
          </a:xfrm>
          <a:prstGeom prst="arc">
            <a:avLst>
              <a:gd name="adj1" fmla="val 16200000"/>
              <a:gd name="adj2" fmla="val 9254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8" name="Arc 17">
            <a:extLst>
              <a:ext uri="{FF2B5EF4-FFF2-40B4-BE49-F238E27FC236}">
                <a16:creationId xmlns:a16="http://schemas.microsoft.com/office/drawing/2014/main" id="{2724277C-1502-29B3-E17E-BF50C6312E3D}"/>
              </a:ext>
            </a:extLst>
          </p:cNvPr>
          <p:cNvSpPr/>
          <p:nvPr/>
        </p:nvSpPr>
        <p:spPr>
          <a:xfrm rot="14832018" flipV="1">
            <a:off x="1061772" y="4851079"/>
            <a:ext cx="2417570" cy="542645"/>
          </a:xfrm>
          <a:prstGeom prst="arc">
            <a:avLst>
              <a:gd name="adj1" fmla="val 17130357"/>
              <a:gd name="adj2" fmla="val 2239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pic>
        <p:nvPicPr>
          <p:cNvPr id="3082" name="Graphic 3081" descr="Head with gears with solid fill">
            <a:extLst>
              <a:ext uri="{FF2B5EF4-FFF2-40B4-BE49-F238E27FC236}">
                <a16:creationId xmlns:a16="http://schemas.microsoft.com/office/drawing/2014/main" id="{F9824CC3-CE12-BAE2-C156-B44ADC998F4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45814" y="1621426"/>
            <a:ext cx="1165602" cy="1165602"/>
          </a:xfrm>
          <a:prstGeom prst="rect">
            <a:avLst/>
          </a:prstGeom>
        </p:spPr>
      </p:pic>
      <p:pic>
        <p:nvPicPr>
          <p:cNvPr id="3084" name="Graphic 3083" descr="Line arrow: Counter-clockwise curve with solid fill">
            <a:extLst>
              <a:ext uri="{FF2B5EF4-FFF2-40B4-BE49-F238E27FC236}">
                <a16:creationId xmlns:a16="http://schemas.microsoft.com/office/drawing/2014/main" id="{A275CDBF-2D28-C685-00CF-FFB40F98428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6875268">
            <a:off x="4981193" y="1093767"/>
            <a:ext cx="914400" cy="914400"/>
          </a:xfrm>
          <a:prstGeom prst="rect">
            <a:avLst/>
          </a:prstGeom>
        </p:spPr>
      </p:pic>
      <p:pic>
        <p:nvPicPr>
          <p:cNvPr id="3085" name="Graphic 3084" descr="Line arrow: Clockwise curve with solid fill">
            <a:extLst>
              <a:ext uri="{FF2B5EF4-FFF2-40B4-BE49-F238E27FC236}">
                <a16:creationId xmlns:a16="http://schemas.microsoft.com/office/drawing/2014/main" id="{79E5A988-C402-AAC4-C9BA-A0965B83B53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3512888" flipH="1">
            <a:off x="5239829" y="2177729"/>
            <a:ext cx="914400" cy="914400"/>
          </a:xfrm>
          <a:prstGeom prst="rect">
            <a:avLst/>
          </a:prstGeom>
        </p:spPr>
      </p:pic>
      <p:sp>
        <p:nvSpPr>
          <p:cNvPr id="3090" name="TextBox 3089">
            <a:extLst>
              <a:ext uri="{FF2B5EF4-FFF2-40B4-BE49-F238E27FC236}">
                <a16:creationId xmlns:a16="http://schemas.microsoft.com/office/drawing/2014/main" id="{DF9D749C-F6A6-63AB-CE29-ECB4560D93F5}"/>
              </a:ext>
            </a:extLst>
          </p:cNvPr>
          <p:cNvSpPr txBox="1"/>
          <p:nvPr/>
        </p:nvSpPr>
        <p:spPr>
          <a:xfrm>
            <a:off x="5159391" y="2845717"/>
            <a:ext cx="963827" cy="400110"/>
          </a:xfrm>
          <a:prstGeom prst="rect">
            <a:avLst/>
          </a:prstGeom>
          <a:noFill/>
        </p:spPr>
        <p:txBody>
          <a:bodyPr wrap="square" rtlCol="0">
            <a:spAutoFit/>
          </a:bodyPr>
          <a:lstStyle/>
          <a:p>
            <a:r>
              <a:rPr lang="en-CA" sz="2000" dirty="0">
                <a:solidFill>
                  <a:srgbClr val="FF0000"/>
                </a:solidFill>
              </a:rPr>
              <a:t>Actions</a:t>
            </a:r>
          </a:p>
        </p:txBody>
      </p:sp>
      <p:sp>
        <p:nvSpPr>
          <p:cNvPr id="3091" name="TextBox 3090">
            <a:extLst>
              <a:ext uri="{FF2B5EF4-FFF2-40B4-BE49-F238E27FC236}">
                <a16:creationId xmlns:a16="http://schemas.microsoft.com/office/drawing/2014/main" id="{D9F3651B-B6C1-953C-D603-817EE8483FCD}"/>
              </a:ext>
            </a:extLst>
          </p:cNvPr>
          <p:cNvSpPr txBox="1"/>
          <p:nvPr/>
        </p:nvSpPr>
        <p:spPr>
          <a:xfrm>
            <a:off x="4941683" y="919349"/>
            <a:ext cx="1080120" cy="400110"/>
          </a:xfrm>
          <a:prstGeom prst="rect">
            <a:avLst/>
          </a:prstGeom>
          <a:noFill/>
        </p:spPr>
        <p:txBody>
          <a:bodyPr wrap="square" rtlCol="0">
            <a:spAutoFit/>
          </a:bodyPr>
          <a:lstStyle/>
          <a:p>
            <a:r>
              <a:rPr lang="en-CA" sz="2000" dirty="0">
                <a:solidFill>
                  <a:schemeClr val="accent1">
                    <a:lumMod val="50000"/>
                    <a:lumOff val="50000"/>
                  </a:schemeClr>
                </a:solidFill>
              </a:rPr>
              <a:t>Percepts</a:t>
            </a:r>
          </a:p>
        </p:txBody>
      </p:sp>
      <p:sp>
        <p:nvSpPr>
          <p:cNvPr id="3093" name="TextBox 3092">
            <a:extLst>
              <a:ext uri="{FF2B5EF4-FFF2-40B4-BE49-F238E27FC236}">
                <a16:creationId xmlns:a16="http://schemas.microsoft.com/office/drawing/2014/main" id="{A842FBAC-99E9-8484-90BE-80964E12025B}"/>
              </a:ext>
            </a:extLst>
          </p:cNvPr>
          <p:cNvSpPr txBox="1"/>
          <p:nvPr/>
        </p:nvSpPr>
        <p:spPr>
          <a:xfrm>
            <a:off x="3067823" y="1268393"/>
            <a:ext cx="1398492" cy="400110"/>
          </a:xfrm>
          <a:prstGeom prst="rect">
            <a:avLst/>
          </a:prstGeom>
          <a:noFill/>
        </p:spPr>
        <p:txBody>
          <a:bodyPr wrap="square" rtlCol="0">
            <a:spAutoFit/>
          </a:bodyPr>
          <a:lstStyle/>
          <a:p>
            <a:r>
              <a:rPr lang="en-CA" sz="2000" dirty="0"/>
              <a:t>QML Agent</a:t>
            </a:r>
          </a:p>
        </p:txBody>
      </p:sp>
      <p:sp>
        <p:nvSpPr>
          <p:cNvPr id="3094" name="TextBox 3093">
            <a:extLst>
              <a:ext uri="{FF2B5EF4-FFF2-40B4-BE49-F238E27FC236}">
                <a16:creationId xmlns:a16="http://schemas.microsoft.com/office/drawing/2014/main" id="{EE344182-122C-4047-36F0-D8755FDB10ED}"/>
              </a:ext>
            </a:extLst>
          </p:cNvPr>
          <p:cNvSpPr txBox="1"/>
          <p:nvPr/>
        </p:nvSpPr>
        <p:spPr>
          <a:xfrm>
            <a:off x="9098991" y="1028114"/>
            <a:ext cx="2345998" cy="1015663"/>
          </a:xfrm>
          <a:prstGeom prst="rect">
            <a:avLst/>
          </a:prstGeom>
          <a:noFill/>
        </p:spPr>
        <p:txBody>
          <a:bodyPr wrap="square" rtlCol="0">
            <a:spAutoFit/>
          </a:bodyPr>
          <a:lstStyle/>
          <a:p>
            <a:r>
              <a:rPr lang="en-CA" sz="2000" dirty="0"/>
              <a:t>Spacetime + quantum fields environment</a:t>
            </a:r>
          </a:p>
        </p:txBody>
      </p:sp>
      <p:sp>
        <p:nvSpPr>
          <p:cNvPr id="3102" name="Connector 3101">
            <a:extLst>
              <a:ext uri="{FF2B5EF4-FFF2-40B4-BE49-F238E27FC236}">
                <a16:creationId xmlns:a16="http://schemas.microsoft.com/office/drawing/2014/main" id="{8136E39E-2F51-8B06-59BD-B0DF4810648D}"/>
              </a:ext>
            </a:extLst>
          </p:cNvPr>
          <p:cNvSpPr/>
          <p:nvPr/>
        </p:nvSpPr>
        <p:spPr>
          <a:xfrm>
            <a:off x="3003941" y="2488226"/>
            <a:ext cx="265176" cy="269202"/>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3103" name="Connector 3102">
            <a:extLst>
              <a:ext uri="{FF2B5EF4-FFF2-40B4-BE49-F238E27FC236}">
                <a16:creationId xmlns:a16="http://schemas.microsoft.com/office/drawing/2014/main" id="{4BD8DFDE-5CAF-384D-E3CB-A86C22DD30ED}"/>
              </a:ext>
            </a:extLst>
          </p:cNvPr>
          <p:cNvSpPr/>
          <p:nvPr/>
        </p:nvSpPr>
        <p:spPr>
          <a:xfrm>
            <a:off x="3133067" y="2891740"/>
            <a:ext cx="356616" cy="356616"/>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
        <p:nvSpPr>
          <p:cNvPr id="3104" name="Connector 3103">
            <a:extLst>
              <a:ext uri="{FF2B5EF4-FFF2-40B4-BE49-F238E27FC236}">
                <a16:creationId xmlns:a16="http://schemas.microsoft.com/office/drawing/2014/main" id="{AA624084-008F-C76A-3C4D-48034D3A9589}"/>
              </a:ext>
            </a:extLst>
          </p:cNvPr>
          <p:cNvSpPr/>
          <p:nvPr/>
        </p:nvSpPr>
        <p:spPr>
          <a:xfrm>
            <a:off x="3133498" y="2181768"/>
            <a:ext cx="185550" cy="182880"/>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pic>
        <p:nvPicPr>
          <p:cNvPr id="4" name="Picture 3">
            <a:extLst>
              <a:ext uri="{FF2B5EF4-FFF2-40B4-BE49-F238E27FC236}">
                <a16:creationId xmlns:a16="http://schemas.microsoft.com/office/drawing/2014/main" id="{D8160147-C621-11C3-716B-0A8BAAACD73B}"/>
              </a:ext>
            </a:extLst>
          </p:cNvPr>
          <p:cNvPicPr>
            <a:picLocks noChangeAspect="1"/>
          </p:cNvPicPr>
          <p:nvPr/>
        </p:nvPicPr>
        <p:blipFill>
          <a:blip r:embed="rId12"/>
          <a:srcRect l="42494" b="70165"/>
          <a:stretch>
            <a:fillRect/>
          </a:stretch>
        </p:blipFill>
        <p:spPr>
          <a:xfrm>
            <a:off x="2839356" y="3744727"/>
            <a:ext cx="3886248" cy="1559560"/>
          </a:xfrm>
          <a:prstGeom prst="rect">
            <a:avLst/>
          </a:prstGeom>
        </p:spPr>
      </p:pic>
    </p:spTree>
    <p:custDataLst>
      <p:tags r:id="rId1"/>
    </p:custDataLst>
    <p:extLst>
      <p:ext uri="{BB962C8B-B14F-4D97-AF65-F5344CB8AC3E}">
        <p14:creationId xmlns:p14="http://schemas.microsoft.com/office/powerpoint/2010/main" val="410758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9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8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9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8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9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9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20" grpId="0" animBg="1"/>
      <p:bldP spid="21" grpId="0" animBg="1"/>
      <p:bldP spid="18" grpId="0" animBg="1"/>
      <p:bldP spid="3090" grpId="0"/>
      <p:bldP spid="3091" grpId="0"/>
      <p:bldP spid="3093" grpId="0"/>
      <p:bldP spid="3094" grpId="0"/>
      <p:bldP spid="3102" grpId="0" animBg="1"/>
      <p:bldP spid="3103" grpId="0" animBg="1"/>
      <p:bldP spid="310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F9E20-3AB8-0194-009F-D502EF3FB30F}"/>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0170695-13E9-93AD-2C3E-660C357A8F92}"/>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CA43D3EF-2CDC-C883-59FA-FBC2DA975682}"/>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RQML</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D3A3F682-252A-C193-4720-377D185EC9E3}"/>
              </a:ext>
            </a:extLst>
          </p:cNvPr>
          <p:cNvSpPr>
            <a:spLocks noGrp="1"/>
          </p:cNvSpPr>
          <p:nvPr>
            <p:ph type="sldNum" sz="quarter" idx="12"/>
          </p:nvPr>
        </p:nvSpPr>
        <p:spPr/>
        <p:txBody>
          <a:bodyPr/>
          <a:lstStyle/>
          <a:p>
            <a:fld id="{D0617D14-1B55-43C0-819D-0D244AC23646}" type="slidenum">
              <a:rPr lang="de-AT" smtClean="0"/>
              <a:t>19</a:t>
            </a:fld>
            <a:endParaRPr lang="de-AT"/>
          </a:p>
        </p:txBody>
      </p:sp>
      <p:sp>
        <p:nvSpPr>
          <p:cNvPr id="17" name="TextBox 16">
            <a:extLst>
              <a:ext uri="{FF2B5EF4-FFF2-40B4-BE49-F238E27FC236}">
                <a16:creationId xmlns:a16="http://schemas.microsoft.com/office/drawing/2014/main" id="{E09F8A59-2E90-96B1-C203-DDEDB3EC106F}"/>
              </a:ext>
            </a:extLst>
          </p:cNvPr>
          <p:cNvSpPr txBox="1"/>
          <p:nvPr/>
        </p:nvSpPr>
        <p:spPr>
          <a:xfrm>
            <a:off x="769837" y="1439008"/>
            <a:ext cx="4847191" cy="461665"/>
          </a:xfrm>
          <a:prstGeom prst="rect">
            <a:avLst/>
          </a:prstGeom>
          <a:noFill/>
        </p:spPr>
        <p:txBody>
          <a:bodyPr wrap="square" rtlCol="0">
            <a:spAutoFit/>
          </a:bodyPr>
          <a:lstStyle/>
          <a:p>
            <a:r>
              <a:rPr lang="en-CA" sz="2400" dirty="0"/>
              <a:t>Can go in three different directions…</a:t>
            </a:r>
          </a:p>
        </p:txBody>
      </p:sp>
      <p:sp>
        <p:nvSpPr>
          <p:cNvPr id="20" name="TextBox 19">
            <a:extLst>
              <a:ext uri="{FF2B5EF4-FFF2-40B4-BE49-F238E27FC236}">
                <a16:creationId xmlns:a16="http://schemas.microsoft.com/office/drawing/2014/main" id="{3FF488E7-EAEE-EB92-A570-FA571199B37B}"/>
              </a:ext>
            </a:extLst>
          </p:cNvPr>
          <p:cNvSpPr txBox="1"/>
          <p:nvPr/>
        </p:nvSpPr>
        <p:spPr>
          <a:xfrm>
            <a:off x="2401745" y="2594898"/>
            <a:ext cx="7388510" cy="2246769"/>
          </a:xfrm>
          <a:prstGeom prst="rect">
            <a:avLst/>
          </a:prstGeom>
          <a:noFill/>
        </p:spPr>
        <p:txBody>
          <a:bodyPr wrap="square" rtlCol="0">
            <a:spAutoFit/>
          </a:bodyPr>
          <a:lstStyle/>
          <a:p>
            <a:pPr marL="457200" indent="-457200">
              <a:buFont typeface="+mj-lt"/>
              <a:buAutoNum type="arabicParenR"/>
            </a:pPr>
            <a:r>
              <a:rPr lang="en-CA" sz="2400" dirty="0"/>
              <a:t>Spacetime distributed learning</a:t>
            </a:r>
            <a:br>
              <a:rPr lang="en-CA" sz="2400" dirty="0"/>
            </a:br>
            <a:endParaRPr lang="en-CA" sz="2400" dirty="0"/>
          </a:p>
          <a:p>
            <a:pPr marL="457200" indent="-457200">
              <a:buFont typeface="+mj-lt"/>
              <a:buAutoNum type="arabicParenR"/>
            </a:pPr>
            <a:r>
              <a:rPr lang="en-CA" sz="2400" dirty="0"/>
              <a:t>Relativity-aware quantum machine learning protocols</a:t>
            </a:r>
            <a:br>
              <a:rPr lang="en-CA" sz="2400" dirty="0"/>
            </a:br>
            <a:endParaRPr lang="en-CA" sz="2400" dirty="0"/>
          </a:p>
          <a:p>
            <a:pPr marL="457200" indent="-457200">
              <a:buFont typeface="+mj-lt"/>
              <a:buAutoNum type="arabicParenR"/>
            </a:pPr>
            <a:r>
              <a:rPr lang="en-CA" sz="2400" dirty="0"/>
              <a:t>Learning quantum field and spacetime properties</a:t>
            </a:r>
          </a:p>
          <a:p>
            <a:pPr marL="457200" indent="-457200">
              <a:buFont typeface="+mj-lt"/>
              <a:buAutoNum type="arabicParenR"/>
            </a:pPr>
            <a:endParaRPr lang="en-CA" sz="2000" dirty="0"/>
          </a:p>
        </p:txBody>
      </p:sp>
    </p:spTree>
    <p:custDataLst>
      <p:tags r:id="rId1"/>
    </p:custDataLst>
    <p:extLst>
      <p:ext uri="{BB962C8B-B14F-4D97-AF65-F5344CB8AC3E}">
        <p14:creationId xmlns:p14="http://schemas.microsoft.com/office/powerpoint/2010/main" val="278099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1193D-5E27-91FE-31E7-A1AA06DE6B54}"/>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46E11F57-F74B-06D4-C701-1A589E5F2AE5}"/>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7" name="Slide Number Placeholder 6">
            <a:extLst>
              <a:ext uri="{FF2B5EF4-FFF2-40B4-BE49-F238E27FC236}">
                <a16:creationId xmlns:a16="http://schemas.microsoft.com/office/drawing/2014/main" id="{AD58050F-960C-239C-F30A-C4BBD647070D}"/>
              </a:ext>
            </a:extLst>
          </p:cNvPr>
          <p:cNvSpPr>
            <a:spLocks noGrp="1"/>
          </p:cNvSpPr>
          <p:nvPr>
            <p:ph type="sldNum" sz="quarter" idx="12"/>
          </p:nvPr>
        </p:nvSpPr>
        <p:spPr/>
        <p:txBody>
          <a:bodyPr/>
          <a:lstStyle/>
          <a:p>
            <a:fld id="{D0617D14-1B55-43C0-819D-0D244AC23646}" type="slidenum">
              <a:rPr lang="de-AT" smtClean="0"/>
              <a:t>20</a:t>
            </a:fld>
            <a:endParaRPr lang="de-AT"/>
          </a:p>
        </p:txBody>
      </p:sp>
      <p:pic>
        <p:nvPicPr>
          <p:cNvPr id="54" name="Picture 53">
            <a:extLst>
              <a:ext uri="{FF2B5EF4-FFF2-40B4-BE49-F238E27FC236}">
                <a16:creationId xmlns:a16="http://schemas.microsoft.com/office/drawing/2014/main" id="{8724B3F5-EE22-89E6-F294-073B9FFCE761}"/>
              </a:ext>
            </a:extLst>
          </p:cNvPr>
          <p:cNvPicPr>
            <a:picLocks noChangeAspect="1"/>
          </p:cNvPicPr>
          <p:nvPr/>
        </p:nvPicPr>
        <p:blipFill rotWithShape="1">
          <a:blip r:embed="rId4"/>
          <a:srcRect t="11907" b="8642"/>
          <a:stretch/>
        </p:blipFill>
        <p:spPr>
          <a:xfrm>
            <a:off x="4333607" y="3429000"/>
            <a:ext cx="3850692" cy="2549512"/>
          </a:xfrm>
          <a:prstGeom prst="rect">
            <a:avLst/>
          </a:prstGeom>
        </p:spPr>
      </p:pic>
      <p:pic>
        <p:nvPicPr>
          <p:cNvPr id="55" name="Picture 54">
            <a:extLst>
              <a:ext uri="{FF2B5EF4-FFF2-40B4-BE49-F238E27FC236}">
                <a16:creationId xmlns:a16="http://schemas.microsoft.com/office/drawing/2014/main" id="{FCBE0798-9E58-6712-FB3E-A5F955946FE3}"/>
              </a:ext>
            </a:extLst>
          </p:cNvPr>
          <p:cNvPicPr>
            <a:picLocks noChangeAspect="1"/>
          </p:cNvPicPr>
          <p:nvPr/>
        </p:nvPicPr>
        <p:blipFill rotWithShape="1">
          <a:blip r:embed="rId4"/>
          <a:srcRect t="11907" b="8642"/>
          <a:stretch/>
        </p:blipFill>
        <p:spPr>
          <a:xfrm>
            <a:off x="8042977" y="3429000"/>
            <a:ext cx="3850692" cy="2549512"/>
          </a:xfrm>
          <a:prstGeom prst="rect">
            <a:avLst/>
          </a:prstGeom>
        </p:spPr>
      </p:pic>
      <p:pic>
        <p:nvPicPr>
          <p:cNvPr id="56" name="Picture 55">
            <a:extLst>
              <a:ext uri="{FF2B5EF4-FFF2-40B4-BE49-F238E27FC236}">
                <a16:creationId xmlns:a16="http://schemas.microsoft.com/office/drawing/2014/main" id="{3490B1EF-E1D5-4316-BB57-99701A80FAA9}"/>
              </a:ext>
            </a:extLst>
          </p:cNvPr>
          <p:cNvPicPr>
            <a:picLocks noChangeAspect="1"/>
          </p:cNvPicPr>
          <p:nvPr/>
        </p:nvPicPr>
        <p:blipFill rotWithShape="1">
          <a:blip r:embed="rId4"/>
          <a:srcRect t="11907" b="8642"/>
          <a:stretch/>
        </p:blipFill>
        <p:spPr>
          <a:xfrm>
            <a:off x="5986626" y="880619"/>
            <a:ext cx="3850692" cy="2549512"/>
          </a:xfrm>
          <a:prstGeom prst="rect">
            <a:avLst/>
          </a:prstGeom>
        </p:spPr>
      </p:pic>
      <p:sp>
        <p:nvSpPr>
          <p:cNvPr id="44" name="Oval 43">
            <a:extLst>
              <a:ext uri="{FF2B5EF4-FFF2-40B4-BE49-F238E27FC236}">
                <a16:creationId xmlns:a16="http://schemas.microsoft.com/office/drawing/2014/main" id="{3D4CF6C9-C25C-8931-EEDE-8127E64CC7DC}"/>
              </a:ext>
            </a:extLst>
          </p:cNvPr>
          <p:cNvSpPr/>
          <p:nvPr/>
        </p:nvSpPr>
        <p:spPr>
          <a:xfrm>
            <a:off x="7942950" y="2161221"/>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5" name="Oval 44">
            <a:extLst>
              <a:ext uri="{FF2B5EF4-FFF2-40B4-BE49-F238E27FC236}">
                <a16:creationId xmlns:a16="http://schemas.microsoft.com/office/drawing/2014/main" id="{456DF93F-860D-3F98-6AC2-D033C738B602}"/>
              </a:ext>
            </a:extLst>
          </p:cNvPr>
          <p:cNvSpPr/>
          <p:nvPr/>
        </p:nvSpPr>
        <p:spPr>
          <a:xfrm>
            <a:off x="8789242" y="1722169"/>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6" name="Oval 45">
            <a:extLst>
              <a:ext uri="{FF2B5EF4-FFF2-40B4-BE49-F238E27FC236}">
                <a16:creationId xmlns:a16="http://schemas.microsoft.com/office/drawing/2014/main" id="{16982D76-E525-03D6-5647-2E6417206CE1}"/>
              </a:ext>
            </a:extLst>
          </p:cNvPr>
          <p:cNvSpPr/>
          <p:nvPr/>
        </p:nvSpPr>
        <p:spPr>
          <a:xfrm>
            <a:off x="7252563" y="1348445"/>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7" name="Oval 46">
            <a:extLst>
              <a:ext uri="{FF2B5EF4-FFF2-40B4-BE49-F238E27FC236}">
                <a16:creationId xmlns:a16="http://schemas.microsoft.com/office/drawing/2014/main" id="{3BBF7FF9-E267-B349-5783-74A005076860}"/>
              </a:ext>
            </a:extLst>
          </p:cNvPr>
          <p:cNvSpPr/>
          <p:nvPr/>
        </p:nvSpPr>
        <p:spPr>
          <a:xfrm>
            <a:off x="10381109" y="4357851"/>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8" name="Oval 47">
            <a:extLst>
              <a:ext uri="{FF2B5EF4-FFF2-40B4-BE49-F238E27FC236}">
                <a16:creationId xmlns:a16="http://schemas.microsoft.com/office/drawing/2014/main" id="{131D0270-59A5-4C8E-8619-25E7F781B206}"/>
              </a:ext>
            </a:extLst>
          </p:cNvPr>
          <p:cNvSpPr/>
          <p:nvPr/>
        </p:nvSpPr>
        <p:spPr>
          <a:xfrm>
            <a:off x="9651904" y="3921078"/>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9" name="Oval 48">
            <a:extLst>
              <a:ext uri="{FF2B5EF4-FFF2-40B4-BE49-F238E27FC236}">
                <a16:creationId xmlns:a16="http://schemas.microsoft.com/office/drawing/2014/main" id="{D46E89B3-1887-3FBB-B987-5FE0E79037DC}"/>
              </a:ext>
            </a:extLst>
          </p:cNvPr>
          <p:cNvSpPr/>
          <p:nvPr/>
        </p:nvSpPr>
        <p:spPr>
          <a:xfrm>
            <a:off x="9563864" y="4620653"/>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50" name="Oval 49">
            <a:extLst>
              <a:ext uri="{FF2B5EF4-FFF2-40B4-BE49-F238E27FC236}">
                <a16:creationId xmlns:a16="http://schemas.microsoft.com/office/drawing/2014/main" id="{D2DB086D-8301-820F-2687-F325FE93D269}"/>
              </a:ext>
            </a:extLst>
          </p:cNvPr>
          <p:cNvSpPr/>
          <p:nvPr/>
        </p:nvSpPr>
        <p:spPr>
          <a:xfrm>
            <a:off x="6492724" y="4946755"/>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51" name="Oval 50">
            <a:extLst>
              <a:ext uri="{FF2B5EF4-FFF2-40B4-BE49-F238E27FC236}">
                <a16:creationId xmlns:a16="http://schemas.microsoft.com/office/drawing/2014/main" id="{B14ED524-401A-881B-A8EB-8591FC35EB03}"/>
              </a:ext>
            </a:extLst>
          </p:cNvPr>
          <p:cNvSpPr/>
          <p:nvPr/>
        </p:nvSpPr>
        <p:spPr>
          <a:xfrm>
            <a:off x="6663412" y="4333102"/>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29E7A70B-5BA0-D72C-5AE4-F09717B242DB}"/>
              </a:ext>
            </a:extLst>
          </p:cNvPr>
          <p:cNvSpPr/>
          <p:nvPr/>
        </p:nvSpPr>
        <p:spPr>
          <a:xfrm>
            <a:off x="5477966" y="4316559"/>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53" name="Oval 52">
            <a:extLst>
              <a:ext uri="{FF2B5EF4-FFF2-40B4-BE49-F238E27FC236}">
                <a16:creationId xmlns:a16="http://schemas.microsoft.com/office/drawing/2014/main" id="{565F3665-2AF0-3263-6C21-F052516E9063}"/>
              </a:ext>
            </a:extLst>
          </p:cNvPr>
          <p:cNvSpPr/>
          <p:nvPr/>
        </p:nvSpPr>
        <p:spPr>
          <a:xfrm>
            <a:off x="5818811" y="3999302"/>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57" name="TextBox 56">
            <a:extLst>
              <a:ext uri="{FF2B5EF4-FFF2-40B4-BE49-F238E27FC236}">
                <a16:creationId xmlns:a16="http://schemas.microsoft.com/office/drawing/2014/main" id="{A4A4370B-C440-B581-2516-4CE6BFED3DCF}"/>
              </a:ext>
            </a:extLst>
          </p:cNvPr>
          <p:cNvSpPr txBox="1"/>
          <p:nvPr/>
        </p:nvSpPr>
        <p:spPr>
          <a:xfrm>
            <a:off x="776714" y="2089286"/>
            <a:ext cx="3556893" cy="1015663"/>
          </a:xfrm>
          <a:prstGeom prst="rect">
            <a:avLst/>
          </a:prstGeom>
          <a:noFill/>
        </p:spPr>
        <p:txBody>
          <a:bodyPr wrap="square" rtlCol="0">
            <a:spAutoFit/>
          </a:bodyPr>
          <a:lstStyle/>
          <a:p>
            <a:pPr marL="342900" indent="-342900">
              <a:buFont typeface="Wingdings" pitchFamily="2" charset="2"/>
              <a:buChar char="Ø"/>
            </a:pPr>
            <a:r>
              <a:rPr lang="en-CA" sz="2000" dirty="0"/>
              <a:t>UDW qubits in local environments are connected through quantum field</a:t>
            </a:r>
          </a:p>
        </p:txBody>
      </p:sp>
      <p:sp>
        <p:nvSpPr>
          <p:cNvPr id="59" name="TextBox 58">
            <a:extLst>
              <a:ext uri="{FF2B5EF4-FFF2-40B4-BE49-F238E27FC236}">
                <a16:creationId xmlns:a16="http://schemas.microsoft.com/office/drawing/2014/main" id="{E1947AB2-B998-2248-C7E9-D04D0D5F1F9B}"/>
              </a:ext>
            </a:extLst>
          </p:cNvPr>
          <p:cNvSpPr txBox="1"/>
          <p:nvPr/>
        </p:nvSpPr>
        <p:spPr>
          <a:xfrm>
            <a:off x="317865" y="1277695"/>
            <a:ext cx="4367376" cy="707886"/>
          </a:xfrm>
          <a:prstGeom prst="rect">
            <a:avLst/>
          </a:prstGeom>
          <a:noFill/>
        </p:spPr>
        <p:txBody>
          <a:bodyPr wrap="square">
            <a:spAutoFit/>
          </a:bodyPr>
          <a:lstStyle/>
          <a:p>
            <a:pPr marL="800100" lvl="1" indent="-342900">
              <a:buFont typeface="Wingdings" pitchFamily="2" charset="2"/>
              <a:buChar char="Ø"/>
            </a:pPr>
            <a:r>
              <a:rPr lang="en-CA" sz="2000" dirty="0"/>
              <a:t>Agent is spread out over spacetime</a:t>
            </a:r>
          </a:p>
        </p:txBody>
      </p:sp>
      <p:sp>
        <p:nvSpPr>
          <p:cNvPr id="60" name="Oval 59">
            <a:extLst>
              <a:ext uri="{FF2B5EF4-FFF2-40B4-BE49-F238E27FC236}">
                <a16:creationId xmlns:a16="http://schemas.microsoft.com/office/drawing/2014/main" id="{ED367D13-FCA9-9E28-5C87-CD2D54ABED39}"/>
              </a:ext>
            </a:extLst>
          </p:cNvPr>
          <p:cNvSpPr/>
          <p:nvPr/>
        </p:nvSpPr>
        <p:spPr>
          <a:xfrm>
            <a:off x="10216824" y="1571519"/>
            <a:ext cx="170688" cy="18288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61" name="TextBox 60">
            <a:extLst>
              <a:ext uri="{FF2B5EF4-FFF2-40B4-BE49-F238E27FC236}">
                <a16:creationId xmlns:a16="http://schemas.microsoft.com/office/drawing/2014/main" id="{346F2446-F77C-B8E5-B8AA-DEA33C7BC7FA}"/>
              </a:ext>
            </a:extLst>
          </p:cNvPr>
          <p:cNvSpPr txBox="1"/>
          <p:nvPr/>
        </p:nvSpPr>
        <p:spPr>
          <a:xfrm>
            <a:off x="10387512" y="1464578"/>
            <a:ext cx="1666618" cy="369332"/>
          </a:xfrm>
          <a:prstGeom prst="rect">
            <a:avLst/>
          </a:prstGeom>
          <a:noFill/>
        </p:spPr>
        <p:txBody>
          <a:bodyPr wrap="square" rtlCol="0">
            <a:spAutoFit/>
          </a:bodyPr>
          <a:lstStyle/>
          <a:p>
            <a:r>
              <a:rPr lang="en-CA" dirty="0"/>
              <a:t>= UDW qubit</a:t>
            </a:r>
          </a:p>
        </p:txBody>
      </p:sp>
      <p:cxnSp>
        <p:nvCxnSpPr>
          <p:cNvPr id="63" name="Straight Connector 62">
            <a:extLst>
              <a:ext uri="{FF2B5EF4-FFF2-40B4-BE49-F238E27FC236}">
                <a16:creationId xmlns:a16="http://schemas.microsoft.com/office/drawing/2014/main" id="{C548D1B3-EC53-F5C3-F2C0-91E1F3C7139C}"/>
              </a:ext>
            </a:extLst>
          </p:cNvPr>
          <p:cNvCxnSpPr>
            <a:stCxn id="53" idx="7"/>
            <a:endCxn id="46" idx="3"/>
          </p:cNvCxnSpPr>
          <p:nvPr/>
        </p:nvCxnSpPr>
        <p:spPr>
          <a:xfrm flipV="1">
            <a:off x="5964502" y="1504543"/>
            <a:ext cx="1313058" cy="252154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E9B349E-9519-1509-3B30-A3E14801954F}"/>
              </a:ext>
            </a:extLst>
          </p:cNvPr>
          <p:cNvCxnSpPr>
            <a:cxnSpLocks/>
            <a:stCxn id="51" idx="0"/>
            <a:endCxn id="44" idx="3"/>
          </p:cNvCxnSpPr>
          <p:nvPr/>
        </p:nvCxnSpPr>
        <p:spPr>
          <a:xfrm flipV="1">
            <a:off x="6748756" y="2317319"/>
            <a:ext cx="1219191" cy="201578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C8C9C11-D292-2B64-2272-2BBD687B55A9}"/>
              </a:ext>
            </a:extLst>
          </p:cNvPr>
          <p:cNvCxnSpPr>
            <a:cxnSpLocks/>
            <a:stCxn id="52" idx="7"/>
            <a:endCxn id="44" idx="2"/>
          </p:cNvCxnSpPr>
          <p:nvPr/>
        </p:nvCxnSpPr>
        <p:spPr>
          <a:xfrm flipV="1">
            <a:off x="5623657" y="2252661"/>
            <a:ext cx="2319293" cy="20906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9DEB463D-D0A0-E692-51ED-FE0C4D56ADDB}"/>
              </a:ext>
            </a:extLst>
          </p:cNvPr>
          <p:cNvCxnSpPr>
            <a:cxnSpLocks/>
            <a:stCxn id="50" idx="0"/>
            <a:endCxn id="45" idx="3"/>
          </p:cNvCxnSpPr>
          <p:nvPr/>
        </p:nvCxnSpPr>
        <p:spPr>
          <a:xfrm flipV="1">
            <a:off x="6578068" y="1878267"/>
            <a:ext cx="2236171" cy="30684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8A41FFE-68A1-DC79-54AA-93FB45E8B3E9}"/>
              </a:ext>
            </a:extLst>
          </p:cNvPr>
          <p:cNvCxnSpPr>
            <a:cxnSpLocks/>
            <a:stCxn id="49" idx="2"/>
            <a:endCxn id="50" idx="6"/>
          </p:cNvCxnSpPr>
          <p:nvPr/>
        </p:nvCxnSpPr>
        <p:spPr>
          <a:xfrm flipH="1">
            <a:off x="6663412" y="4712093"/>
            <a:ext cx="2900452" cy="32610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EEE2FE7-3D2D-092E-FA3E-842BB1132BD9}"/>
              </a:ext>
            </a:extLst>
          </p:cNvPr>
          <p:cNvCxnSpPr>
            <a:cxnSpLocks/>
            <a:stCxn id="48" idx="1"/>
            <a:endCxn id="44" idx="5"/>
          </p:cNvCxnSpPr>
          <p:nvPr/>
        </p:nvCxnSpPr>
        <p:spPr>
          <a:xfrm flipH="1" flipV="1">
            <a:off x="8088641" y="2317319"/>
            <a:ext cx="1588260" cy="163054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6DA30D78-E41F-E262-2836-7840F88CC4C3}"/>
              </a:ext>
            </a:extLst>
          </p:cNvPr>
          <p:cNvCxnSpPr>
            <a:cxnSpLocks/>
            <a:stCxn id="49" idx="1"/>
            <a:endCxn id="45" idx="5"/>
          </p:cNvCxnSpPr>
          <p:nvPr/>
        </p:nvCxnSpPr>
        <p:spPr>
          <a:xfrm flipH="1" flipV="1">
            <a:off x="8934933" y="1878267"/>
            <a:ext cx="653928" cy="276916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E80FC9D-D22A-3C17-D568-0E4B9C5F644F}"/>
              </a:ext>
            </a:extLst>
          </p:cNvPr>
          <p:cNvCxnSpPr>
            <a:cxnSpLocks/>
            <a:stCxn id="47" idx="1"/>
            <a:endCxn id="53" idx="6"/>
          </p:cNvCxnSpPr>
          <p:nvPr/>
        </p:nvCxnSpPr>
        <p:spPr>
          <a:xfrm flipH="1" flipV="1">
            <a:off x="5989499" y="4090742"/>
            <a:ext cx="4416607" cy="29389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7034872-D197-6F1A-819E-CDCFC16AFFEB}"/>
              </a:ext>
            </a:extLst>
          </p:cNvPr>
          <p:cNvCxnSpPr>
            <a:cxnSpLocks/>
            <a:stCxn id="48" idx="2"/>
            <a:endCxn id="51" idx="6"/>
          </p:cNvCxnSpPr>
          <p:nvPr/>
        </p:nvCxnSpPr>
        <p:spPr>
          <a:xfrm flipH="1">
            <a:off x="6834100" y="4012518"/>
            <a:ext cx="2817804" cy="41202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1199233-E4E4-5600-8D97-22BE56ED62CA}"/>
              </a:ext>
            </a:extLst>
          </p:cNvPr>
          <p:cNvCxnSpPr>
            <a:cxnSpLocks/>
            <a:stCxn id="46" idx="6"/>
            <a:endCxn id="45" idx="1"/>
          </p:cNvCxnSpPr>
          <p:nvPr/>
        </p:nvCxnSpPr>
        <p:spPr>
          <a:xfrm>
            <a:off x="7423251" y="1439885"/>
            <a:ext cx="1390988" cy="309066"/>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CA0B15C4-933D-4CE8-7BD2-73A6353690CE}"/>
              </a:ext>
            </a:extLst>
          </p:cNvPr>
          <p:cNvCxnSpPr>
            <a:cxnSpLocks/>
            <a:stCxn id="46" idx="5"/>
            <a:endCxn id="44" idx="1"/>
          </p:cNvCxnSpPr>
          <p:nvPr/>
        </p:nvCxnSpPr>
        <p:spPr>
          <a:xfrm>
            <a:off x="7398254" y="1504543"/>
            <a:ext cx="569693" cy="68346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37DF3B36-A457-64EE-0670-9CFFDBA83076}"/>
              </a:ext>
            </a:extLst>
          </p:cNvPr>
          <p:cNvCxnSpPr>
            <a:cxnSpLocks/>
            <a:stCxn id="44" idx="7"/>
            <a:endCxn id="45" idx="3"/>
          </p:cNvCxnSpPr>
          <p:nvPr/>
        </p:nvCxnSpPr>
        <p:spPr>
          <a:xfrm flipV="1">
            <a:off x="8088641" y="1878267"/>
            <a:ext cx="725598" cy="309736"/>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9A5CFAF8-F991-FEB6-164D-DDEFA1BD4F9B}"/>
              </a:ext>
            </a:extLst>
          </p:cNvPr>
          <p:cNvCxnSpPr>
            <a:cxnSpLocks/>
            <a:stCxn id="52" idx="5"/>
            <a:endCxn id="50" idx="2"/>
          </p:cNvCxnSpPr>
          <p:nvPr/>
        </p:nvCxnSpPr>
        <p:spPr>
          <a:xfrm>
            <a:off x="5623657" y="4472657"/>
            <a:ext cx="869067" cy="565538"/>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4DCF49F-F480-420F-A5EB-98F61215B7F0}"/>
              </a:ext>
            </a:extLst>
          </p:cNvPr>
          <p:cNvCxnSpPr>
            <a:cxnSpLocks/>
            <a:stCxn id="52" idx="7"/>
            <a:endCxn id="53" idx="3"/>
          </p:cNvCxnSpPr>
          <p:nvPr/>
        </p:nvCxnSpPr>
        <p:spPr>
          <a:xfrm flipV="1">
            <a:off x="5623657" y="4155400"/>
            <a:ext cx="220151" cy="18794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DCD4ED4-3C84-9D7D-9AD5-3EA469DEC93E}"/>
              </a:ext>
            </a:extLst>
          </p:cNvPr>
          <p:cNvCxnSpPr>
            <a:cxnSpLocks/>
            <a:stCxn id="50" idx="7"/>
            <a:endCxn id="51" idx="4"/>
          </p:cNvCxnSpPr>
          <p:nvPr/>
        </p:nvCxnSpPr>
        <p:spPr>
          <a:xfrm flipV="1">
            <a:off x="6638415" y="4515982"/>
            <a:ext cx="110341" cy="45755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C41D3D48-BE7F-CDFB-BA1A-3643F320C6A2}"/>
              </a:ext>
            </a:extLst>
          </p:cNvPr>
          <p:cNvCxnSpPr>
            <a:cxnSpLocks/>
            <a:stCxn id="53" idx="5"/>
            <a:endCxn id="51" idx="2"/>
          </p:cNvCxnSpPr>
          <p:nvPr/>
        </p:nvCxnSpPr>
        <p:spPr>
          <a:xfrm>
            <a:off x="5964502" y="4155400"/>
            <a:ext cx="698910" cy="26914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EC42D26E-1754-8F4D-F762-96431701F97E}"/>
              </a:ext>
            </a:extLst>
          </p:cNvPr>
          <p:cNvCxnSpPr>
            <a:cxnSpLocks/>
            <a:stCxn id="49" idx="0"/>
            <a:endCxn id="48" idx="4"/>
          </p:cNvCxnSpPr>
          <p:nvPr/>
        </p:nvCxnSpPr>
        <p:spPr>
          <a:xfrm flipV="1">
            <a:off x="9649208" y="4103958"/>
            <a:ext cx="88040" cy="51669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7C4F99E4-E565-5CE9-2FE6-7AFDFE16BC57}"/>
              </a:ext>
            </a:extLst>
          </p:cNvPr>
          <p:cNvCxnSpPr>
            <a:cxnSpLocks/>
            <a:stCxn id="47" idx="1"/>
            <a:endCxn id="48" idx="5"/>
          </p:cNvCxnSpPr>
          <p:nvPr/>
        </p:nvCxnSpPr>
        <p:spPr>
          <a:xfrm flipH="1" flipV="1">
            <a:off x="9797595" y="4077176"/>
            <a:ext cx="608511" cy="307457"/>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BF3060A8-6578-B1AA-61AC-CB1D91C0A177}"/>
              </a:ext>
            </a:extLst>
          </p:cNvPr>
          <p:cNvCxnSpPr>
            <a:cxnSpLocks/>
            <a:stCxn id="49" idx="6"/>
            <a:endCxn id="47" idx="3"/>
          </p:cNvCxnSpPr>
          <p:nvPr/>
        </p:nvCxnSpPr>
        <p:spPr>
          <a:xfrm flipV="1">
            <a:off x="9734552" y="4513949"/>
            <a:ext cx="671554" cy="19814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9BD0630-A935-1BF1-F107-F3DEB45CC52C}"/>
              </a:ext>
            </a:extLst>
          </p:cNvPr>
          <p:cNvCxnSpPr>
            <a:cxnSpLocks/>
            <a:stCxn id="53" idx="4"/>
            <a:endCxn id="50" idx="1"/>
          </p:cNvCxnSpPr>
          <p:nvPr/>
        </p:nvCxnSpPr>
        <p:spPr>
          <a:xfrm>
            <a:off x="5904155" y="4182182"/>
            <a:ext cx="613566" cy="791355"/>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71A0D50-54B2-5C0B-B9A3-29E069BA24C0}"/>
              </a:ext>
            </a:extLst>
          </p:cNvPr>
          <p:cNvCxnSpPr>
            <a:cxnSpLocks/>
            <a:stCxn id="52" idx="6"/>
            <a:endCxn id="51" idx="3"/>
          </p:cNvCxnSpPr>
          <p:nvPr/>
        </p:nvCxnSpPr>
        <p:spPr>
          <a:xfrm>
            <a:off x="5648654" y="4407999"/>
            <a:ext cx="1039755" cy="8120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el 1">
            <a:extLst>
              <a:ext uri="{FF2B5EF4-FFF2-40B4-BE49-F238E27FC236}">
                <a16:creationId xmlns:a16="http://schemas.microsoft.com/office/drawing/2014/main" id="{84573B21-5DDF-8F54-6E55-4B82CC30F95C}"/>
              </a:ext>
            </a:extLst>
          </p:cNvPr>
          <p:cNvSpPr txBox="1">
            <a:spLocks/>
          </p:cNvSpPr>
          <p:nvPr/>
        </p:nvSpPr>
        <p:spPr bwMode="auto">
          <a:xfrm>
            <a:off x="0" y="-355"/>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Spacetime Distributed Learning</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8" name="TextBox 7">
            <a:extLst>
              <a:ext uri="{FF2B5EF4-FFF2-40B4-BE49-F238E27FC236}">
                <a16:creationId xmlns:a16="http://schemas.microsoft.com/office/drawing/2014/main" id="{3385CEA9-4D86-D8B7-41EA-77F10BFFD385}"/>
              </a:ext>
            </a:extLst>
          </p:cNvPr>
          <p:cNvSpPr txBox="1"/>
          <p:nvPr/>
        </p:nvSpPr>
        <p:spPr>
          <a:xfrm>
            <a:off x="526056" y="3958933"/>
            <a:ext cx="3556893" cy="1938992"/>
          </a:xfrm>
          <a:prstGeom prst="rect">
            <a:avLst/>
          </a:prstGeom>
          <a:noFill/>
        </p:spPr>
        <p:txBody>
          <a:bodyPr wrap="square" rtlCol="0">
            <a:spAutoFit/>
          </a:bodyPr>
          <a:lstStyle/>
          <a:p>
            <a:pPr marL="342900" indent="-342900">
              <a:buFont typeface="Arial" panose="020B0604020202020204" pitchFamily="34" charset="0"/>
              <a:buChar char="•"/>
            </a:pPr>
            <a:r>
              <a:rPr lang="en-CA" sz="2000" dirty="0"/>
              <a:t>Non-local and distributed reinforcement learning</a:t>
            </a:r>
          </a:p>
          <a:p>
            <a:pPr marL="342900" indent="-342900">
              <a:buFont typeface="Arial" panose="020B0604020202020204" pitchFamily="34" charset="0"/>
              <a:buChar char="•"/>
            </a:pPr>
            <a:r>
              <a:rPr lang="en-CA" sz="2000" dirty="0"/>
              <a:t>Distributed quantum cryptography</a:t>
            </a:r>
          </a:p>
          <a:p>
            <a:pPr marL="342900" indent="-342900">
              <a:buFont typeface="Arial" panose="020B0604020202020204" pitchFamily="34" charset="0"/>
              <a:buChar char="•"/>
            </a:pPr>
            <a:r>
              <a:rPr lang="en-CA" sz="2000" dirty="0"/>
              <a:t>Distributed graph state preparation</a:t>
            </a:r>
          </a:p>
        </p:txBody>
      </p:sp>
      <p:sp>
        <p:nvSpPr>
          <p:cNvPr id="9" name="TextBox 8">
            <a:extLst>
              <a:ext uri="{FF2B5EF4-FFF2-40B4-BE49-F238E27FC236}">
                <a16:creationId xmlns:a16="http://schemas.microsoft.com/office/drawing/2014/main" id="{A46F04AD-DAD1-48F5-C8DF-23D4D147C307}"/>
              </a:ext>
            </a:extLst>
          </p:cNvPr>
          <p:cNvSpPr txBox="1"/>
          <p:nvPr/>
        </p:nvSpPr>
        <p:spPr>
          <a:xfrm>
            <a:off x="269213" y="3455066"/>
            <a:ext cx="4053156" cy="400110"/>
          </a:xfrm>
          <a:prstGeom prst="rect">
            <a:avLst/>
          </a:prstGeom>
          <a:noFill/>
        </p:spPr>
        <p:txBody>
          <a:bodyPr wrap="square" rtlCol="0">
            <a:spAutoFit/>
          </a:bodyPr>
          <a:lstStyle/>
          <a:p>
            <a:r>
              <a:rPr lang="en-CA" sz="2000" dirty="0"/>
              <a:t>What kind of tasks can we envision?</a:t>
            </a:r>
          </a:p>
        </p:txBody>
      </p:sp>
    </p:spTree>
    <p:custDataLst>
      <p:tags r:id="rId1"/>
    </p:custDataLst>
    <p:extLst>
      <p:ext uri="{BB962C8B-B14F-4D97-AF65-F5344CB8AC3E}">
        <p14:creationId xmlns:p14="http://schemas.microsoft.com/office/powerpoint/2010/main" val="339581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9"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0208B-6F83-345A-B8A1-4B00AAA4870A}"/>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0F8C3131-33C6-71AD-8599-E9E381E0206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7" name="Slide Number Placeholder 6">
            <a:extLst>
              <a:ext uri="{FF2B5EF4-FFF2-40B4-BE49-F238E27FC236}">
                <a16:creationId xmlns:a16="http://schemas.microsoft.com/office/drawing/2014/main" id="{7542C12B-4252-5A57-041D-9EE7EA155090}"/>
              </a:ext>
            </a:extLst>
          </p:cNvPr>
          <p:cNvSpPr>
            <a:spLocks noGrp="1"/>
          </p:cNvSpPr>
          <p:nvPr>
            <p:ph type="sldNum" sz="quarter" idx="12"/>
          </p:nvPr>
        </p:nvSpPr>
        <p:spPr/>
        <p:txBody>
          <a:bodyPr/>
          <a:lstStyle/>
          <a:p>
            <a:fld id="{D0617D14-1B55-43C0-819D-0D244AC23646}" type="slidenum">
              <a:rPr lang="de-AT" smtClean="0"/>
              <a:t>21</a:t>
            </a:fld>
            <a:endParaRPr lang="de-AT"/>
          </a:p>
        </p:txBody>
      </p:sp>
      <p:sp>
        <p:nvSpPr>
          <p:cNvPr id="4" name="Titel 1">
            <a:extLst>
              <a:ext uri="{FF2B5EF4-FFF2-40B4-BE49-F238E27FC236}">
                <a16:creationId xmlns:a16="http://schemas.microsoft.com/office/drawing/2014/main" id="{9BBAAA37-EA1E-6EB7-B915-DDD52757C8A5}"/>
              </a:ext>
            </a:extLst>
          </p:cNvPr>
          <p:cNvSpPr txBox="1">
            <a:spLocks/>
          </p:cNvSpPr>
          <p:nvPr/>
        </p:nvSpPr>
        <p:spPr bwMode="auto">
          <a:xfrm>
            <a:off x="0" y="-355"/>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Relativity-Aware QML Protocols</a:t>
            </a:r>
            <a:endParaRPr lang="de-AT" sz="3200" kern="0" dirty="0">
              <a:solidFill>
                <a:schemeClr val="bg1"/>
              </a:solidFill>
              <a:latin typeface="Calibri Light" panose="020F0302020204030204" pitchFamily="34" charset="0"/>
              <a:cs typeface="Calibri Light" panose="020F0302020204030204" pitchFamily="34" charset="0"/>
            </a:endParaRPr>
          </a:p>
        </p:txBody>
      </p:sp>
      <p:pic>
        <p:nvPicPr>
          <p:cNvPr id="3" name="Picture 2">
            <a:extLst>
              <a:ext uri="{FF2B5EF4-FFF2-40B4-BE49-F238E27FC236}">
                <a16:creationId xmlns:a16="http://schemas.microsoft.com/office/drawing/2014/main" id="{400E2FBD-6547-3F06-1324-438CA167E4F1}"/>
              </a:ext>
            </a:extLst>
          </p:cNvPr>
          <p:cNvPicPr>
            <a:picLocks noChangeAspect="1"/>
          </p:cNvPicPr>
          <p:nvPr/>
        </p:nvPicPr>
        <p:blipFill>
          <a:blip r:embed="rId4"/>
          <a:stretch>
            <a:fillRect/>
          </a:stretch>
        </p:blipFill>
        <p:spPr>
          <a:xfrm>
            <a:off x="1305060" y="840893"/>
            <a:ext cx="6757925" cy="5227187"/>
          </a:xfrm>
          <a:prstGeom prst="rect">
            <a:avLst/>
          </a:prstGeom>
        </p:spPr>
      </p:pic>
      <p:sp>
        <p:nvSpPr>
          <p:cNvPr id="5" name="TextBox 4">
            <a:extLst>
              <a:ext uri="{FF2B5EF4-FFF2-40B4-BE49-F238E27FC236}">
                <a16:creationId xmlns:a16="http://schemas.microsoft.com/office/drawing/2014/main" id="{0B509FBC-B84A-0D3B-8EE2-5773DEB46975}"/>
              </a:ext>
            </a:extLst>
          </p:cNvPr>
          <p:cNvSpPr txBox="1"/>
          <p:nvPr/>
        </p:nvSpPr>
        <p:spPr>
          <a:xfrm>
            <a:off x="4962642" y="4658370"/>
            <a:ext cx="1927117" cy="400110"/>
          </a:xfrm>
          <a:prstGeom prst="rect">
            <a:avLst/>
          </a:prstGeom>
          <a:noFill/>
        </p:spPr>
        <p:txBody>
          <a:bodyPr wrap="square" rtlCol="0">
            <a:spAutoFit/>
          </a:bodyPr>
          <a:lstStyle/>
          <a:p>
            <a:r>
              <a:rPr lang="en-CA" sz="2000" dirty="0">
                <a:solidFill>
                  <a:srgbClr val="FF0000"/>
                </a:solidFill>
              </a:rPr>
              <a:t>Field state</a:t>
            </a:r>
          </a:p>
        </p:txBody>
      </p:sp>
      <p:sp>
        <p:nvSpPr>
          <p:cNvPr id="6" name="TextBox 5">
            <a:extLst>
              <a:ext uri="{FF2B5EF4-FFF2-40B4-BE49-F238E27FC236}">
                <a16:creationId xmlns:a16="http://schemas.microsoft.com/office/drawing/2014/main" id="{FBF4424D-0DF3-8406-FAE7-5FF30B7179B9}"/>
              </a:ext>
            </a:extLst>
          </p:cNvPr>
          <p:cNvSpPr txBox="1"/>
          <p:nvPr/>
        </p:nvSpPr>
        <p:spPr>
          <a:xfrm>
            <a:off x="97209" y="5533102"/>
            <a:ext cx="1809667" cy="400110"/>
          </a:xfrm>
          <a:prstGeom prst="rect">
            <a:avLst/>
          </a:prstGeom>
          <a:noFill/>
        </p:spPr>
        <p:txBody>
          <a:bodyPr wrap="square" rtlCol="0">
            <a:spAutoFit/>
          </a:bodyPr>
          <a:lstStyle/>
          <a:p>
            <a:r>
              <a:rPr lang="en-CA" sz="2000" dirty="0"/>
              <a:t>worldlines</a:t>
            </a:r>
          </a:p>
        </p:txBody>
      </p:sp>
      <p:sp>
        <p:nvSpPr>
          <p:cNvPr id="8" name="Left Brace 7">
            <a:extLst>
              <a:ext uri="{FF2B5EF4-FFF2-40B4-BE49-F238E27FC236}">
                <a16:creationId xmlns:a16="http://schemas.microsoft.com/office/drawing/2014/main" id="{ECBA0EF3-0B04-3A56-8745-EAD1BD42681C}"/>
              </a:ext>
            </a:extLst>
          </p:cNvPr>
          <p:cNvSpPr/>
          <p:nvPr/>
        </p:nvSpPr>
        <p:spPr>
          <a:xfrm rot="17564063">
            <a:off x="2238975" y="4736787"/>
            <a:ext cx="166798" cy="1866118"/>
          </a:xfrm>
          <a:prstGeom prst="leftBrace">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en-CA" sz="2600">
              <a:latin typeface="+mj-lt"/>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780514B-4196-3564-2D4A-0636F8846C55}"/>
                  </a:ext>
                </a:extLst>
              </p:cNvPr>
              <p:cNvSpPr txBox="1"/>
              <p:nvPr/>
            </p:nvSpPr>
            <p:spPr>
              <a:xfrm>
                <a:off x="1265512" y="5519827"/>
                <a:ext cx="911316" cy="4361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CA" sz="2000" i="1" dirty="0" smtClean="0">
                              <a:latin typeface="Cambria Math" panose="02040503050406030204" pitchFamily="18" charset="0"/>
                            </a:rPr>
                          </m:ctrlPr>
                        </m:sSubSupPr>
                        <m:e>
                          <m:r>
                            <a:rPr lang="en-CA" sz="2000" i="1" dirty="0" smtClean="0">
                              <a:latin typeface="Cambria Math" panose="02040503050406030204" pitchFamily="18" charset="0"/>
                            </a:rPr>
                            <m:t>𝑧</m:t>
                          </m:r>
                        </m:e>
                        <m:sub>
                          <m:r>
                            <a:rPr lang="en-CA" sz="2000" i="1" dirty="0" err="1">
                              <a:latin typeface="Cambria Math" panose="02040503050406030204" pitchFamily="18" charset="0"/>
                            </a:rPr>
                            <m:t>𝑖</m:t>
                          </m:r>
                        </m:sub>
                        <m:sup>
                          <m:r>
                            <a:rPr lang="en-CA" sz="2000" i="1" dirty="0" smtClean="0">
                              <a:latin typeface="Cambria Math" panose="02040503050406030204" pitchFamily="18" charset="0"/>
                            </a:rPr>
                            <m:t>𝜇</m:t>
                          </m:r>
                        </m:sup>
                      </m:sSubSup>
                      <m:r>
                        <a:rPr lang="en-CA" sz="2000" i="1" dirty="0">
                          <a:latin typeface="Cambria Math" panose="02040503050406030204" pitchFamily="18" charset="0"/>
                        </a:rPr>
                        <m:t>(</m:t>
                      </m:r>
                      <m:sSub>
                        <m:sSubPr>
                          <m:ctrlPr>
                            <a:rPr lang="en-CA" sz="2000" i="1" dirty="0" err="1">
                              <a:latin typeface="Cambria Math" panose="02040503050406030204" pitchFamily="18" charset="0"/>
                            </a:rPr>
                          </m:ctrlPr>
                        </m:sSubPr>
                        <m:e>
                          <m:r>
                            <a:rPr lang="en-CA" sz="2000" i="1" dirty="0" smtClean="0">
                              <a:latin typeface="Cambria Math" panose="02040503050406030204" pitchFamily="18" charset="0"/>
                            </a:rPr>
                            <m:t>𝜏</m:t>
                          </m:r>
                        </m:e>
                        <m:sub>
                          <m:r>
                            <a:rPr lang="en-CA" sz="2000" i="1" dirty="0" err="1">
                              <a:latin typeface="Cambria Math" panose="02040503050406030204" pitchFamily="18" charset="0"/>
                            </a:rPr>
                            <m:t>𝑖</m:t>
                          </m:r>
                        </m:sub>
                      </m:sSub>
                      <m:r>
                        <a:rPr lang="en-CA" sz="2000" i="1" dirty="0">
                          <a:latin typeface="Cambria Math" panose="02040503050406030204" pitchFamily="18" charset="0"/>
                        </a:rPr>
                        <m:t>) </m:t>
                      </m:r>
                    </m:oMath>
                  </m:oMathPara>
                </a14:m>
                <a:endParaRPr lang="en-CA" sz="2000" dirty="0">
                  <a:latin typeface="+mj-lt"/>
                </a:endParaRPr>
              </a:p>
            </p:txBody>
          </p:sp>
        </mc:Choice>
        <mc:Fallback xmlns="">
          <p:sp>
            <p:nvSpPr>
              <p:cNvPr id="9" name="TextBox 8">
                <a:extLst>
                  <a:ext uri="{FF2B5EF4-FFF2-40B4-BE49-F238E27FC236}">
                    <a16:creationId xmlns:a16="http://schemas.microsoft.com/office/drawing/2014/main" id="{9780514B-4196-3564-2D4A-0636F8846C55}"/>
                  </a:ext>
                </a:extLst>
              </p:cNvPr>
              <p:cNvSpPr txBox="1">
                <a:spLocks noRot="1" noChangeAspect="1" noMove="1" noResize="1" noEditPoints="1" noAdjustHandles="1" noChangeArrowheads="1" noChangeShapeType="1" noTextEdit="1"/>
              </p:cNvSpPr>
              <p:nvPr/>
            </p:nvSpPr>
            <p:spPr>
              <a:xfrm>
                <a:off x="1265512" y="5519827"/>
                <a:ext cx="911316" cy="436145"/>
              </a:xfrm>
              <a:prstGeom prst="rect">
                <a:avLst/>
              </a:prstGeom>
              <a:blipFill>
                <a:blip r:embed="rId5"/>
                <a:stretch>
                  <a:fillRect r="-4110" b="-1142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6BAB412-4A09-5379-1F43-87103F770D81}"/>
                  </a:ext>
                </a:extLst>
              </p:cNvPr>
              <p:cNvSpPr txBox="1"/>
              <p:nvPr/>
            </p:nvSpPr>
            <p:spPr>
              <a:xfrm>
                <a:off x="297587" y="3828731"/>
                <a:ext cx="16498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oMath>
                  </m:oMathPara>
                </a14:m>
                <a:endParaRPr lang="en-CA" sz="2000" dirty="0">
                  <a:latin typeface="+mj-lt"/>
                </a:endParaRPr>
              </a:p>
            </p:txBody>
          </p:sp>
        </mc:Choice>
        <mc:Fallback xmlns="">
          <p:sp>
            <p:nvSpPr>
              <p:cNvPr id="10" name="TextBox 9">
                <a:extLst>
                  <a:ext uri="{FF2B5EF4-FFF2-40B4-BE49-F238E27FC236}">
                    <a16:creationId xmlns:a16="http://schemas.microsoft.com/office/drawing/2014/main" id="{76BAB412-4A09-5379-1F43-87103F770D81}"/>
                  </a:ext>
                </a:extLst>
              </p:cNvPr>
              <p:cNvSpPr txBox="1">
                <a:spLocks noRot="1" noChangeAspect="1" noMove="1" noResize="1" noEditPoints="1" noAdjustHandles="1" noChangeArrowheads="1" noChangeShapeType="1" noTextEdit="1"/>
              </p:cNvSpPr>
              <p:nvPr/>
            </p:nvSpPr>
            <p:spPr>
              <a:xfrm>
                <a:off x="297587" y="3828731"/>
                <a:ext cx="164981" cy="307777"/>
              </a:xfrm>
              <a:prstGeom prst="rect">
                <a:avLst/>
              </a:prstGeom>
              <a:blipFill>
                <a:blip r:embed="rId6"/>
                <a:stretch>
                  <a:fillRect l="-28571" r="-21429" b="-4000"/>
                </a:stretch>
              </a:blipFill>
            </p:spPr>
            <p:txBody>
              <a:bodyPr/>
              <a:lstStyle/>
              <a:p>
                <a:r>
                  <a:rPr lang="en-CA">
                    <a:noFill/>
                  </a:rPr>
                  <a:t> </a:t>
                </a:r>
              </a:p>
            </p:txBody>
          </p:sp>
        </mc:Fallback>
      </mc:AlternateContent>
      <p:cxnSp>
        <p:nvCxnSpPr>
          <p:cNvPr id="11" name="Straight Arrow Connector 10">
            <a:extLst>
              <a:ext uri="{FF2B5EF4-FFF2-40B4-BE49-F238E27FC236}">
                <a16:creationId xmlns:a16="http://schemas.microsoft.com/office/drawing/2014/main" id="{99BCC9FE-1850-A7D5-0172-B09CC14E7001}"/>
              </a:ext>
            </a:extLst>
          </p:cNvPr>
          <p:cNvCxnSpPr/>
          <p:nvPr/>
        </p:nvCxnSpPr>
        <p:spPr>
          <a:xfrm flipV="1">
            <a:off x="520381" y="3598572"/>
            <a:ext cx="0" cy="768096"/>
          </a:xfrm>
          <a:prstGeom prst="straightConnector1">
            <a:avLst/>
          </a:prstGeom>
          <a:ln w="25400">
            <a:tailEnd type="triangle" w="lg"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BF5948-8835-D20A-F466-62364FC14A21}"/>
                  </a:ext>
                </a:extLst>
              </p:cNvPr>
              <p:cNvSpPr txBox="1"/>
              <p:nvPr/>
            </p:nvSpPr>
            <p:spPr>
              <a:xfrm>
                <a:off x="803144" y="3976067"/>
                <a:ext cx="20172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CA" sz="2000" dirty="0">
                  <a:latin typeface="+mj-lt"/>
                </a:endParaRPr>
              </a:p>
            </p:txBody>
          </p:sp>
        </mc:Choice>
        <mc:Fallback xmlns="">
          <p:sp>
            <p:nvSpPr>
              <p:cNvPr id="12" name="TextBox 11">
                <a:extLst>
                  <a:ext uri="{FF2B5EF4-FFF2-40B4-BE49-F238E27FC236}">
                    <a16:creationId xmlns:a16="http://schemas.microsoft.com/office/drawing/2014/main" id="{21BF5948-8835-D20A-F466-62364FC14A21}"/>
                  </a:ext>
                </a:extLst>
              </p:cNvPr>
              <p:cNvSpPr txBox="1">
                <a:spLocks noRot="1" noChangeAspect="1" noMove="1" noResize="1" noEditPoints="1" noAdjustHandles="1" noChangeArrowheads="1" noChangeShapeType="1" noTextEdit="1"/>
              </p:cNvSpPr>
              <p:nvPr/>
            </p:nvSpPr>
            <p:spPr>
              <a:xfrm>
                <a:off x="803144" y="3976067"/>
                <a:ext cx="201722" cy="307777"/>
              </a:xfrm>
              <a:prstGeom prst="rect">
                <a:avLst/>
              </a:prstGeom>
              <a:blipFill>
                <a:blip r:embed="rId7"/>
                <a:stretch>
                  <a:fillRect l="-17647" r="-11765"/>
                </a:stretch>
              </a:blipFill>
            </p:spPr>
            <p:txBody>
              <a:bodyPr/>
              <a:lstStyle/>
              <a:p>
                <a:r>
                  <a:rPr lang="en-CA">
                    <a:noFill/>
                  </a:rPr>
                  <a:t> </a:t>
                </a:r>
              </a:p>
            </p:txBody>
          </p:sp>
        </mc:Fallback>
      </mc:AlternateContent>
      <p:cxnSp>
        <p:nvCxnSpPr>
          <p:cNvPr id="13" name="Straight Arrow Connector 12">
            <a:extLst>
              <a:ext uri="{FF2B5EF4-FFF2-40B4-BE49-F238E27FC236}">
                <a16:creationId xmlns:a16="http://schemas.microsoft.com/office/drawing/2014/main" id="{BCFED836-4721-10A5-469E-0F32D3422014}"/>
              </a:ext>
            </a:extLst>
          </p:cNvPr>
          <p:cNvCxnSpPr>
            <a:cxnSpLocks/>
          </p:cNvCxnSpPr>
          <p:nvPr/>
        </p:nvCxnSpPr>
        <p:spPr>
          <a:xfrm flipV="1">
            <a:off x="528940" y="3750210"/>
            <a:ext cx="548408" cy="605656"/>
          </a:xfrm>
          <a:prstGeom prst="straightConnector1">
            <a:avLst/>
          </a:prstGeom>
          <a:ln w="25400">
            <a:tailEnd type="triangle" w="lg" len="med"/>
          </a:ln>
        </p:spPr>
        <p:style>
          <a:lnRef idx="1">
            <a:schemeClr val="dk1"/>
          </a:lnRef>
          <a:fillRef idx="0">
            <a:schemeClr val="dk1"/>
          </a:fillRef>
          <a:effectRef idx="0">
            <a:schemeClr val="dk1"/>
          </a:effectRef>
          <a:fontRef idx="minor">
            <a:schemeClr val="tx1"/>
          </a:fontRef>
        </p:style>
      </p:cxnSp>
      <p:sp>
        <p:nvSpPr>
          <p:cNvPr id="14" name="Connector 13">
            <a:extLst>
              <a:ext uri="{FF2B5EF4-FFF2-40B4-BE49-F238E27FC236}">
                <a16:creationId xmlns:a16="http://schemas.microsoft.com/office/drawing/2014/main" id="{29E007C4-7C3B-C36A-B7F9-190826900240}"/>
              </a:ext>
            </a:extLst>
          </p:cNvPr>
          <p:cNvSpPr/>
          <p:nvPr/>
        </p:nvSpPr>
        <p:spPr>
          <a:xfrm>
            <a:off x="1305060" y="1680225"/>
            <a:ext cx="2981904" cy="1930820"/>
          </a:xfrm>
          <a:prstGeom prst="flowChartConnector">
            <a:avLst/>
          </a:prstGeom>
          <a:noFill/>
          <a:ln w="31750">
            <a:prstDash val="dash"/>
          </a:ln>
          <a:scene3d>
            <a:camera prst="orthographicFront">
              <a:rot lat="19210946" lon="21349022" rev="39093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600" dirty="0">
              <a:latin typeface="+mj-lt"/>
            </a:endParaRPr>
          </a:p>
        </p:txBody>
      </p:sp>
      <p:sp>
        <p:nvSpPr>
          <p:cNvPr id="15" name="Connector 14">
            <a:extLst>
              <a:ext uri="{FF2B5EF4-FFF2-40B4-BE49-F238E27FC236}">
                <a16:creationId xmlns:a16="http://schemas.microsoft.com/office/drawing/2014/main" id="{979306F3-BC5F-7230-9161-1326A572D926}"/>
              </a:ext>
            </a:extLst>
          </p:cNvPr>
          <p:cNvSpPr/>
          <p:nvPr/>
        </p:nvSpPr>
        <p:spPr>
          <a:xfrm>
            <a:off x="5501752" y="4156938"/>
            <a:ext cx="424449" cy="333958"/>
          </a:xfrm>
          <a:prstGeom prst="flowChartConnector">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600">
              <a:latin typeface="+mj-lt"/>
            </a:endParaRPr>
          </a:p>
        </p:txBody>
      </p:sp>
      <p:sp>
        <p:nvSpPr>
          <p:cNvPr id="16" name="TextBox 15">
            <a:extLst>
              <a:ext uri="{FF2B5EF4-FFF2-40B4-BE49-F238E27FC236}">
                <a16:creationId xmlns:a16="http://schemas.microsoft.com/office/drawing/2014/main" id="{A3C5E90A-EEE8-D723-6D1A-4C98FBB98054}"/>
              </a:ext>
            </a:extLst>
          </p:cNvPr>
          <p:cNvSpPr txBox="1"/>
          <p:nvPr/>
        </p:nvSpPr>
        <p:spPr>
          <a:xfrm>
            <a:off x="137617" y="1421531"/>
            <a:ext cx="2039211" cy="1015663"/>
          </a:xfrm>
          <a:prstGeom prst="rect">
            <a:avLst/>
          </a:prstGeom>
          <a:noFill/>
        </p:spPr>
        <p:txBody>
          <a:bodyPr wrap="square" rtlCol="0">
            <a:spAutoFit/>
          </a:bodyPr>
          <a:lstStyle/>
          <a:p>
            <a:r>
              <a:rPr lang="en-CA" sz="2000" dirty="0"/>
              <a:t>System-field interaction regions</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98F2307-852C-5654-F497-25DE0C62FBFD}"/>
                  </a:ext>
                </a:extLst>
              </p:cNvPr>
              <p:cNvSpPr txBox="1"/>
              <p:nvPr/>
            </p:nvSpPr>
            <p:spPr>
              <a:xfrm>
                <a:off x="8437241" y="2853334"/>
                <a:ext cx="3566641" cy="400110"/>
              </a:xfrm>
              <a:prstGeom prst="rect">
                <a:avLst/>
              </a:prstGeom>
              <a:noFill/>
            </p:spPr>
            <p:txBody>
              <a:bodyPr wrap="square">
                <a:spAutoFit/>
              </a:bodyPr>
              <a:lstStyle/>
              <a:p>
                <a:r>
                  <a:rPr lang="en-CA" sz="2000" dirty="0"/>
                  <a:t>Rotation angles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Ω</m:t>
                        </m:r>
                      </m:e>
                      <m:sub>
                        <m:r>
                          <a:rPr lang="en-US" sz="2000" b="0" i="1" smtClean="0">
                            <a:latin typeface="Cambria Math" panose="02040503050406030204" pitchFamily="18" charset="0"/>
                          </a:rPr>
                          <m:t>𝑖</m:t>
                        </m:r>
                      </m:sub>
                    </m:sSub>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/2</m:t>
                    </m:r>
                  </m:oMath>
                </a14:m>
                <a:r>
                  <a:rPr lang="en-CA" sz="2000" dirty="0"/>
                  <a:t> </a:t>
                </a:r>
              </a:p>
            </p:txBody>
          </p:sp>
        </mc:Choice>
        <mc:Fallback xmlns="">
          <p:sp>
            <p:nvSpPr>
              <p:cNvPr id="19" name="TextBox 18">
                <a:extLst>
                  <a:ext uri="{FF2B5EF4-FFF2-40B4-BE49-F238E27FC236}">
                    <a16:creationId xmlns:a16="http://schemas.microsoft.com/office/drawing/2014/main" id="{598F2307-852C-5654-F497-25DE0C62FBFD}"/>
                  </a:ext>
                </a:extLst>
              </p:cNvPr>
              <p:cNvSpPr txBox="1">
                <a:spLocks noRot="1" noChangeAspect="1" noMove="1" noResize="1" noEditPoints="1" noAdjustHandles="1" noChangeArrowheads="1" noChangeShapeType="1" noTextEdit="1"/>
              </p:cNvSpPr>
              <p:nvPr/>
            </p:nvSpPr>
            <p:spPr>
              <a:xfrm>
                <a:off x="8437241" y="2853334"/>
                <a:ext cx="3566641" cy="400110"/>
              </a:xfrm>
              <a:prstGeom prst="rect">
                <a:avLst/>
              </a:prstGeom>
              <a:blipFill>
                <a:blip r:embed="rId8"/>
                <a:stretch>
                  <a:fillRect l="-1773" t="-6061" b="-24242"/>
                </a:stretch>
              </a:blipFill>
            </p:spPr>
            <p:txBody>
              <a:bodyPr/>
              <a:lstStyle/>
              <a:p>
                <a:r>
                  <a:rPr lang="en-CA">
                    <a:noFill/>
                  </a:rPr>
                  <a:t> </a:t>
                </a:r>
              </a:p>
            </p:txBody>
          </p:sp>
        </mc:Fallback>
      </mc:AlternateContent>
      <p:sp>
        <p:nvSpPr>
          <p:cNvPr id="21" name="TextBox 20">
            <a:extLst>
              <a:ext uri="{FF2B5EF4-FFF2-40B4-BE49-F238E27FC236}">
                <a16:creationId xmlns:a16="http://schemas.microsoft.com/office/drawing/2014/main" id="{8132C4B7-8685-94D8-F503-E66E08F3F541}"/>
              </a:ext>
            </a:extLst>
          </p:cNvPr>
          <p:cNvSpPr txBox="1"/>
          <p:nvPr/>
        </p:nvSpPr>
        <p:spPr>
          <a:xfrm>
            <a:off x="8304990" y="4561740"/>
            <a:ext cx="3705964" cy="707886"/>
          </a:xfrm>
          <a:prstGeom prst="rect">
            <a:avLst/>
          </a:prstGeom>
          <a:noFill/>
        </p:spPr>
        <p:txBody>
          <a:bodyPr wrap="square" rtlCol="0">
            <a:spAutoFit/>
          </a:bodyPr>
          <a:lstStyle/>
          <a:p>
            <a:pPr marL="342900" indent="-342900">
              <a:buFont typeface="Arial" panose="020B0604020202020204" pitchFamily="34" charset="0"/>
              <a:buChar char="•"/>
            </a:pPr>
            <a:r>
              <a:rPr lang="en-CA" sz="2000" dirty="0"/>
              <a:t>Gravitation could modulate power of entangling gates</a:t>
            </a:r>
          </a:p>
        </p:txBody>
      </p:sp>
      <p:sp>
        <p:nvSpPr>
          <p:cNvPr id="22" name="TextBox 21">
            <a:extLst>
              <a:ext uri="{FF2B5EF4-FFF2-40B4-BE49-F238E27FC236}">
                <a16:creationId xmlns:a16="http://schemas.microsoft.com/office/drawing/2014/main" id="{3C6F5DCF-0CF3-7FAF-FDE5-D5D9991893CC}"/>
              </a:ext>
            </a:extLst>
          </p:cNvPr>
          <p:cNvSpPr txBox="1"/>
          <p:nvPr/>
        </p:nvSpPr>
        <p:spPr>
          <a:xfrm>
            <a:off x="8495477" y="1331420"/>
            <a:ext cx="3299657" cy="707886"/>
          </a:xfrm>
          <a:prstGeom prst="rect">
            <a:avLst/>
          </a:prstGeom>
          <a:noFill/>
        </p:spPr>
        <p:txBody>
          <a:bodyPr wrap="square">
            <a:spAutoFit/>
          </a:bodyPr>
          <a:lstStyle/>
          <a:p>
            <a:r>
              <a:rPr lang="en-US" sz="2000" dirty="0"/>
              <a:t>Can we do better with </a:t>
            </a:r>
            <a:r>
              <a:rPr lang="en-US" sz="2000" dirty="0" err="1"/>
              <a:t>relativistically</a:t>
            </a:r>
            <a:r>
              <a:rPr lang="en-US" sz="2000" dirty="0"/>
              <a:t>-aware gates?  </a:t>
            </a:r>
            <a:endParaRPr lang="en-CA" sz="2000" dirty="0"/>
          </a:p>
        </p:txBody>
      </p:sp>
      <p:sp>
        <p:nvSpPr>
          <p:cNvPr id="23" name="TextBox 22">
            <a:extLst>
              <a:ext uri="{FF2B5EF4-FFF2-40B4-BE49-F238E27FC236}">
                <a16:creationId xmlns:a16="http://schemas.microsoft.com/office/drawing/2014/main" id="{FA79C56F-1391-0760-E242-A6A05FF232F3}"/>
              </a:ext>
            </a:extLst>
          </p:cNvPr>
          <p:cNvSpPr txBox="1"/>
          <p:nvPr/>
        </p:nvSpPr>
        <p:spPr>
          <a:xfrm>
            <a:off x="8236456" y="2379388"/>
            <a:ext cx="3955544" cy="400110"/>
          </a:xfrm>
          <a:prstGeom prst="rect">
            <a:avLst/>
          </a:prstGeom>
          <a:noFill/>
        </p:spPr>
        <p:txBody>
          <a:bodyPr wrap="square">
            <a:spAutoFit/>
          </a:bodyPr>
          <a:lstStyle/>
          <a:p>
            <a:r>
              <a:rPr lang="en-US" sz="2000" dirty="0"/>
              <a:t>Parameters sensitive to spacetime:</a:t>
            </a:r>
            <a:endParaRPr lang="en-CA" sz="2000"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09824FD-B029-615B-7F0E-256A1A81ECBC}"/>
                  </a:ext>
                </a:extLst>
              </p:cNvPr>
              <p:cNvSpPr txBox="1"/>
              <p:nvPr/>
            </p:nvSpPr>
            <p:spPr>
              <a:xfrm>
                <a:off x="8424573" y="3321726"/>
                <a:ext cx="3566641" cy="424796"/>
              </a:xfrm>
              <a:prstGeom prst="rect">
                <a:avLst/>
              </a:prstGeom>
              <a:noFill/>
            </p:spPr>
            <p:txBody>
              <a:bodyPr wrap="square">
                <a:spAutoFit/>
              </a:bodyPr>
              <a:lstStyle/>
              <a:p>
                <a:r>
                  <a:rPr lang="en-US" sz="2000" b="0" dirty="0"/>
                  <a:t>Entangling gate coefficients </a:t>
                </a:r>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Δ</m:t>
                        </m:r>
                      </m:e>
                      <m:sub>
                        <m:r>
                          <a:rPr lang="en-US" sz="2000" b="0" i="1" smtClean="0">
                            <a:latin typeface="Cambria Math" panose="02040503050406030204" pitchFamily="18" charset="0"/>
                          </a:rPr>
                          <m:t>𝑖𝑗</m:t>
                        </m:r>
                      </m:sub>
                    </m:sSub>
                  </m:oMath>
                </a14:m>
                <a:endParaRPr lang="en-CA" sz="2000" dirty="0"/>
              </a:p>
            </p:txBody>
          </p:sp>
        </mc:Choice>
        <mc:Fallback xmlns="">
          <p:sp>
            <p:nvSpPr>
              <p:cNvPr id="25" name="TextBox 24">
                <a:extLst>
                  <a:ext uri="{FF2B5EF4-FFF2-40B4-BE49-F238E27FC236}">
                    <a16:creationId xmlns:a16="http://schemas.microsoft.com/office/drawing/2014/main" id="{F09824FD-B029-615B-7F0E-256A1A81ECBC}"/>
                  </a:ext>
                </a:extLst>
              </p:cNvPr>
              <p:cNvSpPr txBox="1">
                <a:spLocks noRot="1" noChangeAspect="1" noMove="1" noResize="1" noEditPoints="1" noAdjustHandles="1" noChangeArrowheads="1" noChangeShapeType="1" noTextEdit="1"/>
              </p:cNvSpPr>
              <p:nvPr/>
            </p:nvSpPr>
            <p:spPr>
              <a:xfrm>
                <a:off x="8424573" y="3321726"/>
                <a:ext cx="3566641" cy="424796"/>
              </a:xfrm>
              <a:prstGeom prst="rect">
                <a:avLst/>
              </a:prstGeom>
              <a:blipFill>
                <a:blip r:embed="rId9"/>
                <a:stretch>
                  <a:fillRect l="-1773" t="-8571" b="-1714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459B9D3-57AE-178B-14F2-90F5D3AAE036}"/>
                  </a:ext>
                </a:extLst>
              </p:cNvPr>
              <p:cNvSpPr txBox="1"/>
              <p:nvPr/>
            </p:nvSpPr>
            <p:spPr>
              <a:xfrm>
                <a:off x="8437241" y="3814804"/>
                <a:ext cx="3566641" cy="424796"/>
              </a:xfrm>
              <a:prstGeom prst="rect">
                <a:avLst/>
              </a:prstGeom>
              <a:noFill/>
            </p:spPr>
            <p:txBody>
              <a:bodyPr wrap="square">
                <a:spAutoFit/>
              </a:bodyPr>
              <a:lstStyle/>
              <a:p>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ℇ</m:t>
                        </m:r>
                      </m:e>
                      <m:sub>
                        <m:r>
                          <a:rPr lang="en-US" sz="2000" i="1">
                            <a:latin typeface="Cambria Math" panose="02040503050406030204" pitchFamily="18" charset="0"/>
                            <a:ea typeface="Cambria Math" panose="02040503050406030204" pitchFamily="18" charset="0"/>
                          </a:rPr>
                          <m:t>𝜙</m:t>
                        </m:r>
                      </m:sub>
                    </m:sSub>
                  </m:oMath>
                </a14:m>
                <a:r>
                  <a:rPr lang="en-US" sz="2000" dirty="0"/>
                  <a:t> channel</a:t>
                </a:r>
                <a:r>
                  <a:rPr lang="en-US" sz="2000" b="0" dirty="0"/>
                  <a:t> coefficients </a:t>
                </a:r>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W</m:t>
                        </m:r>
                      </m:e>
                      <m:sub>
                        <m:r>
                          <a:rPr lang="en-US" sz="2000" b="0" i="1" smtClean="0">
                            <a:latin typeface="Cambria Math" panose="02040503050406030204" pitchFamily="18" charset="0"/>
                          </a:rPr>
                          <m:t>𝑖𝑗</m:t>
                        </m:r>
                      </m:sub>
                    </m:sSub>
                  </m:oMath>
                </a14:m>
                <a:endParaRPr lang="en-CA" sz="2000" dirty="0"/>
              </a:p>
            </p:txBody>
          </p:sp>
        </mc:Choice>
        <mc:Fallback xmlns="">
          <p:sp>
            <p:nvSpPr>
              <p:cNvPr id="26" name="TextBox 25">
                <a:extLst>
                  <a:ext uri="{FF2B5EF4-FFF2-40B4-BE49-F238E27FC236}">
                    <a16:creationId xmlns:a16="http://schemas.microsoft.com/office/drawing/2014/main" id="{8459B9D3-57AE-178B-14F2-90F5D3AAE036}"/>
                  </a:ext>
                </a:extLst>
              </p:cNvPr>
              <p:cNvSpPr txBox="1">
                <a:spLocks noRot="1" noChangeAspect="1" noMove="1" noResize="1" noEditPoints="1" noAdjustHandles="1" noChangeArrowheads="1" noChangeShapeType="1" noTextEdit="1"/>
              </p:cNvSpPr>
              <p:nvPr/>
            </p:nvSpPr>
            <p:spPr>
              <a:xfrm>
                <a:off x="8437241" y="3814804"/>
                <a:ext cx="3566641" cy="424796"/>
              </a:xfrm>
              <a:prstGeom prst="rect">
                <a:avLst/>
              </a:prstGeom>
              <a:blipFill>
                <a:blip r:embed="rId10"/>
                <a:stretch>
                  <a:fillRect t="-8824" b="-20588"/>
                </a:stretch>
              </a:blipFill>
            </p:spPr>
            <p:txBody>
              <a:bodyPr/>
              <a:lstStyle/>
              <a:p>
                <a:r>
                  <a:rPr lang="en-CA">
                    <a:noFill/>
                  </a:rPr>
                  <a:t> </a:t>
                </a:r>
              </a:p>
            </p:txBody>
          </p:sp>
        </mc:Fallback>
      </mc:AlternateContent>
    </p:spTree>
    <p:custDataLst>
      <p:tags r:id="rId1"/>
    </p:custDataLst>
    <p:extLst>
      <p:ext uri="{BB962C8B-B14F-4D97-AF65-F5344CB8AC3E}">
        <p14:creationId xmlns:p14="http://schemas.microsoft.com/office/powerpoint/2010/main" val="365788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P spid="25" grpId="0"/>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656D3-5F41-BED2-4E57-F52C3FAA9083}"/>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422B7AA6-54E6-796B-FEB4-4DBD679BA521}"/>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7" name="Slide Number Placeholder 6">
            <a:extLst>
              <a:ext uri="{FF2B5EF4-FFF2-40B4-BE49-F238E27FC236}">
                <a16:creationId xmlns:a16="http://schemas.microsoft.com/office/drawing/2014/main" id="{60F2603F-F283-2D2B-B590-3CDEFB566090}"/>
              </a:ext>
            </a:extLst>
          </p:cNvPr>
          <p:cNvSpPr>
            <a:spLocks noGrp="1"/>
          </p:cNvSpPr>
          <p:nvPr>
            <p:ph type="sldNum" sz="quarter" idx="12"/>
          </p:nvPr>
        </p:nvSpPr>
        <p:spPr/>
        <p:txBody>
          <a:bodyPr/>
          <a:lstStyle/>
          <a:p>
            <a:fld id="{D0617D14-1B55-43C0-819D-0D244AC23646}" type="slidenum">
              <a:rPr lang="de-AT" smtClean="0"/>
              <a:t>22</a:t>
            </a:fld>
            <a:endParaRPr lang="de-AT"/>
          </a:p>
        </p:txBody>
      </p:sp>
      <p:pic>
        <p:nvPicPr>
          <p:cNvPr id="54" name="Picture 53">
            <a:extLst>
              <a:ext uri="{FF2B5EF4-FFF2-40B4-BE49-F238E27FC236}">
                <a16:creationId xmlns:a16="http://schemas.microsoft.com/office/drawing/2014/main" id="{9A21094D-0362-6180-C6D9-63AAF9B54BAD}"/>
              </a:ext>
            </a:extLst>
          </p:cNvPr>
          <p:cNvPicPr>
            <a:picLocks noChangeAspect="1"/>
          </p:cNvPicPr>
          <p:nvPr/>
        </p:nvPicPr>
        <p:blipFill rotWithShape="1">
          <a:blip r:embed="rId4"/>
          <a:srcRect t="11907" b="8642"/>
          <a:stretch/>
        </p:blipFill>
        <p:spPr>
          <a:xfrm>
            <a:off x="6096000" y="1965658"/>
            <a:ext cx="5179241" cy="3429134"/>
          </a:xfrm>
          <a:prstGeom prst="rect">
            <a:avLst/>
          </a:prstGeom>
        </p:spPr>
      </p:pic>
      <p:sp>
        <p:nvSpPr>
          <p:cNvPr id="50" name="Oval 49">
            <a:extLst>
              <a:ext uri="{FF2B5EF4-FFF2-40B4-BE49-F238E27FC236}">
                <a16:creationId xmlns:a16="http://schemas.microsoft.com/office/drawing/2014/main" id="{973227B9-223C-0016-37EB-BA4D5F888236}"/>
              </a:ext>
            </a:extLst>
          </p:cNvPr>
          <p:cNvSpPr/>
          <p:nvPr/>
        </p:nvSpPr>
        <p:spPr>
          <a:xfrm>
            <a:off x="9585394" y="3420094"/>
            <a:ext cx="248564" cy="2601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1D91577B-F511-37E3-F227-3460315C8806}"/>
              </a:ext>
            </a:extLst>
          </p:cNvPr>
          <p:cNvSpPr/>
          <p:nvPr/>
        </p:nvSpPr>
        <p:spPr>
          <a:xfrm>
            <a:off x="7838904" y="2909455"/>
            <a:ext cx="237152" cy="24892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 name="Titel 1">
            <a:extLst>
              <a:ext uri="{FF2B5EF4-FFF2-40B4-BE49-F238E27FC236}">
                <a16:creationId xmlns:a16="http://schemas.microsoft.com/office/drawing/2014/main" id="{EDF726F9-FC87-C556-3E35-B84ADA5561DB}"/>
              </a:ext>
            </a:extLst>
          </p:cNvPr>
          <p:cNvSpPr txBox="1">
            <a:spLocks/>
          </p:cNvSpPr>
          <p:nvPr/>
        </p:nvSpPr>
        <p:spPr bwMode="auto">
          <a:xfrm>
            <a:off x="0" y="-355"/>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Learning Quantum Field and Spacetime Properties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B1FC5FF6-7D06-B3D4-93A7-553EF328637C}"/>
              </a:ext>
            </a:extLst>
          </p:cNvPr>
          <p:cNvSpPr txBox="1"/>
          <p:nvPr/>
        </p:nvSpPr>
        <p:spPr>
          <a:xfrm>
            <a:off x="944234" y="2648357"/>
            <a:ext cx="4310743" cy="3477875"/>
          </a:xfrm>
          <a:prstGeom prst="rect">
            <a:avLst/>
          </a:prstGeom>
          <a:noFill/>
        </p:spPr>
        <p:txBody>
          <a:bodyPr wrap="square" rtlCol="0">
            <a:spAutoFit/>
          </a:bodyPr>
          <a:lstStyle/>
          <a:p>
            <a:pPr marL="800100" lvl="1" indent="-342900">
              <a:buFont typeface="Arial" panose="020B0604020202020204" pitchFamily="34" charset="0"/>
              <a:buChar char="•"/>
            </a:pPr>
            <a:r>
              <a:rPr lang="en-CA" sz="2000" dirty="0"/>
              <a:t>Spin statistics</a:t>
            </a:r>
          </a:p>
          <a:p>
            <a:pPr marL="800100" lvl="1" indent="-342900">
              <a:buFont typeface="Arial" panose="020B0604020202020204" pitchFamily="34" charset="0"/>
              <a:buChar char="•"/>
            </a:pPr>
            <a:r>
              <a:rPr lang="en-CA" sz="2000" dirty="0"/>
              <a:t>Feynman interaction rules</a:t>
            </a:r>
          </a:p>
          <a:p>
            <a:pPr marL="800100" lvl="1" indent="-342900">
              <a:buFont typeface="Arial" panose="020B0604020202020204" pitchFamily="34" charset="0"/>
              <a:buChar char="•"/>
            </a:pPr>
            <a:r>
              <a:rPr lang="en-CA" sz="2000" dirty="0"/>
              <a:t>Hilbert space of states </a:t>
            </a:r>
          </a:p>
          <a:p>
            <a:pPr marL="800100" lvl="1" indent="-342900">
              <a:buFont typeface="Arial" panose="020B0604020202020204" pitchFamily="34" charset="0"/>
              <a:buChar char="•"/>
            </a:pPr>
            <a:r>
              <a:rPr lang="en-CA" sz="2000" dirty="0"/>
              <a:t>Algebra of field operators</a:t>
            </a:r>
          </a:p>
          <a:p>
            <a:pPr marL="800100" lvl="1" indent="-342900">
              <a:buFont typeface="Arial" panose="020B0604020202020204" pitchFamily="34" charset="0"/>
              <a:buChar char="•"/>
            </a:pPr>
            <a:r>
              <a:rPr lang="en-CA" sz="2000" dirty="0"/>
              <a:t>Entanglement structure</a:t>
            </a:r>
          </a:p>
          <a:p>
            <a:pPr marL="800100" lvl="1" indent="-342900">
              <a:buFont typeface="Arial" panose="020B0604020202020204" pitchFamily="34" charset="0"/>
              <a:buChar char="•"/>
            </a:pPr>
            <a:r>
              <a:rPr lang="en-CA" sz="2000" dirty="0"/>
              <a:t>Type of field state (e.g. vacuum, thermal, coherent)</a:t>
            </a:r>
          </a:p>
          <a:p>
            <a:pPr marL="800100" lvl="1" indent="-342900">
              <a:buFont typeface="Arial" panose="020B0604020202020204" pitchFamily="34" charset="0"/>
              <a:buChar char="•"/>
            </a:pPr>
            <a:r>
              <a:rPr lang="en-CA" sz="2000" dirty="0"/>
              <a:t>Spacetime dimension</a:t>
            </a:r>
          </a:p>
          <a:p>
            <a:pPr marL="800100" lvl="1" indent="-342900">
              <a:buFont typeface="Arial" panose="020B0604020202020204" pitchFamily="34" charset="0"/>
              <a:buChar char="•"/>
            </a:pPr>
            <a:r>
              <a:rPr lang="en-CA" sz="2000" dirty="0"/>
              <a:t>Curvature</a:t>
            </a:r>
          </a:p>
          <a:p>
            <a:pPr marL="800100" lvl="1" indent="-342900">
              <a:buFont typeface="Arial" panose="020B0604020202020204" pitchFamily="34" charset="0"/>
              <a:buChar char="•"/>
            </a:pPr>
            <a:r>
              <a:rPr lang="en-CA" sz="2000" dirty="0"/>
              <a:t>Metric and causal structure</a:t>
            </a:r>
          </a:p>
          <a:p>
            <a:pPr marL="800100" lvl="1" indent="-342900">
              <a:buFont typeface="Arial" panose="020B0604020202020204" pitchFamily="34" charset="0"/>
              <a:buChar char="•"/>
            </a:pPr>
            <a:endParaRPr lang="en-CA" sz="2000" dirty="0"/>
          </a:p>
        </p:txBody>
      </p:sp>
      <p:sp>
        <p:nvSpPr>
          <p:cNvPr id="6" name="TextBox 5">
            <a:extLst>
              <a:ext uri="{FF2B5EF4-FFF2-40B4-BE49-F238E27FC236}">
                <a16:creationId xmlns:a16="http://schemas.microsoft.com/office/drawing/2014/main" id="{027796E7-895E-4FD8-47C5-08599DD9ABD2}"/>
              </a:ext>
            </a:extLst>
          </p:cNvPr>
          <p:cNvSpPr txBox="1"/>
          <p:nvPr/>
        </p:nvSpPr>
        <p:spPr>
          <a:xfrm>
            <a:off x="185975" y="1108029"/>
            <a:ext cx="4705910" cy="707886"/>
          </a:xfrm>
          <a:prstGeom prst="rect">
            <a:avLst/>
          </a:prstGeom>
          <a:noFill/>
        </p:spPr>
        <p:txBody>
          <a:bodyPr wrap="square" rtlCol="0">
            <a:spAutoFit/>
          </a:bodyPr>
          <a:lstStyle/>
          <a:p>
            <a:pPr lvl="1"/>
            <a:r>
              <a:rPr lang="en-CA" sz="2000" dirty="0"/>
              <a:t>We have quantum field 2-point correlation functions in the circuit</a:t>
            </a:r>
          </a:p>
        </p:txBody>
      </p:sp>
      <p:sp>
        <p:nvSpPr>
          <p:cNvPr id="8" name="TextBox 7">
            <a:extLst>
              <a:ext uri="{FF2B5EF4-FFF2-40B4-BE49-F238E27FC236}">
                <a16:creationId xmlns:a16="http://schemas.microsoft.com/office/drawing/2014/main" id="{35EA1E88-9D46-FB87-75C6-BA5DFFD7E56D}"/>
              </a:ext>
            </a:extLst>
          </p:cNvPr>
          <p:cNvSpPr txBox="1"/>
          <p:nvPr/>
        </p:nvSpPr>
        <p:spPr>
          <a:xfrm>
            <a:off x="383559" y="1878193"/>
            <a:ext cx="4310743" cy="707886"/>
          </a:xfrm>
          <a:prstGeom prst="rect">
            <a:avLst/>
          </a:prstGeom>
          <a:noFill/>
        </p:spPr>
        <p:txBody>
          <a:bodyPr wrap="square" rtlCol="0">
            <a:spAutoFit/>
          </a:bodyPr>
          <a:lstStyle/>
          <a:p>
            <a:pPr marL="742950" lvl="1" indent="-285750">
              <a:buFont typeface="Wingdings" pitchFamily="2" charset="2"/>
              <a:buChar char="Ø"/>
            </a:pPr>
            <a:r>
              <a:rPr lang="en-CA" sz="2000" dirty="0"/>
              <a:t>These tell us basically everything about the field and spacetime</a:t>
            </a:r>
          </a:p>
        </p:txBody>
      </p:sp>
      <p:sp>
        <p:nvSpPr>
          <p:cNvPr id="19" name="Freeform 18">
            <a:extLst>
              <a:ext uri="{FF2B5EF4-FFF2-40B4-BE49-F238E27FC236}">
                <a16:creationId xmlns:a16="http://schemas.microsoft.com/office/drawing/2014/main" id="{19A6BA08-E157-9CC7-1FFA-84D682E5A766}"/>
              </a:ext>
            </a:extLst>
          </p:cNvPr>
          <p:cNvSpPr/>
          <p:nvPr/>
        </p:nvSpPr>
        <p:spPr>
          <a:xfrm>
            <a:off x="7530092" y="2437213"/>
            <a:ext cx="854776" cy="776637"/>
          </a:xfrm>
          <a:custGeom>
            <a:avLst/>
            <a:gdLst>
              <a:gd name="connsiteX0" fmla="*/ 0 w 1187088"/>
              <a:gd name="connsiteY0" fmla="*/ 1151906 h 1210941"/>
              <a:gd name="connsiteX1" fmla="*/ 570015 w 1187088"/>
              <a:gd name="connsiteY1" fmla="*/ 0 h 1210941"/>
              <a:gd name="connsiteX2" fmla="*/ 1140031 w 1187088"/>
              <a:gd name="connsiteY2" fmla="*/ 1151906 h 1210941"/>
            </a:gdLst>
            <a:ahLst/>
            <a:cxnLst>
              <a:cxn ang="0">
                <a:pos x="connsiteX0" y="connsiteY0"/>
              </a:cxn>
              <a:cxn ang="0">
                <a:pos x="connsiteX1" y="connsiteY1"/>
              </a:cxn>
              <a:cxn ang="0">
                <a:pos x="connsiteX2" y="connsiteY2"/>
              </a:cxn>
            </a:cxnLst>
            <a:rect l="l" t="t" r="r" b="b"/>
            <a:pathLst>
              <a:path w="1187088" h="1210941">
                <a:moveTo>
                  <a:pt x="0" y="1151906"/>
                </a:moveTo>
                <a:cubicBezTo>
                  <a:pt x="190005" y="575953"/>
                  <a:pt x="380010" y="0"/>
                  <a:pt x="570015" y="0"/>
                </a:cubicBezTo>
                <a:cubicBezTo>
                  <a:pt x="760020" y="0"/>
                  <a:pt x="1357745" y="1525979"/>
                  <a:pt x="1140031" y="1151906"/>
                </a:cubicBezTo>
              </a:path>
            </a:pathLst>
          </a:cu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0" name="Picture 19">
            <a:extLst>
              <a:ext uri="{FF2B5EF4-FFF2-40B4-BE49-F238E27FC236}">
                <a16:creationId xmlns:a16="http://schemas.microsoft.com/office/drawing/2014/main" id="{282335C6-B977-FA36-F506-502D993FD4D3}"/>
              </a:ext>
            </a:extLst>
          </p:cNvPr>
          <p:cNvPicPr>
            <a:picLocks noChangeAspect="1"/>
          </p:cNvPicPr>
          <p:nvPr/>
        </p:nvPicPr>
        <p:blipFill>
          <a:blip r:embed="rId5">
            <a:alphaModFix amt="60000"/>
          </a:blip>
          <a:stretch>
            <a:fillRect/>
          </a:stretch>
        </p:blipFill>
        <p:spPr>
          <a:xfrm rot="21259358">
            <a:off x="5642410" y="1545096"/>
            <a:ext cx="6249993" cy="3749995"/>
          </a:xfrm>
          <a:prstGeom prst="rect">
            <a:avLst/>
          </a:prstGeom>
          <a:effectLst/>
          <a:scene3d>
            <a:camera prst="orthographicFront">
              <a:rot lat="2400000" lon="0" rev="0"/>
            </a:camera>
            <a:lightRig rig="threePt" dir="t"/>
          </a:scene3d>
        </p:spPr>
      </p:pic>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1AF3A718-430D-023A-8AE8-B2AB86B3D88C}"/>
                  </a:ext>
                </a:extLst>
              </p:cNvPr>
              <p:cNvSpPr txBox="1"/>
              <p:nvPr/>
            </p:nvSpPr>
            <p:spPr>
              <a:xfrm>
                <a:off x="11129611" y="2648357"/>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p:sp>
            <p:nvSpPr>
              <p:cNvPr id="21" name="TextBox 20">
                <a:extLst>
                  <a:ext uri="{FF2B5EF4-FFF2-40B4-BE49-F238E27FC236}">
                    <a16:creationId xmlns:a16="http://schemas.microsoft.com/office/drawing/2014/main" id="{1AF3A718-430D-023A-8AE8-B2AB86B3D88C}"/>
                  </a:ext>
                </a:extLst>
              </p:cNvPr>
              <p:cNvSpPr txBox="1">
                <a:spLocks noRot="1" noChangeAspect="1" noMove="1" noResize="1" noEditPoints="1" noAdjustHandles="1" noChangeArrowheads="1" noChangeShapeType="1" noTextEdit="1"/>
              </p:cNvSpPr>
              <p:nvPr/>
            </p:nvSpPr>
            <p:spPr>
              <a:xfrm>
                <a:off x="11129611" y="2648357"/>
                <a:ext cx="574260" cy="320729"/>
              </a:xfrm>
              <a:prstGeom prst="rect">
                <a:avLst/>
              </a:prstGeom>
              <a:blipFill>
                <a:blip r:embed="rId6"/>
                <a:stretch>
                  <a:fillRect l="-15217" t="-15385" b="-30769"/>
                </a:stretch>
              </a:blipFill>
            </p:spPr>
            <p:txBody>
              <a:bodyPr/>
              <a:lstStyle/>
              <a:p>
                <a:r>
                  <a:rPr lang="en-CA">
                    <a:noFill/>
                  </a:rPr>
                  <a:t> </a:t>
                </a:r>
              </a:p>
            </p:txBody>
          </p:sp>
        </mc:Fallback>
      </mc:AlternateContent>
      <p:sp>
        <p:nvSpPr>
          <p:cNvPr id="22" name="Freeform 21">
            <a:extLst>
              <a:ext uri="{FF2B5EF4-FFF2-40B4-BE49-F238E27FC236}">
                <a16:creationId xmlns:a16="http://schemas.microsoft.com/office/drawing/2014/main" id="{72B58FF5-2D89-68A6-6402-BAD3D3A5A394}"/>
              </a:ext>
            </a:extLst>
          </p:cNvPr>
          <p:cNvSpPr/>
          <p:nvPr/>
        </p:nvSpPr>
        <p:spPr>
          <a:xfrm>
            <a:off x="9303322" y="2909455"/>
            <a:ext cx="854776" cy="776637"/>
          </a:xfrm>
          <a:custGeom>
            <a:avLst/>
            <a:gdLst>
              <a:gd name="connsiteX0" fmla="*/ 0 w 1187088"/>
              <a:gd name="connsiteY0" fmla="*/ 1151906 h 1210941"/>
              <a:gd name="connsiteX1" fmla="*/ 570015 w 1187088"/>
              <a:gd name="connsiteY1" fmla="*/ 0 h 1210941"/>
              <a:gd name="connsiteX2" fmla="*/ 1140031 w 1187088"/>
              <a:gd name="connsiteY2" fmla="*/ 1151906 h 1210941"/>
            </a:gdLst>
            <a:ahLst/>
            <a:cxnLst>
              <a:cxn ang="0">
                <a:pos x="connsiteX0" y="connsiteY0"/>
              </a:cxn>
              <a:cxn ang="0">
                <a:pos x="connsiteX1" y="connsiteY1"/>
              </a:cxn>
              <a:cxn ang="0">
                <a:pos x="connsiteX2" y="connsiteY2"/>
              </a:cxn>
            </a:cxnLst>
            <a:rect l="l" t="t" r="r" b="b"/>
            <a:pathLst>
              <a:path w="1187088" h="1210941">
                <a:moveTo>
                  <a:pt x="0" y="1151906"/>
                </a:moveTo>
                <a:cubicBezTo>
                  <a:pt x="190005" y="575953"/>
                  <a:pt x="380010" y="0"/>
                  <a:pt x="570015" y="0"/>
                </a:cubicBezTo>
                <a:cubicBezTo>
                  <a:pt x="760020" y="0"/>
                  <a:pt x="1357745" y="1525979"/>
                  <a:pt x="1140031" y="1151906"/>
                </a:cubicBezTo>
              </a:path>
            </a:pathLst>
          </a:cu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275021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BA396-E572-FB48-2B94-A3CBF7C5241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E9E7CF32-C130-16C9-C0BD-7996B4461D9D}"/>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7" name="Slide Number Placeholder 6">
            <a:extLst>
              <a:ext uri="{FF2B5EF4-FFF2-40B4-BE49-F238E27FC236}">
                <a16:creationId xmlns:a16="http://schemas.microsoft.com/office/drawing/2014/main" id="{DD6A57B4-5024-C517-3784-57A78611E4A6}"/>
              </a:ext>
            </a:extLst>
          </p:cNvPr>
          <p:cNvSpPr>
            <a:spLocks noGrp="1"/>
          </p:cNvSpPr>
          <p:nvPr>
            <p:ph type="sldNum" sz="quarter" idx="12"/>
          </p:nvPr>
        </p:nvSpPr>
        <p:spPr/>
        <p:txBody>
          <a:bodyPr/>
          <a:lstStyle/>
          <a:p>
            <a:fld id="{D0617D14-1B55-43C0-819D-0D244AC23646}" type="slidenum">
              <a:rPr lang="de-AT" smtClean="0"/>
              <a:t>23</a:t>
            </a:fld>
            <a:endParaRPr lang="de-AT"/>
          </a:p>
        </p:txBody>
      </p:sp>
      <p:pic>
        <p:nvPicPr>
          <p:cNvPr id="54" name="Picture 53">
            <a:extLst>
              <a:ext uri="{FF2B5EF4-FFF2-40B4-BE49-F238E27FC236}">
                <a16:creationId xmlns:a16="http://schemas.microsoft.com/office/drawing/2014/main" id="{8B0442D6-0412-364F-CEDE-CFF41354FD3C}"/>
              </a:ext>
            </a:extLst>
          </p:cNvPr>
          <p:cNvPicPr>
            <a:picLocks noChangeAspect="1"/>
          </p:cNvPicPr>
          <p:nvPr/>
        </p:nvPicPr>
        <p:blipFill rotWithShape="1">
          <a:blip r:embed="rId4"/>
          <a:srcRect t="11907" b="8642"/>
          <a:stretch/>
        </p:blipFill>
        <p:spPr>
          <a:xfrm>
            <a:off x="6225439" y="1974564"/>
            <a:ext cx="5179241" cy="3429134"/>
          </a:xfrm>
          <a:prstGeom prst="rect">
            <a:avLst/>
          </a:prstGeom>
        </p:spPr>
      </p:pic>
      <p:sp>
        <p:nvSpPr>
          <p:cNvPr id="50" name="Oval 49">
            <a:extLst>
              <a:ext uri="{FF2B5EF4-FFF2-40B4-BE49-F238E27FC236}">
                <a16:creationId xmlns:a16="http://schemas.microsoft.com/office/drawing/2014/main" id="{62C3A7D7-B615-A3FC-B3E3-81644BDD0995}"/>
              </a:ext>
            </a:extLst>
          </p:cNvPr>
          <p:cNvSpPr/>
          <p:nvPr/>
        </p:nvSpPr>
        <p:spPr>
          <a:xfrm>
            <a:off x="9714833" y="3429000"/>
            <a:ext cx="248564" cy="260131"/>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F4017D34-DE4B-70E0-E326-410448CA4769}"/>
              </a:ext>
            </a:extLst>
          </p:cNvPr>
          <p:cNvSpPr/>
          <p:nvPr/>
        </p:nvSpPr>
        <p:spPr>
          <a:xfrm>
            <a:off x="7968343" y="2918361"/>
            <a:ext cx="237152" cy="24892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4" name="Titel 1">
            <a:extLst>
              <a:ext uri="{FF2B5EF4-FFF2-40B4-BE49-F238E27FC236}">
                <a16:creationId xmlns:a16="http://schemas.microsoft.com/office/drawing/2014/main" id="{E309B060-09D0-C1C5-2E09-D2F8E534CE95}"/>
              </a:ext>
            </a:extLst>
          </p:cNvPr>
          <p:cNvSpPr txBox="1">
            <a:spLocks/>
          </p:cNvSpPr>
          <p:nvPr/>
        </p:nvSpPr>
        <p:spPr bwMode="auto">
          <a:xfrm>
            <a:off x="0" y="-355"/>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Learning Quantum Field and Spacetime Properties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4E5C3205-8B06-2E35-7024-B953974CEDB1}"/>
              </a:ext>
            </a:extLst>
          </p:cNvPr>
          <p:cNvSpPr txBox="1"/>
          <p:nvPr/>
        </p:nvSpPr>
        <p:spPr>
          <a:xfrm>
            <a:off x="-57607" y="1581672"/>
            <a:ext cx="5318376" cy="707886"/>
          </a:xfrm>
          <a:prstGeom prst="rect">
            <a:avLst/>
          </a:prstGeom>
          <a:noFill/>
        </p:spPr>
        <p:txBody>
          <a:bodyPr wrap="square" rtlCol="0">
            <a:spAutoFit/>
          </a:bodyPr>
          <a:lstStyle/>
          <a:p>
            <a:pPr lvl="1"/>
            <a:r>
              <a:rPr lang="en-CA" sz="2000" dirty="0"/>
              <a:t>How can we learn the correlation functions for unknown field and spacetime?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8234F57-1FE0-7782-2051-BCC6BD558D60}"/>
                  </a:ext>
                </a:extLst>
              </p:cNvPr>
              <p:cNvSpPr txBox="1"/>
              <p:nvPr/>
            </p:nvSpPr>
            <p:spPr>
              <a:xfrm>
                <a:off x="607625" y="4343151"/>
                <a:ext cx="5316199" cy="10605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𝑖𝑗</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Γ</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D</m:t>
                                          </m:r>
                                        </m:num>
                                        <m:den>
                                          <m:r>
                                            <a:rPr lang="en-US" b="0" i="0" smtClean="0">
                                              <a:latin typeface="Cambria Math" panose="02040503050406030204" pitchFamily="18" charset="0"/>
                                            </a:rPr>
                                            <m:t>2</m:t>
                                          </m:r>
                                        </m:den>
                                      </m:f>
                                      <m:r>
                                        <a:rPr lang="en-US" b="0" i="0" smtClean="0">
                                          <a:latin typeface="Cambria Math" panose="02040503050406030204" pitchFamily="18" charset="0"/>
                                        </a:rPr>
                                        <m:t>−1</m:t>
                                      </m:r>
                                    </m:e>
                                  </m:d>
                                </m:num>
                                <m:den>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f>
                                        <m:fPr>
                                          <m:ctrlPr>
                                            <a:rPr lang="en-US" b="0" i="1" smtClean="0">
                                              <a:latin typeface="Cambria Math" panose="02040503050406030204" pitchFamily="18" charset="0"/>
                                            </a:rPr>
                                          </m:ctrlPr>
                                        </m:fPr>
                                        <m:num>
                                          <m:r>
                                            <a:rPr lang="en-US" b="0" i="1" smtClean="0">
                                              <a:latin typeface="Cambria Math" panose="02040503050406030204" pitchFamily="18" charset="0"/>
                                            </a:rPr>
                                            <m:t>𝐷</m:t>
                                          </m:r>
                                        </m:num>
                                        <m:den>
                                          <m:r>
                                            <a:rPr lang="en-US" b="0" i="1" smtClean="0">
                                              <a:latin typeface="Cambria Math" panose="02040503050406030204" pitchFamily="18" charset="0"/>
                                            </a:rPr>
                                            <m:t>2</m:t>
                                          </m:r>
                                        </m:den>
                                      </m:f>
                                    </m:sup>
                                  </m:sSup>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𝐷</m:t>
                              </m:r>
                              <m:r>
                                <a:rPr lang="en-US" b="0" i="1" smtClean="0">
                                  <a:latin typeface="Cambria Math" panose="02040503050406030204" pitchFamily="18" charset="0"/>
                                </a:rPr>
                                <m:t>−2</m:t>
                              </m:r>
                            </m:den>
                          </m:f>
                        </m:sup>
                      </m:sSup>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lim>
                          </m:limLow>
                        </m:fName>
                        <m:e>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𝑖</m:t>
                                  </m:r>
                                </m:sup>
                              </m:sSup>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𝑗</m:t>
                                  </m:r>
                                </m:sup>
                              </m:sSup>
                            </m:den>
                          </m:f>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𝐺</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e>
                              </m:d>
                            </m:e>
                            <m:sup>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2−</m:t>
                                  </m:r>
                                  <m:r>
                                    <a:rPr lang="en-US" i="1">
                                      <a:latin typeface="Cambria Math" panose="02040503050406030204" pitchFamily="18" charset="0"/>
                                    </a:rPr>
                                    <m:t>𝐷</m:t>
                                  </m:r>
                                </m:den>
                              </m:f>
                            </m:sup>
                          </m:sSup>
                        </m:e>
                      </m:func>
                    </m:oMath>
                  </m:oMathPara>
                </a14:m>
                <a:endParaRPr lang="en-CA" dirty="0"/>
              </a:p>
            </p:txBody>
          </p:sp>
        </mc:Choice>
        <mc:Fallback xmlns="">
          <p:sp>
            <p:nvSpPr>
              <p:cNvPr id="9" name="TextBox 8">
                <a:extLst>
                  <a:ext uri="{FF2B5EF4-FFF2-40B4-BE49-F238E27FC236}">
                    <a16:creationId xmlns:a16="http://schemas.microsoft.com/office/drawing/2014/main" id="{48234F57-1FE0-7782-2051-BCC6BD558D60}"/>
                  </a:ext>
                </a:extLst>
              </p:cNvPr>
              <p:cNvSpPr txBox="1">
                <a:spLocks noRot="1" noChangeAspect="1" noMove="1" noResize="1" noEditPoints="1" noAdjustHandles="1" noChangeArrowheads="1" noChangeShapeType="1" noTextEdit="1"/>
              </p:cNvSpPr>
              <p:nvPr/>
            </p:nvSpPr>
            <p:spPr>
              <a:xfrm>
                <a:off x="607625" y="4343151"/>
                <a:ext cx="5316199" cy="1060547"/>
              </a:xfrm>
              <a:prstGeom prst="rect">
                <a:avLst/>
              </a:prstGeom>
              <a:blipFill>
                <a:blip r:embed="rId5"/>
                <a:stretch>
                  <a:fillRect l="-716"/>
                </a:stretch>
              </a:blipFill>
            </p:spPr>
            <p:txBody>
              <a:bodyPr/>
              <a:lstStyle/>
              <a:p>
                <a:r>
                  <a:rPr lang="en-CA">
                    <a:noFill/>
                  </a:rPr>
                  <a:t> </a:t>
                </a:r>
              </a:p>
            </p:txBody>
          </p:sp>
        </mc:Fallback>
      </mc:AlternateContent>
      <p:sp>
        <p:nvSpPr>
          <p:cNvPr id="10" name="TextBox 9">
            <a:extLst>
              <a:ext uri="{FF2B5EF4-FFF2-40B4-BE49-F238E27FC236}">
                <a16:creationId xmlns:a16="http://schemas.microsoft.com/office/drawing/2014/main" id="{85422CAC-59BD-61B2-C747-DA41BE0BBBC9}"/>
              </a:ext>
            </a:extLst>
          </p:cNvPr>
          <p:cNvSpPr txBox="1"/>
          <p:nvPr/>
        </p:nvSpPr>
        <p:spPr>
          <a:xfrm>
            <a:off x="169450" y="2613682"/>
            <a:ext cx="4310743" cy="400110"/>
          </a:xfrm>
          <a:prstGeom prst="rect">
            <a:avLst/>
          </a:prstGeom>
          <a:noFill/>
        </p:spPr>
        <p:txBody>
          <a:bodyPr wrap="square" rtlCol="0">
            <a:spAutoFit/>
          </a:bodyPr>
          <a:lstStyle/>
          <a:p>
            <a:pPr marL="800100" lvl="1" indent="-342900">
              <a:buFont typeface="Arial" panose="020B0604020202020204" pitchFamily="34" charset="0"/>
              <a:buChar char="•"/>
            </a:pPr>
            <a:r>
              <a:rPr lang="en-CA" sz="2000" dirty="0"/>
              <a:t>Build tomographic scheme</a:t>
            </a:r>
          </a:p>
        </p:txBody>
      </p:sp>
      <p:sp>
        <p:nvSpPr>
          <p:cNvPr id="11" name="TextBox 10">
            <a:extLst>
              <a:ext uri="{FF2B5EF4-FFF2-40B4-BE49-F238E27FC236}">
                <a16:creationId xmlns:a16="http://schemas.microsoft.com/office/drawing/2014/main" id="{B25E886A-0592-BF4A-C567-5E8EA31E1786}"/>
              </a:ext>
            </a:extLst>
          </p:cNvPr>
          <p:cNvSpPr txBox="1"/>
          <p:nvPr/>
        </p:nvSpPr>
        <p:spPr>
          <a:xfrm>
            <a:off x="169450" y="3337916"/>
            <a:ext cx="4864262" cy="707886"/>
          </a:xfrm>
          <a:prstGeom prst="rect">
            <a:avLst/>
          </a:prstGeom>
          <a:noFill/>
        </p:spPr>
        <p:txBody>
          <a:bodyPr wrap="square" rtlCol="0">
            <a:spAutoFit/>
          </a:bodyPr>
          <a:lstStyle/>
          <a:p>
            <a:pPr marL="800100" lvl="1" indent="-342900">
              <a:buFont typeface="Arial" panose="020B0604020202020204" pitchFamily="34" charset="0"/>
              <a:buChar char="•"/>
            </a:pPr>
            <a:r>
              <a:rPr lang="en-CA" sz="2000" dirty="0"/>
              <a:t>Then learn the spacetime metric from the correlation functions:</a:t>
            </a:r>
          </a:p>
        </p:txBody>
      </p:sp>
      <p:sp>
        <p:nvSpPr>
          <p:cNvPr id="19" name="Freeform 18">
            <a:extLst>
              <a:ext uri="{FF2B5EF4-FFF2-40B4-BE49-F238E27FC236}">
                <a16:creationId xmlns:a16="http://schemas.microsoft.com/office/drawing/2014/main" id="{F982D51F-CED5-A9D3-A5AA-D53647F5262E}"/>
              </a:ext>
            </a:extLst>
          </p:cNvPr>
          <p:cNvSpPr/>
          <p:nvPr/>
        </p:nvSpPr>
        <p:spPr>
          <a:xfrm>
            <a:off x="7659531" y="2446119"/>
            <a:ext cx="854776" cy="776637"/>
          </a:xfrm>
          <a:custGeom>
            <a:avLst/>
            <a:gdLst>
              <a:gd name="connsiteX0" fmla="*/ 0 w 1187088"/>
              <a:gd name="connsiteY0" fmla="*/ 1151906 h 1210941"/>
              <a:gd name="connsiteX1" fmla="*/ 570015 w 1187088"/>
              <a:gd name="connsiteY1" fmla="*/ 0 h 1210941"/>
              <a:gd name="connsiteX2" fmla="*/ 1140031 w 1187088"/>
              <a:gd name="connsiteY2" fmla="*/ 1151906 h 1210941"/>
            </a:gdLst>
            <a:ahLst/>
            <a:cxnLst>
              <a:cxn ang="0">
                <a:pos x="connsiteX0" y="connsiteY0"/>
              </a:cxn>
              <a:cxn ang="0">
                <a:pos x="connsiteX1" y="connsiteY1"/>
              </a:cxn>
              <a:cxn ang="0">
                <a:pos x="connsiteX2" y="connsiteY2"/>
              </a:cxn>
            </a:cxnLst>
            <a:rect l="l" t="t" r="r" b="b"/>
            <a:pathLst>
              <a:path w="1187088" h="1210941">
                <a:moveTo>
                  <a:pt x="0" y="1151906"/>
                </a:moveTo>
                <a:cubicBezTo>
                  <a:pt x="190005" y="575953"/>
                  <a:pt x="380010" y="0"/>
                  <a:pt x="570015" y="0"/>
                </a:cubicBezTo>
                <a:cubicBezTo>
                  <a:pt x="760020" y="0"/>
                  <a:pt x="1357745" y="1525979"/>
                  <a:pt x="1140031" y="1151906"/>
                </a:cubicBezTo>
              </a:path>
            </a:pathLst>
          </a:cu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0" name="Picture 19">
            <a:extLst>
              <a:ext uri="{FF2B5EF4-FFF2-40B4-BE49-F238E27FC236}">
                <a16:creationId xmlns:a16="http://schemas.microsoft.com/office/drawing/2014/main" id="{7BE430A5-DAB3-B859-E238-5954501A8E29}"/>
              </a:ext>
            </a:extLst>
          </p:cNvPr>
          <p:cNvPicPr>
            <a:picLocks noChangeAspect="1"/>
          </p:cNvPicPr>
          <p:nvPr/>
        </p:nvPicPr>
        <p:blipFill>
          <a:blip r:embed="rId6">
            <a:alphaModFix amt="60000"/>
          </a:blip>
          <a:stretch>
            <a:fillRect/>
          </a:stretch>
        </p:blipFill>
        <p:spPr>
          <a:xfrm rot="21259358">
            <a:off x="5771849" y="1542127"/>
            <a:ext cx="6249993" cy="3749995"/>
          </a:xfrm>
          <a:prstGeom prst="rect">
            <a:avLst/>
          </a:prstGeom>
          <a:effectLst/>
          <a:scene3d>
            <a:camera prst="orthographicFront">
              <a:rot lat="2400000" lon="0" rev="0"/>
            </a:camera>
            <a:lightRig rig="threePt" dir="t"/>
          </a:scene3d>
        </p:spPr>
      </p:pic>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D726AACE-1FB6-80B0-0209-ADDD9F59DB16}"/>
                  </a:ext>
                </a:extLst>
              </p:cNvPr>
              <p:cNvSpPr txBox="1"/>
              <p:nvPr/>
            </p:nvSpPr>
            <p:spPr>
              <a:xfrm>
                <a:off x="11224080" y="2693840"/>
                <a:ext cx="574260" cy="3207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sz="2000" i="1" smtClean="0">
                              <a:latin typeface="Cambria Math" panose="02040503050406030204" pitchFamily="18" charset="0"/>
                            </a:rPr>
                          </m:ctrlPr>
                        </m:accPr>
                        <m:e>
                          <m:r>
                            <a:rPr lang="en-US" sz="2000" b="0" i="1" smtClean="0">
                              <a:latin typeface="Cambria Math" panose="02040503050406030204" pitchFamily="18" charset="0"/>
                            </a:rPr>
                            <m:t>𝜙</m:t>
                          </m:r>
                        </m:e>
                      </m:acc>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e>
                      </m:d>
                    </m:oMath>
                  </m:oMathPara>
                </a14:m>
                <a:endParaRPr lang="en-CA" dirty="0"/>
              </a:p>
            </p:txBody>
          </p:sp>
        </mc:Choice>
        <mc:Fallback>
          <p:sp>
            <p:nvSpPr>
              <p:cNvPr id="21" name="TextBox 20">
                <a:extLst>
                  <a:ext uri="{FF2B5EF4-FFF2-40B4-BE49-F238E27FC236}">
                    <a16:creationId xmlns:a16="http://schemas.microsoft.com/office/drawing/2014/main" id="{D726AACE-1FB6-80B0-0209-ADDD9F59DB16}"/>
                  </a:ext>
                </a:extLst>
              </p:cNvPr>
              <p:cNvSpPr txBox="1">
                <a:spLocks noRot="1" noChangeAspect="1" noMove="1" noResize="1" noEditPoints="1" noAdjustHandles="1" noChangeArrowheads="1" noChangeShapeType="1" noTextEdit="1"/>
              </p:cNvSpPr>
              <p:nvPr/>
            </p:nvSpPr>
            <p:spPr>
              <a:xfrm>
                <a:off x="11224080" y="2693840"/>
                <a:ext cx="574260" cy="320729"/>
              </a:xfrm>
              <a:prstGeom prst="rect">
                <a:avLst/>
              </a:prstGeom>
              <a:blipFill>
                <a:blip r:embed="rId7"/>
                <a:stretch>
                  <a:fillRect l="-15217" t="-19231" b="-30769"/>
                </a:stretch>
              </a:blipFill>
            </p:spPr>
            <p:txBody>
              <a:bodyPr/>
              <a:lstStyle/>
              <a:p>
                <a:r>
                  <a:rPr lang="en-CA">
                    <a:noFill/>
                  </a:rPr>
                  <a:t> </a:t>
                </a:r>
              </a:p>
            </p:txBody>
          </p:sp>
        </mc:Fallback>
      </mc:AlternateContent>
      <p:sp>
        <p:nvSpPr>
          <p:cNvPr id="22" name="Freeform 21">
            <a:extLst>
              <a:ext uri="{FF2B5EF4-FFF2-40B4-BE49-F238E27FC236}">
                <a16:creationId xmlns:a16="http://schemas.microsoft.com/office/drawing/2014/main" id="{B5B3CC89-B867-52F0-BF7F-31D9952F8127}"/>
              </a:ext>
            </a:extLst>
          </p:cNvPr>
          <p:cNvSpPr/>
          <p:nvPr/>
        </p:nvSpPr>
        <p:spPr>
          <a:xfrm>
            <a:off x="9432761" y="2918361"/>
            <a:ext cx="854776" cy="776637"/>
          </a:xfrm>
          <a:custGeom>
            <a:avLst/>
            <a:gdLst>
              <a:gd name="connsiteX0" fmla="*/ 0 w 1187088"/>
              <a:gd name="connsiteY0" fmla="*/ 1151906 h 1210941"/>
              <a:gd name="connsiteX1" fmla="*/ 570015 w 1187088"/>
              <a:gd name="connsiteY1" fmla="*/ 0 h 1210941"/>
              <a:gd name="connsiteX2" fmla="*/ 1140031 w 1187088"/>
              <a:gd name="connsiteY2" fmla="*/ 1151906 h 1210941"/>
            </a:gdLst>
            <a:ahLst/>
            <a:cxnLst>
              <a:cxn ang="0">
                <a:pos x="connsiteX0" y="connsiteY0"/>
              </a:cxn>
              <a:cxn ang="0">
                <a:pos x="connsiteX1" y="connsiteY1"/>
              </a:cxn>
              <a:cxn ang="0">
                <a:pos x="connsiteX2" y="connsiteY2"/>
              </a:cxn>
            </a:cxnLst>
            <a:rect l="l" t="t" r="r" b="b"/>
            <a:pathLst>
              <a:path w="1187088" h="1210941">
                <a:moveTo>
                  <a:pt x="0" y="1151906"/>
                </a:moveTo>
                <a:cubicBezTo>
                  <a:pt x="190005" y="575953"/>
                  <a:pt x="380010" y="0"/>
                  <a:pt x="570015" y="0"/>
                </a:cubicBezTo>
                <a:cubicBezTo>
                  <a:pt x="760020" y="0"/>
                  <a:pt x="1357745" y="1525979"/>
                  <a:pt x="1140031" y="1151906"/>
                </a:cubicBezTo>
              </a:path>
            </a:pathLst>
          </a:cu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0E542CC9-82CD-01F7-77EC-1D32736762F7}"/>
              </a:ext>
            </a:extLst>
          </p:cNvPr>
          <p:cNvSpPr txBox="1"/>
          <p:nvPr/>
        </p:nvSpPr>
        <p:spPr>
          <a:xfrm>
            <a:off x="7267578" y="5552281"/>
            <a:ext cx="4894509" cy="523220"/>
          </a:xfrm>
          <a:prstGeom prst="rect">
            <a:avLst/>
          </a:prstGeom>
          <a:noFill/>
        </p:spPr>
        <p:txBody>
          <a:bodyPr wrap="square">
            <a:spAutoFit/>
          </a:bodyPr>
          <a:lstStyle/>
          <a:p>
            <a:pPr>
              <a:buNone/>
            </a:pPr>
            <a:r>
              <a:rPr lang="en-US" sz="1400" dirty="0" err="1">
                <a:solidFill>
                  <a:schemeClr val="bg2">
                    <a:lumMod val="75000"/>
                  </a:schemeClr>
                </a:solidFill>
                <a:effectLst/>
              </a:rPr>
              <a:t>Saravani</a:t>
            </a:r>
            <a:r>
              <a:rPr lang="en-US" sz="1400" dirty="0">
                <a:solidFill>
                  <a:schemeClr val="bg2">
                    <a:lumMod val="75000"/>
                  </a:schemeClr>
                </a:solidFill>
                <a:effectLst/>
              </a:rPr>
              <a:t>, M., </a:t>
            </a:r>
            <a:r>
              <a:rPr lang="en-US" sz="1400" dirty="0" err="1">
                <a:solidFill>
                  <a:schemeClr val="bg2">
                    <a:lumMod val="75000"/>
                  </a:schemeClr>
                </a:solidFill>
                <a:effectLst/>
              </a:rPr>
              <a:t>Aslanbeigi</a:t>
            </a:r>
            <a:r>
              <a:rPr lang="en-US" sz="1400" dirty="0">
                <a:solidFill>
                  <a:schemeClr val="bg2">
                    <a:lumMod val="75000"/>
                  </a:schemeClr>
                </a:solidFill>
                <a:effectLst/>
              </a:rPr>
              <a:t>, S. &amp; Kempf, A. Spacetime curvature in terms of scalar field propagators. </a:t>
            </a:r>
            <a:r>
              <a:rPr lang="en-US" sz="1400" i="1" dirty="0">
                <a:solidFill>
                  <a:schemeClr val="bg2">
                    <a:lumMod val="75000"/>
                  </a:schemeClr>
                </a:solidFill>
                <a:effectLst/>
              </a:rPr>
              <a:t>Phys. Rev. D</a:t>
            </a:r>
            <a:r>
              <a:rPr lang="en-US" sz="1400" dirty="0">
                <a:solidFill>
                  <a:schemeClr val="bg2">
                    <a:lumMod val="75000"/>
                  </a:schemeClr>
                </a:solidFill>
                <a:effectLst/>
              </a:rPr>
              <a:t> </a:t>
            </a:r>
            <a:r>
              <a:rPr lang="en-US" sz="1400" b="1" dirty="0">
                <a:solidFill>
                  <a:schemeClr val="bg2">
                    <a:lumMod val="75000"/>
                  </a:schemeClr>
                </a:solidFill>
                <a:effectLst/>
              </a:rPr>
              <a:t>93</a:t>
            </a:r>
            <a:r>
              <a:rPr lang="en-US" sz="1400" dirty="0">
                <a:solidFill>
                  <a:schemeClr val="bg2">
                    <a:lumMod val="75000"/>
                  </a:schemeClr>
                </a:solidFill>
                <a:effectLst/>
              </a:rPr>
              <a:t>, 045026 (2016).</a:t>
            </a:r>
          </a:p>
        </p:txBody>
      </p:sp>
    </p:spTree>
    <p:custDataLst>
      <p:tags r:id="rId1"/>
    </p:custDataLst>
    <p:extLst>
      <p:ext uri="{BB962C8B-B14F-4D97-AF65-F5344CB8AC3E}">
        <p14:creationId xmlns:p14="http://schemas.microsoft.com/office/powerpoint/2010/main" val="2647217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Quantum Foundations Group Seminar, NORDITA, Stockholm I Phil LeMaitre I 27.03.2026</a:t>
            </a:r>
          </a:p>
        </p:txBody>
      </p:sp>
      <p:sp>
        <p:nvSpPr>
          <p:cNvPr id="9" name="Titel 1">
            <a:extLst>
              <a:ext uri="{FF2B5EF4-FFF2-40B4-BE49-F238E27FC236}">
                <a16:creationId xmlns:a16="http://schemas.microsoft.com/office/drawing/2014/main" id="{135DD113-A52E-C9F7-3CB3-DD39A0310BBD}"/>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What Else?</a:t>
            </a:r>
          </a:p>
        </p:txBody>
      </p:sp>
      <p:sp>
        <p:nvSpPr>
          <p:cNvPr id="10" name="Slide Number Placeholder 9">
            <a:extLst>
              <a:ext uri="{FF2B5EF4-FFF2-40B4-BE49-F238E27FC236}">
                <a16:creationId xmlns:a16="http://schemas.microsoft.com/office/drawing/2014/main" id="{52CAF501-DE31-60BB-2730-6EC8F9EE905F}"/>
              </a:ext>
            </a:extLst>
          </p:cNvPr>
          <p:cNvSpPr>
            <a:spLocks noGrp="1"/>
          </p:cNvSpPr>
          <p:nvPr>
            <p:ph type="sldNum" sz="quarter" idx="12"/>
          </p:nvPr>
        </p:nvSpPr>
        <p:spPr/>
        <p:txBody>
          <a:bodyPr/>
          <a:lstStyle/>
          <a:p>
            <a:fld id="{D0617D14-1B55-43C0-819D-0D244AC23646}" type="slidenum">
              <a:rPr lang="de-AT" smtClean="0"/>
              <a:t>24</a:t>
            </a:fld>
            <a:endParaRPr lang="de-AT"/>
          </a:p>
        </p:txBody>
      </p:sp>
      <p:sp>
        <p:nvSpPr>
          <p:cNvPr id="3" name="TextBox 2">
            <a:extLst>
              <a:ext uri="{FF2B5EF4-FFF2-40B4-BE49-F238E27FC236}">
                <a16:creationId xmlns:a16="http://schemas.microsoft.com/office/drawing/2014/main" id="{3D6B1EA7-D45D-4C24-DEE6-9EBDB1E4DCD3}"/>
              </a:ext>
            </a:extLst>
          </p:cNvPr>
          <p:cNvSpPr txBox="1"/>
          <p:nvPr/>
        </p:nvSpPr>
        <p:spPr>
          <a:xfrm>
            <a:off x="785750" y="1536759"/>
            <a:ext cx="10047866" cy="815608"/>
          </a:xfrm>
          <a:prstGeom prst="rect">
            <a:avLst/>
          </a:prstGeom>
          <a:noFill/>
        </p:spPr>
        <p:txBody>
          <a:bodyPr wrap="square" rtlCol="0">
            <a:spAutoFit/>
          </a:bodyPr>
          <a:lstStyle/>
          <a:p>
            <a:pPr>
              <a:spcAft>
                <a:spcPts val="600"/>
              </a:spcAft>
            </a:pPr>
            <a:r>
              <a:rPr lang="en-CA" sz="2400" dirty="0"/>
              <a:t>What about extracting other resources besides entanglement from the field?</a:t>
            </a:r>
            <a:endParaRPr lang="en-CA" dirty="0"/>
          </a:p>
          <a:p>
            <a:pPr marL="285750" indent="-285750">
              <a:buFont typeface="Arial" panose="020B0604020202020204" pitchFamily="34" charset="0"/>
              <a:buChar char="•"/>
            </a:pPr>
            <a:endParaRPr lang="en-CA" dirty="0"/>
          </a:p>
        </p:txBody>
      </p:sp>
      <p:sp>
        <p:nvSpPr>
          <p:cNvPr id="5" name="TextBox 4">
            <a:extLst>
              <a:ext uri="{FF2B5EF4-FFF2-40B4-BE49-F238E27FC236}">
                <a16:creationId xmlns:a16="http://schemas.microsoft.com/office/drawing/2014/main" id="{966AEBB6-82C2-B0AF-03DE-60F0C1278E3E}"/>
              </a:ext>
            </a:extLst>
          </p:cNvPr>
          <p:cNvSpPr txBox="1"/>
          <p:nvPr/>
        </p:nvSpPr>
        <p:spPr>
          <a:xfrm>
            <a:off x="9020885" y="5115106"/>
            <a:ext cx="2180866" cy="646331"/>
          </a:xfrm>
          <a:prstGeom prst="rect">
            <a:avLst/>
          </a:prstGeom>
          <a:noFill/>
        </p:spPr>
        <p:txBody>
          <a:bodyPr wrap="square" rtlCol="0">
            <a:spAutoFit/>
          </a:bodyPr>
          <a:lstStyle/>
          <a:p>
            <a:r>
              <a:rPr lang="en-CA" i="1" dirty="0"/>
              <a:t>Phys. Rev. D. </a:t>
            </a:r>
            <a:r>
              <a:rPr lang="en-US" b="1" i="1" dirty="0"/>
              <a:t>113</a:t>
            </a:r>
            <a:r>
              <a:rPr lang="en-US" i="1" dirty="0"/>
              <a:t>, 045001 </a:t>
            </a:r>
            <a:r>
              <a:rPr lang="en-CA" dirty="0"/>
              <a:t>(2026)</a:t>
            </a:r>
          </a:p>
        </p:txBody>
      </p:sp>
      <p:pic>
        <p:nvPicPr>
          <p:cNvPr id="6" name="Picture 5">
            <a:extLst>
              <a:ext uri="{FF2B5EF4-FFF2-40B4-BE49-F238E27FC236}">
                <a16:creationId xmlns:a16="http://schemas.microsoft.com/office/drawing/2014/main" id="{D95D57FA-C21D-157E-9067-DE4727CEFED0}"/>
              </a:ext>
            </a:extLst>
          </p:cNvPr>
          <p:cNvPicPr>
            <a:picLocks noChangeAspect="1"/>
          </p:cNvPicPr>
          <p:nvPr/>
        </p:nvPicPr>
        <p:blipFill>
          <a:blip r:embed="rId4"/>
          <a:stretch>
            <a:fillRect/>
          </a:stretch>
        </p:blipFill>
        <p:spPr>
          <a:xfrm>
            <a:off x="8850339" y="3108188"/>
            <a:ext cx="2092462" cy="2092462"/>
          </a:xfrm>
          <a:prstGeom prst="rect">
            <a:avLst/>
          </a:prstGeom>
        </p:spPr>
      </p:pic>
      <p:sp>
        <p:nvSpPr>
          <p:cNvPr id="7" name="TextBox 6">
            <a:extLst>
              <a:ext uri="{FF2B5EF4-FFF2-40B4-BE49-F238E27FC236}">
                <a16:creationId xmlns:a16="http://schemas.microsoft.com/office/drawing/2014/main" id="{9FCE07B5-833F-A0CC-D3DF-65AF0B1C63B1}"/>
              </a:ext>
            </a:extLst>
          </p:cNvPr>
          <p:cNvSpPr txBox="1"/>
          <p:nvPr/>
        </p:nvSpPr>
        <p:spPr>
          <a:xfrm>
            <a:off x="2128699" y="2700384"/>
            <a:ext cx="5613538" cy="815608"/>
          </a:xfrm>
          <a:prstGeom prst="rect">
            <a:avLst/>
          </a:prstGeom>
          <a:noFill/>
        </p:spPr>
        <p:txBody>
          <a:bodyPr wrap="square" rtlCol="0">
            <a:spAutoFit/>
          </a:bodyPr>
          <a:lstStyle/>
          <a:p>
            <a:pPr>
              <a:spcAft>
                <a:spcPts val="600"/>
              </a:spcAft>
            </a:pPr>
            <a:r>
              <a:rPr lang="en-CA" sz="2400" dirty="0"/>
              <a:t>Harvesting Contextuality from the Vacuum</a:t>
            </a:r>
            <a:endParaRPr lang="en-CA" dirty="0"/>
          </a:p>
          <a:p>
            <a:pPr marL="285750" indent="-285750">
              <a:buFont typeface="Arial" panose="020B0604020202020204" pitchFamily="34" charset="0"/>
              <a:buChar char="•"/>
            </a:pPr>
            <a:endParaRPr lang="en-CA" dirty="0"/>
          </a:p>
        </p:txBody>
      </p:sp>
      <p:sp>
        <p:nvSpPr>
          <p:cNvPr id="8" name="Right Arrow 7">
            <a:extLst>
              <a:ext uri="{FF2B5EF4-FFF2-40B4-BE49-F238E27FC236}">
                <a16:creationId xmlns:a16="http://schemas.microsoft.com/office/drawing/2014/main" id="{BBAC8738-3FDA-C5FB-C03D-2B75F29A995D}"/>
              </a:ext>
            </a:extLst>
          </p:cNvPr>
          <p:cNvSpPr/>
          <p:nvPr/>
        </p:nvSpPr>
        <p:spPr>
          <a:xfrm>
            <a:off x="1082158" y="2789743"/>
            <a:ext cx="646152" cy="36512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E945F799-F62B-4668-6666-72E7049E93C7}"/>
              </a:ext>
            </a:extLst>
          </p:cNvPr>
          <p:cNvSpPr txBox="1"/>
          <p:nvPr/>
        </p:nvSpPr>
        <p:spPr>
          <a:xfrm>
            <a:off x="2072082" y="3538750"/>
            <a:ext cx="5613538" cy="1600438"/>
          </a:xfrm>
          <a:prstGeom prst="rect">
            <a:avLst/>
          </a:prstGeom>
          <a:noFill/>
        </p:spPr>
        <p:txBody>
          <a:bodyPr wrap="square" rtlCol="0">
            <a:spAutoFit/>
          </a:bodyPr>
          <a:lstStyle/>
          <a:p>
            <a:pPr marL="285750" indent="-285750">
              <a:buFont typeface="Arial" panose="020B0604020202020204" pitchFamily="34" charset="0"/>
              <a:buChar char="•"/>
            </a:pPr>
            <a:r>
              <a:rPr lang="en-CA" sz="2000" dirty="0"/>
              <a:t>Contextuality demarcates boundary between quantum and classical states</a:t>
            </a:r>
            <a:br>
              <a:rPr lang="en-CA" sz="2000" dirty="0"/>
            </a:br>
            <a:endParaRPr lang="en-CA" sz="2000" dirty="0"/>
          </a:p>
          <a:p>
            <a:pPr marL="285750" indent="-285750">
              <a:buFont typeface="Arial" panose="020B0604020202020204" pitchFamily="34" charset="0"/>
              <a:buChar char="•"/>
            </a:pPr>
            <a:r>
              <a:rPr lang="en-CA" sz="2000" dirty="0"/>
              <a:t>Quantum advantage must involve contextuality</a:t>
            </a:r>
          </a:p>
          <a:p>
            <a:pPr marL="285750" indent="-285750">
              <a:buFont typeface="Arial" panose="020B0604020202020204" pitchFamily="34" charset="0"/>
              <a:buChar char="•"/>
            </a:pPr>
            <a:endParaRPr lang="en-CA" dirty="0"/>
          </a:p>
        </p:txBody>
      </p:sp>
    </p:spTree>
    <p:custDataLst>
      <p:tags r:id="rId1"/>
    </p:custDataLst>
    <p:extLst>
      <p:ext uri="{BB962C8B-B14F-4D97-AF65-F5344CB8AC3E}">
        <p14:creationId xmlns:p14="http://schemas.microsoft.com/office/powerpoint/2010/main" val="411770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7C79F-4340-341B-E9F3-EC51ECD34AC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14CA344-B20B-C7BD-DD42-1E9951B68843}"/>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Quantum Foundations Group Seminar, NORDITA, Stockholm I Phil LeMaitre I 27.03.2026</a:t>
            </a:r>
          </a:p>
        </p:txBody>
      </p:sp>
      <p:sp>
        <p:nvSpPr>
          <p:cNvPr id="9" name="Titel 1">
            <a:extLst>
              <a:ext uri="{FF2B5EF4-FFF2-40B4-BE49-F238E27FC236}">
                <a16:creationId xmlns:a16="http://schemas.microsoft.com/office/drawing/2014/main" id="{20C1B81A-2D60-CE36-8572-EAF42BCE6086}"/>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Harvesting Contextuality from the Vacuum</a:t>
            </a:r>
          </a:p>
        </p:txBody>
      </p:sp>
      <p:sp>
        <p:nvSpPr>
          <p:cNvPr id="10" name="Slide Number Placeholder 9">
            <a:extLst>
              <a:ext uri="{FF2B5EF4-FFF2-40B4-BE49-F238E27FC236}">
                <a16:creationId xmlns:a16="http://schemas.microsoft.com/office/drawing/2014/main" id="{F4E04944-3336-DCA7-15C5-9406FF873BF9}"/>
              </a:ext>
            </a:extLst>
          </p:cNvPr>
          <p:cNvSpPr>
            <a:spLocks noGrp="1"/>
          </p:cNvSpPr>
          <p:nvPr>
            <p:ph type="sldNum" sz="quarter" idx="12"/>
          </p:nvPr>
        </p:nvSpPr>
        <p:spPr/>
        <p:txBody>
          <a:bodyPr/>
          <a:lstStyle/>
          <a:p>
            <a:fld id="{D0617D14-1B55-43C0-819D-0D244AC23646}" type="slidenum">
              <a:rPr lang="de-AT" smtClean="0"/>
              <a:t>25</a:t>
            </a:fld>
            <a:endParaRPr lang="de-AT"/>
          </a:p>
        </p:txBody>
      </p:sp>
      <p:sp>
        <p:nvSpPr>
          <p:cNvPr id="5" name="TextBox 4">
            <a:extLst>
              <a:ext uri="{FF2B5EF4-FFF2-40B4-BE49-F238E27FC236}">
                <a16:creationId xmlns:a16="http://schemas.microsoft.com/office/drawing/2014/main" id="{F701C5BA-F10C-C5FF-6EE8-E4292B975700}"/>
              </a:ext>
            </a:extLst>
          </p:cNvPr>
          <p:cNvSpPr txBox="1"/>
          <p:nvPr/>
        </p:nvSpPr>
        <p:spPr>
          <a:xfrm>
            <a:off x="9315734" y="4256073"/>
            <a:ext cx="2180866" cy="646331"/>
          </a:xfrm>
          <a:prstGeom prst="rect">
            <a:avLst/>
          </a:prstGeom>
          <a:noFill/>
        </p:spPr>
        <p:txBody>
          <a:bodyPr wrap="square" rtlCol="0">
            <a:spAutoFit/>
          </a:bodyPr>
          <a:lstStyle/>
          <a:p>
            <a:r>
              <a:rPr lang="en-CA" i="1" dirty="0"/>
              <a:t>Phys. Rev. D. </a:t>
            </a:r>
            <a:r>
              <a:rPr lang="en-US" b="1" i="1" dirty="0"/>
              <a:t>113</a:t>
            </a:r>
            <a:r>
              <a:rPr lang="en-US" i="1" dirty="0"/>
              <a:t>, 045001 </a:t>
            </a:r>
            <a:r>
              <a:rPr lang="en-CA" dirty="0"/>
              <a:t>(2026)</a:t>
            </a:r>
          </a:p>
        </p:txBody>
      </p:sp>
      <p:pic>
        <p:nvPicPr>
          <p:cNvPr id="6" name="Picture 5">
            <a:extLst>
              <a:ext uri="{FF2B5EF4-FFF2-40B4-BE49-F238E27FC236}">
                <a16:creationId xmlns:a16="http://schemas.microsoft.com/office/drawing/2014/main" id="{2691C0E9-D6A6-66DE-F540-AA2A7A374566}"/>
              </a:ext>
            </a:extLst>
          </p:cNvPr>
          <p:cNvPicPr>
            <a:picLocks noChangeAspect="1"/>
          </p:cNvPicPr>
          <p:nvPr/>
        </p:nvPicPr>
        <p:blipFill>
          <a:blip r:embed="rId4"/>
          <a:stretch>
            <a:fillRect/>
          </a:stretch>
        </p:blipFill>
        <p:spPr>
          <a:xfrm>
            <a:off x="9145188" y="2249155"/>
            <a:ext cx="2092462" cy="2092462"/>
          </a:xfrm>
          <a:prstGeom prst="rect">
            <a:avLst/>
          </a:prstGeom>
        </p:spPr>
      </p:pic>
      <p:sp>
        <p:nvSpPr>
          <p:cNvPr id="7" name="TextBox 6">
            <a:extLst>
              <a:ext uri="{FF2B5EF4-FFF2-40B4-BE49-F238E27FC236}">
                <a16:creationId xmlns:a16="http://schemas.microsoft.com/office/drawing/2014/main" id="{AB1432F3-B5AB-92C8-17AB-93BCEFF09BBA}"/>
              </a:ext>
            </a:extLst>
          </p:cNvPr>
          <p:cNvSpPr txBox="1"/>
          <p:nvPr/>
        </p:nvSpPr>
        <p:spPr>
          <a:xfrm>
            <a:off x="695400" y="1380579"/>
            <a:ext cx="5613538" cy="815608"/>
          </a:xfrm>
          <a:prstGeom prst="rect">
            <a:avLst/>
          </a:prstGeom>
          <a:noFill/>
        </p:spPr>
        <p:txBody>
          <a:bodyPr wrap="square" rtlCol="0">
            <a:spAutoFit/>
          </a:bodyPr>
          <a:lstStyle/>
          <a:p>
            <a:pPr>
              <a:spcAft>
                <a:spcPts val="600"/>
              </a:spcAft>
            </a:pPr>
            <a:r>
              <a:rPr lang="en-CA" sz="2400" dirty="0"/>
              <a:t>Interesting Results:</a:t>
            </a:r>
            <a:endParaRPr lang="en-CA" dirty="0"/>
          </a:p>
          <a:p>
            <a:pPr marL="285750" indent="-285750">
              <a:buFont typeface="Arial" panose="020B0604020202020204" pitchFamily="34" charset="0"/>
              <a:buChar char="•"/>
            </a:pPr>
            <a:endParaRPr lang="en-CA" dirty="0"/>
          </a:p>
        </p:txBody>
      </p:sp>
      <p:sp>
        <p:nvSpPr>
          <p:cNvPr id="12" name="TextBox 11">
            <a:extLst>
              <a:ext uri="{FF2B5EF4-FFF2-40B4-BE49-F238E27FC236}">
                <a16:creationId xmlns:a16="http://schemas.microsoft.com/office/drawing/2014/main" id="{7C87F546-775B-0519-7AC6-7878E5EB6D4B}"/>
              </a:ext>
            </a:extLst>
          </p:cNvPr>
          <p:cNvSpPr txBox="1"/>
          <p:nvPr/>
        </p:nvSpPr>
        <p:spPr>
          <a:xfrm>
            <a:off x="1110180" y="2196187"/>
            <a:ext cx="7048167" cy="2246769"/>
          </a:xfrm>
          <a:prstGeom prst="rect">
            <a:avLst/>
          </a:prstGeom>
          <a:noFill/>
        </p:spPr>
        <p:txBody>
          <a:bodyPr wrap="square" rtlCol="0">
            <a:spAutoFit/>
          </a:bodyPr>
          <a:lstStyle/>
          <a:p>
            <a:pPr marL="285750" indent="-285750">
              <a:buFont typeface="Arial" panose="020B0604020202020204" pitchFamily="34" charset="0"/>
              <a:buChar char="•"/>
            </a:pPr>
            <a:r>
              <a:rPr lang="en-CA" sz="2000" dirty="0"/>
              <a:t>Single UDW qutrits can become contextual after interaction</a:t>
            </a:r>
            <a:br>
              <a:rPr lang="en-CA" sz="2000" dirty="0"/>
            </a:br>
            <a:endParaRPr lang="en-CA" sz="2000" dirty="0"/>
          </a:p>
          <a:p>
            <a:pPr marL="285750" indent="-285750">
              <a:buFont typeface="Arial" panose="020B0604020202020204" pitchFamily="34" charset="0"/>
              <a:buChar char="•"/>
            </a:pPr>
            <a:r>
              <a:rPr lang="en-CA" sz="2000" dirty="0"/>
              <a:t>Gapless systems can harvest contextuality but not entanglement</a:t>
            </a:r>
          </a:p>
          <a:p>
            <a:pPr marL="285750" indent="-285750">
              <a:buFont typeface="Arial" panose="020B0604020202020204" pitchFamily="34" charset="0"/>
              <a:buChar char="•"/>
            </a:pPr>
            <a:endParaRPr lang="en-CA" sz="2000" dirty="0"/>
          </a:p>
          <a:p>
            <a:pPr marL="285750" indent="-285750">
              <a:buFont typeface="Arial" panose="020B0604020202020204" pitchFamily="34" charset="0"/>
              <a:buChar char="•"/>
            </a:pPr>
            <a:r>
              <a:rPr lang="en-CA" sz="2000" dirty="0"/>
              <a:t>Contextuality and entanglement can coexist and influence each other for multiple UDW systems</a:t>
            </a:r>
          </a:p>
        </p:txBody>
      </p:sp>
    </p:spTree>
    <p:custDataLst>
      <p:tags r:id="rId1"/>
    </p:custDataLst>
    <p:extLst>
      <p:ext uri="{BB962C8B-B14F-4D97-AF65-F5344CB8AC3E}">
        <p14:creationId xmlns:p14="http://schemas.microsoft.com/office/powerpoint/2010/main" val="2256440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401BF6-44C0-2959-18A0-4D76C1046350}"/>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4518BAF-5050-597C-0EF9-3EC81517F7F3}"/>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BB69A0AA-4E3C-849E-86E0-E5EE48B2E863}"/>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A060EFDE-F17E-A52C-F767-44B6A6887125}"/>
              </a:ext>
            </a:extLst>
          </p:cNvPr>
          <p:cNvSpPr>
            <a:spLocks noGrp="1"/>
          </p:cNvSpPr>
          <p:nvPr>
            <p:ph type="sldNum" sz="quarter" idx="12"/>
          </p:nvPr>
        </p:nvSpPr>
        <p:spPr/>
        <p:txBody>
          <a:bodyPr/>
          <a:lstStyle/>
          <a:p>
            <a:fld id="{D0617D14-1B55-43C0-819D-0D244AC23646}" type="slidenum">
              <a:rPr lang="de-AT" smtClean="0"/>
              <a:t>26</a:t>
            </a:fld>
            <a:endParaRPr lang="de-AT"/>
          </a:p>
        </p:txBody>
      </p:sp>
      <p:sp>
        <p:nvSpPr>
          <p:cNvPr id="5" name="TextBox 4">
            <a:extLst>
              <a:ext uri="{FF2B5EF4-FFF2-40B4-BE49-F238E27FC236}">
                <a16:creationId xmlns:a16="http://schemas.microsoft.com/office/drawing/2014/main" id="{87208E32-A3AC-11B7-A9BB-3C7047D9C5BB}"/>
              </a:ext>
            </a:extLst>
          </p:cNvPr>
          <p:cNvSpPr txBox="1"/>
          <p:nvPr/>
        </p:nvSpPr>
        <p:spPr>
          <a:xfrm>
            <a:off x="1497550" y="1204122"/>
            <a:ext cx="2786411" cy="400110"/>
          </a:xfrm>
          <a:prstGeom prst="rect">
            <a:avLst/>
          </a:prstGeom>
          <a:noFill/>
        </p:spPr>
        <p:txBody>
          <a:bodyPr wrap="square" rtlCol="0">
            <a:spAutoFit/>
          </a:bodyPr>
          <a:lstStyle/>
          <a:p>
            <a:r>
              <a:rPr lang="en-CA" sz="2000" dirty="0"/>
              <a:t>KCBS 5-Cycle Inequality</a:t>
            </a:r>
          </a:p>
        </p:txBody>
      </p:sp>
      <p:sp>
        <p:nvSpPr>
          <p:cNvPr id="8" name="Oval 7">
            <a:extLst>
              <a:ext uri="{FF2B5EF4-FFF2-40B4-BE49-F238E27FC236}">
                <a16:creationId xmlns:a16="http://schemas.microsoft.com/office/drawing/2014/main" id="{BCF90BB9-B352-7293-E964-DB48A524423E}"/>
              </a:ext>
            </a:extLst>
          </p:cNvPr>
          <p:cNvSpPr/>
          <p:nvPr/>
        </p:nvSpPr>
        <p:spPr>
          <a:xfrm>
            <a:off x="1004652" y="3139661"/>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56E1D7D9-2DEF-30D5-2541-6DE8B2086A87}"/>
              </a:ext>
            </a:extLst>
          </p:cNvPr>
          <p:cNvSpPr/>
          <p:nvPr/>
        </p:nvSpPr>
        <p:spPr>
          <a:xfrm>
            <a:off x="2646218" y="2170070"/>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6AA193E6-F0E5-EE34-EE19-A7173C204850}"/>
              </a:ext>
            </a:extLst>
          </p:cNvPr>
          <p:cNvSpPr/>
          <p:nvPr/>
        </p:nvSpPr>
        <p:spPr>
          <a:xfrm>
            <a:off x="3843378" y="4928068"/>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ED1CD681-EE19-9D2C-7E52-A9B0A5D253DA}"/>
              </a:ext>
            </a:extLst>
          </p:cNvPr>
          <p:cNvSpPr/>
          <p:nvPr/>
        </p:nvSpPr>
        <p:spPr>
          <a:xfrm>
            <a:off x="1444039" y="4928069"/>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D6D814DA-ACCA-79B2-9A83-D50B3A58265E}"/>
              </a:ext>
            </a:extLst>
          </p:cNvPr>
          <p:cNvSpPr/>
          <p:nvPr/>
        </p:nvSpPr>
        <p:spPr>
          <a:xfrm>
            <a:off x="4282765" y="3139661"/>
            <a:ext cx="439387" cy="43722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6" name="Straight Connector 15">
            <a:extLst>
              <a:ext uri="{FF2B5EF4-FFF2-40B4-BE49-F238E27FC236}">
                <a16:creationId xmlns:a16="http://schemas.microsoft.com/office/drawing/2014/main" id="{4BBD656A-7A84-13D7-6F5F-B33E4747CEAD}"/>
              </a:ext>
            </a:extLst>
          </p:cNvPr>
          <p:cNvCxnSpPr>
            <a:stCxn id="8" idx="7"/>
            <a:endCxn id="9" idx="3"/>
          </p:cNvCxnSpPr>
          <p:nvPr/>
        </p:nvCxnSpPr>
        <p:spPr>
          <a:xfrm flipV="1">
            <a:off x="1379692" y="2543261"/>
            <a:ext cx="1330873" cy="660429"/>
          </a:xfrm>
          <a:prstGeom prst="line">
            <a:avLst/>
          </a:prstGeom>
          <a:ln w="2540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D680320-4442-B77A-E2AD-BDD857B86BE3}"/>
              </a:ext>
            </a:extLst>
          </p:cNvPr>
          <p:cNvCxnSpPr>
            <a:cxnSpLocks/>
            <a:stCxn id="8" idx="4"/>
            <a:endCxn id="13" idx="0"/>
          </p:cNvCxnSpPr>
          <p:nvPr/>
        </p:nvCxnSpPr>
        <p:spPr>
          <a:xfrm>
            <a:off x="1224346" y="3576881"/>
            <a:ext cx="439387" cy="1351188"/>
          </a:xfrm>
          <a:prstGeom prst="line">
            <a:avLst/>
          </a:prstGeom>
          <a:ln w="2540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9A305E4-99CF-FDF6-BEB9-DA9D75617169}"/>
              </a:ext>
            </a:extLst>
          </p:cNvPr>
          <p:cNvCxnSpPr>
            <a:cxnSpLocks/>
            <a:stCxn id="13" idx="6"/>
            <a:endCxn id="10" idx="2"/>
          </p:cNvCxnSpPr>
          <p:nvPr/>
        </p:nvCxnSpPr>
        <p:spPr>
          <a:xfrm flipV="1">
            <a:off x="1883426" y="5146678"/>
            <a:ext cx="1959952" cy="1"/>
          </a:xfrm>
          <a:prstGeom prst="line">
            <a:avLst/>
          </a:prstGeom>
          <a:ln w="2540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1512545-AAE8-01D3-D776-BBED640A2F9F}"/>
              </a:ext>
            </a:extLst>
          </p:cNvPr>
          <p:cNvCxnSpPr>
            <a:cxnSpLocks/>
            <a:stCxn id="10" idx="0"/>
            <a:endCxn id="14" idx="4"/>
          </p:cNvCxnSpPr>
          <p:nvPr/>
        </p:nvCxnSpPr>
        <p:spPr>
          <a:xfrm flipV="1">
            <a:off x="4063072" y="3576881"/>
            <a:ext cx="439387" cy="1351187"/>
          </a:xfrm>
          <a:prstGeom prst="line">
            <a:avLst/>
          </a:prstGeom>
          <a:ln w="25400"/>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3EB30A73-55A7-AD1D-1F58-837D7B54CA20}"/>
              </a:ext>
            </a:extLst>
          </p:cNvPr>
          <p:cNvCxnSpPr>
            <a:cxnSpLocks/>
            <a:stCxn id="14" idx="1"/>
            <a:endCxn id="9" idx="5"/>
          </p:cNvCxnSpPr>
          <p:nvPr/>
        </p:nvCxnSpPr>
        <p:spPr>
          <a:xfrm flipH="1" flipV="1">
            <a:off x="3021258" y="2543261"/>
            <a:ext cx="1325854" cy="660429"/>
          </a:xfrm>
          <a:prstGeom prst="line">
            <a:avLst/>
          </a:prstGeom>
          <a:ln w="25400"/>
        </p:spPr>
        <p:style>
          <a:lnRef idx="1">
            <a:schemeClr val="dk1"/>
          </a:lnRef>
          <a:fillRef idx="0">
            <a:schemeClr val="dk1"/>
          </a:fillRef>
          <a:effectRef idx="0">
            <a:schemeClr val="dk1"/>
          </a:effectRef>
          <a:fontRef idx="minor">
            <a:schemeClr val="tx1"/>
          </a:fontRef>
        </p:style>
      </p:cxnSp>
      <p:pic>
        <p:nvPicPr>
          <p:cNvPr id="29" name="Picture 28">
            <a:extLst>
              <a:ext uri="{FF2B5EF4-FFF2-40B4-BE49-F238E27FC236}">
                <a16:creationId xmlns:a16="http://schemas.microsoft.com/office/drawing/2014/main" id="{C354BF56-006E-F649-6FF3-DDA08F60EA94}"/>
              </a:ext>
            </a:extLst>
          </p:cNvPr>
          <p:cNvPicPr>
            <a:picLocks noChangeAspect="1"/>
          </p:cNvPicPr>
          <p:nvPr/>
        </p:nvPicPr>
        <p:blipFill>
          <a:blip r:embed="rId4"/>
          <a:stretch>
            <a:fillRect/>
          </a:stretch>
        </p:blipFill>
        <p:spPr>
          <a:xfrm>
            <a:off x="5477392" y="1107826"/>
            <a:ext cx="6330308" cy="981637"/>
          </a:xfrm>
          <a:prstGeom prst="rect">
            <a:avLst/>
          </a:prstGeom>
        </p:spPr>
      </p:pic>
      <p:sp>
        <p:nvSpPr>
          <p:cNvPr id="30" name="TextBox 29">
            <a:extLst>
              <a:ext uri="{FF2B5EF4-FFF2-40B4-BE49-F238E27FC236}">
                <a16:creationId xmlns:a16="http://schemas.microsoft.com/office/drawing/2014/main" id="{D9A18331-0CA3-EEFC-F003-D5BB46B6C4D9}"/>
              </a:ext>
            </a:extLst>
          </p:cNvPr>
          <p:cNvSpPr txBox="1"/>
          <p:nvPr/>
        </p:nvSpPr>
        <p:spPr>
          <a:xfrm>
            <a:off x="5670467" y="2992582"/>
            <a:ext cx="65" cy="553998"/>
          </a:xfrm>
          <a:prstGeom prst="rect">
            <a:avLst/>
          </a:prstGeom>
          <a:noFill/>
        </p:spPr>
        <p:txBody>
          <a:bodyPr wrap="none" lIns="0" tIns="0" rIns="0" bIns="0" rtlCol="0">
            <a:spAutoFit/>
          </a:bodyPr>
          <a:lstStyle/>
          <a:p>
            <a:endParaRPr lang="en-US" b="0" dirty="0"/>
          </a:p>
          <a:p>
            <a:endParaRPr lang="en-CA"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1366AA9-E8B2-DAE6-F063-CEB87A45A9A1}"/>
                  </a:ext>
                </a:extLst>
              </p:cNvPr>
              <p:cNvSpPr txBox="1"/>
              <p:nvPr/>
            </p:nvSpPr>
            <p:spPr>
              <a:xfrm>
                <a:off x="2656181" y="1816127"/>
                <a:ext cx="43435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0</m:t>
                          </m:r>
                        </m:sub>
                      </m:sSub>
                    </m:oMath>
                  </m:oMathPara>
                </a14:m>
                <a:endParaRPr lang="en-US" b="0" dirty="0"/>
              </a:p>
              <a:p>
                <a:endParaRPr lang="en-CA" dirty="0"/>
              </a:p>
            </p:txBody>
          </p:sp>
        </mc:Choice>
        <mc:Fallback xmlns="">
          <p:sp>
            <p:nvSpPr>
              <p:cNvPr id="31" name="TextBox 30">
                <a:extLst>
                  <a:ext uri="{FF2B5EF4-FFF2-40B4-BE49-F238E27FC236}">
                    <a16:creationId xmlns:a16="http://schemas.microsoft.com/office/drawing/2014/main" id="{31366AA9-E8B2-DAE6-F063-CEB87A45A9A1}"/>
                  </a:ext>
                </a:extLst>
              </p:cNvPr>
              <p:cNvSpPr txBox="1">
                <a:spLocks noRot="1" noChangeAspect="1" noMove="1" noResize="1" noEditPoints="1" noAdjustHandles="1" noChangeArrowheads="1" noChangeShapeType="1" noTextEdit="1"/>
              </p:cNvSpPr>
              <p:nvPr/>
            </p:nvSpPr>
            <p:spPr>
              <a:xfrm>
                <a:off x="2656181" y="1816127"/>
                <a:ext cx="434350" cy="553998"/>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87FCD01-918A-1F6B-F67D-6AA4E0D633E7}"/>
                  </a:ext>
                </a:extLst>
              </p:cNvPr>
              <p:cNvSpPr txBox="1"/>
              <p:nvPr/>
            </p:nvSpPr>
            <p:spPr>
              <a:xfrm>
                <a:off x="4680995" y="2889926"/>
                <a:ext cx="42851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oMath>
                  </m:oMathPara>
                </a14:m>
                <a:endParaRPr lang="en-US" b="0" dirty="0"/>
              </a:p>
              <a:p>
                <a:endParaRPr lang="en-CA" dirty="0"/>
              </a:p>
            </p:txBody>
          </p:sp>
        </mc:Choice>
        <mc:Fallback xmlns="">
          <p:sp>
            <p:nvSpPr>
              <p:cNvPr id="32" name="TextBox 31">
                <a:extLst>
                  <a:ext uri="{FF2B5EF4-FFF2-40B4-BE49-F238E27FC236}">
                    <a16:creationId xmlns:a16="http://schemas.microsoft.com/office/drawing/2014/main" id="{A87FCD01-918A-1F6B-F67D-6AA4E0D633E7}"/>
                  </a:ext>
                </a:extLst>
              </p:cNvPr>
              <p:cNvSpPr txBox="1">
                <a:spLocks noRot="1" noChangeAspect="1" noMove="1" noResize="1" noEditPoints="1" noAdjustHandles="1" noChangeArrowheads="1" noChangeShapeType="1" noTextEdit="1"/>
              </p:cNvSpPr>
              <p:nvPr/>
            </p:nvSpPr>
            <p:spPr>
              <a:xfrm>
                <a:off x="4680995" y="2889926"/>
                <a:ext cx="428515" cy="553998"/>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EB0A46A-9F89-AAC1-44AB-D785A5FE0589}"/>
                  </a:ext>
                </a:extLst>
              </p:cNvPr>
              <p:cNvSpPr txBox="1"/>
              <p:nvPr/>
            </p:nvSpPr>
            <p:spPr>
              <a:xfrm>
                <a:off x="607395" y="2926691"/>
                <a:ext cx="431144"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4</m:t>
                          </m:r>
                        </m:sub>
                      </m:sSub>
                    </m:oMath>
                  </m:oMathPara>
                </a14:m>
                <a:endParaRPr lang="en-US" b="0" dirty="0"/>
              </a:p>
              <a:p>
                <a:endParaRPr lang="en-CA" dirty="0"/>
              </a:p>
            </p:txBody>
          </p:sp>
        </mc:Choice>
        <mc:Fallback xmlns="">
          <p:sp>
            <p:nvSpPr>
              <p:cNvPr id="33" name="TextBox 32">
                <a:extLst>
                  <a:ext uri="{FF2B5EF4-FFF2-40B4-BE49-F238E27FC236}">
                    <a16:creationId xmlns:a16="http://schemas.microsoft.com/office/drawing/2014/main" id="{BEB0A46A-9F89-AAC1-44AB-D785A5FE0589}"/>
                  </a:ext>
                </a:extLst>
              </p:cNvPr>
              <p:cNvSpPr txBox="1">
                <a:spLocks noRot="1" noChangeAspect="1" noMove="1" noResize="1" noEditPoints="1" noAdjustHandles="1" noChangeArrowheads="1" noChangeShapeType="1" noTextEdit="1"/>
              </p:cNvSpPr>
              <p:nvPr/>
            </p:nvSpPr>
            <p:spPr>
              <a:xfrm>
                <a:off x="607395" y="2926691"/>
                <a:ext cx="431144" cy="553998"/>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0489615-4DD3-7426-0E1A-E6A382FDA631}"/>
                  </a:ext>
                </a:extLst>
              </p:cNvPr>
              <p:cNvSpPr txBox="1"/>
              <p:nvPr/>
            </p:nvSpPr>
            <p:spPr>
              <a:xfrm>
                <a:off x="4176832" y="5365132"/>
                <a:ext cx="431144"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oMath>
                  </m:oMathPara>
                </a14:m>
                <a:endParaRPr lang="en-US" b="0" dirty="0"/>
              </a:p>
              <a:p>
                <a:endParaRPr lang="en-CA" dirty="0"/>
              </a:p>
            </p:txBody>
          </p:sp>
        </mc:Choice>
        <mc:Fallback xmlns="">
          <p:sp>
            <p:nvSpPr>
              <p:cNvPr id="34" name="TextBox 33">
                <a:extLst>
                  <a:ext uri="{FF2B5EF4-FFF2-40B4-BE49-F238E27FC236}">
                    <a16:creationId xmlns:a16="http://schemas.microsoft.com/office/drawing/2014/main" id="{40489615-4DD3-7426-0E1A-E6A382FDA631}"/>
                  </a:ext>
                </a:extLst>
              </p:cNvPr>
              <p:cNvSpPr txBox="1">
                <a:spLocks noRot="1" noChangeAspect="1" noMove="1" noResize="1" noEditPoints="1" noAdjustHandles="1" noChangeArrowheads="1" noChangeShapeType="1" noTextEdit="1"/>
              </p:cNvSpPr>
              <p:nvPr/>
            </p:nvSpPr>
            <p:spPr>
              <a:xfrm>
                <a:off x="4176832" y="5365132"/>
                <a:ext cx="431144" cy="553998"/>
              </a:xfrm>
              <a:prstGeom prst="rect">
                <a:avLst/>
              </a:prstGeom>
              <a:blipFill>
                <a:blip r:embed="rId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6406718-AEF1-8510-E949-3C3EFF0DF367}"/>
                  </a:ext>
                </a:extLst>
              </p:cNvPr>
              <p:cNvSpPr txBox="1"/>
              <p:nvPr/>
            </p:nvSpPr>
            <p:spPr>
              <a:xfrm>
                <a:off x="1060137" y="5365132"/>
                <a:ext cx="431144"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3</m:t>
                          </m:r>
                        </m:sub>
                      </m:sSub>
                    </m:oMath>
                  </m:oMathPara>
                </a14:m>
                <a:endParaRPr lang="en-US" b="0" dirty="0"/>
              </a:p>
              <a:p>
                <a:endParaRPr lang="en-CA" dirty="0"/>
              </a:p>
            </p:txBody>
          </p:sp>
        </mc:Choice>
        <mc:Fallback xmlns="">
          <p:sp>
            <p:nvSpPr>
              <p:cNvPr id="35" name="TextBox 34">
                <a:extLst>
                  <a:ext uri="{FF2B5EF4-FFF2-40B4-BE49-F238E27FC236}">
                    <a16:creationId xmlns:a16="http://schemas.microsoft.com/office/drawing/2014/main" id="{26406718-AEF1-8510-E949-3C3EFF0DF367}"/>
                  </a:ext>
                </a:extLst>
              </p:cNvPr>
              <p:cNvSpPr txBox="1">
                <a:spLocks noRot="1" noChangeAspect="1" noMove="1" noResize="1" noEditPoints="1" noAdjustHandles="1" noChangeArrowheads="1" noChangeShapeType="1" noTextEdit="1"/>
              </p:cNvSpPr>
              <p:nvPr/>
            </p:nvSpPr>
            <p:spPr>
              <a:xfrm>
                <a:off x="1060137" y="5365132"/>
                <a:ext cx="431144" cy="553998"/>
              </a:xfrm>
              <a:prstGeom prst="rect">
                <a:avLst/>
              </a:prstGeom>
              <a:blipFill>
                <a:blip r:embed="rId9"/>
                <a:stretch>
                  <a:fillRect/>
                </a:stretch>
              </a:blipFill>
            </p:spPr>
            <p:txBody>
              <a:bodyPr/>
              <a:lstStyle/>
              <a:p>
                <a:r>
                  <a:rPr lang="en-CA">
                    <a:noFill/>
                  </a:rPr>
                  <a:t> </a:t>
                </a:r>
              </a:p>
            </p:txBody>
          </p:sp>
        </mc:Fallback>
      </mc:AlternateContent>
      <p:pic>
        <p:nvPicPr>
          <p:cNvPr id="37" name="Picture 36">
            <a:extLst>
              <a:ext uri="{FF2B5EF4-FFF2-40B4-BE49-F238E27FC236}">
                <a16:creationId xmlns:a16="http://schemas.microsoft.com/office/drawing/2014/main" id="{C7590D07-9FC9-2740-627B-45E3E327E0FA}"/>
              </a:ext>
            </a:extLst>
          </p:cNvPr>
          <p:cNvPicPr>
            <a:picLocks noChangeAspect="1"/>
          </p:cNvPicPr>
          <p:nvPr/>
        </p:nvPicPr>
        <p:blipFill>
          <a:blip r:embed="rId10"/>
          <a:stretch>
            <a:fillRect/>
          </a:stretch>
        </p:blipFill>
        <p:spPr>
          <a:xfrm>
            <a:off x="5389546" y="2578388"/>
            <a:ext cx="6505999" cy="2321749"/>
          </a:xfrm>
          <a:prstGeom prst="rect">
            <a:avLst/>
          </a:prstGeom>
        </p:spPr>
      </p:pic>
      <p:pic>
        <p:nvPicPr>
          <p:cNvPr id="38" name="Picture 37">
            <a:extLst>
              <a:ext uri="{FF2B5EF4-FFF2-40B4-BE49-F238E27FC236}">
                <a16:creationId xmlns:a16="http://schemas.microsoft.com/office/drawing/2014/main" id="{AAE13C9D-801F-0886-A387-E2F88603F3CB}"/>
              </a:ext>
            </a:extLst>
          </p:cNvPr>
          <p:cNvPicPr>
            <a:picLocks noChangeAspect="1"/>
          </p:cNvPicPr>
          <p:nvPr/>
        </p:nvPicPr>
        <p:blipFill>
          <a:blip r:embed="rId11"/>
          <a:stretch>
            <a:fillRect/>
          </a:stretch>
        </p:blipFill>
        <p:spPr>
          <a:xfrm>
            <a:off x="6370670" y="5001889"/>
            <a:ext cx="4205296" cy="1036763"/>
          </a:xfrm>
          <a:prstGeom prst="rect">
            <a:avLst/>
          </a:prstGeom>
        </p:spPr>
      </p:pic>
    </p:spTree>
    <p:custDataLst>
      <p:tags r:id="rId1"/>
    </p:custDataLst>
    <p:extLst>
      <p:ext uri="{BB962C8B-B14F-4D97-AF65-F5344CB8AC3E}">
        <p14:creationId xmlns:p14="http://schemas.microsoft.com/office/powerpoint/2010/main" val="55165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BC2294-8916-54BA-B9F3-B356720343F7}"/>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F025CC35-68A5-4BEA-A3AF-87255D3C6DDC}"/>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D508CAC5-13F1-36FE-6469-F8482D8CEE7D}"/>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Contextuality and Non-Classicality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7C291D21-CC50-9919-0827-BCB2D8C6381C}"/>
              </a:ext>
            </a:extLst>
          </p:cNvPr>
          <p:cNvSpPr>
            <a:spLocks noGrp="1"/>
          </p:cNvSpPr>
          <p:nvPr>
            <p:ph type="sldNum" sz="quarter" idx="12"/>
          </p:nvPr>
        </p:nvSpPr>
        <p:spPr/>
        <p:txBody>
          <a:bodyPr/>
          <a:lstStyle/>
          <a:p>
            <a:fld id="{D0617D14-1B55-43C0-819D-0D244AC23646}" type="slidenum">
              <a:rPr lang="de-AT" smtClean="0"/>
              <a:t>27</a:t>
            </a:fld>
            <a:endParaRPr lang="de-AT"/>
          </a:p>
        </p:txBody>
      </p:sp>
      <p:sp>
        <p:nvSpPr>
          <p:cNvPr id="4" name="Rounded Rectangle 3">
            <a:extLst>
              <a:ext uri="{FF2B5EF4-FFF2-40B4-BE49-F238E27FC236}">
                <a16:creationId xmlns:a16="http://schemas.microsoft.com/office/drawing/2014/main" id="{92DD6599-3671-2F42-2BD9-1BE57B52F236}"/>
              </a:ext>
            </a:extLst>
          </p:cNvPr>
          <p:cNvSpPr/>
          <p:nvPr/>
        </p:nvSpPr>
        <p:spPr>
          <a:xfrm>
            <a:off x="1739333" y="4417122"/>
            <a:ext cx="8538483" cy="841248"/>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C348898C-3C27-E1C3-C44E-42CEBAED957F}"/>
              </a:ext>
            </a:extLst>
          </p:cNvPr>
          <p:cNvSpPr txBox="1"/>
          <p:nvPr/>
        </p:nvSpPr>
        <p:spPr>
          <a:xfrm>
            <a:off x="1852481" y="4483803"/>
            <a:ext cx="8538483" cy="707886"/>
          </a:xfrm>
          <a:prstGeom prst="rect">
            <a:avLst/>
          </a:prstGeom>
          <a:noFill/>
        </p:spPr>
        <p:txBody>
          <a:bodyPr wrap="square" rtlCol="0">
            <a:spAutoFit/>
          </a:bodyPr>
          <a:lstStyle/>
          <a:p>
            <a:r>
              <a:rPr lang="en-CA" sz="2000" dirty="0"/>
              <a:t>Contextuality/nonlocality cannot be explained classically, so I will take them to be the defining feature of what makes quantum theory non-classical.</a:t>
            </a:r>
          </a:p>
        </p:txBody>
      </p:sp>
      <p:sp>
        <p:nvSpPr>
          <p:cNvPr id="5" name="TextBox 4">
            <a:extLst>
              <a:ext uri="{FF2B5EF4-FFF2-40B4-BE49-F238E27FC236}">
                <a16:creationId xmlns:a16="http://schemas.microsoft.com/office/drawing/2014/main" id="{B16929CF-3270-88A8-9564-F5D6CB438EB5}"/>
              </a:ext>
            </a:extLst>
          </p:cNvPr>
          <p:cNvSpPr txBox="1"/>
          <p:nvPr/>
        </p:nvSpPr>
        <p:spPr>
          <a:xfrm>
            <a:off x="393884" y="1173327"/>
            <a:ext cx="8538483" cy="400110"/>
          </a:xfrm>
          <a:prstGeom prst="rect">
            <a:avLst/>
          </a:prstGeom>
          <a:noFill/>
        </p:spPr>
        <p:txBody>
          <a:bodyPr wrap="square" rtlCol="0">
            <a:spAutoFit/>
          </a:bodyPr>
          <a:lstStyle/>
          <a:p>
            <a:r>
              <a:rPr lang="en-CA" sz="2000" dirty="0"/>
              <a:t>Many features of quantum theory are explainable with classical models…</a:t>
            </a:r>
          </a:p>
        </p:txBody>
      </p:sp>
      <p:sp>
        <p:nvSpPr>
          <p:cNvPr id="8" name="TextBox 7">
            <a:extLst>
              <a:ext uri="{FF2B5EF4-FFF2-40B4-BE49-F238E27FC236}">
                <a16:creationId xmlns:a16="http://schemas.microsoft.com/office/drawing/2014/main" id="{16F0B797-543D-56FE-D0F0-179C10F9995E}"/>
              </a:ext>
            </a:extLst>
          </p:cNvPr>
          <p:cNvSpPr txBox="1"/>
          <p:nvPr/>
        </p:nvSpPr>
        <p:spPr>
          <a:xfrm>
            <a:off x="783123" y="1691356"/>
            <a:ext cx="8538483" cy="1631216"/>
          </a:xfrm>
          <a:prstGeom prst="rect">
            <a:avLst/>
          </a:prstGeom>
          <a:noFill/>
        </p:spPr>
        <p:txBody>
          <a:bodyPr wrap="square" rtlCol="0">
            <a:spAutoFit/>
          </a:bodyPr>
          <a:lstStyle/>
          <a:p>
            <a:pPr marL="342900" indent="-342900">
              <a:buFont typeface="Arial" panose="020B0604020202020204" pitchFamily="34" charset="0"/>
              <a:buChar char="•"/>
            </a:pPr>
            <a:r>
              <a:rPr lang="en-CA" sz="2000" dirty="0"/>
              <a:t>Entanglement</a:t>
            </a:r>
          </a:p>
          <a:p>
            <a:pPr marL="342900" indent="-342900">
              <a:buFont typeface="Arial" panose="020B0604020202020204" pitchFamily="34" charset="0"/>
              <a:buChar char="•"/>
            </a:pPr>
            <a:r>
              <a:rPr lang="en-CA" sz="2000" dirty="0"/>
              <a:t>Steering</a:t>
            </a:r>
          </a:p>
          <a:p>
            <a:pPr marL="342900" indent="-342900">
              <a:buFont typeface="Arial" panose="020B0604020202020204" pitchFamily="34" charset="0"/>
              <a:buChar char="•"/>
            </a:pPr>
            <a:r>
              <a:rPr lang="en-CA" sz="2000" dirty="0"/>
              <a:t>Superposition</a:t>
            </a:r>
          </a:p>
          <a:p>
            <a:pPr marL="342900" indent="-342900">
              <a:buFont typeface="Arial" panose="020B0604020202020204" pitchFamily="34" charset="0"/>
              <a:buChar char="•"/>
            </a:pPr>
            <a:r>
              <a:rPr lang="en-CA" sz="2000" dirty="0"/>
              <a:t>Interference</a:t>
            </a:r>
          </a:p>
          <a:p>
            <a:pPr marL="342900" indent="-342900">
              <a:buFont typeface="Arial" panose="020B0604020202020204" pitchFamily="34" charset="0"/>
              <a:buChar char="•"/>
            </a:pPr>
            <a:endParaRPr lang="en-CA" sz="2000" dirty="0"/>
          </a:p>
        </p:txBody>
      </p:sp>
      <p:sp>
        <p:nvSpPr>
          <p:cNvPr id="9" name="TextBox 8">
            <a:extLst>
              <a:ext uri="{FF2B5EF4-FFF2-40B4-BE49-F238E27FC236}">
                <a16:creationId xmlns:a16="http://schemas.microsoft.com/office/drawing/2014/main" id="{056E41BF-5456-6C3C-8F4E-42EFA8A86E00}"/>
              </a:ext>
            </a:extLst>
          </p:cNvPr>
          <p:cNvSpPr txBox="1"/>
          <p:nvPr/>
        </p:nvSpPr>
        <p:spPr>
          <a:xfrm>
            <a:off x="393884" y="3389253"/>
            <a:ext cx="8538483" cy="400110"/>
          </a:xfrm>
          <a:prstGeom prst="rect">
            <a:avLst/>
          </a:prstGeom>
          <a:noFill/>
        </p:spPr>
        <p:txBody>
          <a:bodyPr wrap="square" rtlCol="0">
            <a:spAutoFit/>
          </a:bodyPr>
          <a:lstStyle/>
          <a:p>
            <a:r>
              <a:rPr lang="en-CA" sz="2000" dirty="0"/>
              <a:t>So what about quantum theory is not classical?</a:t>
            </a:r>
          </a:p>
        </p:txBody>
      </p:sp>
      <p:sp>
        <p:nvSpPr>
          <p:cNvPr id="10" name="TextBox 9">
            <a:extLst>
              <a:ext uri="{FF2B5EF4-FFF2-40B4-BE49-F238E27FC236}">
                <a16:creationId xmlns:a16="http://schemas.microsoft.com/office/drawing/2014/main" id="{DC6B07D2-AE10-69E3-58F7-680219F6080C}"/>
              </a:ext>
            </a:extLst>
          </p:cNvPr>
          <p:cNvSpPr txBox="1"/>
          <p:nvPr/>
        </p:nvSpPr>
        <p:spPr>
          <a:xfrm rot="20625338">
            <a:off x="3516494" y="2072953"/>
            <a:ext cx="2485737" cy="400110"/>
          </a:xfrm>
          <a:prstGeom prst="rect">
            <a:avLst/>
          </a:prstGeom>
          <a:noFill/>
        </p:spPr>
        <p:txBody>
          <a:bodyPr wrap="square" rtlCol="0">
            <a:spAutoFit/>
          </a:bodyPr>
          <a:lstStyle/>
          <a:p>
            <a:r>
              <a:rPr lang="en-CA" sz="2000" dirty="0" err="1"/>
              <a:t>Spekkens</a:t>
            </a:r>
            <a:r>
              <a:rPr lang="en-CA" sz="2000" dirty="0"/>
              <a:t>’ toy model!</a:t>
            </a:r>
          </a:p>
        </p:txBody>
      </p:sp>
    </p:spTree>
    <p:custDataLst>
      <p:tags r:id="rId1"/>
    </p:custDataLst>
    <p:extLst>
      <p:ext uri="{BB962C8B-B14F-4D97-AF65-F5344CB8AC3E}">
        <p14:creationId xmlns:p14="http://schemas.microsoft.com/office/powerpoint/2010/main" val="141006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5" grpId="0"/>
      <p:bldP spid="8" grpId="0"/>
      <p:bldP spid="9"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11A76-9D3C-B385-EBDC-F950BD46CEFF}"/>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55F92062-6F01-E9F9-D7AA-21822F842A63}"/>
              </a:ext>
            </a:extLst>
          </p:cNvPr>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Quantum Foundations Group Seminar, NORDITA, Stockholm I Phil LeMaitre I 27.03.2026</a:t>
            </a:r>
          </a:p>
        </p:txBody>
      </p:sp>
      <p:sp>
        <p:nvSpPr>
          <p:cNvPr id="9" name="Titel 1">
            <a:extLst>
              <a:ext uri="{FF2B5EF4-FFF2-40B4-BE49-F238E27FC236}">
                <a16:creationId xmlns:a16="http://schemas.microsoft.com/office/drawing/2014/main" id="{A9388A56-0735-650D-0718-7B660807564E}"/>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Where to Go From Here?</a:t>
            </a:r>
          </a:p>
        </p:txBody>
      </p:sp>
      <p:sp>
        <p:nvSpPr>
          <p:cNvPr id="10" name="Slide Number Placeholder 9">
            <a:extLst>
              <a:ext uri="{FF2B5EF4-FFF2-40B4-BE49-F238E27FC236}">
                <a16:creationId xmlns:a16="http://schemas.microsoft.com/office/drawing/2014/main" id="{A13C521B-F3A9-9012-221D-AE9A3FE0F5B8}"/>
              </a:ext>
            </a:extLst>
          </p:cNvPr>
          <p:cNvSpPr>
            <a:spLocks noGrp="1"/>
          </p:cNvSpPr>
          <p:nvPr>
            <p:ph type="sldNum" sz="quarter" idx="12"/>
          </p:nvPr>
        </p:nvSpPr>
        <p:spPr/>
        <p:txBody>
          <a:bodyPr/>
          <a:lstStyle/>
          <a:p>
            <a:fld id="{D0617D14-1B55-43C0-819D-0D244AC23646}" type="slidenum">
              <a:rPr lang="de-AT" smtClean="0"/>
              <a:t>28</a:t>
            </a:fld>
            <a:endParaRPr lang="de-AT"/>
          </a:p>
        </p:txBody>
      </p:sp>
      <p:sp>
        <p:nvSpPr>
          <p:cNvPr id="3" name="TextBox 2">
            <a:extLst>
              <a:ext uri="{FF2B5EF4-FFF2-40B4-BE49-F238E27FC236}">
                <a16:creationId xmlns:a16="http://schemas.microsoft.com/office/drawing/2014/main" id="{2CC53A00-36EE-E2DB-E6EA-6C944CA5628A}"/>
              </a:ext>
            </a:extLst>
          </p:cNvPr>
          <p:cNvSpPr txBox="1"/>
          <p:nvPr/>
        </p:nvSpPr>
        <p:spPr>
          <a:xfrm>
            <a:off x="321327" y="1183600"/>
            <a:ext cx="9628909" cy="4431983"/>
          </a:xfrm>
          <a:prstGeom prst="rect">
            <a:avLst/>
          </a:prstGeom>
          <a:noFill/>
        </p:spPr>
        <p:txBody>
          <a:bodyPr wrap="square" rtlCol="0">
            <a:spAutoFit/>
          </a:bodyPr>
          <a:lstStyle/>
          <a:p>
            <a:pPr marL="342900" indent="-342900">
              <a:spcAft>
                <a:spcPts val="600"/>
              </a:spcAft>
              <a:buFont typeface="Wingdings" pitchFamily="2" charset="2"/>
              <a:buChar char="Ø"/>
            </a:pPr>
            <a:r>
              <a:rPr lang="en-CA" sz="2400" dirty="0"/>
              <a:t>Develop new relativistic quantum machine learning protocols</a:t>
            </a:r>
            <a:br>
              <a:rPr lang="en-CA" sz="2400" dirty="0"/>
            </a:br>
            <a:endParaRPr lang="en-CA" sz="2400" dirty="0"/>
          </a:p>
          <a:p>
            <a:pPr marL="342900" indent="-342900">
              <a:spcAft>
                <a:spcPts val="600"/>
              </a:spcAft>
              <a:buFont typeface="Wingdings" pitchFamily="2" charset="2"/>
              <a:buChar char="Ø"/>
            </a:pPr>
            <a:r>
              <a:rPr lang="en-CA" sz="2400" dirty="0"/>
              <a:t>Relax constraints and extend to fully non-perturbative regime</a:t>
            </a:r>
            <a:br>
              <a:rPr lang="en-CA" sz="2400" dirty="0"/>
            </a:br>
            <a:endParaRPr lang="en-CA" sz="2400" dirty="0"/>
          </a:p>
          <a:p>
            <a:pPr marL="342900" indent="-342900">
              <a:spcAft>
                <a:spcPts val="600"/>
              </a:spcAft>
              <a:buFont typeface="Wingdings" pitchFamily="2" charset="2"/>
              <a:buChar char="Ø"/>
            </a:pPr>
            <a:r>
              <a:rPr lang="en-CA" sz="2400" dirty="0"/>
              <a:t>Fully consistent model of a relativistic agent in curved spacetimes</a:t>
            </a:r>
            <a:br>
              <a:rPr lang="en-CA" sz="2400" dirty="0"/>
            </a:br>
            <a:endParaRPr lang="en-CA" sz="2400" dirty="0"/>
          </a:p>
          <a:p>
            <a:pPr marL="342900" indent="-342900">
              <a:spcAft>
                <a:spcPts val="600"/>
              </a:spcAft>
              <a:buFont typeface="Wingdings" pitchFamily="2" charset="2"/>
              <a:buChar char="Ø"/>
            </a:pPr>
            <a:r>
              <a:rPr lang="en-CA" sz="2400" dirty="0"/>
              <a:t>Models of agents and learning in the quantum gravity regime</a:t>
            </a:r>
          </a:p>
          <a:p>
            <a:pPr marL="342900" indent="-342900">
              <a:spcAft>
                <a:spcPts val="600"/>
              </a:spcAft>
              <a:buFont typeface="Wingdings" pitchFamily="2" charset="2"/>
              <a:buChar char="Ø"/>
            </a:pPr>
            <a:endParaRPr lang="en-CA" sz="2400" dirty="0"/>
          </a:p>
          <a:p>
            <a:pPr marL="342900" indent="-342900">
              <a:spcAft>
                <a:spcPts val="600"/>
              </a:spcAft>
              <a:buFont typeface="Wingdings" pitchFamily="2" charset="2"/>
              <a:buChar char="Ø"/>
            </a:pPr>
            <a:r>
              <a:rPr lang="en-CA" sz="2400" dirty="0"/>
              <a:t>Integrate other resources like contextuality into the setup</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endParaRPr lang="en-CA" dirty="0"/>
          </a:p>
        </p:txBody>
      </p:sp>
    </p:spTree>
    <p:custDataLst>
      <p:tags r:id="rId1"/>
    </p:custDataLst>
    <p:extLst>
      <p:ext uri="{BB962C8B-B14F-4D97-AF65-F5344CB8AC3E}">
        <p14:creationId xmlns:p14="http://schemas.microsoft.com/office/powerpoint/2010/main" val="364332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244142" y="4882621"/>
            <a:ext cx="7033192" cy="762000"/>
          </a:xfrm>
        </p:spPr>
        <p:txBody>
          <a:bodyPr>
            <a:noAutofit/>
          </a:bodyPr>
          <a:lstStyle/>
          <a:p>
            <a:pPr algn="ctr"/>
            <a:r>
              <a:rPr lang="en-CA" sz="4400" dirty="0"/>
              <a:t>Thank you for your attention!</a:t>
            </a:r>
          </a:p>
        </p:txBody>
      </p:sp>
      <p:sp>
        <p:nvSpPr>
          <p:cNvPr id="3" name="Titel 1">
            <a:extLst>
              <a:ext uri="{FF2B5EF4-FFF2-40B4-BE49-F238E27FC236}">
                <a16:creationId xmlns:a16="http://schemas.microsoft.com/office/drawing/2014/main" id="{61BE9CC0-95AD-1603-8AD8-2F406992E27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en-CA" sz="2800" kern="0" dirty="0">
              <a:solidFill>
                <a:schemeClr val="bg1"/>
              </a:solidFill>
              <a:latin typeface="Calibri Light" panose="020F0302020204030204" pitchFamily="34" charset="0"/>
              <a:cs typeface="Calibri Light" panose="020F0302020204030204" pitchFamily="34" charset="0"/>
            </a:endParaRPr>
          </a:p>
        </p:txBody>
      </p:sp>
      <p:sp>
        <p:nvSpPr>
          <p:cNvPr id="2" name="Footer Placeholder 1">
            <a:extLst>
              <a:ext uri="{FF2B5EF4-FFF2-40B4-BE49-F238E27FC236}">
                <a16:creationId xmlns:a16="http://schemas.microsoft.com/office/drawing/2014/main" id="{4627B9BB-55EA-B62A-EA2B-9FAC2F1F28C4}"/>
              </a:ext>
            </a:extLst>
          </p:cNvPr>
          <p:cNvSpPr>
            <a:spLocks noGrp="1"/>
          </p:cNvSpPr>
          <p:nvPr>
            <p:ph type="ftr" sz="quarter" idx="11"/>
          </p:nvPr>
        </p:nvSpPr>
        <p:spPr>
          <a:xfrm>
            <a:off x="4268241" y="6310311"/>
            <a:ext cx="3744417" cy="365125"/>
          </a:xfrm>
        </p:spPr>
        <p:txBody>
          <a:bodyPr/>
          <a:lstStyle/>
          <a:p>
            <a:r>
              <a:rPr lang="de-AT"/>
              <a:t>Quantum Foundations Group Seminar, NORDITA, Stockholm I Phil LeMaitre I 27.03.2026</a:t>
            </a:r>
            <a:endParaRPr lang="de-AT" dirty="0"/>
          </a:p>
        </p:txBody>
      </p:sp>
      <p:sp>
        <p:nvSpPr>
          <p:cNvPr id="4" name="Slide Number Placeholder 3">
            <a:extLst>
              <a:ext uri="{FF2B5EF4-FFF2-40B4-BE49-F238E27FC236}">
                <a16:creationId xmlns:a16="http://schemas.microsoft.com/office/drawing/2014/main" id="{79BE3C82-4E37-A647-9B80-8E6AB10F4707}"/>
              </a:ext>
            </a:extLst>
          </p:cNvPr>
          <p:cNvSpPr>
            <a:spLocks noGrp="1"/>
          </p:cNvSpPr>
          <p:nvPr>
            <p:ph type="sldNum" sz="quarter" idx="12"/>
          </p:nvPr>
        </p:nvSpPr>
        <p:spPr/>
        <p:txBody>
          <a:bodyPr/>
          <a:lstStyle/>
          <a:p>
            <a:fld id="{D0617D14-1B55-43C0-819D-0D244AC23646}" type="slidenum">
              <a:rPr lang="de-AT" smtClean="0"/>
              <a:t>29</a:t>
            </a:fld>
            <a:endParaRPr lang="de-AT"/>
          </a:p>
        </p:txBody>
      </p:sp>
      <p:pic>
        <p:nvPicPr>
          <p:cNvPr id="9" name="Picture 8">
            <a:extLst>
              <a:ext uri="{FF2B5EF4-FFF2-40B4-BE49-F238E27FC236}">
                <a16:creationId xmlns:a16="http://schemas.microsoft.com/office/drawing/2014/main" id="{E671FFB9-9A16-F046-B46F-E92BCC064D47}"/>
              </a:ext>
            </a:extLst>
          </p:cNvPr>
          <p:cNvPicPr>
            <a:picLocks noChangeAspect="1"/>
          </p:cNvPicPr>
          <p:nvPr/>
        </p:nvPicPr>
        <p:blipFill rotWithShape="1">
          <a:blip r:embed="rId3"/>
          <a:srcRect l="5492" t="34602" r="8757" b="5749"/>
          <a:stretch/>
        </p:blipFill>
        <p:spPr>
          <a:xfrm>
            <a:off x="370863" y="1179327"/>
            <a:ext cx="6696024" cy="3138181"/>
          </a:xfrm>
          <a:prstGeom prst="rect">
            <a:avLst/>
          </a:prstGeom>
        </p:spPr>
      </p:pic>
      <p:pic>
        <p:nvPicPr>
          <p:cNvPr id="1026" name="Picture 2" descr="Tales Rick Perche in front of a chalkboard with equations on it">
            <a:extLst>
              <a:ext uri="{FF2B5EF4-FFF2-40B4-BE49-F238E27FC236}">
                <a16:creationId xmlns:a16="http://schemas.microsoft.com/office/drawing/2014/main" id="{55720B00-5194-1D10-245D-8661194BB5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30" y="1179327"/>
            <a:ext cx="2624873" cy="203427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8598CC9-5F79-1B40-C7FC-F4FBD097AC93}"/>
                  </a:ext>
                </a:extLst>
              </p:cNvPr>
              <p:cNvSpPr txBox="1"/>
              <p:nvPr/>
            </p:nvSpPr>
            <p:spPr>
              <a:xfrm>
                <a:off x="7238029" y="2444957"/>
                <a:ext cx="2981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CA" sz="2400" dirty="0"/>
              </a:p>
            </p:txBody>
          </p:sp>
        </mc:Choice>
        <mc:Fallback>
          <p:sp>
            <p:nvSpPr>
              <p:cNvPr id="6" name="TextBox 5">
                <a:extLst>
                  <a:ext uri="{FF2B5EF4-FFF2-40B4-BE49-F238E27FC236}">
                    <a16:creationId xmlns:a16="http://schemas.microsoft.com/office/drawing/2014/main" id="{18598CC9-5F79-1B40-C7FC-F4FBD097AC93}"/>
                  </a:ext>
                </a:extLst>
              </p:cNvPr>
              <p:cNvSpPr txBox="1">
                <a:spLocks noRot="1" noChangeAspect="1" noMove="1" noResize="1" noEditPoints="1" noAdjustHandles="1" noChangeArrowheads="1" noChangeShapeType="1" noTextEdit="1"/>
              </p:cNvSpPr>
              <p:nvPr/>
            </p:nvSpPr>
            <p:spPr>
              <a:xfrm>
                <a:off x="7238029" y="2444957"/>
                <a:ext cx="298159" cy="369332"/>
              </a:xfrm>
              <a:prstGeom prst="rect">
                <a:avLst/>
              </a:prstGeom>
              <a:blipFill>
                <a:blip r:embed="rId5"/>
                <a:stretch>
                  <a:fillRect l="-20000" r="-20000" b="-10000"/>
                </a:stretch>
              </a:blipFill>
            </p:spPr>
            <p:txBody>
              <a:bodyPr/>
              <a:lstStyle/>
              <a:p>
                <a:r>
                  <a:rPr lang="en-CA">
                    <a:noFill/>
                  </a:rPr>
                  <a:t> </a:t>
                </a:r>
              </a:p>
            </p:txBody>
          </p:sp>
        </mc:Fallback>
      </mc:AlternateContent>
      <p:pic>
        <p:nvPicPr>
          <p:cNvPr id="8" name="Picture 7">
            <a:extLst>
              <a:ext uri="{FF2B5EF4-FFF2-40B4-BE49-F238E27FC236}">
                <a16:creationId xmlns:a16="http://schemas.microsoft.com/office/drawing/2014/main" id="{06211616-5CE0-5B18-2454-A130734BBAF4}"/>
              </a:ext>
            </a:extLst>
          </p:cNvPr>
          <p:cNvPicPr>
            <a:picLocks noChangeAspect="1"/>
          </p:cNvPicPr>
          <p:nvPr/>
        </p:nvPicPr>
        <p:blipFill>
          <a:blip r:embed="rId6"/>
          <a:stretch>
            <a:fillRect/>
          </a:stretch>
        </p:blipFill>
        <p:spPr>
          <a:xfrm>
            <a:off x="7232131" y="3773673"/>
            <a:ext cx="1905000" cy="1905000"/>
          </a:xfrm>
          <a:prstGeom prst="rect">
            <a:avLst/>
          </a:prstGeom>
        </p:spPr>
      </p:pic>
      <p:sp>
        <p:nvSpPr>
          <p:cNvPr id="7" name="TextBox 6">
            <a:extLst>
              <a:ext uri="{FF2B5EF4-FFF2-40B4-BE49-F238E27FC236}">
                <a16:creationId xmlns:a16="http://schemas.microsoft.com/office/drawing/2014/main" id="{142611C0-18FC-2043-6523-4706548EEDF4}"/>
              </a:ext>
            </a:extLst>
          </p:cNvPr>
          <p:cNvSpPr txBox="1"/>
          <p:nvPr/>
        </p:nvSpPr>
        <p:spPr>
          <a:xfrm>
            <a:off x="7232131" y="5465141"/>
            <a:ext cx="2180866" cy="646331"/>
          </a:xfrm>
          <a:prstGeom prst="rect">
            <a:avLst/>
          </a:prstGeom>
          <a:noFill/>
        </p:spPr>
        <p:txBody>
          <a:bodyPr wrap="square" rtlCol="0">
            <a:spAutoFit/>
          </a:bodyPr>
          <a:lstStyle/>
          <a:p>
            <a:r>
              <a:rPr lang="en-CA" i="1" dirty="0"/>
              <a:t>Phys. Rev. Lett. </a:t>
            </a:r>
            <a:r>
              <a:rPr lang="en-CA" b="1" dirty="0"/>
              <a:t>134</a:t>
            </a:r>
            <a:r>
              <a:rPr lang="en-CA" dirty="0"/>
              <a:t>, 190601 (2025)</a:t>
            </a:r>
          </a:p>
        </p:txBody>
      </p:sp>
      <p:sp>
        <p:nvSpPr>
          <p:cNvPr id="10" name="TextBox 9">
            <a:extLst>
              <a:ext uri="{FF2B5EF4-FFF2-40B4-BE49-F238E27FC236}">
                <a16:creationId xmlns:a16="http://schemas.microsoft.com/office/drawing/2014/main" id="{9E08F555-EDFE-8530-4FC7-FF2A28AB55E4}"/>
              </a:ext>
            </a:extLst>
          </p:cNvPr>
          <p:cNvSpPr txBox="1"/>
          <p:nvPr/>
        </p:nvSpPr>
        <p:spPr>
          <a:xfrm>
            <a:off x="9677433" y="5465140"/>
            <a:ext cx="2180866" cy="646331"/>
          </a:xfrm>
          <a:prstGeom prst="rect">
            <a:avLst/>
          </a:prstGeom>
          <a:noFill/>
        </p:spPr>
        <p:txBody>
          <a:bodyPr wrap="square" rtlCol="0">
            <a:spAutoFit/>
          </a:bodyPr>
          <a:lstStyle/>
          <a:p>
            <a:r>
              <a:rPr lang="en-CA" i="1" dirty="0"/>
              <a:t>Phys. Rev. D. </a:t>
            </a:r>
            <a:r>
              <a:rPr lang="en-US" b="1" i="1" dirty="0"/>
              <a:t>113</a:t>
            </a:r>
            <a:r>
              <a:rPr lang="en-US" i="1" dirty="0"/>
              <a:t>, 045001 </a:t>
            </a:r>
            <a:r>
              <a:rPr lang="en-CA" dirty="0"/>
              <a:t>(2026)</a:t>
            </a:r>
          </a:p>
        </p:txBody>
      </p:sp>
      <p:pic>
        <p:nvPicPr>
          <p:cNvPr id="11" name="Picture 10">
            <a:extLst>
              <a:ext uri="{FF2B5EF4-FFF2-40B4-BE49-F238E27FC236}">
                <a16:creationId xmlns:a16="http://schemas.microsoft.com/office/drawing/2014/main" id="{EA92A0A2-33CE-F088-3526-F84518B499C6}"/>
              </a:ext>
            </a:extLst>
          </p:cNvPr>
          <p:cNvPicPr>
            <a:picLocks noChangeAspect="1"/>
          </p:cNvPicPr>
          <p:nvPr/>
        </p:nvPicPr>
        <p:blipFill>
          <a:blip r:embed="rId7"/>
          <a:stretch>
            <a:fillRect/>
          </a:stretch>
        </p:blipFill>
        <p:spPr>
          <a:xfrm>
            <a:off x="9677433" y="3876453"/>
            <a:ext cx="1650631" cy="1650631"/>
          </a:xfrm>
          <a:prstGeom prst="rect">
            <a:avLst/>
          </a:prstGeom>
        </p:spPr>
      </p:pic>
      <p:sp>
        <p:nvSpPr>
          <p:cNvPr id="12" name="TextBox 11">
            <a:extLst>
              <a:ext uri="{FF2B5EF4-FFF2-40B4-BE49-F238E27FC236}">
                <a16:creationId xmlns:a16="http://schemas.microsoft.com/office/drawing/2014/main" id="{80CA2AFC-7C58-A96A-E69B-14E51FB444A8}"/>
              </a:ext>
            </a:extLst>
          </p:cNvPr>
          <p:cNvSpPr txBox="1"/>
          <p:nvPr/>
        </p:nvSpPr>
        <p:spPr>
          <a:xfrm>
            <a:off x="7387108" y="3551683"/>
            <a:ext cx="855023" cy="400110"/>
          </a:xfrm>
          <a:prstGeom prst="rect">
            <a:avLst/>
          </a:prstGeom>
          <a:noFill/>
        </p:spPr>
        <p:txBody>
          <a:bodyPr wrap="square" rtlCol="0">
            <a:spAutoFit/>
          </a:bodyPr>
          <a:lstStyle/>
          <a:p>
            <a:r>
              <a:rPr lang="en-CA" sz="2000" dirty="0"/>
              <a:t>RVQC:</a:t>
            </a:r>
          </a:p>
        </p:txBody>
      </p:sp>
      <p:sp>
        <p:nvSpPr>
          <p:cNvPr id="13" name="TextBox 12">
            <a:extLst>
              <a:ext uri="{FF2B5EF4-FFF2-40B4-BE49-F238E27FC236}">
                <a16:creationId xmlns:a16="http://schemas.microsoft.com/office/drawing/2014/main" id="{23CB366F-E6A4-2894-290A-94D5F1C0938F}"/>
              </a:ext>
            </a:extLst>
          </p:cNvPr>
          <p:cNvSpPr txBox="1"/>
          <p:nvPr/>
        </p:nvSpPr>
        <p:spPr>
          <a:xfrm>
            <a:off x="9137131" y="3551683"/>
            <a:ext cx="2870864" cy="400110"/>
          </a:xfrm>
          <a:prstGeom prst="rect">
            <a:avLst/>
          </a:prstGeom>
          <a:noFill/>
        </p:spPr>
        <p:txBody>
          <a:bodyPr wrap="square" rtlCol="0">
            <a:spAutoFit/>
          </a:bodyPr>
          <a:lstStyle/>
          <a:p>
            <a:r>
              <a:rPr lang="en-CA" sz="2000" dirty="0"/>
              <a:t>Contextuality Harvesting:</a:t>
            </a:r>
          </a:p>
        </p:txBody>
      </p:sp>
    </p:spTree>
    <p:extLst>
      <p:ext uri="{BB962C8B-B14F-4D97-AF65-F5344CB8AC3E}">
        <p14:creationId xmlns:p14="http://schemas.microsoft.com/office/powerpoint/2010/main" val="1806043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RVQC</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30</a:t>
            </a:fld>
            <a:endParaRPr lang="de-AT"/>
          </a:p>
        </p:txBody>
      </p:sp>
      <p:pic>
        <p:nvPicPr>
          <p:cNvPr id="6" name="Picture 5">
            <a:extLst>
              <a:ext uri="{FF2B5EF4-FFF2-40B4-BE49-F238E27FC236}">
                <a16:creationId xmlns:a16="http://schemas.microsoft.com/office/drawing/2014/main" id="{8E50E9B7-7005-55B4-1337-50B55D8E685C}"/>
              </a:ext>
            </a:extLst>
          </p:cNvPr>
          <p:cNvPicPr>
            <a:picLocks noChangeAspect="1"/>
          </p:cNvPicPr>
          <p:nvPr/>
        </p:nvPicPr>
        <p:blipFill>
          <a:blip r:embed="rId4"/>
          <a:stretch>
            <a:fillRect/>
          </a:stretch>
        </p:blipFill>
        <p:spPr>
          <a:xfrm>
            <a:off x="0" y="962567"/>
            <a:ext cx="7280564" cy="4932865"/>
          </a:xfrm>
          <a:prstGeom prst="rect">
            <a:avLst/>
          </a:prstGeom>
        </p:spPr>
      </p:pic>
      <p:sp>
        <p:nvSpPr>
          <p:cNvPr id="10" name="TextBox 9">
            <a:extLst>
              <a:ext uri="{FF2B5EF4-FFF2-40B4-BE49-F238E27FC236}">
                <a16:creationId xmlns:a16="http://schemas.microsoft.com/office/drawing/2014/main" id="{6452846F-E66E-E1EF-9859-51005FF25648}"/>
              </a:ext>
            </a:extLst>
          </p:cNvPr>
          <p:cNvSpPr txBox="1"/>
          <p:nvPr/>
        </p:nvSpPr>
        <p:spPr>
          <a:xfrm>
            <a:off x="6961276" y="1154466"/>
            <a:ext cx="5184349" cy="707886"/>
          </a:xfrm>
          <a:prstGeom prst="rect">
            <a:avLst/>
          </a:prstGeom>
          <a:noFill/>
        </p:spPr>
        <p:txBody>
          <a:bodyPr wrap="square">
            <a:spAutoFit/>
          </a:bodyPr>
          <a:lstStyle/>
          <a:p>
            <a:r>
              <a:rPr lang="en-CA" sz="2000" dirty="0"/>
              <a:t>Key distinctions between typical non-relativistic setups and ours:</a:t>
            </a:r>
          </a:p>
        </p:txBody>
      </p:sp>
      <p:sp>
        <p:nvSpPr>
          <p:cNvPr id="12" name="TextBox 11">
            <a:extLst>
              <a:ext uri="{FF2B5EF4-FFF2-40B4-BE49-F238E27FC236}">
                <a16:creationId xmlns:a16="http://schemas.microsoft.com/office/drawing/2014/main" id="{1F6EC534-1776-FEBA-397B-0540F9D51382}"/>
              </a:ext>
            </a:extLst>
          </p:cNvPr>
          <p:cNvSpPr txBox="1"/>
          <p:nvPr/>
        </p:nvSpPr>
        <p:spPr>
          <a:xfrm>
            <a:off x="7536060" y="2114015"/>
            <a:ext cx="4577680" cy="3785652"/>
          </a:xfrm>
          <a:prstGeom prst="rect">
            <a:avLst/>
          </a:prstGeom>
          <a:noFill/>
        </p:spPr>
        <p:txBody>
          <a:bodyPr wrap="square">
            <a:spAutoFit/>
          </a:bodyPr>
          <a:lstStyle/>
          <a:p>
            <a:pPr marL="342900" indent="-342900">
              <a:buFont typeface="+mj-lt"/>
              <a:buAutoNum type="arabicPeriod"/>
            </a:pPr>
            <a:r>
              <a:rPr lang="en-CA" sz="2000" dirty="0"/>
              <a:t>Trainable parameters explicitly involve spacetime motion of detectors through their proper time during evolution</a:t>
            </a:r>
            <a:br>
              <a:rPr lang="en-CA" sz="2000" dirty="0"/>
            </a:br>
            <a:endParaRPr lang="en-CA" sz="2000" dirty="0"/>
          </a:p>
          <a:p>
            <a:pPr marL="342900" indent="-342900">
              <a:buFont typeface="+mj-lt"/>
              <a:buAutoNum type="arabicPeriod"/>
            </a:pPr>
            <a:r>
              <a:rPr lang="en-CA" sz="2000" dirty="0"/>
              <a:t>Interactions between detectors are entirely mediated through local interactions with quantum field</a:t>
            </a:r>
            <a:br>
              <a:rPr lang="en-CA" sz="2000" dirty="0"/>
            </a:br>
            <a:r>
              <a:rPr lang="en-CA" sz="2000" dirty="0"/>
              <a:t> </a:t>
            </a:r>
          </a:p>
          <a:p>
            <a:pPr marL="342900" indent="-342900">
              <a:buFont typeface="+mj-lt"/>
              <a:buAutoNum type="arabicPeriod"/>
            </a:pPr>
            <a:r>
              <a:rPr lang="en-CA" sz="2000" dirty="0"/>
              <a:t>Presence of noise terms from entanglement between detectors and  quantum field</a:t>
            </a:r>
          </a:p>
        </p:txBody>
      </p:sp>
    </p:spTree>
    <p:custDataLst>
      <p:tags r:id="rId1"/>
    </p:custDataLst>
    <p:extLst>
      <p:ext uri="{BB962C8B-B14F-4D97-AF65-F5344CB8AC3E}">
        <p14:creationId xmlns:p14="http://schemas.microsoft.com/office/powerpoint/2010/main" val="177135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Analytic Expressions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31</a:t>
            </a:fld>
            <a:endParaRPr lang="de-AT"/>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AE0E075-55DA-B6F9-4BF5-FEA3F1BDFC87}"/>
                  </a:ext>
                </a:extLst>
              </p:cNvPr>
              <p:cNvSpPr txBox="1"/>
              <p:nvPr/>
            </p:nvSpPr>
            <p:spPr>
              <a:xfrm>
                <a:off x="152091" y="3075162"/>
                <a:ext cx="11887818" cy="2676823"/>
              </a:xfrm>
              <a:prstGeom prst="rect">
                <a:avLst/>
              </a:prstGeom>
              <a:noFill/>
            </p:spPr>
            <p:txBody>
              <a:bodyPr wrap="square">
                <a:spAutoFit/>
              </a:bodyPr>
              <a:lstStyle/>
              <a:p>
                <a:r>
                  <a:rPr lang="en-CA" dirty="0"/>
                  <a:t>Notice that only </a:t>
                </a:r>
                <a14:m>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𝜙</m:t>
                        </m:r>
                      </m:sub>
                    </m:sSub>
                    <m:r>
                      <a:rPr lang="en-US" b="0" i="1" smtClean="0">
                        <a:latin typeface="Cambria Math" panose="02040503050406030204" pitchFamily="18" charset="0"/>
                      </a:rPr>
                      <m:t> </m:t>
                    </m:r>
                  </m:oMath>
                </a14:m>
                <a:r>
                  <a:rPr lang="en-CA" dirty="0"/>
                  <a:t>depends on the field and that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acc>
                          <m:accPr>
                            <m:chr m:val="̂"/>
                            <m:ctrlPr>
                              <a:rPr lang="en-CA" i="1">
                                <a:latin typeface="Cambria Math" panose="02040503050406030204" pitchFamily="18" charset="0"/>
                              </a:rPr>
                            </m:ctrlPr>
                          </m:accPr>
                          <m:e>
                            <m:r>
                              <a:rPr lang="en-US" i="1">
                                <a:latin typeface="Cambria Math" panose="02040503050406030204" pitchFamily="18" charset="0"/>
                              </a:rPr>
                              <m:t>𝑈</m:t>
                            </m:r>
                          </m:e>
                        </m:acc>
                      </m:e>
                      <m:sub>
                        <m:r>
                          <a:rPr lang="en-US" i="1">
                            <a:latin typeface="Cambria Math" panose="02040503050406030204" pitchFamily="18" charset="0"/>
                          </a:rPr>
                          <m:t>𝜙</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CA" i="1">
                                <a:latin typeface="Cambria Math" panose="02040503050406030204" pitchFamily="18" charset="0"/>
                              </a:rPr>
                            </m:ctrlPr>
                          </m:accPr>
                          <m:e>
                            <m:r>
                              <a:rPr lang="en-US" i="1">
                                <a:latin typeface="Cambria Math" panose="02040503050406030204" pitchFamily="18" charset="0"/>
                              </a:rPr>
                              <m:t>𝑈</m:t>
                            </m:r>
                          </m:e>
                        </m:acc>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r>
                  <a:rPr lang="en-CA" dirty="0"/>
                  <a:t>. Under the assumption that the initial state for the detectors and field is given by </a:t>
                </a:r>
                <a14:m>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𝜌</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𝜌</m:t>
                            </m:r>
                          </m:e>
                        </m:acc>
                      </m:e>
                      <m:sub>
                        <m:r>
                          <a:rPr lang="en-US" b="0" i="1" smtClean="0">
                            <a:latin typeface="Cambria Math" panose="02040503050406030204" pitchFamily="18" charset="0"/>
                          </a:rPr>
                          <m:t>𝜔</m:t>
                        </m:r>
                      </m:sub>
                    </m:sSub>
                  </m:oMath>
                </a14:m>
                <a:r>
                  <a:rPr lang="en-CA" dirty="0"/>
                  <a:t>, where </a:t>
                </a:r>
                <a14:m>
                  <m:oMath xmlns:m="http://schemas.openxmlformats.org/officeDocument/2006/math">
                    <m:sSub>
                      <m:sSubPr>
                        <m:ctrlPr>
                          <a:rPr lang="en-US" i="1">
                            <a:latin typeface="Cambria Math" panose="02040503050406030204" pitchFamily="18" charset="0"/>
                          </a:rPr>
                        </m:ctrlPr>
                      </m:sSubPr>
                      <m:e>
                        <m:acc>
                          <m:accPr>
                            <m:chr m:val="̂"/>
                            <m:ctrlPr>
                              <a:rPr lang="en-CA"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0</m:t>
                        </m:r>
                      </m:sub>
                    </m:sSub>
                  </m:oMath>
                </a14:m>
                <a:r>
                  <a:rPr lang="en-CA" dirty="0"/>
                  <a:t> is the initial state of the </a:t>
                </a:r>
                <a14:m>
                  <m:oMath xmlns:m="http://schemas.openxmlformats.org/officeDocument/2006/math">
                    <m:r>
                      <a:rPr lang="en-US" b="0" i="1" smtClean="0">
                        <a:latin typeface="Cambria Math" panose="02040503050406030204" pitchFamily="18" charset="0"/>
                      </a:rPr>
                      <m:t>𝑁</m:t>
                    </m:r>
                  </m:oMath>
                </a14:m>
                <a:r>
                  <a:rPr lang="en-CA" dirty="0"/>
                  <a:t> qubit state and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𝜔</m:t>
                        </m:r>
                      </m:sub>
                    </m:sSub>
                  </m:oMath>
                </a14:m>
                <a:r>
                  <a:rPr lang="en-CA" dirty="0"/>
                  <a:t> is a quasi-free state of the field, we can then write the final detectors state as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b="0" i="1" smtClean="0">
                            <a:latin typeface="Cambria Math" panose="02040503050406030204" pitchFamily="18" charset="0"/>
                          </a:rPr>
                          <m:t>𝑓</m:t>
                        </m:r>
                      </m:sub>
                    </m:sSub>
                    <m:r>
                      <a:rPr lang="en-US" b="0" i="1" smtClean="0">
                        <a:latin typeface="Cambria Math" panose="02040503050406030204" pitchFamily="18" charset="0"/>
                      </a:rPr>
                      <m:t>=</m:t>
                    </m:r>
                    <m:r>
                      <a:rPr lang="en-US" b="0" i="1" smtClean="0">
                        <a:latin typeface="Cambria Math" panose="02040503050406030204" pitchFamily="18" charset="0"/>
                      </a:rPr>
                      <m:t>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𝜙</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𝐼</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CA"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𝜔</m:t>
                                </m:r>
                              </m:sub>
                            </m:sSub>
                          </m:e>
                        </m:d>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𝐼</m:t>
                            </m:r>
                          </m:sub>
                          <m:sup>
                            <m:r>
                              <a:rPr lang="en-US" i="1">
                                <a:latin typeface="Cambria Math" panose="02040503050406030204" pitchFamily="18" charset="0"/>
                                <a:ea typeface="Cambria Math" panose="02040503050406030204" pitchFamily="18" charset="0"/>
                              </a:rPr>
                              <m:t>†</m:t>
                            </m:r>
                          </m:sup>
                        </m:sSub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𝑐</m:t>
                        </m:r>
                      </m:sub>
                    </m:sSub>
                    <m:r>
                      <a:rPr lang="en-US" i="1">
                        <a:latin typeface="Cambria Math" panose="02040503050406030204" pitchFamily="18" charset="0"/>
                      </a:rPr>
                      <m:t>𝑇</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𝑈</m:t>
                                </m:r>
                              </m:e>
                            </m:acc>
                          </m:e>
                          <m:sub>
                            <m:r>
                              <a:rPr lang="en-US" b="0" i="1" smtClean="0">
                                <a:latin typeface="Cambria Math" panose="02040503050406030204" pitchFamily="18" charset="0"/>
                              </a:rPr>
                              <m:t>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CA"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𝜔</m:t>
                                </m:r>
                              </m:sub>
                            </m:sSub>
                          </m:e>
                        </m:d>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𝑈</m:t>
                                </m:r>
                              </m:e>
                            </m:acc>
                          </m:e>
                          <m:sub>
                            <m:r>
                              <a:rPr lang="en-US" b="0" i="1" smtClean="0">
                                <a:latin typeface="Cambria Math" panose="02040503050406030204" pitchFamily="18" charset="0"/>
                              </a:rPr>
                              <m:t>𝜙</m:t>
                            </m:r>
                          </m:sub>
                          <m:sup>
                            <m:r>
                              <a:rPr lang="en-US" i="1">
                                <a:latin typeface="Cambria Math" panose="02040503050406030204" pitchFamily="18" charset="0"/>
                                <a:ea typeface="Cambria Math" panose="02040503050406030204" pitchFamily="18" charset="0"/>
                              </a:rPr>
                              <m:t>†</m:t>
                            </m:r>
                          </m:sup>
                        </m:sSubSup>
                      </m:e>
                    </m:d>
                    <m:sSubSup>
                      <m:sSubSupPr>
                        <m:ctrlPr>
                          <a:rPr lang="en-US" b="0" i="1" smtClean="0">
                            <a:latin typeface="Cambria Math" panose="02040503050406030204" pitchFamily="18" charset="0"/>
                            <a:ea typeface="Cambria Math" panose="02040503050406030204" pitchFamily="18" charset="0"/>
                          </a:rPr>
                        </m:ctrlPr>
                      </m:sSubSupPr>
                      <m:e>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𝑈</m:t>
                            </m:r>
                          </m:e>
                        </m:acc>
                      </m:e>
                      <m:sub>
                        <m:r>
                          <a:rPr lang="en-US" b="0" i="1" smtClean="0">
                            <a:latin typeface="Cambria Math" panose="02040503050406030204" pitchFamily="18" charset="0"/>
                          </a:rPr>
                          <m:t>𝑐</m:t>
                        </m:r>
                      </m:sub>
                      <m:sup>
                        <m:r>
                          <a:rPr lang="en-US" i="1">
                            <a:latin typeface="Cambria Math" panose="02040503050406030204" pitchFamily="18" charset="0"/>
                            <a:ea typeface="Cambria Math" panose="02040503050406030204" pitchFamily="18" charset="0"/>
                          </a:rPr>
                          <m:t>†</m:t>
                        </m:r>
                      </m:sup>
                    </m:sSubSup>
                  </m:oMath>
                </a14:m>
                <a:endParaRPr lang="en-CA" dirty="0"/>
              </a:p>
              <a:p>
                <a:endParaRPr lang="en-CA" dirty="0"/>
              </a:p>
              <a:p>
                <a:r>
                  <a:rPr lang="en-CA" dirty="0"/>
                  <a:t>Let us first compute </a:t>
                </a:r>
              </a:p>
              <a:p>
                <a:endParaRPr lang="en-CA" dirty="0"/>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𝑈</m:t>
                              </m:r>
                            </m:e>
                          </m:acc>
                        </m:e>
                        <m:sub>
                          <m:r>
                            <a:rPr lang="en-US" b="0" i="1" smtClean="0">
                              <a:latin typeface="Cambria Math" panose="02040503050406030204" pitchFamily="18" charset="0"/>
                            </a:rPr>
                            <m:t>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CA"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𝜔</m:t>
                              </m:r>
                            </m:sub>
                          </m:sSub>
                        </m:e>
                      </m:d>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𝑈</m:t>
                              </m:r>
                            </m:e>
                          </m:acc>
                        </m:e>
                        <m:sub>
                          <m:r>
                            <a:rPr lang="en-US" b="0" i="1" smtClean="0">
                              <a:latin typeface="Cambria Math" panose="02040503050406030204" pitchFamily="18" charset="0"/>
                            </a:rPr>
                            <m:t>𝜙</m:t>
                          </m:r>
                        </m:sub>
                        <m:sup>
                          <m:r>
                            <a:rPr lang="en-US" i="1">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ub>
                        <m:sup/>
                        <m:e>
                          <m:r>
                            <a:rPr lang="en-US" b="0" i="1" smtClean="0">
                              <a:latin typeface="Cambria Math" panose="02040503050406030204" pitchFamily="18" charset="0"/>
                              <a:ea typeface="Cambria Math" panose="02040503050406030204" pitchFamily="18" charset="0"/>
                            </a:rPr>
                            <m:t>⋯</m:t>
                          </m:r>
                        </m:e>
                      </m:nary>
                      <m:nary>
                        <m:naryPr>
                          <m:chr m:val="∑"/>
                          <m:supHide m:val="on"/>
                          <m:ctrlPr>
                            <a:rPr lang="en-US" b="0" i="1" smtClean="0">
                              <a:latin typeface="Cambria Math" panose="02040503050406030204" pitchFamily="18" charset="0"/>
                              <a:ea typeface="Cambria Math" panose="02040503050406030204" pitchFamily="18" charset="0"/>
                            </a:rPr>
                          </m:ctrlPr>
                        </m:naryPr>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𝑁</m:t>
                              </m:r>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𝑁</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ub>
                        <m:sup/>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𝜆</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𝜙</m:t>
                                  </m:r>
                                </m:e>
                              </m:acc>
                              <m:d>
                                <m:dPr>
                                  <m:ctrlPr>
                                    <a:rPr lang="en-US" b="0" i="1" smtClean="0">
                                      <a:latin typeface="Cambria Math" panose="02040503050406030204" pitchFamily="18" charset="0"/>
                                    </a:rPr>
                                  </m:ctrlPr>
                                </m:dPr>
                                <m:e>
                                  <m:nary>
                                    <m:naryPr>
                                      <m:chr m:val="∑"/>
                                      <m:limLoc m:val="subSup"/>
                                      <m:ctrlPr>
                                        <a:rPr lang="en-US" b="0" i="1" smtClean="0">
                                          <a:latin typeface="Cambria Math" panose="02040503050406030204" pitchFamily="18" charset="0"/>
                                          <a:ea typeface="Cambria Math" panose="02040503050406030204" pitchFamily="18" charset="0"/>
                                        </a:rPr>
                                      </m:ctrlPr>
                                    </m:naryPr>
                                    <m:sub>
                                      <m:r>
                                        <m:rPr>
                                          <m:brk m:alnAt="25"/>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𝑁</m:t>
                                      </m:r>
                                    </m:sup>
                                    <m:e>
                                      <m:sSub>
                                        <m:sSubPr>
                                          <m:ctrlPr>
                                            <a:rPr lang="en-US" b="0" i="1" smtClean="0">
                                              <a:latin typeface="Cambria Math" panose="02040503050406030204" pitchFamily="18" charset="0"/>
                                              <a:ea typeface="Cambria Math" panose="02040503050406030204" pitchFamily="18" charset="0"/>
                                            </a:rPr>
                                          </m:ctrlPr>
                                        </m:sSub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𝜇</m:t>
                                              </m:r>
                                            </m:e>
                                          </m:acc>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Λ</m:t>
                                          </m:r>
                                        </m:e>
                                        <m:sub>
                                          <m:r>
                                            <a:rPr lang="en-US" b="0" i="1" smtClean="0">
                                              <a:latin typeface="Cambria Math" panose="02040503050406030204" pitchFamily="18" charset="0"/>
                                            </a:rPr>
                                            <m:t>𝑖</m:t>
                                          </m:r>
                                        </m:sub>
                                      </m:sSub>
                                    </m:e>
                                  </m:nary>
                                </m:e>
                              </m:d>
                            </m:sup>
                          </m:sSup>
                          <m:sSub>
                            <m:sSubPr>
                              <m:ctrlPr>
                                <a:rPr lang="en-US" b="0" i="1" smtClean="0">
                                  <a:latin typeface="Cambria Math" panose="02040503050406030204" pitchFamily="18" charset="0"/>
                                  <a:ea typeface="Cambria Math" panose="02040503050406030204" pitchFamily="18" charset="0"/>
                                </a:rPr>
                              </m:ctrlPr>
                            </m:sSub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𝜌</m:t>
                                  </m:r>
                                </m:e>
                              </m:acc>
                            </m:e>
                            <m:sub>
                              <m:r>
                                <a:rPr lang="en-US" b="0" i="1" smtClean="0">
                                  <a:latin typeface="Cambria Math" panose="02040503050406030204" pitchFamily="18" charset="0"/>
                                </a:rPr>
                                <m:t>𝜔</m:t>
                              </m:r>
                            </m:sub>
                          </m:s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𝜆</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𝜙</m:t>
                                  </m:r>
                                </m:e>
                              </m:acc>
                              <m:d>
                                <m:dPr>
                                  <m:ctrlPr>
                                    <a:rPr lang="en-US" i="1">
                                      <a:latin typeface="Cambria Math" panose="02040503050406030204" pitchFamily="18" charset="0"/>
                                    </a:rPr>
                                  </m:ctrlPr>
                                </m:dPr>
                                <m:e>
                                  <m:nary>
                                    <m:naryPr>
                                      <m:chr m:val="∑"/>
                                      <m:limLoc m:val="subSup"/>
                                      <m:ctrlPr>
                                        <a:rPr lang="en-US" i="1">
                                          <a:latin typeface="Cambria Math" panose="02040503050406030204" pitchFamily="18" charset="0"/>
                                          <a:ea typeface="Cambria Math" panose="02040503050406030204" pitchFamily="18" charset="0"/>
                                        </a:rPr>
                                      </m:ctrlPr>
                                    </m:naryPr>
                                    <m:sub>
                                      <m:r>
                                        <m:rPr>
                                          <m:brk m:alnAt="1"/>
                                        </m:rPr>
                                        <a:rPr lang="en-US" b="0" i="1" smtClean="0">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𝑁</m:t>
                                      </m:r>
                                    </m:sup>
                                    <m:e>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𝜇</m:t>
                                              </m:r>
                                            </m:e>
                                          </m:acc>
                                        </m:e>
                                        <m:sub>
                                          <m:r>
                                            <a:rPr lang="en-US" b="0" i="1" smtClean="0">
                                              <a:latin typeface="Cambria Math" panose="02040503050406030204" pitchFamily="18" charset="0"/>
                                              <a:ea typeface="Cambria Math" panose="02040503050406030204" pitchFamily="18" charset="0"/>
                                            </a:rPr>
                                            <m:t>𝑗</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b="0" i="1" smtClean="0">
                                              <a:latin typeface="Cambria Math" panose="02040503050406030204" pitchFamily="18" charset="0"/>
                                            </a:rPr>
                                            <m:t>𝑗</m:t>
                                          </m:r>
                                        </m:sub>
                                      </m:sSub>
                                    </m:e>
                                  </m:nary>
                                </m:e>
                              </m:d>
                            </m:sup>
                          </m:sSup>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𝑁</m:t>
                                  </m:r>
                                </m:sub>
                              </m:sSub>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𝜌</m:t>
                                          </m:r>
                                        </m:e>
                                      </m:acc>
                                    </m:e>
                                    <m:sub>
                                      <m:r>
                                        <a:rPr lang="en-US" b="0" i="1" smtClean="0">
                                          <a:latin typeface="Cambria Math" panose="02040503050406030204" pitchFamily="18" charset="0"/>
                                        </a:rPr>
                                        <m:t>0</m:t>
                                      </m:r>
                                    </m:sub>
                                  </m:sSub>
                                </m:e>
                              </m:d>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𝜇</m:t>
                                  </m:r>
                                </m:e>
                                <m:sub>
                                  <m:r>
                                    <a:rPr lang="en-US" b="0" i="1" smtClean="0">
                                      <a:latin typeface="Cambria Math" panose="02040503050406030204" pitchFamily="18" charset="0"/>
                                    </a:rPr>
                                    <m:t>𝑁</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𝑁</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𝜇</m:t>
                              </m:r>
                            </m:e>
                            <m:sub>
                              <m:r>
                                <a:rPr lang="en-US" b="0" i="1" smtClean="0">
                                  <a:latin typeface="Cambria Math" panose="02040503050406030204" pitchFamily="18" charset="0"/>
                                </a:rPr>
                                <m:t>𝑁</m:t>
                              </m:r>
                            </m:sub>
                            <m:sup>
                              <m:r>
                                <a:rPr lang="en-US" b="0" i="1" smtClean="0">
                                  <a:latin typeface="Cambria Math" panose="02040503050406030204" pitchFamily="18" charset="0"/>
                                </a:rPr>
                                <m:t>′</m:t>
                              </m:r>
                            </m:sup>
                          </m:sSubSup>
                          <m:r>
                            <a:rPr lang="en-US" b="0" i="1" smtClean="0">
                              <a:latin typeface="Cambria Math" panose="02040503050406030204" pitchFamily="18" charset="0"/>
                            </a:rPr>
                            <m:t>|</m:t>
                          </m:r>
                        </m:e>
                      </m:nary>
                    </m:oMath>
                  </m:oMathPara>
                </a14:m>
                <a:endParaRPr lang="en-CA" dirty="0"/>
              </a:p>
            </p:txBody>
          </p:sp>
        </mc:Choice>
        <mc:Fallback xmlns="">
          <p:sp>
            <p:nvSpPr>
              <p:cNvPr id="6" name="TextBox 5">
                <a:extLst>
                  <a:ext uri="{FF2B5EF4-FFF2-40B4-BE49-F238E27FC236}">
                    <a16:creationId xmlns:a16="http://schemas.microsoft.com/office/drawing/2014/main" id="{0AE0E075-55DA-B6F9-4BF5-FEA3F1BDFC87}"/>
                  </a:ext>
                </a:extLst>
              </p:cNvPr>
              <p:cNvSpPr txBox="1">
                <a:spLocks noRot="1" noChangeAspect="1" noMove="1" noResize="1" noEditPoints="1" noAdjustHandles="1" noChangeArrowheads="1" noChangeShapeType="1" noTextEdit="1"/>
              </p:cNvSpPr>
              <p:nvPr/>
            </p:nvSpPr>
            <p:spPr>
              <a:xfrm>
                <a:off x="152091" y="3075162"/>
                <a:ext cx="11887818" cy="2676823"/>
              </a:xfrm>
              <a:prstGeom prst="rect">
                <a:avLst/>
              </a:prstGeom>
              <a:blipFill>
                <a:blip r:embed="rId4"/>
                <a:stretch>
                  <a:fillRect l="-427" t="-469" b="-4554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595EC9C-ABE2-A61D-E2FD-90B2066978F6}"/>
                  </a:ext>
                </a:extLst>
              </p:cNvPr>
              <p:cNvSpPr txBox="1"/>
              <p:nvPr/>
            </p:nvSpPr>
            <p:spPr>
              <a:xfrm>
                <a:off x="700867" y="1625057"/>
                <a:ext cx="1109856" cy="315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𝐼</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𝜙</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𝑐</m:t>
                          </m:r>
                        </m:sub>
                      </m:sSub>
                    </m:oMath>
                  </m:oMathPara>
                </a14:m>
                <a:endParaRPr lang="en-CA" dirty="0"/>
              </a:p>
            </p:txBody>
          </p:sp>
        </mc:Choice>
        <mc:Fallback xmlns="">
          <p:sp>
            <p:nvSpPr>
              <p:cNvPr id="8" name="TextBox 7">
                <a:extLst>
                  <a:ext uri="{FF2B5EF4-FFF2-40B4-BE49-F238E27FC236}">
                    <a16:creationId xmlns:a16="http://schemas.microsoft.com/office/drawing/2014/main" id="{6595EC9C-ABE2-A61D-E2FD-90B2066978F6}"/>
                  </a:ext>
                </a:extLst>
              </p:cNvPr>
              <p:cNvSpPr txBox="1">
                <a:spLocks noRot="1" noChangeAspect="1" noMove="1" noResize="1" noEditPoints="1" noAdjustHandles="1" noChangeArrowheads="1" noChangeShapeType="1" noTextEdit="1"/>
              </p:cNvSpPr>
              <p:nvPr/>
            </p:nvSpPr>
            <p:spPr>
              <a:xfrm>
                <a:off x="700867" y="1625057"/>
                <a:ext cx="1109856" cy="315536"/>
              </a:xfrm>
              <a:prstGeom prst="rect">
                <a:avLst/>
              </a:prstGeom>
              <a:blipFill>
                <a:blip r:embed="rId5"/>
                <a:stretch>
                  <a:fillRect l="-4545" t="-20000" b="-24000"/>
                </a:stretch>
              </a:blipFill>
            </p:spPr>
            <p:txBody>
              <a:bodyPr/>
              <a:lstStyle/>
              <a:p>
                <a:r>
                  <a:rPr lang="en-CA">
                    <a:noFill/>
                  </a:rPr>
                  <a:t> </a:t>
                </a:r>
              </a:p>
            </p:txBody>
          </p:sp>
        </mc:Fallback>
      </mc:AlternateContent>
      <p:sp>
        <p:nvSpPr>
          <p:cNvPr id="9" name="TextBox 8">
            <a:extLst>
              <a:ext uri="{FF2B5EF4-FFF2-40B4-BE49-F238E27FC236}">
                <a16:creationId xmlns:a16="http://schemas.microsoft.com/office/drawing/2014/main" id="{FD223F93-7DF6-B010-C6BA-4935E0D70E93}"/>
              </a:ext>
            </a:extLst>
          </p:cNvPr>
          <p:cNvSpPr txBox="1"/>
          <p:nvPr/>
        </p:nvSpPr>
        <p:spPr>
          <a:xfrm>
            <a:off x="180031" y="1114874"/>
            <a:ext cx="8633629" cy="369332"/>
          </a:xfrm>
          <a:prstGeom prst="rect">
            <a:avLst/>
          </a:prstGeom>
          <a:noFill/>
        </p:spPr>
        <p:txBody>
          <a:bodyPr wrap="square" rtlCol="0">
            <a:spAutoFit/>
          </a:bodyPr>
          <a:lstStyle/>
          <a:p>
            <a:r>
              <a:rPr lang="en-CA" dirty="0"/>
              <a:t>Magnus expansion of UDW interaction time-evolution has only two terms that factor like </a:t>
            </a:r>
          </a:p>
        </p:txBody>
      </p:sp>
      <p:sp>
        <p:nvSpPr>
          <p:cNvPr id="10" name="TextBox 9">
            <a:extLst>
              <a:ext uri="{FF2B5EF4-FFF2-40B4-BE49-F238E27FC236}">
                <a16:creationId xmlns:a16="http://schemas.microsoft.com/office/drawing/2014/main" id="{0F36AF31-22AE-1370-7A07-E8D78AC8550A}"/>
              </a:ext>
            </a:extLst>
          </p:cNvPr>
          <p:cNvSpPr txBox="1"/>
          <p:nvPr/>
        </p:nvSpPr>
        <p:spPr>
          <a:xfrm>
            <a:off x="180031" y="2089415"/>
            <a:ext cx="2151529" cy="369332"/>
          </a:xfrm>
          <a:prstGeom prst="rect">
            <a:avLst/>
          </a:prstGeom>
          <a:noFill/>
        </p:spPr>
        <p:txBody>
          <a:bodyPr wrap="square" rtlCol="0">
            <a:spAutoFit/>
          </a:bodyPr>
          <a:lstStyle/>
          <a:p>
            <a:r>
              <a:rPr lang="en-CA" dirty="0"/>
              <a:t>where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519D9A-E3AD-D823-4803-924DAB9065A3}"/>
                  </a:ext>
                </a:extLst>
              </p:cNvPr>
              <p:cNvSpPr txBox="1"/>
              <p:nvPr/>
            </p:nvSpPr>
            <p:spPr>
              <a:xfrm>
                <a:off x="1158931" y="2522925"/>
                <a:ext cx="2174570" cy="3672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𝜙</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𝜆</m:t>
                          </m:r>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𝜇</m:t>
                                      </m:r>
                                    </m:e>
                                  </m:acc>
                                </m:e>
                                <m:sub>
                                  <m:r>
                                    <a:rPr lang="en-US" b="0" i="1" smtClean="0">
                                      <a:latin typeface="Cambria Math" panose="02040503050406030204" pitchFamily="18" charset="0"/>
                                    </a:rPr>
                                    <m:t>𝑖</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𝜙</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Λ</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sup>
                      </m:sSup>
                    </m:oMath>
                  </m:oMathPara>
                </a14:m>
                <a:endParaRPr lang="en-CA" dirty="0"/>
              </a:p>
            </p:txBody>
          </p:sp>
        </mc:Choice>
        <mc:Fallback xmlns="">
          <p:sp>
            <p:nvSpPr>
              <p:cNvPr id="11" name="TextBox 10">
                <a:extLst>
                  <a:ext uri="{FF2B5EF4-FFF2-40B4-BE49-F238E27FC236}">
                    <a16:creationId xmlns:a16="http://schemas.microsoft.com/office/drawing/2014/main" id="{0A519D9A-E3AD-D823-4803-924DAB9065A3}"/>
                  </a:ext>
                </a:extLst>
              </p:cNvPr>
              <p:cNvSpPr txBox="1">
                <a:spLocks noRot="1" noChangeAspect="1" noMove="1" noResize="1" noEditPoints="1" noAdjustHandles="1" noChangeArrowheads="1" noChangeShapeType="1" noTextEdit="1"/>
              </p:cNvSpPr>
              <p:nvPr/>
            </p:nvSpPr>
            <p:spPr>
              <a:xfrm>
                <a:off x="1158931" y="2522925"/>
                <a:ext cx="2174570" cy="367216"/>
              </a:xfrm>
              <a:prstGeom prst="rect">
                <a:avLst/>
              </a:prstGeom>
              <a:blipFill>
                <a:blip r:embed="rId6"/>
                <a:stretch>
                  <a:fillRect l="-581" t="-80000" b="-10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B7D1D12-056E-4CC3-BAD0-6FC8C82B0C35}"/>
                  </a:ext>
                </a:extLst>
              </p:cNvPr>
              <p:cNvSpPr txBox="1"/>
              <p:nvPr/>
            </p:nvSpPr>
            <p:spPr>
              <a:xfrm>
                <a:off x="4312401" y="2401697"/>
                <a:ext cx="2190471" cy="4401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𝑐</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&lt;</m:t>
                              </m:r>
                              <m:r>
                                <a:rPr lang="en-US" b="0" i="1" smtClean="0">
                                  <a:latin typeface="Cambria Math" panose="02040503050406030204" pitchFamily="18" charset="0"/>
                                </a:rPr>
                                <m:t>𝑗</m:t>
                              </m:r>
                            </m:sub>
                            <m:sup>
                              <m:r>
                                <a:rPr lang="en-US" b="0" i="1" smtClean="0">
                                  <a:latin typeface="Cambria Math" panose="02040503050406030204" pitchFamily="18" charset="0"/>
                                </a:rPr>
                                <m:t>𝑁</m:t>
                              </m:r>
                            </m:sup>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e>
                                <m:sub>
                                  <m:r>
                                    <a:rPr lang="en-US" b="0" i="1" smtClean="0">
                                      <a:latin typeface="Cambria Math" panose="02040503050406030204" pitchFamily="18" charset="0"/>
                                    </a:rPr>
                                    <m:t>𝑖𝑗</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𝜇</m:t>
                                      </m:r>
                                    </m:e>
                                  </m:acc>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𝜇</m:t>
                                      </m:r>
                                    </m:e>
                                  </m:acc>
                                </m:e>
                                <m:sub>
                                  <m:r>
                                    <a:rPr lang="en-US" b="0" i="1" smtClean="0">
                                      <a:latin typeface="Cambria Math" panose="02040503050406030204" pitchFamily="18" charset="0"/>
                                    </a:rPr>
                                    <m:t>𝑗</m:t>
                                  </m:r>
                                </m:sub>
                              </m:sSub>
                            </m:e>
                          </m:nary>
                        </m:sup>
                      </m:sSup>
                    </m:oMath>
                  </m:oMathPara>
                </a14:m>
                <a:endParaRPr lang="en-CA" dirty="0"/>
              </a:p>
            </p:txBody>
          </p:sp>
        </mc:Choice>
        <mc:Fallback xmlns="">
          <p:sp>
            <p:nvSpPr>
              <p:cNvPr id="12" name="TextBox 11">
                <a:extLst>
                  <a:ext uri="{FF2B5EF4-FFF2-40B4-BE49-F238E27FC236}">
                    <a16:creationId xmlns:a16="http://schemas.microsoft.com/office/drawing/2014/main" id="{5B7D1D12-056E-4CC3-BAD0-6FC8C82B0C35}"/>
                  </a:ext>
                </a:extLst>
              </p:cNvPr>
              <p:cNvSpPr txBox="1">
                <a:spLocks noRot="1" noChangeAspect="1" noMove="1" noResize="1" noEditPoints="1" noAdjustHandles="1" noChangeArrowheads="1" noChangeShapeType="1" noTextEdit="1"/>
              </p:cNvSpPr>
              <p:nvPr/>
            </p:nvSpPr>
            <p:spPr>
              <a:xfrm>
                <a:off x="4312401" y="2401697"/>
                <a:ext cx="2190471" cy="440185"/>
              </a:xfrm>
              <a:prstGeom prst="rect">
                <a:avLst/>
              </a:prstGeom>
              <a:blipFill>
                <a:blip r:embed="rId7"/>
                <a:stretch>
                  <a:fillRect t="-54286" b="-91429"/>
                </a:stretch>
              </a:blipFill>
            </p:spPr>
            <p:txBody>
              <a:bodyPr/>
              <a:lstStyle/>
              <a:p>
                <a:r>
                  <a:rPr lang="en-CA">
                    <a:noFill/>
                  </a:rPr>
                  <a:t> </a:t>
                </a:r>
              </a:p>
            </p:txBody>
          </p:sp>
        </mc:Fallback>
      </mc:AlternateContent>
      <p:sp>
        <p:nvSpPr>
          <p:cNvPr id="13" name="TextBox 12">
            <a:extLst>
              <a:ext uri="{FF2B5EF4-FFF2-40B4-BE49-F238E27FC236}">
                <a16:creationId xmlns:a16="http://schemas.microsoft.com/office/drawing/2014/main" id="{FF0D1A96-E0FA-80D7-3154-BDFB9676E1BC}"/>
              </a:ext>
            </a:extLst>
          </p:cNvPr>
          <p:cNvSpPr txBox="1"/>
          <p:nvPr/>
        </p:nvSpPr>
        <p:spPr>
          <a:xfrm>
            <a:off x="3514793" y="2449544"/>
            <a:ext cx="780288" cy="369332"/>
          </a:xfrm>
          <a:prstGeom prst="rect">
            <a:avLst/>
          </a:prstGeom>
          <a:noFill/>
        </p:spPr>
        <p:txBody>
          <a:bodyPr wrap="square" rtlCol="0">
            <a:spAutoFit/>
          </a:bodyPr>
          <a:lstStyle/>
          <a:p>
            <a:r>
              <a:rPr lang="en-CA" dirty="0"/>
              <a:t>and</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9E34EA9-8567-19DA-B4B3-F40AA130244D}"/>
                  </a:ext>
                </a:extLst>
              </p:cNvPr>
              <p:cNvSpPr txBox="1"/>
              <p:nvPr/>
            </p:nvSpPr>
            <p:spPr>
              <a:xfrm>
                <a:off x="8156448" y="1786799"/>
                <a:ext cx="2633472" cy="923330"/>
              </a:xfrm>
              <a:prstGeom prst="rect">
                <a:avLst/>
              </a:prstGeom>
              <a:noFill/>
            </p:spPr>
            <p:txBody>
              <a:bodyPr wrap="square" rtlCol="0">
                <a:spAutoFit/>
              </a:bodyPr>
              <a:lstStyle/>
              <a:p>
                <a:r>
                  <a:rPr lang="en-US" b="0" dirty="0"/>
                  <a:t>Note: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a14:m>
                <a:r>
                  <a:rPr lang="en-CA" dirty="0"/>
                  <a:t> for each detector during interaction with field</a:t>
                </a:r>
              </a:p>
            </p:txBody>
          </p:sp>
        </mc:Choice>
        <mc:Fallback xmlns="">
          <p:sp>
            <p:nvSpPr>
              <p:cNvPr id="14" name="TextBox 13">
                <a:extLst>
                  <a:ext uri="{FF2B5EF4-FFF2-40B4-BE49-F238E27FC236}">
                    <a16:creationId xmlns:a16="http://schemas.microsoft.com/office/drawing/2014/main" id="{E9E34EA9-8567-19DA-B4B3-F40AA130244D}"/>
                  </a:ext>
                </a:extLst>
              </p:cNvPr>
              <p:cNvSpPr txBox="1">
                <a:spLocks noRot="1" noChangeAspect="1" noMove="1" noResize="1" noEditPoints="1" noAdjustHandles="1" noChangeArrowheads="1" noChangeShapeType="1" noTextEdit="1"/>
              </p:cNvSpPr>
              <p:nvPr/>
            </p:nvSpPr>
            <p:spPr>
              <a:xfrm>
                <a:off x="8156448" y="1786799"/>
                <a:ext cx="2633472" cy="923330"/>
              </a:xfrm>
              <a:prstGeom prst="rect">
                <a:avLst/>
              </a:prstGeom>
              <a:blipFill>
                <a:blip r:embed="rId8"/>
                <a:stretch>
                  <a:fillRect l="-1923" t="-2703" b="-9459"/>
                </a:stretch>
              </a:blipFill>
            </p:spPr>
            <p:txBody>
              <a:bodyPr/>
              <a:lstStyle/>
              <a:p>
                <a:r>
                  <a:rPr lang="en-CA">
                    <a:noFill/>
                  </a:rPr>
                  <a:t> </a:t>
                </a:r>
              </a:p>
            </p:txBody>
          </p:sp>
        </mc:Fallback>
      </mc:AlternateContent>
    </p:spTree>
    <p:custDataLst>
      <p:tags r:id="rId1"/>
    </p:custDataLst>
    <p:extLst>
      <p:ext uri="{BB962C8B-B14F-4D97-AF65-F5344CB8AC3E}">
        <p14:creationId xmlns:p14="http://schemas.microsoft.com/office/powerpoint/2010/main" val="3579423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Analytic Expressions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32</a:t>
            </a:fld>
            <a:endParaRPr lang="de-AT"/>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AE0E075-55DA-B6F9-4BF5-FEA3F1BDFC87}"/>
                  </a:ext>
                </a:extLst>
              </p:cNvPr>
              <p:cNvSpPr txBox="1"/>
              <p:nvPr/>
            </p:nvSpPr>
            <p:spPr>
              <a:xfrm>
                <a:off x="0" y="1199930"/>
                <a:ext cx="12028992" cy="20270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𝜎</m:t>
                              </m:r>
                            </m:e>
                          </m:acc>
                        </m:e>
                        <m:sub>
                          <m:r>
                            <a:rPr lang="en-US" b="0" i="1" smtClean="0">
                              <a:latin typeface="Cambria Math" panose="02040503050406030204" pitchFamily="18" charset="0"/>
                            </a:rPr>
                            <m:t>𝑓</m:t>
                          </m:r>
                        </m:sub>
                      </m:sSub>
                      <m:r>
                        <a:rPr lang="en-US" b="0" i="1" smtClean="0">
                          <a:latin typeface="Cambria Math" panose="02040503050406030204" pitchFamily="18" charset="0"/>
                        </a:rPr>
                        <m:t>=</m:t>
                      </m:r>
                      <m:r>
                        <a:rPr lang="en-US" b="0" i="1" smtClean="0">
                          <a:latin typeface="Cambria Math" panose="02040503050406030204" pitchFamily="18" charset="0"/>
                        </a:rPr>
                        <m:t>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𝜙</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𝑈</m:t>
                                  </m:r>
                                </m:e>
                              </m:acc>
                            </m:e>
                            <m:sub>
                              <m:r>
                                <a:rPr lang="en-US" i="1">
                                  <a:latin typeface="Cambria Math" panose="02040503050406030204" pitchFamily="18" charset="0"/>
                                </a:rPr>
                                <m:t>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CA"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𝜔</m:t>
                                  </m:r>
                                </m:sub>
                              </m:sSub>
                            </m:e>
                          </m:d>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𝑈</m:t>
                                  </m:r>
                                </m:e>
                              </m:acc>
                            </m:e>
                            <m:sub>
                              <m:r>
                                <a:rPr lang="en-US" i="1">
                                  <a:latin typeface="Cambria Math" panose="02040503050406030204" pitchFamily="18" charset="0"/>
                                </a:rPr>
                                <m:t>𝜙</m:t>
                              </m:r>
                            </m:sub>
                            <m:sup>
                              <m:r>
                                <a:rPr lang="en-US" i="1">
                                  <a:latin typeface="Cambria Math" panose="02040503050406030204" pitchFamily="18" charset="0"/>
                                  <a:ea typeface="Cambria Math" panose="02040503050406030204" pitchFamily="18" charset="0"/>
                                </a:rPr>
                                <m:t>†</m:t>
                              </m:r>
                            </m:sup>
                          </m:sSubSup>
                        </m:e>
                      </m:d>
                      <m:r>
                        <a:rPr lang="en-US" b="0" i="1" smtClean="0">
                          <a:latin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ub>
                        <m:sup/>
                        <m:e>
                          <m:r>
                            <a:rPr lang="en-US" i="1">
                              <a:latin typeface="Cambria Math" panose="02040503050406030204" pitchFamily="18" charset="0"/>
                              <a:ea typeface="Cambria Math" panose="02040503050406030204" pitchFamily="18" charset="0"/>
                            </a:rPr>
                            <m:t>⋯</m:t>
                          </m:r>
                        </m:e>
                      </m:nary>
                      <m:nary>
                        <m:naryPr>
                          <m:chr m:val="∑"/>
                          <m:supHide m:val="on"/>
                          <m:ctrlPr>
                            <a:rPr lang="en-US" i="1">
                              <a:latin typeface="Cambria Math" panose="02040503050406030204" pitchFamily="18" charset="0"/>
                              <a:ea typeface="Cambria Math" panose="02040503050406030204" pitchFamily="18" charset="0"/>
                            </a:rPr>
                          </m:ctrlPr>
                        </m:naryPr>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𝑁</m:t>
                              </m:r>
                            </m:sub>
                          </m:sSub>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𝑁</m:t>
                              </m:r>
                            </m:sub>
                            <m:sup>
                              <m:r>
                                <a:rPr lang="en-US" i="1">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ub>
                        <m:sup/>
                        <m:e>
                          <m:r>
                            <a:rPr lang="en-US" b="0" i="1" smtClean="0">
                              <a:latin typeface="Cambria Math" panose="02040503050406030204" pitchFamily="18" charset="0"/>
                              <a:ea typeface="Cambria Math" panose="02040503050406030204" pitchFamily="18" charset="0"/>
                            </a:rPr>
                            <m:t>𝜔</m:t>
                          </m:r>
                          <m:d>
                            <m:dPr>
                              <m:ctrlPr>
                                <a:rPr lang="en-US" b="0" i="1" smtClean="0">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𝜆</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𝜙</m:t>
                                      </m:r>
                                    </m:e>
                                  </m:acc>
                                  <m:d>
                                    <m:dPr>
                                      <m:ctrlPr>
                                        <a:rPr lang="en-US" i="1">
                                          <a:latin typeface="Cambria Math" panose="02040503050406030204" pitchFamily="18" charset="0"/>
                                        </a:rPr>
                                      </m:ctrlPr>
                                    </m:dPr>
                                    <m:e>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𝑁</m:t>
                                          </m:r>
                                        </m:sup>
                                        <m:e>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𝜇</m:t>
                                                  </m:r>
                                                </m:e>
                                              </m:acc>
                                            </m:e>
                                            <m:sub>
                                              <m:r>
                                                <a:rPr lang="en-US" i="1">
                                                  <a:latin typeface="Cambria Math" panose="02040503050406030204" pitchFamily="18" charset="0"/>
                                                </a:rPr>
                                                <m:t>𝑖</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𝑖</m:t>
                                              </m:r>
                                            </m:sub>
                                          </m:sSub>
                                        </m:e>
                                      </m:nary>
                                    </m:e>
                                  </m:d>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𝜆</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𝜙</m:t>
                                      </m:r>
                                    </m:e>
                                  </m:acc>
                                  <m:d>
                                    <m:dPr>
                                      <m:ctrlPr>
                                        <a:rPr lang="en-US" i="1">
                                          <a:latin typeface="Cambria Math" panose="02040503050406030204" pitchFamily="18" charset="0"/>
                                        </a:rPr>
                                      </m:ctrlPr>
                                    </m:dPr>
                                    <m:e>
                                      <m:nary>
                                        <m:naryPr>
                                          <m:chr m:val="∑"/>
                                          <m:limLoc m:val="subSup"/>
                                          <m:ctrlPr>
                                            <a:rPr lang="en-US" i="1">
                                              <a:latin typeface="Cambria Math" panose="02040503050406030204" pitchFamily="18" charset="0"/>
                                              <a:ea typeface="Cambria Math" panose="02040503050406030204" pitchFamily="18" charset="0"/>
                                            </a:rPr>
                                          </m:ctrlPr>
                                        </m:naryPr>
                                        <m:sub>
                                          <m:r>
                                            <m:rPr>
                                              <m:brk m:alnAt="1"/>
                                            </m:rP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𝑁</m:t>
                                          </m:r>
                                        </m:sup>
                                        <m:e>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𝜇</m:t>
                                                  </m:r>
                                                </m:e>
                                              </m:acc>
                                            </m:e>
                                            <m:sub>
                                              <m:r>
                                                <a:rPr lang="en-US" i="1">
                                                  <a:latin typeface="Cambria Math" panose="02040503050406030204" pitchFamily="18" charset="0"/>
                                                  <a:ea typeface="Cambria Math" panose="02040503050406030204" pitchFamily="18" charset="0"/>
                                                </a:rPr>
                                                <m:t>𝑗</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𝑗</m:t>
                                              </m:r>
                                            </m:sub>
                                          </m:sSub>
                                        </m:e>
                                      </m:nary>
                                    </m:e>
                                  </m:d>
                                </m:sup>
                              </m:sSup>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𝑁</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0</m:t>
                                      </m:r>
                                    </m:sub>
                                  </m:sSub>
                                </m:e>
                              </m:d>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1</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𝑁</m:t>
                                  </m:r>
                                </m:sub>
                                <m:sup>
                                  <m:r>
                                    <a:rPr lang="en-US" i="1">
                                      <a:latin typeface="Cambria Math" panose="02040503050406030204" pitchFamily="18" charset="0"/>
                                    </a:rPr>
                                    <m:t>′</m:t>
                                  </m:r>
                                </m:sup>
                              </m:sSub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𝑁</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1</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𝑁</m:t>
                              </m:r>
                            </m:sub>
                            <m:sup>
                              <m:r>
                                <a:rPr lang="en-US" i="1">
                                  <a:latin typeface="Cambria Math" panose="02040503050406030204" pitchFamily="18" charset="0"/>
                                </a:rPr>
                                <m:t>′</m:t>
                              </m:r>
                            </m:sup>
                          </m:sSubSup>
                          <m:r>
                            <a:rPr lang="en-US" i="1">
                              <a:latin typeface="Cambria Math" panose="02040503050406030204" pitchFamily="18" charset="0"/>
                            </a:rPr>
                            <m:t>|</m:t>
                          </m:r>
                        </m:e>
                      </m:nary>
                      <m:r>
                        <a:rPr lang="en-US" b="0" i="1" smtClean="0">
                          <a:latin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m:t>
                              </m:r>
                            </m:sup>
                          </m:sSubSup>
                          <m:r>
                            <a:rPr lang="en-US" i="1">
                              <a:latin typeface="Cambria Math" panose="02040503050406030204" pitchFamily="18" charset="0"/>
                              <a:ea typeface="Cambria Math" panose="02040503050406030204" pitchFamily="18" charset="0"/>
                            </a:rPr>
                            <m:t>=±</m:t>
                          </m:r>
                        </m:sub>
                        <m:sup/>
                        <m:e>
                          <m:r>
                            <a:rPr lang="en-US" i="1">
                              <a:latin typeface="Cambria Math" panose="02040503050406030204" pitchFamily="18" charset="0"/>
                              <a:ea typeface="Cambria Math" panose="02040503050406030204" pitchFamily="18" charset="0"/>
                            </a:rPr>
                            <m:t>⋯</m:t>
                          </m:r>
                        </m:e>
                      </m:nary>
                      <m:nary>
                        <m:naryPr>
                          <m:chr m:val="∑"/>
                          <m:supHide m:val="on"/>
                          <m:ctrlPr>
                            <a:rPr lang="en-US" i="1">
                              <a:latin typeface="Cambria Math" panose="02040503050406030204" pitchFamily="18" charset="0"/>
                              <a:ea typeface="Cambria Math" panose="02040503050406030204" pitchFamily="18" charset="0"/>
                            </a:rPr>
                          </m:ctrlPr>
                        </m:naryPr>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𝑁</m:t>
                              </m:r>
                            </m:sub>
                          </m:sSub>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𝑁</m:t>
                              </m:r>
                            </m:sub>
                            <m:sup>
                              <m:r>
                                <a:rPr lang="en-US" i="1">
                                  <a:latin typeface="Cambria Math" panose="02040503050406030204" pitchFamily="18" charset="0"/>
                                  <a:ea typeface="Cambria Math" panose="02040503050406030204" pitchFamily="18" charset="0"/>
                                </a:rPr>
                                <m:t>′</m:t>
                              </m:r>
                            </m:sup>
                          </m:sSubSup>
                          <m:r>
                            <a:rPr lang="en-US" i="1">
                              <a:latin typeface="Cambria Math" panose="02040503050406030204" pitchFamily="18" charset="0"/>
                              <a:ea typeface="Cambria Math" panose="02040503050406030204" pitchFamily="18" charset="0"/>
                            </a:rPr>
                            <m:t>=±</m:t>
                          </m:r>
                        </m:sub>
                        <m:sup/>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𝑖</m:t>
                              </m:r>
                              <m:f>
                                <m:fPr>
                                  <m:ctrlPr>
                                    <a:rPr lang="en-US"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𝜆</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𝐸</m:t>
                              </m:r>
                              <m:d>
                                <m:dPr>
                                  <m:ctrlPr>
                                    <a:rPr lang="en-US" b="0" i="1" smtClean="0">
                                      <a:latin typeface="Cambria Math" panose="02040503050406030204" pitchFamily="18" charset="0"/>
                                      <a:ea typeface="Cambria Math" panose="02040503050406030204" pitchFamily="18" charset="0"/>
                                    </a:rPr>
                                  </m:ctrlPr>
                                </m:dPr>
                                <m:e>
                                  <m:nary>
                                    <m:naryPr>
                                      <m:chr m:val="∑"/>
                                      <m:limLoc m:val="subSup"/>
                                      <m:ctrlPr>
                                        <a:rPr lang="en-US" i="1">
                                          <a:latin typeface="Cambria Math" panose="02040503050406030204" pitchFamily="18" charset="0"/>
                                          <a:ea typeface="Cambria Math" panose="02040503050406030204" pitchFamily="18" charset="0"/>
                                        </a:rPr>
                                      </m:ctrlPr>
                                    </m:naryPr>
                                    <m:sub>
                                      <m:r>
                                        <m:rPr>
                                          <m:brk m:alnAt="1"/>
                                        </m:rPr>
                                        <a:rPr lang="en-US" b="0" i="1" smtClean="0">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𝑁</m:t>
                                      </m:r>
                                    </m:sup>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𝑗</m:t>
                                          </m:r>
                                        </m:sub>
                                        <m:sup>
                                          <m:r>
                                            <a:rPr lang="en-US" b="0" i="1" smtClean="0">
                                              <a:latin typeface="Cambria Math" panose="02040503050406030204" pitchFamily="18" charset="0"/>
                                              <a:ea typeface="Cambria Math" panose="02040503050406030204" pitchFamily="18" charset="0"/>
                                            </a:rPr>
                                            <m:t>′</m:t>
                                          </m:r>
                                        </m:sup>
                                      </m:sSubSup>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 </m:t>
                                  </m:r>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𝑁</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𝑖</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𝑖</m:t>
                                          </m:r>
                                        </m:sub>
                                      </m:sSub>
                                    </m:e>
                                  </m:nary>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𝜆</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nary>
                                        <m:naryPr>
                                          <m:chr m:val="∑"/>
                                          <m:limLoc m:val="subSup"/>
                                          <m:ctrlPr>
                                            <a:rPr lang="en-US" i="1">
                                              <a:latin typeface="Cambria Math" panose="02040503050406030204" pitchFamily="18" charset="0"/>
                                              <a:ea typeface="Cambria Math" panose="02040503050406030204" pitchFamily="18" charset="0"/>
                                            </a:rPr>
                                          </m:ctrlPr>
                                        </m:naryPr>
                                        <m:sub>
                                          <m:r>
                                            <m:rPr>
                                              <m:brk m:alnAt="25"/>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𝑁</m:t>
                                          </m:r>
                                        </m:sup>
                                        <m:e>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𝑖</m:t>
                                              </m:r>
                                            </m:sub>
                                          </m:sSub>
                                        </m:e>
                                      </m:nary>
                                    </m:e>
                                  </m:d>
                                </m:e>
                                <m:sup>
                                  <m:r>
                                    <a:rPr lang="en-US" b="0" i="1" smtClean="0">
                                      <a:latin typeface="Cambria Math" panose="02040503050406030204" pitchFamily="18" charset="0"/>
                                      <a:ea typeface="Cambria Math" panose="02040503050406030204" pitchFamily="18" charset="0"/>
                                    </a:rPr>
                                    <m:t>2</m:t>
                                  </m:r>
                                </m:sup>
                              </m:sSup>
                            </m:sup>
                          </m:sSup>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𝑁</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𝜌</m:t>
                                          </m:r>
                                        </m:e>
                                      </m:acc>
                                    </m:e>
                                    <m:sub>
                                      <m:r>
                                        <a:rPr lang="en-US" i="1">
                                          <a:latin typeface="Cambria Math" panose="02040503050406030204" pitchFamily="18" charset="0"/>
                                        </a:rPr>
                                        <m:t>0</m:t>
                                      </m:r>
                                    </m:sub>
                                  </m:sSub>
                                </m:e>
                              </m:d>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1</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𝑁</m:t>
                                  </m:r>
                                </m:sub>
                                <m:sup>
                                  <m:r>
                                    <a:rPr lang="en-US" i="1">
                                      <a:latin typeface="Cambria Math" panose="02040503050406030204" pitchFamily="18" charset="0"/>
                                    </a:rPr>
                                    <m:t>′</m:t>
                                  </m:r>
                                </m:sup>
                              </m:sSubSup>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𝑁</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1</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𝜇</m:t>
                              </m:r>
                            </m:e>
                            <m:sub>
                              <m:r>
                                <a:rPr lang="en-US" i="1">
                                  <a:latin typeface="Cambria Math" panose="02040503050406030204" pitchFamily="18" charset="0"/>
                                </a:rPr>
                                <m:t>𝑁</m:t>
                              </m:r>
                            </m:sub>
                            <m:sup>
                              <m:r>
                                <a:rPr lang="en-US" i="1">
                                  <a:latin typeface="Cambria Math" panose="02040503050406030204" pitchFamily="18" charset="0"/>
                                </a:rPr>
                                <m:t>′</m:t>
                              </m:r>
                            </m:sup>
                          </m:sSubSup>
                          <m:r>
                            <a:rPr lang="en-US" i="1">
                              <a:latin typeface="Cambria Math" panose="02040503050406030204" pitchFamily="18" charset="0"/>
                            </a:rPr>
                            <m:t>|</m:t>
                          </m:r>
                        </m:e>
                      </m:nary>
                    </m:oMath>
                  </m:oMathPara>
                </a14:m>
                <a:endParaRPr lang="en-CA" dirty="0"/>
              </a:p>
            </p:txBody>
          </p:sp>
        </mc:Choice>
        <mc:Fallback xmlns="">
          <p:sp>
            <p:nvSpPr>
              <p:cNvPr id="6" name="TextBox 5">
                <a:extLst>
                  <a:ext uri="{FF2B5EF4-FFF2-40B4-BE49-F238E27FC236}">
                    <a16:creationId xmlns:a16="http://schemas.microsoft.com/office/drawing/2014/main" id="{0AE0E075-55DA-B6F9-4BF5-FEA3F1BDFC87}"/>
                  </a:ext>
                </a:extLst>
              </p:cNvPr>
              <p:cNvSpPr txBox="1">
                <a:spLocks noRot="1" noChangeAspect="1" noMove="1" noResize="1" noEditPoints="1" noAdjustHandles="1" noChangeArrowheads="1" noChangeShapeType="1" noTextEdit="1"/>
              </p:cNvSpPr>
              <p:nvPr/>
            </p:nvSpPr>
            <p:spPr>
              <a:xfrm>
                <a:off x="0" y="1199930"/>
                <a:ext cx="12028992" cy="2027093"/>
              </a:xfrm>
              <a:prstGeom prst="rect">
                <a:avLst/>
              </a:prstGeom>
              <a:blipFill>
                <a:blip r:embed="rId4"/>
                <a:stretch>
                  <a:fillRect t="-26250" b="-6062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58A034-A9AE-0EBF-7595-F78D4908A1F0}"/>
                  </a:ext>
                </a:extLst>
              </p:cNvPr>
              <p:cNvSpPr txBox="1"/>
              <p:nvPr/>
            </p:nvSpPr>
            <p:spPr>
              <a:xfrm>
                <a:off x="182880" y="4855344"/>
                <a:ext cx="11801856" cy="945643"/>
              </a:xfrm>
              <a:prstGeom prst="rect">
                <a:avLst/>
              </a:prstGeom>
              <a:noFill/>
            </p:spPr>
            <p:txBody>
              <a:bodyPr wrap="square">
                <a:spAutoFit/>
              </a:bodyPr>
              <a:lstStyle/>
              <a:p>
                <a:r>
                  <a:rPr lang="en-CA" dirty="0"/>
                  <a:t>The final channel is then a combination of multiple commuting entangling </a:t>
                </a:r>
                <a:r>
                  <a:rPr lang="en-CA" dirty="0" err="1"/>
                  <a:t>unitaries</a:t>
                </a:r>
                <a:r>
                  <a:rPr lang="en-CA" dirty="0"/>
                  <a:t> between each qubit and an added quantum channel obtained when one traces over the field. Under the assumption that </a:t>
                </a:r>
                <a14:m>
                  <m:oMath xmlns:m="http://schemas.openxmlformats.org/officeDocument/2006/math">
                    <m:r>
                      <a:rPr lang="en-CA" i="1" dirty="0" smtClean="0">
                        <a:latin typeface="Cambria Math" panose="02040503050406030204" pitchFamily="18" charset="0"/>
                      </a:rPr>
                      <m:t>𝐸</m:t>
                    </m:r>
                    <m:r>
                      <a:rPr lang="en-CA" i="1" dirty="0">
                        <a:latin typeface="Cambria Math" panose="02040503050406030204" pitchFamily="18" charset="0"/>
                      </a:rPr>
                      <m:t>(</m:t>
                    </m:r>
                    <m:sSub>
                      <m:sSubPr>
                        <m:ctrlPr>
                          <a:rPr lang="en-CA" i="1" dirty="0" err="1">
                            <a:latin typeface="Cambria Math" panose="02040503050406030204" pitchFamily="18" charset="0"/>
                          </a:rPr>
                        </m:ctrlPr>
                      </m:sSubPr>
                      <m:e>
                        <m:r>
                          <m:rPr>
                            <m:sty m:val="p"/>
                          </m:rPr>
                          <a:rPr lang="en-CA" i="0" dirty="0" smtClean="0">
                            <a:latin typeface="Cambria Math" panose="02040503050406030204" pitchFamily="18" charset="0"/>
                          </a:rPr>
                          <m:t>Λ</m:t>
                        </m:r>
                      </m:e>
                      <m:sub>
                        <m:r>
                          <a:rPr lang="en-CA" i="1" dirty="0" err="1">
                            <a:latin typeface="Cambria Math" panose="02040503050406030204" pitchFamily="18" charset="0"/>
                          </a:rPr>
                          <m:t>𝑖</m:t>
                        </m:r>
                      </m:sub>
                    </m:sSub>
                    <m:r>
                      <a:rPr lang="en-CA" i="1" dirty="0">
                        <a:latin typeface="Cambria Math" panose="02040503050406030204" pitchFamily="18" charset="0"/>
                      </a:rPr>
                      <m:t>,</m:t>
                    </m:r>
                    <m:sSub>
                      <m:sSubPr>
                        <m:ctrlPr>
                          <a:rPr lang="en-CA" i="1" dirty="0" err="1">
                            <a:latin typeface="Cambria Math" panose="02040503050406030204" pitchFamily="18" charset="0"/>
                          </a:rPr>
                        </m:ctrlPr>
                      </m:sSubPr>
                      <m:e>
                        <m:r>
                          <m:rPr>
                            <m:sty m:val="p"/>
                          </m:rPr>
                          <a:rPr lang="en-CA" i="0" dirty="0" smtClean="0">
                            <a:latin typeface="Cambria Math" panose="02040503050406030204" pitchFamily="18" charset="0"/>
                          </a:rPr>
                          <m:t>Λ</m:t>
                        </m:r>
                      </m:e>
                      <m:sub>
                        <m:r>
                          <a:rPr lang="en-CA" i="1" dirty="0" err="1">
                            <a:latin typeface="Cambria Math" panose="02040503050406030204" pitchFamily="18" charset="0"/>
                          </a:rPr>
                          <m:t>𝑗</m:t>
                        </m:r>
                      </m:sub>
                    </m:sSub>
                    <m:r>
                      <a:rPr lang="en-CA" i="1" dirty="0">
                        <a:latin typeface="Cambria Math" panose="02040503050406030204" pitchFamily="18" charset="0"/>
                      </a:rPr>
                      <m:t>) = </m:t>
                    </m:r>
                    <m:r>
                      <a:rPr lang="en-CA" i="1" dirty="0" smtClean="0">
                        <a:latin typeface="Cambria Math" panose="02040503050406030204" pitchFamily="18" charset="0"/>
                      </a:rPr>
                      <m:t>0 </m:t>
                    </m:r>
                  </m:oMath>
                </a14:m>
                <a:r>
                  <a:rPr lang="en-CA" dirty="0"/>
                  <a:t>(which occurs for symmetric interactions that are only shifted in space), the interaction with the quantum field is merely a decohering channel. </a:t>
                </a:r>
              </a:p>
            </p:txBody>
          </p:sp>
        </mc:Choice>
        <mc:Fallback xmlns="">
          <p:sp>
            <p:nvSpPr>
              <p:cNvPr id="5" name="TextBox 4">
                <a:extLst>
                  <a:ext uri="{FF2B5EF4-FFF2-40B4-BE49-F238E27FC236}">
                    <a16:creationId xmlns:a16="http://schemas.microsoft.com/office/drawing/2014/main" id="{2958A034-A9AE-0EBF-7595-F78D4908A1F0}"/>
                  </a:ext>
                </a:extLst>
              </p:cNvPr>
              <p:cNvSpPr txBox="1">
                <a:spLocks noRot="1" noChangeAspect="1" noMove="1" noResize="1" noEditPoints="1" noAdjustHandles="1" noChangeArrowheads="1" noChangeShapeType="1" noTextEdit="1"/>
              </p:cNvSpPr>
              <p:nvPr/>
            </p:nvSpPr>
            <p:spPr>
              <a:xfrm>
                <a:off x="182880" y="4855344"/>
                <a:ext cx="11801856" cy="945643"/>
              </a:xfrm>
              <a:prstGeom prst="rect">
                <a:avLst/>
              </a:prstGeom>
              <a:blipFill>
                <a:blip r:embed="rId5"/>
                <a:stretch>
                  <a:fillRect l="-430" t="-2667" r="-645" b="-10667"/>
                </a:stretch>
              </a:blipFill>
            </p:spPr>
            <p:txBody>
              <a:bodyPr/>
              <a:lstStyle/>
              <a:p>
                <a:r>
                  <a:rPr lang="en-CA">
                    <a:noFill/>
                  </a:rPr>
                  <a:t> </a:t>
                </a:r>
              </a:p>
            </p:txBody>
          </p:sp>
        </mc:Fallback>
      </mc:AlternateContent>
      <p:sp>
        <p:nvSpPr>
          <p:cNvPr id="14" name="TextBox 13">
            <a:extLst>
              <a:ext uri="{FF2B5EF4-FFF2-40B4-BE49-F238E27FC236}">
                <a16:creationId xmlns:a16="http://schemas.microsoft.com/office/drawing/2014/main" id="{4C0EC55B-6FB6-4AF4-99D7-F5CFA6E7B4C2}"/>
              </a:ext>
            </a:extLst>
          </p:cNvPr>
          <p:cNvSpPr txBox="1"/>
          <p:nvPr/>
        </p:nvSpPr>
        <p:spPr>
          <a:xfrm>
            <a:off x="182880" y="3437550"/>
            <a:ext cx="1828800" cy="369332"/>
          </a:xfrm>
          <a:prstGeom prst="rect">
            <a:avLst/>
          </a:prstGeom>
          <a:noFill/>
        </p:spPr>
        <p:txBody>
          <a:bodyPr wrap="square" rtlCol="0">
            <a:spAutoFit/>
          </a:bodyPr>
          <a:lstStyle/>
          <a:p>
            <a:r>
              <a:rPr lang="en-CA" dirty="0"/>
              <a:t>where we used</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C1765F2-E92B-65A7-D8F0-96FB1B368050}"/>
                  </a:ext>
                </a:extLst>
              </p:cNvPr>
              <p:cNvSpPr txBox="1"/>
              <p:nvPr/>
            </p:nvSpPr>
            <p:spPr>
              <a:xfrm>
                <a:off x="2578608" y="3294049"/>
                <a:ext cx="4438458" cy="4624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𝜔</m:t>
                      </m:r>
                      <m:d>
                        <m:dPr>
                          <m:ctrlPr>
                            <a:rPr lang="en-US" b="0" i="1" smtClean="0">
                              <a:latin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𝜆</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𝜙</m:t>
                                  </m:r>
                                </m:e>
                              </m:acc>
                              <m:d>
                                <m:dPr>
                                  <m:ctrlPr>
                                    <a:rPr lang="en-US" i="1">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e>
                              </m:d>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𝜆</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𝜙</m:t>
                                  </m:r>
                                </m:e>
                              </m:acc>
                              <m:d>
                                <m:dPr>
                                  <m:ctrlPr>
                                    <a:rPr lang="en-US" i="1">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𝑔</m:t>
                                  </m:r>
                                </m:e>
                              </m:d>
                            </m:sup>
                          </m:sSup>
                        </m:e>
                      </m:d>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𝑖</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𝜆</m:t>
                                  </m:r>
                                </m:e>
                                <m:sup>
                                  <m:r>
                                    <a:rPr lang="en-US" i="1">
                                      <a:latin typeface="Cambria Math" panose="02040503050406030204" pitchFamily="18" charset="0"/>
                                      <a:ea typeface="Cambria Math" panose="02040503050406030204" pitchFamily="18" charset="0"/>
                                    </a:rPr>
                                    <m:t>2</m:t>
                                  </m:r>
                                </m:sup>
                              </m:sSup>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𝐸</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r>
                                <a:rPr lang="en-US" i="1">
                                  <a:latin typeface="Cambria Math" panose="02040503050406030204" pitchFamily="18" charset="0"/>
                                </a:rPr>
                                <m:t>, </m:t>
                              </m:r>
                              <m:r>
                                <a:rPr lang="en-US" b="0" i="1" smtClean="0">
                                  <a:latin typeface="Cambria Math" panose="02040503050406030204" pitchFamily="18" charset="0"/>
                                </a:rPr>
                                <m:t>𝑔</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𝜆</m:t>
                                  </m:r>
                                </m:e>
                                <m:sup>
                                  <m:r>
                                    <a:rPr lang="en-US" i="1">
                                      <a:latin typeface="Cambria Math" panose="02040503050406030204" pitchFamily="18" charset="0"/>
                                      <a:ea typeface="Cambria Math" panose="02040503050406030204" pitchFamily="18" charset="0"/>
                                    </a:rPr>
                                    <m:t>2</m:t>
                                  </m:r>
                                </m:sup>
                              </m:sSup>
                            </m:num>
                            <m:den>
                              <m:r>
                                <a:rPr lang="en-US" i="1">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𝑊</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sup>
                      </m:sSup>
                    </m:oMath>
                  </m:oMathPara>
                </a14:m>
                <a:endParaRPr lang="en-CA" dirty="0"/>
              </a:p>
            </p:txBody>
          </p:sp>
        </mc:Choice>
        <mc:Fallback xmlns="">
          <p:sp>
            <p:nvSpPr>
              <p:cNvPr id="15" name="TextBox 14">
                <a:extLst>
                  <a:ext uri="{FF2B5EF4-FFF2-40B4-BE49-F238E27FC236}">
                    <a16:creationId xmlns:a16="http://schemas.microsoft.com/office/drawing/2014/main" id="{0C1765F2-E92B-65A7-D8F0-96FB1B368050}"/>
                  </a:ext>
                </a:extLst>
              </p:cNvPr>
              <p:cNvSpPr txBox="1">
                <a:spLocks noRot="1" noChangeAspect="1" noMove="1" noResize="1" noEditPoints="1" noAdjustHandles="1" noChangeArrowheads="1" noChangeShapeType="1" noTextEdit="1"/>
              </p:cNvSpPr>
              <p:nvPr/>
            </p:nvSpPr>
            <p:spPr>
              <a:xfrm>
                <a:off x="2578608" y="3294049"/>
                <a:ext cx="4438458" cy="462434"/>
              </a:xfrm>
              <a:prstGeom prst="rect">
                <a:avLst/>
              </a:prstGeom>
              <a:blipFill>
                <a:blip r:embed="rId6"/>
                <a:stretch>
                  <a:fillRect l="-286" r="-571"/>
                </a:stretch>
              </a:blipFill>
            </p:spPr>
            <p:txBody>
              <a:bodyPr/>
              <a:lstStyle/>
              <a:p>
                <a:r>
                  <a:rPr lang="en-CA">
                    <a:noFill/>
                  </a:rPr>
                  <a:t> </a:t>
                </a:r>
              </a:p>
            </p:txBody>
          </p:sp>
        </mc:Fallback>
      </mc:AlternateContent>
      <p:sp>
        <p:nvSpPr>
          <p:cNvPr id="16" name="TextBox 15">
            <a:extLst>
              <a:ext uri="{FF2B5EF4-FFF2-40B4-BE49-F238E27FC236}">
                <a16:creationId xmlns:a16="http://schemas.microsoft.com/office/drawing/2014/main" id="{C107E515-A8AE-2EA3-3022-C33EA77C54A8}"/>
              </a:ext>
            </a:extLst>
          </p:cNvPr>
          <p:cNvSpPr txBox="1"/>
          <p:nvPr/>
        </p:nvSpPr>
        <p:spPr>
          <a:xfrm>
            <a:off x="7583994" y="3388958"/>
            <a:ext cx="653032" cy="369332"/>
          </a:xfrm>
          <a:prstGeom prst="rect">
            <a:avLst/>
          </a:prstGeom>
          <a:noFill/>
        </p:spPr>
        <p:txBody>
          <a:bodyPr wrap="square" rtlCol="0">
            <a:spAutoFit/>
          </a:bodyPr>
          <a:lstStyle/>
          <a:p>
            <a:r>
              <a:rPr lang="en-CA" dirty="0"/>
              <a:t>with</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E3ABD08-04F9-7AE6-BFE4-5B7D5164FE1E}"/>
                  </a:ext>
                </a:extLst>
              </p:cNvPr>
              <p:cNvSpPr txBox="1"/>
              <p:nvPr/>
            </p:nvSpPr>
            <p:spPr>
              <a:xfrm>
                <a:off x="8297416" y="3420155"/>
                <a:ext cx="16134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CA" i="1" smtClean="0">
                                  <a:latin typeface="Cambria Math" panose="02040503050406030204" pitchFamily="18" charset="0"/>
                                </a:rPr>
                              </m:ctrlPr>
                            </m:dPr>
                            <m:e>
                              <m:r>
                                <a:rPr lang="en-US" b="0" i="1" smtClean="0">
                                  <a:latin typeface="Cambria Math" panose="02040503050406030204" pitchFamily="18" charset="0"/>
                                </a:rPr>
                                <m:t>𝑓</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𝑊</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𝑓</m:t>
                          </m:r>
                        </m:e>
                      </m:d>
                    </m:oMath>
                  </m:oMathPara>
                </a14:m>
                <a:endParaRPr lang="en-CA" dirty="0"/>
              </a:p>
            </p:txBody>
          </p:sp>
        </mc:Choice>
        <mc:Fallback xmlns="">
          <p:sp>
            <p:nvSpPr>
              <p:cNvPr id="17" name="TextBox 16">
                <a:extLst>
                  <a:ext uri="{FF2B5EF4-FFF2-40B4-BE49-F238E27FC236}">
                    <a16:creationId xmlns:a16="http://schemas.microsoft.com/office/drawing/2014/main" id="{9E3ABD08-04F9-7AE6-BFE4-5B7D5164FE1E}"/>
                  </a:ext>
                </a:extLst>
              </p:cNvPr>
              <p:cNvSpPr txBox="1">
                <a:spLocks noRot="1" noChangeAspect="1" noMove="1" noResize="1" noEditPoints="1" noAdjustHandles="1" noChangeArrowheads="1" noChangeShapeType="1" noTextEdit="1"/>
              </p:cNvSpPr>
              <p:nvPr/>
            </p:nvSpPr>
            <p:spPr>
              <a:xfrm>
                <a:off x="8297416" y="3420155"/>
                <a:ext cx="1613455" cy="276999"/>
              </a:xfrm>
              <a:prstGeom prst="rect">
                <a:avLst/>
              </a:prstGeom>
              <a:blipFill>
                <a:blip r:embed="rId7"/>
                <a:stretch>
                  <a:fillRect t="-4545" b="-4090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FB5D9AA-EF06-2CEE-A275-E1A0806F3207}"/>
                  </a:ext>
                </a:extLst>
              </p:cNvPr>
              <p:cNvSpPr txBox="1"/>
              <p:nvPr/>
            </p:nvSpPr>
            <p:spPr>
              <a:xfrm>
                <a:off x="3141477" y="4108879"/>
                <a:ext cx="5734198" cy="4687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𝜌</m:t>
                              </m:r>
                            </m:e>
                          </m:acc>
                        </m:e>
                        <m:sub>
                          <m:r>
                            <a:rPr lang="en-US" b="0" i="1" smtClean="0">
                              <a:latin typeface="Cambria Math" panose="02040503050406030204" pitchFamily="18" charset="0"/>
                            </a:rPr>
                            <m:t>𝑓</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ℇ</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𝜌</m:t>
                                  </m:r>
                                </m:e>
                              </m:acc>
                            </m:e>
                            <m:sub>
                              <m:r>
                                <a:rPr lang="en-US" b="0" i="1" smtClean="0">
                                  <a:latin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𝑈</m:t>
                              </m:r>
                            </m:e>
                          </m:acc>
                        </m:e>
                        <m:sub>
                          <m:r>
                            <a:rPr lang="en-US" i="1">
                              <a:latin typeface="Cambria Math" panose="02040503050406030204" pitchFamily="18" charset="0"/>
                            </a:rPr>
                            <m:t>𝑐</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𝜎</m:t>
                              </m:r>
                            </m:e>
                          </m:acc>
                        </m:e>
                        <m:sub>
                          <m:r>
                            <a:rPr lang="en-US" b="0" i="1" smtClean="0">
                              <a:latin typeface="Cambria Math" panose="02040503050406030204" pitchFamily="18" charset="0"/>
                            </a:rPr>
                            <m:t>𝑓</m:t>
                          </m:r>
                        </m:sub>
                      </m:sSub>
                      <m:sSubSup>
                        <m:sSubSupPr>
                          <m:ctrlPr>
                            <a:rPr lang="en-US" i="1">
                              <a:latin typeface="Cambria Math" panose="02040503050406030204" pitchFamily="18" charset="0"/>
                              <a:ea typeface="Cambria Math" panose="02040503050406030204" pitchFamily="18" charset="0"/>
                            </a:rPr>
                          </m:ctrlPr>
                        </m:sSubSup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𝑈</m:t>
                              </m:r>
                            </m:e>
                          </m:acc>
                        </m:e>
                        <m:sub>
                          <m:r>
                            <a:rPr lang="en-US" i="1">
                              <a:latin typeface="Cambria Math" panose="02040503050406030204" pitchFamily="18" charset="0"/>
                            </a:rPr>
                            <m:t>𝑐</m:t>
                          </m:r>
                        </m:sub>
                        <m:sup>
                          <m:r>
                            <a:rPr lang="en-US" i="1">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𝑖</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num>
                            <m:den>
                              <m:r>
                                <a:rPr lang="en-US" i="1">
                                  <a:latin typeface="Cambria Math" panose="02040503050406030204" pitchFamily="18" charset="0"/>
                                </a:rPr>
                                <m:t>2</m:t>
                              </m:r>
                            </m:den>
                          </m:f>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&lt;</m:t>
                              </m:r>
                              <m:r>
                                <a:rPr lang="en-US" i="1">
                                  <a:latin typeface="Cambria Math" panose="02040503050406030204" pitchFamily="18" charset="0"/>
                                </a:rPr>
                                <m:t>𝑗</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m:rPr>
                                      <m:sty m:val="p"/>
                                    </m:rPr>
                                    <a:rPr lang="en-US">
                                      <a:latin typeface="Cambria Math" panose="02040503050406030204" pitchFamily="18" charset="0"/>
                                    </a:rPr>
                                    <m:t>Δ</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𝜇</m:t>
                                      </m:r>
                                    </m:e>
                                  </m:acc>
                                </m:e>
                                <m:sub>
                                  <m:r>
                                    <a:rPr lang="en-US" i="1">
                                      <a:latin typeface="Cambria Math" panose="02040503050406030204" pitchFamily="18" charset="0"/>
                                    </a:rPr>
                                    <m:t>𝑖</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𝜇</m:t>
                                      </m:r>
                                    </m:e>
                                  </m:acc>
                                </m:e>
                                <m:sub>
                                  <m:r>
                                    <a:rPr lang="en-US" i="1">
                                      <a:latin typeface="Cambria Math" panose="02040503050406030204" pitchFamily="18" charset="0"/>
                                    </a:rPr>
                                    <m:t>𝑗</m:t>
                                  </m:r>
                                </m:sub>
                              </m:sSub>
                            </m:e>
                          </m:nary>
                        </m:sup>
                      </m:sSup>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𝜎</m:t>
                              </m:r>
                            </m:e>
                          </m:acc>
                        </m:e>
                        <m:sub>
                          <m:r>
                            <a:rPr lang="en-US" b="0" i="1" smtClean="0">
                              <a:latin typeface="Cambria Math" panose="02040503050406030204" pitchFamily="18" charset="0"/>
                            </a:rPr>
                            <m:t>𝑓</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𝑖</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num>
                            <m:den>
                              <m:r>
                                <a:rPr lang="en-US" i="1">
                                  <a:latin typeface="Cambria Math" panose="02040503050406030204" pitchFamily="18" charset="0"/>
                                </a:rPr>
                                <m:t>2</m:t>
                              </m:r>
                            </m:den>
                          </m:f>
                          <m:nary>
                            <m:naryPr>
                              <m:chr m:val="∑"/>
                              <m:limLoc m:val="subSup"/>
                              <m:ctrlPr>
                                <a:rPr lang="en-US" i="1">
                                  <a:latin typeface="Cambria Math" panose="02040503050406030204" pitchFamily="18" charset="0"/>
                                </a:rPr>
                              </m:ctrlPr>
                            </m:naryPr>
                            <m:sub>
                              <m:r>
                                <m:rPr>
                                  <m:brk m:alnAt="25"/>
                                </m:rPr>
                                <a:rPr lang="en-US" i="1">
                                  <a:latin typeface="Cambria Math" panose="02040503050406030204" pitchFamily="18" charset="0"/>
                                </a:rPr>
                                <m:t>𝑖</m:t>
                              </m:r>
                              <m:r>
                                <a:rPr lang="en-US" i="1">
                                  <a:latin typeface="Cambria Math" panose="02040503050406030204" pitchFamily="18" charset="0"/>
                                </a:rPr>
                                <m:t>&lt;</m:t>
                              </m:r>
                              <m:r>
                                <a:rPr lang="en-US" i="1">
                                  <a:latin typeface="Cambria Math" panose="02040503050406030204" pitchFamily="18" charset="0"/>
                                </a:rPr>
                                <m:t>𝑗</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m:rPr>
                                      <m:sty m:val="p"/>
                                    </m:rPr>
                                    <a:rPr lang="en-US">
                                      <a:latin typeface="Cambria Math" panose="02040503050406030204" pitchFamily="18" charset="0"/>
                                    </a:rPr>
                                    <m:t>Δ</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𝜇</m:t>
                                      </m:r>
                                    </m:e>
                                  </m:acc>
                                </m:e>
                                <m:sub>
                                  <m:r>
                                    <a:rPr lang="en-US" i="1">
                                      <a:latin typeface="Cambria Math" panose="02040503050406030204" pitchFamily="18" charset="0"/>
                                    </a:rPr>
                                    <m:t>𝑖</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𝜇</m:t>
                                      </m:r>
                                    </m:e>
                                  </m:acc>
                                </m:e>
                                <m:sub>
                                  <m:r>
                                    <a:rPr lang="en-US" i="1">
                                      <a:latin typeface="Cambria Math" panose="02040503050406030204" pitchFamily="18" charset="0"/>
                                    </a:rPr>
                                    <m:t>𝑗</m:t>
                                  </m:r>
                                </m:sub>
                              </m:sSub>
                            </m:e>
                          </m:nary>
                        </m:sup>
                      </m:sSup>
                    </m:oMath>
                  </m:oMathPara>
                </a14:m>
                <a:endParaRPr lang="en-CA" dirty="0"/>
              </a:p>
            </p:txBody>
          </p:sp>
        </mc:Choice>
        <mc:Fallback xmlns="">
          <p:sp>
            <p:nvSpPr>
              <p:cNvPr id="20" name="TextBox 19">
                <a:extLst>
                  <a:ext uri="{FF2B5EF4-FFF2-40B4-BE49-F238E27FC236}">
                    <a16:creationId xmlns:a16="http://schemas.microsoft.com/office/drawing/2014/main" id="{FFB5D9AA-EF06-2CEE-A275-E1A0806F3207}"/>
                  </a:ext>
                </a:extLst>
              </p:cNvPr>
              <p:cNvSpPr txBox="1">
                <a:spLocks noRot="1" noChangeAspect="1" noMove="1" noResize="1" noEditPoints="1" noAdjustHandles="1" noChangeArrowheads="1" noChangeShapeType="1" noTextEdit="1"/>
              </p:cNvSpPr>
              <p:nvPr/>
            </p:nvSpPr>
            <p:spPr>
              <a:xfrm>
                <a:off x="3141477" y="4108879"/>
                <a:ext cx="5734198" cy="468783"/>
              </a:xfrm>
              <a:prstGeom prst="rect">
                <a:avLst/>
              </a:prstGeom>
              <a:blipFill>
                <a:blip r:embed="rId8"/>
                <a:stretch>
                  <a:fillRect t="-47368" b="-76316"/>
                </a:stretch>
              </a:blipFill>
            </p:spPr>
            <p:txBody>
              <a:bodyPr/>
              <a:lstStyle/>
              <a:p>
                <a:r>
                  <a:rPr lang="en-CA">
                    <a:noFill/>
                  </a:rPr>
                  <a:t> </a:t>
                </a:r>
              </a:p>
            </p:txBody>
          </p:sp>
        </mc:Fallback>
      </mc:AlternateContent>
    </p:spTree>
    <p:custDataLst>
      <p:tags r:id="rId1"/>
    </p:custDataLst>
    <p:extLst>
      <p:ext uri="{BB962C8B-B14F-4D97-AF65-F5344CB8AC3E}">
        <p14:creationId xmlns:p14="http://schemas.microsoft.com/office/powerpoint/2010/main" val="1838733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Universality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33</a:t>
            </a:fld>
            <a:endParaRPr lang="de-AT"/>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20BA50-30A2-7FD1-381F-20D5D3350A09}"/>
                  </a:ext>
                </a:extLst>
              </p:cNvPr>
              <p:cNvSpPr txBox="1"/>
              <p:nvPr/>
            </p:nvSpPr>
            <p:spPr>
              <a:xfrm>
                <a:off x="213781" y="4778644"/>
                <a:ext cx="10759019" cy="1015919"/>
              </a:xfrm>
              <a:prstGeom prst="rect">
                <a:avLst/>
              </a:prstGeom>
              <a:noFill/>
            </p:spPr>
            <p:txBody>
              <a:bodyPr wrap="square">
                <a:spAutoFit/>
              </a:bodyPr>
              <a:lstStyle/>
              <a:p>
                <a:r>
                  <a:rPr lang="en-CA" dirty="0"/>
                  <a:t>For </a:t>
                </a:r>
                <a14:m>
                  <m:oMath xmlns:m="http://schemas.openxmlformats.org/officeDocument/2006/math">
                    <m:sSub>
                      <m:sSubPr>
                        <m:ctrlPr>
                          <a:rPr lang="en-US" sz="1800" b="0" i="1" smtClean="0">
                            <a:latin typeface="Cambria Math" panose="02040503050406030204" pitchFamily="18" charset="0"/>
                          </a:rPr>
                        </m:ctrlPr>
                      </m:sSubPr>
                      <m:e>
                        <m:r>
                          <m:rPr>
                            <m:brk m:alnAt="7"/>
                          </m:rPr>
                          <a:rPr lang="en-US" sz="1800" b="0" i="1" smtClean="0">
                            <a:latin typeface="Cambria Math" panose="02040503050406030204" pitchFamily="18" charset="0"/>
                          </a:rPr>
                          <m:t>𝐽</m:t>
                        </m:r>
                      </m:e>
                      <m:sub>
                        <m:r>
                          <m:rPr>
                            <m:brk m:alnAt="7"/>
                          </m:rPr>
                          <a:rPr lang="en-US" sz="1800" b="0" i="1" smtClean="0">
                            <a:latin typeface="Cambria Math" panose="02040503050406030204" pitchFamily="18" charset="0"/>
                          </a:rPr>
                          <m:t>1</m:t>
                        </m:r>
                      </m:sub>
                    </m:sSub>
                    <m:r>
                      <m:rPr>
                        <m:brk m:alnAt="7"/>
                      </m:rPr>
                      <a:rPr lang="en-US" sz="1800" b="0" i="1" smtClean="0">
                        <a:latin typeface="Cambria Math" panose="02040503050406030204" pitchFamily="18" charset="0"/>
                      </a:rPr>
                      <m:t>,</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m:rPr>
                            <m:brk m:alnAt="7"/>
                          </m:rPr>
                          <a:rPr lang="en-US" sz="1800" b="0" i="1" smtClean="0">
                            <a:latin typeface="Cambria Math" panose="02040503050406030204" pitchFamily="18" charset="0"/>
                          </a:rPr>
                          <m:t>𝐽</m:t>
                        </m:r>
                      </m:e>
                      <m:sub>
                        <m:r>
                          <m:rPr>
                            <m:brk m:alnAt="7"/>
                          </m:rPr>
                          <a:rPr lang="en-US" sz="1800" b="0" i="1" smtClean="0">
                            <a:latin typeface="Cambria Math" panose="02040503050406030204" pitchFamily="18" charset="0"/>
                          </a:rPr>
                          <m:t>𝑘</m:t>
                        </m:r>
                        <m:r>
                          <a:rPr lang="en-US" sz="1800" b="0" i="1" smtClean="0">
                            <a:latin typeface="Cambria Math" panose="02040503050406030204" pitchFamily="18" charset="0"/>
                          </a:rPr>
                          <m:t>−1</m:t>
                        </m:r>
                      </m:sub>
                    </m:sSub>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𝕀</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𝑋</m:t>
                    </m:r>
                    <m:r>
                      <a:rPr lang="en-US" sz="1800" b="0" i="1" smtClean="0">
                        <a:latin typeface="Cambria Math" panose="02040503050406030204" pitchFamily="18" charset="0"/>
                      </a:rPr>
                      <m:t>} </m:t>
                    </m:r>
                  </m:oMath>
                </a14:m>
                <a:r>
                  <a:rPr lang="en-CA" dirty="0"/>
                  <a:t>, we split the index sets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e>
                        </m:d>
                      </m:sup>
                    </m:sSubSup>
                    <m:r>
                      <a:rPr lang="en-US" i="1">
                        <a:latin typeface="Cambria Math" panose="02040503050406030204" pitchFamily="18" charset="0"/>
                        <a:ea typeface="Cambria Math" panose="02040503050406030204" pitchFamily="18" charset="0"/>
                      </a:rPr>
                      <m:t> </m:t>
                    </m:r>
                  </m:oMath>
                </a14:m>
                <a:r>
                  <a:rPr lang="en-CA" dirty="0"/>
                  <a:t>into two halves, obtaining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𝕀</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sup>
                    </m:sSubSup>
                    <m:r>
                      <a:rPr lang="en-US" i="1">
                        <a:latin typeface="Cambria Math" panose="02040503050406030204" pitchFamily="18" charset="0"/>
                        <a:ea typeface="Cambria Math" panose="02040503050406030204" pitchFamily="18" charset="0"/>
                      </a:rPr>
                      <m:t> </m:t>
                    </m:r>
                  </m:oMath>
                </a14:m>
                <a:r>
                  <a:rPr lang="en-CA" dirty="0"/>
                  <a:t>and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𝑋</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sup>
                    </m:sSubSup>
                    <m:r>
                      <a:rPr lang="en-US" i="1">
                        <a:latin typeface="Cambria Math" panose="02040503050406030204" pitchFamily="18" charset="0"/>
                        <a:ea typeface="Cambria Math" panose="02040503050406030204" pitchFamily="18" charset="0"/>
                      </a:rPr>
                      <m:t> </m:t>
                    </m:r>
                  </m:oMath>
                </a14:m>
                <a:r>
                  <a:rPr lang="en-CA" dirty="0"/>
                  <a:t>. Again, the specific demand for the sizes is </a:t>
                </a:r>
                <a14:m>
                  <m:oMath xmlns:m="http://schemas.openxmlformats.org/officeDocument/2006/math">
                    <m:d>
                      <m:dPr>
                        <m:begChr m:val="|"/>
                        <m:endChr m:val="|"/>
                        <m:ctrlPr>
                          <a:rPr lang="en-US" b="0" i="1" smtClean="0">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𝑋</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sup>
                        </m:sSubSup>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d>
                              <m:dPr>
                                <m:begChr m:val="|"/>
                                <m:endChr m:val="|"/>
                                <m:ctrlPr>
                                  <a:rPr lang="en-US" b="0" i="1" smtClean="0">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e>
                                    </m:d>
                                  </m:sup>
                                </m:sSubSup>
                              </m:e>
                            </m:d>
                          </m:num>
                          <m:den>
                            <m:r>
                              <a:rPr lang="en-US" b="0" i="1" smtClean="0">
                                <a:latin typeface="Cambria Math" panose="02040503050406030204" pitchFamily="18" charset="0"/>
                                <a:ea typeface="Cambria Math" panose="02040503050406030204" pitchFamily="18" charset="0"/>
                              </a:rPr>
                              <m:t>2</m:t>
                            </m:r>
                          </m:den>
                        </m:f>
                      </m:e>
                    </m:d>
                  </m:oMath>
                </a14:m>
                <a:r>
                  <a:rPr lang="en-CA" dirty="0"/>
                  <a:t>. </a:t>
                </a:r>
              </a:p>
            </p:txBody>
          </p:sp>
        </mc:Choice>
        <mc:Fallback xmlns="">
          <p:sp>
            <p:nvSpPr>
              <p:cNvPr id="5" name="TextBox 4">
                <a:extLst>
                  <a:ext uri="{FF2B5EF4-FFF2-40B4-BE49-F238E27FC236}">
                    <a16:creationId xmlns:a16="http://schemas.microsoft.com/office/drawing/2014/main" id="{FF20BA50-30A2-7FD1-381F-20D5D3350A09}"/>
                  </a:ext>
                </a:extLst>
              </p:cNvPr>
              <p:cNvSpPr txBox="1">
                <a:spLocks noRot="1" noChangeAspect="1" noMove="1" noResize="1" noEditPoints="1" noAdjustHandles="1" noChangeArrowheads="1" noChangeShapeType="1" noTextEdit="1"/>
              </p:cNvSpPr>
              <p:nvPr/>
            </p:nvSpPr>
            <p:spPr>
              <a:xfrm>
                <a:off x="213781" y="4778644"/>
                <a:ext cx="10759019" cy="1015919"/>
              </a:xfrm>
              <a:prstGeom prst="rect">
                <a:avLst/>
              </a:prstGeom>
              <a:blipFill>
                <a:blip r:embed="rId4"/>
                <a:stretch>
                  <a:fillRect l="-471" b="-123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B95176C-67A8-4FBA-333E-D83E11C1CE6A}"/>
                  </a:ext>
                </a:extLst>
              </p:cNvPr>
              <p:cNvSpPr txBox="1"/>
              <p:nvPr/>
            </p:nvSpPr>
            <p:spPr>
              <a:xfrm>
                <a:off x="213781" y="3687125"/>
                <a:ext cx="11764438" cy="434927"/>
              </a:xfrm>
              <a:prstGeom prst="rect">
                <a:avLst/>
              </a:prstGeom>
              <a:noFill/>
            </p:spPr>
            <p:txBody>
              <a:bodyPr wrap="square">
                <a:spAutoFit/>
              </a:bodyPr>
              <a:lstStyle/>
              <a:p>
                <a:r>
                  <a:rPr lang="en-CA" dirty="0"/>
                  <a:t>Here, the last exponential looks like the expression we want, and we will abbreviate </a:t>
                </a:r>
                <a14:m>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𝑝𝑎𝑖𝑟</m:t>
                        </m:r>
                      </m:sub>
                    </m:sSub>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𝑖</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m:rPr>
                                <m:sty m:val="p"/>
                              </m:rPr>
                              <a:rPr lang="en-US">
                                <a:latin typeface="Cambria Math" panose="02040503050406030204" pitchFamily="18" charset="0"/>
                              </a:rPr>
                              <m:t>Δ</m:t>
                            </m:r>
                          </m:e>
                          <m:sub>
                            <m:r>
                              <a:rPr lang="en-US" i="1">
                                <a:latin typeface="Cambria Math" panose="02040503050406030204" pitchFamily="18" charset="0"/>
                              </a:rPr>
                              <m:t>𝑁</m:t>
                            </m:r>
                            <m:r>
                              <a:rPr lang="en-US" i="1">
                                <a:latin typeface="Cambria Math" panose="02040503050406030204" pitchFamily="18" charset="0"/>
                              </a:rPr>
                              <m:t>−1</m:t>
                            </m:r>
                            <m:r>
                              <a:rPr lang="en-US" i="1">
                                <a:latin typeface="Cambria Math" panose="02040503050406030204" pitchFamily="18" charset="0"/>
                              </a:rPr>
                              <m:t>𝑁</m:t>
                            </m:r>
                          </m:sub>
                        </m:sSub>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𝑁</m:t>
                            </m:r>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𝑁</m:t>
                            </m:r>
                          </m:sub>
                        </m:sSub>
                      </m:sup>
                    </m:sSup>
                  </m:oMath>
                </a14:m>
                <a:endParaRPr lang="en-CA" dirty="0"/>
              </a:p>
            </p:txBody>
          </p:sp>
        </mc:Choice>
        <mc:Fallback xmlns="">
          <p:sp>
            <p:nvSpPr>
              <p:cNvPr id="8" name="TextBox 7">
                <a:extLst>
                  <a:ext uri="{FF2B5EF4-FFF2-40B4-BE49-F238E27FC236}">
                    <a16:creationId xmlns:a16="http://schemas.microsoft.com/office/drawing/2014/main" id="{9B95176C-67A8-4FBA-333E-D83E11C1CE6A}"/>
                  </a:ext>
                </a:extLst>
              </p:cNvPr>
              <p:cNvSpPr txBox="1">
                <a:spLocks noRot="1" noChangeAspect="1" noMove="1" noResize="1" noEditPoints="1" noAdjustHandles="1" noChangeArrowheads="1" noChangeShapeType="1" noTextEdit="1"/>
              </p:cNvSpPr>
              <p:nvPr/>
            </p:nvSpPr>
            <p:spPr>
              <a:xfrm>
                <a:off x="213781" y="3687125"/>
                <a:ext cx="11764438" cy="434927"/>
              </a:xfrm>
              <a:prstGeom prst="rect">
                <a:avLst/>
              </a:prstGeom>
              <a:blipFill>
                <a:blip r:embed="rId5"/>
                <a:stretch>
                  <a:fillRect l="-431" b="-20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1CA054-4938-0796-512D-709EC85DA143}"/>
                  </a:ext>
                </a:extLst>
              </p:cNvPr>
              <p:cNvSpPr txBox="1"/>
              <p:nvPr/>
            </p:nvSpPr>
            <p:spPr>
              <a:xfrm>
                <a:off x="327785" y="2150200"/>
                <a:ext cx="2180084" cy="4401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𝑐</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&lt;</m:t>
                              </m:r>
                              <m:r>
                                <a:rPr lang="en-US" b="0" i="1" smtClean="0">
                                  <a:latin typeface="Cambria Math" panose="02040503050406030204" pitchFamily="18" charset="0"/>
                                </a:rPr>
                                <m:t>𝑗</m:t>
                              </m:r>
                            </m:sub>
                            <m:sup>
                              <m:r>
                                <a:rPr lang="en-US" b="0" i="1" smtClean="0">
                                  <a:latin typeface="Cambria Math" panose="02040503050406030204" pitchFamily="18" charset="0"/>
                                </a:rPr>
                                <m:t>𝑁</m:t>
                              </m:r>
                            </m:sup>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e>
                                <m:sub>
                                  <m:r>
                                    <a:rPr lang="en-US" b="0" i="1" smtClean="0">
                                      <a:latin typeface="Cambria Math" panose="02040503050406030204" pitchFamily="18" charset="0"/>
                                    </a:rPr>
                                    <m:t>𝑖𝑗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𝑗</m:t>
                                  </m:r>
                                </m:sub>
                              </m:sSub>
                            </m:e>
                          </m:nary>
                        </m:sup>
                      </m:sSup>
                    </m:oMath>
                  </m:oMathPara>
                </a14:m>
                <a:endParaRPr lang="en-CA" dirty="0"/>
              </a:p>
            </p:txBody>
          </p:sp>
        </mc:Choice>
        <mc:Fallback xmlns="">
          <p:sp>
            <p:nvSpPr>
              <p:cNvPr id="9" name="TextBox 8">
                <a:extLst>
                  <a:ext uri="{FF2B5EF4-FFF2-40B4-BE49-F238E27FC236}">
                    <a16:creationId xmlns:a16="http://schemas.microsoft.com/office/drawing/2014/main" id="{5B1CA054-4938-0796-512D-709EC85DA143}"/>
                  </a:ext>
                </a:extLst>
              </p:cNvPr>
              <p:cNvSpPr txBox="1">
                <a:spLocks noRot="1" noChangeAspect="1" noMove="1" noResize="1" noEditPoints="1" noAdjustHandles="1" noChangeArrowheads="1" noChangeShapeType="1" noTextEdit="1"/>
              </p:cNvSpPr>
              <p:nvPr/>
            </p:nvSpPr>
            <p:spPr>
              <a:xfrm>
                <a:off x="327785" y="2150200"/>
                <a:ext cx="2180084" cy="440185"/>
              </a:xfrm>
              <a:prstGeom prst="rect">
                <a:avLst/>
              </a:prstGeom>
              <a:blipFill>
                <a:blip r:embed="rId6"/>
                <a:stretch>
                  <a:fillRect t="-52778" b="-8611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677D37D-4479-0B43-504A-C6EE7B6DB169}"/>
                  </a:ext>
                </a:extLst>
              </p:cNvPr>
              <p:cNvSpPr txBox="1"/>
              <p:nvPr/>
            </p:nvSpPr>
            <p:spPr>
              <a:xfrm>
                <a:off x="2616867" y="2320410"/>
                <a:ext cx="1550746" cy="276999"/>
              </a:xfrm>
              <a:prstGeom prst="rect">
                <a:avLst/>
              </a:prstGeom>
              <a:noFill/>
            </p:spPr>
            <p:txBody>
              <a:bodyPr wrap="none" lIns="0" tIns="0" rIns="0" bIns="0" rtlCol="0">
                <a:spAutoFit/>
              </a:bodyPr>
              <a:lstStyle/>
              <a:p>
                <a:r>
                  <a:rPr lang="en-US" b="0" dirty="0"/>
                  <a:t>,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𝜎</m:t>
                            </m:r>
                          </m:e>
                        </m:acc>
                      </m:e>
                      <m:sub>
                        <m:r>
                          <a:rPr lang="en-US" b="0" i="1" smtClean="0">
                            <a:latin typeface="Cambria Math" panose="02040503050406030204" pitchFamily="18" charset="0"/>
                          </a:rPr>
                          <m:t>𝑥</m:t>
                        </m:r>
                      </m:sub>
                    </m:sSub>
                    <m:r>
                      <a:rPr lang="en-US" b="0" i="1" smtClean="0">
                        <a:latin typeface="Cambria Math" panose="02040503050406030204" pitchFamily="18" charset="0"/>
                      </a:rPr>
                      <m:t>, </m:t>
                    </m:r>
                    <m:r>
                      <a:rPr lang="en-US" b="0" i="1" smtClean="0">
                        <a:latin typeface="Cambria Math" panose="02040503050406030204" pitchFamily="18" charset="0"/>
                      </a:rPr>
                      <m:t>𝑍</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𝜎</m:t>
                            </m:r>
                          </m:e>
                        </m:acc>
                      </m:e>
                      <m:sub>
                        <m:r>
                          <a:rPr lang="en-US" b="0" i="1" smtClean="0">
                            <a:latin typeface="Cambria Math" panose="02040503050406030204" pitchFamily="18" charset="0"/>
                          </a:rPr>
                          <m:t>𝑧</m:t>
                        </m:r>
                      </m:sub>
                    </m:sSub>
                  </m:oMath>
                </a14:m>
                <a:endParaRPr lang="en-CA" dirty="0"/>
              </a:p>
            </p:txBody>
          </p:sp>
        </mc:Choice>
        <mc:Fallback xmlns="">
          <p:sp>
            <p:nvSpPr>
              <p:cNvPr id="10" name="TextBox 9">
                <a:extLst>
                  <a:ext uri="{FF2B5EF4-FFF2-40B4-BE49-F238E27FC236}">
                    <a16:creationId xmlns:a16="http://schemas.microsoft.com/office/drawing/2014/main" id="{4677D37D-4479-0B43-504A-C6EE7B6DB169}"/>
                  </a:ext>
                </a:extLst>
              </p:cNvPr>
              <p:cNvSpPr txBox="1">
                <a:spLocks noRot="1" noChangeAspect="1" noMove="1" noResize="1" noEditPoints="1" noAdjustHandles="1" noChangeArrowheads="1" noChangeShapeType="1" noTextEdit="1"/>
              </p:cNvSpPr>
              <p:nvPr/>
            </p:nvSpPr>
            <p:spPr>
              <a:xfrm>
                <a:off x="2616867" y="2320410"/>
                <a:ext cx="1550746" cy="276999"/>
              </a:xfrm>
              <a:prstGeom prst="rect">
                <a:avLst/>
              </a:prstGeom>
              <a:blipFill>
                <a:blip r:embed="rId7"/>
                <a:stretch>
                  <a:fillRect l="-8871" t="-21739" r="-806" b="-5217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CE44BE5-2BB7-74DF-1198-CEBA8A5756D8}"/>
                  </a:ext>
                </a:extLst>
              </p:cNvPr>
              <p:cNvSpPr txBox="1"/>
              <p:nvPr/>
            </p:nvSpPr>
            <p:spPr>
              <a:xfrm>
                <a:off x="213781" y="970514"/>
                <a:ext cx="11764438" cy="679481"/>
              </a:xfrm>
              <a:prstGeom prst="rect">
                <a:avLst/>
              </a:prstGeom>
              <a:noFill/>
            </p:spPr>
            <p:txBody>
              <a:bodyPr wrap="square">
                <a:spAutoFit/>
              </a:bodyPr>
              <a:lstStyle/>
              <a:p>
                <a:r>
                  <a:rPr lang="en-CA" dirty="0"/>
                  <a:t>Since we already have arbitrary local </a:t>
                </a:r>
                <a14:m>
                  <m:oMath xmlns:m="http://schemas.openxmlformats.org/officeDocument/2006/math">
                    <m:r>
                      <a:rPr lang="en-US" b="0" i="1" smtClean="0">
                        <a:latin typeface="Cambria Math" panose="02040503050406030204" pitchFamily="18" charset="0"/>
                      </a:rPr>
                      <m:t>𝑆𝑈</m:t>
                    </m:r>
                    <m:d>
                      <m:dPr>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0" smtClean="0">
                        <a:latin typeface="Cambria Math" panose="02040503050406030204" pitchFamily="18" charset="0"/>
                      </a:rPr>
                      <m:t> </m:t>
                    </m:r>
                  </m:oMath>
                </a14:m>
                <a:r>
                  <a:rPr lang="en-CA" dirty="0"/>
                  <a:t>rotations, we only have to show that we can </a:t>
                </a:r>
                <a:r>
                  <a:rPr lang="en-CA" dirty="0" err="1"/>
                  <a:t>transpile</a:t>
                </a:r>
                <a:r>
                  <a:rPr lang="en-CA" dirty="0"/>
                  <a:t> </a:t>
                </a:r>
                <a14:m>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𝑐</m:t>
                        </m:r>
                      </m:sub>
                    </m:sSub>
                  </m:oMath>
                </a14:m>
                <a:r>
                  <a:rPr lang="en-CA" dirty="0"/>
                  <a:t> and local rotations into two-qubit entangling gates on arbitrary qubit pairs in order to have a universal gate set. </a:t>
                </a:r>
              </a:p>
            </p:txBody>
          </p:sp>
        </mc:Choice>
        <mc:Fallback xmlns="">
          <p:sp>
            <p:nvSpPr>
              <p:cNvPr id="12" name="TextBox 11">
                <a:extLst>
                  <a:ext uri="{FF2B5EF4-FFF2-40B4-BE49-F238E27FC236}">
                    <a16:creationId xmlns:a16="http://schemas.microsoft.com/office/drawing/2014/main" id="{DCE44BE5-2BB7-74DF-1198-CEBA8A5756D8}"/>
                  </a:ext>
                </a:extLst>
              </p:cNvPr>
              <p:cNvSpPr txBox="1">
                <a:spLocks noRot="1" noChangeAspect="1" noMove="1" noResize="1" noEditPoints="1" noAdjustHandles="1" noChangeArrowheads="1" noChangeShapeType="1" noTextEdit="1"/>
              </p:cNvSpPr>
              <p:nvPr/>
            </p:nvSpPr>
            <p:spPr>
              <a:xfrm>
                <a:off x="213781" y="970514"/>
                <a:ext cx="11764438" cy="679481"/>
              </a:xfrm>
              <a:prstGeom prst="rect">
                <a:avLst/>
              </a:prstGeom>
              <a:blipFill>
                <a:blip r:embed="rId8"/>
                <a:stretch>
                  <a:fillRect l="-431" t="-1818" r="-431" b="-909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9798D0D-1335-B16E-84D4-E8F2C8A2FCD6}"/>
                  </a:ext>
                </a:extLst>
              </p:cNvPr>
              <p:cNvSpPr txBox="1"/>
              <p:nvPr/>
            </p:nvSpPr>
            <p:spPr>
              <a:xfrm>
                <a:off x="6237927" y="2277285"/>
                <a:ext cx="2710999" cy="3171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𝑖</m:t>
                          </m:r>
                          <m:r>
                            <a:rPr lang="en-US" b="0" i="1" smtClean="0">
                              <a:latin typeface="Cambria Math" panose="02040503050406030204" pitchFamily="18" charset="0"/>
                            </a:rPr>
                            <m:t>𝜙</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2</m:t>
                              </m:r>
                            </m:sub>
                          </m:sSub>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𝜙</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2</m:t>
                              </m:r>
                            </m:sub>
                          </m:sSub>
                        </m:sup>
                      </m:sSup>
                    </m:oMath>
                  </m:oMathPara>
                </a14:m>
                <a:endParaRPr lang="en-CA" dirty="0"/>
              </a:p>
            </p:txBody>
          </p:sp>
        </mc:Choice>
        <mc:Fallback xmlns="">
          <p:sp>
            <p:nvSpPr>
              <p:cNvPr id="14" name="TextBox 13">
                <a:extLst>
                  <a:ext uri="{FF2B5EF4-FFF2-40B4-BE49-F238E27FC236}">
                    <a16:creationId xmlns:a16="http://schemas.microsoft.com/office/drawing/2014/main" id="{39798D0D-1335-B16E-84D4-E8F2C8A2FCD6}"/>
                  </a:ext>
                </a:extLst>
              </p:cNvPr>
              <p:cNvSpPr txBox="1">
                <a:spLocks noRot="1" noChangeAspect="1" noMove="1" noResize="1" noEditPoints="1" noAdjustHandles="1" noChangeArrowheads="1" noChangeShapeType="1" noTextEdit="1"/>
              </p:cNvSpPr>
              <p:nvPr/>
            </p:nvSpPr>
            <p:spPr>
              <a:xfrm>
                <a:off x="6237927" y="2277285"/>
                <a:ext cx="2710999" cy="317138"/>
              </a:xfrm>
              <a:prstGeom prst="rect">
                <a:avLst/>
              </a:prstGeom>
              <a:blipFill>
                <a:blip r:embed="rId9"/>
                <a:stretch>
                  <a:fillRect t="-7692" b="-2307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A437EFE-3681-E845-576D-28D25FE88132}"/>
                  </a:ext>
                </a:extLst>
              </p:cNvPr>
              <p:cNvSpPr txBox="1"/>
              <p:nvPr/>
            </p:nvSpPr>
            <p:spPr>
              <a:xfrm>
                <a:off x="2158614" y="3104915"/>
                <a:ext cx="7512313" cy="3568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p>
                          <m:r>
                            <a:rPr lang="en-US" b="0" i="1" smtClean="0">
                              <a:latin typeface="Cambria Math" panose="02040503050406030204" pitchFamily="18" charset="0"/>
                            </a:rPr>
                            <m:t>(0)</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𝑁</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𝑁</m:t>
                              </m:r>
                            </m:sub>
                          </m:sSub>
                        </m:e>
                      </m:d>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𝑐</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𝑁</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𝑁</m:t>
                              </m:r>
                            </m:sub>
                          </m:sSub>
                        </m:e>
                      </m:d>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𝑐</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nary>
                            <m:naryPr>
                              <m:chr m:val="∑"/>
                              <m:limLoc m:val="subSup"/>
                              <m:ctrlPr>
                                <a:rPr lang="en-US" b="0"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&lt;</m:t>
                              </m:r>
                              <m:r>
                                <a:rPr lang="en-US" b="0" i="1" smtClean="0">
                                  <a:latin typeface="Cambria Math" panose="02040503050406030204" pitchFamily="18" charset="0"/>
                                </a:rPr>
                                <m:t>𝑗</m:t>
                              </m:r>
                            </m:sub>
                            <m:sup>
                              <m:r>
                                <a:rPr lang="en-US" b="0" i="1" smtClean="0">
                                  <a:latin typeface="Cambria Math" panose="02040503050406030204" pitchFamily="18" charset="0"/>
                                </a:rPr>
                                <m:t>𝑁</m:t>
                              </m:r>
                              <m:r>
                                <a:rPr lang="en-US" b="0" i="1" smtClean="0">
                                  <a:latin typeface="Cambria Math" panose="02040503050406030204" pitchFamily="18" charset="0"/>
                                </a:rPr>
                                <m:t>−2</m:t>
                              </m:r>
                            </m:sup>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e>
                                <m:sub>
                                  <m:r>
                                    <a:rPr lang="en-US" b="0" i="1" smtClean="0">
                                      <a:latin typeface="Cambria Math" panose="02040503050406030204" pitchFamily="18" charset="0"/>
                                    </a:rPr>
                                    <m:t>𝑖𝑗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𝑗</m:t>
                                  </m:r>
                                </m:sub>
                              </m:sSub>
                            </m:e>
                          </m:nary>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e>
                            <m:sub>
                              <m:r>
                                <a:rPr lang="en-US" b="0" i="1" smtClean="0">
                                  <a:latin typeface="Cambria Math" panose="02040503050406030204" pitchFamily="18" charset="0"/>
                                </a:rPr>
                                <m:t>𝑁</m:t>
                              </m:r>
                              <m:r>
                                <a:rPr lang="en-US" b="0" i="1" smtClean="0">
                                  <a:latin typeface="Cambria Math" panose="02040503050406030204" pitchFamily="18" charset="0"/>
                                </a:rPr>
                                <m:t>−1</m:t>
                              </m:r>
                              <m:r>
                                <a:rPr lang="en-US" b="0" i="1" smtClean="0">
                                  <a:latin typeface="Cambria Math" panose="02040503050406030204" pitchFamily="18" charset="0"/>
                                </a:rPr>
                                <m:t>𝑁</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𝑁</m:t>
                              </m:r>
                            </m:sub>
                          </m:sSub>
                        </m:sup>
                      </m:sSup>
                    </m:oMath>
                  </m:oMathPara>
                </a14:m>
                <a:endParaRPr lang="en-CA" dirty="0"/>
              </a:p>
            </p:txBody>
          </p:sp>
        </mc:Choice>
        <mc:Fallback xmlns="">
          <p:sp>
            <p:nvSpPr>
              <p:cNvPr id="15" name="TextBox 14">
                <a:extLst>
                  <a:ext uri="{FF2B5EF4-FFF2-40B4-BE49-F238E27FC236}">
                    <a16:creationId xmlns:a16="http://schemas.microsoft.com/office/drawing/2014/main" id="{4A437EFE-3681-E845-576D-28D25FE88132}"/>
                  </a:ext>
                </a:extLst>
              </p:cNvPr>
              <p:cNvSpPr txBox="1">
                <a:spLocks noRot="1" noChangeAspect="1" noMove="1" noResize="1" noEditPoints="1" noAdjustHandles="1" noChangeArrowheads="1" noChangeShapeType="1" noTextEdit="1"/>
              </p:cNvSpPr>
              <p:nvPr/>
            </p:nvSpPr>
            <p:spPr>
              <a:xfrm>
                <a:off x="2158614" y="3104915"/>
                <a:ext cx="7512313" cy="356829"/>
              </a:xfrm>
              <a:prstGeom prst="rect">
                <a:avLst/>
              </a:prstGeom>
              <a:blipFill>
                <a:blip r:embed="rId10"/>
                <a:stretch>
                  <a:fillRect t="-86207" b="-106897"/>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662E5234-F5EA-66CA-2095-1F9FBDAF8D5A}"/>
              </a:ext>
            </a:extLst>
          </p:cNvPr>
          <p:cNvSpPr txBox="1"/>
          <p:nvPr/>
        </p:nvSpPr>
        <p:spPr>
          <a:xfrm>
            <a:off x="213781" y="4220044"/>
            <a:ext cx="10375956" cy="369332"/>
          </a:xfrm>
          <a:prstGeom prst="rect">
            <a:avLst/>
          </a:prstGeom>
          <a:noFill/>
        </p:spPr>
        <p:txBody>
          <a:bodyPr wrap="square" rtlCol="0">
            <a:spAutoFit/>
          </a:bodyPr>
          <a:lstStyle/>
          <a:p>
            <a:r>
              <a:rPr lang="en-CA" dirty="0"/>
              <a:t>Idea is to iterate this operation until we have only a unitary entangling one pair of detectors. </a:t>
            </a:r>
          </a:p>
        </p:txBody>
      </p:sp>
      <p:sp>
        <p:nvSpPr>
          <p:cNvPr id="18" name="TextBox 17">
            <a:extLst>
              <a:ext uri="{FF2B5EF4-FFF2-40B4-BE49-F238E27FC236}">
                <a16:creationId xmlns:a16="http://schemas.microsoft.com/office/drawing/2014/main" id="{B4F8E410-D1E7-711B-2FEA-C7EA1354D7CA}"/>
              </a:ext>
            </a:extLst>
          </p:cNvPr>
          <p:cNvSpPr txBox="1"/>
          <p:nvPr/>
        </p:nvSpPr>
        <p:spPr>
          <a:xfrm>
            <a:off x="213781" y="1740219"/>
            <a:ext cx="1944833" cy="369332"/>
          </a:xfrm>
          <a:prstGeom prst="rect">
            <a:avLst/>
          </a:prstGeom>
          <a:noFill/>
        </p:spPr>
        <p:txBody>
          <a:bodyPr wrap="square" rtlCol="0">
            <a:spAutoFit/>
          </a:bodyPr>
          <a:lstStyle/>
          <a:p>
            <a:r>
              <a:rPr lang="en-CA" dirty="0"/>
              <a:t>Start with</a:t>
            </a:r>
          </a:p>
        </p:txBody>
      </p:sp>
      <p:sp>
        <p:nvSpPr>
          <p:cNvPr id="19" name="TextBox 18">
            <a:extLst>
              <a:ext uri="{FF2B5EF4-FFF2-40B4-BE49-F238E27FC236}">
                <a16:creationId xmlns:a16="http://schemas.microsoft.com/office/drawing/2014/main" id="{B67AE370-7E52-8802-A617-84781017D779}"/>
              </a:ext>
            </a:extLst>
          </p:cNvPr>
          <p:cNvSpPr txBox="1"/>
          <p:nvPr/>
        </p:nvSpPr>
        <p:spPr>
          <a:xfrm>
            <a:off x="4749218" y="2258980"/>
            <a:ext cx="1204856" cy="369332"/>
          </a:xfrm>
          <a:prstGeom prst="rect">
            <a:avLst/>
          </a:prstGeom>
          <a:noFill/>
        </p:spPr>
        <p:txBody>
          <a:bodyPr wrap="square" rtlCol="0">
            <a:spAutoFit/>
          </a:bodyPr>
          <a:lstStyle/>
          <a:p>
            <a:r>
              <a:rPr lang="en-CA" dirty="0"/>
              <a:t>and note </a:t>
            </a:r>
          </a:p>
        </p:txBody>
      </p:sp>
      <p:sp>
        <p:nvSpPr>
          <p:cNvPr id="21" name="TextBox 20">
            <a:extLst>
              <a:ext uri="{FF2B5EF4-FFF2-40B4-BE49-F238E27FC236}">
                <a16:creationId xmlns:a16="http://schemas.microsoft.com/office/drawing/2014/main" id="{AA4BD31E-2476-0B0E-C6AA-558D9BC7F9EB}"/>
              </a:ext>
            </a:extLst>
          </p:cNvPr>
          <p:cNvSpPr txBox="1"/>
          <p:nvPr/>
        </p:nvSpPr>
        <p:spPr>
          <a:xfrm>
            <a:off x="213781" y="2822770"/>
            <a:ext cx="1830829" cy="369332"/>
          </a:xfrm>
          <a:prstGeom prst="rect">
            <a:avLst/>
          </a:prstGeom>
          <a:noFill/>
        </p:spPr>
        <p:txBody>
          <a:bodyPr wrap="square" rtlCol="0">
            <a:spAutoFit/>
          </a:bodyPr>
          <a:lstStyle/>
          <a:p>
            <a:r>
              <a:rPr lang="en-CA" dirty="0"/>
              <a:t>Now consider</a:t>
            </a:r>
          </a:p>
        </p:txBody>
      </p:sp>
    </p:spTree>
    <p:custDataLst>
      <p:tags r:id="rId1"/>
    </p:custDataLst>
    <p:extLst>
      <p:ext uri="{BB962C8B-B14F-4D97-AF65-F5344CB8AC3E}">
        <p14:creationId xmlns:p14="http://schemas.microsoft.com/office/powerpoint/2010/main" val="1889097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Quantum Foundations Group Seminar, NORDITA, Stockholm I Phil LeMaitre I 27.03.2026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52960" cy="841248"/>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Universality</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34</a:t>
            </a:fld>
            <a:endParaRPr lang="de-AT"/>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63264AE-1098-5A47-4AF4-2C299D9D2BAA}"/>
                  </a:ext>
                </a:extLst>
              </p:cNvPr>
              <p:cNvSpPr txBox="1"/>
              <p:nvPr/>
            </p:nvSpPr>
            <p:spPr>
              <a:xfrm>
                <a:off x="142064" y="980939"/>
                <a:ext cx="10375956" cy="374270"/>
              </a:xfrm>
              <a:prstGeom prst="rect">
                <a:avLst/>
              </a:prstGeom>
              <a:noFill/>
            </p:spPr>
            <p:txBody>
              <a:bodyPr wrap="square" rtlCol="0">
                <a:spAutoFit/>
              </a:bodyPr>
              <a:lstStyle/>
              <a:p>
                <a:r>
                  <a:rPr lang="en-CA" dirty="0"/>
                  <a:t>Then for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𝑡h</m:t>
                        </m:r>
                      </m:sup>
                    </m:sSup>
                  </m:oMath>
                </a14:m>
                <a:r>
                  <a:rPr lang="en-CA" dirty="0"/>
                  <a:t> iteration, the next step is </a:t>
                </a:r>
              </a:p>
            </p:txBody>
          </p:sp>
        </mc:Choice>
        <mc:Fallback xmlns="">
          <p:sp>
            <p:nvSpPr>
              <p:cNvPr id="4" name="TextBox 3">
                <a:extLst>
                  <a:ext uri="{FF2B5EF4-FFF2-40B4-BE49-F238E27FC236}">
                    <a16:creationId xmlns:a16="http://schemas.microsoft.com/office/drawing/2014/main" id="{063264AE-1098-5A47-4AF4-2C299D9D2BAA}"/>
                  </a:ext>
                </a:extLst>
              </p:cNvPr>
              <p:cNvSpPr txBox="1">
                <a:spLocks noRot="1" noChangeAspect="1" noMove="1" noResize="1" noEditPoints="1" noAdjustHandles="1" noChangeArrowheads="1" noChangeShapeType="1" noTextEdit="1"/>
              </p:cNvSpPr>
              <p:nvPr/>
            </p:nvSpPr>
            <p:spPr>
              <a:xfrm>
                <a:off x="142064" y="980939"/>
                <a:ext cx="10375956" cy="374270"/>
              </a:xfrm>
              <a:prstGeom prst="rect">
                <a:avLst/>
              </a:prstGeom>
              <a:blipFill>
                <a:blip r:embed="rId4"/>
                <a:stretch>
                  <a:fillRect l="-489" t="-10000" b="-2666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50D2165-00F6-7F42-CE3F-FB5083F51A9D}"/>
                  </a:ext>
                </a:extLst>
              </p:cNvPr>
              <p:cNvSpPr txBox="1"/>
              <p:nvPr/>
            </p:nvSpPr>
            <p:spPr>
              <a:xfrm>
                <a:off x="1425965" y="1494900"/>
                <a:ext cx="8637493" cy="89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p>
                      </m:sSup>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𝑚</m:t>
                              </m:r>
                            </m:sub>
                          </m:sSub>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e>
                      </m:nary>
                      <m:nary>
                        <m:naryPr>
                          <m:chr m:val="⨂"/>
                          <m:subHide m:val="on"/>
                          <m:supHide m:val="on"/>
                          <m:ctrlPr>
                            <a:rPr lang="en-US"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𝑚</m:t>
                                  </m:r>
                                </m:e>
                              </m:acc>
                            </m:sub>
                          </m:sSub>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e>
                      </m:nary>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𝐽</m:t>
                              </m:r>
                            </m:e>
                            <m:sub>
                              <m:r>
                                <m:rPr>
                                  <m:brk m:alnAt="7"/>
                                </m:rPr>
                                <a:rPr lang="en-US" b="0" i="1" smtClean="0">
                                  <a:latin typeface="Cambria Math" panose="02040503050406030204" pitchFamily="18" charset="0"/>
                                </a:rPr>
                                <m:t>1</m:t>
                              </m:r>
                            </m:sub>
                          </m:sSub>
                          <m:r>
                            <m:rPr>
                              <m:brk m:alnAt="7"/>
                            </m:rP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𝐽</m:t>
                              </m:r>
                            </m:e>
                            <m:sub>
                              <m:r>
                                <m:rPr>
                                  <m:brk m:alnAt="7"/>
                                </m:rP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ub>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𝑖</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sup>
                                  </m:sSup>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2</m:t>
                                      </m:r>
                                    </m:sup>
                                  </m:sSup>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&lt;</m:t>
                                      </m:r>
                                      <m:r>
                                        <a:rPr lang="en-US" b="0" i="1" smtClean="0">
                                          <a:latin typeface="Cambria Math" panose="02040503050406030204" pitchFamily="18" charset="0"/>
                                        </a:rPr>
                                        <m:t>𝑗</m:t>
                                      </m:r>
                                      <m:r>
                                        <a:rPr lang="en-US" b="0" i="1" smtClean="0">
                                          <a:latin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ℐ</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𝐽</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𝐽</m:t>
                                              </m:r>
                                            </m:e>
                                            <m:sub>
                                              <m:r>
                                                <a:rPr lang="en-US" b="0" i="1" smtClean="0">
                                                  <a:latin typeface="Cambria Math" panose="02040503050406030204" pitchFamily="18" charset="0"/>
                                                  <a:ea typeface="Cambria Math" panose="02040503050406030204" pitchFamily="18" charset="0"/>
                                                </a:rPr>
                                                <m:t>𝑘</m:t>
                                              </m:r>
                                            </m:sub>
                                          </m:sSub>
                                        </m:sub>
                                        <m: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𝑘</m:t>
                                              </m:r>
                                            </m:e>
                                          </m:d>
                                        </m:sup>
                                      </m:sSubSup>
                                    </m:sub>
                                    <m:sup/>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e>
                                        <m:sub>
                                          <m:r>
                                            <a:rPr lang="en-US" b="0" i="1" smtClean="0">
                                              <a:latin typeface="Cambria Math" panose="02040503050406030204" pitchFamily="18" charset="0"/>
                                            </a:rPr>
                                            <m:t>𝑖𝑗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𝑗</m:t>
                                          </m:r>
                                        </m:sub>
                                      </m:sSub>
                                    </m:e>
                                  </m:nary>
                                </m:e>
                              </m:d>
                            </m:e>
                          </m:func>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𝑝𝑎𝑖𝑟</m:t>
                              </m:r>
                            </m:sub>
                            <m:sup>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𝑘</m:t>
                                      </m:r>
                                    </m:sup>
                                  </m:sSup>
                                </m:e>
                              </m:d>
                            </m:sup>
                          </m:sSubSup>
                        </m:e>
                      </m:nary>
                    </m:oMath>
                  </m:oMathPara>
                </a14:m>
                <a:endParaRPr lang="en-CA" dirty="0"/>
              </a:p>
            </p:txBody>
          </p:sp>
        </mc:Choice>
        <mc:Fallback xmlns="">
          <p:sp>
            <p:nvSpPr>
              <p:cNvPr id="6" name="TextBox 5">
                <a:extLst>
                  <a:ext uri="{FF2B5EF4-FFF2-40B4-BE49-F238E27FC236}">
                    <a16:creationId xmlns:a16="http://schemas.microsoft.com/office/drawing/2014/main" id="{350D2165-00F6-7F42-CE3F-FB5083F51A9D}"/>
                  </a:ext>
                </a:extLst>
              </p:cNvPr>
              <p:cNvSpPr txBox="1">
                <a:spLocks noRot="1" noChangeAspect="1" noMove="1" noResize="1" noEditPoints="1" noAdjustHandles="1" noChangeArrowheads="1" noChangeShapeType="1" noTextEdit="1"/>
              </p:cNvSpPr>
              <p:nvPr/>
            </p:nvSpPr>
            <p:spPr>
              <a:xfrm>
                <a:off x="1425965" y="1494900"/>
                <a:ext cx="8637493" cy="891719"/>
              </a:xfrm>
              <a:prstGeom prst="rect">
                <a:avLst/>
              </a:prstGeom>
              <a:blipFill>
                <a:blip r:embed="rId5"/>
                <a:stretch>
                  <a:fillRect t="-108333" b="-1347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BF2692A-4D57-566D-A449-72D771E1C3F9}"/>
                  </a:ext>
                </a:extLst>
              </p:cNvPr>
              <p:cNvSpPr txBox="1"/>
              <p:nvPr/>
            </p:nvSpPr>
            <p:spPr>
              <a:xfrm>
                <a:off x="177596" y="2863263"/>
                <a:ext cx="11661960" cy="380810"/>
              </a:xfrm>
              <a:prstGeom prst="rect">
                <a:avLst/>
              </a:prstGeom>
              <a:noFill/>
            </p:spPr>
            <p:txBody>
              <a:bodyPr wrap="square">
                <a:spAutoFit/>
              </a:bodyPr>
              <a:lstStyle/>
              <a:p>
                <a:r>
                  <a:rPr lang="en-CA" dirty="0"/>
                  <a:t>We have consumed two </a:t>
                </a:r>
                <a14:m>
                  <m:oMath xmlns:m="http://schemas.openxmlformats.org/officeDocument/2006/math">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p>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up>
                    </m:sSup>
                    <m:r>
                      <a:rPr lang="en-US" b="0" i="1" smtClean="0">
                        <a:latin typeface="Cambria Math" panose="02040503050406030204" pitchFamily="18" charset="0"/>
                      </a:rPr>
                      <m:t>, </m:t>
                    </m:r>
                  </m:oMath>
                </a14:m>
                <a:r>
                  <a:rPr lang="en-CA" dirty="0"/>
                  <a:t>each of which costs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𝑘</m:t>
                        </m:r>
                      </m:sup>
                    </m:sSup>
                  </m:oMath>
                </a14:m>
                <a:r>
                  <a:rPr lang="en-CA" dirty="0"/>
                  <a:t> VQC layers, giving a combined cost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r>
                          <a:rPr lang="en-US" b="0" i="1" smtClean="0">
                            <a:latin typeface="Cambria Math" panose="02040503050406030204" pitchFamily="18" charset="0"/>
                          </a:rPr>
                          <m:t>+1</m:t>
                        </m:r>
                      </m:sup>
                    </m:sSup>
                  </m:oMath>
                </a14:m>
                <a:r>
                  <a:rPr lang="en-CA" dirty="0"/>
                  <a:t> VQC layers. </a:t>
                </a:r>
              </a:p>
            </p:txBody>
          </p:sp>
        </mc:Choice>
        <mc:Fallback xmlns="">
          <p:sp>
            <p:nvSpPr>
              <p:cNvPr id="13" name="TextBox 12">
                <a:extLst>
                  <a:ext uri="{FF2B5EF4-FFF2-40B4-BE49-F238E27FC236}">
                    <a16:creationId xmlns:a16="http://schemas.microsoft.com/office/drawing/2014/main" id="{3BF2692A-4D57-566D-A449-72D771E1C3F9}"/>
                  </a:ext>
                </a:extLst>
              </p:cNvPr>
              <p:cNvSpPr txBox="1">
                <a:spLocks noRot="1" noChangeAspect="1" noMove="1" noResize="1" noEditPoints="1" noAdjustHandles="1" noChangeArrowheads="1" noChangeShapeType="1" noTextEdit="1"/>
              </p:cNvSpPr>
              <p:nvPr/>
            </p:nvSpPr>
            <p:spPr>
              <a:xfrm>
                <a:off x="177596" y="2863263"/>
                <a:ext cx="11661960" cy="380810"/>
              </a:xfrm>
              <a:prstGeom prst="rect">
                <a:avLst/>
              </a:prstGeom>
              <a:blipFill>
                <a:blip r:embed="rId6"/>
                <a:stretch>
                  <a:fillRect l="-326" t="-3226" b="-2580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02707B1-0F86-A566-D3E2-F19BCE367971}"/>
                  </a:ext>
                </a:extLst>
              </p:cNvPr>
              <p:cNvSpPr txBox="1"/>
              <p:nvPr/>
            </p:nvSpPr>
            <p:spPr>
              <a:xfrm>
                <a:off x="3209347" y="2056071"/>
                <a:ext cx="1902759" cy="292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300" b="0" i="1" smtClean="0">
                              <a:latin typeface="Cambria Math" panose="02040503050406030204" pitchFamily="18" charset="0"/>
                            </a:rPr>
                          </m:ctrlPr>
                        </m:sSubPr>
                        <m:e>
                          <m:acc>
                            <m:accPr>
                              <m:chr m:val="̅"/>
                              <m:ctrlPr>
                                <a:rPr lang="en-US" sz="1300" b="0" i="1" smtClean="0">
                                  <a:latin typeface="Cambria Math" panose="02040503050406030204" pitchFamily="18" charset="0"/>
                                </a:rPr>
                              </m:ctrlPr>
                            </m:accPr>
                            <m:e>
                              <m:r>
                                <a:rPr lang="en-US" sz="1300" b="0" i="1" smtClean="0">
                                  <a:latin typeface="Cambria Math" panose="02040503050406030204" pitchFamily="18" charset="0"/>
                                </a:rPr>
                                <m:t>𝐽</m:t>
                              </m:r>
                            </m:e>
                          </m:acc>
                        </m:e>
                        <m:sub>
                          <m:r>
                            <a:rPr lang="en-US" sz="1300" b="0" i="1" smtClean="0">
                              <a:latin typeface="Cambria Math" panose="02040503050406030204" pitchFamily="18" charset="0"/>
                            </a:rPr>
                            <m:t>1</m:t>
                          </m:r>
                        </m:sub>
                      </m:sSub>
                      <m:r>
                        <m:rPr>
                          <m:brk m:alnAt="7"/>
                        </m:rPr>
                        <a:rPr lang="en-US" sz="1300" b="0" i="1" smtClean="0">
                          <a:latin typeface="Cambria Math" panose="02040503050406030204" pitchFamily="18" charset="0"/>
                        </a:rPr>
                        <m:t>,</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acc>
                            <m:accPr>
                              <m:chr m:val="̅"/>
                              <m:ctrlPr>
                                <a:rPr lang="en-US" sz="1300" b="0" i="1" smtClean="0">
                                  <a:latin typeface="Cambria Math" panose="02040503050406030204" pitchFamily="18" charset="0"/>
                                </a:rPr>
                              </m:ctrlPr>
                            </m:accPr>
                            <m:e>
                              <m:r>
                                <a:rPr lang="en-US" sz="1300" b="0" i="1" smtClean="0">
                                  <a:latin typeface="Cambria Math" panose="02040503050406030204" pitchFamily="18" charset="0"/>
                                </a:rPr>
                                <m:t>𝐽</m:t>
                              </m:r>
                            </m:e>
                          </m:acc>
                        </m:e>
                        <m:sub>
                          <m:r>
                            <m:rPr>
                              <m:brk m:alnAt="7"/>
                            </m:rPr>
                            <a:rPr lang="en-US" sz="1300" b="0" i="1" smtClean="0">
                              <a:latin typeface="Cambria Math" panose="02040503050406030204" pitchFamily="18" charset="0"/>
                            </a:rPr>
                            <m:t>𝑘</m:t>
                          </m:r>
                          <m:r>
                            <a:rPr lang="en-US" sz="1300" b="0" i="1" smtClean="0">
                              <a:latin typeface="Cambria Math" panose="02040503050406030204" pitchFamily="18" charset="0"/>
                            </a:rPr>
                            <m:t>−1</m:t>
                          </m:r>
                        </m:sub>
                      </m:sSub>
                      <m:r>
                        <a:rPr lang="en-US" sz="1300" b="0" i="1" smtClean="0">
                          <a:latin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𝕀</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rPr>
                        <m:t>𝑋</m:t>
                      </m:r>
                      <m:r>
                        <a:rPr lang="en-US" sz="1300" b="0" i="1" smtClean="0">
                          <a:latin typeface="Cambria Math" panose="02040503050406030204" pitchFamily="18" charset="0"/>
                        </a:rPr>
                        <m:t>}</m:t>
                      </m:r>
                    </m:oMath>
                  </m:oMathPara>
                </a14:m>
                <a:endParaRPr lang="en-CA" sz="1300" dirty="0"/>
              </a:p>
            </p:txBody>
          </p:sp>
        </mc:Choice>
        <mc:Fallback xmlns="">
          <p:sp>
            <p:nvSpPr>
              <p:cNvPr id="20" name="TextBox 19">
                <a:extLst>
                  <a:ext uri="{FF2B5EF4-FFF2-40B4-BE49-F238E27FC236}">
                    <a16:creationId xmlns:a16="http://schemas.microsoft.com/office/drawing/2014/main" id="{A02707B1-0F86-A566-D3E2-F19BCE367971}"/>
                  </a:ext>
                </a:extLst>
              </p:cNvPr>
              <p:cNvSpPr txBox="1">
                <a:spLocks noRot="1" noChangeAspect="1" noMove="1" noResize="1" noEditPoints="1" noAdjustHandles="1" noChangeArrowheads="1" noChangeShapeType="1" noTextEdit="1"/>
              </p:cNvSpPr>
              <p:nvPr/>
            </p:nvSpPr>
            <p:spPr>
              <a:xfrm>
                <a:off x="3209347" y="2056071"/>
                <a:ext cx="1902759" cy="292388"/>
              </a:xfrm>
              <a:prstGeom prst="rect">
                <a:avLst/>
              </a:prstGeom>
              <a:blipFill>
                <a:blip r:embed="rId7"/>
                <a:stretch>
                  <a:fillRect b="-8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7309C16-FBFE-9861-CE92-C9F9B8E7315E}"/>
                  </a:ext>
                </a:extLst>
              </p:cNvPr>
              <p:cNvSpPr txBox="1"/>
              <p:nvPr/>
            </p:nvSpPr>
            <p:spPr>
              <a:xfrm>
                <a:off x="1727330" y="2056071"/>
                <a:ext cx="1902759" cy="292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300" b="0" i="1" smtClean="0">
                              <a:latin typeface="Cambria Math" panose="02040503050406030204" pitchFamily="18" charset="0"/>
                            </a:rPr>
                          </m:ctrlPr>
                        </m:sSubPr>
                        <m:e>
                          <m:r>
                            <m:rPr>
                              <m:brk m:alnAt="7"/>
                            </m:rPr>
                            <a:rPr lang="en-US" sz="1300" b="0" i="1" smtClean="0">
                              <a:latin typeface="Cambria Math" panose="02040503050406030204" pitchFamily="18" charset="0"/>
                            </a:rPr>
                            <m:t>𝐽</m:t>
                          </m:r>
                        </m:e>
                        <m:sub>
                          <m:r>
                            <m:rPr>
                              <m:brk m:alnAt="7"/>
                            </m:rPr>
                            <a:rPr lang="en-US" sz="1300" b="0" i="1" smtClean="0">
                              <a:latin typeface="Cambria Math" panose="02040503050406030204" pitchFamily="18" charset="0"/>
                            </a:rPr>
                            <m:t>1</m:t>
                          </m:r>
                        </m:sub>
                      </m:sSub>
                      <m:r>
                        <m:rPr>
                          <m:brk m:alnAt="7"/>
                        </m:rPr>
                        <a:rPr lang="en-US" sz="1300" b="0" i="1" smtClean="0">
                          <a:latin typeface="Cambria Math" panose="02040503050406030204" pitchFamily="18" charset="0"/>
                        </a:rPr>
                        <m:t>,</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brk m:alnAt="7"/>
                            </m:rPr>
                            <a:rPr lang="en-US" sz="1300" b="0" i="1" smtClean="0">
                              <a:latin typeface="Cambria Math" panose="02040503050406030204" pitchFamily="18" charset="0"/>
                            </a:rPr>
                            <m:t>𝐽</m:t>
                          </m:r>
                        </m:e>
                        <m:sub>
                          <m:r>
                            <m:rPr>
                              <m:brk m:alnAt="7"/>
                            </m:rPr>
                            <a:rPr lang="en-US" sz="1300" b="0" i="1" smtClean="0">
                              <a:latin typeface="Cambria Math" panose="02040503050406030204" pitchFamily="18" charset="0"/>
                            </a:rPr>
                            <m:t>𝑘</m:t>
                          </m:r>
                          <m:r>
                            <a:rPr lang="en-US" sz="1300" b="0" i="1" smtClean="0">
                              <a:latin typeface="Cambria Math" panose="02040503050406030204" pitchFamily="18" charset="0"/>
                            </a:rPr>
                            <m:t>−1</m:t>
                          </m:r>
                        </m:sub>
                      </m:sSub>
                      <m:r>
                        <a:rPr lang="en-US" sz="1300" b="0" i="1" smtClean="0">
                          <a:latin typeface="Cambria Math" panose="02040503050406030204" pitchFamily="18" charset="0"/>
                        </a:rPr>
                        <m:t>∈{</m:t>
                      </m:r>
                      <m:r>
                        <a:rPr lang="en-US" sz="1300" b="0" i="1" smtClean="0">
                          <a:latin typeface="Cambria Math" panose="02040503050406030204" pitchFamily="18" charset="0"/>
                          <a:ea typeface="Cambria Math" panose="02040503050406030204" pitchFamily="18" charset="0"/>
                        </a:rPr>
                        <m:t>𝕀</m:t>
                      </m:r>
                      <m:r>
                        <a:rPr lang="en-US" sz="1300" b="0" i="1" smtClean="0">
                          <a:latin typeface="Cambria Math" panose="02040503050406030204" pitchFamily="18" charset="0"/>
                          <a:ea typeface="Cambria Math" panose="02040503050406030204" pitchFamily="18" charset="0"/>
                        </a:rPr>
                        <m:t>,</m:t>
                      </m:r>
                      <m:r>
                        <a:rPr lang="en-US" sz="1300" b="0" i="1" smtClean="0">
                          <a:latin typeface="Cambria Math" panose="02040503050406030204" pitchFamily="18" charset="0"/>
                        </a:rPr>
                        <m:t>𝑋</m:t>
                      </m:r>
                      <m:r>
                        <a:rPr lang="en-US" sz="1300" b="0" i="1" smtClean="0">
                          <a:latin typeface="Cambria Math" panose="02040503050406030204" pitchFamily="18" charset="0"/>
                        </a:rPr>
                        <m:t>}</m:t>
                      </m:r>
                    </m:oMath>
                  </m:oMathPara>
                </a14:m>
                <a:endParaRPr lang="en-CA" sz="1300" dirty="0"/>
              </a:p>
            </p:txBody>
          </p:sp>
        </mc:Choice>
        <mc:Fallback xmlns="">
          <p:sp>
            <p:nvSpPr>
              <p:cNvPr id="22" name="TextBox 21">
                <a:extLst>
                  <a:ext uri="{FF2B5EF4-FFF2-40B4-BE49-F238E27FC236}">
                    <a16:creationId xmlns:a16="http://schemas.microsoft.com/office/drawing/2014/main" id="{C7309C16-FBFE-9861-CE92-C9F9B8E7315E}"/>
                  </a:ext>
                </a:extLst>
              </p:cNvPr>
              <p:cNvSpPr txBox="1">
                <a:spLocks noRot="1" noChangeAspect="1" noMove="1" noResize="1" noEditPoints="1" noAdjustHandles="1" noChangeArrowheads="1" noChangeShapeType="1" noTextEdit="1"/>
              </p:cNvSpPr>
              <p:nvPr/>
            </p:nvSpPr>
            <p:spPr>
              <a:xfrm>
                <a:off x="1727330" y="2056071"/>
                <a:ext cx="1902759" cy="292388"/>
              </a:xfrm>
              <a:prstGeom prst="rect">
                <a:avLst/>
              </a:prstGeom>
              <a:blipFill>
                <a:blip r:embed="rId8"/>
                <a:stretch>
                  <a:fillRect b="-8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DEFD70F-A45E-B5E9-FC29-C1C9054A6998}"/>
                  </a:ext>
                </a:extLst>
              </p:cNvPr>
              <p:cNvSpPr txBox="1"/>
              <p:nvPr/>
            </p:nvSpPr>
            <p:spPr>
              <a:xfrm>
                <a:off x="1816977" y="2256184"/>
                <a:ext cx="1902759" cy="3666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𝑚</m:t>
                      </m:r>
                      <m:r>
                        <a:rPr lang="en-US" sz="1300" b="0" i="1" smtClean="0">
                          <a:latin typeface="Cambria Math" panose="02040503050406030204" pitchFamily="18" charset="0"/>
                        </a:rPr>
                        <m:t>∈</m:t>
                      </m:r>
                      <m:sSubSup>
                        <m:sSubSupPr>
                          <m:ctrlPr>
                            <a:rPr lang="en-US" sz="1300" b="0" i="1" smtClean="0">
                              <a:latin typeface="Cambria Math" panose="02040503050406030204" pitchFamily="18" charset="0"/>
                              <a:ea typeface="Cambria Math" panose="02040503050406030204" pitchFamily="18" charset="0"/>
                            </a:rPr>
                          </m:ctrlPr>
                        </m:sSubSupPr>
                        <m:e>
                          <m:r>
                            <a:rPr lang="en-US" sz="1300" b="0" i="1" smtClean="0">
                              <a:latin typeface="Cambria Math" panose="02040503050406030204" pitchFamily="18" charset="0"/>
                              <a:ea typeface="Cambria Math" panose="02040503050406030204" pitchFamily="18" charset="0"/>
                            </a:rPr>
                            <m:t>ℐ</m:t>
                          </m:r>
                        </m:e>
                        <m:sub>
                          <m:sSub>
                            <m:sSubPr>
                              <m:ctrlPr>
                                <a:rPr lang="en-US" sz="1300" b="0" i="1" smtClean="0">
                                  <a:latin typeface="Cambria Math" panose="02040503050406030204" pitchFamily="18" charset="0"/>
                                  <a:ea typeface="Cambria Math" panose="02040503050406030204" pitchFamily="18" charset="0"/>
                                </a:rPr>
                              </m:ctrlPr>
                            </m:sSubPr>
                            <m:e>
                              <m:r>
                                <a:rPr lang="en-US" sz="1300" b="0" i="1" smtClean="0">
                                  <a:latin typeface="Cambria Math" panose="02040503050406030204" pitchFamily="18" charset="0"/>
                                  <a:ea typeface="Cambria Math" panose="02040503050406030204" pitchFamily="18" charset="0"/>
                                </a:rPr>
                                <m:t>𝐽</m:t>
                              </m:r>
                            </m:e>
                            <m:sub>
                              <m:r>
                                <a:rPr lang="en-US" sz="1300" b="0" i="1" smtClean="0">
                                  <a:latin typeface="Cambria Math" panose="02040503050406030204" pitchFamily="18" charset="0"/>
                                  <a:ea typeface="Cambria Math" panose="02040503050406030204" pitchFamily="18" charset="0"/>
                                </a:rPr>
                                <m:t>1</m:t>
                              </m:r>
                            </m:sub>
                          </m:sSub>
                          <m:r>
                            <a:rPr lang="en-US" sz="1300" b="0" i="1" smtClean="0">
                              <a:latin typeface="Cambria Math" panose="02040503050406030204" pitchFamily="18" charset="0"/>
                              <a:ea typeface="Cambria Math" panose="02040503050406030204" pitchFamily="18" charset="0"/>
                            </a:rPr>
                            <m:t>,…,</m:t>
                          </m:r>
                          <m:sSub>
                            <m:sSubPr>
                              <m:ctrlPr>
                                <a:rPr lang="en-US" sz="1300" b="0" i="1" smtClean="0">
                                  <a:latin typeface="Cambria Math" panose="02040503050406030204" pitchFamily="18" charset="0"/>
                                  <a:ea typeface="Cambria Math" panose="02040503050406030204" pitchFamily="18" charset="0"/>
                                </a:rPr>
                              </m:ctrlPr>
                            </m:sSubPr>
                            <m:e>
                              <m:r>
                                <a:rPr lang="en-US" sz="1300" b="0" i="1" smtClean="0">
                                  <a:latin typeface="Cambria Math" panose="02040503050406030204" pitchFamily="18" charset="0"/>
                                  <a:ea typeface="Cambria Math" panose="02040503050406030204" pitchFamily="18" charset="0"/>
                                </a:rPr>
                                <m:t>𝐽</m:t>
                              </m:r>
                            </m:e>
                            <m:sub>
                              <m:r>
                                <a:rPr lang="en-US" sz="1300" b="0" i="1" smtClean="0">
                                  <a:latin typeface="Cambria Math" panose="02040503050406030204" pitchFamily="18" charset="0"/>
                                  <a:ea typeface="Cambria Math" panose="02040503050406030204" pitchFamily="18" charset="0"/>
                                </a:rPr>
                                <m:t>𝑘</m:t>
                              </m:r>
                              <m:r>
                                <a:rPr lang="en-US" sz="1300" b="0" i="1" smtClean="0">
                                  <a:latin typeface="Cambria Math" panose="02040503050406030204" pitchFamily="18" charset="0"/>
                                  <a:ea typeface="Cambria Math" panose="02040503050406030204" pitchFamily="18" charset="0"/>
                                </a:rPr>
                                <m:t>−1</m:t>
                              </m:r>
                            </m:sub>
                          </m:sSub>
                          <m:r>
                            <a:rPr lang="en-US" sz="1300" b="0" i="1" smtClean="0">
                              <a:latin typeface="Cambria Math" panose="02040503050406030204" pitchFamily="18" charset="0"/>
                              <a:ea typeface="Cambria Math" panose="02040503050406030204" pitchFamily="18" charset="0"/>
                            </a:rPr>
                            <m:t>𝑋</m:t>
                          </m:r>
                        </m:sub>
                        <m:sup>
                          <m:d>
                            <m:dPr>
                              <m:ctrlPr>
                                <a:rPr lang="en-US" sz="1300" b="0" i="1" smtClean="0">
                                  <a:latin typeface="Cambria Math" panose="02040503050406030204" pitchFamily="18" charset="0"/>
                                  <a:ea typeface="Cambria Math" panose="02040503050406030204" pitchFamily="18" charset="0"/>
                                </a:rPr>
                              </m:ctrlPr>
                            </m:dPr>
                            <m:e>
                              <m:r>
                                <a:rPr lang="en-US" sz="1300" b="0" i="1" smtClean="0">
                                  <a:latin typeface="Cambria Math" panose="02040503050406030204" pitchFamily="18" charset="0"/>
                                  <a:ea typeface="Cambria Math" panose="02040503050406030204" pitchFamily="18" charset="0"/>
                                </a:rPr>
                                <m:t>𝑘</m:t>
                              </m:r>
                            </m:e>
                          </m:d>
                        </m:sup>
                      </m:sSubSup>
                    </m:oMath>
                  </m:oMathPara>
                </a14:m>
                <a:endParaRPr lang="en-CA" sz="1300" dirty="0"/>
              </a:p>
            </p:txBody>
          </p:sp>
        </mc:Choice>
        <mc:Fallback xmlns="">
          <p:sp>
            <p:nvSpPr>
              <p:cNvPr id="23" name="TextBox 22">
                <a:extLst>
                  <a:ext uri="{FF2B5EF4-FFF2-40B4-BE49-F238E27FC236}">
                    <a16:creationId xmlns:a16="http://schemas.microsoft.com/office/drawing/2014/main" id="{7DEFD70F-A45E-B5E9-FC29-C1C9054A6998}"/>
                  </a:ext>
                </a:extLst>
              </p:cNvPr>
              <p:cNvSpPr txBox="1">
                <a:spLocks noRot="1" noChangeAspect="1" noMove="1" noResize="1" noEditPoints="1" noAdjustHandles="1" noChangeArrowheads="1" noChangeShapeType="1" noTextEdit="1"/>
              </p:cNvSpPr>
              <p:nvPr/>
            </p:nvSpPr>
            <p:spPr>
              <a:xfrm>
                <a:off x="1816977" y="2256184"/>
                <a:ext cx="1902759" cy="366639"/>
              </a:xfrm>
              <a:prstGeom prst="rect">
                <a:avLst/>
              </a:prstGeom>
              <a:blipFill>
                <a:blip r:embed="rId9"/>
                <a:stretch>
                  <a:fillRect b="-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95DF302-9220-5B50-2A65-374C71359FF8}"/>
                  </a:ext>
                </a:extLst>
              </p:cNvPr>
              <p:cNvSpPr txBox="1"/>
              <p:nvPr/>
            </p:nvSpPr>
            <p:spPr>
              <a:xfrm>
                <a:off x="3119700" y="2256184"/>
                <a:ext cx="1902759" cy="3835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300" b="0" i="1" smtClean="0">
                              <a:latin typeface="Cambria Math" panose="02040503050406030204" pitchFamily="18" charset="0"/>
                            </a:rPr>
                          </m:ctrlPr>
                        </m:accPr>
                        <m:e>
                          <m:r>
                            <a:rPr lang="en-US" sz="1300" b="0" i="1" smtClean="0">
                              <a:latin typeface="Cambria Math" panose="02040503050406030204" pitchFamily="18" charset="0"/>
                            </a:rPr>
                            <m:t>𝑚</m:t>
                          </m:r>
                        </m:e>
                      </m:acc>
                      <m:r>
                        <a:rPr lang="en-US" sz="1300" b="0" i="1" smtClean="0">
                          <a:latin typeface="Cambria Math" panose="02040503050406030204" pitchFamily="18" charset="0"/>
                        </a:rPr>
                        <m:t>∈</m:t>
                      </m:r>
                      <m:sSubSup>
                        <m:sSubSupPr>
                          <m:ctrlPr>
                            <a:rPr lang="en-US" sz="1300" b="0" i="1" smtClean="0">
                              <a:latin typeface="Cambria Math" panose="02040503050406030204" pitchFamily="18" charset="0"/>
                              <a:ea typeface="Cambria Math" panose="02040503050406030204" pitchFamily="18" charset="0"/>
                            </a:rPr>
                          </m:ctrlPr>
                        </m:sSubSupPr>
                        <m:e>
                          <m:r>
                            <a:rPr lang="en-US" sz="1300" b="0" i="1" smtClean="0">
                              <a:latin typeface="Cambria Math" panose="02040503050406030204" pitchFamily="18" charset="0"/>
                              <a:ea typeface="Cambria Math" panose="02040503050406030204" pitchFamily="18" charset="0"/>
                            </a:rPr>
                            <m:t>ℐ</m:t>
                          </m:r>
                        </m:e>
                        <m:sub>
                          <m:sSub>
                            <m:sSubPr>
                              <m:ctrlPr>
                                <a:rPr lang="en-US" sz="1300" b="0" i="1" smtClean="0">
                                  <a:latin typeface="Cambria Math" panose="02040503050406030204" pitchFamily="18" charset="0"/>
                                  <a:ea typeface="Cambria Math" panose="02040503050406030204" pitchFamily="18" charset="0"/>
                                </a:rPr>
                              </m:ctrlPr>
                            </m:sSubPr>
                            <m:e>
                              <m:acc>
                                <m:accPr>
                                  <m:chr m:val="̅"/>
                                  <m:ctrlPr>
                                    <a:rPr lang="en-US" sz="1300" b="0" i="1" smtClean="0">
                                      <a:latin typeface="Cambria Math" panose="02040503050406030204" pitchFamily="18" charset="0"/>
                                      <a:ea typeface="Cambria Math" panose="02040503050406030204" pitchFamily="18" charset="0"/>
                                    </a:rPr>
                                  </m:ctrlPr>
                                </m:accPr>
                                <m:e>
                                  <m:r>
                                    <a:rPr lang="en-US" sz="1300" b="0" i="1" smtClean="0">
                                      <a:latin typeface="Cambria Math" panose="02040503050406030204" pitchFamily="18" charset="0"/>
                                      <a:ea typeface="Cambria Math" panose="02040503050406030204" pitchFamily="18" charset="0"/>
                                    </a:rPr>
                                    <m:t>𝐽</m:t>
                                  </m:r>
                                </m:e>
                              </m:acc>
                            </m:e>
                            <m:sub>
                              <m:r>
                                <a:rPr lang="en-US" sz="1300" b="0" i="1" smtClean="0">
                                  <a:latin typeface="Cambria Math" panose="02040503050406030204" pitchFamily="18" charset="0"/>
                                </a:rPr>
                                <m:t>1</m:t>
                              </m:r>
                            </m:sub>
                          </m:sSub>
                          <m:r>
                            <a:rPr lang="en-US" sz="1300" b="0" i="1" smtClean="0">
                              <a:latin typeface="Cambria Math" panose="02040503050406030204" pitchFamily="18" charset="0"/>
                              <a:ea typeface="Cambria Math" panose="02040503050406030204" pitchFamily="18" charset="0"/>
                            </a:rPr>
                            <m:t>,…,</m:t>
                          </m:r>
                          <m:sSub>
                            <m:sSubPr>
                              <m:ctrlPr>
                                <a:rPr lang="en-US" sz="1300" b="0" i="1" smtClean="0">
                                  <a:latin typeface="Cambria Math" panose="02040503050406030204" pitchFamily="18" charset="0"/>
                                  <a:ea typeface="Cambria Math" panose="02040503050406030204" pitchFamily="18" charset="0"/>
                                </a:rPr>
                              </m:ctrlPr>
                            </m:sSubPr>
                            <m:e>
                              <m:acc>
                                <m:accPr>
                                  <m:chr m:val="̅"/>
                                  <m:ctrlPr>
                                    <a:rPr lang="en-US" sz="1300" b="0" i="1" smtClean="0">
                                      <a:latin typeface="Cambria Math" panose="02040503050406030204" pitchFamily="18" charset="0"/>
                                      <a:ea typeface="Cambria Math" panose="02040503050406030204" pitchFamily="18" charset="0"/>
                                    </a:rPr>
                                  </m:ctrlPr>
                                </m:accPr>
                                <m:e>
                                  <m:r>
                                    <a:rPr lang="en-US" sz="1300" b="0" i="1" smtClean="0">
                                      <a:latin typeface="Cambria Math" panose="02040503050406030204" pitchFamily="18" charset="0"/>
                                      <a:ea typeface="Cambria Math" panose="02040503050406030204" pitchFamily="18" charset="0"/>
                                    </a:rPr>
                                    <m:t>𝐽</m:t>
                                  </m:r>
                                </m:e>
                              </m:acc>
                            </m:e>
                            <m:sub>
                              <m:r>
                                <a:rPr lang="en-US" sz="1300" b="0" i="1" smtClean="0">
                                  <a:latin typeface="Cambria Math" panose="02040503050406030204" pitchFamily="18" charset="0"/>
                                </a:rPr>
                                <m:t>𝑘</m:t>
                              </m:r>
                              <m:r>
                                <a:rPr lang="en-US" sz="1300" b="0" i="1" smtClean="0">
                                  <a:latin typeface="Cambria Math" panose="02040503050406030204" pitchFamily="18" charset="0"/>
                                </a:rPr>
                                <m:t>−1</m:t>
                              </m:r>
                            </m:sub>
                          </m:sSub>
                          <m:r>
                            <a:rPr lang="en-US" sz="1300" b="0" i="1" smtClean="0">
                              <a:latin typeface="Cambria Math" panose="02040503050406030204" pitchFamily="18" charset="0"/>
                              <a:ea typeface="Cambria Math" panose="02040503050406030204" pitchFamily="18" charset="0"/>
                            </a:rPr>
                            <m:t>𝑋</m:t>
                          </m:r>
                        </m:sub>
                        <m:sup>
                          <m:d>
                            <m:dPr>
                              <m:ctrlPr>
                                <a:rPr lang="en-US" sz="1300" b="0" i="1" smtClean="0">
                                  <a:latin typeface="Cambria Math" panose="02040503050406030204" pitchFamily="18" charset="0"/>
                                  <a:ea typeface="Cambria Math" panose="02040503050406030204" pitchFamily="18" charset="0"/>
                                </a:rPr>
                              </m:ctrlPr>
                            </m:dPr>
                            <m:e>
                              <m:r>
                                <a:rPr lang="en-US" sz="1300" b="0" i="1" smtClean="0">
                                  <a:latin typeface="Cambria Math" panose="02040503050406030204" pitchFamily="18" charset="0"/>
                                  <a:ea typeface="Cambria Math" panose="02040503050406030204" pitchFamily="18" charset="0"/>
                                </a:rPr>
                                <m:t>𝑘</m:t>
                              </m:r>
                            </m:e>
                          </m:d>
                        </m:sup>
                      </m:sSubSup>
                    </m:oMath>
                  </m:oMathPara>
                </a14:m>
                <a:endParaRPr lang="en-CA" sz="1300" dirty="0"/>
              </a:p>
            </p:txBody>
          </p:sp>
        </mc:Choice>
        <mc:Fallback xmlns="">
          <p:sp>
            <p:nvSpPr>
              <p:cNvPr id="24" name="TextBox 23">
                <a:extLst>
                  <a:ext uri="{FF2B5EF4-FFF2-40B4-BE49-F238E27FC236}">
                    <a16:creationId xmlns:a16="http://schemas.microsoft.com/office/drawing/2014/main" id="{E95DF302-9220-5B50-2A65-374C71359FF8}"/>
                  </a:ext>
                </a:extLst>
              </p:cNvPr>
              <p:cNvSpPr txBox="1">
                <a:spLocks noRot="1" noChangeAspect="1" noMove="1" noResize="1" noEditPoints="1" noAdjustHandles="1" noChangeArrowheads="1" noChangeShapeType="1" noTextEdit="1"/>
              </p:cNvSpPr>
              <p:nvPr/>
            </p:nvSpPr>
            <p:spPr>
              <a:xfrm>
                <a:off x="3119700" y="2256184"/>
                <a:ext cx="1902759" cy="383503"/>
              </a:xfrm>
              <a:prstGeom prst="rect">
                <a:avLst/>
              </a:prstGeom>
              <a:blipFill>
                <a:blip r:embed="rId10"/>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26FBEDA-9F50-C042-AC01-EE6A982A1675}"/>
                  </a:ext>
                </a:extLst>
              </p:cNvPr>
              <p:cNvSpPr txBox="1"/>
              <p:nvPr/>
            </p:nvSpPr>
            <p:spPr>
              <a:xfrm>
                <a:off x="231289" y="3377224"/>
                <a:ext cx="12021671" cy="471668"/>
              </a:xfrm>
              <a:prstGeom prst="rect">
                <a:avLst/>
              </a:prstGeom>
              <a:noFill/>
            </p:spPr>
            <p:txBody>
              <a:bodyPr wrap="square">
                <a:spAutoFit/>
              </a:bodyPr>
              <a:lstStyle/>
              <a:p>
                <a:r>
                  <a:rPr lang="en-CA" dirty="0"/>
                  <a:t>We recognize that interactions are only present for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r>
                  <a:rPr lang="en-CA" dirty="0"/>
                  <a:t> in the same index set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sup>
                    </m:sSubSup>
                  </m:oMath>
                </a14:m>
                <a:r>
                  <a:rPr lang="en-CA" dirty="0"/>
                  <a:t>(and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−1, </m:t>
                        </m:r>
                        <m:r>
                          <a:rPr lang="en-US" b="0" i="1" smtClean="0">
                            <a:latin typeface="Cambria Math" panose="02040503050406030204" pitchFamily="18" charset="0"/>
                          </a:rPr>
                          <m:t>𝑁</m:t>
                        </m:r>
                      </m:e>
                    </m:d>
                    <m:r>
                      <a:rPr lang="en-US" b="0" i="1" smtClean="0">
                        <a:latin typeface="Cambria Math" panose="02040503050406030204" pitchFamily="18" charset="0"/>
                      </a:rPr>
                      <m:t>, </m:t>
                    </m:r>
                  </m:oMath>
                </a14:m>
                <a:r>
                  <a:rPr lang="en-CA" dirty="0"/>
                  <a:t>of course). </a:t>
                </a:r>
              </a:p>
            </p:txBody>
          </p:sp>
        </mc:Choice>
        <mc:Fallback xmlns="">
          <p:sp>
            <p:nvSpPr>
              <p:cNvPr id="26" name="TextBox 25">
                <a:extLst>
                  <a:ext uri="{FF2B5EF4-FFF2-40B4-BE49-F238E27FC236}">
                    <a16:creationId xmlns:a16="http://schemas.microsoft.com/office/drawing/2014/main" id="{526FBEDA-9F50-C042-AC01-EE6A982A1675}"/>
                  </a:ext>
                </a:extLst>
              </p:cNvPr>
              <p:cNvSpPr txBox="1">
                <a:spLocks noRot="1" noChangeAspect="1" noMove="1" noResize="1" noEditPoints="1" noAdjustHandles="1" noChangeArrowheads="1" noChangeShapeType="1" noTextEdit="1"/>
              </p:cNvSpPr>
              <p:nvPr/>
            </p:nvSpPr>
            <p:spPr>
              <a:xfrm>
                <a:off x="231289" y="3377224"/>
                <a:ext cx="12021671" cy="471668"/>
              </a:xfrm>
              <a:prstGeom prst="rect">
                <a:avLst/>
              </a:prstGeom>
              <a:blipFill>
                <a:blip r:embed="rId11"/>
                <a:stretch>
                  <a:fillRect l="-422" b="-13158"/>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8D652F5-7493-D946-15C4-6A5BA772D420}"/>
                  </a:ext>
                </a:extLst>
              </p:cNvPr>
              <p:cNvSpPr txBox="1"/>
              <p:nvPr/>
            </p:nvSpPr>
            <p:spPr>
              <a:xfrm>
                <a:off x="231870" y="3774871"/>
                <a:ext cx="11299452" cy="633763"/>
              </a:xfrm>
              <a:prstGeom prst="rect">
                <a:avLst/>
              </a:prstGeom>
              <a:noFill/>
            </p:spPr>
            <p:txBody>
              <a:bodyPr wrap="square">
                <a:spAutoFit/>
              </a:bodyPr>
              <a:lstStyle/>
              <a:p>
                <a:r>
                  <a:rPr lang="en-CA" dirty="0"/>
                  <a:t>Furthermore, the condition </a:t>
                </a:r>
                <a14:m>
                  <m:oMath xmlns:m="http://schemas.openxmlformats.org/officeDocument/2006/math">
                    <m:d>
                      <m:dPr>
                        <m:begChr m:val="|"/>
                        <m:endChr m:val="|"/>
                        <m:ctrlPr>
                          <a:rPr lang="en-US" b="0" i="1" smtClean="0">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𝑋</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e>
                            </m:d>
                          </m:sup>
                        </m:sSubSup>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d>
                              <m:dPr>
                                <m:begChr m:val="|"/>
                                <m:endChr m:val="|"/>
                                <m:ctrlPr>
                                  <a:rPr lang="en-US" b="0" i="1" smtClean="0">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ℐ</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𝐽</m:t>
                                        </m:r>
                                      </m:e>
                                      <m:sub>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−1</m:t>
                                        </m:r>
                                      </m:sub>
                                    </m:sSub>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−1</m:t>
                                        </m:r>
                                      </m:e>
                                    </m:d>
                                  </m:sup>
                                </m:sSubSup>
                              </m:e>
                            </m:d>
                          </m:num>
                          <m:den>
                            <m:r>
                              <a:rPr lang="en-US" b="0" i="1" smtClean="0">
                                <a:latin typeface="Cambria Math" panose="02040503050406030204" pitchFamily="18" charset="0"/>
                                <a:ea typeface="Cambria Math" panose="02040503050406030204" pitchFamily="18" charset="0"/>
                              </a:rPr>
                              <m:t>2</m:t>
                            </m:r>
                          </m:den>
                        </m:f>
                      </m:e>
                    </m:d>
                    <m:r>
                      <a:rPr lang="en-US" b="0" i="1" smtClean="0">
                        <a:latin typeface="Cambria Math" panose="02040503050406030204" pitchFamily="18" charset="0"/>
                        <a:ea typeface="Cambria Math" panose="02040503050406030204" pitchFamily="18" charset="0"/>
                      </a:rPr>
                      <m:t> </m:t>
                    </m:r>
                  </m:oMath>
                </a14:m>
                <a:r>
                  <a:rPr lang="en-CA" dirty="0"/>
                  <a:t>expresses that the index sets are exponentially decreasing in size. </a:t>
                </a:r>
              </a:p>
            </p:txBody>
          </p:sp>
        </mc:Choice>
        <mc:Fallback xmlns="">
          <p:sp>
            <p:nvSpPr>
              <p:cNvPr id="28" name="TextBox 27">
                <a:extLst>
                  <a:ext uri="{FF2B5EF4-FFF2-40B4-BE49-F238E27FC236}">
                    <a16:creationId xmlns:a16="http://schemas.microsoft.com/office/drawing/2014/main" id="{E8D652F5-7493-D946-15C4-6A5BA772D420}"/>
                  </a:ext>
                </a:extLst>
              </p:cNvPr>
              <p:cNvSpPr txBox="1">
                <a:spLocks noRot="1" noChangeAspect="1" noMove="1" noResize="1" noEditPoints="1" noAdjustHandles="1" noChangeArrowheads="1" noChangeShapeType="1" noTextEdit="1"/>
              </p:cNvSpPr>
              <p:nvPr/>
            </p:nvSpPr>
            <p:spPr>
              <a:xfrm>
                <a:off x="231870" y="3774871"/>
                <a:ext cx="11299452" cy="633763"/>
              </a:xfrm>
              <a:prstGeom prst="rect">
                <a:avLst/>
              </a:prstGeom>
              <a:blipFill>
                <a:blip r:embed="rId12"/>
                <a:stretch>
                  <a:fillRect l="-449" r="-673" b="-39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B842E06-2557-5FEA-0BA7-F1F3A03E2DF6}"/>
                  </a:ext>
                </a:extLst>
              </p:cNvPr>
              <p:cNvSpPr txBox="1"/>
              <p:nvPr/>
            </p:nvSpPr>
            <p:spPr>
              <a:xfrm>
                <a:off x="231288" y="4440105"/>
                <a:ext cx="11265311" cy="1390765"/>
              </a:xfrm>
              <a:prstGeom prst="rect">
                <a:avLst/>
              </a:prstGeom>
              <a:noFill/>
            </p:spPr>
            <p:txBody>
              <a:bodyPr wrap="square">
                <a:spAutoFit/>
              </a:bodyPr>
              <a:lstStyle/>
              <a:p>
                <a:r>
                  <a:rPr lang="en-CA" dirty="0"/>
                  <a:t>Therefore, together with our conventions on empty and one-element index sets, we find that </a:t>
                </a:r>
              </a:p>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acc>
                            <m:accPr>
                              <m:chr m:val="̂"/>
                              <m:ctrlPr>
                                <a:rPr lang="en-CA" i="1" smtClean="0">
                                  <a:latin typeface="Cambria Math" panose="02040503050406030204" pitchFamily="18" charset="0"/>
                                </a:rPr>
                              </m:ctrlPr>
                            </m:accPr>
                            <m:e>
                              <m:r>
                                <a:rPr lang="en-US" b="0" i="1" smtClean="0">
                                  <a:latin typeface="Cambria Math" panose="02040503050406030204" pitchFamily="18" charset="0"/>
                                </a:rPr>
                                <m:t>𝑈</m:t>
                              </m:r>
                            </m:e>
                          </m:acc>
                        </m:e>
                        <m:sup>
                          <m:r>
                            <a:rPr lang="en-US" b="0" i="1" smtClean="0">
                              <a:latin typeface="Cambria Math" panose="02040503050406030204" pitchFamily="18" charset="0"/>
                            </a:rPr>
                            <m:t>(</m:t>
                          </m:r>
                          <m:d>
                            <m:dPr>
                              <m:begChr m:val="⌈"/>
                              <m:endChr m:val="⌉"/>
                              <m:ctrlPr>
                                <a:rPr lang="en-CA" i="1" smtClean="0">
                                  <a:latin typeface="Cambria Math" panose="02040503050406030204" pitchFamily="18" charset="0"/>
                                </a:rPr>
                              </m:ctrlPr>
                            </m:dPr>
                            <m:e>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𝑁</m:t>
                                  </m:r>
                                </m:e>
                              </m:func>
                            </m:e>
                          </m:d>
                          <m:r>
                            <a:rPr lang="en-US" b="0" i="1" smtClean="0">
                              <a:latin typeface="Cambria Math" panose="02040503050406030204" pitchFamily="18" charset="0"/>
                            </a:rPr>
                            <m:t>+1)</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𝑈</m:t>
                              </m:r>
                            </m:e>
                          </m:acc>
                        </m:e>
                        <m:sub>
                          <m:r>
                            <a:rPr lang="en-US" b="0" i="1" smtClean="0">
                              <a:latin typeface="Cambria Math" panose="02040503050406030204" pitchFamily="18" charset="0"/>
                            </a:rPr>
                            <m:t>𝑝𝑎𝑖𝑟</m:t>
                          </m:r>
                        </m:sub>
                        <m: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d>
                                <m:dPr>
                                  <m:begChr m:val="⌈"/>
                                  <m:endChr m:val="⌉"/>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𝑁</m:t>
                                      </m:r>
                                    </m:e>
                                  </m:func>
                                </m:e>
                              </m:d>
                            </m:sup>
                          </m:sSup>
                          <m:r>
                            <a:rPr lang="en-US" b="0" i="1" smtClean="0">
                              <a:latin typeface="Cambria Math" panose="02040503050406030204" pitchFamily="18" charset="0"/>
                            </a:rPr>
                            <m:t>)</m:t>
                          </m:r>
                        </m:sup>
                      </m:sSubSup>
                    </m:oMath>
                  </m:oMathPara>
                </a14:m>
                <a:endParaRPr lang="en-CA" dirty="0"/>
              </a:p>
              <a:p>
                <a:r>
                  <a:rPr lang="en-CA" dirty="0"/>
                  <a:t>has a cost of </a:t>
                </a:r>
                <a14:m>
                  <m:oMath xmlns:m="http://schemas.openxmlformats.org/officeDocument/2006/math">
                    <m:r>
                      <a:rPr lang="en-CA"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2</m:t>
                            </m:r>
                          </m:e>
                          <m:sup>
                            <m:d>
                              <m:dPr>
                                <m:begChr m:val="⌈"/>
                                <m:endChr m:val="⌉"/>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sSub>
                                      <m:sSubPr>
                                        <m:ctrlPr>
                                          <a:rPr lang="en-US" b="0" i="1"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log</m:t>
                                        </m:r>
                                      </m:e>
                                      <m:sub>
                                        <m:r>
                                          <a:rPr lang="en-US" b="0" i="1" smtClean="0">
                                            <a:latin typeface="Cambria Math" panose="02040503050406030204" pitchFamily="18" charset="0"/>
                                            <a:ea typeface="Cambria Math" panose="02040503050406030204" pitchFamily="18" charset="0"/>
                                          </a:rPr>
                                          <m:t>2</m:t>
                                        </m:r>
                                      </m:sub>
                                    </m:sSub>
                                  </m:fName>
                                  <m:e>
                                    <m:r>
                                      <a:rPr lang="en-US" b="0" i="1" smtClean="0">
                                        <a:latin typeface="Cambria Math" panose="02040503050406030204" pitchFamily="18" charset="0"/>
                                        <a:ea typeface="Cambria Math" panose="02040503050406030204" pitchFamily="18" charset="0"/>
                                      </a:rPr>
                                      <m:t>𝑁</m:t>
                                    </m:r>
                                  </m:e>
                                </m:func>
                              </m:e>
                            </m:d>
                          </m:sup>
                        </m:sSup>
                      </m:e>
                    </m:d>
                    <m:r>
                      <a:rPr lang="en-US" b="0" i="1" smtClean="0">
                        <a:latin typeface="Cambria Math" panose="02040503050406030204" pitchFamily="18" charset="0"/>
                        <a:ea typeface="Cambria Math" panose="02040503050406030204" pitchFamily="18" charset="0"/>
                      </a:rPr>
                      <m:t>=</m:t>
                    </m:r>
                    <m:r>
                      <a:rPr lang="en-CA"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𝑁</m:t>
                        </m:r>
                      </m:e>
                    </m:d>
                  </m:oMath>
                </a14:m>
                <a:r>
                  <a:rPr lang="en-CA" dirty="0"/>
                  <a:t>, i.e. it is linear in the number of qubits. In other words, the exponential cost in the number of iterations is compensated by the fact that we only need logarithmically many iterations. </a:t>
                </a:r>
              </a:p>
            </p:txBody>
          </p:sp>
        </mc:Choice>
        <mc:Fallback xmlns="">
          <p:sp>
            <p:nvSpPr>
              <p:cNvPr id="30" name="TextBox 29">
                <a:extLst>
                  <a:ext uri="{FF2B5EF4-FFF2-40B4-BE49-F238E27FC236}">
                    <a16:creationId xmlns:a16="http://schemas.microsoft.com/office/drawing/2014/main" id="{AB842E06-2557-5FEA-0BA7-F1F3A03E2DF6}"/>
                  </a:ext>
                </a:extLst>
              </p:cNvPr>
              <p:cNvSpPr txBox="1">
                <a:spLocks noRot="1" noChangeAspect="1" noMove="1" noResize="1" noEditPoints="1" noAdjustHandles="1" noChangeArrowheads="1" noChangeShapeType="1" noTextEdit="1"/>
              </p:cNvSpPr>
              <p:nvPr/>
            </p:nvSpPr>
            <p:spPr>
              <a:xfrm>
                <a:off x="231288" y="4440105"/>
                <a:ext cx="11265311" cy="1390765"/>
              </a:xfrm>
              <a:prstGeom prst="rect">
                <a:avLst/>
              </a:prstGeom>
              <a:blipFill>
                <a:blip r:embed="rId13"/>
                <a:stretch>
                  <a:fillRect l="-450" t="-1802" b="-6306"/>
                </a:stretch>
              </a:blipFill>
            </p:spPr>
            <p:txBody>
              <a:bodyPr/>
              <a:lstStyle/>
              <a:p>
                <a:r>
                  <a:rPr lang="en-CA">
                    <a:noFill/>
                  </a:rPr>
                  <a:t> </a:t>
                </a:r>
              </a:p>
            </p:txBody>
          </p:sp>
        </mc:Fallback>
      </mc:AlternateContent>
    </p:spTree>
    <p:custDataLst>
      <p:tags r:id="rId1"/>
    </p:custDataLst>
    <p:extLst>
      <p:ext uri="{BB962C8B-B14F-4D97-AF65-F5344CB8AC3E}">
        <p14:creationId xmlns:p14="http://schemas.microsoft.com/office/powerpoint/2010/main" val="32370997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3.7"/>
</p:tagLst>
</file>

<file path=ppt/tags/tag2.xml><?xml version="1.0" encoding="utf-8"?>
<p:tagLst xmlns:a="http://schemas.openxmlformats.org/drawingml/2006/main" xmlns:r="http://schemas.openxmlformats.org/officeDocument/2006/relationships" xmlns:p="http://schemas.openxmlformats.org/presentationml/2006/main">
  <p:tag name="TIMING" val="|33.7"/>
</p:tagLst>
</file>

<file path=ppt/tags/tag3.xml><?xml version="1.0" encoding="utf-8"?>
<p:tagLst xmlns:a="http://schemas.openxmlformats.org/drawingml/2006/main" xmlns:r="http://schemas.openxmlformats.org/officeDocument/2006/relationships" xmlns:p="http://schemas.openxmlformats.org/presentationml/2006/main">
  <p:tag name="TIMING" val="|33.7"/>
</p:tagLst>
</file>

<file path=ppt/tags/tag4.xml><?xml version="1.0" encoding="utf-8"?>
<p:tagLst xmlns:a="http://schemas.openxmlformats.org/drawingml/2006/main" xmlns:r="http://schemas.openxmlformats.org/officeDocument/2006/relationships" xmlns:p="http://schemas.openxmlformats.org/presentationml/2006/main">
  <p:tag name="TIMING" val="|33.7"/>
</p:tagLst>
</file>

<file path=ppt/tags/tag5.xml><?xml version="1.0" encoding="utf-8"?>
<p:tagLst xmlns:a="http://schemas.openxmlformats.org/drawingml/2006/main" xmlns:r="http://schemas.openxmlformats.org/officeDocument/2006/relationships" xmlns:p="http://schemas.openxmlformats.org/presentationml/2006/main">
  <p:tag name="TIMING" val="|33.7"/>
</p:tagLst>
</file>

<file path=ppt/tags/tag6.xml><?xml version="1.0" encoding="utf-8"?>
<p:tagLst xmlns:a="http://schemas.openxmlformats.org/drawingml/2006/main" xmlns:r="http://schemas.openxmlformats.org/officeDocument/2006/relationships" xmlns:p="http://schemas.openxmlformats.org/presentationml/2006/main">
  <p:tag name="TIMING" val="|33.7"/>
</p:tagLst>
</file>

<file path=ppt/tags/tag7.xml><?xml version="1.0" encoding="utf-8"?>
<p:tagLst xmlns:a="http://schemas.openxmlformats.org/drawingml/2006/main" xmlns:r="http://schemas.openxmlformats.org/officeDocument/2006/relationships" xmlns:p="http://schemas.openxmlformats.org/presentationml/2006/main">
  <p:tag name="TIMING" val="|33.7"/>
</p:tagLst>
</file>

<file path=ppt/tags/tag8.xml><?xml version="1.0" encoding="utf-8"?>
<p:tagLst xmlns:a="http://schemas.openxmlformats.org/drawingml/2006/main" xmlns:r="http://schemas.openxmlformats.org/officeDocument/2006/relationships" xmlns:p="http://schemas.openxmlformats.org/presentationml/2006/main">
  <p:tag name="TIMING" val="|33.7"/>
</p:tagLst>
</file>

<file path=ppt/tags/tag9.xml><?xml version="1.0" encoding="utf-8"?>
<p:tagLst xmlns:a="http://schemas.openxmlformats.org/drawingml/2006/main" xmlns:r="http://schemas.openxmlformats.org/officeDocument/2006/relationships" xmlns:p="http://schemas.openxmlformats.org/presentationml/2006/main">
  <p:tag name="TIMING" val="|33.7"/>
</p:tagLst>
</file>

<file path=ppt/tags/tag10.xml><?xml version="1.0" encoding="utf-8"?>
<p:tagLst xmlns:a="http://schemas.openxmlformats.org/drawingml/2006/main" xmlns:r="http://schemas.openxmlformats.org/officeDocument/2006/relationships" xmlns:p="http://schemas.openxmlformats.org/presentationml/2006/main">
  <p:tag name="TIMING" val="|33.7"/>
</p:tagLst>
</file>

<file path=ppt/tags/tag11.xml><?xml version="1.0" encoding="utf-8"?>
<p:tagLst xmlns:a="http://schemas.openxmlformats.org/drawingml/2006/main" xmlns:r="http://schemas.openxmlformats.org/officeDocument/2006/relationships" xmlns:p="http://schemas.openxmlformats.org/presentationml/2006/main">
  <p:tag name="TIMING" val="|33.7"/>
</p:tagLst>
</file>

<file path=ppt/tags/tag12.xml><?xml version="1.0" encoding="utf-8"?>
<p:tagLst xmlns:a="http://schemas.openxmlformats.org/drawingml/2006/main" xmlns:r="http://schemas.openxmlformats.org/officeDocument/2006/relationships" xmlns:p="http://schemas.openxmlformats.org/presentationml/2006/main">
  <p:tag name="TIMING" val="|33.7"/>
</p:tagLst>
</file>

<file path=ppt/tags/tag13.xml><?xml version="1.0" encoding="utf-8"?>
<p:tagLst xmlns:a="http://schemas.openxmlformats.org/drawingml/2006/main" xmlns:r="http://schemas.openxmlformats.org/officeDocument/2006/relationships" xmlns:p="http://schemas.openxmlformats.org/presentationml/2006/main">
  <p:tag name="TIMING" val="|33.7"/>
</p:tagLst>
</file>

<file path=ppt/tags/tag14.xml><?xml version="1.0" encoding="utf-8"?>
<p:tagLst xmlns:a="http://schemas.openxmlformats.org/drawingml/2006/main" xmlns:r="http://schemas.openxmlformats.org/officeDocument/2006/relationships" xmlns:p="http://schemas.openxmlformats.org/presentationml/2006/main">
  <p:tag name="TIMING" val="|33.7"/>
</p:tagLst>
</file>

<file path=ppt/tags/tag15.xml><?xml version="1.0" encoding="utf-8"?>
<p:tagLst xmlns:a="http://schemas.openxmlformats.org/drawingml/2006/main" xmlns:r="http://schemas.openxmlformats.org/officeDocument/2006/relationships" xmlns:p="http://schemas.openxmlformats.org/presentationml/2006/main">
  <p:tag name="TIMING" val="|33.7"/>
</p:tagLst>
</file>

<file path=ppt/tags/tag16.xml><?xml version="1.0" encoding="utf-8"?>
<p:tagLst xmlns:a="http://schemas.openxmlformats.org/drawingml/2006/main" xmlns:r="http://schemas.openxmlformats.org/officeDocument/2006/relationships" xmlns:p="http://schemas.openxmlformats.org/presentationml/2006/main">
  <p:tag name="TIMING" val="|33.7"/>
</p:tagLst>
</file>

<file path=ppt/tags/tag17.xml><?xml version="1.0" encoding="utf-8"?>
<p:tagLst xmlns:a="http://schemas.openxmlformats.org/drawingml/2006/main" xmlns:r="http://schemas.openxmlformats.org/officeDocument/2006/relationships" xmlns:p="http://schemas.openxmlformats.org/presentationml/2006/main">
  <p:tag name="TIMING" val="|18.9|5.4|18|9.3|8.8"/>
</p:tagLst>
</file>

<file path=ppt/tags/tag18.xml><?xml version="1.0" encoding="utf-8"?>
<p:tagLst xmlns:a="http://schemas.openxmlformats.org/drawingml/2006/main" xmlns:r="http://schemas.openxmlformats.org/officeDocument/2006/relationships" xmlns:p="http://schemas.openxmlformats.org/presentationml/2006/main">
  <p:tag name="TIMING" val="|33.7"/>
</p:tagLst>
</file>

<file path=ppt/tags/tag19.xml><?xml version="1.0" encoding="utf-8"?>
<p:tagLst xmlns:a="http://schemas.openxmlformats.org/drawingml/2006/main" xmlns:r="http://schemas.openxmlformats.org/officeDocument/2006/relationships" xmlns:p="http://schemas.openxmlformats.org/presentationml/2006/main">
  <p:tag name="TIMING" val="|33.7"/>
</p:tagLst>
</file>

<file path=ppt/tags/tag20.xml><?xml version="1.0" encoding="utf-8"?>
<p:tagLst xmlns:a="http://schemas.openxmlformats.org/drawingml/2006/main" xmlns:r="http://schemas.openxmlformats.org/officeDocument/2006/relationships" xmlns:p="http://schemas.openxmlformats.org/presentationml/2006/main">
  <p:tag name="TIMING" val="|33.7"/>
</p:tagLst>
</file>

<file path=ppt/tags/tag21.xml><?xml version="1.0" encoding="utf-8"?>
<p:tagLst xmlns:a="http://schemas.openxmlformats.org/drawingml/2006/main" xmlns:r="http://schemas.openxmlformats.org/officeDocument/2006/relationships" xmlns:p="http://schemas.openxmlformats.org/presentationml/2006/main">
  <p:tag name="TIMING" val="|33.7"/>
</p:tagLst>
</file>

<file path=ppt/tags/tag22.xml><?xml version="1.0" encoding="utf-8"?>
<p:tagLst xmlns:a="http://schemas.openxmlformats.org/drawingml/2006/main" xmlns:r="http://schemas.openxmlformats.org/officeDocument/2006/relationships" xmlns:p="http://schemas.openxmlformats.org/presentationml/2006/main">
  <p:tag name="TIMING" val="|33.7"/>
</p:tagLst>
</file>

<file path=ppt/tags/tag23.xml><?xml version="1.0" encoding="utf-8"?>
<p:tagLst xmlns:a="http://schemas.openxmlformats.org/drawingml/2006/main" xmlns:r="http://schemas.openxmlformats.org/officeDocument/2006/relationships" xmlns:p="http://schemas.openxmlformats.org/presentationml/2006/main">
  <p:tag name="TIMING" val="|3|6.4|14|13.7|20.4"/>
</p:tagLst>
</file>

<file path=ppt/tags/tag24.xml><?xml version="1.0" encoding="utf-8"?>
<p:tagLst xmlns:a="http://schemas.openxmlformats.org/drawingml/2006/main" xmlns:r="http://schemas.openxmlformats.org/officeDocument/2006/relationships" xmlns:p="http://schemas.openxmlformats.org/presentationml/2006/main">
  <p:tag name="TIMING" val="|3|6.4|14|13.7|20.4"/>
</p:tagLst>
</file>

<file path=ppt/tags/tag25.xml><?xml version="1.0" encoding="utf-8"?>
<p:tagLst xmlns:a="http://schemas.openxmlformats.org/drawingml/2006/main" xmlns:r="http://schemas.openxmlformats.org/officeDocument/2006/relationships" xmlns:p="http://schemas.openxmlformats.org/presentationml/2006/main">
  <p:tag name="TIMING" val="|33.7"/>
</p:tagLst>
</file>

<file path=ppt/tags/tag26.xml><?xml version="1.0" encoding="utf-8"?>
<p:tagLst xmlns:a="http://schemas.openxmlformats.org/drawingml/2006/main" xmlns:r="http://schemas.openxmlformats.org/officeDocument/2006/relationships" xmlns:p="http://schemas.openxmlformats.org/presentationml/2006/main">
  <p:tag name="TIMING" val="|33.7"/>
</p:tagLst>
</file>

<file path=ppt/tags/tag27.xml><?xml version="1.0" encoding="utf-8"?>
<p:tagLst xmlns:a="http://schemas.openxmlformats.org/drawingml/2006/main" xmlns:r="http://schemas.openxmlformats.org/officeDocument/2006/relationships" xmlns:p="http://schemas.openxmlformats.org/presentationml/2006/main">
  <p:tag name="TIMING" val="|3|6.4|14|13.7|20.4"/>
</p:tagLst>
</file>

<file path=ppt/tags/tag28.xml><?xml version="1.0" encoding="utf-8"?>
<p:tagLst xmlns:a="http://schemas.openxmlformats.org/drawingml/2006/main" xmlns:r="http://schemas.openxmlformats.org/officeDocument/2006/relationships" xmlns:p="http://schemas.openxmlformats.org/presentationml/2006/main">
  <p:tag name="TIMING" val="|33.7"/>
</p:tagLst>
</file>

<file path=ppt/tags/tag29.xml><?xml version="1.0" encoding="utf-8"?>
<p:tagLst xmlns:a="http://schemas.openxmlformats.org/drawingml/2006/main" xmlns:r="http://schemas.openxmlformats.org/officeDocument/2006/relationships" xmlns:p="http://schemas.openxmlformats.org/presentationml/2006/main">
  <p:tag name="TIMING" val="|33.7"/>
</p:tagLst>
</file>

<file path=ppt/tags/tag30.xml><?xml version="1.0" encoding="utf-8"?>
<p:tagLst xmlns:a="http://schemas.openxmlformats.org/drawingml/2006/main" xmlns:r="http://schemas.openxmlformats.org/officeDocument/2006/relationships" xmlns:p="http://schemas.openxmlformats.org/presentationml/2006/main">
  <p:tag name="TIMING" val="|33.7"/>
</p:tagLst>
</file>

<file path=ppt/tags/tag31.xml><?xml version="1.0" encoding="utf-8"?>
<p:tagLst xmlns:a="http://schemas.openxmlformats.org/drawingml/2006/main" xmlns:r="http://schemas.openxmlformats.org/officeDocument/2006/relationships" xmlns:p="http://schemas.openxmlformats.org/presentationml/2006/main">
  <p:tag name="TIMING" val="|33.7"/>
</p:tagLst>
</file>

<file path=ppt/tags/tag32.xml><?xml version="1.0" encoding="utf-8"?>
<p:tagLst xmlns:a="http://schemas.openxmlformats.org/drawingml/2006/main" xmlns:r="http://schemas.openxmlformats.org/officeDocument/2006/relationships" xmlns:p="http://schemas.openxmlformats.org/presentationml/2006/main">
  <p:tag name="TIMING" val="|33.7"/>
</p:tagLst>
</file>

<file path=ppt/theme/theme1.xml><?xml version="1.0" encoding="utf-8"?>
<a:theme xmlns:a="http://schemas.openxmlformats.org/drawingml/2006/main" name="Office">
  <a:themeElements>
    <a:clrScheme name="UIBK">
      <a:dk1>
        <a:sysClr val="windowText" lastClr="000000"/>
      </a:dk1>
      <a:lt1>
        <a:sysClr val="window" lastClr="FFFFFF"/>
      </a:lt1>
      <a:dk2>
        <a:srgbClr val="44546A"/>
      </a:dk2>
      <a:lt2>
        <a:srgbClr val="E7E6E6"/>
      </a:lt2>
      <a:accent1>
        <a:srgbClr val="003361"/>
      </a:accent1>
      <a:accent2>
        <a:srgbClr val="F39200"/>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BK Vorlage.potx" id="{58FE73E0-1F97-4983-8CCE-E0D27B996328}" vid="{0FC2F37A-9B86-4E8E-9FF9-7FC6DC429F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97928</TotalTime>
  <Words>8801</Words>
  <Application>Microsoft Macintosh PowerPoint</Application>
  <PresentationFormat>Widescreen</PresentationFormat>
  <Paragraphs>602</Paragraphs>
  <Slides>34</Slides>
  <Notes>34</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Calibri</vt:lpstr>
      <vt:lpstr>Calibri Light</vt:lpstr>
      <vt:lpstr>Cambria Math</vt:lpstr>
      <vt:lpstr>Wingdings</vt:lpstr>
      <vt:lpstr>Office</vt:lpstr>
      <vt:lpstr>A Universal Quantum Computer From Relativistic Motion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your attention!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L</dc:creator>
  <cp:lastModifiedBy>Phil L</cp:lastModifiedBy>
  <cp:revision>317</cp:revision>
  <dcterms:created xsi:type="dcterms:W3CDTF">2024-02-16T21:19:37Z</dcterms:created>
  <dcterms:modified xsi:type="dcterms:W3CDTF">2026-03-27T10:07:07Z</dcterms:modified>
</cp:coreProperties>
</file>