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3.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4.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5.xml" ContentType="application/vnd.openxmlformats-officedocument.presentationml.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comment6.xml" ContentType="application/vnd.openxmlformats-officedocument.presentationml.comments+xml"/>
  <Override PartName="/ppt/notesSlides/notesSlide21.xml" ContentType="application/vnd.openxmlformats-officedocument.presentationml.notesSlide+xml"/>
  <Override PartName="/ppt/comments/comment7.xml" ContentType="application/vnd.openxmlformats-officedocument.presentationml.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4" r:id="rId1"/>
  </p:sldMasterIdLst>
  <p:notesMasterIdLst>
    <p:notesMasterId r:id="rId26"/>
  </p:notesMasterIdLst>
  <p:handoutMasterIdLst>
    <p:handoutMasterId r:id="rId27"/>
  </p:handoutMasterIdLst>
  <p:sldIdLst>
    <p:sldId id="263" r:id="rId2"/>
    <p:sldId id="295" r:id="rId3"/>
    <p:sldId id="296" r:id="rId4"/>
    <p:sldId id="297" r:id="rId5"/>
    <p:sldId id="288" r:id="rId6"/>
    <p:sldId id="285" r:id="rId7"/>
    <p:sldId id="309" r:id="rId8"/>
    <p:sldId id="301" r:id="rId9"/>
    <p:sldId id="312" r:id="rId10"/>
    <p:sldId id="306" r:id="rId11"/>
    <p:sldId id="310" r:id="rId12"/>
    <p:sldId id="307" r:id="rId13"/>
    <p:sldId id="311" r:id="rId14"/>
    <p:sldId id="298" r:id="rId15"/>
    <p:sldId id="292" r:id="rId16"/>
    <p:sldId id="294" r:id="rId17"/>
    <p:sldId id="278" r:id="rId18"/>
    <p:sldId id="317" r:id="rId19"/>
    <p:sldId id="289" r:id="rId20"/>
    <p:sldId id="284" r:id="rId21"/>
    <p:sldId id="305" r:id="rId22"/>
    <p:sldId id="314" r:id="rId23"/>
    <p:sldId id="315" r:id="rId24"/>
    <p:sldId id="31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 LeMaitre" initials="PL" lastIdx="34" clrIdx="0">
    <p:extLst>
      <p:ext uri="{19B8F6BF-5375-455C-9EA6-DF929625EA0E}">
        <p15:presenceInfo xmlns:p15="http://schemas.microsoft.com/office/powerpoint/2012/main" userId="S::plemaitr@uwaterloo.ca::e88047f5-e003-422b-9334-fbc8984639a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781" autoAdjust="0"/>
  </p:normalViewPr>
  <p:slideViewPr>
    <p:cSldViewPr snapToGrid="0">
      <p:cViewPr>
        <p:scale>
          <a:sx n="100" d="100"/>
          <a:sy n="100" d="100"/>
        </p:scale>
        <p:origin x="936" y="60"/>
      </p:cViewPr>
      <p:guideLst/>
    </p:cSldViewPr>
  </p:slideViewPr>
  <p:notesTextViewPr>
    <p:cViewPr>
      <p:scale>
        <a:sx n="1" d="1"/>
        <a:sy n="1" d="1"/>
      </p:scale>
      <p:origin x="0" y="0"/>
    </p:cViewPr>
  </p:notesTextViewPr>
  <p:sorterViewPr>
    <p:cViewPr>
      <p:scale>
        <a:sx n="100" d="100"/>
        <a:sy n="100" d="100"/>
      </p:scale>
      <p:origin x="0" y="-194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5-18T13:45:54.183" idx="28">
    <p:pos x="117" y="1229"/>
    <p:text>We can write it in this form if we Ignore spin-statistics and instead say that the particles are distinguishable</p:text>
    <p:extLst>
      <p:ext uri="{C676402C-5697-4E1C-873F-D02D1690AC5C}">
        <p15:threadingInfo xmlns:p15="http://schemas.microsoft.com/office/powerpoint/2012/main" timeZoneBias="240"/>
      </p:ext>
    </p:extLst>
  </p:cm>
  <p:cm authorId="1" dt="2022-05-19T09:12:13.178" idx="34">
    <p:pos x="4927" y="1825"/>
    <p:text>Feynman didnt specify ring polymers; merely ring-like molecules. However, Chandler and others make a further connection to ring polymers</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2-05-18T18:37:31.942" idx="29">
    <p:pos x="5482" y="3479"/>
    <p:text>Since quantum particles are ring polymers, the density distribution of quantum particles is the number of them times the single-particle propagator for a ring polymer</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3-21T15:37:30.573" idx="23">
    <p:pos x="7478" y="1913"/>
    <p:text>Error in spectral method falls off exponentially, while the errors in other methods decrease as polynomials</p:text>
    <p:extLst>
      <p:ext uri="{C676402C-5697-4E1C-873F-D02D1690AC5C}">
        <p15:threadingInfo xmlns:p15="http://schemas.microsoft.com/office/powerpoint/2012/main" timeZoneBias="240"/>
      </p:ext>
    </p:extLst>
  </p:cm>
  <p:cm authorId="1" dt="2021-03-21T15:37:54.826" idx="24">
    <p:pos x="7478" y="2049"/>
    <p:text>finite difference has roughly 1/N^2 decrease for example</p:text>
    <p:extLst>
      <p:ext uri="{C676402C-5697-4E1C-873F-D02D1690AC5C}">
        <p15:threadingInfo xmlns:p15="http://schemas.microsoft.com/office/powerpoint/2012/main" timeZoneBias="240">
          <p15:parentCm authorId="1" idx="23"/>
        </p15:threadingInfo>
      </p:ext>
    </p:extLst>
  </p:cm>
  <p:cm authorId="1" dt="2021-03-21T15:38:41.769" idx="25">
    <p:pos x="6096" y="924"/>
    <p:text>be careful here as the KS-DFT equations could be solved in parallel relatively quickly</p:text>
    <p:extLst>
      <p:ext uri="{C676402C-5697-4E1C-873F-D02D1690AC5C}">
        <p15:threadingInfo xmlns:p15="http://schemas.microsoft.com/office/powerpoint/2012/main" timeZoneBias="240"/>
      </p:ext>
    </p:extLst>
  </p:cm>
  <p:cm authorId="1" dt="2021-03-27T10:33:01.052" idx="26">
    <p:pos x="4664" y="1269"/>
    <p:text>the N in OF-DFT refers to the number of basis functions while the N in KS-DFT refers to the number of particles</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2-05-19T00:50:16.871" idx="32">
    <p:pos x="7331" y="3493"/>
    <p:text>As you can see, the valleys between peaks are too wide, meaning the Pauli repulsion is too strong</p:text>
    <p:extLst>
      <p:ext uri="{C676402C-5697-4E1C-873F-D02D1690AC5C}">
        <p15:threadingInfo xmlns:p15="http://schemas.microsoft.com/office/powerpoint/2012/main" timeZoneBias="24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2-05-19T00:48:07.711" idx="31">
    <p:pos x="7451" y="2944"/>
    <p:text>Consistent with Perdew's analysis</p:text>
    <p:extLst>
      <p:ext uri="{C676402C-5697-4E1C-873F-D02D1690AC5C}">
        <p15:threadingInfo xmlns:p15="http://schemas.microsoft.com/office/powerpoint/2012/main" timeZoneBias="2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1-03-15T13:06:51.168" idx="1">
    <p:pos x="7420" y="1252"/>
    <p:text>what about them is not computationally efficient?</p:text>
    <p:extLst>
      <p:ext uri="{C676402C-5697-4E1C-873F-D02D1690AC5C}">
        <p15:threadingInfo xmlns:p15="http://schemas.microsoft.com/office/powerpoint/2012/main" timeZoneBias="240"/>
      </p:ext>
    </p:extLst>
  </p:cm>
  <p:cm authorId="1" dt="2021-03-15T15:56:57.417" idx="14">
    <p:pos x="7420" y="1388"/>
    <p:text>need a lot of them to accurately model eigenfunctions</p:text>
    <p:extLst>
      <p:ext uri="{C676402C-5697-4E1C-873F-D02D1690AC5C}">
        <p15:threadingInfo xmlns:p15="http://schemas.microsoft.com/office/powerpoint/2012/main" timeZoneBias="240">
          <p15:parentCm authorId="1" idx="1"/>
        </p15:threadingInfo>
      </p:ext>
    </p:extLst>
  </p:cm>
  <p:cm authorId="1" dt="2021-03-15T13:07:51.224" idx="2">
    <p:pos x="7430" y="1714"/>
    <p:text>what systems will we model after simple atomic and molecular systems?</p:text>
    <p:extLst>
      <p:ext uri="{C676402C-5697-4E1C-873F-D02D1690AC5C}">
        <p15:threadingInfo xmlns:p15="http://schemas.microsoft.com/office/powerpoint/2012/main" timeZoneBias="240"/>
      </p:ext>
    </p:extLst>
  </p:cm>
  <p:cm authorId="1" dt="2021-03-17T16:56:50.757" idx="19">
    <p:pos x="7430" y="1850"/>
    <p:text>polyatomic systems and periodic solid-state materials would be an interesting application</p:text>
    <p:extLst>
      <p:ext uri="{C676402C-5697-4E1C-873F-D02D1690AC5C}">
        <p15:threadingInfo xmlns:p15="http://schemas.microsoft.com/office/powerpoint/2012/main" timeZoneBias="240">
          <p15:parentCm authorId="1" idx="2"/>
        </p15:threadingInfo>
      </p:ext>
    </p:extLst>
  </p:cm>
  <p:cm authorId="1" dt="2021-03-15T13:09:26.059" idx="3">
    <p:pos x="7446" y="1982"/>
    <p:text>what are these properties?</p:text>
    <p:extLst>
      <p:ext uri="{C676402C-5697-4E1C-873F-D02D1690AC5C}">
        <p15:threadingInfo xmlns:p15="http://schemas.microsoft.com/office/powerpoint/2012/main" timeZoneBias="240"/>
      </p:ext>
    </p:extLst>
  </p:cm>
  <p:cm authorId="1" dt="2021-03-17T17:09:22.587" idx="21">
    <p:pos x="7446" y="2118"/>
    <p:text>Integrals involving Gaussians are much easier to deal with and are quicker  to calculate</p:text>
    <p:extLst>
      <p:ext uri="{C676402C-5697-4E1C-873F-D02D1690AC5C}">
        <p15:threadingInfo xmlns:p15="http://schemas.microsoft.com/office/powerpoint/2012/main" timeZoneBias="240">
          <p15:parentCm authorId="1" idx="3"/>
        </p15:threadingInfo>
      </p:ext>
    </p:extLst>
  </p:cm>
  <p:cm authorId="1" dt="2021-03-15T13:11:37.617" idx="5">
    <p:pos x="7446" y="2216"/>
    <p:text>what would this tell us?</p:text>
    <p:extLst>
      <p:ext uri="{C676402C-5697-4E1C-873F-D02D1690AC5C}">
        <p15:threadingInfo xmlns:p15="http://schemas.microsoft.com/office/powerpoint/2012/main" timeZoneBias="240"/>
      </p:ext>
    </p:extLst>
  </p:cm>
  <p:cm authorId="1" dt="2021-03-17T17:01:39.087" idx="20">
    <p:pos x="7446" y="2352"/>
    <p:text>atoms have highly inhomogeneous shell structure due partly to Pauli-exclusion principle, so there are discontinuous jumps in electron shells; finding this would be a good confirmation of the validity of the theory</p:text>
    <p:extLst>
      <p:ext uri="{C676402C-5697-4E1C-873F-D02D1690AC5C}">
        <p15:threadingInfo xmlns:p15="http://schemas.microsoft.com/office/powerpoint/2012/main" timeZoneBias="240">
          <p15:parentCm authorId="1" idx="5"/>
        </p15:threadingInfo>
      </p:ext>
    </p:extLst>
  </p:cm>
  <p:cm authorId="1" dt="2021-03-27T10:34:56.315" idx="27">
    <p:pos x="7416" y="1462"/>
    <p:text>Due to the sheer amount of bessel basis functions required to accurately model the electron density, we only display the radial component here - partial motivation for using Gaussian basis functions</p:text>
    <p:extLst>
      <p:ext uri="{C676402C-5697-4E1C-873F-D02D1690AC5C}">
        <p15:threadingInfo xmlns:p15="http://schemas.microsoft.com/office/powerpoint/2012/main" timeZoneBias="2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2-05-18T20:03:50.316" idx="30">
    <p:pos x="5382" y="2542"/>
    <p:text>Ill-chosen exponents that dont change with the basis size can lead to basis set incompletness in the infinite size limit</p:text>
    <p:extLst>
      <p:ext uri="{C676402C-5697-4E1C-873F-D02D1690AC5C}">
        <p15:threadingInfo xmlns:p15="http://schemas.microsoft.com/office/powerpoint/2012/main" timeZoneBias="24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182EB3-6A24-4A14-9BCF-26F01CBBD6D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78FE23BE-2C2D-4E24-83F7-58CB5E7D0C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018BBE-3BDD-4AB5-865B-ACB260C23142}" type="datetimeFigureOut">
              <a:rPr lang="en-CA" smtClean="0"/>
              <a:t>2022-06-06</a:t>
            </a:fld>
            <a:endParaRPr lang="en-CA"/>
          </a:p>
        </p:txBody>
      </p:sp>
      <p:sp>
        <p:nvSpPr>
          <p:cNvPr id="4" name="Footer Placeholder 3">
            <a:extLst>
              <a:ext uri="{FF2B5EF4-FFF2-40B4-BE49-F238E27FC236}">
                <a16:creationId xmlns:a16="http://schemas.microsoft.com/office/drawing/2014/main" id="{49721C68-9454-4FE7-A9E6-2038646473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A7C61A81-2DFF-4502-83A2-C8CB7B0ADB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3B9424-0271-4EBC-9B4B-1D3E51CBC2BF}" type="slidenum">
              <a:rPr lang="en-CA" smtClean="0"/>
              <a:t>‹#›</a:t>
            </a:fld>
            <a:endParaRPr lang="en-CA"/>
          </a:p>
        </p:txBody>
      </p:sp>
    </p:spTree>
    <p:extLst>
      <p:ext uri="{BB962C8B-B14F-4D97-AF65-F5344CB8AC3E}">
        <p14:creationId xmlns:p14="http://schemas.microsoft.com/office/powerpoint/2010/main" val="399107559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5BE654-FD13-40ED-A4E0-570CF3627E96}" type="datetimeFigureOut">
              <a:rPr lang="en-CA" smtClean="0"/>
              <a:t>2022-06-06</a:t>
            </a:fld>
            <a:endParaRPr lang="en-C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77B772-3410-4BDA-97DF-E63A12CFC7F1}" type="slidenum">
              <a:rPr lang="en-CA" smtClean="0"/>
              <a:t>‹#›</a:t>
            </a:fld>
            <a:endParaRPr lang="en-CA" dirty="0"/>
          </a:p>
        </p:txBody>
      </p:sp>
    </p:spTree>
    <p:extLst>
      <p:ext uri="{BB962C8B-B14F-4D97-AF65-F5344CB8AC3E}">
        <p14:creationId xmlns:p14="http://schemas.microsoft.com/office/powerpoint/2010/main" val="1941987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951241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The parameter </a:t>
                </a:r>
                <a14:m>
                  <m:oMath xmlns:m="http://schemas.openxmlformats.org/officeDocument/2006/math">
                    <m:r>
                      <a:rPr lang="en-CA" b="0" i="1" smtClean="0">
                        <a:latin typeface="Cambria Math" panose="02040503050406030204" pitchFamily="18" charset="0"/>
                      </a:rPr>
                      <m:t>𝑠</m:t>
                    </m:r>
                  </m:oMath>
                </a14:m>
                <a:r>
                  <a:rPr lang="en-CA" dirty="0"/>
                  <a:t> is not a time,</a:t>
                </a:r>
                <a:r>
                  <a:rPr lang="en-CA" baseline="0" dirty="0"/>
                  <a:t> but plays the role of a time in this model</a:t>
                </a:r>
              </a:p>
              <a:p>
                <a:pPr marL="171450" indent="-171450">
                  <a:buFont typeface="Arial" panose="020B0604020202020204" pitchFamily="34" charset="0"/>
                  <a:buChar char="•"/>
                </a:pPr>
                <a:r>
                  <a:rPr lang="en-CA" baseline="0" dirty="0" err="1"/>
                  <a:t>Mermin</a:t>
                </a:r>
                <a:r>
                  <a:rPr lang="en-CA" baseline="0" dirty="0"/>
                  <a:t> formalism says that there exists a functional </a:t>
                </a:r>
                <a14:m>
                  <m:oMath xmlns:m="http://schemas.openxmlformats.org/officeDocument/2006/math">
                    <m:r>
                      <a:rPr lang="en-CA" i="1" baseline="0" dirty="0" smtClean="0">
                        <a:latin typeface="Cambria Math" panose="02040503050406030204" pitchFamily="18" charset="0"/>
                      </a:rPr>
                      <m:t>𝐸</m:t>
                    </m:r>
                    <m:r>
                      <a:rPr lang="en-CA" i="1" baseline="0" dirty="0" smtClean="0">
                        <a:latin typeface="Cambria Math" panose="02040503050406030204" pitchFamily="18" charset="0"/>
                      </a:rPr>
                      <m:t>[</m:t>
                    </m:r>
                    <m:r>
                      <a:rPr lang="en-CA" i="1" baseline="0" dirty="0" smtClean="0">
                        <a:latin typeface="Cambria Math" panose="02040503050406030204" pitchFamily="18" charset="0"/>
                      </a:rPr>
                      <m:t>𝑛</m:t>
                    </m:r>
                    <m:r>
                      <a:rPr lang="en-CA" i="1" baseline="0" dirty="0" smtClean="0">
                        <a:latin typeface="Cambria Math" panose="02040503050406030204" pitchFamily="18" charset="0"/>
                      </a:rPr>
                      <m:t>] </m:t>
                    </m:r>
                  </m:oMath>
                </a14:m>
                <a:r>
                  <a:rPr lang="en-CA" baseline="0" dirty="0"/>
                  <a:t>independent of the field </a:t>
                </a:r>
                <a14:m>
                  <m:oMath xmlns:m="http://schemas.openxmlformats.org/officeDocument/2006/math">
                    <m:r>
                      <a:rPr lang="en-CA" i="1" baseline="0" dirty="0" smtClean="0">
                        <a:latin typeface="Cambria Math" panose="02040503050406030204" pitchFamily="18" charset="0"/>
                      </a:rPr>
                      <m:t>𝑤</m:t>
                    </m:r>
                  </m:oMath>
                </a14:m>
                <a:r>
                  <a:rPr lang="en-CA" baseline="0" dirty="0"/>
                  <a:t>, such that </a:t>
                </a:r>
                <a14:m>
                  <m:oMath xmlns:m="http://schemas.openxmlformats.org/officeDocument/2006/math">
                    <m:r>
                      <a:rPr lang="en-CA" i="1" baseline="0" dirty="0" smtClean="0">
                        <a:latin typeface="Cambria Math" panose="02040503050406030204" pitchFamily="18" charset="0"/>
                      </a:rPr>
                      <m:t>𝐹</m:t>
                    </m:r>
                  </m:oMath>
                </a14:m>
                <a:r>
                  <a:rPr lang="en-CA" baseline="0" dirty="0"/>
                  <a:t> is minimum and equal to the free energy associated to </a:t>
                </a:r>
                <a14:m>
                  <m:oMath xmlns:m="http://schemas.openxmlformats.org/officeDocument/2006/math">
                    <m:r>
                      <a:rPr lang="en-CA" i="1" baseline="0" dirty="0" smtClean="0">
                        <a:latin typeface="Cambria Math" panose="02040503050406030204" pitchFamily="18" charset="0"/>
                      </a:rPr>
                      <m:t>𝑤</m:t>
                    </m:r>
                  </m:oMath>
                </a14:m>
                <a:r>
                  <a:rPr lang="en-CA" baseline="0" dirty="0"/>
                  <a:t> when </a:t>
                </a:r>
                <a14:m>
                  <m:oMath xmlns:m="http://schemas.openxmlformats.org/officeDocument/2006/math">
                    <m:r>
                      <a:rPr lang="en-CA" i="1" baseline="0" dirty="0" smtClean="0">
                        <a:latin typeface="Cambria Math" panose="02040503050406030204" pitchFamily="18" charset="0"/>
                      </a:rPr>
                      <m:t>𝑛</m:t>
                    </m:r>
                  </m:oMath>
                </a14:m>
                <a:r>
                  <a:rPr lang="en-CA" baseline="0" dirty="0"/>
                  <a:t> is the equilibrium density in the presence of </a:t>
                </a:r>
                <a14:m>
                  <m:oMath xmlns:m="http://schemas.openxmlformats.org/officeDocument/2006/math">
                    <m:r>
                      <a:rPr lang="en-CA" b="0" i="1" baseline="0" smtClean="0">
                        <a:latin typeface="Cambria Math" panose="02040503050406030204" pitchFamily="18" charset="0"/>
                      </a:rPr>
                      <m:t>𝑤</m:t>
                    </m:r>
                  </m:oMath>
                </a14:m>
                <a:endParaRPr lang="en-CA" dirty="0"/>
              </a:p>
              <a:p>
                <a:pPr marL="171450" indent="-171450">
                  <a:buFont typeface="Arial" panose="020B0604020202020204" pitchFamily="34" charset="0"/>
                  <a:buChar char="•"/>
                </a:pPr>
                <a:r>
                  <a:rPr lang="en-CA" dirty="0"/>
                  <a:t>The density </a:t>
                </a:r>
                <a14:m>
                  <m:oMath xmlns:m="http://schemas.openxmlformats.org/officeDocument/2006/math">
                    <m:r>
                      <a:rPr lang="en-CA" b="0" i="1" smtClean="0">
                        <a:latin typeface="Cambria Math" panose="02040503050406030204" pitchFamily="18" charset="0"/>
                      </a:rPr>
                      <m:t>𝑛</m:t>
                    </m:r>
                  </m:oMath>
                </a14:m>
                <a:r>
                  <a:rPr lang="en-CA" dirty="0"/>
                  <a:t> is subject to the given</a:t>
                </a:r>
                <a:r>
                  <a:rPr lang="en-CA" baseline="0" dirty="0"/>
                  <a:t> field </a:t>
                </a:r>
                <a14:m>
                  <m:oMath xmlns:m="http://schemas.openxmlformats.org/officeDocument/2006/math">
                    <m:r>
                      <a:rPr lang="en-CA" b="0" i="1" baseline="0" smtClean="0">
                        <a:latin typeface="Cambria Math" panose="02040503050406030204" pitchFamily="18" charset="0"/>
                      </a:rPr>
                      <m:t>𝑤</m:t>
                    </m:r>
                    <m:r>
                      <a:rPr lang="en-CA" b="0" i="0" baseline="0" smtClean="0">
                        <a:latin typeface="Cambria Math" panose="02040503050406030204" pitchFamily="18" charset="0"/>
                      </a:rPr>
                      <m:t>,</m:t>
                    </m:r>
                  </m:oMath>
                </a14:m>
                <a:r>
                  <a:rPr lang="en-CA" dirty="0"/>
                  <a:t> and</a:t>
                </a:r>
                <a:r>
                  <a:rPr lang="en-CA" baseline="0" dirty="0"/>
                  <a:t> we can make the Hamiltonian a functional of </a:t>
                </a:r>
                <a14:m>
                  <m:oMath xmlns:m="http://schemas.openxmlformats.org/officeDocument/2006/math">
                    <m:r>
                      <a:rPr lang="en-CA" b="0" i="1" baseline="0" smtClean="0">
                        <a:latin typeface="Cambria Math" panose="02040503050406030204" pitchFamily="18" charset="0"/>
                      </a:rPr>
                      <m:t>𝑛</m:t>
                    </m:r>
                  </m:oMath>
                </a14:m>
                <a:r>
                  <a:rPr lang="en-CA" dirty="0"/>
                  <a:t> and also add</a:t>
                </a:r>
                <a:r>
                  <a:rPr lang="en-CA" baseline="0" dirty="0"/>
                  <a:t> a field dependence to the partition function through the functional </a:t>
                </a:r>
                <a:r>
                  <a:rPr lang="en-CA" baseline="0" dirty="0" err="1"/>
                  <a:t>dirac</a:t>
                </a:r>
                <a:r>
                  <a:rPr lang="en-CA" baseline="0" dirty="0"/>
                  <a:t> delta, so I think it is justified to allow the functional </a:t>
                </a:r>
                <a14:m>
                  <m:oMath xmlns:m="http://schemas.openxmlformats.org/officeDocument/2006/math">
                    <m:r>
                      <a:rPr lang="en-CA" b="0" i="1" baseline="0" smtClean="0">
                        <a:latin typeface="Cambria Math" panose="02040503050406030204" pitchFamily="18" charset="0"/>
                      </a:rPr>
                      <m:t>𝐸</m:t>
                    </m:r>
                  </m:oMath>
                </a14:m>
                <a:r>
                  <a:rPr lang="en-CA" dirty="0"/>
                  <a:t> to depend on </a:t>
                </a:r>
                <a14:m>
                  <m:oMath xmlns:m="http://schemas.openxmlformats.org/officeDocument/2006/math">
                    <m:r>
                      <a:rPr lang="en-CA" b="0" i="1" smtClean="0">
                        <a:latin typeface="Cambria Math" panose="02040503050406030204" pitchFamily="18" charset="0"/>
                      </a:rPr>
                      <m:t>𝑛</m:t>
                    </m:r>
                  </m:oMath>
                </a14:m>
                <a:r>
                  <a:rPr lang="en-CA" dirty="0"/>
                  <a:t> and </a:t>
                </a:r>
                <a14:m>
                  <m:oMath xmlns:m="http://schemas.openxmlformats.org/officeDocument/2006/math">
                    <m:r>
                      <a:rPr lang="en-CA" b="0" i="1" smtClean="0">
                        <a:latin typeface="Cambria Math" panose="02040503050406030204" pitchFamily="18" charset="0"/>
                      </a:rPr>
                      <m:t>𝑤</m:t>
                    </m:r>
                  </m:oMath>
                </a14:m>
                <a:r>
                  <a:rPr lang="en-CA" dirty="0"/>
                  <a:t>; also, </a:t>
                </a:r>
                <a14:m>
                  <m:oMath xmlns:m="http://schemas.openxmlformats.org/officeDocument/2006/math">
                    <m:r>
                      <a:rPr lang="en-CA" b="0" i="1" smtClean="0">
                        <a:latin typeface="Cambria Math" panose="02040503050406030204" pitchFamily="18" charset="0"/>
                      </a:rPr>
                      <m:t>𝑤</m:t>
                    </m:r>
                  </m:oMath>
                </a14:m>
                <a:r>
                  <a:rPr lang="en-CA" dirty="0"/>
                  <a:t> is dependent on </a:t>
                </a:r>
                <a14:m>
                  <m:oMath xmlns:m="http://schemas.openxmlformats.org/officeDocument/2006/math">
                    <m:r>
                      <a:rPr lang="en-CA" b="0" i="1" smtClean="0">
                        <a:latin typeface="Cambria Math" panose="02040503050406030204" pitchFamily="18" charset="0"/>
                      </a:rPr>
                      <m:t>𝑛</m:t>
                    </m:r>
                  </m:oMath>
                </a14:m>
                <a:r>
                  <a:rPr lang="en-CA" dirty="0"/>
                  <a:t> in SCFT so the statement still holds</a:t>
                </a:r>
              </a:p>
              <a:p>
                <a:pPr marL="171450" indent="-171450">
                  <a:buFont typeface="Arial" panose="020B0604020202020204" pitchFamily="34" charset="0"/>
                  <a:buChar char="•"/>
                </a:pPr>
                <a:r>
                  <a:rPr lang="en-CA" dirty="0"/>
                  <a:t>Functional </a:t>
                </a:r>
                <a14:m>
                  <m:oMath xmlns:m="http://schemas.openxmlformats.org/officeDocument/2006/math">
                    <m:r>
                      <a:rPr lang="en-CA" b="0" i="1" smtClean="0">
                        <a:latin typeface="Cambria Math" panose="02040503050406030204" pitchFamily="18" charset="0"/>
                      </a:rPr>
                      <m:t>𝐸</m:t>
                    </m:r>
                  </m:oMath>
                </a14:m>
                <a:r>
                  <a:rPr lang="en-CA" dirty="0"/>
                  <a:t> will be described in the next slide</a:t>
                </a:r>
              </a:p>
              <a:p>
                <a:pPr marL="171450" indent="-171450">
                  <a:buFont typeface="Arial" panose="020B0604020202020204" pitchFamily="34" charset="0"/>
                  <a:buChar char="•"/>
                </a:pPr>
                <a:endParaRPr lang="en-CA"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sz="1000" kern="1200" dirty="0">
                    <a:solidFill>
                      <a:schemeClr val="tx1"/>
                    </a:solidFill>
                    <a:latin typeface="+mn-lt"/>
                    <a:ea typeface="+mn-ea"/>
                    <a:cs typeface="+mn-cs"/>
                  </a:rPr>
                  <a:t>von Neumann showed that the thermodynamics of quantum mechanical systems can be determined through the trace of the operator </a:t>
                </a:r>
                <a:r>
                  <a:rPr lang="x-IV_mathan" i="0">
                    <a:latin typeface="Cambria Math" panose="02040503050406030204" pitchFamily="18" charset="0"/>
                  </a:rPr>
                  <a:t>𝑒^(−𝛽</a:t>
                </a:r>
                <a:r>
                  <a:rPr lang="en-CA" i="0">
                    <a:latin typeface="Cambria Math" panose="02040503050406030204" pitchFamily="18" charset="0"/>
                    <a:ea typeface="Cambria Math" panose="02040503050406030204" pitchFamily="18" charset="0"/>
                  </a:rPr>
                  <a:t>ℋ</a:t>
                </a:r>
                <a:r>
                  <a:rPr lang="x-IV_mathan" i="0">
                    <a:latin typeface="Cambria Math" panose="02040503050406030204" pitchFamily="18" charset="0"/>
                    <a:ea typeface="Cambria Math" panose="02040503050406030204" pitchFamily="18" charset="0"/>
                  </a:rPr>
                  <a:t>)</a:t>
                </a:r>
                <a:r>
                  <a:rPr lang="en-CA" sz="1000" kern="1200" dirty="0">
                    <a:solidFill>
                      <a:schemeClr val="tx1"/>
                    </a:solidFill>
                    <a:latin typeface="+mn-lt"/>
                    <a:ea typeface="+mn-ea"/>
                    <a:cs typeface="+mn-cs"/>
                  </a:rPr>
                  <a:t> , which is the partition function of Boltzmann and Gibbs</a:t>
                </a:r>
                <a:endParaRPr lang="en-CA" dirty="0"/>
              </a:p>
              <a:p>
                <a:pPr marL="171450" indent="-171450">
                  <a:buFont typeface="Arial" panose="020B0604020202020204" pitchFamily="34" charset="0"/>
                  <a:buChar char="•"/>
                </a:pPr>
                <a:r>
                  <a:rPr lang="en-CA" dirty="0"/>
                  <a:t>The trace is a representation-invariant quantity, meaning it is basis independent and therefore quite general</a:t>
                </a:r>
              </a:p>
              <a:p>
                <a:pPr marL="171450" indent="-171450">
                  <a:buFont typeface="Arial" panose="020B0604020202020204" pitchFamily="34" charset="0"/>
                  <a:buChar char="•"/>
                </a:pPr>
                <a:r>
                  <a:rPr lang="en-CA" dirty="0"/>
                  <a:t>The trace of the exponential of H is intractable to work with for calculations, therefore more efficient methods are developed so that calculations can be carried out</a:t>
                </a:r>
              </a:p>
              <a:p>
                <a:pPr marL="171450" indent="-171450">
                  <a:buFont typeface="Arial" panose="020B0604020202020204" pitchFamily="34" charset="0"/>
                  <a:buChar char="•"/>
                </a:pPr>
                <a:r>
                  <a:rPr lang="en-CA" dirty="0"/>
                  <a:t>Note that we have ignored spin-statistics for now</a:t>
                </a:r>
              </a:p>
              <a:p>
                <a:pPr marL="171450" indent="-171450">
                  <a:buFont typeface="Arial" panose="020B0604020202020204" pitchFamily="34" charset="0"/>
                  <a:buChar char="•"/>
                </a:pPr>
                <a:r>
                  <a:rPr lang="en-CA" dirty="0"/>
                  <a:t>The function </a:t>
                </a:r>
                <a:r>
                  <a:rPr lang="en-CA" i="0">
                    <a:latin typeface="Cambria Math" panose="02040503050406030204" pitchFamily="18" charset="0"/>
                    <a:ea typeface="Cambria Math" panose="02040503050406030204" pitchFamily="18" charset="0"/>
                  </a:rPr>
                  <a:t>𝑤({</a:t>
                </a:r>
                <a:r>
                  <a:rPr lang="en-CA" b="1" i="0">
                    <a:latin typeface="Cambria Math" panose="02040503050406030204" pitchFamily="18" charset="0"/>
                    <a:ea typeface="Cambria Math" panose="02040503050406030204" pitchFamily="18" charset="0"/>
                  </a:rPr>
                  <a:t>𝒒}</a:t>
                </a:r>
                <a:r>
                  <a:rPr lang="en-CA" i="0">
                    <a:latin typeface="Cambria Math" panose="02040503050406030204" pitchFamily="18" charset="0"/>
                    <a:ea typeface="Cambria Math" panose="02040503050406030204" pitchFamily="18" charset="0"/>
                  </a:rPr>
                  <a:t>,{</a:t>
                </a:r>
                <a:r>
                  <a:rPr lang="en-CA" b="1" i="0">
                    <a:latin typeface="Cambria Math" panose="02040503050406030204" pitchFamily="18" charset="0"/>
                    <a:ea typeface="Cambria Math" panose="02040503050406030204" pitchFamily="18" charset="0"/>
                  </a:rPr>
                  <a:t>𝒑}</a:t>
                </a:r>
                <a:r>
                  <a:rPr lang="en-CA" i="0">
                    <a:latin typeface="Cambria Math" panose="02040503050406030204" pitchFamily="18" charset="0"/>
                    <a:ea typeface="Cambria Math" panose="02040503050406030204" pitchFamily="18" charset="0"/>
                  </a:rPr>
                  <a:t>,𝛽)</a:t>
                </a:r>
                <a:r>
                  <a:rPr lang="en-CA" dirty="0"/>
                  <a:t> is equal to 1 classically</a:t>
                </a:r>
              </a:p>
              <a:p>
                <a:pPr marL="171450" indent="-171450">
                  <a:buFont typeface="Arial" panose="020B0604020202020204" pitchFamily="34" charset="0"/>
                  <a:buChar char="•"/>
                </a:pPr>
                <a:r>
                  <a:rPr lang="en-CA" dirty="0"/>
                  <a:t>Kirkwood calls the Bloch equation a “fundamental equation of quantum statistics”</a:t>
                </a:r>
              </a:p>
              <a:p>
                <a:pPr marL="171450" indent="-171450">
                  <a:buFont typeface="Arial" panose="020B0604020202020204" pitchFamily="34" charset="0"/>
                  <a:buChar char="•"/>
                </a:pPr>
                <a:r>
                  <a:rPr lang="en-CA" dirty="0"/>
                  <a:t>The standard diffusion equation</a:t>
                </a:r>
                <a:r>
                  <a:rPr lang="en-CA" baseline="0" dirty="0"/>
                  <a:t> has a time derivative so the modified diffusion equation can be obtained by making the substitution t = </a:t>
                </a:r>
                <a:r>
                  <a:rPr lang="en-CA" b="0" i="0">
                    <a:latin typeface="Cambria Math" panose="02040503050406030204" pitchFamily="18" charset="0"/>
                    <a:ea typeface="Cambria Math" panose="02040503050406030204" pitchFamily="18" charset="0"/>
                  </a:rPr>
                  <a:t>iℏ</a:t>
                </a:r>
                <a:r>
                  <a:rPr lang="en-CA" i="0">
                    <a:latin typeface="Cambria Math" panose="02040503050406030204" pitchFamily="18" charset="0"/>
                    <a:ea typeface="Cambria Math" panose="02040503050406030204" pitchFamily="18" charset="0"/>
                  </a:rPr>
                  <a:t>𝛽</a:t>
                </a:r>
                <a:endParaRPr lang="en-CA" dirty="0"/>
              </a:p>
            </p:txBody>
          </p:sp>
        </mc:Fallback>
      </mc:AlternateContent>
    </p:spTree>
    <p:extLst>
      <p:ext uri="{BB962C8B-B14F-4D97-AF65-F5344CB8AC3E}">
        <p14:creationId xmlns:p14="http://schemas.microsoft.com/office/powerpoint/2010/main" val="1222526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latin typeface="+mj-lt"/>
              </a:rPr>
              <a:t>Hartree independent particle approximation allows us to factor the partition function and identify a single-particle partition function along with a single-particle propagator</a:t>
            </a:r>
            <a:endParaRPr lang="en-CA" dirty="0"/>
          </a:p>
          <a:p>
            <a:pPr marL="171450" indent="-171450">
              <a:buFont typeface="Arial" panose="020B0604020202020204" pitchFamily="34" charset="0"/>
              <a:buChar char="•"/>
            </a:pPr>
            <a:r>
              <a:rPr lang="en-CA" dirty="0"/>
              <a:t>Note that we can still consider this partition function to be exact since the contributions from all neglected terms can be packaged into the unknown exchange-correlation functional</a:t>
            </a:r>
          </a:p>
          <a:p>
            <a:pPr marL="171450" indent="-171450">
              <a:buFont typeface="Arial" panose="020B0604020202020204" pitchFamily="34" charset="0"/>
              <a:buChar char="•"/>
            </a:pPr>
            <a:r>
              <a:rPr lang="en-CA" dirty="0"/>
              <a:t>The free energy plays the role of the action from the path-integral formalism, so we seek to extremize the free energy in an analogous manner</a:t>
            </a:r>
          </a:p>
          <a:p>
            <a:pPr marL="171450" indent="-171450">
              <a:buFont typeface="Arial" panose="020B0604020202020204" pitchFamily="34" charset="0"/>
              <a:buChar char="•"/>
            </a:pPr>
            <a:r>
              <a:rPr lang="en-CA" dirty="0"/>
              <a:t>Briefly explain SCFT procedure here</a:t>
            </a:r>
          </a:p>
        </p:txBody>
      </p:sp>
    </p:spTree>
    <p:extLst>
      <p:ext uri="{BB962C8B-B14F-4D97-AF65-F5344CB8AC3E}">
        <p14:creationId xmlns:p14="http://schemas.microsoft.com/office/powerpoint/2010/main" val="3695635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The free energy plays the role of the action from the path-integral formalism, so we seek to extremize the free energy in an analogous manner</a:t>
            </a:r>
          </a:p>
          <a:p>
            <a:pPr marL="171450" indent="-171450">
              <a:buFont typeface="Arial" panose="020B0604020202020204" pitchFamily="34" charset="0"/>
              <a:buChar char="•"/>
            </a:pPr>
            <a:r>
              <a:rPr lang="en-CA" dirty="0"/>
              <a:t>The term “pair” means “species” having up to two particles</a:t>
            </a:r>
          </a:p>
          <a:p>
            <a:pPr marL="171450" indent="-171450">
              <a:buFont typeface="Arial" panose="020B0604020202020204" pitchFamily="34" charset="0"/>
              <a:buChar char="•"/>
            </a:pPr>
            <a:r>
              <a:rPr lang="en-CA" dirty="0"/>
              <a:t>Hartree-</a:t>
            </a:r>
            <a:r>
              <a:rPr lang="en-CA" dirty="0" err="1"/>
              <a:t>Fock</a:t>
            </a:r>
            <a:r>
              <a:rPr lang="en-CA" dirty="0"/>
              <a:t> theory models exchange effects exactly</a:t>
            </a:r>
          </a:p>
          <a:p>
            <a:pPr marL="171450" indent="-171450">
              <a:buFont typeface="Arial" panose="020B0604020202020204" pitchFamily="34" charset="0"/>
              <a:buChar char="•"/>
            </a:pPr>
            <a:r>
              <a:rPr lang="en-CA" dirty="0"/>
              <a:t>The reason we don’t use the full 4D Pauli exclusion field is because working with it requires us to know the density at every value of the contour, which increases the number of calculation steps substantially due to the nature of the self-consistent method we employ. As will be mentioned near the end, a multi-block calculation would have to be carried out, which entails discretizing the contour values and assigning a density to each value of the contour and then self-consistently solving the system the normal way but this time with a number of extra steps equal to the discretization number of the contour per iteration. </a:t>
            </a:r>
          </a:p>
          <a:p>
            <a:pPr marL="171450" indent="-171450">
              <a:buFont typeface="Arial" panose="020B0604020202020204" pitchFamily="34" charset="0"/>
              <a:buChar char="•"/>
            </a:pPr>
            <a:r>
              <a:rPr lang="en-CA" dirty="0">
                <a:latin typeface="+mj-lt"/>
              </a:rPr>
              <a:t>3D-projected Pauli exclusion field overestimates excluded-volume in s space</a:t>
            </a:r>
            <a:endParaRPr lang="en-CA" dirty="0"/>
          </a:p>
        </p:txBody>
      </p:sp>
    </p:spTree>
    <p:extLst>
      <p:ext uri="{BB962C8B-B14F-4D97-AF65-F5344CB8AC3E}">
        <p14:creationId xmlns:p14="http://schemas.microsoft.com/office/powerpoint/2010/main" val="941964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Kohn-Sham Hamiltonian appears in our derivation, so we just need to state the existence of the orbitals and solve for them, expand the propagator in terms of them to write the density in terms of them, and then take the 0 temperature limit to recover the standard density formula in KS-DFT</a:t>
                </a:r>
              </a:p>
              <a:p>
                <a:pPr marL="171450" indent="-171450">
                  <a:buFont typeface="Arial" panose="020B0604020202020204" pitchFamily="34" charset="0"/>
                  <a:buChar char="•"/>
                </a:pPr>
                <a:r>
                  <a:rPr lang="en-CA" dirty="0"/>
                  <a:t>Taking the limit as </a:t>
                </a:r>
                <a:r>
                  <a:rPr lang="en-CA" dirty="0" err="1"/>
                  <a:t>hbar</a:t>
                </a:r>
                <a:r>
                  <a:rPr lang="en-CA" dirty="0"/>
                  <a:t> approaches 0 of our formalism reduces to classical DFT</a:t>
                </a:r>
              </a:p>
              <a:p>
                <a:pPr marL="171450" indent="-171450">
                  <a:buFont typeface="Arial" panose="020B0604020202020204" pitchFamily="34" charset="0"/>
                  <a:buChar char="•"/>
                </a:pPr>
                <a:r>
                  <a:rPr lang="en-CA" dirty="0"/>
                  <a:t>OF-DFT has to approximate the non-interacting kinetic energy functional, which is exact in KS-DFT, in addition to the exchange correlation functional</a:t>
                </a:r>
              </a:p>
              <a:p>
                <a:pPr marL="171450" indent="-171450">
                  <a:buFont typeface="Arial" panose="020B0604020202020204" pitchFamily="34" charset="0"/>
                  <a:buChar char="•"/>
                </a:pPr>
                <a:r>
                  <a:rPr lang="en-CA" dirty="0"/>
                  <a:t>The non-interacting kinetic energy functional usually has large contribution to total energy, so approximating it is a significant drawback</a:t>
                </a:r>
              </a:p>
              <a:p>
                <a:pPr marL="171450" indent="-171450">
                  <a:buFont typeface="Arial" panose="020B0604020202020204" pitchFamily="34" charset="0"/>
                  <a:buChar char="•"/>
                </a:pPr>
                <a:r>
                  <a:rPr lang="en-CA" dirty="0"/>
                  <a:t>Pauli exclusion principle needs to be added to exchange-correlation functional artificially in order for OF-DFT to be valid for Fermions</a:t>
                </a:r>
              </a:p>
              <a:p>
                <a:pPr marL="171450" indent="-171450">
                  <a:buFont typeface="Arial" panose="020B0604020202020204" pitchFamily="34" charset="0"/>
                  <a:buChar char="•"/>
                </a:pPr>
                <a:r>
                  <a:rPr lang="en-CA" dirty="0"/>
                  <a:t>Write K in spectral form then sub into diffusion equation and use orthogonality relations plus define the matrix A to simplify down to given form</a:t>
                </a:r>
              </a:p>
              <a:p>
                <a:pPr marL="171450" indent="-171450">
                  <a:buFont typeface="Arial" panose="020B0604020202020204" pitchFamily="34" charset="0"/>
                  <a:buChar char="•"/>
                </a:pPr>
                <a:r>
                  <a:rPr lang="en-CA" dirty="0"/>
                  <a:t>K can be written in final form by a similarity transformation of the matrix exponential </a:t>
                </a:r>
                <a14:m>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𝑒</m:t>
                        </m:r>
                      </m:e>
                      <m:sup>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𝑛𝑚</m:t>
                            </m:r>
                          </m:sub>
                        </m:sSub>
                        <m:r>
                          <a:rPr lang="en-CA" b="0" i="1" smtClean="0">
                            <a:latin typeface="Cambria Math" panose="02040503050406030204" pitchFamily="18" charset="0"/>
                            <a:ea typeface="Cambria Math" panose="02040503050406030204" pitchFamily="18" charset="0"/>
                          </a:rPr>
                          <m:t>𝛽</m:t>
                        </m:r>
                      </m:sup>
                    </m:sSup>
                  </m:oMath>
                </a14:m>
                <a:endParaRPr lang="en-CA" b="0" dirty="0"/>
              </a:p>
              <a:p>
                <a:pPr marL="171450" indent="-171450">
                  <a:buFont typeface="Arial" panose="020B0604020202020204" pitchFamily="34" charset="0"/>
                  <a:buChar char="•"/>
                </a:pPr>
                <a:r>
                  <a:rPr lang="en-CA" dirty="0"/>
                  <a:t>We choose eigenfunctions and eigenvalues of the Laplacian operator, which is what </a:t>
                </a:r>
                <a14:m>
                  <m:oMath xmlns:m="http://schemas.openxmlformats.org/officeDocument/2006/math">
                    <m:r>
                      <a:rPr lang="en-CA" b="0" i="1" smtClean="0">
                        <a:latin typeface="Cambria Math" panose="02040503050406030204" pitchFamily="18" charset="0"/>
                      </a:rPr>
                      <m:t>𝑓</m:t>
                    </m:r>
                  </m:oMath>
                </a14:m>
                <a:r>
                  <a:rPr lang="en-CA" dirty="0"/>
                  <a:t> and </a:t>
                </a:r>
                <a14:m>
                  <m:oMath xmlns:m="http://schemas.openxmlformats.org/officeDocument/2006/math">
                    <m:sSub>
                      <m:sSubPr>
                        <m:ctrlPr>
                          <a:rPr lang="en-CA" b="0" i="1" smtClean="0">
                            <a:latin typeface="Cambria Math" panose="02040503050406030204" pitchFamily="18" charset="0"/>
                          </a:rPr>
                        </m:ctrlPr>
                      </m:sSubPr>
                      <m:e>
                        <m:r>
                          <m:rPr>
                            <m:sty m:val="p"/>
                          </m:rPr>
                          <a:rPr lang="el-GR" b="0" i="1" smtClean="0">
                            <a:latin typeface="Cambria Math" panose="02040503050406030204" pitchFamily="18" charset="0"/>
                          </a:rPr>
                          <m:t>ε</m:t>
                        </m:r>
                      </m:e>
                      <m:sub>
                        <m:r>
                          <a:rPr lang="en-CA" b="0" i="1" smtClean="0">
                            <a:latin typeface="Cambria Math" panose="02040503050406030204" pitchFamily="18" charset="0"/>
                          </a:rPr>
                          <m:t>𝑖</m:t>
                        </m:r>
                      </m:sub>
                    </m:sSub>
                  </m:oMath>
                </a14:m>
                <a:r>
                  <a:rPr lang="en-CA" dirty="0"/>
                  <a:t> are respectively, so</a:t>
                </a:r>
                <a:r>
                  <a:rPr lang="en-CA" baseline="0" dirty="0"/>
                  <a:t> that the diffusion equation reduces to the form of the second equation</a:t>
                </a:r>
                <a:endParaRPr lang="en-CA" dirty="0"/>
              </a:p>
              <a:p>
                <a:pPr marL="171450" indent="-171450">
                  <a:buFont typeface="Arial" panose="020B0604020202020204" pitchFamily="34" charset="0"/>
                  <a:buChar char="•"/>
                </a:pPr>
                <a:endParaRPr lang="en-CA"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OF-DFT has to approximate the non-interacting kinetic energy functional, which is exact in KS-DFT, in addition to the exchange correlation functional</a:t>
                </a:r>
              </a:p>
              <a:p>
                <a:pPr marL="171450" indent="-171450">
                  <a:buFont typeface="Arial" panose="020B0604020202020204" pitchFamily="34" charset="0"/>
                  <a:buChar char="•"/>
                </a:pPr>
                <a:r>
                  <a:rPr lang="en-CA" dirty="0"/>
                  <a:t>The non-interacting kinetic energy functional usually has large contribution to total energy, so approximating it is a significant drawback</a:t>
                </a:r>
              </a:p>
              <a:p>
                <a:pPr marL="171450" indent="-171450">
                  <a:buFont typeface="Arial" panose="020B0604020202020204" pitchFamily="34" charset="0"/>
                  <a:buChar char="•"/>
                </a:pPr>
                <a:r>
                  <a:rPr lang="en-CA" dirty="0"/>
                  <a:t>Pauli exclusion principle needs to be added to exchange-correlation functional artificially in order for OF-DFT to be valid for Fermions</a:t>
                </a:r>
              </a:p>
              <a:p>
                <a:pPr marL="171450" indent="-171450">
                  <a:buFont typeface="Arial" panose="020B0604020202020204" pitchFamily="34" charset="0"/>
                  <a:buChar char="•"/>
                </a:pPr>
                <a:r>
                  <a:rPr lang="en-CA" dirty="0"/>
                  <a:t>Write K in spectral form then sub into diffusion equation and use orthogonality relations plus define the matrix A to simplify down to given form</a:t>
                </a:r>
              </a:p>
              <a:p>
                <a:pPr marL="171450" indent="-171450">
                  <a:buFont typeface="Arial" panose="020B0604020202020204" pitchFamily="34" charset="0"/>
                  <a:buChar char="•"/>
                </a:pPr>
                <a:r>
                  <a:rPr lang="en-CA" dirty="0"/>
                  <a:t>K can be written in final form by a similarity transformation of the matrix exponential </a:t>
                </a:r>
                <a:r>
                  <a:rPr lang="en-CA" b="0" i="0">
                    <a:latin typeface="Cambria Math" panose="02040503050406030204" pitchFamily="18" charset="0"/>
                  </a:rPr>
                  <a:t>𝑒^(𝐴_𝑛𝑚</a:t>
                </a:r>
                <a:r>
                  <a:rPr lang="en-CA" b="0" i="0">
                    <a:latin typeface="Cambria Math" panose="02040503050406030204" pitchFamily="18" charset="0"/>
                    <a:ea typeface="Cambria Math" panose="02040503050406030204" pitchFamily="18" charset="0"/>
                  </a:rPr>
                  <a:t> 𝛽)</a:t>
                </a:r>
                <a:endParaRPr lang="en-CA" b="0" dirty="0"/>
              </a:p>
              <a:p>
                <a:pPr marL="171450" indent="-171450">
                  <a:buFont typeface="Arial" panose="020B0604020202020204" pitchFamily="34" charset="0"/>
                  <a:buChar char="•"/>
                </a:pPr>
                <a:r>
                  <a:rPr lang="en-CA" dirty="0"/>
                  <a:t>We choose eigenfunctions and eigenvalues of the Laplacian operator, which is what </a:t>
                </a:r>
                <a:r>
                  <a:rPr lang="en-CA" b="0" i="0">
                    <a:latin typeface="Cambria Math" panose="02040503050406030204" pitchFamily="18" charset="0"/>
                  </a:rPr>
                  <a:t>𝑓</a:t>
                </a:r>
                <a:r>
                  <a:rPr lang="en-CA" dirty="0"/>
                  <a:t> and </a:t>
                </a:r>
                <a:r>
                  <a:rPr lang="el-GR" b="0" i="0">
                    <a:latin typeface="Cambria Math" panose="02040503050406030204" pitchFamily="18" charset="0"/>
                  </a:rPr>
                  <a:t>ε</a:t>
                </a:r>
                <a:r>
                  <a:rPr lang="en-CA" b="0" i="0">
                    <a:latin typeface="Cambria Math" panose="02040503050406030204" pitchFamily="18" charset="0"/>
                  </a:rPr>
                  <a:t>_𝑖</a:t>
                </a:r>
                <a:r>
                  <a:rPr lang="en-CA" dirty="0"/>
                  <a:t> are respectively, so</a:t>
                </a:r>
                <a:r>
                  <a:rPr lang="en-CA" baseline="0" dirty="0"/>
                  <a:t> that the diffusion equation reduces to the form of the second equation</a:t>
                </a:r>
                <a:endParaRPr lang="en-CA" dirty="0"/>
              </a:p>
              <a:p>
                <a:pPr marL="171450" indent="-171450">
                  <a:buFont typeface="Arial" panose="020B0604020202020204" pitchFamily="34" charset="0"/>
                  <a:buChar char="•"/>
                </a:pPr>
                <a:endParaRPr lang="en-CA" dirty="0"/>
              </a:p>
            </p:txBody>
          </p:sp>
        </mc:Fallback>
      </mc:AlternateContent>
    </p:spTree>
    <p:extLst>
      <p:ext uri="{BB962C8B-B14F-4D97-AF65-F5344CB8AC3E}">
        <p14:creationId xmlns:p14="http://schemas.microsoft.com/office/powerpoint/2010/main" val="3114741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latin typeface="+mj-lt"/>
              </a:rPr>
              <a:t>Our classical model reproduces the radial electron density of Hydrogen exactly</a:t>
            </a:r>
            <a:endParaRPr lang="en-CA" dirty="0"/>
          </a:p>
          <a:p>
            <a:pPr marL="171450" indent="-171450">
              <a:buFont typeface="Arial" panose="020B0604020202020204" pitchFamily="34" charset="0"/>
              <a:buChar char="•"/>
            </a:pPr>
            <a:r>
              <a:rPr lang="en-CA" dirty="0"/>
              <a:t>Helium agrees exactly with Hartree-</a:t>
            </a:r>
            <a:r>
              <a:rPr lang="en-CA" dirty="0" err="1"/>
              <a:t>Fock</a:t>
            </a:r>
            <a:endParaRPr lang="en-CA" dirty="0"/>
          </a:p>
          <a:p>
            <a:pPr marL="171450" indent="-171450">
              <a:buFont typeface="Arial" panose="020B0604020202020204" pitchFamily="34" charset="0"/>
              <a:buChar char="•"/>
            </a:pPr>
            <a:r>
              <a:rPr lang="en-CA" dirty="0"/>
              <a:t>For the sake of time and everyone’s attention, I will only present the results up to Krypton. If anyone is interested, I would be happy to send them the results for heavier elements.</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2205111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For the sake of time and everyone’s attention, I will only present the results up to Cadmium. If anyone is interested, I would be happy to send them the results for heavier elements.</a:t>
            </a:r>
          </a:p>
          <a:p>
            <a:pPr marL="171450" indent="-171450">
              <a:buFont typeface="Arial" panose="020B0604020202020204" pitchFamily="34" charset="0"/>
              <a:buChar char="•"/>
            </a:pPr>
            <a:r>
              <a:rPr lang="en-CA" dirty="0"/>
              <a:t>An aspect of the Pauli exclusion field can be seen by looking at the percent deviation column: the deviations after Helium monotonically increase until reaching a shell closure at Neon and then monotonically decrease until the shell closure at Argon, and then promptly increases after that. This gives a clue how the actual Pauli field should behave</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308206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Nightmare slide</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178237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Nightmare slide</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3551890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The peaks clearly form in the proper position, so we believe the difference in peak height and separation depth is purely due to the repulsion strength of the Pauli field being too strong</a:t>
            </a:r>
          </a:p>
          <a:p>
            <a:pPr marL="628650" lvl="1" indent="-171450">
              <a:buFont typeface="Arial" panose="020B0604020202020204" pitchFamily="34" charset="0"/>
              <a:buChar char="•"/>
            </a:pPr>
            <a:r>
              <a:rPr lang="en-CA" dirty="0"/>
              <a:t>Pauli approximation is the only physical obstacle to overcome in order to achieve Hartree-</a:t>
            </a:r>
            <a:r>
              <a:rPr lang="en-CA" dirty="0" err="1"/>
              <a:t>Fock</a:t>
            </a:r>
            <a:r>
              <a:rPr lang="en-CA" dirty="0"/>
              <a:t> equivalence</a:t>
            </a:r>
          </a:p>
          <a:p>
            <a:pPr marL="171450" lvl="0" indent="-171450">
              <a:buFont typeface="Arial" panose="020B0604020202020204" pitchFamily="34" charset="0"/>
              <a:buChar char="•"/>
            </a:pPr>
            <a:r>
              <a:rPr lang="en-CA" dirty="0"/>
              <a:t>Pairs have been populated according to periodic table n-blocks, but that doesn’t imply the model should necessarily reproduce the correct shell structure </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206093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Nightmare slide</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3806296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Nightmare slide</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4040476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CA" dirty="0"/>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1359036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Angular calculations haven’t been done in previous work due to huge computational effort required, and here we were able to do them de </a:t>
            </a:r>
          </a:p>
          <a:p>
            <a:pPr marL="171450" indent="-171450">
              <a:buFont typeface="Arial" panose="020B0604020202020204" pitchFamily="34" charset="0"/>
              <a:buChar char="•"/>
            </a:pPr>
            <a:r>
              <a:rPr lang="en-CA" dirty="0"/>
              <a:t>Pair densities correspond to sums of orbitals</a:t>
            </a:r>
          </a:p>
          <a:p>
            <a:pPr marL="171450" indent="-171450">
              <a:buFont typeface="Arial" panose="020B0604020202020204" pitchFamily="34" charset="0"/>
              <a:buChar char="•"/>
            </a:pPr>
            <a:r>
              <a:rPr lang="en-CA" dirty="0"/>
              <a:t>Electron pair densities behave similarly to polymer </a:t>
            </a:r>
            <a:r>
              <a:rPr lang="en-CA" dirty="0" err="1"/>
              <a:t>macrophase</a:t>
            </a:r>
            <a:r>
              <a:rPr lang="en-CA" dirty="0"/>
              <a:t> separation, where the non-spherical pairs prefer to occupy one of the lobes, but notice that the non-spherical pairs together resemble the 2s + 2p configuration and that the total density looks the same as in other approaches to quantum theory</a:t>
            </a:r>
          </a:p>
        </p:txBody>
      </p:sp>
    </p:spTree>
    <p:extLst>
      <p:ext uri="{BB962C8B-B14F-4D97-AF65-F5344CB8AC3E}">
        <p14:creationId xmlns:p14="http://schemas.microsoft.com/office/powerpoint/2010/main" val="4124154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Will need to do a multiblock calculation in order to model the exact Pauli potential</a:t>
            </a:r>
          </a:p>
          <a:p>
            <a:pPr marL="628650" lvl="1" indent="-171450">
              <a:buFont typeface="Arial" panose="020B0604020202020204" pitchFamily="34" charset="0"/>
              <a:buChar char="•"/>
            </a:pPr>
            <a:r>
              <a:rPr lang="en-CA" dirty="0"/>
              <a:t>This method assigns a density to each polymer contour value and then solves a set of equations for each one</a:t>
            </a:r>
          </a:p>
          <a:p>
            <a:pPr marL="171450" indent="-171450">
              <a:buFont typeface="Arial" panose="020B0604020202020204" pitchFamily="34" charset="0"/>
              <a:buChar char="•"/>
            </a:pPr>
            <a:r>
              <a:rPr lang="en-CA" dirty="0"/>
              <a:t>Adding correlation terms will help account for discrepancies with NIST results within nonrelativistic quantum theory</a:t>
            </a:r>
          </a:p>
          <a:p>
            <a:pPr marL="171450" indent="-171450">
              <a:buFont typeface="Arial" panose="020B0604020202020204" pitchFamily="34" charset="0"/>
              <a:buChar char="•"/>
            </a:pPr>
            <a:r>
              <a:rPr lang="en-CA" dirty="0"/>
              <a:t>Gaussians can be used for more than just diatomic molecules</a:t>
            </a:r>
          </a:p>
          <a:p>
            <a:pPr marL="171450" indent="-171450">
              <a:buFont typeface="Arial" panose="020B0604020202020204" pitchFamily="34" charset="0"/>
              <a:buChar char="•"/>
            </a:pPr>
            <a:r>
              <a:rPr lang="en-CA" dirty="0"/>
              <a:t>Possibly remove third bullet point</a:t>
            </a:r>
          </a:p>
        </p:txBody>
      </p:sp>
    </p:spTree>
    <p:extLst>
      <p:ext uri="{BB962C8B-B14F-4D97-AF65-F5344CB8AC3E}">
        <p14:creationId xmlns:p14="http://schemas.microsoft.com/office/powerpoint/2010/main" val="2966875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4178107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446730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Kohn-Sham Hamiltonian appears in our derivation, so we just need to state the existence of the orbitals and solve for them, expand the propagator in terms of them to write the density in terms of them, and then take the 0 temperature limit to recover the standard density formula in KS-DFT</a:t>
                </a:r>
              </a:p>
              <a:p>
                <a:pPr marL="171450" indent="-171450">
                  <a:buFont typeface="Arial" panose="020B0604020202020204" pitchFamily="34" charset="0"/>
                  <a:buChar char="•"/>
                </a:pPr>
                <a:r>
                  <a:rPr lang="en-CA" dirty="0"/>
                  <a:t>Taking the limit as </a:t>
                </a:r>
                <a:r>
                  <a:rPr lang="en-CA" dirty="0" err="1"/>
                  <a:t>hbar</a:t>
                </a:r>
                <a:r>
                  <a:rPr lang="en-CA" dirty="0"/>
                  <a:t> approaches 0 of our formalism reduces to classical DFT</a:t>
                </a:r>
              </a:p>
              <a:p>
                <a:pPr marL="171450" indent="-171450">
                  <a:buFont typeface="Arial" panose="020B0604020202020204" pitchFamily="34" charset="0"/>
                  <a:buChar char="•"/>
                </a:pPr>
                <a:r>
                  <a:rPr lang="en-CA" dirty="0"/>
                  <a:t>OF-DFT has to approximate the non-interacting kinetic energy functional, which is exact in KS-DFT, in addition to the exchange correlation functional</a:t>
                </a:r>
              </a:p>
              <a:p>
                <a:pPr marL="171450" indent="-171450">
                  <a:buFont typeface="Arial" panose="020B0604020202020204" pitchFamily="34" charset="0"/>
                  <a:buChar char="•"/>
                </a:pPr>
                <a:r>
                  <a:rPr lang="en-CA" dirty="0"/>
                  <a:t>The non-interacting kinetic energy functional usually has large contribution to total energy, so approximating it is a significant drawback</a:t>
                </a:r>
              </a:p>
              <a:p>
                <a:pPr marL="171450" indent="-171450">
                  <a:buFont typeface="Arial" panose="020B0604020202020204" pitchFamily="34" charset="0"/>
                  <a:buChar char="•"/>
                </a:pPr>
                <a:r>
                  <a:rPr lang="en-CA" dirty="0"/>
                  <a:t>Pauli exclusion principle needs to be added to exchange-correlation functional artificially in order for OF-DFT to be valid for Fermions</a:t>
                </a:r>
              </a:p>
              <a:p>
                <a:pPr marL="171450" indent="-171450">
                  <a:buFont typeface="Arial" panose="020B0604020202020204" pitchFamily="34" charset="0"/>
                  <a:buChar char="•"/>
                </a:pPr>
                <a:r>
                  <a:rPr lang="en-CA" dirty="0"/>
                  <a:t>Write K in spectral form then sub into diffusion equation and use orthogonality relations plus define the matrix A to simplify down to given form</a:t>
                </a:r>
              </a:p>
              <a:p>
                <a:pPr marL="171450" indent="-171450">
                  <a:buFont typeface="Arial" panose="020B0604020202020204" pitchFamily="34" charset="0"/>
                  <a:buChar char="•"/>
                </a:pPr>
                <a:r>
                  <a:rPr lang="en-CA" dirty="0"/>
                  <a:t>K can be written in final form by a similarity transformation of the matrix exponential </a:t>
                </a:r>
                <a14:m>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𝑒</m:t>
                        </m:r>
                      </m:e>
                      <m:sup>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𝑛𝑚</m:t>
                            </m:r>
                          </m:sub>
                        </m:sSub>
                        <m:r>
                          <a:rPr lang="en-CA" b="0" i="1" smtClean="0">
                            <a:latin typeface="Cambria Math" panose="02040503050406030204" pitchFamily="18" charset="0"/>
                            <a:ea typeface="Cambria Math" panose="02040503050406030204" pitchFamily="18" charset="0"/>
                          </a:rPr>
                          <m:t>𝛽</m:t>
                        </m:r>
                      </m:sup>
                    </m:sSup>
                  </m:oMath>
                </a14:m>
                <a:endParaRPr lang="en-CA" b="0" dirty="0"/>
              </a:p>
              <a:p>
                <a:pPr marL="171450" indent="-171450">
                  <a:buFont typeface="Arial" panose="020B0604020202020204" pitchFamily="34" charset="0"/>
                  <a:buChar char="•"/>
                </a:pPr>
                <a:r>
                  <a:rPr lang="en-CA" dirty="0"/>
                  <a:t>We choose eigenfunctions and eigenvalues of the Laplacian operator, which is what </a:t>
                </a:r>
                <a14:m>
                  <m:oMath xmlns:m="http://schemas.openxmlformats.org/officeDocument/2006/math">
                    <m:r>
                      <a:rPr lang="en-CA" b="0" i="1" smtClean="0">
                        <a:latin typeface="Cambria Math" panose="02040503050406030204" pitchFamily="18" charset="0"/>
                      </a:rPr>
                      <m:t>𝑓</m:t>
                    </m:r>
                  </m:oMath>
                </a14:m>
                <a:r>
                  <a:rPr lang="en-CA" dirty="0"/>
                  <a:t> and </a:t>
                </a:r>
                <a14:m>
                  <m:oMath xmlns:m="http://schemas.openxmlformats.org/officeDocument/2006/math">
                    <m:sSub>
                      <m:sSubPr>
                        <m:ctrlPr>
                          <a:rPr lang="en-CA" b="0" i="1" smtClean="0">
                            <a:latin typeface="Cambria Math" panose="02040503050406030204" pitchFamily="18" charset="0"/>
                          </a:rPr>
                        </m:ctrlPr>
                      </m:sSubPr>
                      <m:e>
                        <m:r>
                          <m:rPr>
                            <m:sty m:val="p"/>
                          </m:rPr>
                          <a:rPr lang="el-GR" b="0" i="1" smtClean="0">
                            <a:latin typeface="Cambria Math" panose="02040503050406030204" pitchFamily="18" charset="0"/>
                          </a:rPr>
                          <m:t>ε</m:t>
                        </m:r>
                      </m:e>
                      <m:sub>
                        <m:r>
                          <a:rPr lang="en-CA" b="0" i="1" smtClean="0">
                            <a:latin typeface="Cambria Math" panose="02040503050406030204" pitchFamily="18" charset="0"/>
                          </a:rPr>
                          <m:t>𝑖</m:t>
                        </m:r>
                      </m:sub>
                    </m:sSub>
                  </m:oMath>
                </a14:m>
                <a:r>
                  <a:rPr lang="en-CA" dirty="0"/>
                  <a:t> are respectively, so</a:t>
                </a:r>
                <a:r>
                  <a:rPr lang="en-CA" baseline="0" dirty="0"/>
                  <a:t> that the diffusion equation reduces to the form of the second equation</a:t>
                </a:r>
                <a:endParaRPr lang="en-CA" dirty="0"/>
              </a:p>
              <a:p>
                <a:pPr marL="171450" indent="-171450">
                  <a:buFont typeface="Arial" panose="020B0604020202020204" pitchFamily="34" charset="0"/>
                  <a:buChar char="•"/>
                </a:pPr>
                <a:endParaRPr lang="en-CA" dirty="0"/>
              </a:p>
            </p:txBody>
          </p:sp>
        </mc:Choice>
        <mc:Fallback>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Kohn-Sham Hamiltonian appears in our derivation, so we just need to state the existence of the orbitals and solve for them, expand the propagator in terms of them to write the density in terms of them, and then take the 0 temperature limit to recover the standard density formula in KS-DFT</a:t>
                </a:r>
              </a:p>
              <a:p>
                <a:pPr marL="171450" indent="-171450">
                  <a:buFont typeface="Arial" panose="020B0604020202020204" pitchFamily="34" charset="0"/>
                  <a:buChar char="•"/>
                </a:pPr>
                <a:r>
                  <a:rPr lang="en-CA" dirty="0"/>
                  <a:t>Taking the limit as </a:t>
                </a:r>
                <a:r>
                  <a:rPr lang="en-CA" dirty="0" err="1"/>
                  <a:t>hbar</a:t>
                </a:r>
                <a:r>
                  <a:rPr lang="en-CA" dirty="0"/>
                  <a:t> approaches 0 of our formalism reduces to classical DFT</a:t>
                </a:r>
              </a:p>
              <a:p>
                <a:pPr marL="171450" indent="-171450">
                  <a:buFont typeface="Arial" panose="020B0604020202020204" pitchFamily="34" charset="0"/>
                  <a:buChar char="•"/>
                </a:pPr>
                <a:r>
                  <a:rPr lang="en-CA" dirty="0"/>
                  <a:t>OF-DFT has to approximate the non-interacting kinetic energy functional, which is exact in KS-DFT, in addition to the exchange correlation functional</a:t>
                </a:r>
              </a:p>
              <a:p>
                <a:pPr marL="171450" indent="-171450">
                  <a:buFont typeface="Arial" panose="020B0604020202020204" pitchFamily="34" charset="0"/>
                  <a:buChar char="•"/>
                </a:pPr>
                <a:r>
                  <a:rPr lang="en-CA" dirty="0"/>
                  <a:t>The non-interacting kinetic energy functional usually has large contribution to total energy, so approximating it is a significant drawback</a:t>
                </a:r>
              </a:p>
              <a:p>
                <a:pPr marL="171450" indent="-171450">
                  <a:buFont typeface="Arial" panose="020B0604020202020204" pitchFamily="34" charset="0"/>
                  <a:buChar char="•"/>
                </a:pPr>
                <a:r>
                  <a:rPr lang="en-CA" dirty="0"/>
                  <a:t>Pauli exclusion principle needs to be added to exchange-correlation functional artificially in order for OF-DFT to be valid for Fermions</a:t>
                </a:r>
              </a:p>
              <a:p>
                <a:pPr marL="171450" indent="-171450">
                  <a:buFont typeface="Arial" panose="020B0604020202020204" pitchFamily="34" charset="0"/>
                  <a:buChar char="•"/>
                </a:pPr>
                <a:r>
                  <a:rPr lang="en-CA" dirty="0"/>
                  <a:t>Write K in spectral form then sub into diffusion equation and use orthogonality relations plus define the matrix A to simplify down to given form</a:t>
                </a:r>
              </a:p>
              <a:p>
                <a:pPr marL="171450" indent="-171450">
                  <a:buFont typeface="Arial" panose="020B0604020202020204" pitchFamily="34" charset="0"/>
                  <a:buChar char="•"/>
                </a:pPr>
                <a:r>
                  <a:rPr lang="en-CA" dirty="0"/>
                  <a:t>K can be written in final form by a similarity transformation of the matrix exponential </a:t>
                </a:r>
                <a:r>
                  <a:rPr lang="en-CA" b="0" i="0">
                    <a:latin typeface="Cambria Math" panose="02040503050406030204" pitchFamily="18" charset="0"/>
                  </a:rPr>
                  <a:t>𝑒^(𝐴_𝑛𝑚</a:t>
                </a:r>
                <a:r>
                  <a:rPr lang="en-CA" b="0" i="0">
                    <a:latin typeface="Cambria Math" panose="02040503050406030204" pitchFamily="18" charset="0"/>
                    <a:ea typeface="Cambria Math" panose="02040503050406030204" pitchFamily="18" charset="0"/>
                  </a:rPr>
                  <a:t> 𝛽)</a:t>
                </a:r>
                <a:endParaRPr lang="en-CA" b="0" dirty="0"/>
              </a:p>
              <a:p>
                <a:pPr marL="171450" indent="-171450">
                  <a:buFont typeface="Arial" panose="020B0604020202020204" pitchFamily="34" charset="0"/>
                  <a:buChar char="•"/>
                </a:pPr>
                <a:r>
                  <a:rPr lang="en-CA" dirty="0"/>
                  <a:t>We choose eigenfunctions and eigenvalues of the Laplacian operator, which is what </a:t>
                </a:r>
                <a:r>
                  <a:rPr lang="en-CA" b="0" i="0">
                    <a:latin typeface="Cambria Math" panose="02040503050406030204" pitchFamily="18" charset="0"/>
                  </a:rPr>
                  <a:t>𝑓</a:t>
                </a:r>
                <a:r>
                  <a:rPr lang="en-CA" dirty="0"/>
                  <a:t> and </a:t>
                </a:r>
                <a:r>
                  <a:rPr lang="el-GR" b="0" i="0">
                    <a:latin typeface="Cambria Math" panose="02040503050406030204" pitchFamily="18" charset="0"/>
                  </a:rPr>
                  <a:t>ε</a:t>
                </a:r>
                <a:r>
                  <a:rPr lang="en-CA" b="0" i="0">
                    <a:latin typeface="Cambria Math" panose="02040503050406030204" pitchFamily="18" charset="0"/>
                  </a:rPr>
                  <a:t>_𝑖</a:t>
                </a:r>
                <a:r>
                  <a:rPr lang="en-CA" dirty="0"/>
                  <a:t> are respectively, so</a:t>
                </a:r>
                <a:r>
                  <a:rPr lang="en-CA" baseline="0" dirty="0"/>
                  <a:t> that the diffusion equation reduces to the form of the second equation</a:t>
                </a:r>
                <a:endParaRPr lang="en-CA" dirty="0"/>
              </a:p>
              <a:p>
                <a:pPr marL="171450" indent="-171450">
                  <a:buFont typeface="Arial" panose="020B0604020202020204" pitchFamily="34" charset="0"/>
                  <a:buChar char="•"/>
                </a:pPr>
                <a:endParaRPr lang="en-CA" dirty="0"/>
              </a:p>
            </p:txBody>
          </p:sp>
        </mc:Fallback>
      </mc:AlternateContent>
    </p:spTree>
    <p:extLst>
      <p:ext uri="{BB962C8B-B14F-4D97-AF65-F5344CB8AC3E}">
        <p14:creationId xmlns:p14="http://schemas.microsoft.com/office/powerpoint/2010/main" val="17030224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1020123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The equation at the bottom is there to show what I have said in writing, but is for illustrative purposes only. I can go into detail about it later if you have questions</a:t>
            </a:r>
          </a:p>
        </p:txBody>
      </p:sp>
    </p:spTree>
    <p:extLst>
      <p:ext uri="{BB962C8B-B14F-4D97-AF65-F5344CB8AC3E}">
        <p14:creationId xmlns:p14="http://schemas.microsoft.com/office/powerpoint/2010/main" val="31054277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R is radius of finite spherical box, chosen large enough so that the electron densities go to zero on the boundary</a:t>
            </a:r>
          </a:p>
          <a:p>
            <a:pPr marL="171450" indent="-171450">
              <a:buFont typeface="Arial" panose="020B0604020202020204" pitchFamily="34" charset="0"/>
              <a:buChar char="•"/>
            </a:pPr>
            <a:r>
              <a:rPr lang="en-CA" dirty="0"/>
              <a:t>Current research basis functions don’t include the angular components since we would need way more basis sets</a:t>
            </a:r>
          </a:p>
          <a:p>
            <a:pPr marL="171450" indent="-171450">
              <a:buFont typeface="Arial" panose="020B0604020202020204" pitchFamily="34" charset="0"/>
              <a:buChar char="•"/>
            </a:pPr>
            <a:r>
              <a:rPr lang="en-CA" dirty="0"/>
              <a:t>Gaussian basis sets are the industry standard in computational chemistry</a:t>
            </a:r>
          </a:p>
          <a:p>
            <a:pPr marL="171450" indent="-171450">
              <a:buFont typeface="Arial" panose="020B0604020202020204" pitchFamily="34" charset="0"/>
              <a:buChar char="•"/>
            </a:pPr>
            <a:r>
              <a:rPr lang="en-CA" dirty="0"/>
              <a:t>Modelling simple atomic and molecular systems has the benefit of access to a huge number of prior results to benchmark the theory</a:t>
            </a:r>
          </a:p>
          <a:p>
            <a:pPr marL="171450" indent="-171450">
              <a:buFont typeface="Arial" panose="020B0604020202020204" pitchFamily="34" charset="0"/>
              <a:buChar char="•"/>
            </a:pPr>
            <a:r>
              <a:rPr lang="en-CA" dirty="0"/>
              <a:t>Gaussian basis sets are technically overcomplete</a:t>
            </a:r>
          </a:p>
          <a:p>
            <a:pPr marL="171450" indent="-171450">
              <a:buFont typeface="Arial" panose="020B0604020202020204" pitchFamily="34" charset="0"/>
              <a:buChar char="•"/>
            </a:pPr>
            <a:r>
              <a:rPr lang="en-CA" dirty="0"/>
              <a:t>We also use Gaussian basis sets to approximate slater orbitals since they are easier to calculate with</a:t>
            </a:r>
          </a:p>
          <a:p>
            <a:pPr marL="171450" indent="-171450">
              <a:buFont typeface="Arial" panose="020B0604020202020204" pitchFamily="34" charset="0"/>
              <a:buChar char="•"/>
            </a:pPr>
            <a:r>
              <a:rPr lang="en-CA" dirty="0"/>
              <a:t>We are mostly interested in capturing the qualitative behaviour of these systems since this would indicate that our formalism has the proper structure; better approximations can then be implemented to achieve the desired numerical accuracy</a:t>
            </a:r>
          </a:p>
        </p:txBody>
      </p:sp>
    </p:spTree>
    <p:extLst>
      <p:ext uri="{BB962C8B-B14F-4D97-AF65-F5344CB8AC3E}">
        <p14:creationId xmlns:p14="http://schemas.microsoft.com/office/powerpoint/2010/main" val="3522708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Helium agrees exactly with Hartree-</a:t>
            </a:r>
            <a:r>
              <a:rPr lang="en-CA" dirty="0" err="1"/>
              <a:t>Fock</a:t>
            </a:r>
            <a:endParaRPr lang="en-CA" dirty="0"/>
          </a:p>
          <a:p>
            <a:pPr marL="171450" indent="-171450">
              <a:buFont typeface="Arial" panose="020B0604020202020204" pitchFamily="34" charset="0"/>
              <a:buChar char="•"/>
            </a:pPr>
            <a:r>
              <a:rPr lang="en-CA" dirty="0"/>
              <a:t>For the sake of time and everyone’s attention, I will only present the results up to Krypton. If anyone is interested, I would be happy to send them the results for heavier elements.</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42944766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Helium agrees exactly with Hartree-</a:t>
            </a:r>
            <a:r>
              <a:rPr lang="en-CA" dirty="0" err="1"/>
              <a:t>Fock</a:t>
            </a:r>
            <a:endParaRPr lang="en-CA" dirty="0"/>
          </a:p>
          <a:p>
            <a:pPr marL="171450" indent="-171450">
              <a:buFont typeface="Arial" panose="020B0604020202020204" pitchFamily="34" charset="0"/>
              <a:buChar char="•"/>
            </a:pPr>
            <a:r>
              <a:rPr lang="en-CA" dirty="0"/>
              <a:t>For the sake of time and everyone’s attention, I will only present the results up to Krypton. If anyone is interested, I would be happy to send them the results for heavier elements.</a:t>
            </a:r>
          </a:p>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3829852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CA" dirty="0"/>
          </a:p>
        </p:txBody>
      </p:sp>
    </p:spTree>
    <p:extLst>
      <p:ext uri="{BB962C8B-B14F-4D97-AF65-F5344CB8AC3E}">
        <p14:creationId xmlns:p14="http://schemas.microsoft.com/office/powerpoint/2010/main" val="2486828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6F46E9-A98A-2D46-816A-0FACCEE272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602908"/>
            <a:ext cx="4416302" cy="1260000"/>
          </a:xfrm>
          <a:prstGeom prst="rect">
            <a:avLst/>
          </a:prstGeom>
        </p:spPr>
      </p:pic>
      <p:sp>
        <p:nvSpPr>
          <p:cNvPr id="2" name="Title 1"/>
          <p:cNvSpPr>
            <a:spLocks noGrp="1"/>
          </p:cNvSpPr>
          <p:nvPr>
            <p:ph type="ctrTitle" hasCustomPrompt="1"/>
          </p:nvPr>
        </p:nvSpPr>
        <p:spPr>
          <a:xfrm>
            <a:off x="452740" y="1028940"/>
            <a:ext cx="9711677" cy="1474115"/>
          </a:xfrm>
        </p:spPr>
        <p:txBody>
          <a:bodyPr lIns="0" anchor="b">
            <a:noAutofit/>
          </a:bodyPr>
          <a:lstStyle>
            <a:lvl1pPr algn="l">
              <a:defRPr sz="5400" b="1" cap="all" baseline="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2E7A1D57-933A-45A6-937A-0EC9C3CFD31A}" type="datetime1">
              <a:rPr lang="en-US" smtClean="0"/>
              <a:t>6/6/2022</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dirty="0"/>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dirty="0"/>
          </a:p>
        </p:txBody>
      </p:sp>
      <p:grpSp>
        <p:nvGrpSpPr>
          <p:cNvPr id="4" name="Group 3"/>
          <p:cNvGrpSpPr/>
          <p:nvPr userDrawn="1"/>
        </p:nvGrpSpPr>
        <p:grpSpPr>
          <a:xfrm>
            <a:off x="0" y="0"/>
            <a:ext cx="12192000" cy="397164"/>
            <a:chOff x="0" y="0"/>
            <a:chExt cx="12192000" cy="397164"/>
          </a:xfrm>
        </p:grpSpPr>
        <p:sp>
          <p:nvSpPr>
            <p:cNvPr id="18" name="Rectangle 17"/>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004323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6094124" y="397164"/>
            <a:ext cx="6097876" cy="6460836"/>
          </a:xfrm>
        </p:spPr>
        <p:txBody>
          <a:bodyPr/>
          <a:lstStyle/>
          <a:p>
            <a:r>
              <a:rPr lang="en-US" dirty="0"/>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662449AC-B61F-4582-938B-D756FD1A96EC}" type="datetime1">
              <a:rPr lang="en-US" smtClean="0"/>
              <a:t>6/6/2022</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dirty="0"/>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dirty="0"/>
          </a:p>
        </p:txBody>
      </p:sp>
      <p:grpSp>
        <p:nvGrpSpPr>
          <p:cNvPr id="15" name="Group 14"/>
          <p:cNvGrpSpPr/>
          <p:nvPr userDrawn="1"/>
        </p:nvGrpSpPr>
        <p:grpSpPr>
          <a:xfrm>
            <a:off x="0" y="0"/>
            <a:ext cx="12192000" cy="397164"/>
            <a:chOff x="0" y="0"/>
            <a:chExt cx="12192000" cy="397164"/>
          </a:xfrm>
        </p:grpSpPr>
        <p:sp>
          <p:nvSpPr>
            <p:cNvPr id="16" name="Rectangle 15"/>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1" name="Picture 20">
            <a:extLst>
              <a:ext uri="{FF2B5EF4-FFF2-40B4-BE49-F238E27FC236}">
                <a16:creationId xmlns:a16="http://schemas.microsoft.com/office/drawing/2014/main" id="{D0DB0F08-8C41-1046-BBA1-B88B8D6BA7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602908"/>
            <a:ext cx="4416302" cy="1260000"/>
          </a:xfrm>
          <a:prstGeom prst="rect">
            <a:avLst/>
          </a:prstGeom>
        </p:spPr>
      </p:pic>
    </p:spTree>
    <p:extLst>
      <p:ext uri="{BB962C8B-B14F-4D97-AF65-F5344CB8AC3E}">
        <p14:creationId xmlns:p14="http://schemas.microsoft.com/office/powerpoint/2010/main" val="1017798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2740" y="1028940"/>
            <a:ext cx="9446634" cy="1474115"/>
          </a:xfrm>
        </p:spPr>
        <p:txBody>
          <a:bodyPr lIns="0" anchor="b">
            <a:noAutofit/>
          </a:bodyPr>
          <a:lstStyle>
            <a:lvl1pPr algn="l">
              <a:defRPr sz="5400"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a:ln>
            <a:noFill/>
          </a:ln>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722AEE9-2DB0-4DF5-BAB9-EC0DC20A6878}" type="datetime1">
              <a:rPr lang="en-US" smtClean="0"/>
              <a:t>6/6/2022</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dirty="0"/>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dirty="0"/>
          </a:p>
        </p:txBody>
      </p:sp>
      <p:grpSp>
        <p:nvGrpSpPr>
          <p:cNvPr id="14" name="Group 13"/>
          <p:cNvGrpSpPr/>
          <p:nvPr userDrawn="1"/>
        </p:nvGrpSpPr>
        <p:grpSpPr>
          <a:xfrm>
            <a:off x="0" y="0"/>
            <a:ext cx="12192000" cy="397164"/>
            <a:chOff x="0" y="0"/>
            <a:chExt cx="12192000" cy="397164"/>
          </a:xfrm>
        </p:grpSpPr>
        <p:sp>
          <p:nvSpPr>
            <p:cNvPr id="15" name="Rectangle 14"/>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0" name="Picture 19">
            <a:extLst>
              <a:ext uri="{FF2B5EF4-FFF2-40B4-BE49-F238E27FC236}">
                <a16:creationId xmlns:a16="http://schemas.microsoft.com/office/drawing/2014/main" id="{8BFB70ED-5B41-0841-9BB6-2DFC1216BD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576404"/>
            <a:ext cx="4416300" cy="1260000"/>
          </a:xfrm>
          <a:prstGeom prst="rect">
            <a:avLst/>
          </a:prstGeom>
        </p:spPr>
      </p:pic>
    </p:spTree>
    <p:extLst>
      <p:ext uri="{BB962C8B-B14F-4D97-AF65-F5344CB8AC3E}">
        <p14:creationId xmlns:p14="http://schemas.microsoft.com/office/powerpoint/2010/main" val="3876708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6094124" y="397164"/>
            <a:ext cx="6097876" cy="6460836"/>
          </a:xfrm>
        </p:spPr>
        <p:txBody>
          <a:bodyPr/>
          <a:lstStyle/>
          <a:p>
            <a:r>
              <a:rPr lang="en-US" dirty="0"/>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a:ln>
            <a:noFill/>
          </a:ln>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DA5720B8-52CD-42CD-978E-54AC77948EFE}" type="datetime1">
              <a:rPr lang="en-US" smtClean="0"/>
              <a:t>6/6/2022</a:t>
            </a:fld>
            <a:endParaRPr lang="en-US" dirty="0"/>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dirty="0"/>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dirty="0"/>
          </a:p>
        </p:txBody>
      </p:sp>
      <p:grpSp>
        <p:nvGrpSpPr>
          <p:cNvPr id="15" name="Group 14"/>
          <p:cNvGrpSpPr/>
          <p:nvPr userDrawn="1"/>
        </p:nvGrpSpPr>
        <p:grpSpPr>
          <a:xfrm>
            <a:off x="0" y="0"/>
            <a:ext cx="12192000" cy="397164"/>
            <a:chOff x="0" y="0"/>
            <a:chExt cx="12192000" cy="397164"/>
          </a:xfrm>
        </p:grpSpPr>
        <p:sp>
          <p:nvSpPr>
            <p:cNvPr id="16" name="Rectangle 15"/>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a:extLst>
              <a:ext uri="{FF2B5EF4-FFF2-40B4-BE49-F238E27FC236}">
                <a16:creationId xmlns:a16="http://schemas.microsoft.com/office/drawing/2014/main" id="{18D3ADF4-EECD-EA40-9256-F7FB37B69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576404"/>
            <a:ext cx="4416300" cy="1260000"/>
          </a:xfrm>
          <a:prstGeom prst="rect">
            <a:avLst/>
          </a:prstGeom>
        </p:spPr>
      </p:pic>
    </p:spTree>
    <p:extLst>
      <p:ext uri="{BB962C8B-B14F-4D97-AF65-F5344CB8AC3E}">
        <p14:creationId xmlns:p14="http://schemas.microsoft.com/office/powerpoint/2010/main" val="3829965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8020EBB-1670-4536-B055-A2816D800C7A}" type="datetime1">
              <a:rPr lang="en-US" smtClean="0"/>
              <a:t>6/6/2022</a:t>
            </a:fld>
            <a:endParaRPr lang="en-US" dirty="0"/>
          </a:p>
        </p:txBody>
      </p:sp>
      <p:sp>
        <p:nvSpPr>
          <p:cNvPr id="8" name="Footer Placeholder 7"/>
          <p:cNvSpPr>
            <a:spLocks noGrp="1"/>
          </p:cNvSpPr>
          <p:nvPr>
            <p:ph type="ftr" sz="quarter" idx="11"/>
          </p:nvPr>
        </p:nvSpPr>
        <p:spPr/>
        <p:txBody>
          <a:bodyPr/>
          <a:lstStyle/>
          <a:p>
            <a:r>
              <a:rPr lang="en-US" dirty="0"/>
              <a:t>PRESENTATION TITLE</a:t>
            </a:r>
          </a:p>
        </p:txBody>
      </p:sp>
      <p:sp>
        <p:nvSpPr>
          <p:cNvPr id="9" name="Slide Number Placeholder 8"/>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177438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7407696"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8908224"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10408752" y="685060"/>
            <a:ext cx="1420859" cy="286052"/>
          </a:xfrm>
        </p:spPr>
        <p:txBody>
          <a:bodyPr anchor="ctr">
            <a:noAutofit/>
          </a:bodyPr>
          <a:lstStyle>
            <a:lvl1pPr marL="0" indent="0" algn="ctr">
              <a:buNone/>
              <a:defRPr sz="11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7" name="Date Placeholder 6"/>
          <p:cNvSpPr>
            <a:spLocks noGrp="1"/>
          </p:cNvSpPr>
          <p:nvPr>
            <p:ph type="dt" sz="half" idx="16"/>
          </p:nvPr>
        </p:nvSpPr>
        <p:spPr/>
        <p:txBody>
          <a:bodyPr/>
          <a:lstStyle/>
          <a:p>
            <a:fld id="{83185C74-2CB0-47D7-92B9-783E684DC39F}" type="datetime1">
              <a:rPr lang="en-US" smtClean="0"/>
              <a:t>6/6/2022</a:t>
            </a:fld>
            <a:endParaRPr lang="en-US" dirty="0"/>
          </a:p>
        </p:txBody>
      </p:sp>
      <p:sp>
        <p:nvSpPr>
          <p:cNvPr id="11" name="Footer Placeholder 10"/>
          <p:cNvSpPr>
            <a:spLocks noGrp="1"/>
          </p:cNvSpPr>
          <p:nvPr>
            <p:ph type="ftr" sz="quarter" idx="17"/>
          </p:nvPr>
        </p:nvSpPr>
        <p:spPr/>
        <p:txBody>
          <a:bodyPr/>
          <a:lstStyle/>
          <a:p>
            <a:r>
              <a:rPr lang="en-US" dirty="0"/>
              <a:t>PRESENTATION TITLE</a:t>
            </a:r>
          </a:p>
        </p:txBody>
      </p:sp>
      <p:sp>
        <p:nvSpPr>
          <p:cNvPr id="12" name="Slide Number Placeholder 11"/>
          <p:cNvSpPr>
            <a:spLocks noGrp="1"/>
          </p:cNvSpPr>
          <p:nvPr>
            <p:ph type="sldNum" sz="quarter" idx="18"/>
          </p:nvPr>
        </p:nvSpPr>
        <p:spPr/>
        <p:txBody>
          <a:bodyPr/>
          <a:lstStyle/>
          <a:p>
            <a:r>
              <a:rPr lang="en-US" dirty="0"/>
              <a:t>PAGE  </a:t>
            </a:r>
            <a:fld id="{93005692-73BE-493E-93AB-ECD6027A7652}" type="slidenum">
              <a:rPr lang="en-US" smtClean="0"/>
              <a:pPr/>
              <a:t>‹#›</a:t>
            </a:fld>
            <a:endParaRPr lang="en-US" dirty="0"/>
          </a:p>
        </p:txBody>
      </p:sp>
      <p:sp>
        <p:nvSpPr>
          <p:cNvPr id="4" name="Title 3"/>
          <p:cNvSpPr>
            <a:spLocks noGrp="1"/>
          </p:cNvSpPr>
          <p:nvPr>
            <p:ph type="title"/>
          </p:nvPr>
        </p:nvSpPr>
        <p:spPr>
          <a:xfrm>
            <a:off x="259883" y="434108"/>
            <a:ext cx="7046081" cy="895927"/>
          </a:xfrm>
        </p:spPr>
        <p:txBody>
          <a:bodyPr/>
          <a:lstStyle>
            <a:lvl1pPr>
              <a:defRPr b="1" cap="all" baseline="0"/>
            </a:lvl1pPr>
          </a:lstStyle>
          <a:p>
            <a:r>
              <a:rPr lang="en-US" dirty="0"/>
              <a:t>Click to edit Master title style</a:t>
            </a:r>
          </a:p>
        </p:txBody>
      </p:sp>
    </p:spTree>
    <p:extLst>
      <p:ext uri="{BB962C8B-B14F-4D97-AF65-F5344CB8AC3E}">
        <p14:creationId xmlns:p14="http://schemas.microsoft.com/office/powerpoint/2010/main" val="1947910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2" y="1709738"/>
            <a:ext cx="9399507" cy="2852737"/>
          </a:xfrm>
        </p:spPr>
        <p:txBody>
          <a:bodyPr anchor="b">
            <a:normAutofit/>
          </a:bodyPr>
          <a:lstStyle>
            <a:lvl1pPr algn="l">
              <a:defRPr sz="4000" b="1" cap="all"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259882" y="4589463"/>
            <a:ext cx="9399507"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6634FB79-EF49-4291-8229-9862CAF5A85F}" type="datetime1">
              <a:rPr lang="en-US" smtClean="0"/>
              <a:t>6/6/2022</a:t>
            </a:fld>
            <a:endParaRPr lang="en-US" dirty="0"/>
          </a:p>
        </p:txBody>
      </p:sp>
      <p:sp>
        <p:nvSpPr>
          <p:cNvPr id="8" name="Footer Placeholder 7"/>
          <p:cNvSpPr>
            <a:spLocks noGrp="1"/>
          </p:cNvSpPr>
          <p:nvPr>
            <p:ph type="ftr" sz="quarter" idx="11"/>
          </p:nvPr>
        </p:nvSpPr>
        <p:spPr/>
        <p:txBody>
          <a:bodyPr/>
          <a:lstStyle/>
          <a:p>
            <a:r>
              <a:rPr lang="en-US" dirty="0"/>
              <a:t>PRESENTATION TITLE</a:t>
            </a:r>
          </a:p>
        </p:txBody>
      </p:sp>
      <p:sp>
        <p:nvSpPr>
          <p:cNvPr id="9" name="Slide Number Placeholder 8"/>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375164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60521" y="3228200"/>
            <a:ext cx="8770620" cy="1212056"/>
          </a:xfrm>
        </p:spPr>
        <p:txBody>
          <a:bodyPr anchor="b">
            <a:noAutofit/>
          </a:bodyPr>
          <a:lstStyle>
            <a:lvl1pPr algn="l">
              <a:defRPr sz="4000" b="1" cap="all"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960521" y="4448086"/>
            <a:ext cx="8770620" cy="666549"/>
          </a:xfrm>
        </p:spPr>
        <p:txBody>
          <a:bodyPr anchor="t">
            <a:normAutofit/>
          </a:bodyPr>
          <a:lstStyle>
            <a:lvl1pPr marL="0" indent="0" algn="l">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43032" y="6335309"/>
            <a:ext cx="1181114" cy="250337"/>
          </a:xfrm>
        </p:spPr>
        <p:txBody>
          <a:bodyPr/>
          <a:lstStyle/>
          <a:p>
            <a:fld id="{BB619359-3F58-4F72-AB9C-E1BEDFBE667B}" type="datetime1">
              <a:rPr lang="en-US" smtClean="0"/>
              <a:t>6/6/2022</a:t>
            </a:fld>
            <a:endParaRPr lang="en-US" dirty="0"/>
          </a:p>
        </p:txBody>
      </p:sp>
      <p:sp>
        <p:nvSpPr>
          <p:cNvPr id="5" name="Footer Placeholder 4"/>
          <p:cNvSpPr>
            <a:spLocks noGrp="1"/>
          </p:cNvSpPr>
          <p:nvPr>
            <p:ph type="ftr" sz="quarter" idx="11"/>
          </p:nvPr>
        </p:nvSpPr>
        <p:spPr>
          <a:xfrm>
            <a:off x="267854" y="6335309"/>
            <a:ext cx="4525878" cy="250337"/>
          </a:xfrm>
        </p:spPr>
        <p:txBody>
          <a:bodyPr/>
          <a:lstStyle/>
          <a:p>
            <a:r>
              <a:rPr lang="en-US" dirty="0"/>
              <a:t>PRESENTATION TITLE</a:t>
            </a:r>
          </a:p>
        </p:txBody>
      </p:sp>
      <p:sp>
        <p:nvSpPr>
          <p:cNvPr id="6" name="Slide Number Placeholder 5"/>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27" name="Group 26"/>
          <p:cNvGrpSpPr/>
          <p:nvPr userDrawn="1"/>
        </p:nvGrpSpPr>
        <p:grpSpPr>
          <a:xfrm>
            <a:off x="0" y="0"/>
            <a:ext cx="12192000" cy="397164"/>
            <a:chOff x="0" y="0"/>
            <a:chExt cx="12192000" cy="397164"/>
          </a:xfrm>
        </p:grpSpPr>
        <p:sp>
          <p:nvSpPr>
            <p:cNvPr id="28" name="Rectangle 27"/>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p:cNvSpPr/>
            <p:nvPr userDrawn="1"/>
          </p:nvSpPr>
          <p:spPr>
            <a:xfrm>
              <a:off x="3050818"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p:cNvSpPr/>
            <p:nvPr userDrawn="1"/>
          </p:nvSpPr>
          <p:spPr>
            <a:xfrm>
              <a:off x="6097879"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34064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3" y="434108"/>
            <a:ext cx="11569729" cy="895927"/>
          </a:xfrm>
        </p:spPr>
        <p:txBody>
          <a:bodyPr/>
          <a:lstStyle>
            <a:lvl1pPr>
              <a:defRPr b="1"/>
            </a:lvl1pPr>
          </a:lstStyle>
          <a:p>
            <a:r>
              <a:rPr lang="en-US" dirty="0"/>
              <a:t>CLICK TO EDIT MASTER TITLE STYLE</a:t>
            </a:r>
          </a:p>
        </p:txBody>
      </p:sp>
      <p:sp>
        <p:nvSpPr>
          <p:cNvPr id="3" name="Content Placeholder 2"/>
          <p:cNvSpPr>
            <a:spLocks noGrp="1"/>
          </p:cNvSpPr>
          <p:nvPr>
            <p:ph sz="half" idx="1"/>
          </p:nvPr>
        </p:nvSpPr>
        <p:spPr>
          <a:xfrm>
            <a:off x="259882" y="1413164"/>
            <a:ext cx="5586855"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992" y="1413164"/>
            <a:ext cx="5658620"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E6DD964-AE2A-492C-AABD-3C84F6C5C186}" type="datetime1">
              <a:rPr lang="en-US" smtClean="0"/>
              <a:t>6/6/2022</a:t>
            </a:fld>
            <a:endParaRPr lang="en-US" dirty="0"/>
          </a:p>
        </p:txBody>
      </p:sp>
      <p:sp>
        <p:nvSpPr>
          <p:cNvPr id="9" name="Footer Placeholder 8"/>
          <p:cNvSpPr>
            <a:spLocks noGrp="1"/>
          </p:cNvSpPr>
          <p:nvPr>
            <p:ph type="ftr" sz="quarter" idx="11"/>
          </p:nvPr>
        </p:nvSpPr>
        <p:spPr/>
        <p:txBody>
          <a:bodyPr/>
          <a:lstStyle/>
          <a:p>
            <a:r>
              <a:rPr lang="en-US" dirty="0"/>
              <a:t>PRESENTATION TITLE</a:t>
            </a:r>
          </a:p>
        </p:txBody>
      </p:sp>
      <p:sp>
        <p:nvSpPr>
          <p:cNvPr id="10" name="Slide Number Placeholder 9"/>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10243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9881" y="1396192"/>
            <a:ext cx="5542713" cy="670270"/>
          </a:xfrm>
        </p:spPr>
        <p:txBody>
          <a:bodyPr anchor="b">
            <a:noAutofit/>
          </a:bodyPr>
          <a:lstStyle>
            <a:lvl1pPr marL="0" indent="0">
              <a:buNone/>
              <a:defRPr sz="2800" b="1"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9881" y="2184400"/>
            <a:ext cx="5542713"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6154" y="1396192"/>
            <a:ext cx="5593458" cy="670270"/>
          </a:xfrm>
        </p:spPr>
        <p:txBody>
          <a:bodyPr anchor="b">
            <a:normAutofit/>
          </a:bodyPr>
          <a:lstStyle>
            <a:lvl1pPr marL="0" indent="0">
              <a:buNone/>
              <a:defRPr sz="28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36154" y="2184400"/>
            <a:ext cx="5593458"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259883" y="434108"/>
            <a:ext cx="11569729" cy="895927"/>
          </a:xfrm>
        </p:spPr>
        <p:txBody>
          <a:bodyPr/>
          <a:lstStyle>
            <a:lvl1pPr>
              <a:defRPr b="1"/>
            </a:lvl1pPr>
          </a:lstStyle>
          <a:p>
            <a:r>
              <a:rPr lang="en-US" dirty="0"/>
              <a:t>CLICK TO EDIT MASTER TITLE STYLE</a:t>
            </a:r>
          </a:p>
        </p:txBody>
      </p:sp>
      <p:sp>
        <p:nvSpPr>
          <p:cNvPr id="2" name="Date Placeholder 1"/>
          <p:cNvSpPr>
            <a:spLocks noGrp="1"/>
          </p:cNvSpPr>
          <p:nvPr>
            <p:ph type="dt" sz="half" idx="10"/>
          </p:nvPr>
        </p:nvSpPr>
        <p:spPr/>
        <p:txBody>
          <a:bodyPr/>
          <a:lstStyle/>
          <a:p>
            <a:fld id="{A174476C-3A04-489D-9952-0393DA2582A9}" type="datetime1">
              <a:rPr lang="en-US" smtClean="0"/>
              <a:t>6/6/2022</a:t>
            </a:fld>
            <a:endParaRPr lang="en-US" dirty="0"/>
          </a:p>
        </p:txBody>
      </p:sp>
      <p:sp>
        <p:nvSpPr>
          <p:cNvPr id="11" name="Footer Placeholder 10"/>
          <p:cNvSpPr>
            <a:spLocks noGrp="1"/>
          </p:cNvSpPr>
          <p:nvPr>
            <p:ph type="ftr" sz="quarter" idx="11"/>
          </p:nvPr>
        </p:nvSpPr>
        <p:spPr/>
        <p:txBody>
          <a:bodyPr/>
          <a:lstStyle/>
          <a:p>
            <a:r>
              <a:rPr lang="en-US" dirty="0"/>
              <a:t>PRESENTATION TITLE</a:t>
            </a:r>
          </a:p>
        </p:txBody>
      </p:sp>
      <p:sp>
        <p:nvSpPr>
          <p:cNvPr id="12" name="Slide Number Placeholder 11"/>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28520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vl1pPr>
          </a:lstStyle>
          <a:p>
            <a:r>
              <a:rPr lang="en-US" dirty="0"/>
              <a:t>CLICK TO EDIT MASTER TITLE STYLE</a:t>
            </a:r>
          </a:p>
        </p:txBody>
      </p:sp>
      <p:sp>
        <p:nvSpPr>
          <p:cNvPr id="6" name="Date Placeholder 5"/>
          <p:cNvSpPr>
            <a:spLocks noGrp="1"/>
          </p:cNvSpPr>
          <p:nvPr>
            <p:ph type="dt" sz="half" idx="10"/>
          </p:nvPr>
        </p:nvSpPr>
        <p:spPr/>
        <p:txBody>
          <a:bodyPr/>
          <a:lstStyle/>
          <a:p>
            <a:fld id="{4070AE5F-C69C-4892-9D5A-A32D2484EB84}" type="datetime1">
              <a:rPr lang="en-US" smtClean="0"/>
              <a:t>6/6/2022</a:t>
            </a:fld>
            <a:endParaRPr lang="en-US" dirty="0"/>
          </a:p>
        </p:txBody>
      </p:sp>
      <p:sp>
        <p:nvSpPr>
          <p:cNvPr id="7" name="Footer Placeholder 6"/>
          <p:cNvSpPr>
            <a:spLocks noGrp="1"/>
          </p:cNvSpPr>
          <p:nvPr>
            <p:ph type="ftr" sz="quarter" idx="11"/>
          </p:nvPr>
        </p:nvSpPr>
        <p:spPr/>
        <p:txBody>
          <a:bodyPr/>
          <a:lstStyle/>
          <a:p>
            <a:r>
              <a:rPr lang="en-US" dirty="0"/>
              <a:t>PRESENTATION TITLE</a:t>
            </a:r>
          </a:p>
        </p:txBody>
      </p:sp>
      <p:sp>
        <p:nvSpPr>
          <p:cNvPr id="8" name="Slide Number Placeholder 7"/>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311800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897B747-035F-491A-A462-1EF554ECE7AF}" type="datetime1">
              <a:rPr lang="en-US" smtClean="0"/>
              <a:t>6/6/2022</a:t>
            </a:fld>
            <a:endParaRPr lang="en-US" dirty="0"/>
          </a:p>
        </p:txBody>
      </p:sp>
      <p:sp>
        <p:nvSpPr>
          <p:cNvPr id="6" name="Footer Placeholder 5"/>
          <p:cNvSpPr>
            <a:spLocks noGrp="1"/>
          </p:cNvSpPr>
          <p:nvPr>
            <p:ph type="ftr" sz="quarter" idx="11"/>
          </p:nvPr>
        </p:nvSpPr>
        <p:spPr/>
        <p:txBody>
          <a:bodyPr/>
          <a:lstStyle/>
          <a:p>
            <a:r>
              <a:rPr lang="en-US" dirty="0"/>
              <a:t>PRESENTATION TITLE</a:t>
            </a:r>
          </a:p>
        </p:txBody>
      </p:sp>
      <p:sp>
        <p:nvSpPr>
          <p:cNvPr id="7" name="Slide Number Placeholder 6"/>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spTree>
    <p:extLst>
      <p:ext uri="{BB962C8B-B14F-4D97-AF65-F5344CB8AC3E}">
        <p14:creationId xmlns:p14="http://schemas.microsoft.com/office/powerpoint/2010/main" val="1493182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10751004" y="6335309"/>
            <a:ext cx="1181114" cy="250337"/>
          </a:xfrm>
        </p:spPr>
        <p:txBody>
          <a:bodyPr/>
          <a:lstStyle/>
          <a:p>
            <a:fld id="{DFEDDA71-858D-4EA2-B408-F18345272D93}" type="datetime1">
              <a:rPr lang="en-US" smtClean="0"/>
              <a:t>6/6/2022</a:t>
            </a:fld>
            <a:endParaRPr lang="en-US" dirty="0"/>
          </a:p>
        </p:txBody>
      </p:sp>
      <p:sp>
        <p:nvSpPr>
          <p:cNvPr id="6" name="Footer Placeholder 5"/>
          <p:cNvSpPr>
            <a:spLocks noGrp="1"/>
          </p:cNvSpPr>
          <p:nvPr>
            <p:ph type="ftr" sz="quarter" idx="11"/>
          </p:nvPr>
        </p:nvSpPr>
        <p:spPr/>
        <p:txBody>
          <a:bodyPr/>
          <a:lstStyle/>
          <a:p>
            <a:r>
              <a:rPr lang="en-US" dirty="0"/>
              <a:t>PRESENTATION TITLE</a:t>
            </a:r>
          </a:p>
        </p:txBody>
      </p:sp>
      <p:sp>
        <p:nvSpPr>
          <p:cNvPr id="7" name="Slide Number Placeholder 6"/>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8" name="Group 7">
            <a:extLst>
              <a:ext uri="{FF2B5EF4-FFF2-40B4-BE49-F238E27FC236}">
                <a16:creationId xmlns:a16="http://schemas.microsoft.com/office/drawing/2014/main" id="{3954DFDD-43B6-744F-8298-62DCEDEB89F2}"/>
              </a:ext>
            </a:extLst>
          </p:cNvPr>
          <p:cNvGrpSpPr/>
          <p:nvPr userDrawn="1"/>
        </p:nvGrpSpPr>
        <p:grpSpPr>
          <a:xfrm>
            <a:off x="0" y="0"/>
            <a:ext cx="12192000" cy="397164"/>
            <a:chOff x="0" y="0"/>
            <a:chExt cx="12192000" cy="397164"/>
          </a:xfrm>
        </p:grpSpPr>
        <p:sp>
          <p:nvSpPr>
            <p:cNvPr id="9" name="Rectangle 8">
              <a:extLst>
                <a:ext uri="{FF2B5EF4-FFF2-40B4-BE49-F238E27FC236}">
                  <a16:creationId xmlns:a16="http://schemas.microsoft.com/office/drawing/2014/main" id="{E4544DC9-9971-2C44-A9DC-ECFF04CDBA59}"/>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0BFE83E-3FE1-D94C-A11C-E28DEDA2EEF7}"/>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442F746-D7DB-494D-8C92-08F201DF4CCD}"/>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1D9AB60-1AAD-3B48-9347-035C93EEE539}"/>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F341DAD-1B42-6D42-8636-FBCC64CC2233}"/>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07434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0071" y="1237675"/>
            <a:ext cx="4331855" cy="910202"/>
          </a:xfrm>
        </p:spPr>
        <p:txBody>
          <a:bodyPr anchor="b">
            <a:normAutofit/>
          </a:bodyPr>
          <a:lstStyle>
            <a:lvl1pPr algn="ctr">
              <a:defRPr sz="2800" b="1" cap="all" baseline="0"/>
            </a:lvl1pPr>
          </a:lstStyle>
          <a:p>
            <a:r>
              <a:rPr lang="en-US" dirty="0"/>
              <a:t>CONTEXT or THEME</a:t>
            </a:r>
          </a:p>
        </p:txBody>
      </p:sp>
      <p:sp>
        <p:nvSpPr>
          <p:cNvPr id="3" name="Date Placeholder 2"/>
          <p:cNvSpPr>
            <a:spLocks noGrp="1"/>
          </p:cNvSpPr>
          <p:nvPr>
            <p:ph type="dt" sz="half" idx="10"/>
          </p:nvPr>
        </p:nvSpPr>
        <p:spPr>
          <a:xfrm>
            <a:off x="10751004" y="6335309"/>
            <a:ext cx="1181114" cy="250337"/>
          </a:xfrm>
        </p:spPr>
        <p:txBody>
          <a:bodyPr/>
          <a:lstStyle/>
          <a:p>
            <a:fld id="{DCC39765-533B-495E-BD5C-8907B7AA4C6A}" type="datetime1">
              <a:rPr lang="en-US" smtClean="0"/>
              <a:t>6/6/2022</a:t>
            </a:fld>
            <a:endParaRPr lang="en-US" dirty="0"/>
          </a:p>
        </p:txBody>
      </p:sp>
      <p:sp>
        <p:nvSpPr>
          <p:cNvPr id="4" name="Footer Placeholder 3"/>
          <p:cNvSpPr>
            <a:spLocks noGrp="1"/>
          </p:cNvSpPr>
          <p:nvPr>
            <p:ph type="ftr" sz="quarter" idx="11"/>
          </p:nvPr>
        </p:nvSpPr>
        <p:spPr/>
        <p:txBody>
          <a:bodyPr/>
          <a:lstStyle/>
          <a:p>
            <a:r>
              <a:rPr lang="en-US" dirty="0"/>
              <a:t>PRESENTATION TITLE</a:t>
            </a:r>
          </a:p>
        </p:txBody>
      </p:sp>
      <p:sp>
        <p:nvSpPr>
          <p:cNvPr id="5" name="Slide Number Placeholder 4"/>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cxnSp>
        <p:nvCxnSpPr>
          <p:cNvPr id="12" name="Straight Connector 11"/>
          <p:cNvCxnSpPr/>
          <p:nvPr userDrawn="1"/>
        </p:nvCxnSpPr>
        <p:spPr>
          <a:xfrm>
            <a:off x="393007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393007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660400" y="2420360"/>
            <a:ext cx="108712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Edit Master text styles</a:t>
            </a:r>
          </a:p>
        </p:txBody>
      </p:sp>
      <p:sp>
        <p:nvSpPr>
          <p:cNvPr id="17" name="Text Placeholder 16"/>
          <p:cNvSpPr>
            <a:spLocks noGrp="1"/>
          </p:cNvSpPr>
          <p:nvPr>
            <p:ph type="body" sz="quarter" idx="14"/>
          </p:nvPr>
        </p:nvSpPr>
        <p:spPr>
          <a:xfrm>
            <a:off x="393007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dirty="0"/>
              <a:t>Edit Master text styles</a:t>
            </a:r>
          </a:p>
        </p:txBody>
      </p:sp>
      <p:grpSp>
        <p:nvGrpSpPr>
          <p:cNvPr id="10" name="Group 9">
            <a:extLst>
              <a:ext uri="{FF2B5EF4-FFF2-40B4-BE49-F238E27FC236}">
                <a16:creationId xmlns:a16="http://schemas.microsoft.com/office/drawing/2014/main" id="{961F0414-B0BC-1D40-AE42-89CACAFD01EC}"/>
              </a:ext>
            </a:extLst>
          </p:cNvPr>
          <p:cNvGrpSpPr/>
          <p:nvPr userDrawn="1"/>
        </p:nvGrpSpPr>
        <p:grpSpPr>
          <a:xfrm>
            <a:off x="0" y="0"/>
            <a:ext cx="12192000" cy="397164"/>
            <a:chOff x="0" y="0"/>
            <a:chExt cx="12192000" cy="397164"/>
          </a:xfrm>
        </p:grpSpPr>
        <p:sp>
          <p:nvSpPr>
            <p:cNvPr id="11" name="Rectangle 10">
              <a:extLst>
                <a:ext uri="{FF2B5EF4-FFF2-40B4-BE49-F238E27FC236}">
                  <a16:creationId xmlns:a16="http://schemas.microsoft.com/office/drawing/2014/main" id="{A537D53D-6C5E-E344-879C-78573CB6F971}"/>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D99609C-4A91-F743-9DC8-BA3B9B97DD4A}"/>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3AF74EF5-39A9-A847-A152-56959CFD5C34}"/>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007DC8E-B018-564C-8BBB-8FAA6CCA110F}"/>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718B1E1-1A2C-E347-9D03-D4BC5DBDCB1C}"/>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71253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6350285" y="803563"/>
            <a:ext cx="5440648" cy="5449457"/>
          </a:xfrm>
        </p:spPr>
        <p:txBody>
          <a:bodyPr/>
          <a:lstStyle/>
          <a:p>
            <a:r>
              <a:rPr lang="en-US" dirty="0"/>
              <a:t>Click icon to add picture</a:t>
            </a:r>
          </a:p>
        </p:txBody>
      </p:sp>
      <p:sp>
        <p:nvSpPr>
          <p:cNvPr id="2" name="Title 1"/>
          <p:cNvSpPr>
            <a:spLocks noGrp="1"/>
          </p:cNvSpPr>
          <p:nvPr>
            <p:ph type="title" hasCustomPrompt="1"/>
          </p:nvPr>
        </p:nvSpPr>
        <p:spPr>
          <a:xfrm>
            <a:off x="854362" y="1237675"/>
            <a:ext cx="4331855" cy="910202"/>
          </a:xfrm>
        </p:spPr>
        <p:txBody>
          <a:bodyPr anchor="b">
            <a:normAutofit/>
          </a:bodyPr>
          <a:lstStyle>
            <a:lvl1pPr algn="ctr">
              <a:defRPr sz="2800" b="1" cap="all" baseline="0"/>
            </a:lvl1pPr>
          </a:lstStyle>
          <a:p>
            <a:r>
              <a:rPr lang="en-US" dirty="0"/>
              <a:t>CONTEXT or THEME</a:t>
            </a:r>
          </a:p>
        </p:txBody>
      </p:sp>
      <p:sp>
        <p:nvSpPr>
          <p:cNvPr id="3" name="Date Placeholder 2"/>
          <p:cNvSpPr>
            <a:spLocks noGrp="1"/>
          </p:cNvSpPr>
          <p:nvPr>
            <p:ph type="dt" sz="half" idx="10"/>
          </p:nvPr>
        </p:nvSpPr>
        <p:spPr>
          <a:xfrm>
            <a:off x="10751004" y="6335309"/>
            <a:ext cx="1181114" cy="250337"/>
          </a:xfrm>
        </p:spPr>
        <p:txBody>
          <a:bodyPr/>
          <a:lstStyle/>
          <a:p>
            <a:fld id="{C7B0E91D-9343-49FA-912E-5BADB7624263}" type="datetime1">
              <a:rPr lang="en-US" smtClean="0"/>
              <a:t>6/6/2022</a:t>
            </a:fld>
            <a:endParaRPr lang="en-US" dirty="0"/>
          </a:p>
        </p:txBody>
      </p:sp>
      <p:sp>
        <p:nvSpPr>
          <p:cNvPr id="4" name="Footer Placeholder 3"/>
          <p:cNvSpPr>
            <a:spLocks noGrp="1"/>
          </p:cNvSpPr>
          <p:nvPr>
            <p:ph type="ftr" sz="quarter" idx="11"/>
          </p:nvPr>
        </p:nvSpPr>
        <p:spPr>
          <a:xfrm>
            <a:off x="259882" y="6335309"/>
            <a:ext cx="3887245" cy="250337"/>
          </a:xfrm>
        </p:spPr>
        <p:txBody>
          <a:bodyPr/>
          <a:lstStyle/>
          <a:p>
            <a:r>
              <a:rPr lang="en-US" dirty="0"/>
              <a:t>PRESENTATION TITLE</a:t>
            </a:r>
          </a:p>
        </p:txBody>
      </p:sp>
      <p:sp>
        <p:nvSpPr>
          <p:cNvPr id="5" name="Slide Number Placeholder 4"/>
          <p:cNvSpPr>
            <a:spLocks noGrp="1"/>
          </p:cNvSpPr>
          <p:nvPr>
            <p:ph type="sldNum" sz="quarter" idx="12"/>
          </p:nvPr>
        </p:nvSpPr>
        <p:spPr>
          <a:xfrm>
            <a:off x="5587999" y="6335309"/>
            <a:ext cx="1016000" cy="250337"/>
          </a:xfrm>
        </p:spPr>
        <p:txBody>
          <a:bodyPr/>
          <a:lstStyle/>
          <a:p>
            <a:r>
              <a:rPr lang="en-US" dirty="0"/>
              <a:t>PAGE  </a:t>
            </a:r>
            <a:fld id="{93005692-73BE-493E-93AB-ECD6027A7652}" type="slidenum">
              <a:rPr lang="en-US" smtClean="0"/>
              <a:pPr/>
              <a:t>‹#›</a:t>
            </a:fld>
            <a:endParaRPr lang="en-US" dirty="0"/>
          </a:p>
        </p:txBody>
      </p:sp>
      <p:sp>
        <p:nvSpPr>
          <p:cNvPr id="15" name="Text Placeholder 14"/>
          <p:cNvSpPr>
            <a:spLocks noGrp="1"/>
          </p:cNvSpPr>
          <p:nvPr>
            <p:ph type="body" sz="quarter" idx="13"/>
          </p:nvPr>
        </p:nvSpPr>
        <p:spPr>
          <a:xfrm>
            <a:off x="544943" y="2409026"/>
            <a:ext cx="4950694"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Edit Master text styles</a:t>
            </a:r>
          </a:p>
        </p:txBody>
      </p:sp>
      <p:sp>
        <p:nvSpPr>
          <p:cNvPr id="17" name="Text Placeholder 16"/>
          <p:cNvSpPr>
            <a:spLocks noGrp="1"/>
          </p:cNvSpPr>
          <p:nvPr>
            <p:ph type="body" sz="quarter" idx="14"/>
          </p:nvPr>
        </p:nvSpPr>
        <p:spPr>
          <a:xfrm>
            <a:off x="85436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dirty="0"/>
              <a:t>Edit Master text styles</a:t>
            </a:r>
          </a:p>
        </p:txBody>
      </p:sp>
      <p:cxnSp>
        <p:nvCxnSpPr>
          <p:cNvPr id="10" name="Straight Connector 9"/>
          <p:cNvCxnSpPr/>
          <p:nvPr userDrawn="1"/>
        </p:nvCxnSpPr>
        <p:spPr>
          <a:xfrm>
            <a:off x="85436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85436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637CE15A-DB6D-0743-AAE2-A7559393F313}"/>
              </a:ext>
            </a:extLst>
          </p:cNvPr>
          <p:cNvGrpSpPr/>
          <p:nvPr userDrawn="1"/>
        </p:nvGrpSpPr>
        <p:grpSpPr>
          <a:xfrm>
            <a:off x="0" y="0"/>
            <a:ext cx="12192000" cy="397164"/>
            <a:chOff x="0" y="0"/>
            <a:chExt cx="12192000" cy="397164"/>
          </a:xfrm>
        </p:grpSpPr>
        <p:sp>
          <p:nvSpPr>
            <p:cNvPr id="13" name="Rectangle 12">
              <a:extLst>
                <a:ext uri="{FF2B5EF4-FFF2-40B4-BE49-F238E27FC236}">
                  <a16:creationId xmlns:a16="http://schemas.microsoft.com/office/drawing/2014/main" id="{DC43730A-6D45-6A4E-AFAF-A9484CA6DA98}"/>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F617A37-8EFF-354B-9246-30E47D69828A}"/>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A08E467-2500-5C47-8FB8-8560E7ABAFEF}"/>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D18834D-333E-EB4A-AD1B-30A23CAC6B1F}"/>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444D534D-6728-704B-A66F-4879B170AB53}"/>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24444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p>
            <a:fld id="{DAA04DB2-6E8B-4E84-953C-BFD7CA63B298}" type="datetime1">
              <a:rPr lang="en-US" smtClean="0"/>
              <a:t>6/6/2022</a:t>
            </a:fld>
            <a:endParaRPr lang="en-US" dirty="0"/>
          </a:p>
        </p:txBody>
      </p:sp>
      <p:sp>
        <p:nvSpPr>
          <p:cNvPr id="4" name="Footer Placeholder 3"/>
          <p:cNvSpPr>
            <a:spLocks noGrp="1"/>
          </p:cNvSpPr>
          <p:nvPr>
            <p:ph type="ftr" sz="quarter" idx="11"/>
          </p:nvPr>
        </p:nvSpPr>
        <p:spPr/>
        <p:txBody>
          <a:bodyPr/>
          <a:lstStyle/>
          <a:p>
            <a:r>
              <a:rPr lang="en-US" dirty="0"/>
              <a:t>PRESENTATION TITLE</a:t>
            </a:r>
          </a:p>
        </p:txBody>
      </p:sp>
      <p:sp>
        <p:nvSpPr>
          <p:cNvPr id="5" name="Slide Number Placeholder 4"/>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7" name="Group 6">
            <a:extLst>
              <a:ext uri="{FF2B5EF4-FFF2-40B4-BE49-F238E27FC236}">
                <a16:creationId xmlns:a16="http://schemas.microsoft.com/office/drawing/2014/main" id="{F42A68D1-FAED-1447-93AB-E55B08AEFD7E}"/>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D7A0B09D-8368-594E-989B-CD138EF14445}"/>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20DB7ED-4380-A04C-92F3-CE4E4B15E4A5}"/>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85D7D64-69EE-3344-A63D-A674B494F177}"/>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4B83634-00FC-A34A-8B89-3C891D015C3D}"/>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0FD6163-ECDD-0B40-91FE-948DDBE0ACA3}"/>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8810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p>
            <a:fld id="{90067EFA-4CC5-4B5A-9BA8-34A7254D1108}" type="datetime1">
              <a:rPr lang="en-US" smtClean="0"/>
              <a:t>6/6/2022</a:t>
            </a:fld>
            <a:endParaRPr lang="en-US" dirty="0"/>
          </a:p>
        </p:txBody>
      </p:sp>
      <p:sp>
        <p:nvSpPr>
          <p:cNvPr id="4" name="Footer Placeholder 3"/>
          <p:cNvSpPr>
            <a:spLocks noGrp="1"/>
          </p:cNvSpPr>
          <p:nvPr>
            <p:ph type="ftr" sz="quarter" idx="11"/>
          </p:nvPr>
        </p:nvSpPr>
        <p:spPr/>
        <p:txBody>
          <a:bodyPr/>
          <a:lstStyle/>
          <a:p>
            <a:r>
              <a:rPr lang="en-US" dirty="0"/>
              <a:t>PRESENTATION TITLE</a:t>
            </a:r>
          </a:p>
        </p:txBody>
      </p:sp>
      <p:sp>
        <p:nvSpPr>
          <p:cNvPr id="5" name="Slide Number Placeholder 4"/>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7" name="Group 6">
            <a:extLst>
              <a:ext uri="{FF2B5EF4-FFF2-40B4-BE49-F238E27FC236}">
                <a16:creationId xmlns:a16="http://schemas.microsoft.com/office/drawing/2014/main" id="{DC6834DC-83EF-0B40-A9C9-7B9C586DC817}"/>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97F8DCC0-3434-C042-8D0F-629154663EA0}"/>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D2CADCA-AB32-D243-8783-043580B06166}"/>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DCDE67D-31C3-5D41-B5AF-07489970E03B}"/>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917A162-428E-D64E-BC73-35933B7A6398}"/>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9A6DA07-B4AD-7445-83AE-965C2552E494}"/>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62279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solidFill>
                  <a:schemeClr val="bg1"/>
                </a:solidFill>
              </a:defRPr>
            </a:lvl1pPr>
          </a:lstStyle>
          <a:p>
            <a:r>
              <a:rPr lang="en-US" dirty="0"/>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02504548-CBB1-401B-B946-57E0232E3DB1}" type="datetime1">
              <a:rPr lang="en-US" smtClean="0"/>
              <a:t>6/6/2022</a:t>
            </a:fld>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dirty="0"/>
              <a:t>PRESENTATION TITLE</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grpSp>
        <p:nvGrpSpPr>
          <p:cNvPr id="7" name="Group 6">
            <a:extLst>
              <a:ext uri="{FF2B5EF4-FFF2-40B4-BE49-F238E27FC236}">
                <a16:creationId xmlns:a16="http://schemas.microsoft.com/office/drawing/2014/main" id="{F4C59D4C-CEF3-114C-A609-C15F1B28AADD}"/>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F33C2F0B-F649-DB43-B61C-8B89FC99AB12}"/>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8DB72BF-2DE1-3941-8225-18CF3D3ED1D3}"/>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373040C-0781-2F47-9703-20C2B47DC8C3}"/>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CDD0111-7168-E949-BF53-6B2BD6863372}"/>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B5CE470-B0B7-6C45-9F85-DA0F32FEC68C}"/>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927480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7225" y="4581236"/>
            <a:ext cx="10877550" cy="1597891"/>
          </a:xfrm>
          <a:noFill/>
        </p:spPr>
        <p:txBody>
          <a:bodyPr wrap="square" rtlCol="0" anchor="ctr" anchorCtr="1">
            <a:noAutofit/>
          </a:bodyPr>
          <a:lstStyle>
            <a:lvl1pPr algn="ctr">
              <a:defRPr lang="en-US" sz="1800" b="0" i="0" cap="none"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10719067" y="6335309"/>
            <a:ext cx="1181114" cy="250337"/>
          </a:xfrm>
        </p:spPr>
        <p:txBody>
          <a:bodyPr/>
          <a:lstStyle/>
          <a:p>
            <a:fld id="{425A8B49-BB55-455A-9A6F-9E0348679BC6}" type="datetime1">
              <a:rPr lang="en-US" smtClean="0"/>
              <a:t>6/6/2022</a:t>
            </a:fld>
            <a:endParaRPr lang="en-US" dirty="0"/>
          </a:p>
        </p:txBody>
      </p:sp>
      <p:sp>
        <p:nvSpPr>
          <p:cNvPr id="10" name="Footer Placeholder 9"/>
          <p:cNvSpPr>
            <a:spLocks noGrp="1"/>
          </p:cNvSpPr>
          <p:nvPr>
            <p:ph type="ftr" sz="quarter" idx="11"/>
          </p:nvPr>
        </p:nvSpPr>
        <p:spPr>
          <a:xfrm>
            <a:off x="291819" y="6335309"/>
            <a:ext cx="4829174" cy="250337"/>
          </a:xfrm>
        </p:spPr>
        <p:txBody>
          <a:bodyPr/>
          <a:lstStyle/>
          <a:p>
            <a:r>
              <a:rPr lang="en-US" dirty="0"/>
              <a:t>PRESENTATION TITLE</a:t>
            </a:r>
          </a:p>
        </p:txBody>
      </p:sp>
      <p:sp>
        <p:nvSpPr>
          <p:cNvPr id="11" name="Slide Number Placeholder 10"/>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13" name="Group 12"/>
          <p:cNvGrpSpPr/>
          <p:nvPr userDrawn="1"/>
        </p:nvGrpSpPr>
        <p:grpSpPr>
          <a:xfrm>
            <a:off x="0" y="0"/>
            <a:ext cx="12192000" cy="397164"/>
            <a:chOff x="0" y="0"/>
            <a:chExt cx="12192000" cy="397164"/>
          </a:xfrm>
        </p:grpSpPr>
        <p:sp>
          <p:nvSpPr>
            <p:cNvPr id="14" name="Rectangle 13"/>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8AB47677-00DB-944D-9594-0B43C7C950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81177" y="986326"/>
            <a:ext cx="5829646" cy="4075200"/>
          </a:xfrm>
          <a:prstGeom prst="rect">
            <a:avLst/>
          </a:prstGeom>
        </p:spPr>
      </p:pic>
    </p:spTree>
    <p:extLst>
      <p:ext uri="{BB962C8B-B14F-4D97-AF65-F5344CB8AC3E}">
        <p14:creationId xmlns:p14="http://schemas.microsoft.com/office/powerpoint/2010/main" val="3772928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_AL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3425" y="4682836"/>
            <a:ext cx="10725150" cy="1559782"/>
          </a:xfrm>
          <a:noFill/>
        </p:spPr>
        <p:txBody>
          <a:bodyPr wrap="square" rtlCol="0" anchor="ctr" anchorCtr="1">
            <a:noAutofit/>
          </a:bodyPr>
          <a:lstStyle>
            <a:lvl1pPr marL="0" algn="ctr">
              <a:lnSpc>
                <a:spcPct val="75000"/>
              </a:lnSpc>
              <a:defRPr lang="en-US" sz="1800" b="0" i="0">
                <a:solidFill>
                  <a:schemeClr val="bg1">
                    <a:alpha val="81000"/>
                  </a:schemeClr>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10794698" y="6335309"/>
            <a:ext cx="1181114" cy="250337"/>
          </a:xfrm>
        </p:spPr>
        <p:txBody>
          <a:bodyPr/>
          <a:lstStyle>
            <a:lvl1pPr>
              <a:defRPr>
                <a:solidFill>
                  <a:schemeClr val="bg1"/>
                </a:solidFill>
              </a:defRPr>
            </a:lvl1pPr>
          </a:lstStyle>
          <a:p>
            <a:fld id="{DDF7D854-59D4-44BA-B892-CB269B3F0396}" type="datetime1">
              <a:rPr lang="en-US" smtClean="0"/>
              <a:t>6/6/2022</a:t>
            </a:fld>
            <a:endParaRPr lang="en-US" dirty="0"/>
          </a:p>
        </p:txBody>
      </p:sp>
      <p:sp>
        <p:nvSpPr>
          <p:cNvPr id="7" name="Footer Placeholder 6"/>
          <p:cNvSpPr>
            <a:spLocks noGrp="1"/>
          </p:cNvSpPr>
          <p:nvPr>
            <p:ph type="ftr" sz="quarter" idx="11"/>
          </p:nvPr>
        </p:nvSpPr>
        <p:spPr>
          <a:xfrm>
            <a:off x="290079" y="6335309"/>
            <a:ext cx="4752974" cy="250337"/>
          </a:xfrm>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pic>
        <p:nvPicPr>
          <p:cNvPr id="5" name="Picture 4">
            <a:extLst>
              <a:ext uri="{FF2B5EF4-FFF2-40B4-BE49-F238E27FC236}">
                <a16:creationId xmlns:a16="http://schemas.microsoft.com/office/drawing/2014/main" id="{89C25B53-FECF-DA42-A314-5562893406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81177" y="985586"/>
            <a:ext cx="5829646" cy="4075200"/>
          </a:xfrm>
          <a:prstGeom prst="rect">
            <a:avLst/>
          </a:prstGeom>
        </p:spPr>
      </p:pic>
      <p:grpSp>
        <p:nvGrpSpPr>
          <p:cNvPr id="10" name="Group 9">
            <a:extLst>
              <a:ext uri="{FF2B5EF4-FFF2-40B4-BE49-F238E27FC236}">
                <a16:creationId xmlns:a16="http://schemas.microsoft.com/office/drawing/2014/main" id="{EA0404D1-E1BB-704A-A81F-3B04F92679FB}"/>
              </a:ext>
            </a:extLst>
          </p:cNvPr>
          <p:cNvGrpSpPr/>
          <p:nvPr userDrawn="1"/>
        </p:nvGrpSpPr>
        <p:grpSpPr>
          <a:xfrm>
            <a:off x="0" y="0"/>
            <a:ext cx="12192000" cy="397164"/>
            <a:chOff x="0" y="0"/>
            <a:chExt cx="12192000" cy="397164"/>
          </a:xfrm>
        </p:grpSpPr>
        <p:sp>
          <p:nvSpPr>
            <p:cNvPr id="11" name="Rectangle 10">
              <a:extLst>
                <a:ext uri="{FF2B5EF4-FFF2-40B4-BE49-F238E27FC236}">
                  <a16:creationId xmlns:a16="http://schemas.microsoft.com/office/drawing/2014/main" id="{BF74AAFA-4467-0744-9DC4-A3B9064E560C}"/>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2B0F6C6-8B2B-B44B-B7DA-C42AA4E0EE9E}"/>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6847A9F-C2D6-B941-BCB8-2BF69CFCDA75}"/>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191CE84A-8073-E84E-A843-C5BCE43D0101}"/>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32543CE-9371-F54D-B730-D964E545EABC}"/>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98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_Y+W">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10719067" y="6335309"/>
            <a:ext cx="1181114" cy="250337"/>
          </a:xfrm>
        </p:spPr>
        <p:txBody>
          <a:bodyPr/>
          <a:lstStyle/>
          <a:p>
            <a:fld id="{F664FC26-A7BD-452C-847B-C78FC3DD7055}" type="datetime1">
              <a:rPr lang="en-US" smtClean="0"/>
              <a:t>6/6/2022</a:t>
            </a:fld>
            <a:endParaRPr lang="en-US" dirty="0"/>
          </a:p>
        </p:txBody>
      </p:sp>
      <p:sp>
        <p:nvSpPr>
          <p:cNvPr id="10" name="Footer Placeholder 9"/>
          <p:cNvSpPr>
            <a:spLocks noGrp="1"/>
          </p:cNvSpPr>
          <p:nvPr>
            <p:ph type="ftr" sz="quarter" idx="11"/>
          </p:nvPr>
        </p:nvSpPr>
        <p:spPr>
          <a:xfrm>
            <a:off x="291819" y="6335309"/>
            <a:ext cx="4829174" cy="250337"/>
          </a:xfrm>
        </p:spPr>
        <p:txBody>
          <a:bodyPr/>
          <a:lstStyle/>
          <a:p>
            <a:r>
              <a:rPr lang="en-US" dirty="0"/>
              <a:t>PRESENTATION TITLE</a:t>
            </a:r>
          </a:p>
        </p:txBody>
      </p:sp>
      <p:sp>
        <p:nvSpPr>
          <p:cNvPr id="11" name="Slide Number Placeholder 10"/>
          <p:cNvSpPr>
            <a:spLocks noGrp="1"/>
          </p:cNvSpPr>
          <p:nvPr>
            <p:ph type="sldNum" sz="quarter" idx="12"/>
          </p:nvPr>
        </p:nvSpPr>
        <p:spPr/>
        <p:txBody>
          <a:bodyPr/>
          <a:lstStyle/>
          <a:p>
            <a:r>
              <a:rPr lang="en-US" dirty="0"/>
              <a:t>PAGE  </a:t>
            </a:r>
            <a:fld id="{93005692-73BE-493E-93AB-ECD6027A7652}" type="slidenum">
              <a:rPr lang="en-US" smtClean="0"/>
              <a:pPr/>
              <a:t>‹#›</a:t>
            </a:fld>
            <a:endParaRPr lang="en-US" dirty="0"/>
          </a:p>
        </p:txBody>
      </p:sp>
      <p:grpSp>
        <p:nvGrpSpPr>
          <p:cNvPr id="13" name="Group 12"/>
          <p:cNvGrpSpPr/>
          <p:nvPr userDrawn="1"/>
        </p:nvGrpSpPr>
        <p:grpSpPr>
          <a:xfrm>
            <a:off x="0" y="0"/>
            <a:ext cx="12192000" cy="397164"/>
            <a:chOff x="0" y="0"/>
            <a:chExt cx="12192000" cy="397164"/>
          </a:xfrm>
        </p:grpSpPr>
        <p:sp>
          <p:nvSpPr>
            <p:cNvPr id="14" name="Rectangle 13"/>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8AB47677-00DB-944D-9594-0B43C7C950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81177" y="805093"/>
            <a:ext cx="5829646" cy="4075200"/>
          </a:xfrm>
          <a:prstGeom prst="rect">
            <a:avLst/>
          </a:prstGeom>
        </p:spPr>
      </p:pic>
      <p:pic>
        <p:nvPicPr>
          <p:cNvPr id="17" name="Picture 16">
            <a:extLst>
              <a:ext uri="{FF2B5EF4-FFF2-40B4-BE49-F238E27FC236}">
                <a16:creationId xmlns:a16="http://schemas.microsoft.com/office/drawing/2014/main" id="{720F8EDB-FB35-8242-B040-A8825313B80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87315" y="4854114"/>
            <a:ext cx="1817370" cy="514350"/>
          </a:xfrm>
          <a:prstGeom prst="rect">
            <a:avLst/>
          </a:prstGeom>
        </p:spPr>
      </p:pic>
      <p:pic>
        <p:nvPicPr>
          <p:cNvPr id="18" name="Picture 17">
            <a:extLst>
              <a:ext uri="{FF2B5EF4-FFF2-40B4-BE49-F238E27FC236}">
                <a16:creationId xmlns:a16="http://schemas.microsoft.com/office/drawing/2014/main" id="{FF475B1A-0654-BF46-B880-3C37A2574B7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237482" y="5539328"/>
            <a:ext cx="3717036" cy="243459"/>
          </a:xfrm>
          <a:prstGeom prst="rect">
            <a:avLst/>
          </a:prstGeom>
        </p:spPr>
      </p:pic>
    </p:spTree>
    <p:extLst>
      <p:ext uri="{BB962C8B-B14F-4D97-AF65-F5344CB8AC3E}">
        <p14:creationId xmlns:p14="http://schemas.microsoft.com/office/powerpoint/2010/main" val="2924200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10720807" y="6343709"/>
            <a:ext cx="1181114" cy="250337"/>
          </a:xfrm>
        </p:spPr>
        <p:txBody>
          <a:bodyPr/>
          <a:lstStyle>
            <a:lvl1pPr>
              <a:defRPr>
                <a:solidFill>
                  <a:schemeClr val="bg1"/>
                </a:solidFill>
              </a:defRPr>
            </a:lvl1pPr>
          </a:lstStyle>
          <a:p>
            <a:fld id="{A38F5A9A-0040-4648-8675-441527A11BC0}" type="datetime1">
              <a:rPr lang="en-US" smtClean="0"/>
              <a:t>6/6/2022</a:t>
            </a:fld>
            <a:endParaRPr lang="en-US" dirty="0"/>
          </a:p>
        </p:txBody>
      </p:sp>
      <p:sp>
        <p:nvSpPr>
          <p:cNvPr id="7" name="Footer Placeholder 6"/>
          <p:cNvSpPr>
            <a:spLocks noGrp="1"/>
          </p:cNvSpPr>
          <p:nvPr>
            <p:ph type="ftr" sz="quarter" idx="11"/>
          </p:nvPr>
        </p:nvSpPr>
        <p:spPr>
          <a:xfrm>
            <a:off x="290079" y="6335309"/>
            <a:ext cx="4752974" cy="250337"/>
          </a:xfrm>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dirty="0"/>
              <a:t>PAGE  </a:t>
            </a:r>
            <a:fld id="{93005692-73BE-493E-93AB-ECD6027A7652}" type="slidenum">
              <a:rPr lang="en-US" smtClean="0"/>
              <a:pPr/>
              <a:t>‹#›</a:t>
            </a:fld>
            <a:endParaRPr lang="en-US" dirty="0"/>
          </a:p>
        </p:txBody>
      </p:sp>
      <p:pic>
        <p:nvPicPr>
          <p:cNvPr id="5" name="Picture 4">
            <a:extLst>
              <a:ext uri="{FF2B5EF4-FFF2-40B4-BE49-F238E27FC236}">
                <a16:creationId xmlns:a16="http://schemas.microsoft.com/office/drawing/2014/main" id="{89C25B53-FECF-DA42-A314-5562893406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81177" y="799131"/>
            <a:ext cx="5829646" cy="4075200"/>
          </a:xfrm>
          <a:prstGeom prst="rect">
            <a:avLst/>
          </a:prstGeom>
        </p:spPr>
      </p:pic>
      <p:grpSp>
        <p:nvGrpSpPr>
          <p:cNvPr id="10" name="Group 9">
            <a:extLst>
              <a:ext uri="{FF2B5EF4-FFF2-40B4-BE49-F238E27FC236}">
                <a16:creationId xmlns:a16="http://schemas.microsoft.com/office/drawing/2014/main" id="{EA0404D1-E1BB-704A-A81F-3B04F92679FB}"/>
              </a:ext>
            </a:extLst>
          </p:cNvPr>
          <p:cNvGrpSpPr/>
          <p:nvPr userDrawn="1"/>
        </p:nvGrpSpPr>
        <p:grpSpPr>
          <a:xfrm>
            <a:off x="0" y="0"/>
            <a:ext cx="12192000" cy="397164"/>
            <a:chOff x="0" y="0"/>
            <a:chExt cx="12192000" cy="397164"/>
          </a:xfrm>
        </p:grpSpPr>
        <p:sp>
          <p:nvSpPr>
            <p:cNvPr id="11" name="Rectangle 10">
              <a:extLst>
                <a:ext uri="{FF2B5EF4-FFF2-40B4-BE49-F238E27FC236}">
                  <a16:creationId xmlns:a16="http://schemas.microsoft.com/office/drawing/2014/main" id="{BF74AAFA-4467-0744-9DC4-A3B9064E560C}"/>
                </a:ext>
              </a:extLst>
            </p:cNvPr>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2B0F6C6-8B2B-B44B-B7DA-C42AA4E0EE9E}"/>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6847A9F-C2D6-B941-BCB8-2BF69CFCDA75}"/>
                </a:ext>
              </a:extLst>
            </p:cNvPr>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191CE84A-8073-E84E-A843-C5BCE43D0101}"/>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32543CE-9371-F54D-B730-D964E545EABC}"/>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a:extLst>
              <a:ext uri="{FF2B5EF4-FFF2-40B4-BE49-F238E27FC236}">
                <a16:creationId xmlns:a16="http://schemas.microsoft.com/office/drawing/2014/main" id="{0C7355E0-66CF-4546-9E5B-6F021DE72AF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87315" y="4854114"/>
            <a:ext cx="1817370" cy="514350"/>
          </a:xfrm>
          <a:prstGeom prst="rect">
            <a:avLst/>
          </a:prstGeom>
        </p:spPr>
      </p:pic>
      <p:pic>
        <p:nvPicPr>
          <p:cNvPr id="23" name="Picture 22">
            <a:extLst>
              <a:ext uri="{FF2B5EF4-FFF2-40B4-BE49-F238E27FC236}">
                <a16:creationId xmlns:a16="http://schemas.microsoft.com/office/drawing/2014/main" id="{7095CF83-0EE1-FE49-95FB-53D61287452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237482" y="5539328"/>
            <a:ext cx="3717036" cy="243459"/>
          </a:xfrm>
          <a:prstGeom prst="rect">
            <a:avLst/>
          </a:prstGeom>
        </p:spPr>
      </p:pic>
    </p:spTree>
    <p:extLst>
      <p:ext uri="{BB962C8B-B14F-4D97-AF65-F5344CB8AC3E}">
        <p14:creationId xmlns:p14="http://schemas.microsoft.com/office/powerpoint/2010/main" val="69281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510D489-6F8B-F94E-9C40-2D0DDA555F58}"/>
              </a:ext>
            </a:extLst>
          </p:cNvPr>
          <p:cNvPicPr>
            <a:picLocks noChangeAspect="1"/>
          </p:cNvPicPr>
          <p:nvPr userDrawn="1"/>
        </p:nvPicPr>
        <p:blipFill>
          <a:blip r:embed="rId24" cstate="hqprint">
            <a:extLst>
              <a:ext uri="{28A0092B-C50C-407E-A947-70E740481C1C}">
                <a14:useLocalDpi xmlns:a14="http://schemas.microsoft.com/office/drawing/2010/main" val="0"/>
              </a:ext>
            </a:extLst>
          </a:blip>
          <a:stretch>
            <a:fillRect/>
          </a:stretch>
        </p:blipFill>
        <p:spPr>
          <a:xfrm>
            <a:off x="9037500" y="5982836"/>
            <a:ext cx="3154499" cy="900000"/>
          </a:xfrm>
          <a:prstGeom prst="rect">
            <a:avLst/>
          </a:prstGeom>
        </p:spPr>
      </p:pic>
      <p:sp>
        <p:nvSpPr>
          <p:cNvPr id="3" name="Text Placeholder 2"/>
          <p:cNvSpPr>
            <a:spLocks noGrp="1"/>
          </p:cNvSpPr>
          <p:nvPr>
            <p:ph type="body" idx="1"/>
          </p:nvPr>
        </p:nvSpPr>
        <p:spPr>
          <a:xfrm>
            <a:off x="259882" y="1413163"/>
            <a:ext cx="11569729" cy="4595117"/>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38014" y="6335309"/>
            <a:ext cx="1181114"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DCAF24BB-2889-4822-9CDA-0E9DA79D1649}" type="datetime1">
              <a:rPr lang="en-US" smtClean="0"/>
              <a:t>6/6/2022</a:t>
            </a:fld>
            <a:endParaRPr lang="en-US" dirty="0"/>
          </a:p>
        </p:txBody>
      </p:sp>
      <p:sp>
        <p:nvSpPr>
          <p:cNvPr id="2" name="Title Placeholder 1"/>
          <p:cNvSpPr>
            <a:spLocks noGrp="1"/>
          </p:cNvSpPr>
          <p:nvPr>
            <p:ph type="title"/>
          </p:nvPr>
        </p:nvSpPr>
        <p:spPr>
          <a:xfrm>
            <a:off x="259883" y="434108"/>
            <a:ext cx="11569729" cy="895927"/>
          </a:xfrm>
          <a:prstGeom prst="rect">
            <a:avLst/>
          </a:prstGeom>
        </p:spPr>
        <p:txBody>
          <a:bodyPr vert="horz" lIns="91440" tIns="45720" rIns="91440" bIns="45720" rtlCol="0" anchor="ctr">
            <a:normAutofit/>
          </a:bodyPr>
          <a:lstStyle/>
          <a:p>
            <a:r>
              <a:rPr lang="en-US" dirty="0"/>
              <a:t>CLICK TO EDIT MASTER TITLE STYLE</a:t>
            </a:r>
          </a:p>
        </p:txBody>
      </p:sp>
      <p:sp>
        <p:nvSpPr>
          <p:cNvPr id="5" name="Footer Placeholder 4"/>
          <p:cNvSpPr>
            <a:spLocks noGrp="1"/>
          </p:cNvSpPr>
          <p:nvPr>
            <p:ph type="ftr" sz="quarter" idx="3"/>
          </p:nvPr>
        </p:nvSpPr>
        <p:spPr>
          <a:xfrm>
            <a:off x="259882" y="6335309"/>
            <a:ext cx="5226517" cy="250337"/>
          </a:xfrm>
          <a:prstGeom prst="rect">
            <a:avLst/>
          </a:prstGeom>
        </p:spPr>
        <p:txBody>
          <a:bodyPr vert="horz" lIns="91440" tIns="45720" rIns="91440" bIns="45720" rtlCol="0" anchor="ctr"/>
          <a:lstStyle>
            <a:lvl1pPr algn="l">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PRESENTATION TITLE</a:t>
            </a:r>
          </a:p>
        </p:txBody>
      </p:sp>
      <p:sp>
        <p:nvSpPr>
          <p:cNvPr id="6" name="Slide Number Placeholder 5"/>
          <p:cNvSpPr>
            <a:spLocks noGrp="1"/>
          </p:cNvSpPr>
          <p:nvPr>
            <p:ph type="sldNum" sz="quarter" idx="4"/>
          </p:nvPr>
        </p:nvSpPr>
        <p:spPr>
          <a:xfrm>
            <a:off x="5588000" y="6335309"/>
            <a:ext cx="1016000"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PAGE  </a:t>
            </a:r>
            <a:fld id="{93005692-73BE-493E-93AB-ECD6027A7652}" type="slidenum">
              <a:rPr lang="en-US" smtClean="0"/>
              <a:pPr/>
              <a:t>‹#›</a:t>
            </a:fld>
            <a:endParaRPr lang="en-US" dirty="0"/>
          </a:p>
        </p:txBody>
      </p:sp>
      <p:grpSp>
        <p:nvGrpSpPr>
          <p:cNvPr id="14" name="Group 13"/>
          <p:cNvGrpSpPr/>
          <p:nvPr userDrawn="1"/>
        </p:nvGrpSpPr>
        <p:grpSpPr>
          <a:xfrm>
            <a:off x="0" y="0"/>
            <a:ext cx="12192000" cy="397164"/>
            <a:chOff x="0" y="0"/>
            <a:chExt cx="12192000" cy="397164"/>
          </a:xfrm>
        </p:grpSpPr>
        <p:sp>
          <p:nvSpPr>
            <p:cNvPr id="15" name="Rectangle 14"/>
            <p:cNvSpPr/>
            <p:nvPr userDrawn="1"/>
          </p:nvSpPr>
          <p:spPr>
            <a:xfrm>
              <a:off x="1" y="198582"/>
              <a:ext cx="3082197"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6097879" y="198582"/>
              <a:ext cx="3047061"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36010510"/>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 id="2147483852" r:id="rId18"/>
    <p:sldLayoutId id="2147483853" r:id="rId19"/>
    <p:sldLayoutId id="2147483854" r:id="rId20"/>
    <p:sldLayoutId id="2147483855" r:id="rId21"/>
    <p:sldLayoutId id="2147483856"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85000"/>
        </a:lnSpc>
        <a:spcBef>
          <a:spcPct val="0"/>
        </a:spcBef>
        <a:buNone/>
        <a:defRPr sz="3600" b="1" kern="1200" spc="50" baseline="0">
          <a:solidFill>
            <a:schemeClr val="tx1"/>
          </a:solidFill>
          <a:latin typeface="+mj-lt"/>
          <a:ea typeface="+mj-ea"/>
          <a:cs typeface="+mj-cs"/>
        </a:defRPr>
      </a:lvl1pPr>
    </p:titleStyle>
    <p:body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2.xml"/><Relationship Id="rId16" Type="http://schemas.openxmlformats.org/officeDocument/2006/relationships/comments" Target="../comments/comment1.xml"/><Relationship Id="rId1" Type="http://schemas.openxmlformats.org/officeDocument/2006/relationships/slideLayout" Target="../slideLayouts/slideLayout1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comments" Target="../comments/comment2.xml"/><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png"/><Relationship Id="rId11" Type="http://schemas.openxmlformats.org/officeDocument/2006/relationships/image" Target="../media/image29.png"/><Relationship Id="rId5" Type="http://schemas.openxmlformats.org/officeDocument/2006/relationships/image" Target="../media/image24.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9.png"/><Relationship Id="rId7" Type="http://schemas.openxmlformats.org/officeDocument/2006/relationships/image" Target="../media/image290.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280.png"/><Relationship Id="rId5" Type="http://schemas.openxmlformats.org/officeDocument/2006/relationships/image" Target="../media/image270.png"/><Relationship Id="rId4" Type="http://schemas.openxmlformats.org/officeDocument/2006/relationships/image" Target="../media/image240.png"/><Relationship Id="rId9" Type="http://schemas.openxmlformats.org/officeDocument/2006/relationships/image" Target="../media/image3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comments" Target="../comments/comment3.xml"/><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comments" Target="../comments/comment4.xml"/><Relationship Id="rId5" Type="http://schemas.openxmlformats.org/officeDocument/2006/relationships/image" Target="../media/image47.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comments" Target="../comments/comment5.xm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53.gi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55.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9.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20.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9.png"/><Relationship Id="rId7"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comments" Target="../comments/comment6.xml"/><Relationship Id="rId5" Type="http://schemas.openxmlformats.org/officeDocument/2006/relationships/image" Target="../media/image550.png"/><Relationship Id="rId10" Type="http://schemas.openxmlformats.org/officeDocument/2006/relationships/image" Target="../media/image60.png"/><Relationship Id="rId4" Type="http://schemas.openxmlformats.org/officeDocument/2006/relationships/image" Target="../media/image540.png"/><Relationship Id="rId9"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comments" Target="../comments/comment7.xml"/><Relationship Id="rId4" Type="http://schemas.openxmlformats.org/officeDocument/2006/relationships/image" Target="../media/image430.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7.png"/><Relationship Id="rId7" Type="http://schemas.openxmlformats.org/officeDocument/2006/relationships/image" Target="../media/image70.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9.png"/><Relationship Id="rId9"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7A5B-3B64-4F97-98D1-D5F7EA6EE86E}"/>
              </a:ext>
            </a:extLst>
          </p:cNvPr>
          <p:cNvSpPr>
            <a:spLocks noGrp="1"/>
          </p:cNvSpPr>
          <p:nvPr>
            <p:ph type="ctrTitle"/>
          </p:nvPr>
        </p:nvSpPr>
        <p:spPr>
          <a:xfrm>
            <a:off x="142875" y="497573"/>
            <a:ext cx="11906250" cy="2261509"/>
          </a:xfrm>
        </p:spPr>
        <p:txBody>
          <a:bodyPr/>
          <a:lstStyle/>
          <a:p>
            <a:pPr algn="ctr"/>
            <a:r>
              <a:rPr lang="en-US" sz="5400" dirty="0">
                <a:solidFill>
                  <a:srgbClr val="000000"/>
                </a:solidFill>
              </a:rPr>
              <a:t>Atomic Shell Structure IN A Polymer-Based Approach to Orbital-Free Density-Functional Theory</a:t>
            </a:r>
            <a:endParaRPr lang="en-CA" dirty="0"/>
          </a:p>
        </p:txBody>
      </p:sp>
      <p:pic>
        <p:nvPicPr>
          <p:cNvPr id="7" name="Picture 6">
            <a:extLst>
              <a:ext uri="{FF2B5EF4-FFF2-40B4-BE49-F238E27FC236}">
                <a16:creationId xmlns:a16="http://schemas.microsoft.com/office/drawing/2014/main" id="{B49183A6-3F26-4BA0-A47E-F3C9F5002F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sp>
        <p:nvSpPr>
          <p:cNvPr id="8" name="Rectangle 7">
            <a:extLst>
              <a:ext uri="{FF2B5EF4-FFF2-40B4-BE49-F238E27FC236}">
                <a16:creationId xmlns:a16="http://schemas.microsoft.com/office/drawing/2014/main" id="{EA4E4898-EBEF-4FE2-B05C-82BF2BB96285}"/>
              </a:ext>
            </a:extLst>
          </p:cNvPr>
          <p:cNvSpPr/>
          <p:nvPr/>
        </p:nvSpPr>
        <p:spPr>
          <a:xfrm>
            <a:off x="4082668" y="3590523"/>
            <a:ext cx="4026663" cy="1708160"/>
          </a:xfrm>
          <a:prstGeom prst="rect">
            <a:avLst/>
          </a:prstGeom>
        </p:spPr>
        <p:txBody>
          <a:bodyPr wrap="square">
            <a:spAutoFit/>
          </a:bodyPr>
          <a:lstStyle/>
          <a:p>
            <a:pPr lvl="0" algn="ctr">
              <a:spcBef>
                <a:spcPts val="800"/>
              </a:spcBef>
              <a:spcAft>
                <a:spcPts val="800"/>
              </a:spcAft>
              <a:buClr>
                <a:srgbClr val="000000"/>
              </a:buClr>
              <a:buSzPct val="85000"/>
            </a:pPr>
            <a:r>
              <a:rPr lang="en-US" sz="1500" dirty="0"/>
              <a:t>Phil LeMaitre,</a:t>
            </a:r>
            <a:br>
              <a:rPr lang="en-US" sz="1500" dirty="0"/>
            </a:br>
            <a:r>
              <a:rPr lang="en-US" sz="1500" dirty="0"/>
              <a:t>University of Waterloo,  </a:t>
            </a:r>
            <a:br>
              <a:rPr lang="en-US" sz="1500" dirty="0"/>
            </a:br>
            <a:r>
              <a:rPr lang="en-US" sz="1500" dirty="0"/>
              <a:t>Department of Physics and Astronomy</a:t>
            </a:r>
            <a:br>
              <a:rPr lang="en-US" sz="1500" dirty="0"/>
            </a:br>
            <a:br>
              <a:rPr lang="en-US" sz="1500" dirty="0"/>
            </a:br>
            <a:br>
              <a:rPr lang="en-US" sz="1500" dirty="0"/>
            </a:br>
            <a:r>
              <a:rPr lang="en-US" sz="1500" dirty="0"/>
              <a:t>Supervisor:</a:t>
            </a:r>
            <a:br>
              <a:rPr lang="en-US" sz="1500" dirty="0"/>
            </a:br>
            <a:r>
              <a:rPr lang="en-US" sz="1500" dirty="0"/>
              <a:t>Dr. Russell B. Thompson</a:t>
            </a:r>
          </a:p>
        </p:txBody>
      </p:sp>
      <p:sp>
        <p:nvSpPr>
          <p:cNvPr id="3" name="Slide Number Placeholder 2">
            <a:extLst>
              <a:ext uri="{FF2B5EF4-FFF2-40B4-BE49-F238E27FC236}">
                <a16:creationId xmlns:a16="http://schemas.microsoft.com/office/drawing/2014/main" id="{5156776E-D9E7-4A66-99FB-002A67685744}"/>
              </a:ext>
            </a:extLst>
          </p:cNvPr>
          <p:cNvSpPr>
            <a:spLocks noGrp="1"/>
          </p:cNvSpPr>
          <p:nvPr>
            <p:ph type="sldNum" sz="quarter" idx="12"/>
          </p:nvPr>
        </p:nvSpPr>
        <p:spPr/>
        <p:txBody>
          <a:bodyPr/>
          <a:lstStyle/>
          <a:p>
            <a:r>
              <a:rPr lang="en-US"/>
              <a:t>PAGE  </a:t>
            </a:r>
            <a:fld id="{93005692-73BE-493E-93AB-ECD6027A7652}" type="slidenum">
              <a:rPr lang="en-US" smtClean="0"/>
              <a:pPr/>
              <a:t>1</a:t>
            </a:fld>
            <a:endParaRPr lang="en-US" dirty="0"/>
          </a:p>
        </p:txBody>
      </p:sp>
    </p:spTree>
    <p:extLst>
      <p:ext uri="{BB962C8B-B14F-4D97-AF65-F5344CB8AC3E}">
        <p14:creationId xmlns:p14="http://schemas.microsoft.com/office/powerpoint/2010/main" val="235791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4E13BC-03D2-4034-95D6-6A08D5535F94}"/>
              </a:ext>
            </a:extLst>
          </p:cNvPr>
          <p:cNvSpPr txBox="1"/>
          <p:nvPr/>
        </p:nvSpPr>
        <p:spPr>
          <a:xfrm>
            <a:off x="265814" y="586295"/>
            <a:ext cx="12280644" cy="646331"/>
          </a:xfrm>
          <a:prstGeom prst="rect">
            <a:avLst/>
          </a:prstGeom>
          <a:noFill/>
        </p:spPr>
        <p:txBody>
          <a:bodyPr wrap="square" rtlCol="0">
            <a:spAutoFit/>
          </a:bodyPr>
          <a:lstStyle/>
          <a:p>
            <a:r>
              <a:rPr lang="en-CA" sz="3600" dirty="0">
                <a:latin typeface="+mj-lt"/>
              </a:rPr>
              <a:t>Brief Background</a:t>
            </a:r>
          </a:p>
        </p:txBody>
      </p:sp>
      <p:cxnSp>
        <p:nvCxnSpPr>
          <p:cNvPr id="6" name="Straight Connector 5">
            <a:extLst>
              <a:ext uri="{FF2B5EF4-FFF2-40B4-BE49-F238E27FC236}">
                <a16:creationId xmlns:a16="http://schemas.microsoft.com/office/drawing/2014/main" id="{F70A427C-3247-4EB2-8C07-45946AC9FD9B}"/>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0F406E9E-9045-465E-AEFD-91933F688CD4}"/>
              </a:ext>
            </a:extLst>
          </p:cNvPr>
          <p:cNvSpPr>
            <a:spLocks noGrp="1"/>
          </p:cNvSpPr>
          <p:nvPr>
            <p:ph type="sldNum" sz="quarter" idx="12"/>
          </p:nvPr>
        </p:nvSpPr>
        <p:spPr/>
        <p:txBody>
          <a:bodyPr/>
          <a:lstStyle/>
          <a:p>
            <a:r>
              <a:rPr lang="en-US"/>
              <a:t>PAGE  </a:t>
            </a:r>
            <a:fld id="{93005692-73BE-493E-93AB-ECD6027A7652}" type="slidenum">
              <a:rPr lang="en-US" smtClean="0"/>
              <a:pPr/>
              <a:t>2</a:t>
            </a:fld>
            <a:endParaRPr lang="en-US" dirty="0"/>
          </a:p>
        </p:txBody>
      </p:sp>
      <p:pic>
        <p:nvPicPr>
          <p:cNvPr id="13" name="Picture 12">
            <a:extLst>
              <a:ext uri="{FF2B5EF4-FFF2-40B4-BE49-F238E27FC236}">
                <a16:creationId xmlns:a16="http://schemas.microsoft.com/office/drawing/2014/main" id="{0590F23A-B7EE-42A0-915C-C42D01FFE6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sp>
        <p:nvSpPr>
          <p:cNvPr id="21" name="TextBox 20">
            <a:extLst>
              <a:ext uri="{FF2B5EF4-FFF2-40B4-BE49-F238E27FC236}">
                <a16:creationId xmlns:a16="http://schemas.microsoft.com/office/drawing/2014/main" id="{86BFE9A9-F596-4FEB-A34B-4E146E28C66B}"/>
              </a:ext>
            </a:extLst>
          </p:cNvPr>
          <p:cNvSpPr txBox="1"/>
          <p:nvPr/>
        </p:nvSpPr>
        <p:spPr>
          <a:xfrm>
            <a:off x="283837" y="1321806"/>
            <a:ext cx="9020759"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Feynman’s Quantum-Classical correspondence:</a:t>
            </a:r>
          </a:p>
          <a:p>
            <a:endParaRPr lang="en-CA"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1D3BDFE-3B8D-4121-A5E4-5C26EEAD8985}"/>
                  </a:ext>
                </a:extLst>
              </p:cNvPr>
              <p:cNvSpPr txBox="1"/>
              <p:nvPr/>
            </p:nvSpPr>
            <p:spPr>
              <a:xfrm>
                <a:off x="840318" y="2658838"/>
                <a:ext cx="7243365" cy="8082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sz="1600" i="1" smtClean="0">
                              <a:latin typeface="Cambria Math" panose="02040503050406030204" pitchFamily="18" charset="0"/>
                            </a:rPr>
                          </m:ctrlPr>
                        </m:sSubPr>
                        <m:e>
                          <m:r>
                            <a:rPr lang="en-CA" sz="1600" i="1">
                              <a:latin typeface="Cambria Math" panose="02040503050406030204" pitchFamily="18" charset="0"/>
                            </a:rPr>
                            <m:t>𝑍</m:t>
                          </m:r>
                        </m:e>
                        <m:sub>
                          <m:r>
                            <a:rPr lang="en-CA" sz="1600" i="1">
                              <a:latin typeface="Cambria Math" panose="02040503050406030204" pitchFamily="18" charset="0"/>
                            </a:rPr>
                            <m:t>𝑁</m:t>
                          </m:r>
                        </m:sub>
                      </m:sSub>
                      <m:r>
                        <a:rPr lang="en-CA" sz="1600" b="0" i="1" smtClean="0">
                          <a:latin typeface="Cambria Math" panose="02040503050406030204" pitchFamily="18" charset="0"/>
                        </a:rPr>
                        <m:t>=</m:t>
                      </m:r>
                      <m:nary>
                        <m:naryPr>
                          <m:chr m:val="∏"/>
                          <m:ctrlPr>
                            <a:rPr lang="en-CA" sz="1600" b="0" i="1" smtClean="0">
                              <a:latin typeface="Cambria Math" panose="02040503050406030204" pitchFamily="18" charset="0"/>
                            </a:rPr>
                          </m:ctrlPr>
                        </m:naryPr>
                        <m:sub>
                          <m:r>
                            <m:rPr>
                              <m:brk m:alnAt="23"/>
                            </m:rPr>
                            <a:rPr lang="en-CA" sz="1600" b="0" i="1" smtClean="0">
                              <a:latin typeface="Cambria Math" panose="02040503050406030204" pitchFamily="18" charset="0"/>
                            </a:rPr>
                            <m:t>𝑖</m:t>
                          </m:r>
                        </m:sub>
                        <m:sup>
                          <m:r>
                            <a:rPr lang="en-CA" sz="1600" b="0" i="1" smtClean="0">
                              <a:latin typeface="Cambria Math" panose="02040503050406030204" pitchFamily="18" charset="0"/>
                            </a:rPr>
                            <m:t>𝑁</m:t>
                          </m:r>
                        </m:sup>
                        <m:e>
                          <m:nary>
                            <m:naryPr>
                              <m:limLoc m:val="undOvr"/>
                              <m:subHide m:val="on"/>
                              <m:supHide m:val="on"/>
                              <m:ctrlPr>
                                <a:rPr lang="en-CA" sz="1600" i="1">
                                  <a:latin typeface="Cambria Math" panose="02040503050406030204" pitchFamily="18" charset="0"/>
                                </a:rPr>
                              </m:ctrlPr>
                            </m:naryPr>
                            <m:sub/>
                            <m:sup/>
                            <m:e>
                              <m:sSup>
                                <m:sSupPr>
                                  <m:ctrlPr>
                                    <a:rPr lang="en-CA" sz="1600" i="1">
                                      <a:latin typeface="Cambria Math" panose="02040503050406030204" pitchFamily="18" charset="0"/>
                                    </a:rPr>
                                  </m:ctrlPr>
                                </m:sSupPr>
                                <m:e>
                                  <m:r>
                                    <a:rPr lang="en-CA" sz="1600" i="1">
                                      <a:latin typeface="Cambria Math" panose="02040503050406030204" pitchFamily="18" charset="0"/>
                                    </a:rPr>
                                    <m:t>𝑑</m:t>
                                  </m:r>
                                </m:e>
                                <m:sup>
                                  <m:r>
                                    <a:rPr lang="en-CA" sz="1600" i="1">
                                      <a:latin typeface="Cambria Math" panose="02040503050406030204" pitchFamily="18" charset="0"/>
                                    </a:rPr>
                                    <m:t>𝑁</m:t>
                                  </m:r>
                                </m:sup>
                              </m:sSup>
                              <m:sSub>
                                <m:sSubPr>
                                  <m:ctrlPr>
                                    <a:rPr lang="en-CA" sz="1600" i="1">
                                      <a:latin typeface="Cambria Math" panose="02040503050406030204" pitchFamily="18" charset="0"/>
                                    </a:rPr>
                                  </m:ctrlPr>
                                </m:sSubPr>
                                <m:e>
                                  <m:r>
                                    <a:rPr lang="en-CA" sz="1600" b="1" i="1">
                                      <a:latin typeface="Cambria Math" panose="02040503050406030204" pitchFamily="18" charset="0"/>
                                    </a:rPr>
                                    <m:t>𝒓</m:t>
                                  </m:r>
                                </m:e>
                                <m:sub>
                                  <m:r>
                                    <a:rPr lang="en-CA" sz="1600" i="1">
                                      <a:latin typeface="Cambria Math" panose="02040503050406030204" pitchFamily="18" charset="0"/>
                                    </a:rPr>
                                    <m:t>𝑖</m:t>
                                  </m:r>
                                </m:sub>
                              </m:sSub>
                              <m:d>
                                <m:dPr>
                                  <m:begChr m:val="⟨"/>
                                  <m:endChr m:val="⟩"/>
                                  <m:ctrlPr>
                                    <a:rPr lang="en-CA" sz="1600" i="1" smtClean="0">
                                      <a:latin typeface="Cambria Math" panose="02040503050406030204" pitchFamily="18" charset="0"/>
                                    </a:rPr>
                                  </m:ctrlPr>
                                </m:dPr>
                                <m:e>
                                  <m:sSub>
                                    <m:sSubPr>
                                      <m:ctrlPr>
                                        <a:rPr lang="en-CA" sz="1600" b="1" i="1" smtClean="0">
                                          <a:latin typeface="Cambria Math" panose="02040503050406030204" pitchFamily="18" charset="0"/>
                                        </a:rPr>
                                      </m:ctrlPr>
                                    </m:sSubPr>
                                    <m:e>
                                      <m:r>
                                        <a:rPr lang="en-CA" sz="1600" b="1" i="1" smtClean="0">
                                          <a:latin typeface="Cambria Math" panose="02040503050406030204" pitchFamily="18" charset="0"/>
                                        </a:rPr>
                                        <m:t>𝒓</m:t>
                                      </m:r>
                                    </m:e>
                                    <m:sub>
                                      <m:r>
                                        <a:rPr lang="en-CA" sz="1600" b="0" i="1" smtClean="0">
                                          <a:latin typeface="Cambria Math" panose="02040503050406030204" pitchFamily="18" charset="0"/>
                                        </a:rPr>
                                        <m:t>𝑖</m:t>
                                      </m:r>
                                    </m:sub>
                                  </m:sSub>
                                </m:e>
                                <m:e>
                                  <m:sSup>
                                    <m:sSupPr>
                                      <m:ctrlPr>
                                        <a:rPr lang="en-CA" sz="1600" b="0" i="1" smtClean="0">
                                          <a:latin typeface="Cambria Math" panose="02040503050406030204" pitchFamily="18" charset="0"/>
                                        </a:rPr>
                                      </m:ctrlPr>
                                    </m:sSupPr>
                                    <m:e>
                                      <m:r>
                                        <a:rPr lang="en-CA" sz="1600" b="0" i="1" smtClean="0">
                                          <a:latin typeface="Cambria Math" panose="02040503050406030204" pitchFamily="18" charset="0"/>
                                        </a:rPr>
                                        <m:t>𝑒</m:t>
                                      </m:r>
                                    </m:e>
                                    <m:sup>
                                      <m:r>
                                        <a:rPr lang="en-CA" sz="1600" b="0" i="1" smtClean="0">
                                          <a:latin typeface="Cambria Math" panose="02040503050406030204" pitchFamily="18" charset="0"/>
                                        </a:rPr>
                                        <m:t>−</m:t>
                                      </m:r>
                                      <m:r>
                                        <a:rPr lang="en-CA" sz="1600" b="0" i="1" smtClean="0">
                                          <a:latin typeface="Cambria Math" panose="02040503050406030204" pitchFamily="18" charset="0"/>
                                        </a:rPr>
                                        <m:t>𝛽</m:t>
                                      </m:r>
                                      <m:r>
                                        <a:rPr lang="en-CA" sz="1600" b="0" i="1" smtClean="0">
                                          <a:latin typeface="Cambria Math" panose="02040503050406030204" pitchFamily="18" charset="0"/>
                                        </a:rPr>
                                        <m:t>ℋ</m:t>
                                      </m:r>
                                    </m:sup>
                                  </m:sSup>
                                </m:e>
                                <m:e>
                                  <m:sSub>
                                    <m:sSubPr>
                                      <m:ctrlPr>
                                        <a:rPr lang="en-CA" sz="1600" b="0" i="1" smtClean="0">
                                          <a:latin typeface="Cambria Math" panose="02040503050406030204" pitchFamily="18" charset="0"/>
                                        </a:rPr>
                                      </m:ctrlPr>
                                    </m:sSubPr>
                                    <m:e>
                                      <m:r>
                                        <a:rPr lang="en-CA" sz="1600" b="1" i="1" smtClean="0">
                                          <a:latin typeface="Cambria Math" panose="02040503050406030204" pitchFamily="18" charset="0"/>
                                        </a:rPr>
                                        <m:t>𝒓</m:t>
                                      </m:r>
                                    </m:e>
                                    <m:sub>
                                      <m:r>
                                        <a:rPr lang="en-CA" sz="1600" b="0" i="1" smtClean="0">
                                          <a:latin typeface="Cambria Math" panose="02040503050406030204" pitchFamily="18" charset="0"/>
                                        </a:rPr>
                                        <m:t>𝑖</m:t>
                                      </m:r>
                                    </m:sub>
                                  </m:sSub>
                                </m:e>
                              </m:d>
                            </m:e>
                          </m:nary>
                        </m:e>
                      </m:nary>
                      <m:r>
                        <a:rPr lang="en-CA" sz="1600" b="0" i="1" smtClean="0">
                          <a:latin typeface="Cambria Math" panose="02040503050406030204" pitchFamily="18" charset="0"/>
                        </a:rPr>
                        <m:t> </m:t>
                      </m:r>
                      <m:r>
                        <a:rPr lang="en-CA" sz="1600" i="1">
                          <a:latin typeface="Cambria Math" panose="02040503050406030204" pitchFamily="18" charset="0"/>
                        </a:rPr>
                        <m:t>=</m:t>
                      </m:r>
                      <m:nary>
                        <m:naryPr>
                          <m:chr m:val="∏"/>
                          <m:ctrlPr>
                            <a:rPr lang="en-CA" sz="1600" i="1" smtClean="0">
                              <a:latin typeface="Cambria Math" panose="02040503050406030204" pitchFamily="18" charset="0"/>
                            </a:rPr>
                          </m:ctrlPr>
                        </m:naryPr>
                        <m:sub>
                          <m:r>
                            <m:rPr>
                              <m:brk m:alnAt="23"/>
                            </m:rPr>
                            <a:rPr lang="en-CA" sz="1600" b="0" i="1" smtClean="0">
                              <a:latin typeface="Cambria Math" panose="02040503050406030204" pitchFamily="18" charset="0"/>
                            </a:rPr>
                            <m:t>𝑖</m:t>
                          </m:r>
                        </m:sub>
                        <m:sup>
                          <m:r>
                            <a:rPr lang="en-CA" sz="1600" b="0" i="1" smtClean="0">
                              <a:latin typeface="Cambria Math" panose="02040503050406030204" pitchFamily="18" charset="0"/>
                            </a:rPr>
                            <m:t>𝑁</m:t>
                          </m:r>
                        </m:sup>
                        <m:e>
                          <m:nary>
                            <m:naryPr>
                              <m:limLoc m:val="undOvr"/>
                              <m:subHide m:val="on"/>
                              <m:supHide m:val="on"/>
                              <m:ctrlPr>
                                <a:rPr lang="en-CA" sz="1600" i="1">
                                  <a:latin typeface="Cambria Math" panose="02040503050406030204" pitchFamily="18" charset="0"/>
                                </a:rPr>
                              </m:ctrlPr>
                            </m:naryPr>
                            <m:sub/>
                            <m:sup/>
                            <m:e>
                              <m:sSup>
                                <m:sSupPr>
                                  <m:ctrlPr>
                                    <a:rPr lang="en-CA" sz="1600" i="1">
                                      <a:latin typeface="Cambria Math" panose="02040503050406030204" pitchFamily="18" charset="0"/>
                                    </a:rPr>
                                  </m:ctrlPr>
                                </m:sSupPr>
                                <m:e>
                                  <m:r>
                                    <a:rPr lang="en-CA" sz="1600" i="1">
                                      <a:latin typeface="Cambria Math" panose="02040503050406030204" pitchFamily="18" charset="0"/>
                                    </a:rPr>
                                    <m:t>𝑑</m:t>
                                  </m:r>
                                </m:e>
                                <m:sup>
                                  <m:r>
                                    <a:rPr lang="en-CA" sz="1600" i="1">
                                      <a:latin typeface="Cambria Math" panose="02040503050406030204" pitchFamily="18" charset="0"/>
                                    </a:rPr>
                                    <m:t>𝑁</m:t>
                                  </m:r>
                                </m:sup>
                              </m:sSup>
                              <m:sSub>
                                <m:sSubPr>
                                  <m:ctrlPr>
                                    <a:rPr lang="en-CA" sz="1600" b="0" i="1" smtClean="0">
                                      <a:latin typeface="Cambria Math" panose="02040503050406030204" pitchFamily="18" charset="0"/>
                                    </a:rPr>
                                  </m:ctrlPr>
                                </m:sSubPr>
                                <m:e>
                                  <m:r>
                                    <a:rPr lang="en-CA" sz="1600" b="1" i="1">
                                      <a:latin typeface="Cambria Math" panose="02040503050406030204" pitchFamily="18" charset="0"/>
                                    </a:rPr>
                                    <m:t>𝒓</m:t>
                                  </m:r>
                                </m:e>
                                <m:sub>
                                  <m:r>
                                    <a:rPr lang="en-CA" sz="1600" b="0" i="1" smtClean="0">
                                      <a:latin typeface="Cambria Math" panose="02040503050406030204" pitchFamily="18" charset="0"/>
                                    </a:rPr>
                                    <m:t>𝑖</m:t>
                                  </m:r>
                                </m:sub>
                              </m:sSub>
                            </m:e>
                          </m:nary>
                          <m:nary>
                            <m:naryPr>
                              <m:ctrlPr>
                                <a:rPr lang="en-CA" sz="1600" b="1" i="1" smtClean="0">
                                  <a:latin typeface="Cambria Math" panose="02040503050406030204" pitchFamily="18" charset="0"/>
                                </a:rPr>
                              </m:ctrlPr>
                            </m:naryPr>
                            <m:sub>
                              <m:sSub>
                                <m:sSubPr>
                                  <m:ctrlPr>
                                    <a:rPr lang="en-CA" sz="1600" b="0" i="1" smtClean="0">
                                      <a:latin typeface="Cambria Math" panose="02040503050406030204" pitchFamily="18" charset="0"/>
                                    </a:rPr>
                                  </m:ctrlPr>
                                </m:sSubPr>
                                <m:e>
                                  <m:r>
                                    <m:rPr>
                                      <m:brk m:alnAt="23"/>
                                    </m:rPr>
                                    <a:rPr lang="en-CA" sz="1600" b="1" i="1" smtClean="0">
                                      <a:latin typeface="Cambria Math" panose="02040503050406030204" pitchFamily="18" charset="0"/>
                                    </a:rPr>
                                    <m:t>𝒓</m:t>
                                  </m:r>
                                </m:e>
                                <m:sub>
                                  <m:r>
                                    <m:rPr>
                                      <m:brk m:alnAt="23"/>
                                    </m:rPr>
                                    <a:rPr lang="en-CA" sz="1600" b="0" i="1" smtClean="0">
                                      <a:latin typeface="Cambria Math" panose="02040503050406030204" pitchFamily="18" charset="0"/>
                                    </a:rPr>
                                    <m:t>𝑖</m:t>
                                  </m:r>
                                </m:sub>
                              </m:sSub>
                            </m:sub>
                            <m:sup>
                              <m:sSub>
                                <m:sSubPr>
                                  <m:ctrlPr>
                                    <a:rPr lang="en-CA" sz="1600" b="0" i="1" smtClean="0">
                                      <a:latin typeface="Cambria Math" panose="02040503050406030204" pitchFamily="18" charset="0"/>
                                    </a:rPr>
                                  </m:ctrlPr>
                                </m:sSubPr>
                                <m:e>
                                  <m:r>
                                    <a:rPr lang="en-CA" sz="1600" b="1" i="1" smtClean="0">
                                      <a:latin typeface="Cambria Math" panose="02040503050406030204" pitchFamily="18" charset="0"/>
                                    </a:rPr>
                                    <m:t>𝒓</m:t>
                                  </m:r>
                                </m:e>
                                <m:sub>
                                  <m:r>
                                    <a:rPr lang="en-CA" sz="1600" b="0" i="1" smtClean="0">
                                      <a:latin typeface="Cambria Math" panose="02040503050406030204" pitchFamily="18" charset="0"/>
                                    </a:rPr>
                                    <m:t>𝑖</m:t>
                                  </m:r>
                                </m:sub>
                              </m:sSub>
                            </m:sup>
                            <m:e>
                              <m:r>
                                <a:rPr lang="en-CA" sz="1600" i="1">
                                  <a:latin typeface="Cambria Math" panose="02040503050406030204" pitchFamily="18" charset="0"/>
                                </a:rPr>
                                <m:t>𝒟</m:t>
                              </m:r>
                              <m:d>
                                <m:dPr>
                                  <m:begChr m:val="["/>
                                  <m:endChr m:val="]"/>
                                  <m:ctrlPr>
                                    <a:rPr lang="en-CA" sz="1600" i="1">
                                      <a:latin typeface="Cambria Math" panose="02040503050406030204" pitchFamily="18" charset="0"/>
                                    </a:rPr>
                                  </m:ctrlPr>
                                </m:dPr>
                                <m:e>
                                  <m:sSub>
                                    <m:sSubPr>
                                      <m:ctrlPr>
                                        <a:rPr lang="en-CA" sz="1600" i="1">
                                          <a:latin typeface="Cambria Math" panose="02040503050406030204" pitchFamily="18" charset="0"/>
                                        </a:rPr>
                                      </m:ctrlPr>
                                    </m:sSubPr>
                                    <m:e>
                                      <m:r>
                                        <a:rPr lang="en-CA" sz="1600" b="1" i="1">
                                          <a:latin typeface="Cambria Math" panose="02040503050406030204" pitchFamily="18" charset="0"/>
                                        </a:rPr>
                                        <m:t>𝒓</m:t>
                                      </m:r>
                                    </m:e>
                                    <m:sub>
                                      <m:r>
                                        <a:rPr lang="en-CA" sz="1600" i="1">
                                          <a:latin typeface="Cambria Math" panose="02040503050406030204" pitchFamily="18" charset="0"/>
                                        </a:rPr>
                                        <m:t>𝑖</m:t>
                                      </m:r>
                                    </m:sub>
                                  </m:sSub>
                                  <m:d>
                                    <m:dPr>
                                      <m:ctrlPr>
                                        <a:rPr lang="en-CA" sz="1600" i="1">
                                          <a:latin typeface="Cambria Math" panose="02040503050406030204" pitchFamily="18" charset="0"/>
                                        </a:rPr>
                                      </m:ctrlPr>
                                    </m:dPr>
                                    <m:e>
                                      <m:r>
                                        <a:rPr lang="en-CA" sz="1600" i="1">
                                          <a:latin typeface="Cambria Math" panose="02040503050406030204" pitchFamily="18" charset="0"/>
                                        </a:rPr>
                                        <m:t>𝑠</m:t>
                                      </m:r>
                                    </m:e>
                                  </m:d>
                                </m:e>
                              </m:d>
                              <m:sSup>
                                <m:sSupPr>
                                  <m:ctrlPr>
                                    <a:rPr lang="en-CA" sz="1600" i="1">
                                      <a:latin typeface="Cambria Math" panose="02040503050406030204" pitchFamily="18" charset="0"/>
                                      <a:ea typeface="Cambria Math" panose="02040503050406030204" pitchFamily="18" charset="0"/>
                                    </a:rPr>
                                  </m:ctrlPr>
                                </m:sSupPr>
                                <m:e>
                                  <m:r>
                                    <a:rPr lang="en-CA" sz="1600" i="1">
                                      <a:latin typeface="Cambria Math" panose="02040503050406030204" pitchFamily="18" charset="0"/>
                                      <a:ea typeface="Cambria Math" panose="02040503050406030204" pitchFamily="18" charset="0"/>
                                    </a:rPr>
                                    <m:t>𝑒</m:t>
                                  </m:r>
                                </m:e>
                                <m:sup>
                                  <m:r>
                                    <a:rPr lang="en-CA" sz="1600" i="1">
                                      <a:latin typeface="Cambria Math" panose="02040503050406030204" pitchFamily="18" charset="0"/>
                                      <a:ea typeface="Cambria Math" panose="02040503050406030204" pitchFamily="18" charset="0"/>
                                    </a:rPr>
                                    <m:t>−</m:t>
                                  </m:r>
                                  <m:nary>
                                    <m:naryPr>
                                      <m:ctrlPr>
                                        <a:rPr lang="en-CA" sz="1600" i="1">
                                          <a:latin typeface="Cambria Math" panose="02040503050406030204" pitchFamily="18" charset="0"/>
                                          <a:ea typeface="Cambria Math" panose="02040503050406030204" pitchFamily="18" charset="0"/>
                                        </a:rPr>
                                      </m:ctrlPr>
                                    </m:naryPr>
                                    <m:sub>
                                      <m:r>
                                        <m:rPr>
                                          <m:brk m:alnAt="23"/>
                                        </m:rPr>
                                        <a:rPr lang="en-CA" sz="1600" i="1">
                                          <a:latin typeface="Cambria Math" panose="02040503050406030204" pitchFamily="18" charset="0"/>
                                          <a:ea typeface="Cambria Math" panose="02040503050406030204" pitchFamily="18" charset="0"/>
                                        </a:rPr>
                                        <m:t>0</m:t>
                                      </m:r>
                                    </m:sub>
                                    <m:sup>
                                      <m:r>
                                        <a:rPr lang="en-CA" sz="1600" i="1">
                                          <a:latin typeface="Cambria Math" panose="02040503050406030204" pitchFamily="18" charset="0"/>
                                          <a:ea typeface="Cambria Math" panose="02040503050406030204" pitchFamily="18" charset="0"/>
                                        </a:rPr>
                                        <m:t>𝛽</m:t>
                                      </m:r>
                                    </m:sup>
                                    <m:e>
                                      <m:r>
                                        <a:rPr lang="en-CA" sz="1600" b="0" i="1" smtClean="0">
                                          <a:latin typeface="Cambria Math" panose="02040503050406030204" pitchFamily="18" charset="0"/>
                                          <a:ea typeface="Cambria Math" panose="02040503050406030204" pitchFamily="18" charset="0"/>
                                        </a:rPr>
                                        <m:t>𝐿</m:t>
                                      </m:r>
                                      <m:d>
                                        <m:dPr>
                                          <m:begChr m:val="["/>
                                          <m:endChr m:val="]"/>
                                          <m:ctrlPr>
                                            <a:rPr lang="en-CA" sz="1600" i="1">
                                              <a:latin typeface="Cambria Math" panose="02040503050406030204" pitchFamily="18" charset="0"/>
                                              <a:ea typeface="Cambria Math" panose="02040503050406030204" pitchFamily="18" charset="0"/>
                                            </a:rPr>
                                          </m:ctrlPr>
                                        </m:dPr>
                                        <m:e>
                                          <m:r>
                                            <a:rPr lang="en-CA" sz="1600" b="1" i="1">
                                              <a:latin typeface="Cambria Math" panose="02040503050406030204" pitchFamily="18" charset="0"/>
                                              <a:ea typeface="Cambria Math" panose="02040503050406030204" pitchFamily="18" charset="0"/>
                                            </a:rPr>
                                            <m:t>𝒓</m:t>
                                          </m:r>
                                          <m:d>
                                            <m:dPr>
                                              <m:ctrlPr>
                                                <a:rPr lang="en-CA" sz="1600" i="1">
                                                  <a:latin typeface="Cambria Math" panose="02040503050406030204" pitchFamily="18" charset="0"/>
                                                  <a:ea typeface="Cambria Math" panose="02040503050406030204" pitchFamily="18" charset="0"/>
                                                </a:rPr>
                                              </m:ctrlPr>
                                            </m:dPr>
                                            <m:e>
                                              <m:r>
                                                <a:rPr lang="en-CA" sz="1600" i="1">
                                                  <a:latin typeface="Cambria Math" panose="02040503050406030204" pitchFamily="18" charset="0"/>
                                                  <a:ea typeface="Cambria Math" panose="02040503050406030204" pitchFamily="18" charset="0"/>
                                                </a:rPr>
                                                <m:t>𝑠</m:t>
                                              </m:r>
                                            </m:e>
                                          </m:d>
                                        </m:e>
                                      </m:d>
                                      <m:r>
                                        <a:rPr lang="en-CA" sz="1600" i="1">
                                          <a:latin typeface="Cambria Math" panose="02040503050406030204" pitchFamily="18" charset="0"/>
                                          <a:ea typeface="Cambria Math" panose="02040503050406030204" pitchFamily="18" charset="0"/>
                                        </a:rPr>
                                        <m:t>𝑑𝑠</m:t>
                                      </m:r>
                                    </m:e>
                                  </m:nary>
                                </m:sup>
                              </m:sSup>
                            </m:e>
                          </m:nary>
                        </m:e>
                      </m:nary>
                    </m:oMath>
                  </m:oMathPara>
                </a14:m>
                <a:endParaRPr lang="en-CA" sz="1600" dirty="0"/>
              </a:p>
            </p:txBody>
          </p:sp>
        </mc:Choice>
        <mc:Fallback xmlns="">
          <p:sp>
            <p:nvSpPr>
              <p:cNvPr id="26" name="TextBox 25">
                <a:extLst>
                  <a:ext uri="{FF2B5EF4-FFF2-40B4-BE49-F238E27FC236}">
                    <a16:creationId xmlns:a16="http://schemas.microsoft.com/office/drawing/2014/main" id="{91D3BDFE-3B8D-4121-A5E4-5C26EEAD8985}"/>
                  </a:ext>
                </a:extLst>
              </p:cNvPr>
              <p:cNvSpPr txBox="1">
                <a:spLocks noRot="1" noChangeAspect="1" noMove="1" noResize="1" noEditPoints="1" noAdjustHandles="1" noChangeArrowheads="1" noChangeShapeType="1" noTextEdit="1"/>
              </p:cNvSpPr>
              <p:nvPr/>
            </p:nvSpPr>
            <p:spPr>
              <a:xfrm>
                <a:off x="840318" y="2658838"/>
                <a:ext cx="7243365" cy="808235"/>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B8A5CF0E-9198-465B-B3A0-EEEEA3AA69C1}"/>
                  </a:ext>
                </a:extLst>
              </p:cNvPr>
              <p:cNvSpPr txBox="1"/>
              <p:nvPr/>
            </p:nvSpPr>
            <p:spPr>
              <a:xfrm>
                <a:off x="575822" y="2080078"/>
                <a:ext cx="8305021" cy="646331"/>
              </a:xfrm>
              <a:prstGeom prst="rect">
                <a:avLst/>
              </a:prstGeom>
              <a:noFill/>
            </p:spPr>
            <p:txBody>
              <a:bodyPr wrap="square" rtlCol="0">
                <a:spAutoFit/>
              </a:bodyPr>
              <a:lstStyle/>
              <a:p>
                <a:r>
                  <a:rPr lang="en-CA" dirty="0">
                    <a:latin typeface="+mj-lt"/>
                  </a:rPr>
                  <a:t>Comes from identical form of quantum time-evolution operator with Boltzmann operator in partition function in path-integral representation when </a:t>
                </a:r>
                <a14:m>
                  <m:oMath xmlns:m="http://schemas.openxmlformats.org/officeDocument/2006/math">
                    <m:r>
                      <m:rPr>
                        <m:sty m:val="p"/>
                      </m:rPr>
                      <a:rPr lang="en-CA" b="0" i="0" smtClean="0">
                        <a:latin typeface="Cambria Math" panose="02040503050406030204" pitchFamily="18" charset="0"/>
                      </a:rPr>
                      <m:t>t</m:t>
                    </m:r>
                    <m:r>
                      <a:rPr lang="en-CA" b="0" i="0" smtClean="0">
                        <a:latin typeface="Cambria Math" panose="02040503050406030204" pitchFamily="18" charset="0"/>
                      </a:rPr>
                      <m:t>=</m:t>
                    </m:r>
                    <m:r>
                      <a:rPr lang="en-CA" i="1">
                        <a:latin typeface="Cambria Math" panose="02040503050406030204" pitchFamily="18" charset="0"/>
                      </a:rPr>
                      <m:t>−</m:t>
                    </m:r>
                    <m:r>
                      <a:rPr lang="en-CA" b="0" i="1" smtClean="0">
                        <a:latin typeface="Cambria Math" panose="02040503050406030204" pitchFamily="18" charset="0"/>
                      </a:rPr>
                      <m:t>𝑖</m:t>
                    </m:r>
                    <m:r>
                      <a:rPr lang="en-CA" b="0" i="1" smtClean="0">
                        <a:latin typeface="Cambria Math" panose="02040503050406030204" pitchFamily="18" charset="0"/>
                      </a:rPr>
                      <m:t>ℏ</m:t>
                    </m:r>
                    <m:r>
                      <a:rPr lang="en-CA" b="0" i="1" smtClean="0">
                        <a:latin typeface="Cambria Math" panose="02040503050406030204" pitchFamily="18" charset="0"/>
                      </a:rPr>
                      <m:t>𝛽</m:t>
                    </m:r>
                  </m:oMath>
                </a14:m>
                <a:endParaRPr lang="en-CA" dirty="0"/>
              </a:p>
            </p:txBody>
          </p:sp>
        </mc:Choice>
        <mc:Fallback>
          <p:sp>
            <p:nvSpPr>
              <p:cNvPr id="28" name="TextBox 27">
                <a:extLst>
                  <a:ext uri="{FF2B5EF4-FFF2-40B4-BE49-F238E27FC236}">
                    <a16:creationId xmlns:a16="http://schemas.microsoft.com/office/drawing/2014/main" id="{B8A5CF0E-9198-465B-B3A0-EEEEA3AA69C1}"/>
                  </a:ext>
                </a:extLst>
              </p:cNvPr>
              <p:cNvSpPr txBox="1">
                <a:spLocks noRot="1" noChangeAspect="1" noMove="1" noResize="1" noEditPoints="1" noAdjustHandles="1" noChangeArrowheads="1" noChangeShapeType="1" noTextEdit="1"/>
              </p:cNvSpPr>
              <p:nvPr/>
            </p:nvSpPr>
            <p:spPr>
              <a:xfrm>
                <a:off x="575822" y="2080078"/>
                <a:ext cx="8305021" cy="646331"/>
              </a:xfrm>
              <a:prstGeom prst="rect">
                <a:avLst/>
              </a:prstGeom>
              <a:blipFill>
                <a:blip r:embed="rId5"/>
                <a:stretch>
                  <a:fillRect l="-587" t="-3774" b="-1415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882520C-88AE-46D5-9FF9-F77866209633}"/>
                  </a:ext>
                </a:extLst>
              </p:cNvPr>
              <p:cNvSpPr txBox="1"/>
              <p:nvPr/>
            </p:nvSpPr>
            <p:spPr>
              <a:xfrm>
                <a:off x="2475503" y="1710746"/>
                <a:ext cx="4869193" cy="369332"/>
              </a:xfrm>
              <a:prstGeom prst="rect">
                <a:avLst/>
              </a:prstGeom>
              <a:noFill/>
            </p:spPr>
            <p:txBody>
              <a:bodyPr wrap="square" rtlCol="0">
                <a:spAutoFit/>
              </a:bodyPr>
              <a:lstStyle/>
              <a:p>
                <a:r>
                  <a:rPr lang="en-CA" dirty="0">
                    <a:latin typeface="+mj-lt"/>
                  </a:rPr>
                  <a:t>Quantum particles in </a:t>
                </a:r>
                <a14:m>
                  <m:oMath xmlns:m="http://schemas.openxmlformats.org/officeDocument/2006/math">
                    <m:sSup>
                      <m:sSupPr>
                        <m:ctrlPr>
                          <a:rPr lang="en-CA" b="0" i="1" smtClean="0">
                            <a:latin typeface="Cambria Math" panose="02040503050406030204" pitchFamily="18" charset="0"/>
                          </a:rPr>
                        </m:ctrlPr>
                      </m:sSupPr>
                      <m:e>
                        <m:r>
                          <a:rPr lang="en-CA" b="0" i="1" smtClean="0">
                            <a:latin typeface="Cambria Math" panose="02040503050406030204" pitchFamily="18" charset="0"/>
                          </a:rPr>
                          <m:t>ℝ</m:t>
                        </m:r>
                      </m:e>
                      <m:sup>
                        <m:r>
                          <a:rPr lang="en-CA" b="0" i="1" smtClean="0">
                            <a:latin typeface="Cambria Math" panose="02040503050406030204" pitchFamily="18" charset="0"/>
                          </a:rPr>
                          <m:t>3</m:t>
                        </m:r>
                      </m:sup>
                    </m:sSup>
                  </m:oMath>
                </a14:m>
                <a:r>
                  <a:rPr lang="en-CA" dirty="0">
                    <a:latin typeface="+mj-lt"/>
                  </a:rPr>
                  <a:t>    </a:t>
                </a:r>
                <a14:m>
                  <m:oMath xmlns:m="http://schemas.openxmlformats.org/officeDocument/2006/math">
                    <m:r>
                      <a:rPr lang="en-CA" i="1" smtClean="0">
                        <a:latin typeface="Cambria Math" panose="02040503050406030204" pitchFamily="18" charset="0"/>
                        <a:ea typeface="Cambria Math" panose="02040503050406030204" pitchFamily="18" charset="0"/>
                      </a:rPr>
                      <m:t>↔</m:t>
                    </m:r>
                  </m:oMath>
                </a14:m>
                <a:r>
                  <a:rPr lang="en-CA" dirty="0">
                    <a:latin typeface="+mj-lt"/>
                  </a:rPr>
                  <a:t>    ring polymers in </a:t>
                </a:r>
                <a14:m>
                  <m:oMath xmlns:m="http://schemas.openxmlformats.org/officeDocument/2006/math">
                    <m:sSup>
                      <m:sSupPr>
                        <m:ctrlPr>
                          <a:rPr lang="en-CA" i="1">
                            <a:latin typeface="Cambria Math" panose="02040503050406030204" pitchFamily="18" charset="0"/>
                          </a:rPr>
                        </m:ctrlPr>
                      </m:sSupPr>
                      <m:e>
                        <m:r>
                          <a:rPr lang="en-CA" i="1">
                            <a:latin typeface="Cambria Math" panose="02040503050406030204" pitchFamily="18" charset="0"/>
                          </a:rPr>
                          <m:t>ℝ</m:t>
                        </m:r>
                      </m:e>
                      <m:sup>
                        <m:r>
                          <a:rPr lang="en-CA" i="1">
                            <a:latin typeface="Cambria Math" panose="02040503050406030204" pitchFamily="18" charset="0"/>
                          </a:rPr>
                          <m:t>3</m:t>
                        </m:r>
                      </m:sup>
                    </m:sSup>
                    <m:r>
                      <a:rPr lang="en-CA" i="1" smtClean="0">
                        <a:latin typeface="Cambria Math" panose="02040503050406030204" pitchFamily="18" charset="0"/>
                        <a:ea typeface="Cambria Math" panose="02040503050406030204" pitchFamily="18" charset="0"/>
                      </a:rPr>
                      <m:t>×</m:t>
                    </m:r>
                    <m:r>
                      <a:rPr lang="en-CA" i="1" smtClean="0">
                        <a:latin typeface="Cambria Math" panose="02040503050406030204" pitchFamily="18" charset="0"/>
                        <a:ea typeface="Cambria Math" panose="02040503050406030204" pitchFamily="18" charset="0"/>
                      </a:rPr>
                      <m:t>ℂ</m:t>
                    </m:r>
                  </m:oMath>
                </a14:m>
                <a:r>
                  <a:rPr lang="en-CA" dirty="0">
                    <a:latin typeface="+mj-lt"/>
                  </a:rPr>
                  <a:t> </a:t>
                </a:r>
              </a:p>
            </p:txBody>
          </p:sp>
        </mc:Choice>
        <mc:Fallback xmlns="">
          <p:sp>
            <p:nvSpPr>
              <p:cNvPr id="31" name="TextBox 30">
                <a:extLst>
                  <a:ext uri="{FF2B5EF4-FFF2-40B4-BE49-F238E27FC236}">
                    <a16:creationId xmlns:a16="http://schemas.microsoft.com/office/drawing/2014/main" id="{B882520C-88AE-46D5-9FF9-F77866209633}"/>
                  </a:ext>
                </a:extLst>
              </p:cNvPr>
              <p:cNvSpPr txBox="1">
                <a:spLocks noRot="1" noChangeAspect="1" noMove="1" noResize="1" noEditPoints="1" noAdjustHandles="1" noChangeArrowheads="1" noChangeShapeType="1" noTextEdit="1"/>
              </p:cNvSpPr>
              <p:nvPr/>
            </p:nvSpPr>
            <p:spPr>
              <a:xfrm>
                <a:off x="2475503" y="1710746"/>
                <a:ext cx="4869193" cy="369332"/>
              </a:xfrm>
              <a:prstGeom prst="rect">
                <a:avLst/>
              </a:prstGeom>
              <a:blipFill>
                <a:blip r:embed="rId6"/>
                <a:stretch>
                  <a:fillRect l="-1001" t="-10000" b="-26667"/>
                </a:stretch>
              </a:blipFill>
            </p:spPr>
            <p:txBody>
              <a:bodyPr/>
              <a:lstStyle/>
              <a:p>
                <a:r>
                  <a:rPr lang="en-CA">
                    <a:noFill/>
                  </a:rPr>
                  <a:t> </a:t>
                </a:r>
              </a:p>
            </p:txBody>
          </p:sp>
        </mc:Fallback>
      </mc:AlternateContent>
      <p:pic>
        <p:nvPicPr>
          <p:cNvPr id="32" name="Picture 31">
            <a:extLst>
              <a:ext uri="{FF2B5EF4-FFF2-40B4-BE49-F238E27FC236}">
                <a16:creationId xmlns:a16="http://schemas.microsoft.com/office/drawing/2014/main" id="{F58E442E-1D3A-409F-902C-E8F5E840B8ED}"/>
              </a:ext>
            </a:extLst>
          </p:cNvPr>
          <p:cNvPicPr>
            <a:picLocks noChangeAspect="1"/>
          </p:cNvPicPr>
          <p:nvPr/>
        </p:nvPicPr>
        <p:blipFill>
          <a:blip r:embed="rId7"/>
          <a:stretch>
            <a:fillRect/>
          </a:stretch>
        </p:blipFill>
        <p:spPr>
          <a:xfrm>
            <a:off x="8990423" y="1368063"/>
            <a:ext cx="2955826" cy="4752763"/>
          </a:xfrm>
          <a:prstGeom prst="rect">
            <a:avLst/>
          </a:prstGeom>
        </p:spPr>
      </p:pic>
      <p:sp>
        <p:nvSpPr>
          <p:cNvPr id="2" name="TextBox 1">
            <a:extLst>
              <a:ext uri="{FF2B5EF4-FFF2-40B4-BE49-F238E27FC236}">
                <a16:creationId xmlns:a16="http://schemas.microsoft.com/office/drawing/2014/main" id="{C15E5657-514E-42DE-A353-3C745BA65370}"/>
              </a:ext>
            </a:extLst>
          </p:cNvPr>
          <p:cNvSpPr txBox="1"/>
          <p:nvPr/>
        </p:nvSpPr>
        <p:spPr>
          <a:xfrm>
            <a:off x="8083683" y="6134811"/>
            <a:ext cx="4036981" cy="923330"/>
          </a:xfrm>
          <a:prstGeom prst="rect">
            <a:avLst/>
          </a:prstGeom>
          <a:noFill/>
        </p:spPr>
        <p:txBody>
          <a:bodyPr wrap="square" rtlCol="0">
            <a:spAutoFit/>
          </a:bodyPr>
          <a:lstStyle/>
          <a:p>
            <a:r>
              <a:rPr lang="en-CA" dirty="0">
                <a:latin typeface="+mj-lt"/>
              </a:rPr>
              <a:t>Polymer contour starting and ending at the same position </a:t>
            </a:r>
            <a:r>
              <a:rPr lang="de-DE" sz="1600" i="1" dirty="0">
                <a:solidFill>
                  <a:srgbClr val="000000"/>
                </a:solidFill>
                <a:latin typeface="-apple-system"/>
              </a:rPr>
              <a:t>Phys</a:t>
            </a:r>
            <a:r>
              <a:rPr lang="de-DE" sz="1600" b="0" i="1" dirty="0">
                <a:solidFill>
                  <a:srgbClr val="000000"/>
                </a:solidFill>
                <a:effectLst/>
                <a:latin typeface="-apple-system"/>
              </a:rPr>
              <a:t>. Rev. </a:t>
            </a:r>
            <a:r>
              <a:rPr lang="de-DE" sz="1600" i="1" dirty="0">
                <a:solidFill>
                  <a:srgbClr val="000000"/>
                </a:solidFill>
                <a:latin typeface="-apple-system"/>
              </a:rPr>
              <a:t>A</a:t>
            </a:r>
            <a:r>
              <a:rPr lang="de-DE" sz="1600" b="0" i="1" dirty="0">
                <a:solidFill>
                  <a:srgbClr val="000000"/>
                </a:solidFill>
                <a:effectLst/>
                <a:latin typeface="-apple-system"/>
              </a:rPr>
              <a:t> </a:t>
            </a:r>
            <a:r>
              <a:rPr lang="de-DE" sz="1600" b="1" dirty="0">
                <a:solidFill>
                  <a:srgbClr val="000000"/>
                </a:solidFill>
                <a:latin typeface="-apple-system"/>
              </a:rPr>
              <a:t>102</a:t>
            </a:r>
            <a:r>
              <a:rPr lang="de-DE" sz="1600" b="0" i="0" dirty="0">
                <a:solidFill>
                  <a:srgbClr val="000000"/>
                </a:solidFill>
                <a:effectLst/>
                <a:latin typeface="-apple-system"/>
              </a:rPr>
              <a:t>, 012813 (</a:t>
            </a:r>
            <a:r>
              <a:rPr lang="de-DE" sz="1600" dirty="0">
                <a:solidFill>
                  <a:srgbClr val="000000"/>
                </a:solidFill>
                <a:latin typeface="-apple-system"/>
              </a:rPr>
              <a:t>2020</a:t>
            </a:r>
            <a:r>
              <a:rPr lang="de-DE" sz="1600" b="0" i="0" dirty="0">
                <a:solidFill>
                  <a:srgbClr val="000000"/>
                </a:solidFill>
                <a:effectLst/>
                <a:latin typeface="-apple-system"/>
              </a:rPr>
              <a:t>).</a:t>
            </a:r>
            <a:endParaRPr lang="en-CA" sz="1600" dirty="0">
              <a:latin typeface="-apple-system"/>
            </a:endParaRPr>
          </a:p>
          <a:p>
            <a:endParaRPr lang="en-CA" dirty="0">
              <a:latin typeface="+mj-lt"/>
            </a:endParaRPr>
          </a:p>
        </p:txBody>
      </p:sp>
      <p:sp>
        <p:nvSpPr>
          <p:cNvPr id="15" name="TextBox 14">
            <a:extLst>
              <a:ext uri="{FF2B5EF4-FFF2-40B4-BE49-F238E27FC236}">
                <a16:creationId xmlns:a16="http://schemas.microsoft.com/office/drawing/2014/main" id="{CE78D021-045C-42A3-9B06-480D8F2EEA42}"/>
              </a:ext>
            </a:extLst>
          </p:cNvPr>
          <p:cNvSpPr txBox="1"/>
          <p:nvPr/>
        </p:nvSpPr>
        <p:spPr>
          <a:xfrm>
            <a:off x="283837" y="3388676"/>
            <a:ext cx="8676622"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In the spirit of polymer field theory we can translate wavefunction description into density-functional description through Hohenberg-Kohn-</a:t>
            </a:r>
            <a:r>
              <a:rPr lang="en-CA" dirty="0" err="1">
                <a:latin typeface="+mj-lt"/>
              </a:rPr>
              <a:t>Mermin</a:t>
            </a:r>
            <a:r>
              <a:rPr lang="en-CA" dirty="0">
                <a:latin typeface="+mj-lt"/>
              </a:rPr>
              <a:t> theorems: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7AA7268-D017-4EFF-AC3C-16D73DB364B3}"/>
                  </a:ext>
                </a:extLst>
              </p:cNvPr>
              <p:cNvSpPr txBox="1"/>
              <p:nvPr/>
            </p:nvSpPr>
            <p:spPr>
              <a:xfrm>
                <a:off x="627150" y="4053475"/>
                <a:ext cx="2343352" cy="646331"/>
              </a:xfrm>
              <a:prstGeom prst="rect">
                <a:avLst/>
              </a:prstGeom>
              <a:noFill/>
            </p:spPr>
            <p:txBody>
              <a:bodyPr wrap="square" rtlCol="0">
                <a:spAutoFit/>
              </a:bodyPr>
              <a:lstStyle/>
              <a:p>
                <a:r>
                  <a:rPr lang="en-CA" dirty="0">
                    <a:latin typeface="+mj-lt"/>
                  </a:rPr>
                  <a:t>There exists a functional </a:t>
                </a:r>
                <a14:m>
                  <m:oMath xmlns:m="http://schemas.openxmlformats.org/officeDocument/2006/math">
                    <m:r>
                      <a:rPr lang="en-CA" b="0" i="1" smtClean="0">
                        <a:latin typeface="Cambria Math" panose="02040503050406030204" pitchFamily="18" charset="0"/>
                      </a:rPr>
                      <m:t>𝐸</m:t>
                    </m:r>
                  </m:oMath>
                </a14:m>
                <a:r>
                  <a:rPr lang="en-CA" dirty="0">
                    <a:latin typeface="+mj-lt"/>
                  </a:rPr>
                  <a:t> such that the free energy is </a:t>
                </a:r>
              </a:p>
            </p:txBody>
          </p:sp>
        </mc:Choice>
        <mc:Fallback xmlns="">
          <p:sp>
            <p:nvSpPr>
              <p:cNvPr id="16" name="TextBox 15">
                <a:extLst>
                  <a:ext uri="{FF2B5EF4-FFF2-40B4-BE49-F238E27FC236}">
                    <a16:creationId xmlns:a16="http://schemas.microsoft.com/office/drawing/2014/main" id="{37AA7268-D017-4EFF-AC3C-16D73DB364B3}"/>
                  </a:ext>
                </a:extLst>
              </p:cNvPr>
              <p:cNvSpPr txBox="1">
                <a:spLocks noRot="1" noChangeAspect="1" noMove="1" noResize="1" noEditPoints="1" noAdjustHandles="1" noChangeArrowheads="1" noChangeShapeType="1" noTextEdit="1"/>
              </p:cNvSpPr>
              <p:nvPr/>
            </p:nvSpPr>
            <p:spPr>
              <a:xfrm>
                <a:off x="627150" y="4053475"/>
                <a:ext cx="2343352" cy="646331"/>
              </a:xfrm>
              <a:prstGeom prst="rect">
                <a:avLst/>
              </a:prstGeom>
              <a:blipFill>
                <a:blip r:embed="rId8"/>
                <a:stretch>
                  <a:fillRect l="-2344" t="-5660" r="-3385" b="-1509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BA9C4C9-3E48-4E74-94BA-0D37C7458082}"/>
                  </a:ext>
                </a:extLst>
              </p:cNvPr>
              <p:cNvSpPr txBox="1"/>
              <p:nvPr/>
            </p:nvSpPr>
            <p:spPr>
              <a:xfrm>
                <a:off x="2913018" y="4173474"/>
                <a:ext cx="2077113" cy="4529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F</m:t>
                      </m:r>
                      <m:r>
                        <a:rPr lang="en-CA" b="0" i="0" smtClean="0">
                          <a:latin typeface="Cambria Math" panose="02040503050406030204" pitchFamily="18" charset="0"/>
                        </a:rPr>
                        <m:t>=</m:t>
                      </m:r>
                      <m:func>
                        <m:funcPr>
                          <m:ctrlPr>
                            <a:rPr lang="en-CA" b="0" i="1" smtClean="0">
                              <a:latin typeface="Cambria Math" panose="02040503050406030204" pitchFamily="18" charset="0"/>
                            </a:rPr>
                          </m:ctrlPr>
                        </m:funcPr>
                        <m:fName>
                          <m:limLow>
                            <m:limLowPr>
                              <m:ctrlPr>
                                <a:rPr lang="en-CA" b="0" i="1" smtClean="0">
                                  <a:latin typeface="Cambria Math" panose="02040503050406030204" pitchFamily="18" charset="0"/>
                                </a:rPr>
                              </m:ctrlPr>
                            </m:limLowPr>
                            <m:e>
                              <m:r>
                                <m:rPr>
                                  <m:sty m:val="p"/>
                                </m:rPr>
                                <a:rPr lang="en-CA" b="0" i="0" smtClean="0">
                                  <a:latin typeface="Cambria Math" panose="02040503050406030204" pitchFamily="18" charset="0"/>
                                </a:rPr>
                                <m:t>min</m:t>
                              </m:r>
                            </m:e>
                            <m:lim>
                              <m:r>
                                <a:rPr lang="en-CA" b="0" i="1" smtClean="0">
                                  <a:latin typeface="Cambria Math" panose="02040503050406030204" pitchFamily="18" charset="0"/>
                                </a:rPr>
                                <m:t>𝑛</m:t>
                              </m:r>
                            </m:lim>
                          </m:limLow>
                        </m:fName>
                        <m:e>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𝐹</m:t>
                              </m:r>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𝑛</m:t>
                                  </m:r>
                                  <m:r>
                                    <a:rPr lang="en-CA" b="0" i="1" smtClean="0">
                                      <a:latin typeface="Cambria Math" panose="02040503050406030204" pitchFamily="18" charset="0"/>
                                    </a:rPr>
                                    <m:t>, </m:t>
                                  </m:r>
                                  <m:r>
                                    <a:rPr lang="en-CA" b="0" i="1" smtClean="0">
                                      <a:latin typeface="Cambria Math" panose="02040503050406030204" pitchFamily="18" charset="0"/>
                                    </a:rPr>
                                    <m:t>𝑤</m:t>
                                  </m:r>
                                </m:e>
                              </m:d>
                            </m:e>
                          </m:d>
                        </m:e>
                      </m:func>
                    </m:oMath>
                  </m:oMathPara>
                </a14:m>
                <a:endParaRPr lang="en-CA" dirty="0"/>
              </a:p>
            </p:txBody>
          </p:sp>
        </mc:Choice>
        <mc:Fallback xmlns="">
          <p:sp>
            <p:nvSpPr>
              <p:cNvPr id="17" name="TextBox 16">
                <a:extLst>
                  <a:ext uri="{FF2B5EF4-FFF2-40B4-BE49-F238E27FC236}">
                    <a16:creationId xmlns:a16="http://schemas.microsoft.com/office/drawing/2014/main" id="{EBA9C4C9-3E48-4E74-94BA-0D37C7458082}"/>
                  </a:ext>
                </a:extLst>
              </p:cNvPr>
              <p:cNvSpPr txBox="1">
                <a:spLocks noRot="1" noChangeAspect="1" noMove="1" noResize="1" noEditPoints="1" noAdjustHandles="1" noChangeArrowheads="1" noChangeShapeType="1" noTextEdit="1"/>
              </p:cNvSpPr>
              <p:nvPr/>
            </p:nvSpPr>
            <p:spPr>
              <a:xfrm>
                <a:off x="2913018" y="4173474"/>
                <a:ext cx="2077113" cy="452945"/>
              </a:xfrm>
              <a:prstGeom prst="rect">
                <a:avLst/>
              </a:prstGeom>
              <a:blipFill>
                <a:blip r:embed="rId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100DC34-99BA-461E-8A12-389A4D0550D7}"/>
                  </a:ext>
                </a:extLst>
              </p:cNvPr>
              <p:cNvSpPr txBox="1"/>
              <p:nvPr/>
            </p:nvSpPr>
            <p:spPr>
              <a:xfrm>
                <a:off x="283837" y="4776592"/>
                <a:ext cx="8255013"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By treating free energy as functional of density </a:t>
                </a:r>
                <a14:m>
                  <m:oMath xmlns:m="http://schemas.openxmlformats.org/officeDocument/2006/math">
                    <m:r>
                      <a:rPr lang="en-CA" b="0" i="1" smtClean="0">
                        <a:latin typeface="Cambria Math" panose="02040503050406030204" pitchFamily="18" charset="0"/>
                      </a:rPr>
                      <m:t>𝑛</m:t>
                    </m:r>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oMath>
                </a14:m>
                <a:r>
                  <a:rPr lang="en-CA" dirty="0">
                    <a:latin typeface="+mj-lt"/>
                  </a:rPr>
                  <a:t> and field </a:t>
                </a:r>
                <a14:m>
                  <m:oMath xmlns:m="http://schemas.openxmlformats.org/officeDocument/2006/math">
                    <m:r>
                      <a:rPr lang="en-CA" b="0" i="1" smtClean="0">
                        <a:latin typeface="Cambria Math" panose="02040503050406030204" pitchFamily="18" charset="0"/>
                      </a:rPr>
                      <m:t>𝑤</m:t>
                    </m:r>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oMath>
                </a14:m>
                <a:r>
                  <a:rPr lang="en-CA" dirty="0">
                    <a:latin typeface="+mj-lt"/>
                  </a:rPr>
                  <a:t>, they can be calculated self-consistently through the variational principle    </a:t>
                </a:r>
              </a:p>
            </p:txBody>
          </p:sp>
        </mc:Choice>
        <mc:Fallback xmlns="">
          <p:sp>
            <p:nvSpPr>
              <p:cNvPr id="18" name="TextBox 17">
                <a:extLst>
                  <a:ext uri="{FF2B5EF4-FFF2-40B4-BE49-F238E27FC236}">
                    <a16:creationId xmlns:a16="http://schemas.microsoft.com/office/drawing/2014/main" id="{F100DC34-99BA-461E-8A12-389A4D0550D7}"/>
                  </a:ext>
                </a:extLst>
              </p:cNvPr>
              <p:cNvSpPr txBox="1">
                <a:spLocks noRot="1" noChangeAspect="1" noMove="1" noResize="1" noEditPoints="1" noAdjustHandles="1" noChangeArrowheads="1" noChangeShapeType="1" noTextEdit="1"/>
              </p:cNvSpPr>
              <p:nvPr/>
            </p:nvSpPr>
            <p:spPr>
              <a:xfrm>
                <a:off x="283837" y="4776592"/>
                <a:ext cx="8255013" cy="646331"/>
              </a:xfrm>
              <a:prstGeom prst="rect">
                <a:avLst/>
              </a:prstGeom>
              <a:blipFill>
                <a:blip r:embed="rId10"/>
                <a:stretch>
                  <a:fillRect l="-517" t="-5660" b="-1509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1DA553B-4A26-4A42-8634-3B1208778A94}"/>
                  </a:ext>
                </a:extLst>
              </p:cNvPr>
              <p:cNvSpPr txBox="1"/>
              <p:nvPr/>
            </p:nvSpPr>
            <p:spPr>
              <a:xfrm>
                <a:off x="1889465" y="5521892"/>
                <a:ext cx="147792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𝛿</m:t>
                      </m:r>
                      <m:r>
                        <a:rPr lang="en-CA" b="0" i="1" smtClean="0">
                          <a:latin typeface="Cambria Math" panose="02040503050406030204" pitchFamily="18" charset="0"/>
                        </a:rPr>
                        <m:t>𝐹</m:t>
                      </m:r>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𝑛</m:t>
                          </m:r>
                          <m:r>
                            <a:rPr lang="en-CA" b="0" i="1" smtClean="0">
                              <a:latin typeface="Cambria Math" panose="02040503050406030204" pitchFamily="18" charset="0"/>
                            </a:rPr>
                            <m:t>, </m:t>
                          </m:r>
                          <m:r>
                            <a:rPr lang="en-CA" b="0" i="1" smtClean="0">
                              <a:latin typeface="Cambria Math" panose="02040503050406030204" pitchFamily="18" charset="0"/>
                            </a:rPr>
                            <m:t>𝑤</m:t>
                          </m:r>
                        </m:e>
                      </m:d>
                      <m:r>
                        <a:rPr lang="en-CA" b="0" i="1" smtClean="0">
                          <a:latin typeface="Cambria Math" panose="02040503050406030204" pitchFamily="18" charset="0"/>
                        </a:rPr>
                        <m:t>=0</m:t>
                      </m:r>
                    </m:oMath>
                  </m:oMathPara>
                </a14:m>
                <a:endParaRPr lang="en-CA" dirty="0"/>
              </a:p>
            </p:txBody>
          </p:sp>
        </mc:Choice>
        <mc:Fallback xmlns="">
          <p:sp>
            <p:nvSpPr>
              <p:cNvPr id="19" name="TextBox 18">
                <a:extLst>
                  <a:ext uri="{FF2B5EF4-FFF2-40B4-BE49-F238E27FC236}">
                    <a16:creationId xmlns:a16="http://schemas.microsoft.com/office/drawing/2014/main" id="{11DA553B-4A26-4A42-8634-3B1208778A94}"/>
                  </a:ext>
                </a:extLst>
              </p:cNvPr>
              <p:cNvSpPr txBox="1">
                <a:spLocks noRot="1" noChangeAspect="1" noMove="1" noResize="1" noEditPoints="1" noAdjustHandles="1" noChangeArrowheads="1" noChangeShapeType="1" noTextEdit="1"/>
              </p:cNvSpPr>
              <p:nvPr/>
            </p:nvSpPr>
            <p:spPr>
              <a:xfrm>
                <a:off x="1889465" y="5521892"/>
                <a:ext cx="1477926" cy="369332"/>
              </a:xfrm>
              <a:prstGeom prst="rect">
                <a:avLst/>
              </a:prstGeom>
              <a:blipFill>
                <a:blip r:embed="rId11"/>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E84568D-3836-4AA2-9E5D-DD4EBE0773E9}"/>
                  </a:ext>
                </a:extLst>
              </p:cNvPr>
              <p:cNvSpPr txBox="1"/>
              <p:nvPr/>
            </p:nvSpPr>
            <p:spPr>
              <a:xfrm>
                <a:off x="3727484" y="5368004"/>
                <a:ext cx="2015146" cy="6771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a:solidFill>
                            <a:srgbClr val="000000"/>
                          </a:solidFill>
                          <a:latin typeface="Cambria Math" panose="02040503050406030204" pitchFamily="18" charset="0"/>
                        </a:rPr>
                        <m:t>𝑛</m:t>
                      </m:r>
                      <m:d>
                        <m:dPr>
                          <m:ctrlPr>
                            <a:rPr lang="en-CA" i="1">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e>
                      </m:d>
                      <m:r>
                        <a:rPr lang="en-CA" i="1">
                          <a:solidFill>
                            <a:srgbClr val="000000"/>
                          </a:solidFill>
                          <a:latin typeface="Cambria Math" panose="02040503050406030204" pitchFamily="18" charset="0"/>
                        </a:rPr>
                        <m:t>=</m:t>
                      </m:r>
                      <m:r>
                        <a:rPr lang="en-CA" b="0" i="1" smtClean="0">
                          <a:solidFill>
                            <a:srgbClr val="000000"/>
                          </a:solidFill>
                          <a:latin typeface="Cambria Math" panose="02040503050406030204" pitchFamily="18" charset="0"/>
                        </a:rPr>
                        <m:t>−</m:t>
                      </m:r>
                      <m:f>
                        <m:fPr>
                          <m:ctrlPr>
                            <a:rPr lang="en-CA" i="1">
                              <a:solidFill>
                                <a:srgbClr val="000000"/>
                              </a:solidFill>
                              <a:latin typeface="Cambria Math" panose="02040503050406030204" pitchFamily="18" charset="0"/>
                            </a:rPr>
                          </m:ctrlPr>
                        </m:fPr>
                        <m:num>
                          <m:r>
                            <a:rPr lang="en-CA" i="1">
                              <a:solidFill>
                                <a:srgbClr val="000000"/>
                              </a:solidFill>
                              <a:latin typeface="Cambria Math" panose="02040503050406030204" pitchFamily="18" charset="0"/>
                              <a:ea typeface="Cambria Math" panose="02040503050406030204" pitchFamily="18" charset="0"/>
                            </a:rPr>
                            <m:t>𝛿</m:t>
                          </m:r>
                          <m:r>
                            <a:rPr lang="en-CA" b="0" i="1" smtClean="0">
                              <a:solidFill>
                                <a:srgbClr val="000000"/>
                              </a:solidFill>
                              <a:latin typeface="Cambria Math" panose="02040503050406030204" pitchFamily="18" charset="0"/>
                              <a:ea typeface="Cambria Math" panose="02040503050406030204" pitchFamily="18" charset="0"/>
                            </a:rPr>
                            <m:t>𝐸</m:t>
                          </m:r>
                          <m:d>
                            <m:dPr>
                              <m:begChr m:val="["/>
                              <m:endChr m:val="]"/>
                              <m:ctrlPr>
                                <a:rPr lang="en-CA" b="0" i="1" smtClean="0">
                                  <a:solidFill>
                                    <a:srgbClr val="000000"/>
                                  </a:solidFill>
                                  <a:latin typeface="Cambria Math" panose="02040503050406030204" pitchFamily="18" charset="0"/>
                                  <a:ea typeface="Cambria Math" panose="02040503050406030204" pitchFamily="18" charset="0"/>
                                </a:rPr>
                              </m:ctrlPr>
                            </m:dPr>
                            <m:e>
                              <m:r>
                                <a:rPr lang="en-CA" b="0" i="1" smtClean="0">
                                  <a:solidFill>
                                    <a:srgbClr val="000000"/>
                                  </a:solidFill>
                                  <a:latin typeface="Cambria Math" panose="02040503050406030204" pitchFamily="18" charset="0"/>
                                  <a:ea typeface="Cambria Math" panose="02040503050406030204" pitchFamily="18" charset="0"/>
                                </a:rPr>
                                <m:t>𝑛</m:t>
                              </m:r>
                              <m:r>
                                <a:rPr lang="en-CA" b="0" i="1" smtClean="0">
                                  <a:solidFill>
                                    <a:srgbClr val="000000"/>
                                  </a:solidFill>
                                  <a:latin typeface="Cambria Math" panose="02040503050406030204" pitchFamily="18" charset="0"/>
                                  <a:ea typeface="Cambria Math" panose="02040503050406030204" pitchFamily="18" charset="0"/>
                                </a:rPr>
                                <m:t>, </m:t>
                              </m:r>
                              <m:r>
                                <a:rPr lang="en-CA" b="0" i="1" smtClean="0">
                                  <a:solidFill>
                                    <a:srgbClr val="000000"/>
                                  </a:solidFill>
                                  <a:latin typeface="Cambria Math" panose="02040503050406030204" pitchFamily="18" charset="0"/>
                                  <a:ea typeface="Cambria Math" panose="02040503050406030204" pitchFamily="18" charset="0"/>
                                </a:rPr>
                                <m:t>𝑤</m:t>
                              </m:r>
                            </m:e>
                          </m:d>
                        </m:num>
                        <m:den>
                          <m:r>
                            <a:rPr lang="en-CA" i="1">
                              <a:solidFill>
                                <a:srgbClr val="000000"/>
                              </a:solidFill>
                              <a:latin typeface="Cambria Math" panose="02040503050406030204" pitchFamily="18" charset="0"/>
                              <a:ea typeface="Cambria Math" panose="02040503050406030204" pitchFamily="18" charset="0"/>
                            </a:rPr>
                            <m:t>𝛿</m:t>
                          </m:r>
                          <m:r>
                            <a:rPr lang="en-CA" i="1">
                              <a:solidFill>
                                <a:srgbClr val="000000"/>
                              </a:solidFill>
                              <a:latin typeface="Cambria Math" panose="02040503050406030204" pitchFamily="18" charset="0"/>
                              <a:ea typeface="Cambria Math" panose="02040503050406030204" pitchFamily="18" charset="0"/>
                            </a:rPr>
                            <m:t>𝑤</m:t>
                          </m:r>
                          <m:d>
                            <m:dPr>
                              <m:ctrlPr>
                                <a:rPr lang="en-CA" i="1">
                                  <a:solidFill>
                                    <a:srgbClr val="000000"/>
                                  </a:solidFill>
                                  <a:latin typeface="Cambria Math" panose="02040503050406030204" pitchFamily="18" charset="0"/>
                                  <a:ea typeface="Cambria Math" panose="02040503050406030204" pitchFamily="18" charset="0"/>
                                </a:rPr>
                              </m:ctrlPr>
                            </m:dPr>
                            <m:e>
                              <m:r>
                                <a:rPr lang="en-CA" b="1" i="1" smtClean="0">
                                  <a:solidFill>
                                    <a:srgbClr val="000000"/>
                                  </a:solidFill>
                                  <a:latin typeface="Cambria Math" panose="02040503050406030204" pitchFamily="18" charset="0"/>
                                  <a:ea typeface="Cambria Math" panose="02040503050406030204" pitchFamily="18" charset="0"/>
                                </a:rPr>
                                <m:t>𝒓</m:t>
                              </m:r>
                            </m:e>
                          </m:d>
                        </m:den>
                      </m:f>
                    </m:oMath>
                  </m:oMathPara>
                </a14:m>
                <a:endParaRPr lang="en-CA" dirty="0"/>
              </a:p>
            </p:txBody>
          </p:sp>
        </mc:Choice>
        <mc:Fallback xmlns="">
          <p:sp>
            <p:nvSpPr>
              <p:cNvPr id="20" name="TextBox 19">
                <a:extLst>
                  <a:ext uri="{FF2B5EF4-FFF2-40B4-BE49-F238E27FC236}">
                    <a16:creationId xmlns:a16="http://schemas.microsoft.com/office/drawing/2014/main" id="{2E84568D-3836-4AA2-9E5D-DD4EBE0773E9}"/>
                  </a:ext>
                </a:extLst>
              </p:cNvPr>
              <p:cNvSpPr txBox="1">
                <a:spLocks noRot="1" noChangeAspect="1" noMove="1" noResize="1" noEditPoints="1" noAdjustHandles="1" noChangeArrowheads="1" noChangeShapeType="1" noTextEdit="1"/>
              </p:cNvSpPr>
              <p:nvPr/>
            </p:nvSpPr>
            <p:spPr>
              <a:xfrm>
                <a:off x="3727484" y="5368004"/>
                <a:ext cx="2015146" cy="677108"/>
              </a:xfrm>
              <a:prstGeom prst="rect">
                <a:avLst/>
              </a:prstGeom>
              <a:blipFill>
                <a:blip r:embed="rId1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58AEEA3-7E5B-480D-8634-78C49D79845B}"/>
                  </a:ext>
                </a:extLst>
              </p:cNvPr>
              <p:cNvSpPr txBox="1"/>
              <p:nvPr/>
            </p:nvSpPr>
            <p:spPr>
              <a:xfrm>
                <a:off x="3367391" y="5521892"/>
                <a:ext cx="39340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oMath>
                  </m:oMathPara>
                </a14:m>
                <a:endParaRPr lang="en-CA" dirty="0"/>
              </a:p>
            </p:txBody>
          </p:sp>
        </mc:Choice>
        <mc:Fallback xmlns="">
          <p:sp>
            <p:nvSpPr>
              <p:cNvPr id="22" name="TextBox 21">
                <a:extLst>
                  <a:ext uri="{FF2B5EF4-FFF2-40B4-BE49-F238E27FC236}">
                    <a16:creationId xmlns:a16="http://schemas.microsoft.com/office/drawing/2014/main" id="{258AEEA3-7E5B-480D-8634-78C49D79845B}"/>
                  </a:ext>
                </a:extLst>
              </p:cNvPr>
              <p:cNvSpPr txBox="1">
                <a:spLocks noRot="1" noChangeAspect="1" noMove="1" noResize="1" noEditPoints="1" noAdjustHandles="1" noChangeArrowheads="1" noChangeShapeType="1" noTextEdit="1"/>
              </p:cNvSpPr>
              <p:nvPr/>
            </p:nvSpPr>
            <p:spPr>
              <a:xfrm>
                <a:off x="3367391" y="5521892"/>
                <a:ext cx="393405" cy="369332"/>
              </a:xfrm>
              <a:prstGeom prst="rect">
                <a:avLst/>
              </a:prstGeom>
              <a:blipFill>
                <a:blip r:embed="rId1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DD2C195-678C-4880-AC61-26F8EE3047A7}"/>
                  </a:ext>
                </a:extLst>
              </p:cNvPr>
              <p:cNvSpPr txBox="1"/>
              <p:nvPr/>
            </p:nvSpPr>
            <p:spPr>
              <a:xfrm>
                <a:off x="4794216" y="4161560"/>
                <a:ext cx="4214494" cy="426655"/>
              </a:xfrm>
              <a:prstGeom prst="rect">
                <a:avLst/>
              </a:prstGeom>
              <a:noFill/>
            </p:spPr>
            <p:txBody>
              <a:bodyPr wrap="square">
                <a:spAutoFit/>
              </a:bodyPr>
              <a:lstStyle/>
              <a:p>
                <a:r>
                  <a:rPr lang="en-CA" b="0" dirty="0"/>
                  <a:t>,   </a:t>
                </a:r>
                <a14:m>
                  <m:oMath xmlns:m="http://schemas.openxmlformats.org/officeDocument/2006/math">
                    <m:r>
                      <a:rPr lang="en-CA" b="0" i="1" smtClean="0">
                        <a:latin typeface="Cambria Math" panose="02040503050406030204" pitchFamily="18" charset="0"/>
                      </a:rPr>
                      <m:t>𝐹</m:t>
                    </m:r>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𝑛</m:t>
                        </m:r>
                        <m:r>
                          <a:rPr lang="en-CA" b="0" i="1" smtClean="0">
                            <a:latin typeface="Cambria Math" panose="02040503050406030204" pitchFamily="18" charset="0"/>
                          </a:rPr>
                          <m:t>, </m:t>
                        </m:r>
                        <m:r>
                          <a:rPr lang="en-CA" b="0" i="1" smtClean="0">
                            <a:latin typeface="Cambria Math" panose="02040503050406030204" pitchFamily="18" charset="0"/>
                          </a:rPr>
                          <m:t>𝑤</m:t>
                        </m:r>
                      </m:e>
                    </m:d>
                    <m:r>
                      <a:rPr lang="en-CA" b="0" i="1" smtClean="0">
                        <a:latin typeface="Cambria Math" panose="02040503050406030204" pitchFamily="18" charset="0"/>
                      </a:rPr>
                      <m:t>=</m:t>
                    </m:r>
                    <m:r>
                      <a:rPr lang="en-CA" i="1" smtClean="0">
                        <a:latin typeface="Cambria Math" panose="02040503050406030204" pitchFamily="18" charset="0"/>
                      </a:rPr>
                      <m:t>𝐸</m:t>
                    </m:r>
                    <m:d>
                      <m:dPr>
                        <m:begChr m:val="["/>
                        <m:endChr m:val="]"/>
                        <m:ctrlPr>
                          <a:rPr lang="en-CA" i="1">
                            <a:latin typeface="Cambria Math" panose="02040503050406030204" pitchFamily="18" charset="0"/>
                          </a:rPr>
                        </m:ctrlPr>
                      </m:dPr>
                      <m:e>
                        <m:r>
                          <a:rPr lang="en-CA" i="1">
                            <a:latin typeface="Cambria Math" panose="02040503050406030204" pitchFamily="18" charset="0"/>
                          </a:rPr>
                          <m:t>𝑛</m:t>
                        </m:r>
                        <m:r>
                          <a:rPr lang="en-CA" b="0" i="1" smtClean="0">
                            <a:latin typeface="Cambria Math" panose="02040503050406030204" pitchFamily="18" charset="0"/>
                          </a:rPr>
                          <m:t>, </m:t>
                        </m:r>
                        <m:r>
                          <a:rPr lang="en-CA" b="0" i="1" smtClean="0">
                            <a:latin typeface="Cambria Math" panose="02040503050406030204" pitchFamily="18" charset="0"/>
                          </a:rPr>
                          <m:t>𝑤</m:t>
                        </m:r>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𝑛</m:t>
                            </m:r>
                          </m:e>
                        </m:d>
                      </m:e>
                    </m:d>
                    <m:r>
                      <a:rPr lang="en-CA" i="1">
                        <a:latin typeface="Cambria Math" panose="02040503050406030204" pitchFamily="18" charset="0"/>
                      </a:rPr>
                      <m:t>+</m:t>
                    </m:r>
                    <m:nary>
                      <m:naryPr>
                        <m:limLoc m:val="undOvr"/>
                        <m:subHide m:val="on"/>
                        <m:supHide m:val="on"/>
                        <m:ctrlPr>
                          <a:rPr lang="en-CA" i="1">
                            <a:latin typeface="Cambria Math" panose="02040503050406030204" pitchFamily="18" charset="0"/>
                          </a:rPr>
                        </m:ctrlPr>
                      </m:naryPr>
                      <m:sub/>
                      <m:sup/>
                      <m:e>
                        <m:r>
                          <a:rPr lang="en-CA" i="1">
                            <a:latin typeface="Cambria Math" panose="02040503050406030204" pitchFamily="18" charset="0"/>
                          </a:rPr>
                          <m:t>𝑑</m:t>
                        </m:r>
                        <m:r>
                          <a:rPr lang="en-CA" b="1" i="1">
                            <a:latin typeface="Cambria Math" panose="02040503050406030204" pitchFamily="18" charset="0"/>
                          </a:rPr>
                          <m:t>𝒓</m:t>
                        </m:r>
                        <m:r>
                          <a:rPr lang="en-CA" i="1">
                            <a:latin typeface="Cambria Math" panose="02040503050406030204" pitchFamily="18" charset="0"/>
                          </a:rPr>
                          <m:t>𝑛</m:t>
                        </m:r>
                        <m:d>
                          <m:dPr>
                            <m:ctrlPr>
                              <a:rPr lang="en-CA" i="1">
                                <a:latin typeface="Cambria Math" panose="02040503050406030204" pitchFamily="18" charset="0"/>
                              </a:rPr>
                            </m:ctrlPr>
                          </m:dPr>
                          <m:e>
                            <m:r>
                              <a:rPr lang="en-CA" b="1" i="1">
                                <a:latin typeface="Cambria Math" panose="02040503050406030204" pitchFamily="18" charset="0"/>
                              </a:rPr>
                              <m:t>𝒓</m:t>
                            </m:r>
                          </m:e>
                        </m:d>
                        <m:r>
                          <a:rPr lang="en-CA" i="1">
                            <a:latin typeface="Cambria Math" panose="02040503050406030204" pitchFamily="18" charset="0"/>
                          </a:rPr>
                          <m:t>𝑤</m:t>
                        </m:r>
                        <m:d>
                          <m:dPr>
                            <m:ctrlPr>
                              <a:rPr lang="en-CA" i="1">
                                <a:latin typeface="Cambria Math" panose="02040503050406030204" pitchFamily="18" charset="0"/>
                              </a:rPr>
                            </m:ctrlPr>
                          </m:dPr>
                          <m:e>
                            <m:r>
                              <a:rPr lang="en-CA" b="1" i="1">
                                <a:latin typeface="Cambria Math" panose="02040503050406030204" pitchFamily="18" charset="0"/>
                              </a:rPr>
                              <m:t>𝒓</m:t>
                            </m:r>
                          </m:e>
                        </m:d>
                      </m:e>
                    </m:nary>
                  </m:oMath>
                </a14:m>
                <a:endParaRPr lang="en-CA" dirty="0"/>
              </a:p>
            </p:txBody>
          </p:sp>
        </mc:Choice>
        <mc:Fallback xmlns="">
          <p:sp>
            <p:nvSpPr>
              <p:cNvPr id="24" name="TextBox 23">
                <a:extLst>
                  <a:ext uri="{FF2B5EF4-FFF2-40B4-BE49-F238E27FC236}">
                    <a16:creationId xmlns:a16="http://schemas.microsoft.com/office/drawing/2014/main" id="{1DD2C195-678C-4880-AC61-26F8EE3047A7}"/>
                  </a:ext>
                </a:extLst>
              </p:cNvPr>
              <p:cNvSpPr txBox="1">
                <a:spLocks noRot="1" noChangeAspect="1" noMove="1" noResize="1" noEditPoints="1" noAdjustHandles="1" noChangeArrowheads="1" noChangeShapeType="1" noTextEdit="1"/>
              </p:cNvSpPr>
              <p:nvPr/>
            </p:nvSpPr>
            <p:spPr>
              <a:xfrm>
                <a:off x="4794216" y="4161560"/>
                <a:ext cx="4214494" cy="426655"/>
              </a:xfrm>
              <a:prstGeom prst="rect">
                <a:avLst/>
              </a:prstGeom>
              <a:blipFill>
                <a:blip r:embed="rId14"/>
                <a:stretch>
                  <a:fillRect l="-1156" t="-124286" b="-18714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E5D6955-EB8C-4D3B-BF5B-CE70CAB0E967}"/>
                  </a:ext>
                </a:extLst>
              </p:cNvPr>
              <p:cNvSpPr txBox="1"/>
              <p:nvPr/>
            </p:nvSpPr>
            <p:spPr>
              <a:xfrm>
                <a:off x="5772594" y="5370388"/>
                <a:ext cx="2071531" cy="6696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i="1" smtClean="0">
                          <a:solidFill>
                            <a:srgbClr val="000000"/>
                          </a:solidFill>
                          <a:latin typeface="Cambria Math" panose="02040503050406030204" pitchFamily="18" charset="0"/>
                        </a:rPr>
                        <m:t>𝑤</m:t>
                      </m:r>
                      <m:d>
                        <m:dPr>
                          <m:ctrlPr>
                            <a:rPr lang="en-CA" i="1">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e>
                      </m:d>
                      <m:r>
                        <a:rPr lang="en-CA" i="1">
                          <a:solidFill>
                            <a:srgbClr val="000000"/>
                          </a:solidFill>
                          <a:latin typeface="Cambria Math" panose="02040503050406030204" pitchFamily="18" charset="0"/>
                        </a:rPr>
                        <m:t>=</m:t>
                      </m:r>
                      <m:r>
                        <a:rPr lang="en-CA" b="0" i="1" smtClean="0">
                          <a:solidFill>
                            <a:srgbClr val="000000"/>
                          </a:solidFill>
                          <a:latin typeface="Cambria Math" panose="02040503050406030204" pitchFamily="18" charset="0"/>
                        </a:rPr>
                        <m:t>−</m:t>
                      </m:r>
                      <m:f>
                        <m:fPr>
                          <m:ctrlPr>
                            <a:rPr lang="en-CA" i="1">
                              <a:solidFill>
                                <a:srgbClr val="000000"/>
                              </a:solidFill>
                              <a:latin typeface="Cambria Math" panose="02040503050406030204" pitchFamily="18" charset="0"/>
                            </a:rPr>
                          </m:ctrlPr>
                        </m:fPr>
                        <m:num>
                          <m:r>
                            <a:rPr lang="en-CA" i="1">
                              <a:solidFill>
                                <a:srgbClr val="000000"/>
                              </a:solidFill>
                              <a:latin typeface="Cambria Math" panose="02040503050406030204" pitchFamily="18" charset="0"/>
                              <a:ea typeface="Cambria Math" panose="02040503050406030204" pitchFamily="18" charset="0"/>
                            </a:rPr>
                            <m:t>𝛿</m:t>
                          </m:r>
                          <m:r>
                            <a:rPr lang="en-CA" b="0" i="1" smtClean="0">
                              <a:solidFill>
                                <a:srgbClr val="000000"/>
                              </a:solidFill>
                              <a:latin typeface="Cambria Math" panose="02040503050406030204" pitchFamily="18" charset="0"/>
                              <a:ea typeface="Cambria Math" panose="02040503050406030204" pitchFamily="18" charset="0"/>
                            </a:rPr>
                            <m:t>𝐸</m:t>
                          </m:r>
                          <m:d>
                            <m:dPr>
                              <m:begChr m:val="["/>
                              <m:endChr m:val="]"/>
                              <m:ctrlPr>
                                <a:rPr lang="en-CA" i="1">
                                  <a:solidFill>
                                    <a:srgbClr val="000000"/>
                                  </a:solidFill>
                                  <a:latin typeface="Cambria Math" panose="02040503050406030204" pitchFamily="18" charset="0"/>
                                  <a:ea typeface="Cambria Math" panose="02040503050406030204" pitchFamily="18" charset="0"/>
                                </a:rPr>
                              </m:ctrlPr>
                            </m:dPr>
                            <m:e>
                              <m:r>
                                <a:rPr lang="en-CA" i="1">
                                  <a:solidFill>
                                    <a:srgbClr val="000000"/>
                                  </a:solidFill>
                                  <a:latin typeface="Cambria Math" panose="02040503050406030204" pitchFamily="18" charset="0"/>
                                  <a:ea typeface="Cambria Math" panose="02040503050406030204" pitchFamily="18" charset="0"/>
                                </a:rPr>
                                <m:t>𝑛</m:t>
                              </m:r>
                              <m:r>
                                <a:rPr lang="en-CA" b="0" i="1" smtClean="0">
                                  <a:solidFill>
                                    <a:srgbClr val="000000"/>
                                  </a:solidFill>
                                  <a:latin typeface="Cambria Math" panose="02040503050406030204" pitchFamily="18" charset="0"/>
                                  <a:ea typeface="Cambria Math" panose="02040503050406030204" pitchFamily="18" charset="0"/>
                                </a:rPr>
                                <m:t>, </m:t>
                              </m:r>
                              <m:r>
                                <a:rPr lang="en-CA" b="0" i="1" smtClean="0">
                                  <a:solidFill>
                                    <a:srgbClr val="000000"/>
                                  </a:solidFill>
                                  <a:latin typeface="Cambria Math" panose="02040503050406030204" pitchFamily="18" charset="0"/>
                                  <a:ea typeface="Cambria Math" panose="02040503050406030204" pitchFamily="18" charset="0"/>
                                </a:rPr>
                                <m:t>𝑤</m:t>
                              </m:r>
                            </m:e>
                          </m:d>
                        </m:num>
                        <m:den>
                          <m:r>
                            <a:rPr lang="en-CA" i="1">
                              <a:solidFill>
                                <a:srgbClr val="000000"/>
                              </a:solidFill>
                              <a:latin typeface="Cambria Math" panose="02040503050406030204" pitchFamily="18" charset="0"/>
                              <a:ea typeface="Cambria Math" panose="02040503050406030204" pitchFamily="18" charset="0"/>
                            </a:rPr>
                            <m:t>𝛿</m:t>
                          </m:r>
                          <m:r>
                            <a:rPr lang="en-CA" i="1">
                              <a:solidFill>
                                <a:srgbClr val="000000"/>
                              </a:solidFill>
                              <a:latin typeface="Cambria Math" panose="02040503050406030204" pitchFamily="18" charset="0"/>
                              <a:ea typeface="Cambria Math" panose="02040503050406030204" pitchFamily="18" charset="0"/>
                            </a:rPr>
                            <m:t>𝑛</m:t>
                          </m:r>
                          <m:d>
                            <m:dPr>
                              <m:ctrlPr>
                                <a:rPr lang="en-CA" i="1">
                                  <a:solidFill>
                                    <a:srgbClr val="000000"/>
                                  </a:solidFill>
                                  <a:latin typeface="Cambria Math" panose="02040503050406030204" pitchFamily="18" charset="0"/>
                                  <a:ea typeface="Cambria Math" panose="02040503050406030204" pitchFamily="18" charset="0"/>
                                </a:rPr>
                              </m:ctrlPr>
                            </m:dPr>
                            <m:e>
                              <m:r>
                                <a:rPr lang="en-CA" b="1" i="1" smtClean="0">
                                  <a:solidFill>
                                    <a:srgbClr val="000000"/>
                                  </a:solidFill>
                                  <a:latin typeface="Cambria Math" panose="02040503050406030204" pitchFamily="18" charset="0"/>
                                  <a:ea typeface="Cambria Math" panose="02040503050406030204" pitchFamily="18" charset="0"/>
                                </a:rPr>
                                <m:t>𝒓</m:t>
                              </m:r>
                            </m:e>
                          </m:d>
                        </m:den>
                      </m:f>
                      <m:r>
                        <a:rPr lang="en-CA" i="1">
                          <a:solidFill>
                            <a:srgbClr val="000000"/>
                          </a:solidFill>
                          <a:latin typeface="Cambria Math" panose="02040503050406030204" pitchFamily="18" charset="0"/>
                        </a:rPr>
                        <m:t> </m:t>
                      </m:r>
                    </m:oMath>
                  </m:oMathPara>
                </a14:m>
                <a:endParaRPr lang="en-CA" dirty="0"/>
              </a:p>
            </p:txBody>
          </p:sp>
        </mc:Choice>
        <mc:Fallback xmlns="">
          <p:sp>
            <p:nvSpPr>
              <p:cNvPr id="25" name="TextBox 24">
                <a:extLst>
                  <a:ext uri="{FF2B5EF4-FFF2-40B4-BE49-F238E27FC236}">
                    <a16:creationId xmlns:a16="http://schemas.microsoft.com/office/drawing/2014/main" id="{1E5D6955-EB8C-4D3B-BF5B-CE70CAB0E967}"/>
                  </a:ext>
                </a:extLst>
              </p:cNvPr>
              <p:cNvSpPr txBox="1">
                <a:spLocks noRot="1" noChangeAspect="1" noMove="1" noResize="1" noEditPoints="1" noAdjustHandles="1" noChangeArrowheads="1" noChangeShapeType="1" noTextEdit="1"/>
              </p:cNvSpPr>
              <p:nvPr/>
            </p:nvSpPr>
            <p:spPr>
              <a:xfrm>
                <a:off x="5772594" y="5370388"/>
                <a:ext cx="2071531" cy="669671"/>
              </a:xfrm>
              <a:prstGeom prst="rect">
                <a:avLst/>
              </a:prstGeom>
              <a:blipFill>
                <a:blip r:embed="rId15"/>
                <a:stretch>
                  <a:fillRect/>
                </a:stretch>
              </a:blipFill>
            </p:spPr>
            <p:txBody>
              <a:bodyPr/>
              <a:lstStyle/>
              <a:p>
                <a:r>
                  <a:rPr lang="en-CA">
                    <a:noFill/>
                  </a:rPr>
                  <a:t> </a:t>
                </a:r>
              </a:p>
            </p:txBody>
          </p:sp>
        </mc:Fallback>
      </mc:AlternateContent>
      <p:sp>
        <p:nvSpPr>
          <p:cNvPr id="7" name="TextBox 6">
            <a:extLst>
              <a:ext uri="{FF2B5EF4-FFF2-40B4-BE49-F238E27FC236}">
                <a16:creationId xmlns:a16="http://schemas.microsoft.com/office/drawing/2014/main" id="{3FE02ABD-E56F-42AD-99FF-F6961E2C381C}"/>
              </a:ext>
            </a:extLst>
          </p:cNvPr>
          <p:cNvSpPr txBox="1"/>
          <p:nvPr/>
        </p:nvSpPr>
        <p:spPr>
          <a:xfrm>
            <a:off x="5640426" y="5520390"/>
            <a:ext cx="150900" cy="369332"/>
          </a:xfrm>
          <a:prstGeom prst="rect">
            <a:avLst/>
          </a:prstGeom>
          <a:noFill/>
        </p:spPr>
        <p:txBody>
          <a:bodyPr wrap="square" rtlCol="0">
            <a:spAutoFit/>
          </a:bodyPr>
          <a:lstStyle/>
          <a:p>
            <a:r>
              <a:rPr lang="en-CA" dirty="0"/>
              <a:t>,</a:t>
            </a:r>
          </a:p>
        </p:txBody>
      </p:sp>
    </p:spTree>
    <p:extLst>
      <p:ext uri="{BB962C8B-B14F-4D97-AF65-F5344CB8AC3E}">
        <p14:creationId xmlns:p14="http://schemas.microsoft.com/office/powerpoint/2010/main" val="244768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28" grpId="0"/>
      <p:bldP spid="31" grpId="0"/>
      <p:bldP spid="2" grpId="0"/>
      <p:bldP spid="15" grpId="0"/>
      <p:bldP spid="16" grpId="0"/>
      <p:bldP spid="17" grpId="0"/>
      <p:bldP spid="18" grpId="0"/>
      <p:bldP spid="19" grpId="0"/>
      <p:bldP spid="20" grpId="0"/>
      <p:bldP spid="22" grpId="0"/>
      <p:bldP spid="24"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56CD9C6-33AD-49A1-96F7-4CB461C66023}"/>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B80E0AE-A6EF-4CE4-BEC8-5FA308606348}"/>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Self-Consistent Field Equations</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13354291-E5B3-4CC6-A55E-1359E015EB3C}"/>
                  </a:ext>
                </a:extLst>
              </p:cNvPr>
              <p:cNvSpPr txBox="1"/>
              <p:nvPr/>
            </p:nvSpPr>
            <p:spPr>
              <a:xfrm>
                <a:off x="3416593" y="5277787"/>
                <a:ext cx="4745169" cy="6771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smtClean="0">
                          <a:solidFill>
                            <a:srgbClr val="000000"/>
                          </a:solidFill>
                          <a:latin typeface="Cambria Math" panose="02040503050406030204" pitchFamily="18" charset="0"/>
                        </a:rPr>
                        <m:t>𝑤</m:t>
                      </m:r>
                      <m:d>
                        <m:dPr>
                          <m:ctrlPr>
                            <a:rPr lang="en-CA" i="1">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e>
                      </m:d>
                      <m:r>
                        <a:rPr lang="en-CA" i="1">
                          <a:solidFill>
                            <a:srgbClr val="000000"/>
                          </a:solidFill>
                          <a:latin typeface="Cambria Math" panose="02040503050406030204" pitchFamily="18" charset="0"/>
                        </a:rPr>
                        <m:t>=</m:t>
                      </m:r>
                      <m:f>
                        <m:fPr>
                          <m:ctrlPr>
                            <a:rPr lang="en-CA" i="1">
                              <a:solidFill>
                                <a:srgbClr val="000000"/>
                              </a:solidFill>
                              <a:latin typeface="Cambria Math" panose="02040503050406030204" pitchFamily="18" charset="0"/>
                            </a:rPr>
                          </m:ctrlPr>
                        </m:fPr>
                        <m:num>
                          <m:r>
                            <a:rPr lang="en-CA" i="1">
                              <a:solidFill>
                                <a:srgbClr val="000000"/>
                              </a:solidFill>
                              <a:latin typeface="Cambria Math" panose="02040503050406030204" pitchFamily="18" charset="0"/>
                              <a:ea typeface="Cambria Math" panose="02040503050406030204" pitchFamily="18" charset="0"/>
                            </a:rPr>
                            <m:t>𝛿</m:t>
                          </m:r>
                          <m:r>
                            <a:rPr lang="en-CA" i="1">
                              <a:solidFill>
                                <a:srgbClr val="000000"/>
                              </a:solidFill>
                              <a:latin typeface="Cambria Math" panose="02040503050406030204" pitchFamily="18" charset="0"/>
                              <a:ea typeface="Cambria Math" panose="02040503050406030204" pitchFamily="18" charset="0"/>
                            </a:rPr>
                            <m:t>𝑈</m:t>
                          </m:r>
                          <m:d>
                            <m:dPr>
                              <m:begChr m:val="["/>
                              <m:endChr m:val="]"/>
                              <m:ctrlPr>
                                <a:rPr lang="en-CA" i="1">
                                  <a:solidFill>
                                    <a:srgbClr val="000000"/>
                                  </a:solidFill>
                                  <a:latin typeface="Cambria Math" panose="02040503050406030204" pitchFamily="18" charset="0"/>
                                  <a:ea typeface="Cambria Math" panose="02040503050406030204" pitchFamily="18" charset="0"/>
                                </a:rPr>
                              </m:ctrlPr>
                            </m:dPr>
                            <m:e>
                              <m:r>
                                <a:rPr lang="en-CA" i="1">
                                  <a:solidFill>
                                    <a:srgbClr val="000000"/>
                                  </a:solidFill>
                                  <a:latin typeface="Cambria Math" panose="02040503050406030204" pitchFamily="18" charset="0"/>
                                  <a:ea typeface="Cambria Math" panose="02040503050406030204" pitchFamily="18" charset="0"/>
                                </a:rPr>
                                <m:t>𝑛</m:t>
                              </m:r>
                            </m:e>
                          </m:d>
                        </m:num>
                        <m:den>
                          <m:r>
                            <a:rPr lang="en-CA" i="1">
                              <a:solidFill>
                                <a:srgbClr val="000000"/>
                              </a:solidFill>
                              <a:latin typeface="Cambria Math" panose="02040503050406030204" pitchFamily="18" charset="0"/>
                              <a:ea typeface="Cambria Math" panose="02040503050406030204" pitchFamily="18" charset="0"/>
                            </a:rPr>
                            <m:t>𝛿</m:t>
                          </m:r>
                          <m:r>
                            <a:rPr lang="en-CA" i="1">
                              <a:solidFill>
                                <a:srgbClr val="000000"/>
                              </a:solidFill>
                              <a:latin typeface="Cambria Math" panose="02040503050406030204" pitchFamily="18" charset="0"/>
                              <a:ea typeface="Cambria Math" panose="02040503050406030204" pitchFamily="18" charset="0"/>
                            </a:rPr>
                            <m:t>𝑛</m:t>
                          </m:r>
                          <m:d>
                            <m:dPr>
                              <m:ctrlPr>
                                <a:rPr lang="en-CA" i="1">
                                  <a:solidFill>
                                    <a:srgbClr val="000000"/>
                                  </a:solidFill>
                                  <a:latin typeface="Cambria Math" panose="02040503050406030204" pitchFamily="18" charset="0"/>
                                  <a:ea typeface="Cambria Math" panose="02040503050406030204" pitchFamily="18" charset="0"/>
                                </a:rPr>
                              </m:ctrlPr>
                            </m:dPr>
                            <m:e>
                              <m:r>
                                <a:rPr lang="en-CA" b="1" i="1" smtClean="0">
                                  <a:solidFill>
                                    <a:srgbClr val="000000"/>
                                  </a:solidFill>
                                  <a:latin typeface="Cambria Math" panose="02040503050406030204" pitchFamily="18" charset="0"/>
                                  <a:ea typeface="Cambria Math" panose="02040503050406030204" pitchFamily="18" charset="0"/>
                                </a:rPr>
                                <m:t>𝒓</m:t>
                              </m:r>
                            </m:e>
                          </m:d>
                        </m:den>
                      </m:f>
                      <m:r>
                        <a:rPr lang="en-CA" i="1">
                          <a:solidFill>
                            <a:srgbClr val="000000"/>
                          </a:solidFill>
                          <a:latin typeface="Cambria Math" panose="02040503050406030204" pitchFamily="18" charset="0"/>
                        </a:rPr>
                        <m:t>   ,  </m:t>
                      </m:r>
                      <m:r>
                        <a:rPr lang="en-CA" i="1">
                          <a:solidFill>
                            <a:srgbClr val="000000"/>
                          </a:solidFill>
                          <a:latin typeface="Cambria Math" panose="02040503050406030204" pitchFamily="18" charset="0"/>
                        </a:rPr>
                        <m:t>𝑛</m:t>
                      </m:r>
                      <m:d>
                        <m:dPr>
                          <m:ctrlPr>
                            <a:rPr lang="en-CA" i="1">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e>
                      </m:d>
                      <m:r>
                        <a:rPr lang="en-CA" b="1" i="1" smtClean="0">
                          <a:solidFill>
                            <a:srgbClr val="000000"/>
                          </a:solidFill>
                          <a:latin typeface="Cambria Math" panose="02040503050406030204" pitchFamily="18" charset="0"/>
                          <a:ea typeface="Cambria Math" panose="02040503050406030204" pitchFamily="18" charset="0"/>
                        </a:rPr>
                        <m:t>=</m:t>
                      </m:r>
                      <m:f>
                        <m:fPr>
                          <m:ctrlPr>
                            <a:rPr lang="en-CA" i="1">
                              <a:latin typeface="Cambria Math" panose="02040503050406030204" pitchFamily="18" charset="0"/>
                            </a:rPr>
                          </m:ctrlPr>
                        </m:fPr>
                        <m:num>
                          <m:r>
                            <a:rPr lang="en-CA" i="1">
                              <a:latin typeface="Cambria Math" panose="02040503050406030204" pitchFamily="18" charset="0"/>
                            </a:rPr>
                            <m:t>𝑁</m:t>
                          </m:r>
                        </m:num>
                        <m:den>
                          <m:sSub>
                            <m:sSubPr>
                              <m:ctrlPr>
                                <a:rPr lang="en-CA" i="1">
                                  <a:latin typeface="Cambria Math" panose="02040503050406030204" pitchFamily="18" charset="0"/>
                                </a:rPr>
                              </m:ctrlPr>
                            </m:sSubPr>
                            <m:e>
                              <m:r>
                                <a:rPr lang="en-CA" i="1">
                                  <a:latin typeface="Cambria Math" panose="02040503050406030204" pitchFamily="18" charset="0"/>
                                </a:rPr>
                                <m:t>𝑍</m:t>
                              </m:r>
                            </m:e>
                            <m:sub>
                              <m:r>
                                <a:rPr lang="en-CA" i="1">
                                  <a:latin typeface="Cambria Math" panose="02040503050406030204" pitchFamily="18" charset="0"/>
                                </a:rPr>
                                <m:t>1</m:t>
                              </m:r>
                            </m:sub>
                          </m:sSub>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𝑤</m:t>
                              </m:r>
                            </m:e>
                          </m:d>
                        </m:den>
                      </m:f>
                      <m:r>
                        <a:rPr lang="en-CA" b="0" i="1" smtClean="0">
                          <a:solidFill>
                            <a:srgbClr val="000000"/>
                          </a:solidFill>
                          <a:latin typeface="Cambria Math" panose="02040503050406030204" pitchFamily="18" charset="0"/>
                          <a:ea typeface="Cambria Math" panose="02040503050406030204" pitchFamily="18" charset="0"/>
                        </a:rPr>
                        <m:t>𝑞</m:t>
                      </m:r>
                      <m:d>
                        <m:dPr>
                          <m:ctrlPr>
                            <a:rPr lang="en-CA" i="1">
                              <a:solidFill>
                                <a:srgbClr val="000000"/>
                              </a:solidFill>
                              <a:latin typeface="Cambria Math" panose="02040503050406030204" pitchFamily="18" charset="0"/>
                            </a:rPr>
                          </m:ctrlPr>
                        </m:dPr>
                        <m:e>
                          <m:r>
                            <a:rPr lang="en-CA" b="1" i="1">
                              <a:solidFill>
                                <a:srgbClr val="000000"/>
                              </a:solidFill>
                              <a:latin typeface="Cambria Math" panose="02040503050406030204" pitchFamily="18" charset="0"/>
                            </a:rPr>
                            <m:t>𝒓</m:t>
                          </m:r>
                          <m:r>
                            <a:rPr lang="en-CA" b="1" i="1">
                              <a:solidFill>
                                <a:srgbClr val="000000"/>
                              </a:solidFill>
                              <a:latin typeface="Cambria Math" panose="02040503050406030204" pitchFamily="18" charset="0"/>
                            </a:rPr>
                            <m:t>,</m:t>
                          </m:r>
                          <m:r>
                            <a:rPr lang="en-CA" b="1" i="1">
                              <a:solidFill>
                                <a:srgbClr val="000000"/>
                              </a:solidFill>
                              <a:latin typeface="Cambria Math" panose="02040503050406030204" pitchFamily="18" charset="0"/>
                            </a:rPr>
                            <m:t>𝒓</m:t>
                          </m:r>
                          <m:r>
                            <a:rPr lang="en-CA" b="1" i="1">
                              <a:solidFill>
                                <a:srgbClr val="000000"/>
                              </a:solidFill>
                              <a:latin typeface="Cambria Math" panose="02040503050406030204" pitchFamily="18" charset="0"/>
                            </a:rPr>
                            <m:t>,</m:t>
                          </m:r>
                          <m:r>
                            <a:rPr lang="en-CA" i="1">
                              <a:solidFill>
                                <a:srgbClr val="000000"/>
                              </a:solidFill>
                              <a:latin typeface="Cambria Math" panose="02040503050406030204" pitchFamily="18" charset="0"/>
                              <a:ea typeface="Cambria Math" panose="02040503050406030204" pitchFamily="18" charset="0"/>
                            </a:rPr>
                            <m:t>𝛽</m:t>
                          </m:r>
                        </m:e>
                      </m:d>
                    </m:oMath>
                  </m:oMathPara>
                </a14:m>
                <a:endParaRPr lang="en-CA" dirty="0"/>
              </a:p>
            </p:txBody>
          </p:sp>
        </mc:Choice>
        <mc:Fallback>
          <p:sp>
            <p:nvSpPr>
              <p:cNvPr id="8" name="TextBox 7">
                <a:extLst>
                  <a:ext uri="{FF2B5EF4-FFF2-40B4-BE49-F238E27FC236}">
                    <a16:creationId xmlns:a16="http://schemas.microsoft.com/office/drawing/2014/main" id="{13354291-E5B3-4CC6-A55E-1359E015EB3C}"/>
                  </a:ext>
                </a:extLst>
              </p:cNvPr>
              <p:cNvSpPr txBox="1">
                <a:spLocks noRot="1" noChangeAspect="1" noMove="1" noResize="1" noEditPoints="1" noAdjustHandles="1" noChangeArrowheads="1" noChangeShapeType="1" noTextEdit="1"/>
              </p:cNvSpPr>
              <p:nvPr/>
            </p:nvSpPr>
            <p:spPr>
              <a:xfrm>
                <a:off x="3416593" y="5277787"/>
                <a:ext cx="4745169" cy="677108"/>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8723FE4-9B45-4548-8874-79823067A8A0}"/>
                  </a:ext>
                </a:extLst>
              </p:cNvPr>
              <p:cNvSpPr txBox="1"/>
              <p:nvPr/>
            </p:nvSpPr>
            <p:spPr>
              <a:xfrm>
                <a:off x="6307467" y="2807237"/>
                <a:ext cx="5365421" cy="10185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smtClean="0">
                          <a:solidFill>
                            <a:srgbClr val="000000"/>
                          </a:solidFill>
                          <a:latin typeface="Cambria Math" panose="02040503050406030204" pitchFamily="18" charset="0"/>
                          <a:ea typeface="Cambria Math" panose="02040503050406030204" pitchFamily="18" charset="0"/>
                        </a:rPr>
                        <m:t>𝑞</m:t>
                      </m:r>
                      <m:d>
                        <m:dPr>
                          <m:ctrlPr>
                            <a:rPr lang="en-CA" i="1">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r>
                            <a:rPr lang="en-CA" b="1" i="1">
                              <a:solidFill>
                                <a:srgbClr val="000000"/>
                              </a:solidFill>
                              <a:latin typeface="Cambria Math" panose="02040503050406030204" pitchFamily="18" charset="0"/>
                            </a:rPr>
                            <m:t>,</m:t>
                          </m:r>
                          <m:sSub>
                            <m:sSubPr>
                              <m:ctrlPr>
                                <a:rPr lang="en-CA" i="1">
                                  <a:solidFill>
                                    <a:srgbClr val="000000"/>
                                  </a:solidFill>
                                  <a:latin typeface="Cambria Math" panose="02040503050406030204" pitchFamily="18" charset="0"/>
                                </a:rPr>
                              </m:ctrlPr>
                            </m:sSubPr>
                            <m:e>
                              <m:r>
                                <a:rPr lang="en-CA" b="1" i="1" smtClean="0">
                                  <a:solidFill>
                                    <a:srgbClr val="000000"/>
                                  </a:solidFill>
                                  <a:latin typeface="Cambria Math" panose="02040503050406030204" pitchFamily="18" charset="0"/>
                                </a:rPr>
                                <m:t>𝒓</m:t>
                              </m:r>
                            </m:e>
                            <m:sub>
                              <m:r>
                                <a:rPr lang="en-CA" i="1">
                                  <a:solidFill>
                                    <a:srgbClr val="000000"/>
                                  </a:solidFill>
                                  <a:latin typeface="Cambria Math" panose="02040503050406030204" pitchFamily="18" charset="0"/>
                                </a:rPr>
                                <m:t>0</m:t>
                              </m:r>
                            </m:sub>
                          </m:sSub>
                          <m:r>
                            <a:rPr lang="en-CA" b="1" i="1">
                              <a:solidFill>
                                <a:srgbClr val="000000"/>
                              </a:solidFill>
                              <a:latin typeface="Cambria Math" panose="02040503050406030204" pitchFamily="18" charset="0"/>
                            </a:rPr>
                            <m:t>,</m:t>
                          </m:r>
                          <m:r>
                            <a:rPr lang="en-CA" i="1">
                              <a:solidFill>
                                <a:srgbClr val="000000"/>
                              </a:solidFill>
                              <a:latin typeface="Cambria Math" panose="02040503050406030204" pitchFamily="18" charset="0"/>
                              <a:ea typeface="Cambria Math" panose="02040503050406030204" pitchFamily="18" charset="0"/>
                            </a:rPr>
                            <m:t>𝛽</m:t>
                          </m:r>
                        </m:e>
                      </m:d>
                      <m:r>
                        <a:rPr lang="en-CA" i="1">
                          <a:latin typeface="Cambria Math" panose="02040503050406030204" pitchFamily="18" charset="0"/>
                        </a:rPr>
                        <m:t>=</m:t>
                      </m:r>
                      <m:r>
                        <a:rPr lang="en-CA" i="1">
                          <a:latin typeface="Cambria Math" panose="02040503050406030204" pitchFamily="18" charset="0"/>
                        </a:rPr>
                        <m:t>𝐴</m:t>
                      </m:r>
                      <m:nary>
                        <m:naryPr>
                          <m:limLoc m:val="undOvr"/>
                          <m:ctrlPr>
                            <a:rPr lang="en-CA" i="1" smtClean="0">
                              <a:latin typeface="Cambria Math" panose="02040503050406030204" pitchFamily="18" charset="0"/>
                            </a:rPr>
                          </m:ctrlPr>
                        </m:naryPr>
                        <m:sub>
                          <m:sSub>
                            <m:sSubPr>
                              <m:ctrlPr>
                                <a:rPr lang="en-CA" b="1" i="1" smtClean="0">
                                  <a:latin typeface="Cambria Math" panose="02040503050406030204" pitchFamily="18" charset="0"/>
                                </a:rPr>
                              </m:ctrlPr>
                            </m:sSubPr>
                            <m:e>
                              <m:r>
                                <m:rPr>
                                  <m:brk m:alnAt="24"/>
                                </m:rPr>
                                <a:rPr lang="en-CA" b="1" i="1" smtClean="0">
                                  <a:latin typeface="Cambria Math" panose="02040503050406030204" pitchFamily="18" charset="0"/>
                                </a:rPr>
                                <m:t>𝒓</m:t>
                              </m:r>
                            </m:e>
                            <m:sub>
                              <m:r>
                                <a:rPr lang="en-CA" b="0" i="1" smtClean="0">
                                  <a:latin typeface="Cambria Math" panose="02040503050406030204" pitchFamily="18" charset="0"/>
                                </a:rPr>
                                <m:t>0</m:t>
                              </m:r>
                            </m:sub>
                          </m:sSub>
                        </m:sub>
                        <m:sup>
                          <m:r>
                            <a:rPr lang="en-CA" b="1" i="1" smtClean="0">
                              <a:latin typeface="Cambria Math" panose="02040503050406030204" pitchFamily="18" charset="0"/>
                            </a:rPr>
                            <m:t>𝒓</m:t>
                          </m:r>
                        </m:sup>
                        <m:e>
                          <m:r>
                            <a:rPr lang="en-CA" i="1">
                              <a:latin typeface="Cambria Math" panose="02040503050406030204" pitchFamily="18" charset="0"/>
                            </a:rPr>
                            <m:t>𝒟</m:t>
                          </m:r>
                          <m:d>
                            <m:dPr>
                              <m:begChr m:val="["/>
                              <m:endChr m:val="]"/>
                              <m:ctrlPr>
                                <a:rPr lang="en-CA" i="1">
                                  <a:latin typeface="Cambria Math" panose="02040503050406030204" pitchFamily="18" charset="0"/>
                                </a:rPr>
                              </m:ctrlPr>
                            </m:dPr>
                            <m:e>
                              <m:r>
                                <a:rPr lang="en-CA" b="1" i="1">
                                  <a:latin typeface="Cambria Math" panose="02040503050406030204" pitchFamily="18" charset="0"/>
                                </a:rPr>
                                <m:t>𝒓</m:t>
                              </m:r>
                              <m:d>
                                <m:dPr>
                                  <m:ctrlPr>
                                    <a:rPr lang="en-CA" i="1">
                                      <a:latin typeface="Cambria Math" panose="02040503050406030204" pitchFamily="18" charset="0"/>
                                    </a:rPr>
                                  </m:ctrlPr>
                                </m:dPr>
                                <m:e>
                                  <m:r>
                                    <a:rPr lang="en-CA" b="0" i="1" smtClean="0">
                                      <a:latin typeface="Cambria Math" panose="02040503050406030204" pitchFamily="18" charset="0"/>
                                    </a:rPr>
                                    <m:t>𝑠</m:t>
                                  </m:r>
                                </m:e>
                              </m:d>
                            </m:e>
                          </m:d>
                          <m:sSup>
                            <m:sSupPr>
                              <m:ctrlPr>
                                <a:rPr lang="en-CA" i="1">
                                  <a:latin typeface="Cambria Math" panose="02040503050406030204" pitchFamily="18" charset="0"/>
                                  <a:ea typeface="Cambria Math" panose="02040503050406030204" pitchFamily="18" charset="0"/>
                                </a:rPr>
                              </m:ctrlPr>
                            </m:sSupPr>
                            <m:e>
                              <m:r>
                                <a:rPr lang="en-CA" i="1">
                                  <a:latin typeface="Cambria Math" panose="02040503050406030204" pitchFamily="18" charset="0"/>
                                  <a:ea typeface="Cambria Math" panose="02040503050406030204" pitchFamily="18" charset="0"/>
                                </a:rPr>
                                <m:t>𝑒</m:t>
                              </m:r>
                            </m:e>
                            <m:sup>
                              <m:r>
                                <a:rPr lang="en-CA" i="1">
                                  <a:latin typeface="Cambria Math" panose="02040503050406030204" pitchFamily="18" charset="0"/>
                                  <a:ea typeface="Cambria Math" panose="02040503050406030204" pitchFamily="18" charset="0"/>
                                </a:rPr>
                                <m:t>−</m:t>
                              </m:r>
                              <m:nary>
                                <m:naryPr>
                                  <m:ctrlPr>
                                    <a:rPr lang="en-CA" i="1">
                                      <a:latin typeface="Cambria Math" panose="02040503050406030204" pitchFamily="18" charset="0"/>
                                      <a:ea typeface="Cambria Math" panose="02040503050406030204" pitchFamily="18" charset="0"/>
                                    </a:rPr>
                                  </m:ctrlPr>
                                </m:naryPr>
                                <m:sub>
                                  <m:r>
                                    <m:rPr>
                                      <m:brk m:alnAt="23"/>
                                    </m:rPr>
                                    <a:rPr lang="en-CA" i="1">
                                      <a:latin typeface="Cambria Math" panose="02040503050406030204" pitchFamily="18" charset="0"/>
                                      <a:ea typeface="Cambria Math" panose="02040503050406030204" pitchFamily="18" charset="0"/>
                                    </a:rPr>
                                    <m:t>0</m:t>
                                  </m:r>
                                </m:sub>
                                <m:sup>
                                  <m:r>
                                    <a:rPr lang="en-CA" i="1">
                                      <a:latin typeface="Cambria Math" panose="02040503050406030204" pitchFamily="18" charset="0"/>
                                      <a:ea typeface="Cambria Math" panose="02040503050406030204" pitchFamily="18" charset="0"/>
                                    </a:rPr>
                                    <m:t>𝛽</m:t>
                                  </m:r>
                                </m:sup>
                                <m:e>
                                  <m:d>
                                    <m:dPr>
                                      <m:ctrlPr>
                                        <a:rPr lang="en-CA" i="1">
                                          <a:latin typeface="Cambria Math" panose="02040503050406030204" pitchFamily="18" charset="0"/>
                                          <a:ea typeface="Cambria Math" panose="02040503050406030204" pitchFamily="18" charset="0"/>
                                        </a:rPr>
                                      </m:ctrlPr>
                                    </m:dPr>
                                    <m:e>
                                      <m:f>
                                        <m:fPr>
                                          <m:ctrlPr>
                                            <a:rPr lang="en-CA" i="1">
                                              <a:latin typeface="Cambria Math" panose="02040503050406030204" pitchFamily="18" charset="0"/>
                                              <a:ea typeface="Cambria Math" panose="02040503050406030204" pitchFamily="18" charset="0"/>
                                            </a:rPr>
                                          </m:ctrlPr>
                                        </m:fPr>
                                        <m:num>
                                          <m:r>
                                            <a:rPr lang="en-CA" i="1">
                                              <a:latin typeface="Cambria Math" panose="02040503050406030204" pitchFamily="18" charset="0"/>
                                              <a:ea typeface="Cambria Math" panose="02040503050406030204" pitchFamily="18" charset="0"/>
                                            </a:rPr>
                                            <m:t>𝑚</m:t>
                                          </m:r>
                                        </m:num>
                                        <m:den>
                                          <m:r>
                                            <a:rPr lang="en-CA" i="1">
                                              <a:latin typeface="Cambria Math" panose="02040503050406030204" pitchFamily="18" charset="0"/>
                                              <a:ea typeface="Cambria Math" panose="02040503050406030204" pitchFamily="18" charset="0"/>
                                            </a:rPr>
                                            <m:t>2</m:t>
                                          </m:r>
                                          <m:sSup>
                                            <m:sSupPr>
                                              <m:ctrlPr>
                                                <a:rPr lang="en-CA" i="1">
                                                  <a:latin typeface="Cambria Math" panose="02040503050406030204" pitchFamily="18" charset="0"/>
                                                  <a:ea typeface="Cambria Math" panose="02040503050406030204" pitchFamily="18" charset="0"/>
                                                </a:rPr>
                                              </m:ctrlPr>
                                            </m:sSupPr>
                                            <m:e>
                                              <m:r>
                                                <a:rPr lang="en-CA" i="1">
                                                  <a:latin typeface="Cambria Math" panose="02040503050406030204" pitchFamily="18" charset="0"/>
                                                  <a:ea typeface="Cambria Math" panose="02040503050406030204" pitchFamily="18" charset="0"/>
                                                </a:rPr>
                                                <m:t>ℏ</m:t>
                                              </m:r>
                                            </m:e>
                                            <m:sup>
                                              <m:r>
                                                <a:rPr lang="en-CA" i="1">
                                                  <a:latin typeface="Cambria Math" panose="02040503050406030204" pitchFamily="18" charset="0"/>
                                                  <a:ea typeface="Cambria Math" panose="02040503050406030204" pitchFamily="18" charset="0"/>
                                                </a:rPr>
                                                <m:t>2</m:t>
                                              </m:r>
                                            </m:sup>
                                          </m:sSup>
                                        </m:den>
                                      </m:f>
                                      <m:sSup>
                                        <m:sSupPr>
                                          <m:ctrlPr>
                                            <a:rPr lang="en-CA" i="1">
                                              <a:latin typeface="Cambria Math" panose="02040503050406030204" pitchFamily="18" charset="0"/>
                                              <a:ea typeface="Cambria Math" panose="02040503050406030204" pitchFamily="18" charset="0"/>
                                            </a:rPr>
                                          </m:ctrlPr>
                                        </m:sSupPr>
                                        <m:e>
                                          <m:d>
                                            <m:dPr>
                                              <m:begChr m:val="|"/>
                                              <m:endChr m:val="|"/>
                                              <m:ctrlPr>
                                                <a:rPr lang="en-CA" i="1">
                                                  <a:latin typeface="Cambria Math" panose="02040503050406030204" pitchFamily="18" charset="0"/>
                                                  <a:ea typeface="Cambria Math" panose="02040503050406030204" pitchFamily="18" charset="0"/>
                                                </a:rPr>
                                              </m:ctrlPr>
                                            </m:dPr>
                                            <m:e>
                                              <m:f>
                                                <m:fPr>
                                                  <m:ctrlPr>
                                                    <a:rPr lang="en-CA" i="1">
                                                      <a:latin typeface="Cambria Math" panose="02040503050406030204" pitchFamily="18" charset="0"/>
                                                      <a:ea typeface="Cambria Math" panose="02040503050406030204" pitchFamily="18" charset="0"/>
                                                    </a:rPr>
                                                  </m:ctrlPr>
                                                </m:fPr>
                                                <m:num>
                                                  <m:r>
                                                    <a:rPr lang="en-CA" i="1">
                                                      <a:latin typeface="Cambria Math" panose="02040503050406030204" pitchFamily="18" charset="0"/>
                                                      <a:ea typeface="Cambria Math" panose="02040503050406030204" pitchFamily="18" charset="0"/>
                                                    </a:rPr>
                                                    <m:t>𝑑</m:t>
                                                  </m:r>
                                                  <m:r>
                                                    <a:rPr lang="en-CA" b="1" i="1">
                                                      <a:latin typeface="Cambria Math" panose="02040503050406030204" pitchFamily="18" charset="0"/>
                                                      <a:ea typeface="Cambria Math" panose="02040503050406030204" pitchFamily="18" charset="0"/>
                                                    </a:rPr>
                                                    <m:t>𝒓</m:t>
                                                  </m:r>
                                                  <m:d>
                                                    <m:dPr>
                                                      <m:ctrlPr>
                                                        <a:rPr lang="en-CA" i="1">
                                                          <a:latin typeface="Cambria Math" panose="02040503050406030204" pitchFamily="18" charset="0"/>
                                                          <a:ea typeface="Cambria Math" panose="02040503050406030204" pitchFamily="18" charset="0"/>
                                                        </a:rPr>
                                                      </m:ctrlPr>
                                                    </m:dPr>
                                                    <m:e>
                                                      <m:r>
                                                        <a:rPr lang="en-CA" i="1">
                                                          <a:latin typeface="Cambria Math" panose="02040503050406030204" pitchFamily="18" charset="0"/>
                                                          <a:ea typeface="Cambria Math" panose="02040503050406030204" pitchFamily="18" charset="0"/>
                                                        </a:rPr>
                                                        <m:t>𝜏</m:t>
                                                      </m:r>
                                                    </m:e>
                                                  </m:d>
                                                </m:num>
                                                <m:den>
                                                  <m:r>
                                                    <a:rPr lang="en-CA" i="1">
                                                      <a:latin typeface="Cambria Math" panose="02040503050406030204" pitchFamily="18" charset="0"/>
                                                      <a:ea typeface="Cambria Math" panose="02040503050406030204" pitchFamily="18" charset="0"/>
                                                    </a:rPr>
                                                    <m:t>𝑑</m:t>
                                                  </m:r>
                                                  <m:r>
                                                    <a:rPr lang="en-CA" b="0" i="1" smtClean="0">
                                                      <a:latin typeface="Cambria Math" panose="02040503050406030204" pitchFamily="18" charset="0"/>
                                                      <a:ea typeface="Cambria Math" panose="02040503050406030204" pitchFamily="18" charset="0"/>
                                                    </a:rPr>
                                                    <m:t>𝑠</m:t>
                                                  </m:r>
                                                </m:den>
                                              </m:f>
                                            </m:e>
                                          </m:d>
                                        </m:e>
                                        <m:sup>
                                          <m:r>
                                            <a:rPr lang="en-CA" i="1">
                                              <a:latin typeface="Cambria Math" panose="02040503050406030204" pitchFamily="18" charset="0"/>
                                              <a:ea typeface="Cambria Math" panose="02040503050406030204" pitchFamily="18" charset="0"/>
                                            </a:rPr>
                                            <m:t>2</m:t>
                                          </m:r>
                                        </m:sup>
                                      </m:sSup>
                                      <m:r>
                                        <a:rPr lang="en-CA" i="1">
                                          <a:latin typeface="Cambria Math" panose="02040503050406030204" pitchFamily="18" charset="0"/>
                                          <a:ea typeface="Cambria Math" panose="02040503050406030204" pitchFamily="18" charset="0"/>
                                        </a:rPr>
                                        <m:t>+</m:t>
                                      </m:r>
                                      <m:r>
                                        <a:rPr lang="en-CA" i="1">
                                          <a:latin typeface="Cambria Math" panose="02040503050406030204" pitchFamily="18" charset="0"/>
                                          <a:ea typeface="Cambria Math" panose="02040503050406030204" pitchFamily="18" charset="0"/>
                                        </a:rPr>
                                        <m:t>𝑤</m:t>
                                      </m:r>
                                      <m:d>
                                        <m:dPr>
                                          <m:ctrlPr>
                                            <a:rPr lang="en-CA" i="1">
                                              <a:latin typeface="Cambria Math" panose="02040503050406030204" pitchFamily="18" charset="0"/>
                                              <a:ea typeface="Cambria Math" panose="02040503050406030204" pitchFamily="18" charset="0"/>
                                            </a:rPr>
                                          </m:ctrlPr>
                                        </m:dPr>
                                        <m:e>
                                          <m:r>
                                            <a:rPr lang="en-CA" b="1" i="1">
                                              <a:latin typeface="Cambria Math" panose="02040503050406030204" pitchFamily="18" charset="0"/>
                                              <a:ea typeface="Cambria Math" panose="02040503050406030204" pitchFamily="18" charset="0"/>
                                            </a:rPr>
                                            <m:t>𝒓</m:t>
                                          </m:r>
                                          <m:d>
                                            <m:dPr>
                                              <m:ctrlPr>
                                                <a:rPr lang="en-CA" i="1">
                                                  <a:latin typeface="Cambria Math" panose="02040503050406030204" pitchFamily="18" charset="0"/>
                                                  <a:ea typeface="Cambria Math" panose="02040503050406030204" pitchFamily="18" charset="0"/>
                                                </a:rPr>
                                              </m:ctrlPr>
                                            </m:dPr>
                                            <m:e>
                                              <m:r>
                                                <a:rPr lang="en-CA" b="0" i="1" smtClean="0">
                                                  <a:latin typeface="Cambria Math" panose="02040503050406030204" pitchFamily="18" charset="0"/>
                                                  <a:ea typeface="Cambria Math" panose="02040503050406030204" pitchFamily="18" charset="0"/>
                                                </a:rPr>
                                                <m:t>𝑠</m:t>
                                              </m:r>
                                            </m:e>
                                          </m:d>
                                        </m:e>
                                      </m:d>
                                    </m:e>
                                  </m:d>
                                  <m:r>
                                    <a:rPr lang="en-CA" i="1">
                                      <a:latin typeface="Cambria Math" panose="02040503050406030204" pitchFamily="18" charset="0"/>
                                      <a:ea typeface="Cambria Math" panose="02040503050406030204" pitchFamily="18" charset="0"/>
                                    </a:rPr>
                                    <m:t>𝑑</m:t>
                                  </m:r>
                                  <m:r>
                                    <a:rPr lang="en-CA" b="0" i="1" smtClean="0">
                                      <a:latin typeface="Cambria Math" panose="02040503050406030204" pitchFamily="18" charset="0"/>
                                      <a:ea typeface="Cambria Math" panose="02040503050406030204" pitchFamily="18" charset="0"/>
                                    </a:rPr>
                                    <m:t>𝑠</m:t>
                                  </m:r>
                                </m:e>
                              </m:nary>
                            </m:sup>
                          </m:sSup>
                        </m:e>
                      </m:nary>
                    </m:oMath>
                  </m:oMathPara>
                </a14:m>
                <a:endParaRPr lang="en-CA" dirty="0"/>
              </a:p>
            </p:txBody>
          </p:sp>
        </mc:Choice>
        <mc:Fallback>
          <p:sp>
            <p:nvSpPr>
              <p:cNvPr id="9" name="TextBox 8">
                <a:extLst>
                  <a:ext uri="{FF2B5EF4-FFF2-40B4-BE49-F238E27FC236}">
                    <a16:creationId xmlns:a16="http://schemas.microsoft.com/office/drawing/2014/main" id="{E8723FE4-9B45-4548-8874-79823067A8A0}"/>
                  </a:ext>
                </a:extLst>
              </p:cNvPr>
              <p:cNvSpPr txBox="1">
                <a:spLocks noRot="1" noChangeAspect="1" noMove="1" noResize="1" noEditPoints="1" noAdjustHandles="1" noChangeArrowheads="1" noChangeShapeType="1" noTextEdit="1"/>
              </p:cNvSpPr>
              <p:nvPr/>
            </p:nvSpPr>
            <p:spPr>
              <a:xfrm>
                <a:off x="6307467" y="2807237"/>
                <a:ext cx="5365421" cy="1018549"/>
              </a:xfrm>
              <a:prstGeom prst="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FEA4B79-C628-422E-8358-F9993BA6475B}"/>
                  </a:ext>
                </a:extLst>
              </p:cNvPr>
              <p:cNvSpPr txBox="1"/>
              <p:nvPr/>
            </p:nvSpPr>
            <p:spPr>
              <a:xfrm>
                <a:off x="519112" y="2944399"/>
                <a:ext cx="4997288" cy="6481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A" i="1" smtClean="0">
                              <a:solidFill>
                                <a:srgbClr val="000000"/>
                              </a:solidFill>
                              <a:latin typeface="Cambria Math" panose="02040503050406030204" pitchFamily="18" charset="0"/>
                            </a:rPr>
                          </m:ctrlPr>
                        </m:fPr>
                        <m:num>
                          <m:r>
                            <a:rPr lang="en-CA" i="1">
                              <a:solidFill>
                                <a:srgbClr val="000000"/>
                              </a:solidFill>
                              <a:latin typeface="Cambria Math" panose="02040503050406030204" pitchFamily="18" charset="0"/>
                              <a:ea typeface="Cambria Math" panose="02040503050406030204" pitchFamily="18" charset="0"/>
                            </a:rPr>
                            <m:t>𝜕</m:t>
                          </m:r>
                          <m:r>
                            <a:rPr lang="en-CA" i="1" smtClean="0">
                              <a:solidFill>
                                <a:srgbClr val="000000"/>
                              </a:solidFill>
                              <a:latin typeface="Cambria Math" panose="02040503050406030204" pitchFamily="18" charset="0"/>
                              <a:ea typeface="Cambria Math" panose="02040503050406030204" pitchFamily="18" charset="0"/>
                            </a:rPr>
                            <m:t>𝑞</m:t>
                          </m:r>
                          <m:d>
                            <m:dPr>
                              <m:ctrlPr>
                                <a:rPr lang="en-CA" i="1">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r>
                                <a:rPr lang="en-CA" b="1" i="1">
                                  <a:solidFill>
                                    <a:srgbClr val="000000"/>
                                  </a:solidFill>
                                  <a:latin typeface="Cambria Math" panose="02040503050406030204" pitchFamily="18" charset="0"/>
                                </a:rPr>
                                <m:t>,</m:t>
                              </m:r>
                              <m:sSub>
                                <m:sSubPr>
                                  <m:ctrlPr>
                                    <a:rPr lang="en-CA" i="1">
                                      <a:solidFill>
                                        <a:srgbClr val="000000"/>
                                      </a:solidFill>
                                      <a:latin typeface="Cambria Math" panose="02040503050406030204" pitchFamily="18" charset="0"/>
                                    </a:rPr>
                                  </m:ctrlPr>
                                </m:sSubPr>
                                <m:e>
                                  <m:r>
                                    <a:rPr lang="en-CA" b="1" i="1" smtClean="0">
                                      <a:solidFill>
                                        <a:srgbClr val="000000"/>
                                      </a:solidFill>
                                      <a:latin typeface="Cambria Math" panose="02040503050406030204" pitchFamily="18" charset="0"/>
                                    </a:rPr>
                                    <m:t>𝒓</m:t>
                                  </m:r>
                                </m:e>
                                <m:sub>
                                  <m:r>
                                    <a:rPr lang="en-CA" i="1">
                                      <a:solidFill>
                                        <a:srgbClr val="000000"/>
                                      </a:solidFill>
                                      <a:latin typeface="Cambria Math" panose="02040503050406030204" pitchFamily="18" charset="0"/>
                                    </a:rPr>
                                    <m:t>0</m:t>
                                  </m:r>
                                </m:sub>
                              </m:sSub>
                              <m:r>
                                <a:rPr lang="en-CA" b="1" i="1">
                                  <a:solidFill>
                                    <a:srgbClr val="000000"/>
                                  </a:solidFill>
                                  <a:latin typeface="Cambria Math" panose="02040503050406030204" pitchFamily="18" charset="0"/>
                                </a:rPr>
                                <m:t>,</m:t>
                              </m:r>
                              <m:r>
                                <a:rPr lang="en-CA" b="0" i="1" smtClean="0">
                                  <a:solidFill>
                                    <a:srgbClr val="000000"/>
                                  </a:solidFill>
                                  <a:latin typeface="Cambria Math" panose="02040503050406030204" pitchFamily="18" charset="0"/>
                                </a:rPr>
                                <m:t>𝑠</m:t>
                              </m:r>
                            </m:e>
                          </m:d>
                        </m:num>
                        <m:den>
                          <m:r>
                            <a:rPr lang="en-CA" i="1">
                              <a:solidFill>
                                <a:srgbClr val="000000"/>
                              </a:solidFill>
                              <a:latin typeface="Cambria Math" panose="02040503050406030204" pitchFamily="18" charset="0"/>
                              <a:ea typeface="Cambria Math" panose="02040503050406030204" pitchFamily="18" charset="0"/>
                            </a:rPr>
                            <m:t>𝜕</m:t>
                          </m:r>
                          <m:r>
                            <a:rPr lang="en-CA" b="0" i="1" smtClean="0">
                              <a:solidFill>
                                <a:srgbClr val="000000"/>
                              </a:solidFill>
                              <a:latin typeface="Cambria Math" panose="02040503050406030204" pitchFamily="18" charset="0"/>
                              <a:ea typeface="Cambria Math" panose="02040503050406030204" pitchFamily="18" charset="0"/>
                            </a:rPr>
                            <m:t>𝑠</m:t>
                          </m:r>
                        </m:den>
                      </m:f>
                      <m:r>
                        <a:rPr lang="en-CA" i="1">
                          <a:solidFill>
                            <a:srgbClr val="000000"/>
                          </a:solidFill>
                          <a:latin typeface="Cambria Math" panose="02040503050406030204" pitchFamily="18" charset="0"/>
                          <a:ea typeface="Cambria Math" panose="02040503050406030204" pitchFamily="18" charset="0"/>
                        </a:rPr>
                        <m:t>=</m:t>
                      </m:r>
                      <m:f>
                        <m:fPr>
                          <m:ctrlPr>
                            <a:rPr lang="en-CA" i="1">
                              <a:solidFill>
                                <a:srgbClr val="000000"/>
                              </a:solidFill>
                              <a:latin typeface="Cambria Math" panose="02040503050406030204" pitchFamily="18" charset="0"/>
                            </a:rPr>
                          </m:ctrlPr>
                        </m:fPr>
                        <m:num>
                          <m:sSup>
                            <m:sSupPr>
                              <m:ctrlPr>
                                <a:rPr lang="en-CA" i="1">
                                  <a:solidFill>
                                    <a:srgbClr val="000000"/>
                                  </a:solidFill>
                                  <a:latin typeface="Cambria Math" panose="02040503050406030204" pitchFamily="18" charset="0"/>
                                </a:rPr>
                              </m:ctrlPr>
                            </m:sSupPr>
                            <m:e>
                              <m:r>
                                <a:rPr lang="en-CA" i="1">
                                  <a:solidFill>
                                    <a:srgbClr val="000000"/>
                                  </a:solidFill>
                                  <a:latin typeface="Cambria Math" panose="02040503050406030204" pitchFamily="18" charset="0"/>
                                </a:rPr>
                                <m:t>ℏ</m:t>
                              </m:r>
                            </m:e>
                            <m:sup>
                              <m:r>
                                <a:rPr lang="en-CA" i="1">
                                  <a:solidFill>
                                    <a:srgbClr val="000000"/>
                                  </a:solidFill>
                                  <a:latin typeface="Cambria Math" panose="02040503050406030204" pitchFamily="18" charset="0"/>
                                </a:rPr>
                                <m:t>2</m:t>
                              </m:r>
                            </m:sup>
                          </m:sSup>
                        </m:num>
                        <m:den>
                          <m:r>
                            <a:rPr lang="en-CA" i="1">
                              <a:solidFill>
                                <a:srgbClr val="000000"/>
                              </a:solidFill>
                              <a:latin typeface="Cambria Math" panose="02040503050406030204" pitchFamily="18" charset="0"/>
                            </a:rPr>
                            <m:t>2</m:t>
                          </m:r>
                          <m:r>
                            <a:rPr lang="en-CA" i="1">
                              <a:solidFill>
                                <a:srgbClr val="000000"/>
                              </a:solidFill>
                              <a:latin typeface="Cambria Math" panose="02040503050406030204" pitchFamily="18" charset="0"/>
                            </a:rPr>
                            <m:t>𝑚</m:t>
                          </m:r>
                        </m:den>
                      </m:f>
                      <m:sSup>
                        <m:sSupPr>
                          <m:ctrlPr>
                            <a:rPr lang="en-CA" i="1">
                              <a:solidFill>
                                <a:srgbClr val="000000"/>
                              </a:solidFill>
                              <a:latin typeface="Cambria Math" panose="02040503050406030204" pitchFamily="18" charset="0"/>
                              <a:ea typeface="Cambria Math" panose="02040503050406030204" pitchFamily="18" charset="0"/>
                            </a:rPr>
                          </m:ctrlPr>
                        </m:sSupPr>
                        <m:e>
                          <m:r>
                            <m:rPr>
                              <m:sty m:val="p"/>
                            </m:rPr>
                            <a:rPr lang="en-CA" i="1">
                              <a:solidFill>
                                <a:srgbClr val="000000"/>
                              </a:solidFill>
                              <a:latin typeface="Cambria Math" panose="02040503050406030204" pitchFamily="18" charset="0"/>
                              <a:ea typeface="Cambria Math" panose="02040503050406030204" pitchFamily="18" charset="0"/>
                            </a:rPr>
                            <m:t>∇</m:t>
                          </m:r>
                        </m:e>
                        <m:sup>
                          <m:r>
                            <a:rPr lang="en-CA" i="1">
                              <a:solidFill>
                                <a:srgbClr val="000000"/>
                              </a:solidFill>
                              <a:latin typeface="Cambria Math" panose="02040503050406030204" pitchFamily="18" charset="0"/>
                              <a:ea typeface="Cambria Math" panose="02040503050406030204" pitchFamily="18" charset="0"/>
                            </a:rPr>
                            <m:t>2</m:t>
                          </m:r>
                        </m:sup>
                      </m:sSup>
                      <m:r>
                        <a:rPr lang="en-CA" i="1" smtClean="0">
                          <a:solidFill>
                            <a:srgbClr val="000000"/>
                          </a:solidFill>
                          <a:latin typeface="Cambria Math" panose="02040503050406030204" pitchFamily="18" charset="0"/>
                          <a:ea typeface="Cambria Math" panose="02040503050406030204" pitchFamily="18" charset="0"/>
                        </a:rPr>
                        <m:t>𝑞</m:t>
                      </m:r>
                      <m:d>
                        <m:dPr>
                          <m:ctrlPr>
                            <a:rPr lang="en-CA" i="1">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r>
                            <a:rPr lang="en-CA" b="1" i="1">
                              <a:solidFill>
                                <a:srgbClr val="000000"/>
                              </a:solidFill>
                              <a:latin typeface="Cambria Math" panose="02040503050406030204" pitchFamily="18" charset="0"/>
                            </a:rPr>
                            <m:t>,</m:t>
                          </m:r>
                          <m:sSub>
                            <m:sSubPr>
                              <m:ctrlPr>
                                <a:rPr lang="en-CA" i="1">
                                  <a:solidFill>
                                    <a:srgbClr val="000000"/>
                                  </a:solidFill>
                                  <a:latin typeface="Cambria Math" panose="02040503050406030204" pitchFamily="18" charset="0"/>
                                </a:rPr>
                              </m:ctrlPr>
                            </m:sSubPr>
                            <m:e>
                              <m:r>
                                <a:rPr lang="en-CA" b="1" i="1" smtClean="0">
                                  <a:solidFill>
                                    <a:srgbClr val="000000"/>
                                  </a:solidFill>
                                  <a:latin typeface="Cambria Math" panose="02040503050406030204" pitchFamily="18" charset="0"/>
                                </a:rPr>
                                <m:t>𝒓</m:t>
                              </m:r>
                            </m:e>
                            <m:sub>
                              <m:r>
                                <a:rPr lang="en-CA" i="1">
                                  <a:solidFill>
                                    <a:srgbClr val="000000"/>
                                  </a:solidFill>
                                  <a:latin typeface="Cambria Math" panose="02040503050406030204" pitchFamily="18" charset="0"/>
                                </a:rPr>
                                <m:t>0</m:t>
                              </m:r>
                            </m:sub>
                          </m:sSub>
                          <m:r>
                            <a:rPr lang="en-CA" b="1" i="1">
                              <a:solidFill>
                                <a:srgbClr val="000000"/>
                              </a:solidFill>
                              <a:latin typeface="Cambria Math" panose="02040503050406030204" pitchFamily="18" charset="0"/>
                            </a:rPr>
                            <m:t>,</m:t>
                          </m:r>
                          <m:r>
                            <a:rPr lang="en-CA" b="0" i="1" smtClean="0">
                              <a:solidFill>
                                <a:srgbClr val="000000"/>
                              </a:solidFill>
                              <a:latin typeface="Cambria Math" panose="02040503050406030204" pitchFamily="18" charset="0"/>
                            </a:rPr>
                            <m:t>𝑠</m:t>
                          </m:r>
                        </m:e>
                      </m:d>
                      <m:r>
                        <a:rPr lang="en-CA" i="1">
                          <a:solidFill>
                            <a:srgbClr val="000000"/>
                          </a:solidFill>
                          <a:latin typeface="Cambria Math" panose="02040503050406030204" pitchFamily="18" charset="0"/>
                          <a:ea typeface="Cambria Math" panose="02040503050406030204" pitchFamily="18" charset="0"/>
                        </a:rPr>
                        <m:t>−</m:t>
                      </m:r>
                      <m:r>
                        <a:rPr lang="en-CA" i="1">
                          <a:solidFill>
                            <a:srgbClr val="000000"/>
                          </a:solidFill>
                          <a:latin typeface="Cambria Math" panose="02040503050406030204" pitchFamily="18" charset="0"/>
                          <a:ea typeface="Cambria Math" panose="02040503050406030204" pitchFamily="18" charset="0"/>
                        </a:rPr>
                        <m:t>𝑤</m:t>
                      </m:r>
                      <m:d>
                        <m:dPr>
                          <m:ctrlPr>
                            <a:rPr lang="en-CA" i="1">
                              <a:solidFill>
                                <a:srgbClr val="000000"/>
                              </a:solidFill>
                              <a:latin typeface="Cambria Math" panose="02040503050406030204" pitchFamily="18" charset="0"/>
                              <a:ea typeface="Cambria Math" panose="02040503050406030204" pitchFamily="18" charset="0"/>
                            </a:rPr>
                          </m:ctrlPr>
                        </m:dPr>
                        <m:e>
                          <m:r>
                            <a:rPr lang="en-CA" b="1" i="1" smtClean="0">
                              <a:solidFill>
                                <a:srgbClr val="000000"/>
                              </a:solidFill>
                              <a:latin typeface="Cambria Math" panose="02040503050406030204" pitchFamily="18" charset="0"/>
                              <a:ea typeface="Cambria Math" panose="02040503050406030204" pitchFamily="18" charset="0"/>
                            </a:rPr>
                            <m:t>𝒓</m:t>
                          </m:r>
                        </m:e>
                      </m:d>
                      <m:r>
                        <a:rPr lang="en-CA" i="1" smtClean="0">
                          <a:solidFill>
                            <a:srgbClr val="000000"/>
                          </a:solidFill>
                          <a:latin typeface="Cambria Math" panose="02040503050406030204" pitchFamily="18" charset="0"/>
                          <a:ea typeface="Cambria Math" panose="02040503050406030204" pitchFamily="18" charset="0"/>
                        </a:rPr>
                        <m:t>𝑞</m:t>
                      </m:r>
                      <m:d>
                        <m:dPr>
                          <m:ctrlPr>
                            <a:rPr lang="en-CA" i="1">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r>
                            <a:rPr lang="en-CA" b="1" i="1">
                              <a:solidFill>
                                <a:srgbClr val="000000"/>
                              </a:solidFill>
                              <a:latin typeface="Cambria Math" panose="02040503050406030204" pitchFamily="18" charset="0"/>
                            </a:rPr>
                            <m:t>,</m:t>
                          </m:r>
                          <m:sSub>
                            <m:sSubPr>
                              <m:ctrlPr>
                                <a:rPr lang="en-CA" i="1">
                                  <a:solidFill>
                                    <a:srgbClr val="000000"/>
                                  </a:solidFill>
                                  <a:latin typeface="Cambria Math" panose="02040503050406030204" pitchFamily="18" charset="0"/>
                                </a:rPr>
                              </m:ctrlPr>
                            </m:sSubPr>
                            <m:e>
                              <m:r>
                                <a:rPr lang="en-CA" b="1" i="1" smtClean="0">
                                  <a:solidFill>
                                    <a:srgbClr val="000000"/>
                                  </a:solidFill>
                                  <a:latin typeface="Cambria Math" panose="02040503050406030204" pitchFamily="18" charset="0"/>
                                </a:rPr>
                                <m:t>𝒓</m:t>
                              </m:r>
                            </m:e>
                            <m:sub>
                              <m:r>
                                <a:rPr lang="en-CA" i="1">
                                  <a:solidFill>
                                    <a:srgbClr val="000000"/>
                                  </a:solidFill>
                                  <a:latin typeface="Cambria Math" panose="02040503050406030204" pitchFamily="18" charset="0"/>
                                </a:rPr>
                                <m:t>0</m:t>
                              </m:r>
                            </m:sub>
                          </m:sSub>
                          <m:r>
                            <a:rPr lang="en-CA" b="1" i="1">
                              <a:solidFill>
                                <a:srgbClr val="000000"/>
                              </a:solidFill>
                              <a:latin typeface="Cambria Math" panose="02040503050406030204" pitchFamily="18" charset="0"/>
                            </a:rPr>
                            <m:t>,</m:t>
                          </m:r>
                          <m:r>
                            <a:rPr lang="en-CA" b="0" i="1" smtClean="0">
                              <a:solidFill>
                                <a:srgbClr val="000000"/>
                              </a:solidFill>
                              <a:latin typeface="Cambria Math" panose="02040503050406030204" pitchFamily="18" charset="0"/>
                            </a:rPr>
                            <m:t>𝑠</m:t>
                          </m:r>
                        </m:e>
                      </m:d>
                      <m:r>
                        <a:rPr lang="en-CA" b="0" i="1" smtClean="0">
                          <a:solidFill>
                            <a:srgbClr val="000000"/>
                          </a:solidFill>
                          <a:latin typeface="Cambria Math" panose="02040503050406030204" pitchFamily="18" charset="0"/>
                          <a:ea typeface="Cambria Math" panose="02040503050406030204" pitchFamily="18" charset="0"/>
                        </a:rPr>
                        <m:t> </m:t>
                      </m:r>
                    </m:oMath>
                  </m:oMathPara>
                </a14:m>
                <a:endParaRPr lang="en-CA" dirty="0"/>
              </a:p>
            </p:txBody>
          </p:sp>
        </mc:Choice>
        <mc:Fallback>
          <p:sp>
            <p:nvSpPr>
              <p:cNvPr id="11" name="TextBox 10">
                <a:extLst>
                  <a:ext uri="{FF2B5EF4-FFF2-40B4-BE49-F238E27FC236}">
                    <a16:creationId xmlns:a16="http://schemas.microsoft.com/office/drawing/2014/main" id="{BFEA4B79-C628-422E-8358-F9993BA6475B}"/>
                  </a:ext>
                </a:extLst>
              </p:cNvPr>
              <p:cNvSpPr txBox="1">
                <a:spLocks noRot="1" noChangeAspect="1" noMove="1" noResize="1" noEditPoints="1" noAdjustHandles="1" noChangeArrowheads="1" noChangeShapeType="1" noTextEdit="1"/>
              </p:cNvSpPr>
              <p:nvPr/>
            </p:nvSpPr>
            <p:spPr>
              <a:xfrm>
                <a:off x="519112" y="2944399"/>
                <a:ext cx="4997288" cy="648126"/>
              </a:xfrm>
              <a:prstGeom prst="rect">
                <a:avLst/>
              </a:prstGeom>
              <a:blipFill>
                <a:blip r:embed="rId5"/>
                <a:stretch>
                  <a:fillRect/>
                </a:stretch>
              </a:blipFill>
            </p:spPr>
            <p:txBody>
              <a:bodyPr/>
              <a:lstStyle/>
              <a:p>
                <a:r>
                  <a:rPr lang="en-CA">
                    <a:noFill/>
                  </a:rPr>
                  <a:t> </a:t>
                </a:r>
              </a:p>
            </p:txBody>
          </p:sp>
        </mc:Fallback>
      </mc:AlternateContent>
      <p:sp>
        <p:nvSpPr>
          <p:cNvPr id="15" name="Slide Number Placeholder 14">
            <a:extLst>
              <a:ext uri="{FF2B5EF4-FFF2-40B4-BE49-F238E27FC236}">
                <a16:creationId xmlns:a16="http://schemas.microsoft.com/office/drawing/2014/main" id="{F2A588B4-9462-43B1-ACE7-968787E19DA2}"/>
              </a:ext>
            </a:extLst>
          </p:cNvPr>
          <p:cNvSpPr>
            <a:spLocks noGrp="1"/>
          </p:cNvSpPr>
          <p:nvPr>
            <p:ph type="sldNum" sz="quarter" idx="12"/>
          </p:nvPr>
        </p:nvSpPr>
        <p:spPr/>
        <p:txBody>
          <a:bodyPr/>
          <a:lstStyle/>
          <a:p>
            <a:r>
              <a:rPr lang="en-US"/>
              <a:t>PAGE  </a:t>
            </a:r>
            <a:fld id="{93005692-73BE-493E-93AB-ECD6027A7652}" type="slidenum">
              <a:rPr lang="en-US" smtClean="0"/>
              <a:pPr/>
              <a:t>3</a:t>
            </a:fld>
            <a:endParaRPr lang="en-US" dirty="0"/>
          </a:p>
        </p:txBody>
      </p:sp>
      <p:pic>
        <p:nvPicPr>
          <p:cNvPr id="16" name="Picture 15">
            <a:extLst>
              <a:ext uri="{FF2B5EF4-FFF2-40B4-BE49-F238E27FC236}">
                <a16:creationId xmlns:a16="http://schemas.microsoft.com/office/drawing/2014/main" id="{95F12130-7DB2-44CB-891F-0B5F30C813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8272905D-0CD1-4129-9EB5-EC8285C86D81}"/>
                  </a:ext>
                </a:extLst>
              </p:cNvPr>
              <p:cNvSpPr txBox="1"/>
              <p:nvPr/>
            </p:nvSpPr>
            <p:spPr>
              <a:xfrm>
                <a:off x="1561100" y="4038593"/>
                <a:ext cx="6935200" cy="8188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rPr>
                        <m:t>𝐹</m:t>
                      </m:r>
                      <m:d>
                        <m:dPr>
                          <m:begChr m:val="["/>
                          <m:endChr m:val="]"/>
                          <m:ctrlPr>
                            <a:rPr lang="en-CA" i="1">
                              <a:latin typeface="Cambria Math" panose="02040503050406030204" pitchFamily="18" charset="0"/>
                            </a:rPr>
                          </m:ctrlPr>
                        </m:dPr>
                        <m:e>
                          <m:r>
                            <a:rPr lang="en-CA" i="1">
                              <a:latin typeface="Cambria Math" panose="02040503050406030204" pitchFamily="18" charset="0"/>
                            </a:rPr>
                            <m:t>𝑛</m:t>
                          </m:r>
                          <m:r>
                            <a:rPr lang="en-CA" i="1">
                              <a:latin typeface="Cambria Math" panose="02040503050406030204" pitchFamily="18" charset="0"/>
                            </a:rPr>
                            <m:t>,</m:t>
                          </m:r>
                          <m:r>
                            <a:rPr lang="en-CA" i="1">
                              <a:latin typeface="Cambria Math" panose="02040503050406030204" pitchFamily="18" charset="0"/>
                            </a:rPr>
                            <m:t>𝑤</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1</m:t>
                          </m:r>
                        </m:num>
                        <m:den>
                          <m:r>
                            <a:rPr lang="en-CA" b="0" i="1" smtClean="0">
                              <a:latin typeface="Cambria Math" panose="02040503050406030204" pitchFamily="18" charset="0"/>
                            </a:rPr>
                            <m:t>𝛽</m:t>
                          </m:r>
                        </m:den>
                      </m:f>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ln</m:t>
                          </m:r>
                        </m:fName>
                        <m:e>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𝑍</m:t>
                                  </m:r>
                                </m:e>
                                <m:sub>
                                  <m:r>
                                    <a:rPr lang="en-CA" b="0" i="1" smtClean="0">
                                      <a:latin typeface="Cambria Math" panose="02040503050406030204" pitchFamily="18" charset="0"/>
                                    </a:rPr>
                                    <m:t>𝑁</m:t>
                                  </m:r>
                                </m:sub>
                              </m:sSub>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𝑛</m:t>
                                  </m:r>
                                  <m:r>
                                    <a:rPr lang="en-CA" b="0" i="1" smtClean="0">
                                      <a:latin typeface="Cambria Math" panose="02040503050406030204" pitchFamily="18" charset="0"/>
                                    </a:rPr>
                                    <m:t>, </m:t>
                                  </m:r>
                                  <m:r>
                                    <a:rPr lang="en-CA" b="0" i="1" smtClean="0">
                                      <a:latin typeface="Cambria Math" panose="02040503050406030204" pitchFamily="18" charset="0"/>
                                    </a:rPr>
                                    <m:t>𝑤</m:t>
                                  </m:r>
                                </m:e>
                              </m:d>
                            </m:e>
                          </m:d>
                        </m:e>
                      </m:func>
                      <m:r>
                        <a:rPr lang="en-CA" i="1">
                          <a:latin typeface="Cambria Math" panose="02040503050406030204" pitchFamily="18" charset="0"/>
                        </a:rPr>
                        <m:t>=−</m:t>
                      </m:r>
                      <m:f>
                        <m:fPr>
                          <m:ctrlPr>
                            <a:rPr lang="en-CA" i="1" smtClean="0">
                              <a:latin typeface="Cambria Math" panose="02040503050406030204" pitchFamily="18" charset="0"/>
                            </a:rPr>
                          </m:ctrlPr>
                        </m:fPr>
                        <m:num>
                          <m:r>
                            <a:rPr lang="en-CA" b="0" i="1" smtClean="0">
                              <a:latin typeface="Cambria Math" panose="02040503050406030204" pitchFamily="18" charset="0"/>
                            </a:rPr>
                            <m:t>𝑁</m:t>
                          </m:r>
                        </m:num>
                        <m:den>
                          <m:r>
                            <a:rPr lang="en-CA" b="0" i="1" smtClean="0">
                              <a:latin typeface="Cambria Math" panose="02040503050406030204" pitchFamily="18" charset="0"/>
                            </a:rPr>
                            <m:t>𝛽</m:t>
                          </m:r>
                        </m:den>
                      </m:f>
                      <m:r>
                        <a:rPr lang="en-CA" i="1">
                          <a:latin typeface="Cambria Math" panose="02040503050406030204" pitchFamily="18" charset="0"/>
                        </a:rPr>
                        <m:t>𝑙𝑛</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𝑍</m:t>
                              </m:r>
                            </m:e>
                            <m:sub>
                              <m:r>
                                <a:rPr lang="en-CA" i="1">
                                  <a:latin typeface="Cambria Math" panose="02040503050406030204" pitchFamily="18" charset="0"/>
                                </a:rPr>
                                <m:t>1</m:t>
                              </m:r>
                            </m:sub>
                          </m:sSub>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𝑤</m:t>
                              </m:r>
                            </m:e>
                          </m:d>
                        </m:e>
                      </m:d>
                      <m:r>
                        <a:rPr lang="en-CA" i="1">
                          <a:latin typeface="Cambria Math" panose="02040503050406030204" pitchFamily="18" charset="0"/>
                        </a:rPr>
                        <m:t>+</m:t>
                      </m:r>
                      <m:r>
                        <a:rPr lang="en-CA" i="1">
                          <a:latin typeface="Cambria Math" panose="02040503050406030204" pitchFamily="18" charset="0"/>
                          <a:ea typeface="Cambria Math" panose="02040503050406030204" pitchFamily="18" charset="0"/>
                        </a:rPr>
                        <m:t>𝑈</m:t>
                      </m:r>
                      <m:d>
                        <m:dPr>
                          <m:begChr m:val="["/>
                          <m:endChr m:val="]"/>
                          <m:ctrlPr>
                            <a:rPr lang="en-CA" i="1">
                              <a:latin typeface="Cambria Math" panose="02040503050406030204" pitchFamily="18" charset="0"/>
                              <a:ea typeface="Cambria Math" panose="02040503050406030204" pitchFamily="18" charset="0"/>
                            </a:rPr>
                          </m:ctrlPr>
                        </m:dPr>
                        <m:e>
                          <m:r>
                            <a:rPr lang="en-CA" i="1">
                              <a:latin typeface="Cambria Math" panose="02040503050406030204" pitchFamily="18" charset="0"/>
                              <a:ea typeface="Cambria Math" panose="02040503050406030204" pitchFamily="18" charset="0"/>
                            </a:rPr>
                            <m:t>𝑛</m:t>
                          </m:r>
                        </m:e>
                      </m:d>
                      <m:r>
                        <a:rPr lang="en-CA" i="1">
                          <a:latin typeface="Cambria Math" panose="02040503050406030204" pitchFamily="18" charset="0"/>
                          <a:ea typeface="Cambria Math" panose="02040503050406030204" pitchFamily="18" charset="0"/>
                        </a:rPr>
                        <m:t>−</m:t>
                      </m:r>
                      <m:nary>
                        <m:naryPr>
                          <m:limLoc m:val="undOvr"/>
                          <m:subHide m:val="on"/>
                          <m:supHide m:val="on"/>
                          <m:ctrlPr>
                            <a:rPr lang="en-CA" i="1">
                              <a:latin typeface="Cambria Math" panose="02040503050406030204" pitchFamily="18" charset="0"/>
                              <a:ea typeface="Cambria Math" panose="02040503050406030204" pitchFamily="18" charset="0"/>
                            </a:rPr>
                          </m:ctrlPr>
                        </m:naryPr>
                        <m:sub/>
                        <m:sup/>
                        <m:e>
                          <m:r>
                            <a:rPr lang="en-CA" b="0" i="1">
                              <a:latin typeface="Cambria Math" panose="02040503050406030204" pitchFamily="18" charset="0"/>
                              <a:ea typeface="Cambria Math" panose="02040503050406030204" pitchFamily="18" charset="0"/>
                            </a:rPr>
                            <m:t>𝑑</m:t>
                          </m:r>
                          <m:r>
                            <a:rPr lang="en-CA" b="1" i="1" smtClean="0">
                              <a:latin typeface="Cambria Math" panose="02040503050406030204" pitchFamily="18" charset="0"/>
                              <a:ea typeface="Cambria Math" panose="02040503050406030204" pitchFamily="18" charset="0"/>
                            </a:rPr>
                            <m:t>𝒓</m:t>
                          </m:r>
                          <m:r>
                            <a:rPr lang="en-CA" b="0" i="1">
                              <a:latin typeface="Cambria Math" panose="02040503050406030204" pitchFamily="18" charset="0"/>
                              <a:ea typeface="Cambria Math" panose="02040503050406030204" pitchFamily="18" charset="0"/>
                            </a:rPr>
                            <m:t>𝑛</m:t>
                          </m:r>
                          <m:d>
                            <m:dPr>
                              <m:ctrlPr>
                                <a:rPr lang="en-CA" i="1">
                                  <a:latin typeface="Cambria Math" panose="02040503050406030204" pitchFamily="18" charset="0"/>
                                  <a:ea typeface="Cambria Math" panose="02040503050406030204" pitchFamily="18" charset="0"/>
                                </a:rPr>
                              </m:ctrlPr>
                            </m:dPr>
                            <m:e>
                              <m:r>
                                <a:rPr lang="en-CA" b="1" i="1" smtClean="0">
                                  <a:latin typeface="Cambria Math" panose="02040503050406030204" pitchFamily="18" charset="0"/>
                                  <a:ea typeface="Cambria Math" panose="02040503050406030204" pitchFamily="18" charset="0"/>
                                </a:rPr>
                                <m:t>𝒓</m:t>
                              </m:r>
                            </m:e>
                          </m:d>
                          <m:r>
                            <a:rPr lang="en-CA" i="1">
                              <a:latin typeface="Cambria Math" panose="02040503050406030204" pitchFamily="18" charset="0"/>
                              <a:ea typeface="Cambria Math" panose="02040503050406030204" pitchFamily="18" charset="0"/>
                            </a:rPr>
                            <m:t>𝑤</m:t>
                          </m:r>
                          <m:d>
                            <m:dPr>
                              <m:ctrlPr>
                                <a:rPr lang="en-CA" i="1">
                                  <a:latin typeface="Cambria Math" panose="02040503050406030204" pitchFamily="18" charset="0"/>
                                  <a:ea typeface="Cambria Math" panose="02040503050406030204" pitchFamily="18" charset="0"/>
                                </a:rPr>
                              </m:ctrlPr>
                            </m:dPr>
                            <m:e>
                              <m:r>
                                <a:rPr lang="en-CA" b="1" i="1" smtClean="0">
                                  <a:latin typeface="Cambria Math" panose="02040503050406030204" pitchFamily="18" charset="0"/>
                                  <a:ea typeface="Cambria Math" panose="02040503050406030204" pitchFamily="18" charset="0"/>
                                </a:rPr>
                                <m:t>𝒓</m:t>
                              </m:r>
                            </m:e>
                          </m:d>
                        </m:e>
                      </m:nary>
                    </m:oMath>
                  </m:oMathPara>
                </a14:m>
                <a:endParaRPr lang="en-CA" dirty="0"/>
              </a:p>
            </p:txBody>
          </p:sp>
        </mc:Choice>
        <mc:Fallback>
          <p:sp>
            <p:nvSpPr>
              <p:cNvPr id="17" name="TextBox 16">
                <a:extLst>
                  <a:ext uri="{FF2B5EF4-FFF2-40B4-BE49-F238E27FC236}">
                    <a16:creationId xmlns:a16="http://schemas.microsoft.com/office/drawing/2014/main" id="{8272905D-0CD1-4129-9EB5-EC8285C86D81}"/>
                  </a:ext>
                </a:extLst>
              </p:cNvPr>
              <p:cNvSpPr txBox="1">
                <a:spLocks noRot="1" noChangeAspect="1" noMove="1" noResize="1" noEditPoints="1" noAdjustHandles="1" noChangeArrowheads="1" noChangeShapeType="1" noTextEdit="1"/>
              </p:cNvSpPr>
              <p:nvPr/>
            </p:nvSpPr>
            <p:spPr>
              <a:xfrm>
                <a:off x="1561100" y="4038593"/>
                <a:ext cx="6935200" cy="818879"/>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8FEB53B-A1EA-4E94-8EC8-A3A1152117F1}"/>
                  </a:ext>
                </a:extLst>
              </p:cNvPr>
              <p:cNvSpPr txBox="1"/>
              <p:nvPr/>
            </p:nvSpPr>
            <p:spPr>
              <a:xfrm>
                <a:off x="6791435" y="1783025"/>
                <a:ext cx="2566877" cy="8188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solidFill>
                                <a:srgbClr val="000000"/>
                              </a:solidFill>
                              <a:latin typeface="Cambria Math" panose="02040503050406030204" pitchFamily="18" charset="0"/>
                            </a:rPr>
                          </m:ctrlPr>
                        </m:sSubPr>
                        <m:e>
                          <m:r>
                            <a:rPr lang="en-CA" b="0" i="1" smtClean="0">
                              <a:solidFill>
                                <a:srgbClr val="000000"/>
                              </a:solidFill>
                              <a:latin typeface="Cambria Math" panose="02040503050406030204" pitchFamily="18" charset="0"/>
                            </a:rPr>
                            <m:t>𝑍</m:t>
                          </m:r>
                        </m:e>
                        <m:sub>
                          <m:r>
                            <a:rPr lang="en-CA" b="0" i="1" smtClean="0">
                              <a:solidFill>
                                <a:srgbClr val="000000"/>
                              </a:solidFill>
                              <a:latin typeface="Cambria Math" panose="02040503050406030204" pitchFamily="18" charset="0"/>
                            </a:rPr>
                            <m:t>1</m:t>
                          </m:r>
                        </m:sub>
                      </m:sSub>
                      <m:d>
                        <m:dPr>
                          <m:begChr m:val="["/>
                          <m:endChr m:val="]"/>
                          <m:ctrlPr>
                            <a:rPr lang="en-CA" b="0" i="1" smtClean="0">
                              <a:solidFill>
                                <a:srgbClr val="000000"/>
                              </a:solidFill>
                              <a:latin typeface="Cambria Math" panose="02040503050406030204" pitchFamily="18" charset="0"/>
                            </a:rPr>
                          </m:ctrlPr>
                        </m:dPr>
                        <m:e>
                          <m:r>
                            <a:rPr lang="en-CA" b="0" i="1" smtClean="0">
                              <a:solidFill>
                                <a:srgbClr val="000000"/>
                              </a:solidFill>
                              <a:latin typeface="Cambria Math" panose="02040503050406030204" pitchFamily="18" charset="0"/>
                            </a:rPr>
                            <m:t>𝑤</m:t>
                          </m:r>
                        </m:e>
                      </m:d>
                      <m:r>
                        <a:rPr lang="en-CA" b="0" i="1" smtClean="0">
                          <a:solidFill>
                            <a:srgbClr val="000000"/>
                          </a:solidFill>
                          <a:latin typeface="Cambria Math" panose="02040503050406030204" pitchFamily="18" charset="0"/>
                        </a:rPr>
                        <m:t>=</m:t>
                      </m:r>
                      <m:nary>
                        <m:naryPr>
                          <m:limLoc m:val="undOvr"/>
                          <m:subHide m:val="on"/>
                          <m:supHide m:val="on"/>
                          <m:ctrlPr>
                            <a:rPr lang="en-CA" b="0" i="1" smtClean="0">
                              <a:solidFill>
                                <a:srgbClr val="000000"/>
                              </a:solidFill>
                              <a:latin typeface="Cambria Math" panose="02040503050406030204" pitchFamily="18" charset="0"/>
                            </a:rPr>
                          </m:ctrlPr>
                        </m:naryPr>
                        <m:sub/>
                        <m:sup/>
                        <m:e>
                          <m:r>
                            <a:rPr lang="en-CA" b="0" i="1" smtClean="0">
                              <a:solidFill>
                                <a:srgbClr val="000000"/>
                              </a:solidFill>
                              <a:latin typeface="Cambria Math" panose="02040503050406030204" pitchFamily="18" charset="0"/>
                            </a:rPr>
                            <m:t>𝑑</m:t>
                          </m:r>
                          <m:r>
                            <a:rPr lang="en-CA" b="1" i="1" smtClean="0">
                              <a:solidFill>
                                <a:srgbClr val="000000"/>
                              </a:solidFill>
                              <a:latin typeface="Cambria Math" panose="02040503050406030204" pitchFamily="18" charset="0"/>
                            </a:rPr>
                            <m:t>𝒓</m:t>
                          </m:r>
                          <m:r>
                            <a:rPr lang="en-CA" i="1">
                              <a:solidFill>
                                <a:srgbClr val="000000"/>
                              </a:solidFill>
                              <a:latin typeface="Cambria Math" panose="02040503050406030204" pitchFamily="18" charset="0"/>
                            </a:rPr>
                            <m:t>𝑞</m:t>
                          </m:r>
                          <m:d>
                            <m:dPr>
                              <m:ctrlPr>
                                <a:rPr lang="en-CA" i="1">
                                  <a:solidFill>
                                    <a:srgbClr val="000000"/>
                                  </a:solidFill>
                                  <a:latin typeface="Cambria Math" panose="02040503050406030204" pitchFamily="18" charset="0"/>
                                </a:rPr>
                              </m:ctrlPr>
                            </m:dPr>
                            <m:e>
                              <m:r>
                                <a:rPr lang="en-CA" b="1" i="1">
                                  <a:solidFill>
                                    <a:srgbClr val="000000"/>
                                  </a:solidFill>
                                  <a:latin typeface="Cambria Math" panose="02040503050406030204" pitchFamily="18" charset="0"/>
                                </a:rPr>
                                <m:t>𝒓</m:t>
                              </m:r>
                              <m:r>
                                <a:rPr lang="en-CA" b="1" i="1">
                                  <a:solidFill>
                                    <a:srgbClr val="000000"/>
                                  </a:solidFill>
                                  <a:latin typeface="Cambria Math" panose="02040503050406030204" pitchFamily="18" charset="0"/>
                                </a:rPr>
                                <m:t>,</m:t>
                              </m:r>
                              <m:r>
                                <a:rPr lang="en-CA" b="1" i="1" smtClean="0">
                                  <a:solidFill>
                                    <a:srgbClr val="000000"/>
                                  </a:solidFill>
                                  <a:latin typeface="Cambria Math" panose="02040503050406030204" pitchFamily="18" charset="0"/>
                                </a:rPr>
                                <m:t>𝒓</m:t>
                              </m:r>
                              <m:r>
                                <a:rPr lang="en-CA" b="1" i="1">
                                  <a:solidFill>
                                    <a:srgbClr val="000000"/>
                                  </a:solidFill>
                                  <a:latin typeface="Cambria Math" panose="02040503050406030204" pitchFamily="18" charset="0"/>
                                </a:rPr>
                                <m:t>,</m:t>
                              </m:r>
                              <m:r>
                                <a:rPr lang="en-CA" i="1">
                                  <a:solidFill>
                                    <a:srgbClr val="000000"/>
                                  </a:solidFill>
                                  <a:latin typeface="Cambria Math" panose="02040503050406030204" pitchFamily="18" charset="0"/>
                                  <a:ea typeface="Cambria Math" panose="02040503050406030204" pitchFamily="18" charset="0"/>
                                </a:rPr>
                                <m:t>𝛽</m:t>
                              </m:r>
                            </m:e>
                          </m:d>
                        </m:e>
                      </m:nary>
                    </m:oMath>
                  </m:oMathPara>
                </a14:m>
                <a:endParaRPr lang="en-CA" dirty="0"/>
              </a:p>
            </p:txBody>
          </p:sp>
        </mc:Choice>
        <mc:Fallback>
          <p:sp>
            <p:nvSpPr>
              <p:cNvPr id="4" name="TextBox 3">
                <a:extLst>
                  <a:ext uri="{FF2B5EF4-FFF2-40B4-BE49-F238E27FC236}">
                    <a16:creationId xmlns:a16="http://schemas.microsoft.com/office/drawing/2014/main" id="{68FEB53B-A1EA-4E94-8EC8-A3A1152117F1}"/>
                  </a:ext>
                </a:extLst>
              </p:cNvPr>
              <p:cNvSpPr txBox="1">
                <a:spLocks noRot="1" noChangeAspect="1" noMove="1" noResize="1" noEditPoints="1" noAdjustHandles="1" noChangeArrowheads="1" noChangeShapeType="1" noTextEdit="1"/>
              </p:cNvSpPr>
              <p:nvPr/>
            </p:nvSpPr>
            <p:spPr>
              <a:xfrm>
                <a:off x="6791435" y="1783025"/>
                <a:ext cx="2566877" cy="818879"/>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45F1ACD-085B-43DB-B471-247BBDB05BB9}"/>
                  </a:ext>
                </a:extLst>
              </p:cNvPr>
              <p:cNvSpPr txBox="1"/>
              <p:nvPr/>
            </p:nvSpPr>
            <p:spPr>
              <a:xfrm>
                <a:off x="519112" y="2423221"/>
                <a:ext cx="9424988" cy="369332"/>
              </a:xfrm>
              <a:prstGeom prst="rect">
                <a:avLst/>
              </a:prstGeom>
              <a:noFill/>
            </p:spPr>
            <p:txBody>
              <a:bodyPr wrap="square" rtlCol="0">
                <a:spAutoFit/>
              </a:bodyPr>
              <a:lstStyle/>
              <a:p>
                <a:r>
                  <a:rPr lang="en-CA" dirty="0">
                    <a:latin typeface="+mj-lt"/>
                  </a:rPr>
                  <a:t>Single-particle propagator </a:t>
                </a:r>
                <a14:m>
                  <m:oMath xmlns:m="http://schemas.openxmlformats.org/officeDocument/2006/math">
                    <m:r>
                      <a:rPr lang="en-CA" b="0" i="1" smtClean="0">
                        <a:latin typeface="Cambria Math" panose="02040503050406030204" pitchFamily="18" charset="0"/>
                      </a:rPr>
                      <m:t>𝑞</m:t>
                    </m:r>
                    <m:d>
                      <m:dPr>
                        <m:ctrlPr>
                          <a:rPr lang="en-CA" b="0" i="1" smtClean="0">
                            <a:latin typeface="Cambria Math" panose="02040503050406030204" pitchFamily="18" charset="0"/>
                          </a:rPr>
                        </m:ctrlPr>
                      </m:dPr>
                      <m:e>
                        <m:r>
                          <a:rPr lang="en-CA" b="1" i="1" smtClean="0">
                            <a:latin typeface="Cambria Math" panose="02040503050406030204" pitchFamily="18" charset="0"/>
                          </a:rPr>
                          <m:t>𝒓</m:t>
                        </m:r>
                        <m:r>
                          <a:rPr lang="en-CA" b="0" i="1" smtClean="0">
                            <a:latin typeface="Cambria Math" panose="02040503050406030204" pitchFamily="18" charset="0"/>
                          </a:rPr>
                          <m:t>, </m:t>
                        </m:r>
                        <m:sSub>
                          <m:sSubPr>
                            <m:ctrlPr>
                              <a:rPr lang="en-CA" b="0" i="1" smtClean="0">
                                <a:latin typeface="Cambria Math" panose="02040503050406030204" pitchFamily="18" charset="0"/>
                              </a:rPr>
                            </m:ctrlPr>
                          </m:sSubPr>
                          <m:e>
                            <m:r>
                              <a:rPr lang="en-CA" b="1" i="1" smtClean="0">
                                <a:latin typeface="Cambria Math" panose="02040503050406030204" pitchFamily="18" charset="0"/>
                              </a:rPr>
                              <m:t>𝒓</m:t>
                            </m:r>
                          </m:e>
                          <m:sub>
                            <m:r>
                              <a:rPr lang="en-CA" b="0" i="1" smtClean="0">
                                <a:latin typeface="Cambria Math" panose="02040503050406030204" pitchFamily="18" charset="0"/>
                              </a:rPr>
                              <m:t>0</m:t>
                            </m:r>
                          </m:sub>
                        </m:sSub>
                        <m:r>
                          <a:rPr lang="en-CA" b="0" i="1" smtClean="0">
                            <a:latin typeface="Cambria Math" panose="02040503050406030204" pitchFamily="18" charset="0"/>
                          </a:rPr>
                          <m:t>, </m:t>
                        </m:r>
                        <m:r>
                          <a:rPr lang="en-CA" b="0" i="1" smtClean="0">
                            <a:latin typeface="Cambria Math" panose="02040503050406030204" pitchFamily="18" charset="0"/>
                          </a:rPr>
                          <m:t>𝛽</m:t>
                        </m:r>
                      </m:e>
                    </m:d>
                  </m:oMath>
                </a14:m>
                <a:r>
                  <a:rPr lang="en-CA" dirty="0">
                    <a:latin typeface="+mj-lt"/>
                  </a:rPr>
                  <a:t> obeys diffusion equation with initial condition </a:t>
                </a:r>
                <a14:m>
                  <m:oMath xmlns:m="http://schemas.openxmlformats.org/officeDocument/2006/math">
                    <m:r>
                      <a:rPr lang="en-CA" i="1">
                        <a:solidFill>
                          <a:srgbClr val="000000"/>
                        </a:solidFill>
                        <a:latin typeface="Cambria Math" panose="02040503050406030204" pitchFamily="18" charset="0"/>
                        <a:ea typeface="Cambria Math" panose="02040503050406030204" pitchFamily="18" charset="0"/>
                      </a:rPr>
                      <m:t>𝑞</m:t>
                    </m:r>
                    <m:d>
                      <m:dPr>
                        <m:ctrlPr>
                          <a:rPr lang="en-CA" i="1">
                            <a:solidFill>
                              <a:srgbClr val="000000"/>
                            </a:solidFill>
                            <a:latin typeface="Cambria Math" panose="02040503050406030204" pitchFamily="18" charset="0"/>
                            <a:ea typeface="Cambria Math" panose="02040503050406030204" pitchFamily="18" charset="0"/>
                          </a:rPr>
                        </m:ctrlPr>
                      </m:dPr>
                      <m:e>
                        <m:r>
                          <a:rPr lang="en-CA" b="1" i="1">
                            <a:solidFill>
                              <a:srgbClr val="000000"/>
                            </a:solidFill>
                            <a:latin typeface="Cambria Math" panose="02040503050406030204" pitchFamily="18" charset="0"/>
                            <a:ea typeface="Cambria Math" panose="02040503050406030204" pitchFamily="18" charset="0"/>
                          </a:rPr>
                          <m:t>𝒓</m:t>
                        </m:r>
                        <m:r>
                          <a:rPr lang="en-CA" i="1">
                            <a:solidFill>
                              <a:srgbClr val="000000"/>
                            </a:solidFill>
                            <a:latin typeface="Cambria Math" panose="02040503050406030204" pitchFamily="18" charset="0"/>
                            <a:ea typeface="Cambria Math" panose="02040503050406030204" pitchFamily="18" charset="0"/>
                          </a:rPr>
                          <m:t>,</m:t>
                        </m:r>
                        <m:sSub>
                          <m:sSubPr>
                            <m:ctrlPr>
                              <a:rPr lang="en-CA" b="1" i="1">
                                <a:solidFill>
                                  <a:srgbClr val="000000"/>
                                </a:solidFill>
                                <a:latin typeface="Cambria Math" panose="02040503050406030204" pitchFamily="18" charset="0"/>
                                <a:ea typeface="Cambria Math" panose="02040503050406030204" pitchFamily="18" charset="0"/>
                              </a:rPr>
                            </m:ctrlPr>
                          </m:sSubPr>
                          <m:e>
                            <m:r>
                              <a:rPr lang="en-CA" b="1" i="1">
                                <a:solidFill>
                                  <a:srgbClr val="000000"/>
                                </a:solidFill>
                                <a:latin typeface="Cambria Math" panose="02040503050406030204" pitchFamily="18" charset="0"/>
                                <a:ea typeface="Cambria Math" panose="02040503050406030204" pitchFamily="18" charset="0"/>
                              </a:rPr>
                              <m:t>𝒓</m:t>
                            </m:r>
                          </m:e>
                          <m:sub>
                            <m:r>
                              <a:rPr lang="en-CA" b="1" i="1">
                                <a:solidFill>
                                  <a:srgbClr val="000000"/>
                                </a:solidFill>
                                <a:latin typeface="Cambria Math" panose="02040503050406030204" pitchFamily="18" charset="0"/>
                                <a:ea typeface="Cambria Math" panose="02040503050406030204" pitchFamily="18" charset="0"/>
                              </a:rPr>
                              <m:t>𝟎</m:t>
                            </m:r>
                          </m:sub>
                        </m:sSub>
                        <m:r>
                          <a:rPr lang="en-CA" i="1">
                            <a:solidFill>
                              <a:srgbClr val="000000"/>
                            </a:solidFill>
                            <a:latin typeface="Cambria Math" panose="02040503050406030204" pitchFamily="18" charset="0"/>
                            <a:ea typeface="Cambria Math" panose="02040503050406030204" pitchFamily="18" charset="0"/>
                          </a:rPr>
                          <m:t>,0</m:t>
                        </m:r>
                      </m:e>
                    </m:d>
                    <m:r>
                      <a:rPr lang="en-CA" i="1">
                        <a:solidFill>
                          <a:srgbClr val="000000"/>
                        </a:solidFill>
                        <a:latin typeface="Cambria Math" panose="02040503050406030204" pitchFamily="18" charset="0"/>
                        <a:ea typeface="Cambria Math" panose="02040503050406030204" pitchFamily="18" charset="0"/>
                      </a:rPr>
                      <m:t>=</m:t>
                    </m:r>
                    <m:r>
                      <a:rPr lang="en-CA" i="1">
                        <a:solidFill>
                          <a:srgbClr val="000000"/>
                        </a:solidFill>
                        <a:latin typeface="Cambria Math" panose="02040503050406030204" pitchFamily="18" charset="0"/>
                        <a:ea typeface="Cambria Math" panose="02040503050406030204" pitchFamily="18" charset="0"/>
                      </a:rPr>
                      <m:t>𝛿</m:t>
                    </m:r>
                    <m:d>
                      <m:dPr>
                        <m:ctrlPr>
                          <a:rPr lang="en-CA" i="1">
                            <a:solidFill>
                              <a:srgbClr val="000000"/>
                            </a:solidFill>
                            <a:latin typeface="Cambria Math" panose="02040503050406030204" pitchFamily="18" charset="0"/>
                            <a:ea typeface="Cambria Math" panose="02040503050406030204" pitchFamily="18" charset="0"/>
                          </a:rPr>
                        </m:ctrlPr>
                      </m:dPr>
                      <m:e>
                        <m:r>
                          <a:rPr lang="en-CA" b="1" i="1">
                            <a:solidFill>
                              <a:srgbClr val="000000"/>
                            </a:solidFill>
                            <a:latin typeface="Cambria Math" panose="02040503050406030204" pitchFamily="18" charset="0"/>
                            <a:ea typeface="Cambria Math" panose="02040503050406030204" pitchFamily="18" charset="0"/>
                          </a:rPr>
                          <m:t>𝒓</m:t>
                        </m:r>
                        <m:r>
                          <a:rPr lang="en-CA" i="1">
                            <a:solidFill>
                              <a:srgbClr val="000000"/>
                            </a:solidFill>
                            <a:latin typeface="Cambria Math" panose="02040503050406030204" pitchFamily="18" charset="0"/>
                            <a:ea typeface="Cambria Math" panose="02040503050406030204" pitchFamily="18" charset="0"/>
                          </a:rPr>
                          <m:t>−</m:t>
                        </m:r>
                        <m:sSub>
                          <m:sSubPr>
                            <m:ctrlPr>
                              <a:rPr lang="en-CA" i="1">
                                <a:solidFill>
                                  <a:srgbClr val="000000"/>
                                </a:solidFill>
                                <a:latin typeface="Cambria Math" panose="02040503050406030204" pitchFamily="18" charset="0"/>
                                <a:ea typeface="Cambria Math" panose="02040503050406030204" pitchFamily="18" charset="0"/>
                              </a:rPr>
                            </m:ctrlPr>
                          </m:sSubPr>
                          <m:e>
                            <m:r>
                              <a:rPr lang="en-CA" b="1" i="1">
                                <a:solidFill>
                                  <a:srgbClr val="000000"/>
                                </a:solidFill>
                                <a:latin typeface="Cambria Math" panose="02040503050406030204" pitchFamily="18" charset="0"/>
                                <a:ea typeface="Cambria Math" panose="02040503050406030204" pitchFamily="18" charset="0"/>
                              </a:rPr>
                              <m:t>𝒓</m:t>
                            </m:r>
                          </m:e>
                          <m:sub>
                            <m:r>
                              <a:rPr lang="en-CA" i="1">
                                <a:solidFill>
                                  <a:srgbClr val="000000"/>
                                </a:solidFill>
                                <a:latin typeface="Cambria Math" panose="02040503050406030204" pitchFamily="18" charset="0"/>
                                <a:ea typeface="Cambria Math" panose="02040503050406030204" pitchFamily="18" charset="0"/>
                              </a:rPr>
                              <m:t>0</m:t>
                            </m:r>
                          </m:sub>
                        </m:sSub>
                      </m:e>
                    </m:d>
                  </m:oMath>
                </a14:m>
                <a:r>
                  <a:rPr lang="en-CA" dirty="0">
                    <a:latin typeface="+mj-lt"/>
                  </a:rPr>
                  <a:t> :</a:t>
                </a:r>
              </a:p>
            </p:txBody>
          </p:sp>
        </mc:Choice>
        <mc:Fallback>
          <p:sp>
            <p:nvSpPr>
              <p:cNvPr id="12" name="TextBox 11">
                <a:extLst>
                  <a:ext uri="{FF2B5EF4-FFF2-40B4-BE49-F238E27FC236}">
                    <a16:creationId xmlns:a16="http://schemas.microsoft.com/office/drawing/2014/main" id="{545F1ACD-085B-43DB-B471-247BBDB05BB9}"/>
                  </a:ext>
                </a:extLst>
              </p:cNvPr>
              <p:cNvSpPr txBox="1">
                <a:spLocks noRot="1" noChangeAspect="1" noMove="1" noResize="1" noEditPoints="1" noAdjustHandles="1" noChangeArrowheads="1" noChangeShapeType="1" noTextEdit="1"/>
              </p:cNvSpPr>
              <p:nvPr/>
            </p:nvSpPr>
            <p:spPr>
              <a:xfrm>
                <a:off x="519112" y="2423221"/>
                <a:ext cx="9424988" cy="369332"/>
              </a:xfrm>
              <a:prstGeom prst="rect">
                <a:avLst/>
              </a:prstGeom>
              <a:blipFill>
                <a:blip r:embed="rId9"/>
                <a:stretch>
                  <a:fillRect l="-517" t="-10000" b="-26667"/>
                </a:stretch>
              </a:blipFill>
            </p:spPr>
            <p:txBody>
              <a:bodyPr/>
              <a:lstStyle/>
              <a:p>
                <a:r>
                  <a:rPr lang="en-CA">
                    <a:noFill/>
                  </a:rPr>
                  <a:t> </a:t>
                </a:r>
              </a:p>
            </p:txBody>
          </p:sp>
        </mc:Fallback>
      </mc:AlternateContent>
      <p:sp>
        <p:nvSpPr>
          <p:cNvPr id="25" name="TextBox 24">
            <a:extLst>
              <a:ext uri="{FF2B5EF4-FFF2-40B4-BE49-F238E27FC236}">
                <a16:creationId xmlns:a16="http://schemas.microsoft.com/office/drawing/2014/main" id="{DBD0A947-78F9-435C-A560-3A7242C98F83}"/>
              </a:ext>
            </a:extLst>
          </p:cNvPr>
          <p:cNvSpPr txBox="1"/>
          <p:nvPr/>
        </p:nvSpPr>
        <p:spPr>
          <a:xfrm>
            <a:off x="519112" y="4788101"/>
            <a:ext cx="8800878" cy="369332"/>
          </a:xfrm>
          <a:prstGeom prst="rect">
            <a:avLst/>
          </a:prstGeom>
          <a:noFill/>
        </p:spPr>
        <p:txBody>
          <a:bodyPr wrap="square" rtlCol="0">
            <a:spAutoFit/>
          </a:bodyPr>
          <a:lstStyle/>
          <a:p>
            <a:r>
              <a:rPr lang="en-CA" dirty="0">
                <a:latin typeface="+mj-lt"/>
              </a:rPr>
              <a:t>Variational principle involving free energy then gives self-consistent expressions for mean field and density:</a:t>
            </a:r>
          </a:p>
        </p:txBody>
      </p:sp>
      <p:sp>
        <p:nvSpPr>
          <p:cNvPr id="30" name="TextBox 29">
            <a:extLst>
              <a:ext uri="{FF2B5EF4-FFF2-40B4-BE49-F238E27FC236}">
                <a16:creationId xmlns:a16="http://schemas.microsoft.com/office/drawing/2014/main" id="{C285CA4C-5269-4E66-B7F4-213109854CB6}"/>
              </a:ext>
            </a:extLst>
          </p:cNvPr>
          <p:cNvSpPr txBox="1"/>
          <p:nvPr/>
        </p:nvSpPr>
        <p:spPr>
          <a:xfrm>
            <a:off x="6129337" y="1949441"/>
            <a:ext cx="662098" cy="369332"/>
          </a:xfrm>
          <a:prstGeom prst="rect">
            <a:avLst/>
          </a:prstGeom>
          <a:noFill/>
        </p:spPr>
        <p:txBody>
          <a:bodyPr wrap="square" rtlCol="0">
            <a:spAutoFit/>
          </a:bodyPr>
          <a:lstStyle/>
          <a:p>
            <a:r>
              <a:rPr lang="en-CA" dirty="0">
                <a:latin typeface="+mj-lt"/>
              </a:rPr>
              <a:t>where</a:t>
            </a:r>
          </a:p>
        </p:txBody>
      </p:sp>
      <p:sp>
        <p:nvSpPr>
          <p:cNvPr id="32" name="TextBox 31">
            <a:extLst>
              <a:ext uri="{FF2B5EF4-FFF2-40B4-BE49-F238E27FC236}">
                <a16:creationId xmlns:a16="http://schemas.microsoft.com/office/drawing/2014/main" id="{D710B5D7-CD96-449D-87C0-692D57CEEBBE}"/>
              </a:ext>
            </a:extLst>
          </p:cNvPr>
          <p:cNvSpPr txBox="1"/>
          <p:nvPr/>
        </p:nvSpPr>
        <p:spPr>
          <a:xfrm>
            <a:off x="519112" y="3641120"/>
            <a:ext cx="2428876" cy="369332"/>
          </a:xfrm>
          <a:prstGeom prst="rect">
            <a:avLst/>
          </a:prstGeom>
          <a:noFill/>
        </p:spPr>
        <p:txBody>
          <a:bodyPr wrap="square" rtlCol="0">
            <a:spAutoFit/>
          </a:bodyPr>
          <a:lstStyle/>
          <a:p>
            <a:r>
              <a:rPr lang="en-CA" dirty="0">
                <a:latin typeface="+mj-lt"/>
              </a:rPr>
              <a:t>Free energy is then given by:</a:t>
            </a:r>
          </a:p>
        </p:txBody>
      </p:sp>
      <p:sp>
        <p:nvSpPr>
          <p:cNvPr id="18" name="TextBox 17">
            <a:extLst>
              <a:ext uri="{FF2B5EF4-FFF2-40B4-BE49-F238E27FC236}">
                <a16:creationId xmlns:a16="http://schemas.microsoft.com/office/drawing/2014/main" id="{8EB894ED-8FAB-422F-AAA3-05842B715794}"/>
              </a:ext>
            </a:extLst>
          </p:cNvPr>
          <p:cNvSpPr txBox="1"/>
          <p:nvPr/>
        </p:nvSpPr>
        <p:spPr>
          <a:xfrm>
            <a:off x="7890164" y="6382350"/>
            <a:ext cx="4208874" cy="307777"/>
          </a:xfrm>
          <a:prstGeom prst="rect">
            <a:avLst/>
          </a:prstGeom>
          <a:noFill/>
        </p:spPr>
        <p:txBody>
          <a:bodyPr wrap="square">
            <a:spAutoFit/>
          </a:bodyPr>
          <a:lstStyle/>
          <a:p>
            <a:r>
              <a:rPr lang="de-DE" sz="1400" dirty="0">
                <a:solidFill>
                  <a:srgbClr val="000000"/>
                </a:solidFill>
                <a:latin typeface="-apple-system"/>
              </a:rPr>
              <a:t>Find more details in </a:t>
            </a:r>
            <a:r>
              <a:rPr lang="de-DE" sz="1400" i="1" dirty="0">
                <a:solidFill>
                  <a:srgbClr val="000000"/>
                </a:solidFill>
                <a:latin typeface="-apple-system"/>
              </a:rPr>
              <a:t>J Chem. Phys</a:t>
            </a:r>
            <a:r>
              <a:rPr lang="de-DE" sz="1400" b="0" i="1" dirty="0">
                <a:solidFill>
                  <a:srgbClr val="000000"/>
                </a:solidFill>
                <a:effectLst/>
                <a:latin typeface="-apple-system"/>
              </a:rPr>
              <a:t>. </a:t>
            </a:r>
            <a:r>
              <a:rPr lang="de-DE" sz="1400" b="1" dirty="0">
                <a:solidFill>
                  <a:srgbClr val="000000"/>
                </a:solidFill>
                <a:latin typeface="-apple-system"/>
              </a:rPr>
              <a:t>150</a:t>
            </a:r>
            <a:r>
              <a:rPr lang="de-DE" sz="1400" b="0" i="0" dirty="0">
                <a:solidFill>
                  <a:srgbClr val="000000"/>
                </a:solidFill>
                <a:effectLst/>
                <a:latin typeface="-apple-system"/>
              </a:rPr>
              <a:t>, 204109 (</a:t>
            </a:r>
            <a:r>
              <a:rPr lang="de-DE" sz="1400" dirty="0">
                <a:solidFill>
                  <a:srgbClr val="000000"/>
                </a:solidFill>
                <a:latin typeface="-apple-system"/>
              </a:rPr>
              <a:t>2019</a:t>
            </a:r>
            <a:r>
              <a:rPr lang="de-DE" sz="1400" b="0" i="0" dirty="0">
                <a:solidFill>
                  <a:srgbClr val="000000"/>
                </a:solidFill>
                <a:effectLst/>
                <a:latin typeface="-apple-system"/>
              </a:rPr>
              <a:t>).</a:t>
            </a:r>
            <a:endParaRPr lang="en-CA" sz="1400" dirty="0">
              <a:latin typeface="-apple-system"/>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C25EE0D5-34AC-4728-9923-7AA290014B11}"/>
                  </a:ext>
                </a:extLst>
              </p:cNvPr>
              <p:cNvSpPr txBox="1"/>
              <p:nvPr/>
            </p:nvSpPr>
            <p:spPr>
              <a:xfrm>
                <a:off x="1981091" y="1892906"/>
                <a:ext cx="4081573" cy="4130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solidFill>
                                <a:srgbClr val="000000"/>
                              </a:solidFill>
                              <a:latin typeface="Cambria Math" panose="02040503050406030204" pitchFamily="18" charset="0"/>
                            </a:rPr>
                          </m:ctrlPr>
                        </m:sSubPr>
                        <m:e>
                          <m:r>
                            <a:rPr lang="en-CA" b="0" i="1" smtClean="0">
                              <a:solidFill>
                                <a:srgbClr val="000000"/>
                              </a:solidFill>
                              <a:latin typeface="Cambria Math" panose="02040503050406030204" pitchFamily="18" charset="0"/>
                            </a:rPr>
                            <m:t>𝑍</m:t>
                          </m:r>
                        </m:e>
                        <m:sub>
                          <m:r>
                            <a:rPr lang="en-CA" b="0" i="1" smtClean="0">
                              <a:solidFill>
                                <a:srgbClr val="000000"/>
                              </a:solidFill>
                              <a:latin typeface="Cambria Math" panose="02040503050406030204" pitchFamily="18" charset="0"/>
                            </a:rPr>
                            <m:t>𝑁</m:t>
                          </m:r>
                        </m:sub>
                      </m:sSub>
                      <m:d>
                        <m:dPr>
                          <m:begChr m:val="["/>
                          <m:endChr m:val="]"/>
                          <m:ctrlPr>
                            <a:rPr lang="en-CA" b="0" i="1" smtClean="0">
                              <a:solidFill>
                                <a:srgbClr val="000000"/>
                              </a:solidFill>
                              <a:latin typeface="Cambria Math" panose="02040503050406030204" pitchFamily="18" charset="0"/>
                            </a:rPr>
                          </m:ctrlPr>
                        </m:dPr>
                        <m:e>
                          <m:r>
                            <a:rPr lang="en-CA" b="0" i="1" smtClean="0">
                              <a:solidFill>
                                <a:srgbClr val="000000"/>
                              </a:solidFill>
                              <a:latin typeface="Cambria Math" panose="02040503050406030204" pitchFamily="18" charset="0"/>
                            </a:rPr>
                            <m:t>𝑛</m:t>
                          </m:r>
                          <m:r>
                            <a:rPr lang="en-CA" b="0" i="1" smtClean="0">
                              <a:solidFill>
                                <a:srgbClr val="000000"/>
                              </a:solidFill>
                              <a:latin typeface="Cambria Math" panose="02040503050406030204" pitchFamily="18" charset="0"/>
                            </a:rPr>
                            <m:t>, </m:t>
                          </m:r>
                          <m:r>
                            <a:rPr lang="en-CA" b="0" i="1" smtClean="0">
                              <a:solidFill>
                                <a:srgbClr val="000000"/>
                              </a:solidFill>
                              <a:latin typeface="Cambria Math" panose="02040503050406030204" pitchFamily="18" charset="0"/>
                            </a:rPr>
                            <m:t>𝑤</m:t>
                          </m:r>
                        </m:e>
                      </m:d>
                      <m:r>
                        <a:rPr lang="en-CA" b="0" i="1" smtClean="0">
                          <a:solidFill>
                            <a:srgbClr val="000000"/>
                          </a:solidFill>
                          <a:latin typeface="Cambria Math" panose="02040503050406030204" pitchFamily="18" charset="0"/>
                        </a:rPr>
                        <m:t>=</m:t>
                      </m:r>
                      <m:sSubSup>
                        <m:sSubSupPr>
                          <m:ctrlPr>
                            <a:rPr lang="en-CA" b="0" i="1" smtClean="0">
                              <a:solidFill>
                                <a:srgbClr val="000000"/>
                              </a:solidFill>
                              <a:latin typeface="Cambria Math" panose="02040503050406030204" pitchFamily="18" charset="0"/>
                            </a:rPr>
                          </m:ctrlPr>
                        </m:sSubSupPr>
                        <m:e>
                          <m:r>
                            <a:rPr lang="en-CA" b="0" i="1" smtClean="0">
                              <a:solidFill>
                                <a:srgbClr val="000000"/>
                              </a:solidFill>
                              <a:latin typeface="Cambria Math" panose="02040503050406030204" pitchFamily="18" charset="0"/>
                            </a:rPr>
                            <m:t>𝑍</m:t>
                          </m:r>
                        </m:e>
                        <m:sub>
                          <m:r>
                            <a:rPr lang="en-CA" b="0" i="1" smtClean="0">
                              <a:solidFill>
                                <a:srgbClr val="000000"/>
                              </a:solidFill>
                              <a:latin typeface="Cambria Math" panose="02040503050406030204" pitchFamily="18" charset="0"/>
                            </a:rPr>
                            <m:t>1</m:t>
                          </m:r>
                        </m:sub>
                        <m:sup>
                          <m:r>
                            <a:rPr lang="en-CA" b="0" i="1" smtClean="0">
                              <a:solidFill>
                                <a:srgbClr val="000000"/>
                              </a:solidFill>
                              <a:latin typeface="Cambria Math" panose="02040503050406030204" pitchFamily="18" charset="0"/>
                            </a:rPr>
                            <m:t>𝑁</m:t>
                          </m:r>
                        </m:sup>
                      </m:sSubSup>
                      <m:d>
                        <m:dPr>
                          <m:begChr m:val="["/>
                          <m:endChr m:val="]"/>
                          <m:ctrlPr>
                            <a:rPr lang="en-CA" b="0" i="1" smtClean="0">
                              <a:solidFill>
                                <a:srgbClr val="000000"/>
                              </a:solidFill>
                              <a:latin typeface="Cambria Math" panose="02040503050406030204" pitchFamily="18" charset="0"/>
                            </a:rPr>
                          </m:ctrlPr>
                        </m:dPr>
                        <m:e>
                          <m:r>
                            <a:rPr lang="en-CA" b="0" i="1" smtClean="0">
                              <a:solidFill>
                                <a:srgbClr val="000000"/>
                              </a:solidFill>
                              <a:latin typeface="Cambria Math" panose="02040503050406030204" pitchFamily="18" charset="0"/>
                            </a:rPr>
                            <m:t>𝑤</m:t>
                          </m:r>
                        </m:e>
                      </m:d>
                      <m:sSup>
                        <m:sSupPr>
                          <m:ctrlPr>
                            <a:rPr lang="en-CA" b="0" i="1" smtClean="0">
                              <a:solidFill>
                                <a:srgbClr val="000000"/>
                              </a:solidFill>
                              <a:latin typeface="Cambria Math" panose="02040503050406030204" pitchFamily="18" charset="0"/>
                            </a:rPr>
                          </m:ctrlPr>
                        </m:sSupPr>
                        <m:e>
                          <m:r>
                            <a:rPr lang="en-CA" b="0" i="1" smtClean="0">
                              <a:solidFill>
                                <a:srgbClr val="000000"/>
                              </a:solidFill>
                              <a:latin typeface="Cambria Math" panose="02040503050406030204" pitchFamily="18" charset="0"/>
                            </a:rPr>
                            <m:t>𝑒</m:t>
                          </m:r>
                        </m:e>
                        <m:sup>
                          <m:r>
                            <a:rPr lang="en-CA" b="0" i="1" smtClean="0">
                              <a:solidFill>
                                <a:srgbClr val="000000"/>
                              </a:solidFill>
                              <a:latin typeface="Cambria Math" panose="02040503050406030204" pitchFamily="18" charset="0"/>
                            </a:rPr>
                            <m:t>−</m:t>
                          </m:r>
                          <m:r>
                            <a:rPr lang="en-CA" b="0" i="1" smtClean="0">
                              <a:solidFill>
                                <a:srgbClr val="000000"/>
                              </a:solidFill>
                              <a:latin typeface="Cambria Math" panose="02040503050406030204" pitchFamily="18" charset="0"/>
                            </a:rPr>
                            <m:t>𝛽</m:t>
                          </m:r>
                          <m:r>
                            <a:rPr lang="en-CA" b="0" i="1" smtClean="0">
                              <a:solidFill>
                                <a:srgbClr val="000000"/>
                              </a:solidFill>
                              <a:latin typeface="Cambria Math" panose="02040503050406030204" pitchFamily="18" charset="0"/>
                            </a:rPr>
                            <m:t>𝑈</m:t>
                          </m:r>
                          <m:d>
                            <m:dPr>
                              <m:begChr m:val="["/>
                              <m:endChr m:val="]"/>
                              <m:ctrlPr>
                                <a:rPr lang="en-CA" b="0" i="1" smtClean="0">
                                  <a:solidFill>
                                    <a:srgbClr val="000000"/>
                                  </a:solidFill>
                                  <a:latin typeface="Cambria Math" panose="02040503050406030204" pitchFamily="18" charset="0"/>
                                </a:rPr>
                              </m:ctrlPr>
                            </m:dPr>
                            <m:e>
                              <m:r>
                                <a:rPr lang="en-CA" b="0" i="1" smtClean="0">
                                  <a:solidFill>
                                    <a:srgbClr val="000000"/>
                                  </a:solidFill>
                                  <a:latin typeface="Cambria Math" panose="02040503050406030204" pitchFamily="18" charset="0"/>
                                </a:rPr>
                                <m:t>𝑛</m:t>
                              </m:r>
                            </m:e>
                          </m:d>
                          <m:r>
                            <a:rPr lang="en-CA" b="0" i="1" smtClean="0">
                              <a:solidFill>
                                <a:srgbClr val="000000"/>
                              </a:solidFill>
                              <a:latin typeface="Cambria Math" panose="02040503050406030204" pitchFamily="18" charset="0"/>
                            </a:rPr>
                            <m:t>+</m:t>
                          </m:r>
                          <m:r>
                            <a:rPr lang="en-CA" b="0" i="1" smtClean="0">
                              <a:solidFill>
                                <a:srgbClr val="000000"/>
                              </a:solidFill>
                              <a:latin typeface="Cambria Math" panose="02040503050406030204" pitchFamily="18" charset="0"/>
                            </a:rPr>
                            <m:t>𝛽</m:t>
                          </m:r>
                          <m:nary>
                            <m:naryPr>
                              <m:limLoc m:val="undOvr"/>
                              <m:subHide m:val="on"/>
                              <m:supHide m:val="on"/>
                              <m:ctrlPr>
                                <a:rPr lang="en-CA" b="0" i="1" smtClean="0">
                                  <a:solidFill>
                                    <a:srgbClr val="000000"/>
                                  </a:solidFill>
                                  <a:latin typeface="Cambria Math" panose="02040503050406030204" pitchFamily="18" charset="0"/>
                                </a:rPr>
                              </m:ctrlPr>
                            </m:naryPr>
                            <m:sub/>
                            <m:sup/>
                            <m:e>
                              <m:r>
                                <a:rPr lang="en-CA" b="0" i="1" smtClean="0">
                                  <a:solidFill>
                                    <a:srgbClr val="000000"/>
                                  </a:solidFill>
                                  <a:latin typeface="Cambria Math" panose="02040503050406030204" pitchFamily="18" charset="0"/>
                                </a:rPr>
                                <m:t>𝑑</m:t>
                              </m:r>
                              <m:r>
                                <a:rPr lang="en-CA" b="1" i="1" smtClean="0">
                                  <a:solidFill>
                                    <a:srgbClr val="000000"/>
                                  </a:solidFill>
                                  <a:latin typeface="Cambria Math" panose="02040503050406030204" pitchFamily="18" charset="0"/>
                                </a:rPr>
                                <m:t>𝒓</m:t>
                              </m:r>
                              <m:r>
                                <a:rPr lang="en-CA" b="0" i="1" smtClean="0">
                                  <a:solidFill>
                                    <a:srgbClr val="000000"/>
                                  </a:solidFill>
                                  <a:latin typeface="Cambria Math" panose="02040503050406030204" pitchFamily="18" charset="0"/>
                                </a:rPr>
                                <m:t>𝑛</m:t>
                              </m:r>
                              <m:d>
                                <m:dPr>
                                  <m:ctrlPr>
                                    <a:rPr lang="en-CA" b="0" i="1" smtClean="0">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e>
                              </m:d>
                              <m:r>
                                <a:rPr lang="en-CA" b="0" i="1" smtClean="0">
                                  <a:solidFill>
                                    <a:srgbClr val="000000"/>
                                  </a:solidFill>
                                  <a:latin typeface="Cambria Math" panose="02040503050406030204" pitchFamily="18" charset="0"/>
                                </a:rPr>
                                <m:t>𝑤</m:t>
                              </m:r>
                              <m:d>
                                <m:dPr>
                                  <m:ctrlPr>
                                    <a:rPr lang="en-CA" b="0" i="1" smtClean="0">
                                      <a:solidFill>
                                        <a:srgbClr val="000000"/>
                                      </a:solidFill>
                                      <a:latin typeface="Cambria Math" panose="02040503050406030204" pitchFamily="18" charset="0"/>
                                    </a:rPr>
                                  </m:ctrlPr>
                                </m:dPr>
                                <m:e>
                                  <m:r>
                                    <a:rPr lang="en-CA" b="1" i="1" smtClean="0">
                                      <a:solidFill>
                                        <a:srgbClr val="000000"/>
                                      </a:solidFill>
                                      <a:latin typeface="Cambria Math" panose="02040503050406030204" pitchFamily="18" charset="0"/>
                                    </a:rPr>
                                    <m:t>𝒓</m:t>
                                  </m:r>
                                </m:e>
                              </m:d>
                            </m:e>
                          </m:nary>
                        </m:sup>
                      </m:sSup>
                    </m:oMath>
                  </m:oMathPara>
                </a14:m>
                <a:endParaRPr lang="en-CA" dirty="0"/>
              </a:p>
            </p:txBody>
          </p:sp>
        </mc:Choice>
        <mc:Fallback>
          <p:sp>
            <p:nvSpPr>
              <p:cNvPr id="19" name="TextBox 18">
                <a:extLst>
                  <a:ext uri="{FF2B5EF4-FFF2-40B4-BE49-F238E27FC236}">
                    <a16:creationId xmlns:a16="http://schemas.microsoft.com/office/drawing/2014/main" id="{C25EE0D5-34AC-4728-9923-7AA290014B11}"/>
                  </a:ext>
                </a:extLst>
              </p:cNvPr>
              <p:cNvSpPr txBox="1">
                <a:spLocks noRot="1" noChangeAspect="1" noMove="1" noResize="1" noEditPoints="1" noAdjustHandles="1" noChangeArrowheads="1" noChangeShapeType="1" noTextEdit="1"/>
              </p:cNvSpPr>
              <p:nvPr/>
            </p:nvSpPr>
            <p:spPr>
              <a:xfrm>
                <a:off x="1981091" y="1892906"/>
                <a:ext cx="4081573" cy="413062"/>
              </a:xfrm>
              <a:prstGeom prst="rect">
                <a:avLst/>
              </a:prstGeom>
              <a:blipFill>
                <a:blip r:embed="rId10"/>
                <a:stretch>
                  <a:fillRect t="-97015" b="-128358"/>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95C48583-46FB-44D9-B2D7-91F356A42531}"/>
                  </a:ext>
                </a:extLst>
              </p:cNvPr>
              <p:cNvSpPr txBox="1"/>
              <p:nvPr/>
            </p:nvSpPr>
            <p:spPr>
              <a:xfrm>
                <a:off x="523874" y="1422485"/>
                <a:ext cx="11210926" cy="369332"/>
              </a:xfrm>
              <a:prstGeom prst="rect">
                <a:avLst/>
              </a:prstGeom>
              <a:noFill/>
            </p:spPr>
            <p:txBody>
              <a:bodyPr wrap="square" rtlCol="0">
                <a:spAutoFit/>
              </a:bodyPr>
              <a:lstStyle/>
              <a:p>
                <a:r>
                  <a:rPr lang="en-CA" dirty="0">
                    <a:latin typeface="+mj-lt"/>
                  </a:rPr>
                  <a:t>Transform </a:t>
                </a:r>
                <a14:m>
                  <m:oMath xmlns:m="http://schemas.openxmlformats.org/officeDocument/2006/math">
                    <m:r>
                      <a:rPr lang="en-CA" b="0" i="1" smtClean="0">
                        <a:latin typeface="Cambria Math" panose="02040503050406030204" pitchFamily="18" charset="0"/>
                      </a:rPr>
                      <m:t>𝑁</m:t>
                    </m:r>
                  </m:oMath>
                </a14:m>
                <a:r>
                  <a:rPr lang="en-CA" dirty="0">
                    <a:latin typeface="+mj-lt"/>
                  </a:rPr>
                  <a:t>-coordinate representation of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𝑍</m:t>
                        </m:r>
                      </m:e>
                      <m:sub>
                        <m:r>
                          <a:rPr lang="en-CA" b="0" i="1" smtClean="0">
                            <a:latin typeface="Cambria Math" panose="02040503050406030204" pitchFamily="18" charset="0"/>
                          </a:rPr>
                          <m:t>𝑁</m:t>
                        </m:r>
                      </m:sub>
                    </m:sSub>
                  </m:oMath>
                </a14:m>
                <a:r>
                  <a:rPr lang="en-CA" dirty="0">
                    <a:latin typeface="+mj-lt"/>
                  </a:rPr>
                  <a:t> to field representation and perform mean-field saddle expansion of partition function:</a:t>
                </a:r>
              </a:p>
            </p:txBody>
          </p:sp>
        </mc:Choice>
        <mc:Fallback>
          <p:sp>
            <p:nvSpPr>
              <p:cNvPr id="20" name="TextBox 19">
                <a:extLst>
                  <a:ext uri="{FF2B5EF4-FFF2-40B4-BE49-F238E27FC236}">
                    <a16:creationId xmlns:a16="http://schemas.microsoft.com/office/drawing/2014/main" id="{95C48583-46FB-44D9-B2D7-91F356A42531}"/>
                  </a:ext>
                </a:extLst>
              </p:cNvPr>
              <p:cNvSpPr txBox="1">
                <a:spLocks noRot="1" noChangeAspect="1" noMove="1" noResize="1" noEditPoints="1" noAdjustHandles="1" noChangeArrowheads="1" noChangeShapeType="1" noTextEdit="1"/>
              </p:cNvSpPr>
              <p:nvPr/>
            </p:nvSpPr>
            <p:spPr>
              <a:xfrm>
                <a:off x="523874" y="1422485"/>
                <a:ext cx="11210926" cy="369332"/>
              </a:xfrm>
              <a:prstGeom prst="rect">
                <a:avLst/>
              </a:prstGeom>
              <a:blipFill>
                <a:blip r:embed="rId11"/>
                <a:stretch>
                  <a:fillRect l="-489" t="-8197" b="-24590"/>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BA52710-533C-4F5E-AAA0-D0601133D9E2}"/>
                  </a:ext>
                </a:extLst>
              </p:cNvPr>
              <p:cNvSpPr txBox="1"/>
              <p:nvPr/>
            </p:nvSpPr>
            <p:spPr>
              <a:xfrm>
                <a:off x="5689247" y="3134719"/>
                <a:ext cx="474664"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oMath>
                  </m:oMathPara>
                </a14:m>
                <a:endParaRPr lang="en-CA" dirty="0"/>
              </a:p>
            </p:txBody>
          </p:sp>
        </mc:Choice>
        <mc:Fallback>
          <p:sp>
            <p:nvSpPr>
              <p:cNvPr id="10" name="TextBox 9">
                <a:extLst>
                  <a:ext uri="{FF2B5EF4-FFF2-40B4-BE49-F238E27FC236}">
                    <a16:creationId xmlns:a16="http://schemas.microsoft.com/office/drawing/2014/main" id="{8BA52710-533C-4F5E-AAA0-D0601133D9E2}"/>
                  </a:ext>
                </a:extLst>
              </p:cNvPr>
              <p:cNvSpPr txBox="1">
                <a:spLocks noRot="1" noChangeAspect="1" noMove="1" noResize="1" noEditPoints="1" noAdjustHandles="1" noChangeArrowheads="1" noChangeShapeType="1" noTextEdit="1"/>
              </p:cNvSpPr>
              <p:nvPr/>
            </p:nvSpPr>
            <p:spPr>
              <a:xfrm>
                <a:off x="5689247" y="3134719"/>
                <a:ext cx="474664" cy="369332"/>
              </a:xfrm>
              <a:prstGeom prst="rect">
                <a:avLst/>
              </a:prstGeom>
              <a:blipFill>
                <a:blip r:embed="rId1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8038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7" grpId="0"/>
      <p:bldP spid="4" grpId="0"/>
      <p:bldP spid="12" grpId="0"/>
      <p:bldP spid="25" grpId="0"/>
      <p:bldP spid="30" grpId="0"/>
      <p:bldP spid="32" grpId="0"/>
      <p:bldP spid="19" grpId="0"/>
      <p:bldP spid="20"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56CD9C6-33AD-49A1-96F7-4CB461C66023}"/>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B80E0AE-A6EF-4CE4-BEC8-5FA308606348}"/>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The Model</a:t>
            </a:r>
          </a:p>
        </p:txBody>
      </p:sp>
      <p:sp>
        <p:nvSpPr>
          <p:cNvPr id="15" name="Slide Number Placeholder 14">
            <a:extLst>
              <a:ext uri="{FF2B5EF4-FFF2-40B4-BE49-F238E27FC236}">
                <a16:creationId xmlns:a16="http://schemas.microsoft.com/office/drawing/2014/main" id="{F2A588B4-9462-43B1-ACE7-968787E19DA2}"/>
              </a:ext>
            </a:extLst>
          </p:cNvPr>
          <p:cNvSpPr>
            <a:spLocks noGrp="1"/>
          </p:cNvSpPr>
          <p:nvPr>
            <p:ph type="sldNum" sz="quarter" idx="12"/>
          </p:nvPr>
        </p:nvSpPr>
        <p:spPr/>
        <p:txBody>
          <a:bodyPr/>
          <a:lstStyle/>
          <a:p>
            <a:r>
              <a:rPr lang="en-US"/>
              <a:t>PAGE  </a:t>
            </a:r>
            <a:fld id="{93005692-73BE-493E-93AB-ECD6027A7652}" type="slidenum">
              <a:rPr lang="en-US" smtClean="0"/>
              <a:pPr/>
              <a:t>4</a:t>
            </a:fld>
            <a:endParaRPr lang="en-US" dirty="0"/>
          </a:p>
        </p:txBody>
      </p:sp>
      <p:pic>
        <p:nvPicPr>
          <p:cNvPr id="16" name="Picture 15">
            <a:extLst>
              <a:ext uri="{FF2B5EF4-FFF2-40B4-BE49-F238E27FC236}">
                <a16:creationId xmlns:a16="http://schemas.microsoft.com/office/drawing/2014/main" id="{95F12130-7DB2-44CB-891F-0B5F30C81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DE0977-2F86-41C8-BA36-6CB53319EF68}"/>
                  </a:ext>
                </a:extLst>
              </p:cNvPr>
              <p:cNvSpPr txBox="1"/>
              <p:nvPr/>
            </p:nvSpPr>
            <p:spPr>
              <a:xfrm>
                <a:off x="321428" y="3382227"/>
                <a:ext cx="4295103" cy="923330"/>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To enforce Pauli exclusion principle</a:t>
                </a:r>
              </a:p>
              <a:p>
                <a:pPr lvl="1"/>
                <a14:m>
                  <m:oMath xmlns:m="http://schemas.openxmlformats.org/officeDocument/2006/math">
                    <m:r>
                      <a:rPr lang="en-CA" b="0" i="1" smtClean="0">
                        <a:latin typeface="Cambria Math" panose="02040503050406030204" pitchFamily="18" charset="0"/>
                      </a:rPr>
                      <m:t>→</m:t>
                    </m:r>
                  </m:oMath>
                </a14:m>
                <a:r>
                  <a:rPr lang="en-CA" dirty="0">
                    <a:latin typeface="+mj-lt"/>
                  </a:rPr>
                  <a:t>  pairs feel higher-dimensional excluded-volume with each other given by:</a:t>
                </a:r>
              </a:p>
            </p:txBody>
          </p:sp>
        </mc:Choice>
        <mc:Fallback xmlns="">
          <p:sp>
            <p:nvSpPr>
              <p:cNvPr id="6" name="TextBox 5">
                <a:extLst>
                  <a:ext uri="{FF2B5EF4-FFF2-40B4-BE49-F238E27FC236}">
                    <a16:creationId xmlns:a16="http://schemas.microsoft.com/office/drawing/2014/main" id="{62DE0977-2F86-41C8-BA36-6CB53319EF68}"/>
                  </a:ext>
                </a:extLst>
              </p:cNvPr>
              <p:cNvSpPr txBox="1">
                <a:spLocks noRot="1" noChangeAspect="1" noMove="1" noResize="1" noEditPoints="1" noAdjustHandles="1" noChangeArrowheads="1" noChangeShapeType="1" noTextEdit="1"/>
              </p:cNvSpPr>
              <p:nvPr/>
            </p:nvSpPr>
            <p:spPr>
              <a:xfrm>
                <a:off x="321428" y="3382227"/>
                <a:ext cx="4295103" cy="923330"/>
              </a:xfrm>
              <a:prstGeom prst="rect">
                <a:avLst/>
              </a:prstGeom>
              <a:blipFill>
                <a:blip r:embed="rId4"/>
                <a:stretch>
                  <a:fillRect l="-994" t="-3311" b="-1059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F32F610-6927-4EAF-9713-452D3E139D63}"/>
                  </a:ext>
                </a:extLst>
              </p:cNvPr>
              <p:cNvSpPr txBox="1"/>
              <p:nvPr/>
            </p:nvSpPr>
            <p:spPr>
              <a:xfrm>
                <a:off x="965131" y="4404308"/>
                <a:ext cx="3436793" cy="661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𝑤</m:t>
                          </m:r>
                        </m:e>
                        <m:sub>
                          <m:r>
                            <a:rPr lang="en-CA" b="0" i="1" smtClean="0">
                              <a:latin typeface="Cambria Math" panose="02040503050406030204" pitchFamily="18" charset="0"/>
                            </a:rPr>
                            <m:t>𝜇</m:t>
                          </m:r>
                        </m:sub>
                        <m:sup>
                          <m:r>
                            <a:rPr lang="en-CA" b="0" i="1" smtClean="0">
                              <a:latin typeface="Cambria Math" panose="02040503050406030204" pitchFamily="18" charset="0"/>
                            </a:rPr>
                            <m:t>𝑃</m:t>
                          </m:r>
                        </m:sup>
                      </m:sSubSup>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1</m:t>
                          </m:r>
                        </m:num>
                        <m:den>
                          <m:sSub>
                            <m:sSubPr>
                              <m:ctrlPr>
                                <a:rPr lang="en-CA" b="0" i="1" smtClean="0">
                                  <a:latin typeface="Cambria Math" panose="02040503050406030204" pitchFamily="18" charset="0"/>
                                </a:rPr>
                              </m:ctrlPr>
                            </m:sSubPr>
                            <m:e>
                              <m:r>
                                <a:rPr lang="en-CA" b="0" i="1" smtClean="0">
                                  <a:latin typeface="Cambria Math" panose="02040503050406030204" pitchFamily="18" charset="0"/>
                                </a:rPr>
                                <m:t>𝑔</m:t>
                              </m:r>
                            </m:e>
                            <m:sub>
                              <m:r>
                                <a:rPr lang="en-CA" b="0" i="1" smtClean="0">
                                  <a:latin typeface="Cambria Math" panose="02040503050406030204" pitchFamily="18" charset="0"/>
                                </a:rPr>
                                <m:t>0</m:t>
                              </m:r>
                            </m:sub>
                          </m:sSub>
                        </m:den>
                      </m:f>
                      <m:d>
                        <m:dPr>
                          <m:ctrlPr>
                            <a:rPr lang="en-CA" b="0" i="1" smtClean="0">
                              <a:latin typeface="Cambria Math" panose="02040503050406030204" pitchFamily="18" charset="0"/>
                            </a:rPr>
                          </m:ctrlPr>
                        </m:dPr>
                        <m:e>
                          <m:r>
                            <a:rPr lang="en-CA" b="0" i="1" smtClean="0">
                              <a:latin typeface="Cambria Math" panose="02040503050406030204" pitchFamily="18" charset="0"/>
                            </a:rPr>
                            <m:t>𝑛</m:t>
                          </m:r>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𝜇</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e>
                      </m:d>
                    </m:oMath>
                  </m:oMathPara>
                </a14:m>
                <a:endParaRPr lang="en-CA" dirty="0"/>
              </a:p>
            </p:txBody>
          </p:sp>
        </mc:Choice>
        <mc:Fallback xmlns="">
          <p:sp>
            <p:nvSpPr>
              <p:cNvPr id="19" name="TextBox 18">
                <a:extLst>
                  <a:ext uri="{FF2B5EF4-FFF2-40B4-BE49-F238E27FC236}">
                    <a16:creationId xmlns:a16="http://schemas.microsoft.com/office/drawing/2014/main" id="{4F32F610-6927-4EAF-9713-452D3E139D63}"/>
                  </a:ext>
                </a:extLst>
              </p:cNvPr>
              <p:cNvSpPr txBox="1">
                <a:spLocks noRot="1" noChangeAspect="1" noMove="1" noResize="1" noEditPoints="1" noAdjustHandles="1" noChangeArrowheads="1" noChangeShapeType="1" noTextEdit="1"/>
              </p:cNvSpPr>
              <p:nvPr/>
            </p:nvSpPr>
            <p:spPr>
              <a:xfrm>
                <a:off x="965131" y="4404308"/>
                <a:ext cx="3436793" cy="661335"/>
              </a:xfrm>
              <a:prstGeom prst="rect">
                <a:avLst/>
              </a:prstGeom>
              <a:blipFill>
                <a:blip r:embed="rId5"/>
                <a:stretch>
                  <a:fillRect/>
                </a:stretch>
              </a:blipFill>
            </p:spPr>
            <p:txBody>
              <a:bodyPr/>
              <a:lstStyle/>
              <a:p>
                <a:r>
                  <a:rPr lang="en-CA">
                    <a:noFill/>
                  </a:rPr>
                  <a:t> </a:t>
                </a:r>
              </a:p>
            </p:txBody>
          </p:sp>
        </mc:Fallback>
      </mc:AlternateContent>
      <p:sp>
        <p:nvSpPr>
          <p:cNvPr id="20" name="TextBox 19">
            <a:extLst>
              <a:ext uri="{FF2B5EF4-FFF2-40B4-BE49-F238E27FC236}">
                <a16:creationId xmlns:a16="http://schemas.microsoft.com/office/drawing/2014/main" id="{D921955B-E8CD-42B8-8FAF-B6B6F2DBC184}"/>
              </a:ext>
            </a:extLst>
          </p:cNvPr>
          <p:cNvSpPr txBox="1"/>
          <p:nvPr/>
        </p:nvSpPr>
        <p:spPr>
          <a:xfrm>
            <a:off x="321428" y="2113242"/>
            <a:ext cx="4386759" cy="1200329"/>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Spin-statistics accounted for by instead postulating that higher-dimensional ring-polymer threads describe “pairs” of distinguishable quantum particles</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FDA8E42-736D-411D-AB93-FCC822A5B948}"/>
                  </a:ext>
                </a:extLst>
              </p:cNvPr>
              <p:cNvSpPr txBox="1"/>
              <p:nvPr/>
            </p:nvSpPr>
            <p:spPr>
              <a:xfrm>
                <a:off x="358892" y="5215681"/>
                <a:ext cx="4682630" cy="646331"/>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𝑔</m:t>
                        </m:r>
                      </m:e>
                      <m:sub>
                        <m:r>
                          <a:rPr lang="en-CA" b="0" i="1" smtClean="0">
                            <a:latin typeface="Cambria Math" panose="02040503050406030204" pitchFamily="18" charset="0"/>
                          </a:rPr>
                          <m:t>0</m:t>
                        </m:r>
                      </m:sub>
                    </m:sSub>
                  </m:oMath>
                </a14:m>
                <a:r>
                  <a:rPr lang="en-CA" dirty="0">
                    <a:latin typeface="+mj-lt"/>
                  </a:rPr>
                  <a:t> is free parameter due to 3-D-projection approximation</a:t>
                </a:r>
              </a:p>
            </p:txBody>
          </p:sp>
        </mc:Choice>
        <mc:Fallback xmlns="">
          <p:sp>
            <p:nvSpPr>
              <p:cNvPr id="24" name="TextBox 23">
                <a:extLst>
                  <a:ext uri="{FF2B5EF4-FFF2-40B4-BE49-F238E27FC236}">
                    <a16:creationId xmlns:a16="http://schemas.microsoft.com/office/drawing/2014/main" id="{FFDA8E42-736D-411D-AB93-FCC822A5B948}"/>
                  </a:ext>
                </a:extLst>
              </p:cNvPr>
              <p:cNvSpPr txBox="1">
                <a:spLocks noRot="1" noChangeAspect="1" noMove="1" noResize="1" noEditPoints="1" noAdjustHandles="1" noChangeArrowheads="1" noChangeShapeType="1" noTextEdit="1"/>
              </p:cNvSpPr>
              <p:nvPr/>
            </p:nvSpPr>
            <p:spPr>
              <a:xfrm>
                <a:off x="358892" y="5215681"/>
                <a:ext cx="4682630" cy="646331"/>
              </a:xfrm>
              <a:prstGeom prst="rect">
                <a:avLst/>
              </a:prstGeom>
              <a:blipFill>
                <a:blip r:embed="rId6"/>
                <a:stretch>
                  <a:fillRect l="-911" t="-5660" b="-15094"/>
                </a:stretch>
              </a:blipFill>
            </p:spPr>
            <p:txBody>
              <a:bodyPr/>
              <a:lstStyle/>
              <a:p>
                <a:r>
                  <a:rPr lang="en-CA">
                    <a:noFill/>
                  </a:rPr>
                  <a:t> </a:t>
                </a:r>
              </a:p>
            </p:txBody>
          </p:sp>
        </mc:Fallback>
      </mc:AlternateContent>
      <p:sp>
        <p:nvSpPr>
          <p:cNvPr id="11" name="TextBox 10">
            <a:extLst>
              <a:ext uri="{FF2B5EF4-FFF2-40B4-BE49-F238E27FC236}">
                <a16:creationId xmlns:a16="http://schemas.microsoft.com/office/drawing/2014/main" id="{7ED4686D-4794-43B2-BA36-1E8E06B2743F}"/>
              </a:ext>
            </a:extLst>
          </p:cNvPr>
          <p:cNvSpPr txBox="1"/>
          <p:nvPr/>
        </p:nvSpPr>
        <p:spPr>
          <a:xfrm>
            <a:off x="4682967" y="4994902"/>
            <a:ext cx="4081654"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Fermi-</a:t>
            </a:r>
            <a:r>
              <a:rPr lang="en-CA" dirty="0" err="1">
                <a:latin typeface="+mj-lt"/>
              </a:rPr>
              <a:t>Amaldi</a:t>
            </a:r>
            <a:r>
              <a:rPr lang="en-CA" dirty="0">
                <a:latin typeface="+mj-lt"/>
              </a:rPr>
              <a:t>-type self-interaction correction acting on all pairs: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7C153A5-A04E-4733-830B-92FA1C3593A9}"/>
                  </a:ext>
                </a:extLst>
              </p:cNvPr>
              <p:cNvSpPr txBox="1"/>
              <p:nvPr/>
            </p:nvSpPr>
            <p:spPr>
              <a:xfrm>
                <a:off x="5286375" y="5517364"/>
                <a:ext cx="3466214" cy="8465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𝑤</m:t>
                          </m:r>
                        </m:e>
                        <m:sub>
                          <m:r>
                            <a:rPr lang="en-CA" b="0" i="1" smtClean="0">
                              <a:latin typeface="Cambria Math" panose="02040503050406030204" pitchFamily="18" charset="0"/>
                            </a:rPr>
                            <m:t>𝜇</m:t>
                          </m:r>
                        </m:sub>
                        <m:sup>
                          <m:r>
                            <a:rPr lang="en-CA" b="0" i="1" smtClean="0">
                              <a:latin typeface="Cambria Math" panose="02040503050406030204" pitchFamily="18" charset="0"/>
                            </a:rPr>
                            <m:t>𝑠𝑖𝑐</m:t>
                          </m:r>
                        </m:sup>
                      </m:sSubSup>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1</m:t>
                          </m:r>
                        </m:num>
                        <m:den>
                          <m:sSub>
                            <m:sSubPr>
                              <m:ctrlPr>
                                <a:rPr lang="en-CA" b="0" i="1" smtClean="0">
                                  <a:latin typeface="Cambria Math" panose="02040503050406030204" pitchFamily="18" charset="0"/>
                                </a:rPr>
                              </m:ctrlPr>
                            </m:sSubPr>
                            <m:e>
                              <m:r>
                                <a:rPr lang="en-CA" b="0" i="1" smtClean="0">
                                  <a:latin typeface="Cambria Math" panose="02040503050406030204" pitchFamily="18" charset="0"/>
                                </a:rPr>
                                <m:t>𝑁</m:t>
                              </m:r>
                            </m:e>
                            <m:sub>
                              <m:r>
                                <a:rPr lang="en-CA" b="0" i="1" smtClean="0">
                                  <a:latin typeface="Cambria Math" panose="02040503050406030204" pitchFamily="18" charset="0"/>
                                </a:rPr>
                                <m:t>𝜇</m:t>
                              </m:r>
                            </m:sub>
                          </m:sSub>
                        </m:den>
                      </m:f>
                      <m:nary>
                        <m:naryPr>
                          <m:limLoc m:val="undOvr"/>
                          <m:subHide m:val="on"/>
                          <m:supHide m:val="on"/>
                          <m:ctrlPr>
                            <a:rPr lang="en-CA" b="0" i="1" smtClean="0">
                              <a:latin typeface="Cambria Math" panose="02040503050406030204" pitchFamily="18" charset="0"/>
                            </a:rPr>
                          </m:ctrlPr>
                        </m:naryPr>
                        <m:sub/>
                        <m:sup/>
                        <m:e>
                          <m:r>
                            <a:rPr lang="en-CA" b="0" i="1" smtClean="0">
                              <a:latin typeface="Cambria Math" panose="02040503050406030204" pitchFamily="18" charset="0"/>
                            </a:rPr>
                            <m:t>𝑑</m:t>
                          </m:r>
                          <m:sSup>
                            <m:sSupPr>
                              <m:ctrlPr>
                                <a:rPr lang="en-CA" b="0" i="1" smtClean="0">
                                  <a:latin typeface="Cambria Math" panose="02040503050406030204" pitchFamily="18" charset="0"/>
                                </a:rPr>
                              </m:ctrlPr>
                            </m:sSupPr>
                            <m:e>
                              <m:r>
                                <a:rPr lang="en-CA" b="1" i="1" smtClean="0">
                                  <a:latin typeface="Cambria Math" panose="02040503050406030204" pitchFamily="18" charset="0"/>
                                </a:rPr>
                                <m:t>𝒓</m:t>
                              </m:r>
                            </m:e>
                            <m:sup>
                              <m:r>
                                <a:rPr lang="en-CA" b="0" i="1" smtClean="0">
                                  <a:latin typeface="Cambria Math" panose="02040503050406030204" pitchFamily="18" charset="0"/>
                                </a:rPr>
                                <m:t>′</m:t>
                              </m:r>
                            </m:sup>
                          </m:sSup>
                          <m:f>
                            <m:fPr>
                              <m:ctrlPr>
                                <a:rPr lang="en-CA" b="0" i="1" smtClean="0">
                                  <a:latin typeface="Cambria Math" panose="02040503050406030204" pitchFamily="18" charset="0"/>
                                </a:rPr>
                              </m:ctrlPr>
                            </m:fPr>
                            <m:num>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𝜇</m:t>
                                  </m:r>
                                </m:sub>
                              </m:sSub>
                              <m:d>
                                <m:dPr>
                                  <m:ctrlPr>
                                    <a:rPr lang="en-CA" b="0" i="1" smtClean="0">
                                      <a:latin typeface="Cambria Math" panose="02040503050406030204" pitchFamily="18" charset="0"/>
                                    </a:rPr>
                                  </m:ctrlPr>
                                </m:dPr>
                                <m:e>
                                  <m:sSup>
                                    <m:sSupPr>
                                      <m:ctrlPr>
                                        <a:rPr lang="en-CA" b="0" i="1" smtClean="0">
                                          <a:latin typeface="Cambria Math" panose="02040503050406030204" pitchFamily="18" charset="0"/>
                                        </a:rPr>
                                      </m:ctrlPr>
                                    </m:sSupPr>
                                    <m:e>
                                      <m:r>
                                        <a:rPr lang="en-CA" b="1" i="1" smtClean="0">
                                          <a:latin typeface="Cambria Math" panose="02040503050406030204" pitchFamily="18" charset="0"/>
                                        </a:rPr>
                                        <m:t>𝒓</m:t>
                                      </m:r>
                                    </m:e>
                                    <m:sup>
                                      <m:r>
                                        <a:rPr lang="en-CA" b="0" i="1" smtClean="0">
                                          <a:latin typeface="Cambria Math" panose="02040503050406030204" pitchFamily="18" charset="0"/>
                                        </a:rPr>
                                        <m:t>′</m:t>
                                      </m:r>
                                    </m:sup>
                                  </m:sSup>
                                </m:e>
                              </m:d>
                            </m:num>
                            <m:den>
                              <m:r>
                                <a:rPr lang="en-CA" b="0" i="1" smtClean="0">
                                  <a:latin typeface="Cambria Math" panose="02040503050406030204" pitchFamily="18" charset="0"/>
                                </a:rPr>
                                <m:t>|</m:t>
                              </m:r>
                              <m:r>
                                <a:rPr lang="en-CA" b="1" i="1" smtClean="0">
                                  <a:latin typeface="Cambria Math" panose="02040503050406030204" pitchFamily="18" charset="0"/>
                                </a:rPr>
                                <m:t>𝒓</m:t>
                              </m:r>
                              <m:r>
                                <a:rPr lang="en-CA" b="0" i="1" smtClean="0">
                                  <a:latin typeface="Cambria Math" panose="02040503050406030204" pitchFamily="18" charset="0"/>
                                </a:rPr>
                                <m:t>−</m:t>
                              </m:r>
                              <m:sSup>
                                <m:sSupPr>
                                  <m:ctrlPr>
                                    <a:rPr lang="en-CA" b="0" i="1" smtClean="0">
                                      <a:latin typeface="Cambria Math" panose="02040503050406030204" pitchFamily="18" charset="0"/>
                                    </a:rPr>
                                  </m:ctrlPr>
                                </m:sSupPr>
                                <m:e>
                                  <m:r>
                                    <a:rPr lang="en-CA" b="1" i="1" smtClean="0">
                                      <a:latin typeface="Cambria Math" panose="02040503050406030204" pitchFamily="18" charset="0"/>
                                    </a:rPr>
                                    <m:t>𝒓</m:t>
                                  </m:r>
                                </m:e>
                                <m:sup>
                                  <m:r>
                                    <a:rPr lang="en-CA" b="0" i="1" smtClean="0">
                                      <a:latin typeface="Cambria Math" panose="02040503050406030204" pitchFamily="18" charset="0"/>
                                    </a:rPr>
                                    <m:t>′</m:t>
                                  </m:r>
                                </m:sup>
                              </m:sSup>
                              <m:r>
                                <a:rPr lang="en-CA" b="0" i="1" smtClean="0">
                                  <a:latin typeface="Cambria Math" panose="02040503050406030204" pitchFamily="18" charset="0"/>
                                </a:rPr>
                                <m:t> |</m:t>
                              </m:r>
                            </m:den>
                          </m:f>
                        </m:e>
                      </m:nary>
                    </m:oMath>
                  </m:oMathPara>
                </a14:m>
                <a:endParaRPr lang="en-CA" dirty="0"/>
              </a:p>
            </p:txBody>
          </p:sp>
        </mc:Choice>
        <mc:Fallback xmlns="">
          <p:sp>
            <p:nvSpPr>
              <p:cNvPr id="12" name="TextBox 11">
                <a:extLst>
                  <a:ext uri="{FF2B5EF4-FFF2-40B4-BE49-F238E27FC236}">
                    <a16:creationId xmlns:a16="http://schemas.microsoft.com/office/drawing/2014/main" id="{27C153A5-A04E-4733-830B-92FA1C3593A9}"/>
                  </a:ext>
                </a:extLst>
              </p:cNvPr>
              <p:cNvSpPr txBox="1">
                <a:spLocks noRot="1" noChangeAspect="1" noMove="1" noResize="1" noEditPoints="1" noAdjustHandles="1" noChangeArrowheads="1" noChangeShapeType="1" noTextEdit="1"/>
              </p:cNvSpPr>
              <p:nvPr/>
            </p:nvSpPr>
            <p:spPr>
              <a:xfrm>
                <a:off x="5286375" y="5517364"/>
                <a:ext cx="3466214" cy="846578"/>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BD9178-2074-4C2B-AE7C-D79C8DAEE57D}"/>
                  </a:ext>
                </a:extLst>
              </p:cNvPr>
              <p:cNvSpPr txBox="1"/>
              <p:nvPr/>
            </p:nvSpPr>
            <p:spPr>
              <a:xfrm>
                <a:off x="9359172" y="5455106"/>
                <a:ext cx="2365368" cy="4069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CA" i="1" smtClean="0">
                              <a:latin typeface="Cambria Math" panose="02040503050406030204" pitchFamily="18" charset="0"/>
                            </a:rPr>
                          </m:ctrlPr>
                        </m:sSubSupPr>
                        <m:e>
                          <m:r>
                            <a:rPr lang="en-CA" i="1">
                              <a:latin typeface="Cambria Math" panose="02040503050406030204" pitchFamily="18" charset="0"/>
                            </a:rPr>
                            <m:t>𝑤</m:t>
                          </m:r>
                        </m:e>
                        <m:sub>
                          <m:r>
                            <a:rPr lang="en-CA" i="1">
                              <a:latin typeface="Cambria Math" panose="02040503050406030204" pitchFamily="18" charset="0"/>
                            </a:rPr>
                            <m:t>𝜇</m:t>
                          </m:r>
                        </m:sub>
                        <m:sup>
                          <m:r>
                            <a:rPr lang="en-CA" i="1">
                              <a:latin typeface="Cambria Math" panose="02040503050406030204" pitchFamily="18" charset="0"/>
                            </a:rPr>
                            <m:t>𝑠𝑖𝑐</m:t>
                          </m:r>
                        </m:sup>
                      </m:sSubSup>
                      <m:d>
                        <m:dPr>
                          <m:ctrlPr>
                            <a:rPr lang="en-CA" i="1">
                              <a:latin typeface="Cambria Math" panose="02040503050406030204" pitchFamily="18" charset="0"/>
                            </a:rPr>
                          </m:ctrlPr>
                        </m:dPr>
                        <m:e>
                          <m:r>
                            <a:rPr lang="en-CA" b="1" i="1">
                              <a:latin typeface="Cambria Math" panose="02040503050406030204" pitchFamily="18" charset="0"/>
                            </a:rPr>
                            <m:t>𝒓</m:t>
                          </m:r>
                        </m:e>
                      </m:d>
                      <m:r>
                        <a:rPr lang="en-CA" b="0" i="1" smtClean="0">
                          <a:latin typeface="Cambria Math" panose="02040503050406030204" pitchFamily="18" charset="0"/>
                        </a:rPr>
                        <m:t>+</m:t>
                      </m:r>
                      <m:sSubSup>
                        <m:sSubSupPr>
                          <m:ctrlPr>
                            <a:rPr lang="en-CA" i="1">
                              <a:latin typeface="Cambria Math" panose="02040503050406030204" pitchFamily="18" charset="0"/>
                            </a:rPr>
                          </m:ctrlPr>
                        </m:sSubSupPr>
                        <m:e>
                          <m:r>
                            <a:rPr lang="en-CA" i="1">
                              <a:latin typeface="Cambria Math" panose="02040503050406030204" pitchFamily="18" charset="0"/>
                            </a:rPr>
                            <m:t>𝑤</m:t>
                          </m:r>
                        </m:e>
                        <m:sub>
                          <m:r>
                            <a:rPr lang="en-CA" i="1">
                              <a:latin typeface="Cambria Math" panose="02040503050406030204" pitchFamily="18" charset="0"/>
                            </a:rPr>
                            <m:t>𝜇</m:t>
                          </m:r>
                        </m:sub>
                        <m:sup>
                          <m:r>
                            <a:rPr lang="en-CA" i="1">
                              <a:latin typeface="Cambria Math" panose="02040503050406030204" pitchFamily="18" charset="0"/>
                            </a:rPr>
                            <m:t>𝑃</m:t>
                          </m:r>
                        </m:sup>
                      </m:sSubSup>
                      <m:d>
                        <m:dPr>
                          <m:ctrlPr>
                            <a:rPr lang="en-CA" i="1">
                              <a:latin typeface="Cambria Math" panose="02040503050406030204" pitchFamily="18" charset="0"/>
                            </a:rPr>
                          </m:ctrlPr>
                        </m:dPr>
                        <m:e>
                          <m:r>
                            <a:rPr lang="en-CA" b="1" i="1">
                              <a:latin typeface="Cambria Math" panose="02040503050406030204" pitchFamily="18" charset="0"/>
                            </a:rPr>
                            <m:t>𝒓</m:t>
                          </m:r>
                        </m:e>
                      </m:d>
                      <m:r>
                        <a:rPr lang="en-CA" i="1" smtClean="0">
                          <a:latin typeface="Cambria Math" panose="02040503050406030204" pitchFamily="18" charset="0"/>
                          <a:ea typeface="Cambria Math" panose="02040503050406030204" pitchFamily="18" charset="0"/>
                        </a:rPr>
                        <m:t>→</m:t>
                      </m:r>
                    </m:oMath>
                  </m:oMathPara>
                </a14:m>
                <a:endParaRPr lang="en-CA" dirty="0">
                  <a:latin typeface="+mj-lt"/>
                </a:endParaRPr>
              </a:p>
            </p:txBody>
          </p:sp>
        </mc:Choice>
        <mc:Fallback xmlns="">
          <p:sp>
            <p:nvSpPr>
              <p:cNvPr id="13" name="TextBox 12">
                <a:extLst>
                  <a:ext uri="{FF2B5EF4-FFF2-40B4-BE49-F238E27FC236}">
                    <a16:creationId xmlns:a16="http://schemas.microsoft.com/office/drawing/2014/main" id="{5DBD9178-2074-4C2B-AE7C-D79C8DAEE57D}"/>
                  </a:ext>
                </a:extLst>
              </p:cNvPr>
              <p:cNvSpPr txBox="1">
                <a:spLocks noRot="1" noChangeAspect="1" noMove="1" noResize="1" noEditPoints="1" noAdjustHandles="1" noChangeArrowheads="1" noChangeShapeType="1" noTextEdit="1"/>
              </p:cNvSpPr>
              <p:nvPr/>
            </p:nvSpPr>
            <p:spPr>
              <a:xfrm>
                <a:off x="9359172" y="5455106"/>
                <a:ext cx="2365368" cy="406906"/>
              </a:xfrm>
              <a:prstGeom prst="rect">
                <a:avLst/>
              </a:prstGeom>
              <a:blipFill>
                <a:blip r:embed="rId8"/>
                <a:stretch>
                  <a:fillRect b="-1493"/>
                </a:stretch>
              </a:blipFill>
            </p:spPr>
            <p:txBody>
              <a:bodyPr/>
              <a:lstStyle/>
              <a:p>
                <a:r>
                  <a:rPr lang="en-CA">
                    <a:noFill/>
                  </a:rPr>
                  <a:t> </a:t>
                </a:r>
              </a:p>
            </p:txBody>
          </p:sp>
        </mc:Fallback>
      </mc:AlternateContent>
      <p:sp>
        <p:nvSpPr>
          <p:cNvPr id="14" name="TextBox 13">
            <a:extLst>
              <a:ext uri="{FF2B5EF4-FFF2-40B4-BE49-F238E27FC236}">
                <a16:creationId xmlns:a16="http://schemas.microsoft.com/office/drawing/2014/main" id="{68A81ED1-C79C-4673-86C1-0A13952EA7E4}"/>
              </a:ext>
            </a:extLst>
          </p:cNvPr>
          <p:cNvSpPr txBox="1"/>
          <p:nvPr/>
        </p:nvSpPr>
        <p:spPr>
          <a:xfrm>
            <a:off x="325535" y="1364957"/>
            <a:ext cx="4715987"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Fields include standard electron-electron and electron-nucleus interactions in atomic systems</a:t>
            </a:r>
          </a:p>
        </p:txBody>
      </p:sp>
      <p:grpSp>
        <p:nvGrpSpPr>
          <p:cNvPr id="7" name="Group 6">
            <a:extLst>
              <a:ext uri="{FF2B5EF4-FFF2-40B4-BE49-F238E27FC236}">
                <a16:creationId xmlns:a16="http://schemas.microsoft.com/office/drawing/2014/main" id="{ADEA128F-A4F4-49F3-9DB7-F749285361EE}"/>
              </a:ext>
            </a:extLst>
          </p:cNvPr>
          <p:cNvGrpSpPr/>
          <p:nvPr/>
        </p:nvGrpSpPr>
        <p:grpSpPr>
          <a:xfrm>
            <a:off x="4616531" y="1363445"/>
            <a:ext cx="7442303" cy="3679302"/>
            <a:chOff x="4913416" y="1363445"/>
            <a:chExt cx="7145418" cy="3407385"/>
          </a:xfrm>
        </p:grpSpPr>
        <p:pic>
          <p:nvPicPr>
            <p:cNvPr id="22" name="Picture 21">
              <a:extLst>
                <a:ext uri="{FF2B5EF4-FFF2-40B4-BE49-F238E27FC236}">
                  <a16:creationId xmlns:a16="http://schemas.microsoft.com/office/drawing/2014/main" id="{51D8710B-B65A-458C-B64E-B00DFF6376C6}"/>
                </a:ext>
              </a:extLst>
            </p:cNvPr>
            <p:cNvPicPr>
              <a:picLocks noChangeAspect="1"/>
            </p:cNvPicPr>
            <p:nvPr/>
          </p:nvPicPr>
          <p:blipFill rotWithShape="1">
            <a:blip r:embed="rId9"/>
            <a:srcRect l="68709" b="7008"/>
            <a:stretch/>
          </p:blipFill>
          <p:spPr>
            <a:xfrm>
              <a:off x="9657745" y="1363445"/>
              <a:ext cx="2401089" cy="3407385"/>
            </a:xfrm>
            <a:prstGeom prst="rect">
              <a:avLst/>
            </a:prstGeom>
          </p:spPr>
        </p:pic>
        <p:pic>
          <p:nvPicPr>
            <p:cNvPr id="17" name="Picture 16">
              <a:extLst>
                <a:ext uri="{FF2B5EF4-FFF2-40B4-BE49-F238E27FC236}">
                  <a16:creationId xmlns:a16="http://schemas.microsoft.com/office/drawing/2014/main" id="{6D28DD32-47AD-4D09-8BB7-093CB038DE3D}"/>
                </a:ext>
              </a:extLst>
            </p:cNvPr>
            <p:cNvPicPr>
              <a:picLocks noChangeAspect="1"/>
            </p:cNvPicPr>
            <p:nvPr/>
          </p:nvPicPr>
          <p:blipFill rotWithShape="1">
            <a:blip r:embed="rId9"/>
            <a:srcRect t="7598" r="67391" b="7535"/>
            <a:stretch/>
          </p:blipFill>
          <p:spPr>
            <a:xfrm>
              <a:off x="4913416" y="1618419"/>
              <a:ext cx="2502225" cy="3109697"/>
            </a:xfrm>
            <a:prstGeom prst="rect">
              <a:avLst/>
            </a:prstGeom>
          </p:spPr>
        </p:pic>
        <p:pic>
          <p:nvPicPr>
            <p:cNvPr id="18" name="Picture 17">
              <a:extLst>
                <a:ext uri="{FF2B5EF4-FFF2-40B4-BE49-F238E27FC236}">
                  <a16:creationId xmlns:a16="http://schemas.microsoft.com/office/drawing/2014/main" id="{6E19EEC1-1239-4A7A-8BD2-55632B015A1B}"/>
                </a:ext>
              </a:extLst>
            </p:cNvPr>
            <p:cNvPicPr>
              <a:picLocks noChangeAspect="1"/>
            </p:cNvPicPr>
            <p:nvPr/>
          </p:nvPicPr>
          <p:blipFill rotWithShape="1">
            <a:blip r:embed="rId9"/>
            <a:srcRect l="34638" t="7043" r="34071" b="6924"/>
            <a:stretch/>
          </p:blipFill>
          <p:spPr>
            <a:xfrm>
              <a:off x="7411733" y="1618419"/>
              <a:ext cx="2401088" cy="3152411"/>
            </a:xfrm>
            <a:prstGeom prst="rect">
              <a:avLst/>
            </a:prstGeom>
          </p:spPr>
        </p:pic>
      </p:grpSp>
      <p:sp>
        <p:nvSpPr>
          <p:cNvPr id="21" name="TextBox 20">
            <a:extLst>
              <a:ext uri="{FF2B5EF4-FFF2-40B4-BE49-F238E27FC236}">
                <a16:creationId xmlns:a16="http://schemas.microsoft.com/office/drawing/2014/main" id="{6AAFF5A0-8D3D-4A63-BEDA-FAA4DF2075B4}"/>
              </a:ext>
            </a:extLst>
          </p:cNvPr>
          <p:cNvSpPr txBox="1"/>
          <p:nvPr/>
        </p:nvSpPr>
        <p:spPr>
          <a:xfrm>
            <a:off x="9103878" y="5884302"/>
            <a:ext cx="2875956" cy="369332"/>
          </a:xfrm>
          <a:prstGeom prst="rect">
            <a:avLst/>
          </a:prstGeom>
          <a:noFill/>
        </p:spPr>
        <p:txBody>
          <a:bodyPr wrap="square">
            <a:spAutoFit/>
          </a:bodyPr>
          <a:lstStyle/>
          <a:p>
            <a:r>
              <a:rPr lang="en-CA" dirty="0">
                <a:latin typeface="+mj-lt"/>
              </a:rPr>
              <a:t>Equivalent to Hartree-</a:t>
            </a:r>
            <a:r>
              <a:rPr lang="en-CA" dirty="0" err="1">
                <a:latin typeface="+mj-lt"/>
              </a:rPr>
              <a:t>Fock</a:t>
            </a:r>
            <a:r>
              <a:rPr lang="en-CA" dirty="0">
                <a:latin typeface="+mj-lt"/>
              </a:rPr>
              <a:t> theory</a:t>
            </a:r>
            <a:endParaRPr lang="en-CA" dirty="0"/>
          </a:p>
        </p:txBody>
      </p:sp>
      <p:sp>
        <p:nvSpPr>
          <p:cNvPr id="23" name="TextBox 22">
            <a:extLst>
              <a:ext uri="{FF2B5EF4-FFF2-40B4-BE49-F238E27FC236}">
                <a16:creationId xmlns:a16="http://schemas.microsoft.com/office/drawing/2014/main" id="{C235DAEB-F8A7-41CF-BB92-DFFB71B5A304}"/>
              </a:ext>
            </a:extLst>
          </p:cNvPr>
          <p:cNvSpPr txBox="1"/>
          <p:nvPr/>
        </p:nvSpPr>
        <p:spPr>
          <a:xfrm>
            <a:off x="9522531" y="4994902"/>
            <a:ext cx="3076372" cy="307777"/>
          </a:xfrm>
          <a:prstGeom prst="rect">
            <a:avLst/>
          </a:prstGeom>
          <a:noFill/>
        </p:spPr>
        <p:txBody>
          <a:bodyPr wrap="square">
            <a:spAutoFit/>
          </a:bodyPr>
          <a:lstStyle/>
          <a:p>
            <a:r>
              <a:rPr lang="de-DE" sz="1400" i="1" dirty="0">
                <a:solidFill>
                  <a:srgbClr val="000000"/>
                </a:solidFill>
                <a:latin typeface="-apple-system"/>
              </a:rPr>
              <a:t>Phys</a:t>
            </a:r>
            <a:r>
              <a:rPr lang="de-DE" sz="1400" b="0" i="1" dirty="0">
                <a:solidFill>
                  <a:srgbClr val="000000"/>
                </a:solidFill>
                <a:effectLst/>
                <a:latin typeface="-apple-system"/>
              </a:rPr>
              <a:t>. Rev. </a:t>
            </a:r>
            <a:r>
              <a:rPr lang="de-DE" sz="1400" i="1" dirty="0">
                <a:solidFill>
                  <a:srgbClr val="000000"/>
                </a:solidFill>
                <a:latin typeface="-apple-system"/>
              </a:rPr>
              <a:t>A</a:t>
            </a:r>
            <a:r>
              <a:rPr lang="de-DE" sz="1400" b="0" i="1" dirty="0">
                <a:solidFill>
                  <a:srgbClr val="000000"/>
                </a:solidFill>
                <a:effectLst/>
                <a:latin typeface="-apple-system"/>
              </a:rPr>
              <a:t> </a:t>
            </a:r>
            <a:r>
              <a:rPr lang="de-DE" sz="1400" b="1" dirty="0">
                <a:solidFill>
                  <a:srgbClr val="000000"/>
                </a:solidFill>
                <a:latin typeface="-apple-system"/>
              </a:rPr>
              <a:t>102</a:t>
            </a:r>
            <a:r>
              <a:rPr lang="de-DE" sz="1400" b="0" i="0" dirty="0">
                <a:solidFill>
                  <a:srgbClr val="000000"/>
                </a:solidFill>
                <a:effectLst/>
                <a:latin typeface="-apple-system"/>
              </a:rPr>
              <a:t>, 012813 (</a:t>
            </a:r>
            <a:r>
              <a:rPr lang="de-DE" sz="1400" dirty="0">
                <a:solidFill>
                  <a:srgbClr val="000000"/>
                </a:solidFill>
                <a:latin typeface="-apple-system"/>
              </a:rPr>
              <a:t>2020</a:t>
            </a:r>
            <a:r>
              <a:rPr lang="de-DE" sz="1400" b="0" i="0" dirty="0">
                <a:solidFill>
                  <a:srgbClr val="000000"/>
                </a:solidFill>
                <a:effectLst/>
                <a:latin typeface="-apple-system"/>
              </a:rPr>
              <a:t>).</a:t>
            </a:r>
            <a:endParaRPr lang="en-CA" sz="1400" dirty="0">
              <a:latin typeface="-apple-system"/>
            </a:endParaRPr>
          </a:p>
        </p:txBody>
      </p:sp>
    </p:spTree>
    <p:extLst>
      <p:ext uri="{BB962C8B-B14F-4D97-AF65-F5344CB8AC3E}">
        <p14:creationId xmlns:p14="http://schemas.microsoft.com/office/powerpoint/2010/main" val="1341795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9" grpId="0"/>
      <p:bldP spid="20" grpId="0"/>
      <p:bldP spid="24" grpId="0"/>
      <p:bldP spid="11" grpId="0"/>
      <p:bldP spid="12" grpId="0"/>
      <p:bldP spid="13" grpId="0"/>
      <p:bldP spid="14" grpId="0"/>
      <p:bldP spid="21"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Benefits of Using this Model</a:t>
            </a:r>
          </a:p>
        </p:txBody>
      </p:sp>
      <p:sp>
        <p:nvSpPr>
          <p:cNvPr id="7" name="Slide Number Placeholder 6">
            <a:extLst>
              <a:ext uri="{FF2B5EF4-FFF2-40B4-BE49-F238E27FC236}">
                <a16:creationId xmlns:a16="http://schemas.microsoft.com/office/drawing/2014/main" id="{DC9210D1-CFBA-4864-BFC1-66C67479F4DD}"/>
              </a:ext>
            </a:extLst>
          </p:cNvPr>
          <p:cNvSpPr>
            <a:spLocks noGrp="1"/>
          </p:cNvSpPr>
          <p:nvPr>
            <p:ph type="sldNum" sz="quarter" idx="12"/>
          </p:nvPr>
        </p:nvSpPr>
        <p:spPr/>
        <p:txBody>
          <a:bodyPr/>
          <a:lstStyle/>
          <a:p>
            <a:r>
              <a:rPr lang="en-US"/>
              <a:t>PAGE  </a:t>
            </a:r>
            <a:fld id="{93005692-73BE-493E-93AB-ECD6027A7652}" type="slidenum">
              <a:rPr lang="en-US" smtClean="0"/>
              <a:pPr/>
              <a:t>5</a:t>
            </a:fld>
            <a:endParaRPr lang="en-US" dirty="0"/>
          </a:p>
        </p:txBody>
      </p:sp>
      <p:pic>
        <p:nvPicPr>
          <p:cNvPr id="8" name="Picture 7">
            <a:extLst>
              <a:ext uri="{FF2B5EF4-FFF2-40B4-BE49-F238E27FC236}">
                <a16:creationId xmlns:a16="http://schemas.microsoft.com/office/drawing/2014/main" id="{8F79FA6C-1C83-4715-B2F0-B8A010636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C35099F-EB9F-4503-9643-F30D4D215E1F}"/>
                  </a:ext>
                </a:extLst>
              </p:cNvPr>
              <p:cNvSpPr txBox="1"/>
              <p:nvPr/>
            </p:nvSpPr>
            <p:spPr>
              <a:xfrm>
                <a:off x="157162" y="2997161"/>
                <a:ext cx="11784307" cy="2585323"/>
              </a:xfrm>
              <a:prstGeom prst="rect">
                <a:avLst/>
              </a:prstGeom>
              <a:noFill/>
            </p:spPr>
            <p:txBody>
              <a:bodyPr wrap="square" rtlCol="0">
                <a:spAutoFit/>
              </a:bodyPr>
              <a:lstStyle/>
              <a:p>
                <a:pPr lvl="0"/>
                <a:r>
                  <a:rPr lang="en-CA" sz="2400" dirty="0">
                    <a:solidFill>
                      <a:srgbClr val="000000"/>
                    </a:solidFill>
                    <a:latin typeface="Barlow Condensed"/>
                  </a:rPr>
                  <a:t>Advantages</a:t>
                </a:r>
                <a:r>
                  <a:rPr lang="en-CA" dirty="0">
                    <a:solidFill>
                      <a:srgbClr val="000000"/>
                    </a:solidFill>
                    <a:latin typeface="Barlow Condensed"/>
                  </a:rPr>
                  <a:t>:</a:t>
                </a:r>
              </a:p>
              <a:p>
                <a:pPr marL="742950" lvl="1" indent="-285750">
                  <a:buFont typeface="Arial" panose="020B0604020202020204" pitchFamily="34" charset="0"/>
                  <a:buChar char="•"/>
                </a:pPr>
                <a:r>
                  <a:rPr lang="en-CA" dirty="0">
                    <a:solidFill>
                      <a:srgbClr val="000000"/>
                    </a:solidFill>
                    <a:latin typeface="Barlow Condensed"/>
                  </a:rPr>
                  <a:t>Potential to significantly reduce computational cost of simulating quantum-mechanical systems</a:t>
                </a:r>
              </a:p>
              <a:p>
                <a:pPr marL="742950" lvl="1" indent="-285750">
                  <a:buFont typeface="Arial" panose="020B0604020202020204" pitchFamily="34" charset="0"/>
                  <a:buChar char="•"/>
                </a:pPr>
                <a:endParaRPr lang="en-CA" sz="1000" dirty="0">
                  <a:solidFill>
                    <a:srgbClr val="000000"/>
                  </a:solidFill>
                  <a:latin typeface="Barlow Condensed"/>
                </a:endParaRPr>
              </a:p>
              <a:p>
                <a:pPr marL="1257300" lvl="2" indent="-342900">
                  <a:buFont typeface="+mj-lt"/>
                  <a:buAutoNum type="arabicParenR"/>
                </a:pPr>
                <a:r>
                  <a:rPr lang="en-CA" dirty="0">
                    <a:solidFill>
                      <a:srgbClr val="000000"/>
                    </a:solidFill>
                    <a:latin typeface="Barlow Condensed"/>
                  </a:rPr>
                  <a:t>OF-DFT can achieve quasi-linear scaling for large systems while KS-DFT scales with the cube of the system size</a:t>
                </a:r>
                <a:endParaRPr lang="en-CA" sz="1000" dirty="0">
                  <a:solidFill>
                    <a:srgbClr val="000000"/>
                  </a:solidFill>
                  <a:latin typeface="Barlow Condensed"/>
                </a:endParaRPr>
              </a:p>
              <a:p>
                <a:pPr marL="1257300" lvl="2" indent="-342900">
                  <a:buFont typeface="+mj-lt"/>
                  <a:buAutoNum type="arabicParenR"/>
                </a:pPr>
                <a:endParaRPr lang="en-CA" sz="1000" dirty="0">
                  <a:solidFill>
                    <a:srgbClr val="000000"/>
                  </a:solidFill>
                  <a:latin typeface="Barlow Condensed"/>
                </a:endParaRPr>
              </a:p>
              <a:p>
                <a:pPr marL="1257300" lvl="2" indent="-342900">
                  <a:buFont typeface="+mj-lt"/>
                  <a:buAutoNum type="arabicParenR"/>
                </a:pPr>
                <a:r>
                  <a:rPr lang="en-CA" dirty="0">
                    <a:solidFill>
                      <a:srgbClr val="000000"/>
                    </a:solidFill>
                    <a:latin typeface="Barlow Condensed"/>
                  </a:rPr>
                  <a:t>Diffusion equation can be spectrally decomposed and converted to a matrix eigenvalue problem, avoiding solving a diffusion equation for each particle position </a:t>
                </a:r>
                <a14:m>
                  <m:oMath xmlns:m="http://schemas.openxmlformats.org/officeDocument/2006/math">
                    <m:sSub>
                      <m:sSubPr>
                        <m:ctrlPr>
                          <a:rPr lang="en-CA" b="0" i="1" smtClean="0">
                            <a:solidFill>
                              <a:srgbClr val="000000"/>
                            </a:solidFill>
                            <a:latin typeface="Cambria Math" panose="02040503050406030204" pitchFamily="18" charset="0"/>
                          </a:rPr>
                        </m:ctrlPr>
                      </m:sSubPr>
                      <m:e>
                        <m:r>
                          <a:rPr lang="en-CA" b="1" i="1" smtClean="0">
                            <a:solidFill>
                              <a:srgbClr val="000000"/>
                            </a:solidFill>
                            <a:latin typeface="Cambria Math" panose="02040503050406030204" pitchFamily="18" charset="0"/>
                          </a:rPr>
                          <m:t>𝒓</m:t>
                        </m:r>
                      </m:e>
                      <m:sub>
                        <m:r>
                          <a:rPr lang="en-CA" b="0" i="1" smtClean="0">
                            <a:solidFill>
                              <a:srgbClr val="000000"/>
                            </a:solidFill>
                            <a:latin typeface="Cambria Math" panose="02040503050406030204" pitchFamily="18" charset="0"/>
                          </a:rPr>
                          <m:t>0</m:t>
                        </m:r>
                      </m:sub>
                    </m:sSub>
                  </m:oMath>
                </a14:m>
                <a:endParaRPr lang="en-CA" sz="1000" b="1" dirty="0">
                  <a:solidFill>
                    <a:srgbClr val="000000"/>
                  </a:solidFill>
                  <a:latin typeface="Barlow Condensed"/>
                </a:endParaRPr>
              </a:p>
              <a:p>
                <a:pPr marL="1257300" lvl="2" indent="-342900">
                  <a:buFont typeface="+mj-lt"/>
                  <a:buAutoNum type="arabicParenR"/>
                </a:pPr>
                <a:endParaRPr lang="en-CA" sz="1000" b="1" dirty="0">
                  <a:solidFill>
                    <a:srgbClr val="000000"/>
                  </a:solidFill>
                  <a:latin typeface="Barlow Condensed"/>
                </a:endParaRPr>
              </a:p>
              <a:p>
                <a:pPr marL="742950" lvl="1" indent="-285750">
                  <a:buFont typeface="Arial" panose="020B0604020202020204" pitchFamily="34" charset="0"/>
                  <a:buChar char="•"/>
                </a:pPr>
                <a:r>
                  <a:rPr lang="en-CA" dirty="0">
                    <a:solidFill>
                      <a:srgbClr val="000000"/>
                    </a:solidFill>
                    <a:latin typeface="Barlow Condensed"/>
                  </a:rPr>
                  <a:t>Temperature dependence is built in automatically</a:t>
                </a:r>
              </a:p>
              <a:p>
                <a:pPr marL="742950" lvl="1" indent="-285750">
                  <a:buFont typeface="Arial" panose="020B0604020202020204" pitchFamily="34" charset="0"/>
                  <a:buChar char="•"/>
                </a:pPr>
                <a:r>
                  <a:rPr lang="en-CA" dirty="0">
                    <a:solidFill>
                      <a:srgbClr val="000000"/>
                    </a:solidFill>
                    <a:latin typeface="Barlow Condensed"/>
                  </a:rPr>
                  <a:t>Can use the more intuitive idea of polymer threads to understand quantum-mechanical calculations</a:t>
                </a:r>
              </a:p>
            </p:txBody>
          </p:sp>
        </mc:Choice>
        <mc:Fallback xmlns="">
          <p:sp>
            <p:nvSpPr>
              <p:cNvPr id="18" name="TextBox 17">
                <a:extLst>
                  <a:ext uri="{FF2B5EF4-FFF2-40B4-BE49-F238E27FC236}">
                    <a16:creationId xmlns:a16="http://schemas.microsoft.com/office/drawing/2014/main" id="{9C35099F-EB9F-4503-9643-F30D4D215E1F}"/>
                  </a:ext>
                </a:extLst>
              </p:cNvPr>
              <p:cNvSpPr txBox="1">
                <a:spLocks noRot="1" noChangeAspect="1" noMove="1" noResize="1" noEditPoints="1" noAdjustHandles="1" noChangeArrowheads="1" noChangeShapeType="1" noTextEdit="1"/>
              </p:cNvSpPr>
              <p:nvPr/>
            </p:nvSpPr>
            <p:spPr>
              <a:xfrm>
                <a:off x="157162" y="2997161"/>
                <a:ext cx="11784307" cy="2585323"/>
              </a:xfrm>
              <a:prstGeom prst="rect">
                <a:avLst/>
              </a:prstGeom>
              <a:blipFill>
                <a:blip r:embed="rId4"/>
                <a:stretch>
                  <a:fillRect l="-828" t="-1887" b="-3066"/>
                </a:stretch>
              </a:blipFill>
            </p:spPr>
            <p:txBody>
              <a:bodyPr/>
              <a:lstStyle/>
              <a:p>
                <a:r>
                  <a:rPr lang="en-CA">
                    <a:noFill/>
                  </a:rPr>
                  <a:t> </a:t>
                </a:r>
              </a:p>
            </p:txBody>
          </p:sp>
        </mc:Fallback>
      </mc:AlternateContent>
      <p:sp>
        <p:nvSpPr>
          <p:cNvPr id="9" name="TextBox 8">
            <a:extLst>
              <a:ext uri="{FF2B5EF4-FFF2-40B4-BE49-F238E27FC236}">
                <a16:creationId xmlns:a16="http://schemas.microsoft.com/office/drawing/2014/main" id="{255BDE57-CE02-4921-888A-CB64BE87EC5B}"/>
              </a:ext>
            </a:extLst>
          </p:cNvPr>
          <p:cNvSpPr txBox="1"/>
          <p:nvPr/>
        </p:nvSpPr>
        <p:spPr>
          <a:xfrm>
            <a:off x="9287740" y="6335309"/>
            <a:ext cx="2700412" cy="307777"/>
          </a:xfrm>
          <a:prstGeom prst="rect">
            <a:avLst/>
          </a:prstGeom>
          <a:noFill/>
        </p:spPr>
        <p:txBody>
          <a:bodyPr wrap="square">
            <a:spAutoFit/>
          </a:bodyPr>
          <a:lstStyle/>
          <a:p>
            <a:r>
              <a:rPr lang="de-DE" sz="1400" i="1" dirty="0">
                <a:solidFill>
                  <a:srgbClr val="000000"/>
                </a:solidFill>
                <a:latin typeface="-apple-system"/>
              </a:rPr>
              <a:t>J Chem. Phys</a:t>
            </a:r>
            <a:r>
              <a:rPr lang="de-DE" sz="1400" b="0" i="1" dirty="0">
                <a:solidFill>
                  <a:srgbClr val="000000"/>
                </a:solidFill>
                <a:effectLst/>
                <a:latin typeface="-apple-system"/>
              </a:rPr>
              <a:t>. </a:t>
            </a:r>
            <a:r>
              <a:rPr lang="de-DE" sz="1400" b="1" dirty="0">
                <a:solidFill>
                  <a:srgbClr val="000000"/>
                </a:solidFill>
                <a:latin typeface="-apple-system"/>
              </a:rPr>
              <a:t>150</a:t>
            </a:r>
            <a:r>
              <a:rPr lang="de-DE" sz="1400" b="0" i="0" dirty="0">
                <a:solidFill>
                  <a:srgbClr val="000000"/>
                </a:solidFill>
                <a:effectLst/>
                <a:latin typeface="-apple-system"/>
              </a:rPr>
              <a:t>, 204109 (</a:t>
            </a:r>
            <a:r>
              <a:rPr lang="de-DE" sz="1400" dirty="0">
                <a:solidFill>
                  <a:srgbClr val="000000"/>
                </a:solidFill>
                <a:latin typeface="-apple-system"/>
              </a:rPr>
              <a:t>2019</a:t>
            </a:r>
            <a:r>
              <a:rPr lang="de-DE" sz="1400" b="0" i="0" dirty="0">
                <a:solidFill>
                  <a:srgbClr val="000000"/>
                </a:solidFill>
                <a:effectLst/>
                <a:latin typeface="-apple-system"/>
              </a:rPr>
              <a:t>).</a:t>
            </a:r>
            <a:endParaRPr lang="en-CA" sz="1400" dirty="0"/>
          </a:p>
        </p:txBody>
      </p:sp>
      <p:sp>
        <p:nvSpPr>
          <p:cNvPr id="4" name="TextBox 3">
            <a:extLst>
              <a:ext uri="{FF2B5EF4-FFF2-40B4-BE49-F238E27FC236}">
                <a16:creationId xmlns:a16="http://schemas.microsoft.com/office/drawing/2014/main" id="{7823C07B-358D-4B60-ADBE-EAA624AA88D5}"/>
              </a:ext>
            </a:extLst>
          </p:cNvPr>
          <p:cNvSpPr txBox="1"/>
          <p:nvPr/>
        </p:nvSpPr>
        <p:spPr>
          <a:xfrm>
            <a:off x="157162" y="1468521"/>
            <a:ext cx="3449934" cy="461665"/>
          </a:xfrm>
          <a:prstGeom prst="rect">
            <a:avLst/>
          </a:prstGeom>
          <a:noFill/>
        </p:spPr>
        <p:txBody>
          <a:bodyPr wrap="square" rtlCol="0">
            <a:spAutoFit/>
          </a:bodyPr>
          <a:lstStyle/>
          <a:p>
            <a:r>
              <a:rPr lang="en-CA" sz="2400" dirty="0">
                <a:latin typeface="+mj-lt"/>
              </a:rPr>
              <a:t>Thompson proved the model…</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151712B-FF07-4D98-978A-78076B3E5166}"/>
                  </a:ext>
                </a:extLst>
              </p:cNvPr>
              <p:cNvSpPr txBox="1"/>
              <p:nvPr/>
            </p:nvSpPr>
            <p:spPr>
              <a:xfrm>
                <a:off x="609028" y="1881660"/>
                <a:ext cx="9215908" cy="923330"/>
              </a:xfrm>
              <a:prstGeom prst="rect">
                <a:avLst/>
              </a:prstGeom>
              <a:noFill/>
            </p:spPr>
            <p:txBody>
              <a:bodyPr wrap="square">
                <a:spAutoFit/>
              </a:bodyPr>
              <a:lstStyle/>
              <a:p>
                <a:pPr marL="285750" lvl="0" indent="-285750">
                  <a:buFont typeface="Arial" panose="020B0604020202020204" pitchFamily="34" charset="0"/>
                  <a:buChar char="•"/>
                </a:pPr>
                <a:r>
                  <a:rPr lang="en-CA" dirty="0">
                    <a:solidFill>
                      <a:srgbClr val="000000"/>
                    </a:solidFill>
                    <a:latin typeface="Barlow Condensed"/>
                  </a:rPr>
                  <a:t>Is equivalent to Kohn-Sham density-functional theory (KS-DFT)</a:t>
                </a:r>
              </a:p>
              <a:p>
                <a:pPr marL="285750" lvl="0" indent="-285750">
                  <a:buFont typeface="Arial" panose="020B0604020202020204" pitchFamily="34" charset="0"/>
                  <a:buChar char="•"/>
                </a:pPr>
                <a:r>
                  <a:rPr lang="en-CA" dirty="0">
                    <a:solidFill>
                      <a:srgbClr val="000000"/>
                    </a:solidFill>
                    <a:latin typeface="Barlow Condensed"/>
                  </a:rPr>
                  <a:t>Reduces to classical DFT in </a:t>
                </a:r>
                <a14:m>
                  <m:oMath xmlns:m="http://schemas.openxmlformats.org/officeDocument/2006/math">
                    <m:r>
                      <a:rPr lang="en-CA" i="1">
                        <a:solidFill>
                          <a:srgbClr val="000000"/>
                        </a:solidFill>
                        <a:latin typeface="Cambria Math" panose="02040503050406030204" pitchFamily="18" charset="0"/>
                      </a:rPr>
                      <m:t>ℏ</m:t>
                    </m:r>
                    <m:r>
                      <a:rPr lang="en-CA" i="1">
                        <a:solidFill>
                          <a:srgbClr val="000000"/>
                        </a:solidFill>
                        <a:latin typeface="Cambria Math" panose="02040503050406030204" pitchFamily="18" charset="0"/>
                        <a:ea typeface="Cambria Math" panose="02040503050406030204" pitchFamily="18" charset="0"/>
                      </a:rPr>
                      <m:t>→0</m:t>
                    </m:r>
                  </m:oMath>
                </a14:m>
                <a:r>
                  <a:rPr lang="en-CA" dirty="0">
                    <a:solidFill>
                      <a:srgbClr val="000000"/>
                    </a:solidFill>
                    <a:latin typeface="Barlow Condensed"/>
                  </a:rPr>
                  <a:t> limit</a:t>
                </a:r>
              </a:p>
              <a:p>
                <a:pPr marL="285750" lvl="0" indent="-285750">
                  <a:buFont typeface="Arial" panose="020B0604020202020204" pitchFamily="34" charset="0"/>
                  <a:buChar char="•"/>
                </a:pPr>
                <a:r>
                  <a:rPr lang="en-CA" dirty="0">
                    <a:solidFill>
                      <a:srgbClr val="000000"/>
                    </a:solidFill>
                    <a:latin typeface="Barlow Condensed"/>
                  </a:rPr>
                  <a:t>Is derivable from a first-principles partition function, independently from theorems of DFT</a:t>
                </a:r>
              </a:p>
            </p:txBody>
          </p:sp>
        </mc:Choice>
        <mc:Fallback xmlns="">
          <p:sp>
            <p:nvSpPr>
              <p:cNvPr id="12" name="TextBox 11">
                <a:extLst>
                  <a:ext uri="{FF2B5EF4-FFF2-40B4-BE49-F238E27FC236}">
                    <a16:creationId xmlns:a16="http://schemas.microsoft.com/office/drawing/2014/main" id="{3151712B-FF07-4D98-978A-78076B3E5166}"/>
                  </a:ext>
                </a:extLst>
              </p:cNvPr>
              <p:cNvSpPr txBox="1">
                <a:spLocks noRot="1" noChangeAspect="1" noMove="1" noResize="1" noEditPoints="1" noAdjustHandles="1" noChangeArrowheads="1" noChangeShapeType="1" noTextEdit="1"/>
              </p:cNvSpPr>
              <p:nvPr/>
            </p:nvSpPr>
            <p:spPr>
              <a:xfrm>
                <a:off x="609028" y="1881660"/>
                <a:ext cx="9215908" cy="923330"/>
              </a:xfrm>
              <a:prstGeom prst="rect">
                <a:avLst/>
              </a:prstGeom>
              <a:blipFill>
                <a:blip r:embed="rId5"/>
                <a:stretch>
                  <a:fillRect l="-463" t="-3311" b="-10596"/>
                </a:stretch>
              </a:blipFill>
            </p:spPr>
            <p:txBody>
              <a:bodyPr/>
              <a:lstStyle/>
              <a:p>
                <a:r>
                  <a:rPr lang="en-CA">
                    <a:noFill/>
                  </a:rPr>
                  <a:t> </a:t>
                </a:r>
              </a:p>
            </p:txBody>
          </p:sp>
        </mc:Fallback>
      </mc:AlternateContent>
    </p:spTree>
    <p:extLst>
      <p:ext uri="{BB962C8B-B14F-4D97-AF65-F5344CB8AC3E}">
        <p14:creationId xmlns:p14="http://schemas.microsoft.com/office/powerpoint/2010/main" val="38768960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Hydrogen and Helium Radial Electron Densities</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6</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pic>
        <p:nvPicPr>
          <p:cNvPr id="6" name="Picture 5" descr="Chart&#10;&#10;Description automatically generated">
            <a:extLst>
              <a:ext uri="{FF2B5EF4-FFF2-40B4-BE49-F238E27FC236}">
                <a16:creationId xmlns:a16="http://schemas.microsoft.com/office/drawing/2014/main" id="{EA4AEB8E-229B-4918-9538-344569813C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842" y="1344199"/>
            <a:ext cx="5923047" cy="4039783"/>
          </a:xfrm>
          <a:prstGeom prst="rect">
            <a:avLst/>
          </a:prstGeom>
        </p:spPr>
      </p:pic>
      <p:pic>
        <p:nvPicPr>
          <p:cNvPr id="9" name="Picture 8" descr="Chart&#10;&#10;Description automatically generated">
            <a:extLst>
              <a:ext uri="{FF2B5EF4-FFF2-40B4-BE49-F238E27FC236}">
                <a16:creationId xmlns:a16="http://schemas.microsoft.com/office/drawing/2014/main" id="{AA833860-019C-4452-B65C-A2A132A201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8675" y="1344199"/>
            <a:ext cx="5927309" cy="3973542"/>
          </a:xfrm>
          <a:prstGeom prst="rect">
            <a:avLst/>
          </a:prstGeom>
        </p:spPr>
      </p:pic>
      <p:sp>
        <p:nvSpPr>
          <p:cNvPr id="11" name="TextBox 10">
            <a:extLst>
              <a:ext uri="{FF2B5EF4-FFF2-40B4-BE49-F238E27FC236}">
                <a16:creationId xmlns:a16="http://schemas.microsoft.com/office/drawing/2014/main" id="{529CD34E-76C0-4519-AFD7-3A3C6B1D0FEF}"/>
              </a:ext>
            </a:extLst>
          </p:cNvPr>
          <p:cNvSpPr txBox="1"/>
          <p:nvPr/>
        </p:nvSpPr>
        <p:spPr>
          <a:xfrm>
            <a:off x="7599744" y="6216314"/>
            <a:ext cx="4144582" cy="738664"/>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plots were generated by functions obtained from </a:t>
            </a:r>
            <a:r>
              <a:rPr lang="de-DE" sz="1400" b="0" i="1" dirty="0">
                <a:solidFill>
                  <a:srgbClr val="000000"/>
                </a:solidFill>
                <a:effectLst/>
                <a:latin typeface="-apple-system"/>
              </a:rPr>
              <a:t>J. Chem. Phys. </a:t>
            </a:r>
            <a:r>
              <a:rPr lang="de-DE" sz="1400" b="1" i="0" dirty="0">
                <a:solidFill>
                  <a:srgbClr val="000000"/>
                </a:solidFill>
                <a:effectLst/>
                <a:latin typeface="-apple-system"/>
              </a:rPr>
              <a:t>40</a:t>
            </a:r>
            <a:r>
              <a:rPr lang="de-DE" sz="1400" b="0" i="0" dirty="0">
                <a:solidFill>
                  <a:srgbClr val="000000"/>
                </a:solidFill>
                <a:effectLst/>
                <a:latin typeface="-apple-system"/>
              </a:rPr>
              <a:t>, 1686 (1964).</a:t>
            </a:r>
            <a:endParaRPr lang="en-CA" sz="1400" dirty="0">
              <a:latin typeface="-apple-system"/>
            </a:endParaRPr>
          </a:p>
          <a:p>
            <a:r>
              <a:rPr lang="en-CA" sz="1400" dirty="0">
                <a:latin typeface="+mj-lt"/>
              </a:rPr>
              <a:t> </a:t>
            </a:r>
          </a:p>
        </p:txBody>
      </p:sp>
      <p:sp>
        <p:nvSpPr>
          <p:cNvPr id="12" name="TextBox 11">
            <a:extLst>
              <a:ext uri="{FF2B5EF4-FFF2-40B4-BE49-F238E27FC236}">
                <a16:creationId xmlns:a16="http://schemas.microsoft.com/office/drawing/2014/main" id="{9572BEEB-96DD-46D5-B119-2794C9251FB1}"/>
              </a:ext>
            </a:extLst>
          </p:cNvPr>
          <p:cNvSpPr txBox="1"/>
          <p:nvPr/>
        </p:nvSpPr>
        <p:spPr>
          <a:xfrm>
            <a:off x="2357242" y="5374146"/>
            <a:ext cx="3889188" cy="646331"/>
          </a:xfrm>
          <a:prstGeom prst="rect">
            <a:avLst/>
          </a:prstGeom>
          <a:noFill/>
        </p:spPr>
        <p:txBody>
          <a:bodyPr wrap="square" rtlCol="0">
            <a:spAutoFit/>
          </a:bodyPr>
          <a:lstStyle/>
          <a:p>
            <a:r>
              <a:rPr lang="en-CA" dirty="0">
                <a:latin typeface="+mj-lt"/>
              </a:rPr>
              <a:t>Ground-state Hydrogen and Helium are only atoms without Pauli-exclusion effects</a:t>
            </a:r>
          </a:p>
        </p:txBody>
      </p:sp>
      <p:sp>
        <p:nvSpPr>
          <p:cNvPr id="14" name="TextBox 13">
            <a:extLst>
              <a:ext uri="{FF2B5EF4-FFF2-40B4-BE49-F238E27FC236}">
                <a16:creationId xmlns:a16="http://schemas.microsoft.com/office/drawing/2014/main" id="{49545091-7D0E-4B2E-805B-72C476157F36}"/>
              </a:ext>
            </a:extLst>
          </p:cNvPr>
          <p:cNvSpPr txBox="1"/>
          <p:nvPr/>
        </p:nvSpPr>
        <p:spPr>
          <a:xfrm>
            <a:off x="6042094" y="5359277"/>
            <a:ext cx="4436918" cy="646331"/>
          </a:xfrm>
          <a:prstGeom prst="rect">
            <a:avLst/>
          </a:prstGeom>
          <a:noFill/>
        </p:spPr>
        <p:txBody>
          <a:bodyPr wrap="square">
            <a:spAutoFit/>
          </a:bodyPr>
          <a:lstStyle/>
          <a:p>
            <a:pPr lvl="1"/>
            <a:r>
              <a:rPr lang="en-CA" dirty="0">
                <a:latin typeface="+mj-lt"/>
              </a:rPr>
              <a:t>suggests that 3D-projected Pauli exclusion field is only physical deviation from Hartree-</a:t>
            </a:r>
            <a:r>
              <a:rPr lang="en-CA" dirty="0" err="1">
                <a:latin typeface="+mj-lt"/>
              </a:rPr>
              <a:t>Fock</a:t>
            </a:r>
            <a:endParaRPr lang="en-CA" dirty="0">
              <a:latin typeface="+mj-lt"/>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06D6A65-7CE8-4C63-B686-85CD12B3FE22}"/>
                  </a:ext>
                </a:extLst>
              </p:cNvPr>
              <p:cNvSpPr txBox="1"/>
              <p:nvPr/>
            </p:nvSpPr>
            <p:spPr>
              <a:xfrm>
                <a:off x="5958248" y="5517563"/>
                <a:ext cx="57636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oMath>
                  </m:oMathPara>
                </a14:m>
                <a:endParaRPr lang="en-CA" dirty="0"/>
              </a:p>
            </p:txBody>
          </p:sp>
        </mc:Choice>
        <mc:Fallback xmlns="">
          <p:sp>
            <p:nvSpPr>
              <p:cNvPr id="15" name="TextBox 14">
                <a:extLst>
                  <a:ext uri="{FF2B5EF4-FFF2-40B4-BE49-F238E27FC236}">
                    <a16:creationId xmlns:a16="http://schemas.microsoft.com/office/drawing/2014/main" id="{E06D6A65-7CE8-4C63-B686-85CD12B3FE22}"/>
                  </a:ext>
                </a:extLst>
              </p:cNvPr>
              <p:cNvSpPr txBox="1">
                <a:spLocks noRot="1" noChangeAspect="1" noMove="1" noResize="1" noEditPoints="1" noAdjustHandles="1" noChangeArrowheads="1" noChangeShapeType="1" noTextEdit="1"/>
              </p:cNvSpPr>
              <p:nvPr/>
            </p:nvSpPr>
            <p:spPr>
              <a:xfrm>
                <a:off x="5958248" y="5517563"/>
                <a:ext cx="576364" cy="369332"/>
              </a:xfrm>
              <a:prstGeom prst="rect">
                <a:avLst/>
              </a:prstGeom>
              <a:blipFill>
                <a:blip r:embed="rId6"/>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171786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Atomic Binding Energies</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7</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2E9620A-49AF-4CD3-A610-965AE5D7CDDB}"/>
                  </a:ext>
                </a:extLst>
              </p:cNvPr>
              <p:cNvSpPr txBox="1"/>
              <p:nvPr/>
            </p:nvSpPr>
            <p:spPr>
              <a:xfrm>
                <a:off x="8126460" y="3554779"/>
                <a:ext cx="3634198" cy="923330"/>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The errors in the binding energies are </a:t>
                </a:r>
                <a14:m>
                  <m:oMath xmlns:m="http://schemas.openxmlformats.org/officeDocument/2006/math">
                    <m:r>
                      <a:rPr lang="en-CA" b="0" i="1" smtClean="0">
                        <a:latin typeface="Cambria Math" panose="02040503050406030204" pitchFamily="18" charset="0"/>
                      </a:rPr>
                      <m:t>±1</m:t>
                    </m:r>
                  </m:oMath>
                </a14:m>
                <a:r>
                  <a:rPr lang="en-CA" dirty="0">
                    <a:latin typeface="+mj-lt"/>
                  </a:rPr>
                  <a:t> of the last digit reported and reflect numerical accuracy only</a:t>
                </a:r>
              </a:p>
            </p:txBody>
          </p:sp>
        </mc:Choice>
        <mc:Fallback xmlns="">
          <p:sp>
            <p:nvSpPr>
              <p:cNvPr id="4" name="TextBox 3">
                <a:extLst>
                  <a:ext uri="{FF2B5EF4-FFF2-40B4-BE49-F238E27FC236}">
                    <a16:creationId xmlns:a16="http://schemas.microsoft.com/office/drawing/2014/main" id="{E2E9620A-49AF-4CD3-A610-965AE5D7CDDB}"/>
                  </a:ext>
                </a:extLst>
              </p:cNvPr>
              <p:cNvSpPr txBox="1">
                <a:spLocks noRot="1" noChangeAspect="1" noMove="1" noResize="1" noEditPoints="1" noAdjustHandles="1" noChangeArrowheads="1" noChangeShapeType="1" noTextEdit="1"/>
              </p:cNvSpPr>
              <p:nvPr/>
            </p:nvSpPr>
            <p:spPr>
              <a:xfrm>
                <a:off x="8126460" y="3554779"/>
                <a:ext cx="3634198" cy="923330"/>
              </a:xfrm>
              <a:prstGeom prst="rect">
                <a:avLst/>
              </a:prstGeom>
              <a:blipFill>
                <a:blip r:embed="rId4"/>
                <a:stretch>
                  <a:fillRect l="-1007" t="-2632" b="-9868"/>
                </a:stretch>
              </a:blipFill>
            </p:spPr>
            <p:txBody>
              <a:bodyPr/>
              <a:lstStyle/>
              <a:p>
                <a:r>
                  <a:rPr lang="en-CA">
                    <a:noFill/>
                  </a:rPr>
                  <a:t> </a:t>
                </a:r>
              </a:p>
            </p:txBody>
          </p:sp>
        </mc:Fallback>
      </mc:AlternateContent>
      <p:sp>
        <p:nvSpPr>
          <p:cNvPr id="13" name="TextBox 12">
            <a:extLst>
              <a:ext uri="{FF2B5EF4-FFF2-40B4-BE49-F238E27FC236}">
                <a16:creationId xmlns:a16="http://schemas.microsoft.com/office/drawing/2014/main" id="{7967766D-41BF-4612-B9D4-5F1B825162D8}"/>
              </a:ext>
            </a:extLst>
          </p:cNvPr>
          <p:cNvSpPr txBox="1"/>
          <p:nvPr/>
        </p:nvSpPr>
        <p:spPr>
          <a:xfrm>
            <a:off x="7724535" y="6324296"/>
            <a:ext cx="4310302" cy="523220"/>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data are taken from </a:t>
            </a:r>
            <a:r>
              <a:rPr lang="en-CA" sz="1400" b="0" i="1" dirty="0">
                <a:solidFill>
                  <a:srgbClr val="333333"/>
                </a:solidFill>
                <a:effectLst/>
                <a:latin typeface="-apple-system"/>
              </a:rPr>
              <a:t>J. Phys. B: At. Mol. Opt. Phys.</a:t>
            </a:r>
            <a:r>
              <a:rPr lang="en-CA" sz="1400" b="0" i="0" dirty="0">
                <a:solidFill>
                  <a:srgbClr val="333333"/>
                </a:solidFill>
                <a:effectLst/>
                <a:latin typeface="-apple-system"/>
              </a:rPr>
              <a:t> </a:t>
            </a:r>
            <a:r>
              <a:rPr lang="en-CA" sz="1400" b="1" i="0" dirty="0">
                <a:solidFill>
                  <a:srgbClr val="333333"/>
                </a:solidFill>
                <a:effectLst/>
                <a:latin typeface="-apple-system"/>
              </a:rPr>
              <a:t>29</a:t>
            </a:r>
            <a:r>
              <a:rPr lang="en-CA" sz="1400" b="0" i="0" dirty="0">
                <a:solidFill>
                  <a:srgbClr val="333333"/>
                </a:solidFill>
                <a:effectLst/>
                <a:latin typeface="-apple-system"/>
              </a:rPr>
              <a:t> 2973 (1996).</a:t>
            </a:r>
            <a:endParaRPr lang="en-CA" sz="1400" dirty="0">
              <a:latin typeface="+mj-lt"/>
            </a:endParaRPr>
          </a:p>
        </p:txBody>
      </p:sp>
      <p:pic>
        <p:nvPicPr>
          <p:cNvPr id="6" name="Picture 5">
            <a:extLst>
              <a:ext uri="{FF2B5EF4-FFF2-40B4-BE49-F238E27FC236}">
                <a16:creationId xmlns:a16="http://schemas.microsoft.com/office/drawing/2014/main" id="{71CFABAF-FC8C-4BA5-AA4E-2BC54E7BFFFC}"/>
              </a:ext>
            </a:extLst>
          </p:cNvPr>
          <p:cNvPicPr>
            <a:picLocks noChangeAspect="1"/>
          </p:cNvPicPr>
          <p:nvPr/>
        </p:nvPicPr>
        <p:blipFill rotWithShape="1">
          <a:blip r:embed="rId5"/>
          <a:srcRect t="250" b="56673"/>
          <a:stretch/>
        </p:blipFill>
        <p:spPr>
          <a:xfrm>
            <a:off x="157162" y="1582309"/>
            <a:ext cx="3816084" cy="3993468"/>
          </a:xfrm>
          <a:prstGeom prst="rect">
            <a:avLst/>
          </a:prstGeom>
        </p:spPr>
      </p:pic>
      <p:grpSp>
        <p:nvGrpSpPr>
          <p:cNvPr id="8" name="Group 7">
            <a:extLst>
              <a:ext uri="{FF2B5EF4-FFF2-40B4-BE49-F238E27FC236}">
                <a16:creationId xmlns:a16="http://schemas.microsoft.com/office/drawing/2014/main" id="{45E937D8-4DA7-426A-A40C-D1641787D0FF}"/>
              </a:ext>
            </a:extLst>
          </p:cNvPr>
          <p:cNvGrpSpPr/>
          <p:nvPr/>
        </p:nvGrpSpPr>
        <p:grpSpPr>
          <a:xfrm>
            <a:off x="4066513" y="1578772"/>
            <a:ext cx="3816085" cy="3980127"/>
            <a:chOff x="4241428" y="1503157"/>
            <a:chExt cx="3982389" cy="4113261"/>
          </a:xfrm>
        </p:grpSpPr>
        <p:pic>
          <p:nvPicPr>
            <p:cNvPr id="14" name="Picture 13">
              <a:extLst>
                <a:ext uri="{FF2B5EF4-FFF2-40B4-BE49-F238E27FC236}">
                  <a16:creationId xmlns:a16="http://schemas.microsoft.com/office/drawing/2014/main" id="{81E230F3-F3D4-4203-8E12-D41ED311DE80}"/>
                </a:ext>
              </a:extLst>
            </p:cNvPr>
            <p:cNvPicPr>
              <a:picLocks noChangeAspect="1"/>
            </p:cNvPicPr>
            <p:nvPr/>
          </p:nvPicPr>
          <p:blipFill rotWithShape="1">
            <a:blip r:embed="rId5"/>
            <a:srcRect t="42913" b="16579"/>
            <a:stretch/>
          </p:blipFill>
          <p:spPr>
            <a:xfrm>
              <a:off x="4241429" y="1697345"/>
              <a:ext cx="3982388" cy="3919073"/>
            </a:xfrm>
            <a:prstGeom prst="rect">
              <a:avLst/>
            </a:prstGeom>
          </p:spPr>
        </p:pic>
        <p:pic>
          <p:nvPicPr>
            <p:cNvPr id="16" name="Picture 15">
              <a:extLst>
                <a:ext uri="{FF2B5EF4-FFF2-40B4-BE49-F238E27FC236}">
                  <a16:creationId xmlns:a16="http://schemas.microsoft.com/office/drawing/2014/main" id="{33E3AE9D-0BA6-49BD-B6DC-17E67B8D57DB}"/>
                </a:ext>
              </a:extLst>
            </p:cNvPr>
            <p:cNvPicPr>
              <a:picLocks noChangeAspect="1"/>
            </p:cNvPicPr>
            <p:nvPr/>
          </p:nvPicPr>
          <p:blipFill rotWithShape="1">
            <a:blip r:embed="rId5"/>
            <a:srcRect t="250" b="97559"/>
            <a:stretch/>
          </p:blipFill>
          <p:spPr>
            <a:xfrm>
              <a:off x="4241428" y="1503157"/>
              <a:ext cx="3982388" cy="212021"/>
            </a:xfrm>
            <a:prstGeom prst="rect">
              <a:avLst/>
            </a:prstGeom>
          </p:spPr>
        </p:pic>
      </p:grpSp>
      <p:grpSp>
        <p:nvGrpSpPr>
          <p:cNvPr id="19" name="Group 18">
            <a:extLst>
              <a:ext uri="{FF2B5EF4-FFF2-40B4-BE49-F238E27FC236}">
                <a16:creationId xmlns:a16="http://schemas.microsoft.com/office/drawing/2014/main" id="{CE9382A6-9B8A-412D-A2E3-A0F78D14208C}"/>
              </a:ext>
            </a:extLst>
          </p:cNvPr>
          <p:cNvGrpSpPr/>
          <p:nvPr/>
        </p:nvGrpSpPr>
        <p:grpSpPr>
          <a:xfrm>
            <a:off x="7975866" y="1578772"/>
            <a:ext cx="3935386" cy="1754324"/>
            <a:chOff x="7894663" y="3839122"/>
            <a:chExt cx="3958065" cy="1803413"/>
          </a:xfrm>
        </p:grpSpPr>
        <p:pic>
          <p:nvPicPr>
            <p:cNvPr id="15" name="Picture 14">
              <a:extLst>
                <a:ext uri="{FF2B5EF4-FFF2-40B4-BE49-F238E27FC236}">
                  <a16:creationId xmlns:a16="http://schemas.microsoft.com/office/drawing/2014/main" id="{5FC0F71A-91C4-4AF0-9973-33FDA22EBB41}"/>
                </a:ext>
              </a:extLst>
            </p:cNvPr>
            <p:cNvPicPr>
              <a:picLocks noChangeAspect="1"/>
            </p:cNvPicPr>
            <p:nvPr/>
          </p:nvPicPr>
          <p:blipFill rotWithShape="1">
            <a:blip r:embed="rId5"/>
            <a:srcRect t="83436"/>
            <a:stretch/>
          </p:blipFill>
          <p:spPr>
            <a:xfrm>
              <a:off x="7894663" y="4049848"/>
              <a:ext cx="3958065" cy="1592687"/>
            </a:xfrm>
            <a:prstGeom prst="rect">
              <a:avLst/>
            </a:prstGeom>
          </p:spPr>
        </p:pic>
        <p:pic>
          <p:nvPicPr>
            <p:cNvPr id="17" name="Picture 16">
              <a:extLst>
                <a:ext uri="{FF2B5EF4-FFF2-40B4-BE49-F238E27FC236}">
                  <a16:creationId xmlns:a16="http://schemas.microsoft.com/office/drawing/2014/main" id="{6E8E58CD-9B9A-41B5-B7C4-AB7E746D0A30}"/>
                </a:ext>
              </a:extLst>
            </p:cNvPr>
            <p:cNvPicPr>
              <a:picLocks noChangeAspect="1"/>
            </p:cNvPicPr>
            <p:nvPr/>
          </p:nvPicPr>
          <p:blipFill rotWithShape="1">
            <a:blip r:embed="rId5"/>
            <a:srcRect t="250" b="97559"/>
            <a:stretch/>
          </p:blipFill>
          <p:spPr>
            <a:xfrm>
              <a:off x="7894663" y="3839122"/>
              <a:ext cx="3958065" cy="210726"/>
            </a:xfrm>
            <a:prstGeom prst="rect">
              <a:avLst/>
            </a:prstGeom>
          </p:spPr>
        </p:pic>
      </p:grpSp>
      <p:sp>
        <p:nvSpPr>
          <p:cNvPr id="20" name="TextBox 19">
            <a:extLst>
              <a:ext uri="{FF2B5EF4-FFF2-40B4-BE49-F238E27FC236}">
                <a16:creationId xmlns:a16="http://schemas.microsoft.com/office/drawing/2014/main" id="{BB57B0F6-029A-4927-8C74-C8EDBF9451A8}"/>
              </a:ext>
            </a:extLst>
          </p:cNvPr>
          <p:cNvSpPr txBox="1"/>
          <p:nvPr/>
        </p:nvSpPr>
        <p:spPr>
          <a:xfrm>
            <a:off x="4998244" y="5645994"/>
            <a:ext cx="2195512" cy="307777"/>
          </a:xfrm>
          <a:prstGeom prst="rect">
            <a:avLst/>
          </a:prstGeom>
          <a:noFill/>
        </p:spPr>
        <p:txBody>
          <a:bodyPr wrap="square" rtlCol="0">
            <a:spAutoFit/>
          </a:bodyPr>
          <a:lstStyle/>
          <a:p>
            <a:r>
              <a:rPr lang="en-CA" sz="1400" dirty="0">
                <a:latin typeface="+mj-lt"/>
              </a:rPr>
              <a:t>(All units given in </a:t>
            </a:r>
            <a:r>
              <a:rPr lang="en-CA" sz="1400" dirty="0" err="1">
                <a:latin typeface="+mj-lt"/>
              </a:rPr>
              <a:t>Hartrees</a:t>
            </a:r>
            <a:r>
              <a:rPr lang="en-CA" sz="1400" dirty="0">
                <a:latin typeface="+mj-lt"/>
              </a:rPr>
              <a:t>)</a:t>
            </a:r>
          </a:p>
        </p:txBody>
      </p:sp>
    </p:spTree>
    <p:extLst>
      <p:ext uri="{BB962C8B-B14F-4D97-AF65-F5344CB8AC3E}">
        <p14:creationId xmlns:p14="http://schemas.microsoft.com/office/powerpoint/2010/main" val="735964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Radial Electron Density</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8</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pic>
        <p:nvPicPr>
          <p:cNvPr id="4" name="Picture 3" descr="Chart, histogram&#10;&#10;Description automatically generated">
            <a:extLst>
              <a:ext uri="{FF2B5EF4-FFF2-40B4-BE49-F238E27FC236}">
                <a16:creationId xmlns:a16="http://schemas.microsoft.com/office/drawing/2014/main" id="{06493CA6-47FC-4AF1-887B-7FA1F52E4588}"/>
              </a:ext>
            </a:extLst>
          </p:cNvPr>
          <p:cNvPicPr>
            <a:picLocks noChangeAspect="1"/>
          </p:cNvPicPr>
          <p:nvPr/>
        </p:nvPicPr>
        <p:blipFill rotWithShape="1">
          <a:blip r:embed="rId4">
            <a:extLst>
              <a:ext uri="{28A0092B-C50C-407E-A947-70E740481C1C}">
                <a14:useLocalDpi xmlns:a14="http://schemas.microsoft.com/office/drawing/2010/main" val="0"/>
              </a:ext>
            </a:extLst>
          </a:blip>
          <a:srcRect l="513" t="6764" b="1076"/>
          <a:stretch/>
        </p:blipFill>
        <p:spPr>
          <a:xfrm>
            <a:off x="45814" y="2020186"/>
            <a:ext cx="6050186" cy="4044042"/>
          </a:xfrm>
          <a:prstGeom prst="rect">
            <a:avLst/>
          </a:prstGeom>
        </p:spPr>
      </p:pic>
      <p:pic>
        <p:nvPicPr>
          <p:cNvPr id="6" name="Picture 5" descr="Chart, histogram&#10;&#10;Description automatically generated">
            <a:extLst>
              <a:ext uri="{FF2B5EF4-FFF2-40B4-BE49-F238E27FC236}">
                <a16:creationId xmlns:a16="http://schemas.microsoft.com/office/drawing/2014/main" id="{543317DA-B42E-4E09-8EB4-BFA369CEF1ED}"/>
              </a:ext>
            </a:extLst>
          </p:cNvPr>
          <p:cNvPicPr>
            <a:picLocks noChangeAspect="1"/>
          </p:cNvPicPr>
          <p:nvPr/>
        </p:nvPicPr>
        <p:blipFill rotWithShape="1">
          <a:blip r:embed="rId5">
            <a:extLst>
              <a:ext uri="{28A0092B-C50C-407E-A947-70E740481C1C}">
                <a14:useLocalDpi xmlns:a14="http://schemas.microsoft.com/office/drawing/2010/main" val="0"/>
              </a:ext>
            </a:extLst>
          </a:blip>
          <a:srcRect t="4998"/>
          <a:stretch/>
        </p:blipFill>
        <p:spPr>
          <a:xfrm>
            <a:off x="5932967" y="2020186"/>
            <a:ext cx="6213219" cy="4005167"/>
          </a:xfrm>
          <a:prstGeom prst="rect">
            <a:avLst/>
          </a:prstGeom>
        </p:spPr>
      </p:pic>
      <p:sp>
        <p:nvSpPr>
          <p:cNvPr id="8" name="TextBox 7">
            <a:extLst>
              <a:ext uri="{FF2B5EF4-FFF2-40B4-BE49-F238E27FC236}">
                <a16:creationId xmlns:a16="http://schemas.microsoft.com/office/drawing/2014/main" id="{13A18D6A-C9CC-464D-886B-FC25399D6D9C}"/>
              </a:ext>
            </a:extLst>
          </p:cNvPr>
          <p:cNvSpPr txBox="1"/>
          <p:nvPr/>
        </p:nvSpPr>
        <p:spPr>
          <a:xfrm>
            <a:off x="829340" y="1456660"/>
            <a:ext cx="4572000" cy="461665"/>
          </a:xfrm>
          <a:prstGeom prst="rect">
            <a:avLst/>
          </a:prstGeom>
          <a:noFill/>
        </p:spPr>
        <p:txBody>
          <a:bodyPr wrap="square" rtlCol="0">
            <a:spAutoFit/>
          </a:bodyPr>
          <a:lstStyle/>
          <a:p>
            <a:pPr algn="ctr"/>
            <a:r>
              <a:rPr lang="en-CA" sz="2400" dirty="0">
                <a:latin typeface="+mj-lt"/>
              </a:rPr>
              <a:t>Our Model</a:t>
            </a:r>
          </a:p>
        </p:txBody>
      </p:sp>
      <p:sp>
        <p:nvSpPr>
          <p:cNvPr id="12" name="TextBox 11">
            <a:extLst>
              <a:ext uri="{FF2B5EF4-FFF2-40B4-BE49-F238E27FC236}">
                <a16:creationId xmlns:a16="http://schemas.microsoft.com/office/drawing/2014/main" id="{BF716104-B55D-4596-A3E7-354FAEA1E42A}"/>
              </a:ext>
            </a:extLst>
          </p:cNvPr>
          <p:cNvSpPr txBox="1"/>
          <p:nvPr/>
        </p:nvSpPr>
        <p:spPr>
          <a:xfrm>
            <a:off x="6872177" y="1456659"/>
            <a:ext cx="4572000" cy="461665"/>
          </a:xfrm>
          <a:prstGeom prst="rect">
            <a:avLst/>
          </a:prstGeom>
          <a:noFill/>
        </p:spPr>
        <p:txBody>
          <a:bodyPr wrap="square" rtlCol="0">
            <a:spAutoFit/>
          </a:bodyPr>
          <a:lstStyle/>
          <a:p>
            <a:pPr algn="ctr"/>
            <a:r>
              <a:rPr lang="en-CA" sz="2400" dirty="0">
                <a:latin typeface="+mj-lt"/>
              </a:rPr>
              <a:t>Hartree-</a:t>
            </a:r>
            <a:r>
              <a:rPr lang="en-CA" sz="2400" dirty="0" err="1">
                <a:latin typeface="+mj-lt"/>
              </a:rPr>
              <a:t>Fock</a:t>
            </a:r>
            <a:endParaRPr lang="en-CA" sz="2400" dirty="0">
              <a:latin typeface="+mj-lt"/>
            </a:endParaRPr>
          </a:p>
        </p:txBody>
      </p:sp>
      <p:sp>
        <p:nvSpPr>
          <p:cNvPr id="14" name="TextBox 13">
            <a:extLst>
              <a:ext uri="{FF2B5EF4-FFF2-40B4-BE49-F238E27FC236}">
                <a16:creationId xmlns:a16="http://schemas.microsoft.com/office/drawing/2014/main" id="{480F760A-F93B-420D-B702-92EF0A825C5F}"/>
              </a:ext>
            </a:extLst>
          </p:cNvPr>
          <p:cNvSpPr txBox="1"/>
          <p:nvPr/>
        </p:nvSpPr>
        <p:spPr>
          <a:xfrm>
            <a:off x="7599744" y="6216314"/>
            <a:ext cx="4144582" cy="738664"/>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plots were generated by functions obtained from </a:t>
            </a:r>
            <a:r>
              <a:rPr lang="de-DE" sz="1400" b="0" i="1" dirty="0">
                <a:solidFill>
                  <a:srgbClr val="000000"/>
                </a:solidFill>
                <a:effectLst/>
                <a:latin typeface="-apple-system"/>
              </a:rPr>
              <a:t>J. Chem. Phys. </a:t>
            </a:r>
            <a:r>
              <a:rPr lang="de-DE" sz="1400" b="1" i="0" dirty="0">
                <a:solidFill>
                  <a:srgbClr val="000000"/>
                </a:solidFill>
                <a:effectLst/>
                <a:latin typeface="-apple-system"/>
              </a:rPr>
              <a:t>40</a:t>
            </a:r>
            <a:r>
              <a:rPr lang="de-DE" sz="1400" b="0" i="0" dirty="0">
                <a:solidFill>
                  <a:srgbClr val="000000"/>
                </a:solidFill>
                <a:effectLst/>
                <a:latin typeface="-apple-system"/>
              </a:rPr>
              <a:t>, 1686 (1964).</a:t>
            </a:r>
            <a:endParaRPr lang="en-CA" sz="1400" dirty="0">
              <a:latin typeface="-apple-system"/>
            </a:endParaRPr>
          </a:p>
          <a:p>
            <a:r>
              <a:rPr lang="en-CA" sz="1400" dirty="0">
                <a:latin typeface="+mj-lt"/>
              </a:rPr>
              <a:t> </a:t>
            </a:r>
          </a:p>
        </p:txBody>
      </p:sp>
    </p:spTree>
    <p:extLst>
      <p:ext uri="{BB962C8B-B14F-4D97-AF65-F5344CB8AC3E}">
        <p14:creationId xmlns:p14="http://schemas.microsoft.com/office/powerpoint/2010/main" val="95057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Radial Electron Density</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9</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pic>
        <p:nvPicPr>
          <p:cNvPr id="9" name="Picture 8" descr="Histogram&#10;&#10;Description automatically generated">
            <a:extLst>
              <a:ext uri="{FF2B5EF4-FFF2-40B4-BE49-F238E27FC236}">
                <a16:creationId xmlns:a16="http://schemas.microsoft.com/office/drawing/2014/main" id="{AD098078-B699-4DA4-8962-CBAC68752796}"/>
              </a:ext>
            </a:extLst>
          </p:cNvPr>
          <p:cNvPicPr>
            <a:picLocks noChangeAspect="1"/>
          </p:cNvPicPr>
          <p:nvPr/>
        </p:nvPicPr>
        <p:blipFill rotWithShape="1">
          <a:blip r:embed="rId4">
            <a:extLst>
              <a:ext uri="{28A0092B-C50C-407E-A947-70E740481C1C}">
                <a14:useLocalDpi xmlns:a14="http://schemas.microsoft.com/office/drawing/2010/main" val="0"/>
              </a:ext>
            </a:extLst>
          </a:blip>
          <a:srcRect t="6725"/>
          <a:stretch/>
        </p:blipFill>
        <p:spPr>
          <a:xfrm>
            <a:off x="1" y="2083121"/>
            <a:ext cx="6096000" cy="3967574"/>
          </a:xfrm>
          <a:prstGeom prst="rect">
            <a:avLst/>
          </a:prstGeom>
        </p:spPr>
      </p:pic>
      <p:pic>
        <p:nvPicPr>
          <p:cNvPr id="6" name="Picture 5">
            <a:extLst>
              <a:ext uri="{FF2B5EF4-FFF2-40B4-BE49-F238E27FC236}">
                <a16:creationId xmlns:a16="http://schemas.microsoft.com/office/drawing/2014/main" id="{0FDA88C5-0168-4879-9FEA-6FA8581FB5E0}"/>
              </a:ext>
            </a:extLst>
          </p:cNvPr>
          <p:cNvPicPr>
            <a:picLocks noChangeAspect="1"/>
          </p:cNvPicPr>
          <p:nvPr/>
        </p:nvPicPr>
        <p:blipFill rotWithShape="1">
          <a:blip r:embed="rId5">
            <a:extLst>
              <a:ext uri="{28A0092B-C50C-407E-A947-70E740481C1C}">
                <a14:useLocalDpi xmlns:a14="http://schemas.microsoft.com/office/drawing/2010/main" val="0"/>
              </a:ext>
            </a:extLst>
          </a:blip>
          <a:srcRect l="5689" t="11662" r="9304" b="3082"/>
          <a:stretch/>
        </p:blipFill>
        <p:spPr>
          <a:xfrm>
            <a:off x="5998581" y="2083121"/>
            <a:ext cx="6096001" cy="3967573"/>
          </a:xfrm>
          <a:prstGeom prst="rect">
            <a:avLst/>
          </a:prstGeom>
        </p:spPr>
      </p:pic>
      <p:sp>
        <p:nvSpPr>
          <p:cNvPr id="11" name="TextBox 10">
            <a:extLst>
              <a:ext uri="{FF2B5EF4-FFF2-40B4-BE49-F238E27FC236}">
                <a16:creationId xmlns:a16="http://schemas.microsoft.com/office/drawing/2014/main" id="{F76FDF65-C834-4FAF-AC51-7AD4B4F32C2A}"/>
              </a:ext>
            </a:extLst>
          </p:cNvPr>
          <p:cNvSpPr txBox="1"/>
          <p:nvPr/>
        </p:nvSpPr>
        <p:spPr>
          <a:xfrm>
            <a:off x="829340" y="1456660"/>
            <a:ext cx="4572000" cy="461665"/>
          </a:xfrm>
          <a:prstGeom prst="rect">
            <a:avLst/>
          </a:prstGeom>
          <a:noFill/>
        </p:spPr>
        <p:txBody>
          <a:bodyPr wrap="square" rtlCol="0">
            <a:spAutoFit/>
          </a:bodyPr>
          <a:lstStyle/>
          <a:p>
            <a:pPr algn="ctr"/>
            <a:r>
              <a:rPr lang="en-CA" sz="2400" dirty="0">
                <a:latin typeface="+mj-lt"/>
              </a:rPr>
              <a:t>Our Model</a:t>
            </a:r>
          </a:p>
        </p:txBody>
      </p:sp>
      <p:sp>
        <p:nvSpPr>
          <p:cNvPr id="12" name="TextBox 11">
            <a:extLst>
              <a:ext uri="{FF2B5EF4-FFF2-40B4-BE49-F238E27FC236}">
                <a16:creationId xmlns:a16="http://schemas.microsoft.com/office/drawing/2014/main" id="{6A168E2A-731C-4837-BEEB-2EB4C654D6E4}"/>
              </a:ext>
            </a:extLst>
          </p:cNvPr>
          <p:cNvSpPr txBox="1"/>
          <p:nvPr/>
        </p:nvSpPr>
        <p:spPr>
          <a:xfrm>
            <a:off x="6872177" y="1456659"/>
            <a:ext cx="4572000" cy="461665"/>
          </a:xfrm>
          <a:prstGeom prst="rect">
            <a:avLst/>
          </a:prstGeom>
          <a:noFill/>
        </p:spPr>
        <p:txBody>
          <a:bodyPr wrap="square" rtlCol="0">
            <a:spAutoFit/>
          </a:bodyPr>
          <a:lstStyle/>
          <a:p>
            <a:pPr algn="ctr"/>
            <a:r>
              <a:rPr lang="en-CA" sz="2400" dirty="0">
                <a:latin typeface="+mj-lt"/>
              </a:rPr>
              <a:t>Hartree-</a:t>
            </a:r>
            <a:r>
              <a:rPr lang="en-CA" sz="2400" dirty="0" err="1">
                <a:latin typeface="+mj-lt"/>
              </a:rPr>
              <a:t>Fock</a:t>
            </a:r>
            <a:endParaRPr lang="en-CA" sz="2400" dirty="0">
              <a:latin typeface="+mj-lt"/>
            </a:endParaRPr>
          </a:p>
        </p:txBody>
      </p:sp>
      <p:sp>
        <p:nvSpPr>
          <p:cNvPr id="15" name="TextBox 14">
            <a:extLst>
              <a:ext uri="{FF2B5EF4-FFF2-40B4-BE49-F238E27FC236}">
                <a16:creationId xmlns:a16="http://schemas.microsoft.com/office/drawing/2014/main" id="{043139EE-0097-4647-BC25-3C021503E6EC}"/>
              </a:ext>
            </a:extLst>
          </p:cNvPr>
          <p:cNvSpPr txBox="1"/>
          <p:nvPr/>
        </p:nvSpPr>
        <p:spPr>
          <a:xfrm>
            <a:off x="7599744" y="6216314"/>
            <a:ext cx="4144582" cy="738664"/>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plots were generated by functions obtained from </a:t>
            </a:r>
            <a:r>
              <a:rPr lang="de-DE" sz="1400" b="0" i="1" dirty="0">
                <a:solidFill>
                  <a:srgbClr val="000000"/>
                </a:solidFill>
                <a:effectLst/>
                <a:latin typeface="-apple-system"/>
              </a:rPr>
              <a:t>J. Chem. Phys. </a:t>
            </a:r>
            <a:r>
              <a:rPr lang="de-DE" sz="1400" b="1" i="0" dirty="0">
                <a:solidFill>
                  <a:srgbClr val="000000"/>
                </a:solidFill>
                <a:effectLst/>
                <a:latin typeface="-apple-system"/>
              </a:rPr>
              <a:t>40</a:t>
            </a:r>
            <a:r>
              <a:rPr lang="de-DE" sz="1400" b="0" i="0" dirty="0">
                <a:solidFill>
                  <a:srgbClr val="000000"/>
                </a:solidFill>
                <a:effectLst/>
                <a:latin typeface="-apple-system"/>
              </a:rPr>
              <a:t>, 1686 (1964).</a:t>
            </a:r>
            <a:endParaRPr lang="en-CA" sz="1400" dirty="0">
              <a:latin typeface="-apple-system"/>
            </a:endParaRPr>
          </a:p>
          <a:p>
            <a:r>
              <a:rPr lang="en-CA" sz="1400" dirty="0">
                <a:latin typeface="+mj-lt"/>
              </a:rPr>
              <a:t> </a:t>
            </a:r>
          </a:p>
        </p:txBody>
      </p:sp>
    </p:spTree>
    <p:extLst>
      <p:ext uri="{BB962C8B-B14F-4D97-AF65-F5344CB8AC3E}">
        <p14:creationId xmlns:p14="http://schemas.microsoft.com/office/powerpoint/2010/main" val="1944037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Radial Electron Density</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10</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pic>
        <p:nvPicPr>
          <p:cNvPr id="4" name="Picture 3" descr="Chart, histogram&#10;&#10;Description automatically generated">
            <a:extLst>
              <a:ext uri="{FF2B5EF4-FFF2-40B4-BE49-F238E27FC236}">
                <a16:creationId xmlns:a16="http://schemas.microsoft.com/office/drawing/2014/main" id="{78F52AA9-7D1C-4131-B224-C312FD7FCA5D}"/>
              </a:ext>
            </a:extLst>
          </p:cNvPr>
          <p:cNvPicPr>
            <a:picLocks noChangeAspect="1"/>
          </p:cNvPicPr>
          <p:nvPr/>
        </p:nvPicPr>
        <p:blipFill rotWithShape="1">
          <a:blip r:embed="rId4">
            <a:extLst>
              <a:ext uri="{28A0092B-C50C-407E-A947-70E740481C1C}">
                <a14:useLocalDpi xmlns:a14="http://schemas.microsoft.com/office/drawing/2010/main" val="0"/>
              </a:ext>
            </a:extLst>
          </a:blip>
          <a:srcRect l="1455" t="6325" r="3220"/>
          <a:stretch/>
        </p:blipFill>
        <p:spPr>
          <a:xfrm>
            <a:off x="74428" y="2008293"/>
            <a:ext cx="5922335" cy="4107121"/>
          </a:xfrm>
          <a:prstGeom prst="rect">
            <a:avLst/>
          </a:prstGeom>
        </p:spPr>
      </p:pic>
      <p:pic>
        <p:nvPicPr>
          <p:cNvPr id="6" name="Picture 5" descr="Chart, histogram&#10;&#10;Description automatically generated">
            <a:extLst>
              <a:ext uri="{FF2B5EF4-FFF2-40B4-BE49-F238E27FC236}">
                <a16:creationId xmlns:a16="http://schemas.microsoft.com/office/drawing/2014/main" id="{875CAF32-0CE3-492F-A773-A90358B7082B}"/>
              </a:ext>
            </a:extLst>
          </p:cNvPr>
          <p:cNvPicPr>
            <a:picLocks noChangeAspect="1"/>
          </p:cNvPicPr>
          <p:nvPr/>
        </p:nvPicPr>
        <p:blipFill rotWithShape="1">
          <a:blip r:embed="rId5">
            <a:extLst>
              <a:ext uri="{28A0092B-C50C-407E-A947-70E740481C1C}">
                <a14:useLocalDpi xmlns:a14="http://schemas.microsoft.com/office/drawing/2010/main" val="0"/>
              </a:ext>
            </a:extLst>
          </a:blip>
          <a:srcRect l="5584" t="11933" r="9015" b="1896"/>
          <a:stretch/>
        </p:blipFill>
        <p:spPr>
          <a:xfrm>
            <a:off x="5997945" y="2008293"/>
            <a:ext cx="6119627" cy="4107121"/>
          </a:xfrm>
          <a:prstGeom prst="rect">
            <a:avLst/>
          </a:prstGeom>
        </p:spPr>
      </p:pic>
      <p:sp>
        <p:nvSpPr>
          <p:cNvPr id="11" name="TextBox 10">
            <a:extLst>
              <a:ext uri="{FF2B5EF4-FFF2-40B4-BE49-F238E27FC236}">
                <a16:creationId xmlns:a16="http://schemas.microsoft.com/office/drawing/2014/main" id="{FC9629A4-9796-499C-905C-22367F16A519}"/>
              </a:ext>
            </a:extLst>
          </p:cNvPr>
          <p:cNvSpPr txBox="1"/>
          <p:nvPr/>
        </p:nvSpPr>
        <p:spPr>
          <a:xfrm>
            <a:off x="829340" y="1456660"/>
            <a:ext cx="4572000" cy="461665"/>
          </a:xfrm>
          <a:prstGeom prst="rect">
            <a:avLst/>
          </a:prstGeom>
          <a:noFill/>
        </p:spPr>
        <p:txBody>
          <a:bodyPr wrap="square" rtlCol="0">
            <a:spAutoFit/>
          </a:bodyPr>
          <a:lstStyle/>
          <a:p>
            <a:pPr algn="ctr"/>
            <a:r>
              <a:rPr lang="en-CA" sz="2400" dirty="0">
                <a:latin typeface="+mj-lt"/>
              </a:rPr>
              <a:t>Our Model</a:t>
            </a:r>
          </a:p>
        </p:txBody>
      </p:sp>
      <p:sp>
        <p:nvSpPr>
          <p:cNvPr id="12" name="TextBox 11">
            <a:extLst>
              <a:ext uri="{FF2B5EF4-FFF2-40B4-BE49-F238E27FC236}">
                <a16:creationId xmlns:a16="http://schemas.microsoft.com/office/drawing/2014/main" id="{E14F0D3E-CBD6-4DE6-9348-D6BA49DAC8EC}"/>
              </a:ext>
            </a:extLst>
          </p:cNvPr>
          <p:cNvSpPr txBox="1"/>
          <p:nvPr/>
        </p:nvSpPr>
        <p:spPr>
          <a:xfrm>
            <a:off x="6872177" y="1456659"/>
            <a:ext cx="4572000" cy="461665"/>
          </a:xfrm>
          <a:prstGeom prst="rect">
            <a:avLst/>
          </a:prstGeom>
          <a:noFill/>
        </p:spPr>
        <p:txBody>
          <a:bodyPr wrap="square" rtlCol="0">
            <a:spAutoFit/>
          </a:bodyPr>
          <a:lstStyle/>
          <a:p>
            <a:pPr algn="ctr"/>
            <a:r>
              <a:rPr lang="en-CA" sz="2400" dirty="0">
                <a:latin typeface="+mj-lt"/>
              </a:rPr>
              <a:t>Hartree-</a:t>
            </a:r>
            <a:r>
              <a:rPr lang="en-CA" sz="2400" dirty="0" err="1">
                <a:latin typeface="+mj-lt"/>
              </a:rPr>
              <a:t>Fock</a:t>
            </a:r>
            <a:endParaRPr lang="en-CA" sz="2400" dirty="0">
              <a:latin typeface="+mj-lt"/>
            </a:endParaRPr>
          </a:p>
        </p:txBody>
      </p:sp>
      <p:sp>
        <p:nvSpPr>
          <p:cNvPr id="15" name="TextBox 14">
            <a:extLst>
              <a:ext uri="{FF2B5EF4-FFF2-40B4-BE49-F238E27FC236}">
                <a16:creationId xmlns:a16="http://schemas.microsoft.com/office/drawing/2014/main" id="{D846EE26-2FC7-4FA9-B354-3D31D7EC8BD6}"/>
              </a:ext>
            </a:extLst>
          </p:cNvPr>
          <p:cNvSpPr txBox="1"/>
          <p:nvPr/>
        </p:nvSpPr>
        <p:spPr>
          <a:xfrm>
            <a:off x="7599744" y="6216314"/>
            <a:ext cx="4144582" cy="738664"/>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plots were generated by functions obtained from </a:t>
            </a:r>
            <a:r>
              <a:rPr lang="de-DE" sz="1400" b="0" i="1" dirty="0">
                <a:solidFill>
                  <a:srgbClr val="000000"/>
                </a:solidFill>
                <a:effectLst/>
                <a:latin typeface="-apple-system"/>
              </a:rPr>
              <a:t>J. Chem. Phys. </a:t>
            </a:r>
            <a:r>
              <a:rPr lang="de-DE" sz="1400" b="1" i="0" dirty="0">
                <a:solidFill>
                  <a:srgbClr val="000000"/>
                </a:solidFill>
                <a:effectLst/>
                <a:latin typeface="-apple-system"/>
              </a:rPr>
              <a:t>40</a:t>
            </a:r>
            <a:r>
              <a:rPr lang="de-DE" sz="1400" b="0" i="0" dirty="0">
                <a:solidFill>
                  <a:srgbClr val="000000"/>
                </a:solidFill>
                <a:effectLst/>
                <a:latin typeface="-apple-system"/>
              </a:rPr>
              <a:t>, 1686 (1964).</a:t>
            </a:r>
            <a:endParaRPr lang="en-CA" sz="1400" dirty="0">
              <a:latin typeface="-apple-system"/>
            </a:endParaRPr>
          </a:p>
          <a:p>
            <a:r>
              <a:rPr lang="en-CA" sz="1400" dirty="0">
                <a:latin typeface="+mj-lt"/>
              </a:rPr>
              <a:t> </a:t>
            </a:r>
          </a:p>
        </p:txBody>
      </p:sp>
    </p:spTree>
    <p:extLst>
      <p:ext uri="{BB962C8B-B14F-4D97-AF65-F5344CB8AC3E}">
        <p14:creationId xmlns:p14="http://schemas.microsoft.com/office/powerpoint/2010/main" val="1308767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Radial Electron Density</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11</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pic>
        <p:nvPicPr>
          <p:cNvPr id="8" name="Picture 7" descr="Chart, histogram&#10;&#10;Description automatically generated">
            <a:extLst>
              <a:ext uri="{FF2B5EF4-FFF2-40B4-BE49-F238E27FC236}">
                <a16:creationId xmlns:a16="http://schemas.microsoft.com/office/drawing/2014/main" id="{603D7E03-CA62-42BE-83C7-334878C7AD9F}"/>
              </a:ext>
            </a:extLst>
          </p:cNvPr>
          <p:cNvPicPr>
            <a:picLocks noChangeAspect="1"/>
          </p:cNvPicPr>
          <p:nvPr/>
        </p:nvPicPr>
        <p:blipFill rotWithShape="1">
          <a:blip r:embed="rId4">
            <a:extLst>
              <a:ext uri="{28A0092B-C50C-407E-A947-70E740481C1C}">
                <a14:useLocalDpi xmlns:a14="http://schemas.microsoft.com/office/drawing/2010/main" val="0"/>
              </a:ext>
            </a:extLst>
          </a:blip>
          <a:srcRect t="5999" r="2443"/>
          <a:stretch/>
        </p:blipFill>
        <p:spPr>
          <a:xfrm>
            <a:off x="0" y="2022088"/>
            <a:ext cx="5988457" cy="3986492"/>
          </a:xfrm>
          <a:prstGeom prst="rect">
            <a:avLst/>
          </a:prstGeom>
        </p:spPr>
      </p:pic>
      <p:pic>
        <p:nvPicPr>
          <p:cNvPr id="6" name="Picture 5" descr="Chart, histogram&#10;&#10;Description automatically generated">
            <a:extLst>
              <a:ext uri="{FF2B5EF4-FFF2-40B4-BE49-F238E27FC236}">
                <a16:creationId xmlns:a16="http://schemas.microsoft.com/office/drawing/2014/main" id="{B1723D61-DC5E-40B5-8F24-EB11D9A35E36}"/>
              </a:ext>
            </a:extLst>
          </p:cNvPr>
          <p:cNvPicPr>
            <a:picLocks noChangeAspect="1"/>
          </p:cNvPicPr>
          <p:nvPr/>
        </p:nvPicPr>
        <p:blipFill rotWithShape="1">
          <a:blip r:embed="rId5">
            <a:extLst>
              <a:ext uri="{28A0092B-C50C-407E-A947-70E740481C1C}">
                <a14:useLocalDpi xmlns:a14="http://schemas.microsoft.com/office/drawing/2010/main" val="0"/>
              </a:ext>
            </a:extLst>
          </a:blip>
          <a:srcRect l="5755" t="12047" r="9109" b="2100"/>
          <a:stretch/>
        </p:blipFill>
        <p:spPr>
          <a:xfrm>
            <a:off x="5988457" y="2022089"/>
            <a:ext cx="6046381" cy="3986492"/>
          </a:xfrm>
          <a:prstGeom prst="rect">
            <a:avLst/>
          </a:prstGeom>
        </p:spPr>
      </p:pic>
      <p:sp>
        <p:nvSpPr>
          <p:cNvPr id="11" name="TextBox 10">
            <a:extLst>
              <a:ext uri="{FF2B5EF4-FFF2-40B4-BE49-F238E27FC236}">
                <a16:creationId xmlns:a16="http://schemas.microsoft.com/office/drawing/2014/main" id="{52A4484C-E4AF-4A06-8A87-186A6EDF0383}"/>
              </a:ext>
            </a:extLst>
          </p:cNvPr>
          <p:cNvSpPr txBox="1"/>
          <p:nvPr/>
        </p:nvSpPr>
        <p:spPr>
          <a:xfrm>
            <a:off x="829340" y="1456660"/>
            <a:ext cx="4572000" cy="461665"/>
          </a:xfrm>
          <a:prstGeom prst="rect">
            <a:avLst/>
          </a:prstGeom>
          <a:noFill/>
        </p:spPr>
        <p:txBody>
          <a:bodyPr wrap="square" rtlCol="0">
            <a:spAutoFit/>
          </a:bodyPr>
          <a:lstStyle/>
          <a:p>
            <a:pPr algn="ctr"/>
            <a:r>
              <a:rPr lang="en-CA" sz="2400" dirty="0">
                <a:latin typeface="+mj-lt"/>
              </a:rPr>
              <a:t>Our Model</a:t>
            </a:r>
          </a:p>
        </p:txBody>
      </p:sp>
      <p:sp>
        <p:nvSpPr>
          <p:cNvPr id="12" name="TextBox 11">
            <a:extLst>
              <a:ext uri="{FF2B5EF4-FFF2-40B4-BE49-F238E27FC236}">
                <a16:creationId xmlns:a16="http://schemas.microsoft.com/office/drawing/2014/main" id="{DF719517-560C-4E1E-8529-1BC8A1A45D14}"/>
              </a:ext>
            </a:extLst>
          </p:cNvPr>
          <p:cNvSpPr txBox="1"/>
          <p:nvPr/>
        </p:nvSpPr>
        <p:spPr>
          <a:xfrm>
            <a:off x="6872177" y="1456659"/>
            <a:ext cx="4572000" cy="461665"/>
          </a:xfrm>
          <a:prstGeom prst="rect">
            <a:avLst/>
          </a:prstGeom>
          <a:noFill/>
        </p:spPr>
        <p:txBody>
          <a:bodyPr wrap="square" rtlCol="0">
            <a:spAutoFit/>
          </a:bodyPr>
          <a:lstStyle/>
          <a:p>
            <a:pPr algn="ctr"/>
            <a:r>
              <a:rPr lang="en-CA" sz="2400" dirty="0">
                <a:latin typeface="+mj-lt"/>
              </a:rPr>
              <a:t>Hartree-</a:t>
            </a:r>
            <a:r>
              <a:rPr lang="en-CA" sz="2400" dirty="0" err="1">
                <a:latin typeface="+mj-lt"/>
              </a:rPr>
              <a:t>Fock</a:t>
            </a:r>
            <a:endParaRPr lang="en-CA" sz="2400" dirty="0">
              <a:latin typeface="+mj-lt"/>
            </a:endParaRPr>
          </a:p>
        </p:txBody>
      </p:sp>
      <p:sp>
        <p:nvSpPr>
          <p:cNvPr id="15" name="TextBox 14">
            <a:extLst>
              <a:ext uri="{FF2B5EF4-FFF2-40B4-BE49-F238E27FC236}">
                <a16:creationId xmlns:a16="http://schemas.microsoft.com/office/drawing/2014/main" id="{26CF2E57-CAD2-4B6F-B7BB-A31BB85A1BD2}"/>
              </a:ext>
            </a:extLst>
          </p:cNvPr>
          <p:cNvSpPr txBox="1"/>
          <p:nvPr/>
        </p:nvSpPr>
        <p:spPr>
          <a:xfrm>
            <a:off x="7599744" y="6216314"/>
            <a:ext cx="4144582" cy="738664"/>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plots were generated by functions obtained from </a:t>
            </a:r>
            <a:r>
              <a:rPr lang="de-DE" sz="1400" b="0" i="1" dirty="0">
                <a:solidFill>
                  <a:srgbClr val="000000"/>
                </a:solidFill>
                <a:effectLst/>
                <a:latin typeface="-apple-system"/>
              </a:rPr>
              <a:t>J. Chem. Phys. </a:t>
            </a:r>
            <a:r>
              <a:rPr lang="de-DE" sz="1400" b="1" i="0" dirty="0">
                <a:solidFill>
                  <a:srgbClr val="000000"/>
                </a:solidFill>
                <a:effectLst/>
                <a:latin typeface="-apple-system"/>
              </a:rPr>
              <a:t>40</a:t>
            </a:r>
            <a:r>
              <a:rPr lang="de-DE" sz="1400" b="0" i="0" dirty="0">
                <a:solidFill>
                  <a:srgbClr val="000000"/>
                </a:solidFill>
                <a:effectLst/>
                <a:latin typeface="-apple-system"/>
              </a:rPr>
              <a:t>, 1686 (1964).</a:t>
            </a:r>
            <a:endParaRPr lang="en-CA" sz="1400" dirty="0">
              <a:latin typeface="-apple-system"/>
            </a:endParaRPr>
          </a:p>
          <a:p>
            <a:r>
              <a:rPr lang="en-CA" sz="1400" dirty="0">
                <a:latin typeface="+mj-lt"/>
              </a:rPr>
              <a:t> </a:t>
            </a:r>
          </a:p>
        </p:txBody>
      </p:sp>
    </p:spTree>
    <p:extLst>
      <p:ext uri="{BB962C8B-B14F-4D97-AF65-F5344CB8AC3E}">
        <p14:creationId xmlns:p14="http://schemas.microsoft.com/office/powerpoint/2010/main" val="2880386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Radial Electron Density</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12</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pic>
        <p:nvPicPr>
          <p:cNvPr id="4" name="Picture 3" descr="Chart, histogram&#10;&#10;Description automatically generated">
            <a:extLst>
              <a:ext uri="{FF2B5EF4-FFF2-40B4-BE49-F238E27FC236}">
                <a16:creationId xmlns:a16="http://schemas.microsoft.com/office/drawing/2014/main" id="{F8C8D08B-9EC5-4A70-BFB6-4F965203BC7A}"/>
              </a:ext>
            </a:extLst>
          </p:cNvPr>
          <p:cNvPicPr>
            <a:picLocks noChangeAspect="1"/>
          </p:cNvPicPr>
          <p:nvPr/>
        </p:nvPicPr>
        <p:blipFill rotWithShape="1">
          <a:blip r:embed="rId4">
            <a:extLst>
              <a:ext uri="{28A0092B-C50C-407E-A947-70E740481C1C}">
                <a14:useLocalDpi xmlns:a14="http://schemas.microsoft.com/office/drawing/2010/main" val="0"/>
              </a:ext>
            </a:extLst>
          </a:blip>
          <a:srcRect t="6479" r="2208"/>
          <a:stretch/>
        </p:blipFill>
        <p:spPr>
          <a:xfrm>
            <a:off x="0" y="2062716"/>
            <a:ext cx="5942785" cy="3853585"/>
          </a:xfrm>
          <a:prstGeom prst="rect">
            <a:avLst/>
          </a:prstGeom>
        </p:spPr>
      </p:pic>
      <p:pic>
        <p:nvPicPr>
          <p:cNvPr id="6" name="Picture 5" descr="Chart, histogram&#10;&#10;Description automatically generated">
            <a:extLst>
              <a:ext uri="{FF2B5EF4-FFF2-40B4-BE49-F238E27FC236}">
                <a16:creationId xmlns:a16="http://schemas.microsoft.com/office/drawing/2014/main" id="{3CA64603-A3EE-4ABB-A162-8CC71B9359E4}"/>
              </a:ext>
            </a:extLst>
          </p:cNvPr>
          <p:cNvPicPr>
            <a:picLocks noChangeAspect="1"/>
          </p:cNvPicPr>
          <p:nvPr/>
        </p:nvPicPr>
        <p:blipFill rotWithShape="1">
          <a:blip r:embed="rId5">
            <a:extLst>
              <a:ext uri="{28A0092B-C50C-407E-A947-70E740481C1C}">
                <a14:useLocalDpi xmlns:a14="http://schemas.microsoft.com/office/drawing/2010/main" val="0"/>
              </a:ext>
            </a:extLst>
          </a:blip>
          <a:srcRect l="5228" t="11850" r="8845" b="1987"/>
          <a:stretch/>
        </p:blipFill>
        <p:spPr>
          <a:xfrm>
            <a:off x="5942785" y="2062715"/>
            <a:ext cx="6095597" cy="3893172"/>
          </a:xfrm>
          <a:prstGeom prst="rect">
            <a:avLst/>
          </a:prstGeom>
        </p:spPr>
      </p:pic>
      <p:sp>
        <p:nvSpPr>
          <p:cNvPr id="11" name="TextBox 10">
            <a:extLst>
              <a:ext uri="{FF2B5EF4-FFF2-40B4-BE49-F238E27FC236}">
                <a16:creationId xmlns:a16="http://schemas.microsoft.com/office/drawing/2014/main" id="{A9C39B0A-F723-4891-A0E9-5B922DD0701F}"/>
              </a:ext>
            </a:extLst>
          </p:cNvPr>
          <p:cNvSpPr txBox="1"/>
          <p:nvPr/>
        </p:nvSpPr>
        <p:spPr>
          <a:xfrm>
            <a:off x="829340" y="1456660"/>
            <a:ext cx="4572000" cy="461665"/>
          </a:xfrm>
          <a:prstGeom prst="rect">
            <a:avLst/>
          </a:prstGeom>
          <a:noFill/>
        </p:spPr>
        <p:txBody>
          <a:bodyPr wrap="square" rtlCol="0">
            <a:spAutoFit/>
          </a:bodyPr>
          <a:lstStyle/>
          <a:p>
            <a:pPr algn="ctr"/>
            <a:r>
              <a:rPr lang="en-CA" sz="2400" dirty="0">
                <a:latin typeface="+mj-lt"/>
              </a:rPr>
              <a:t>Our Model</a:t>
            </a:r>
          </a:p>
        </p:txBody>
      </p:sp>
      <p:sp>
        <p:nvSpPr>
          <p:cNvPr id="12" name="TextBox 11">
            <a:extLst>
              <a:ext uri="{FF2B5EF4-FFF2-40B4-BE49-F238E27FC236}">
                <a16:creationId xmlns:a16="http://schemas.microsoft.com/office/drawing/2014/main" id="{4C13DAE2-AC07-416D-937D-E4AAB97922DA}"/>
              </a:ext>
            </a:extLst>
          </p:cNvPr>
          <p:cNvSpPr txBox="1"/>
          <p:nvPr/>
        </p:nvSpPr>
        <p:spPr>
          <a:xfrm>
            <a:off x="6872177" y="1456659"/>
            <a:ext cx="4572000" cy="461665"/>
          </a:xfrm>
          <a:prstGeom prst="rect">
            <a:avLst/>
          </a:prstGeom>
          <a:noFill/>
        </p:spPr>
        <p:txBody>
          <a:bodyPr wrap="square" rtlCol="0">
            <a:spAutoFit/>
          </a:bodyPr>
          <a:lstStyle/>
          <a:p>
            <a:pPr algn="ctr"/>
            <a:r>
              <a:rPr lang="en-CA" sz="2400" dirty="0">
                <a:latin typeface="+mj-lt"/>
              </a:rPr>
              <a:t>Hartree-</a:t>
            </a:r>
            <a:r>
              <a:rPr lang="en-CA" sz="2400" dirty="0" err="1">
                <a:latin typeface="+mj-lt"/>
              </a:rPr>
              <a:t>Fock</a:t>
            </a:r>
            <a:endParaRPr lang="en-CA" sz="2400" dirty="0">
              <a:latin typeface="+mj-lt"/>
            </a:endParaRPr>
          </a:p>
        </p:txBody>
      </p:sp>
      <p:sp>
        <p:nvSpPr>
          <p:cNvPr id="15" name="TextBox 14">
            <a:extLst>
              <a:ext uri="{FF2B5EF4-FFF2-40B4-BE49-F238E27FC236}">
                <a16:creationId xmlns:a16="http://schemas.microsoft.com/office/drawing/2014/main" id="{EA864CCD-5FB8-4360-BCB9-D1DD0D22D034}"/>
              </a:ext>
            </a:extLst>
          </p:cNvPr>
          <p:cNvSpPr txBox="1"/>
          <p:nvPr/>
        </p:nvSpPr>
        <p:spPr>
          <a:xfrm>
            <a:off x="7599744" y="6216314"/>
            <a:ext cx="4144582" cy="738664"/>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plots were generated by functions obtained from </a:t>
            </a:r>
            <a:r>
              <a:rPr lang="de-DE" sz="1400" b="0" i="1" dirty="0">
                <a:solidFill>
                  <a:srgbClr val="000000"/>
                </a:solidFill>
                <a:effectLst/>
                <a:latin typeface="-apple-system"/>
              </a:rPr>
              <a:t>J. Chem. Phys. </a:t>
            </a:r>
            <a:r>
              <a:rPr lang="de-DE" sz="1400" b="1" i="0" dirty="0">
                <a:solidFill>
                  <a:srgbClr val="000000"/>
                </a:solidFill>
                <a:effectLst/>
                <a:latin typeface="-apple-system"/>
              </a:rPr>
              <a:t>40</a:t>
            </a:r>
            <a:r>
              <a:rPr lang="de-DE" sz="1400" b="0" i="0" dirty="0">
                <a:solidFill>
                  <a:srgbClr val="000000"/>
                </a:solidFill>
                <a:effectLst/>
                <a:latin typeface="-apple-system"/>
              </a:rPr>
              <a:t>, 1686 (1964).</a:t>
            </a:r>
            <a:endParaRPr lang="en-CA" sz="1400" dirty="0">
              <a:latin typeface="-apple-system"/>
            </a:endParaRPr>
          </a:p>
          <a:p>
            <a:r>
              <a:rPr lang="en-CA" sz="1400" dirty="0">
                <a:latin typeface="+mj-lt"/>
              </a:rPr>
              <a:t> </a:t>
            </a:r>
          </a:p>
        </p:txBody>
      </p:sp>
    </p:spTree>
    <p:extLst>
      <p:ext uri="{BB962C8B-B14F-4D97-AF65-F5344CB8AC3E}">
        <p14:creationId xmlns:p14="http://schemas.microsoft.com/office/powerpoint/2010/main" val="342097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Radial Electron Density</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13</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pic>
        <p:nvPicPr>
          <p:cNvPr id="8" name="Picture 7" descr="Chart, histogram&#10;&#10;Description automatically generated">
            <a:extLst>
              <a:ext uri="{FF2B5EF4-FFF2-40B4-BE49-F238E27FC236}">
                <a16:creationId xmlns:a16="http://schemas.microsoft.com/office/drawing/2014/main" id="{F16040CE-766C-4CE5-A726-254F8DD8B5B2}"/>
              </a:ext>
            </a:extLst>
          </p:cNvPr>
          <p:cNvPicPr>
            <a:picLocks noChangeAspect="1"/>
          </p:cNvPicPr>
          <p:nvPr/>
        </p:nvPicPr>
        <p:blipFill rotWithShape="1">
          <a:blip r:embed="rId4">
            <a:extLst>
              <a:ext uri="{28A0092B-C50C-407E-A947-70E740481C1C}">
                <a14:useLocalDpi xmlns:a14="http://schemas.microsoft.com/office/drawing/2010/main" val="0"/>
              </a:ext>
            </a:extLst>
          </a:blip>
          <a:srcRect t="5532" r="2483"/>
          <a:stretch/>
        </p:blipFill>
        <p:spPr>
          <a:xfrm>
            <a:off x="0" y="2082919"/>
            <a:ext cx="6026392" cy="3833383"/>
          </a:xfrm>
          <a:prstGeom prst="rect">
            <a:avLst/>
          </a:prstGeom>
        </p:spPr>
      </p:pic>
      <p:pic>
        <p:nvPicPr>
          <p:cNvPr id="6" name="Picture 5" descr="Chart, line chart&#10;&#10;Description automatically generated">
            <a:extLst>
              <a:ext uri="{FF2B5EF4-FFF2-40B4-BE49-F238E27FC236}">
                <a16:creationId xmlns:a16="http://schemas.microsoft.com/office/drawing/2014/main" id="{0AB95F74-CA8E-454F-BF2A-8DA2E8F42696}"/>
              </a:ext>
            </a:extLst>
          </p:cNvPr>
          <p:cNvPicPr>
            <a:picLocks noChangeAspect="1"/>
          </p:cNvPicPr>
          <p:nvPr/>
        </p:nvPicPr>
        <p:blipFill rotWithShape="1">
          <a:blip r:embed="rId5">
            <a:extLst>
              <a:ext uri="{28A0092B-C50C-407E-A947-70E740481C1C}">
                <a14:useLocalDpi xmlns:a14="http://schemas.microsoft.com/office/drawing/2010/main" val="0"/>
              </a:ext>
            </a:extLst>
          </a:blip>
          <a:srcRect l="5609" t="11708" r="8800" b="2863"/>
          <a:stretch/>
        </p:blipFill>
        <p:spPr>
          <a:xfrm>
            <a:off x="6026392" y="2082918"/>
            <a:ext cx="6165608" cy="3833383"/>
          </a:xfrm>
          <a:prstGeom prst="rect">
            <a:avLst/>
          </a:prstGeom>
        </p:spPr>
      </p:pic>
      <p:sp>
        <p:nvSpPr>
          <p:cNvPr id="11" name="TextBox 10">
            <a:extLst>
              <a:ext uri="{FF2B5EF4-FFF2-40B4-BE49-F238E27FC236}">
                <a16:creationId xmlns:a16="http://schemas.microsoft.com/office/drawing/2014/main" id="{88156980-FCD6-4BEF-AAB0-B96B93903DCD}"/>
              </a:ext>
            </a:extLst>
          </p:cNvPr>
          <p:cNvSpPr txBox="1"/>
          <p:nvPr/>
        </p:nvSpPr>
        <p:spPr>
          <a:xfrm>
            <a:off x="829340" y="1456660"/>
            <a:ext cx="4572000" cy="461665"/>
          </a:xfrm>
          <a:prstGeom prst="rect">
            <a:avLst/>
          </a:prstGeom>
          <a:noFill/>
        </p:spPr>
        <p:txBody>
          <a:bodyPr wrap="square" rtlCol="0">
            <a:spAutoFit/>
          </a:bodyPr>
          <a:lstStyle/>
          <a:p>
            <a:pPr algn="ctr"/>
            <a:r>
              <a:rPr lang="en-CA" sz="2400" dirty="0">
                <a:latin typeface="+mj-lt"/>
              </a:rPr>
              <a:t>Our Model</a:t>
            </a:r>
          </a:p>
        </p:txBody>
      </p:sp>
      <p:sp>
        <p:nvSpPr>
          <p:cNvPr id="12" name="TextBox 11">
            <a:extLst>
              <a:ext uri="{FF2B5EF4-FFF2-40B4-BE49-F238E27FC236}">
                <a16:creationId xmlns:a16="http://schemas.microsoft.com/office/drawing/2014/main" id="{2BBB1536-DB8C-445F-8070-11A71D03ABFA}"/>
              </a:ext>
            </a:extLst>
          </p:cNvPr>
          <p:cNvSpPr txBox="1"/>
          <p:nvPr/>
        </p:nvSpPr>
        <p:spPr>
          <a:xfrm>
            <a:off x="6872177" y="1456659"/>
            <a:ext cx="4572000" cy="461665"/>
          </a:xfrm>
          <a:prstGeom prst="rect">
            <a:avLst/>
          </a:prstGeom>
          <a:noFill/>
        </p:spPr>
        <p:txBody>
          <a:bodyPr wrap="square" rtlCol="0">
            <a:spAutoFit/>
          </a:bodyPr>
          <a:lstStyle/>
          <a:p>
            <a:pPr algn="ctr"/>
            <a:r>
              <a:rPr lang="en-CA" sz="2400" dirty="0">
                <a:latin typeface="+mj-lt"/>
              </a:rPr>
              <a:t>Hartree-</a:t>
            </a:r>
            <a:r>
              <a:rPr lang="en-CA" sz="2400" dirty="0" err="1">
                <a:latin typeface="+mj-lt"/>
              </a:rPr>
              <a:t>Fock</a:t>
            </a:r>
            <a:endParaRPr lang="en-CA" sz="2400" dirty="0">
              <a:latin typeface="+mj-lt"/>
            </a:endParaRPr>
          </a:p>
        </p:txBody>
      </p:sp>
      <p:sp>
        <p:nvSpPr>
          <p:cNvPr id="13" name="TextBox 12">
            <a:extLst>
              <a:ext uri="{FF2B5EF4-FFF2-40B4-BE49-F238E27FC236}">
                <a16:creationId xmlns:a16="http://schemas.microsoft.com/office/drawing/2014/main" id="{DD3BFC37-43D1-4AEB-B156-C49CED4380D0}"/>
              </a:ext>
            </a:extLst>
          </p:cNvPr>
          <p:cNvSpPr txBox="1"/>
          <p:nvPr/>
        </p:nvSpPr>
        <p:spPr>
          <a:xfrm>
            <a:off x="7599744" y="6216314"/>
            <a:ext cx="4144582" cy="738664"/>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plots were generated by functions obtained from </a:t>
            </a:r>
            <a:r>
              <a:rPr lang="de-DE" sz="1400" b="0" i="1" dirty="0">
                <a:solidFill>
                  <a:srgbClr val="000000"/>
                </a:solidFill>
                <a:effectLst/>
                <a:latin typeface="-apple-system"/>
              </a:rPr>
              <a:t>J. Chem. Phys. </a:t>
            </a:r>
            <a:r>
              <a:rPr lang="de-DE" sz="1400" b="1" i="0" dirty="0">
                <a:solidFill>
                  <a:srgbClr val="000000"/>
                </a:solidFill>
                <a:effectLst/>
                <a:latin typeface="-apple-system"/>
              </a:rPr>
              <a:t>40</a:t>
            </a:r>
            <a:r>
              <a:rPr lang="de-DE" sz="1400" b="0" i="0" dirty="0">
                <a:solidFill>
                  <a:srgbClr val="000000"/>
                </a:solidFill>
                <a:effectLst/>
                <a:latin typeface="-apple-system"/>
              </a:rPr>
              <a:t>, 1686 (1964).</a:t>
            </a:r>
            <a:endParaRPr lang="en-CA" sz="1400" dirty="0">
              <a:latin typeface="-apple-system"/>
            </a:endParaRPr>
          </a:p>
          <a:p>
            <a:r>
              <a:rPr lang="en-CA" sz="1400" dirty="0">
                <a:latin typeface="+mj-lt"/>
              </a:rPr>
              <a:t> </a:t>
            </a:r>
          </a:p>
        </p:txBody>
      </p:sp>
    </p:spTree>
    <p:extLst>
      <p:ext uri="{BB962C8B-B14F-4D97-AF65-F5344CB8AC3E}">
        <p14:creationId xmlns:p14="http://schemas.microsoft.com/office/powerpoint/2010/main" val="351159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Full Angular Density of Carbon</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14</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sp>
        <p:nvSpPr>
          <p:cNvPr id="18" name="TextBox 17">
            <a:extLst>
              <a:ext uri="{FF2B5EF4-FFF2-40B4-BE49-F238E27FC236}">
                <a16:creationId xmlns:a16="http://schemas.microsoft.com/office/drawing/2014/main" id="{E17041DE-9AEA-42B2-9C73-2D71FE9B0268}"/>
              </a:ext>
            </a:extLst>
          </p:cNvPr>
          <p:cNvSpPr txBox="1"/>
          <p:nvPr/>
        </p:nvSpPr>
        <p:spPr>
          <a:xfrm>
            <a:off x="8466944" y="4277761"/>
            <a:ext cx="3511673" cy="1754326"/>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Spherical symmetry-breaking effect is small and total density looks mostly spherical</a:t>
            </a:r>
          </a:p>
          <a:p>
            <a:pPr marL="285750" indent="-285750">
              <a:buFont typeface="Arial" panose="020B0604020202020204" pitchFamily="34" charset="0"/>
              <a:buChar char="•"/>
            </a:pPr>
            <a:endParaRPr lang="en-CA" dirty="0">
              <a:latin typeface="+mj-lt"/>
            </a:endParaRPr>
          </a:p>
          <a:p>
            <a:pPr marL="285750" indent="-285750">
              <a:buFont typeface="Arial" panose="020B0604020202020204" pitchFamily="34" charset="0"/>
              <a:buChar char="•"/>
            </a:pPr>
            <a:r>
              <a:rPr lang="en-CA" dirty="0">
                <a:latin typeface="+mj-lt"/>
              </a:rPr>
              <a:t>Model with Pauli approximation predicts symmetry-breaking at Carbon</a:t>
            </a:r>
          </a:p>
        </p:txBody>
      </p:sp>
      <p:pic>
        <p:nvPicPr>
          <p:cNvPr id="4" name="Picture 3" descr="A picture containing graphical user interface&#10;&#10;Description automatically generated">
            <a:extLst>
              <a:ext uri="{FF2B5EF4-FFF2-40B4-BE49-F238E27FC236}">
                <a16:creationId xmlns:a16="http://schemas.microsoft.com/office/drawing/2014/main" id="{F0592545-2DC6-486F-86F4-DB01E5CD1D1B}"/>
              </a:ext>
            </a:extLst>
          </p:cNvPr>
          <p:cNvPicPr>
            <a:picLocks noChangeAspect="1"/>
          </p:cNvPicPr>
          <p:nvPr/>
        </p:nvPicPr>
        <p:blipFill rotWithShape="1">
          <a:blip r:embed="rId4">
            <a:extLst>
              <a:ext uri="{28A0092B-C50C-407E-A947-70E740481C1C}">
                <a14:useLocalDpi xmlns:a14="http://schemas.microsoft.com/office/drawing/2010/main" val="0"/>
              </a:ext>
            </a:extLst>
          </a:blip>
          <a:srcRect l="8378" t="8441" r="8005" b="7028"/>
          <a:stretch/>
        </p:blipFill>
        <p:spPr>
          <a:xfrm>
            <a:off x="0" y="1363445"/>
            <a:ext cx="8411792" cy="4708779"/>
          </a:xfrm>
          <a:prstGeom prst="rect">
            <a:avLst/>
          </a:prstGeom>
        </p:spPr>
      </p:pic>
      <p:grpSp>
        <p:nvGrpSpPr>
          <p:cNvPr id="12" name="Group 11">
            <a:extLst>
              <a:ext uri="{FF2B5EF4-FFF2-40B4-BE49-F238E27FC236}">
                <a16:creationId xmlns:a16="http://schemas.microsoft.com/office/drawing/2014/main" id="{E10E8D55-F043-4648-912D-826EDB554364}"/>
              </a:ext>
            </a:extLst>
          </p:cNvPr>
          <p:cNvGrpSpPr/>
          <p:nvPr/>
        </p:nvGrpSpPr>
        <p:grpSpPr>
          <a:xfrm>
            <a:off x="8343698" y="1957624"/>
            <a:ext cx="3764529" cy="2003003"/>
            <a:chOff x="8401115" y="1659279"/>
            <a:chExt cx="3308605" cy="1808418"/>
          </a:xfrm>
        </p:grpSpPr>
        <p:pic>
          <p:nvPicPr>
            <p:cNvPr id="6" name="Picture 5">
              <a:extLst>
                <a:ext uri="{FF2B5EF4-FFF2-40B4-BE49-F238E27FC236}">
                  <a16:creationId xmlns:a16="http://schemas.microsoft.com/office/drawing/2014/main" id="{88104715-F64A-4FB1-8004-064E6F6C2F83}"/>
                </a:ext>
              </a:extLst>
            </p:cNvPr>
            <p:cNvPicPr>
              <a:picLocks noChangeAspect="1"/>
            </p:cNvPicPr>
            <p:nvPr/>
          </p:nvPicPr>
          <p:blipFill rotWithShape="1">
            <a:blip r:embed="rId5"/>
            <a:srcRect l="1131" t="5396" r="745" b="2264"/>
            <a:stretch/>
          </p:blipFill>
          <p:spPr>
            <a:xfrm>
              <a:off x="8401115" y="1659279"/>
              <a:ext cx="3308605" cy="1336902"/>
            </a:xfrm>
            <a:prstGeom prst="rect">
              <a:avLst/>
            </a:prstGeom>
          </p:spPr>
        </p:pic>
        <p:pic>
          <p:nvPicPr>
            <p:cNvPr id="11" name="Picture 10">
              <a:extLst>
                <a:ext uri="{FF2B5EF4-FFF2-40B4-BE49-F238E27FC236}">
                  <a16:creationId xmlns:a16="http://schemas.microsoft.com/office/drawing/2014/main" id="{D359CFF6-B546-49CF-8E75-25A0F75784B4}"/>
                </a:ext>
              </a:extLst>
            </p:cNvPr>
            <p:cNvPicPr>
              <a:picLocks noChangeAspect="1"/>
            </p:cNvPicPr>
            <p:nvPr/>
          </p:nvPicPr>
          <p:blipFill rotWithShape="1">
            <a:blip r:embed="rId6"/>
            <a:srcRect l="1131" t="11538" r="910" b="8462"/>
            <a:stretch/>
          </p:blipFill>
          <p:spPr>
            <a:xfrm>
              <a:off x="8401115" y="2972397"/>
              <a:ext cx="3303013" cy="495300"/>
            </a:xfrm>
            <a:prstGeom prst="rect">
              <a:avLst/>
            </a:prstGeom>
          </p:spPr>
        </p:pic>
      </p:grpSp>
    </p:spTree>
    <p:extLst>
      <p:ext uri="{BB962C8B-B14F-4D97-AF65-F5344CB8AC3E}">
        <p14:creationId xmlns:p14="http://schemas.microsoft.com/office/powerpoint/2010/main" val="108595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Future Work</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15</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sp>
        <p:nvSpPr>
          <p:cNvPr id="14" name="TextBox 13">
            <a:extLst>
              <a:ext uri="{FF2B5EF4-FFF2-40B4-BE49-F238E27FC236}">
                <a16:creationId xmlns:a16="http://schemas.microsoft.com/office/drawing/2014/main" id="{F3F8F0AD-0451-4E29-8632-BA42D36C37F2}"/>
              </a:ext>
            </a:extLst>
          </p:cNvPr>
          <p:cNvSpPr txBox="1"/>
          <p:nvPr/>
        </p:nvSpPr>
        <p:spPr>
          <a:xfrm>
            <a:off x="523875" y="2010575"/>
            <a:ext cx="6474209" cy="3293209"/>
          </a:xfrm>
          <a:prstGeom prst="rect">
            <a:avLst/>
          </a:prstGeom>
          <a:noFill/>
        </p:spPr>
        <p:txBody>
          <a:bodyPr wrap="square" rtlCol="0">
            <a:spAutoFit/>
          </a:bodyPr>
          <a:lstStyle/>
          <a:p>
            <a:pPr marL="285750" indent="-285750">
              <a:buFont typeface="Arial" panose="020B0604020202020204" pitchFamily="34" charset="0"/>
              <a:buChar char="•"/>
            </a:pPr>
            <a:r>
              <a:rPr lang="en-CA" dirty="0">
                <a:solidFill>
                  <a:srgbClr val="000000"/>
                </a:solidFill>
                <a:latin typeface="Barlow Condensed"/>
              </a:rPr>
              <a:t>Implementing exact 4-D excluded-volume Pauli exclusion field is the next big step, since this is the only approximation preventing full Hartree-</a:t>
            </a:r>
            <a:r>
              <a:rPr lang="en-CA" dirty="0" err="1">
                <a:solidFill>
                  <a:srgbClr val="000000"/>
                </a:solidFill>
                <a:latin typeface="Barlow Condensed"/>
              </a:rPr>
              <a:t>Fock</a:t>
            </a:r>
            <a:r>
              <a:rPr lang="en-CA" dirty="0">
                <a:solidFill>
                  <a:srgbClr val="000000"/>
                </a:solidFill>
                <a:latin typeface="Barlow Condensed"/>
              </a:rPr>
              <a:t> equivalence in practice</a:t>
            </a:r>
          </a:p>
          <a:p>
            <a:pPr marL="285750" indent="-285750">
              <a:buFont typeface="Arial" panose="020B0604020202020204" pitchFamily="34" charset="0"/>
              <a:buChar char="•"/>
            </a:pPr>
            <a:endParaRPr lang="en-CA" dirty="0">
              <a:solidFill>
                <a:srgbClr val="000000"/>
              </a:solidFill>
              <a:latin typeface="Barlow Condensed"/>
            </a:endParaRPr>
          </a:p>
          <a:p>
            <a:pPr marL="285750" indent="-285750">
              <a:buFont typeface="Arial" panose="020B0604020202020204" pitchFamily="34" charset="0"/>
              <a:buChar char="•"/>
            </a:pPr>
            <a:r>
              <a:rPr lang="en-CA" dirty="0">
                <a:solidFill>
                  <a:srgbClr val="000000"/>
                </a:solidFill>
                <a:latin typeface="Barlow Condensed"/>
              </a:rPr>
              <a:t>Adding correlation terms into the model will help account for some of the remaining discrepancies with experimental results</a:t>
            </a:r>
          </a:p>
          <a:p>
            <a:endParaRPr lang="en-CA" dirty="0">
              <a:solidFill>
                <a:srgbClr val="000000"/>
              </a:solidFill>
              <a:latin typeface="Barlow Condensed"/>
            </a:endParaRPr>
          </a:p>
          <a:p>
            <a:pPr marL="285750" indent="-285750">
              <a:buFont typeface="Arial" panose="020B0604020202020204" pitchFamily="34" charset="0"/>
              <a:buChar char="•"/>
            </a:pPr>
            <a:r>
              <a:rPr lang="en-CA" dirty="0">
                <a:solidFill>
                  <a:srgbClr val="000000"/>
                </a:solidFill>
                <a:latin typeface="Barlow Condensed"/>
              </a:rPr>
              <a:t>Model infrastructure can be used to extend previous diatomic molecular calculations </a:t>
            </a:r>
          </a:p>
          <a:p>
            <a:pPr marL="285750" indent="-285750">
              <a:buFont typeface="Arial" panose="020B0604020202020204" pitchFamily="34" charset="0"/>
              <a:buChar char="•"/>
            </a:pPr>
            <a:endParaRPr lang="en-CA" sz="1000" dirty="0">
              <a:solidFill>
                <a:srgbClr val="000000"/>
              </a:solidFill>
              <a:latin typeface="Barlow Condensed"/>
            </a:endParaRPr>
          </a:p>
          <a:p>
            <a:pPr marL="742950" lvl="1" indent="-285750">
              <a:buFont typeface="Arial" panose="020B0604020202020204" pitchFamily="34" charset="0"/>
              <a:buChar char="•"/>
            </a:pPr>
            <a:r>
              <a:rPr lang="en-CA" dirty="0">
                <a:solidFill>
                  <a:srgbClr val="000000"/>
                </a:solidFill>
                <a:latin typeface="Barlow Condensed"/>
              </a:rPr>
              <a:t>Periodic solid-state systems could also be explored using pseudo-potentials</a:t>
            </a:r>
          </a:p>
        </p:txBody>
      </p:sp>
      <p:pic>
        <p:nvPicPr>
          <p:cNvPr id="1026" name="Picture 2" descr="Figure 1">
            <a:extLst>
              <a:ext uri="{FF2B5EF4-FFF2-40B4-BE49-F238E27FC236}">
                <a16:creationId xmlns:a16="http://schemas.microsoft.com/office/drawing/2014/main" id="{69AF5F17-52BB-41F4-91E8-FD156F649F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1948" y="1926549"/>
            <a:ext cx="3689829" cy="365510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DE053A6-E1C5-4BDE-AF04-6C533445A275}"/>
              </a:ext>
            </a:extLst>
          </p:cNvPr>
          <p:cNvSpPr txBox="1"/>
          <p:nvPr/>
        </p:nvSpPr>
        <p:spPr>
          <a:xfrm>
            <a:off x="7601947" y="5581650"/>
            <a:ext cx="4018553" cy="584775"/>
          </a:xfrm>
          <a:prstGeom prst="rect">
            <a:avLst/>
          </a:prstGeom>
          <a:noFill/>
        </p:spPr>
        <p:txBody>
          <a:bodyPr wrap="square" rtlCol="0">
            <a:spAutoFit/>
          </a:bodyPr>
          <a:lstStyle/>
          <a:p>
            <a:r>
              <a:rPr lang="en-CA" sz="1600" dirty="0">
                <a:latin typeface="+mj-lt"/>
              </a:rPr>
              <a:t>Contour plot of a diatomic molecule from previous work: </a:t>
            </a:r>
            <a:r>
              <a:rPr lang="en-CA" sz="1600" b="0" i="1" dirty="0">
                <a:solidFill>
                  <a:srgbClr val="000000"/>
                </a:solidFill>
                <a:effectLst/>
                <a:latin typeface="-apple-system"/>
                <a:cs typeface="Calibri" panose="020F0502020204030204" pitchFamily="34" charset="0"/>
              </a:rPr>
              <a:t>J. Phys. Chem. A</a:t>
            </a:r>
            <a:r>
              <a:rPr lang="en-CA" sz="1600" b="0" i="0" dirty="0">
                <a:solidFill>
                  <a:srgbClr val="000000"/>
                </a:solidFill>
                <a:effectLst/>
                <a:latin typeface="-apple-system"/>
                <a:cs typeface="Calibri" panose="020F0502020204030204" pitchFamily="34" charset="0"/>
              </a:rPr>
              <a:t> </a:t>
            </a:r>
            <a:r>
              <a:rPr lang="en-CA" sz="1600" b="1" i="0" dirty="0">
                <a:solidFill>
                  <a:srgbClr val="000000"/>
                </a:solidFill>
                <a:effectLst/>
                <a:latin typeface="-apple-system"/>
                <a:cs typeface="Calibri" panose="020F0502020204030204" pitchFamily="34" charset="0"/>
              </a:rPr>
              <a:t>126</a:t>
            </a:r>
            <a:r>
              <a:rPr lang="en-CA" sz="1600" dirty="0">
                <a:solidFill>
                  <a:srgbClr val="000000"/>
                </a:solidFill>
                <a:latin typeface="-apple-system"/>
                <a:cs typeface="Calibri" panose="020F0502020204030204" pitchFamily="34" charset="0"/>
              </a:rPr>
              <a:t>(</a:t>
            </a:r>
            <a:r>
              <a:rPr lang="en-CA" sz="1600" b="0" i="0" dirty="0">
                <a:solidFill>
                  <a:srgbClr val="000000"/>
                </a:solidFill>
                <a:effectLst/>
                <a:latin typeface="-apple-system"/>
                <a:cs typeface="Calibri" panose="020F0502020204030204" pitchFamily="34" charset="0"/>
              </a:rPr>
              <a:t>2), 325–332 (2022).</a:t>
            </a:r>
            <a:endParaRPr lang="en-CA" sz="1600" dirty="0">
              <a:latin typeface="-apple-system"/>
            </a:endParaRPr>
          </a:p>
        </p:txBody>
      </p:sp>
    </p:spTree>
    <p:extLst>
      <p:ext uri="{BB962C8B-B14F-4D97-AF65-F5344CB8AC3E}">
        <p14:creationId xmlns:p14="http://schemas.microsoft.com/office/powerpoint/2010/main" val="3803143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dirty="0"/>
              <a:t>PAGE  </a:t>
            </a:r>
            <a:fld id="{93005692-73BE-493E-93AB-ECD6027A7652}" type="slidenum">
              <a:rPr lang="en-US" smtClean="0"/>
              <a:pPr/>
              <a:t>16</a:t>
            </a:fld>
            <a:endParaRPr lang="en-US" dirty="0"/>
          </a:p>
        </p:txBody>
      </p:sp>
      <p:sp>
        <p:nvSpPr>
          <p:cNvPr id="2" name="TextBox 1">
            <a:extLst>
              <a:ext uri="{FF2B5EF4-FFF2-40B4-BE49-F238E27FC236}">
                <a16:creationId xmlns:a16="http://schemas.microsoft.com/office/drawing/2014/main" id="{5D78F9E5-903C-42EE-B069-1C7F6167C117}"/>
              </a:ext>
            </a:extLst>
          </p:cNvPr>
          <p:cNvSpPr txBox="1"/>
          <p:nvPr/>
        </p:nvSpPr>
        <p:spPr>
          <a:xfrm>
            <a:off x="3602665" y="2541182"/>
            <a:ext cx="4986670" cy="1077218"/>
          </a:xfrm>
          <a:prstGeom prst="rect">
            <a:avLst/>
          </a:prstGeom>
          <a:noFill/>
        </p:spPr>
        <p:txBody>
          <a:bodyPr wrap="square" rtlCol="0">
            <a:spAutoFit/>
          </a:bodyPr>
          <a:lstStyle/>
          <a:p>
            <a:pPr algn="ctr"/>
            <a:r>
              <a:rPr lang="en-CA" sz="3200" dirty="0">
                <a:latin typeface="+mj-lt"/>
              </a:rPr>
              <a:t>Thank you for listening, </a:t>
            </a:r>
          </a:p>
          <a:p>
            <a:pPr algn="ctr"/>
            <a:r>
              <a:rPr lang="en-CA" sz="3200" dirty="0">
                <a:latin typeface="+mj-lt"/>
              </a:rPr>
              <a:t>are there any questions?</a:t>
            </a:r>
          </a:p>
        </p:txBody>
      </p:sp>
    </p:spTree>
    <p:extLst>
      <p:ext uri="{BB962C8B-B14F-4D97-AF65-F5344CB8AC3E}">
        <p14:creationId xmlns:p14="http://schemas.microsoft.com/office/powerpoint/2010/main" val="274650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4E13BC-03D2-4034-95D6-6A08D5535F94}"/>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References</a:t>
            </a:r>
          </a:p>
        </p:txBody>
      </p:sp>
      <p:sp>
        <p:nvSpPr>
          <p:cNvPr id="5" name="TextBox 4">
            <a:extLst>
              <a:ext uri="{FF2B5EF4-FFF2-40B4-BE49-F238E27FC236}">
                <a16:creationId xmlns:a16="http://schemas.microsoft.com/office/drawing/2014/main" id="{7334DFD9-3277-4864-BE96-06140DA631E0}"/>
              </a:ext>
            </a:extLst>
          </p:cNvPr>
          <p:cNvSpPr txBox="1"/>
          <p:nvPr/>
        </p:nvSpPr>
        <p:spPr>
          <a:xfrm>
            <a:off x="-69850" y="1363445"/>
            <a:ext cx="11315700" cy="5386090"/>
          </a:xfrm>
          <a:prstGeom prst="rect">
            <a:avLst/>
          </a:prstGeom>
          <a:noFill/>
        </p:spPr>
        <p:txBody>
          <a:bodyPr wrap="square" rtlCol="0">
            <a:spAutoFit/>
          </a:bodyPr>
          <a:lstStyle/>
          <a:p>
            <a:pPr marL="800100" lvl="1" indent="-342900">
              <a:buFont typeface="+mj-lt"/>
              <a:buAutoNum type="arabicPeriod"/>
            </a:pPr>
            <a:r>
              <a:rPr lang="en-CA" sz="1400" dirty="0">
                <a:latin typeface="+mj-lt"/>
              </a:rPr>
              <a:t>Theory of Inhomogeneous Polymers: Fundamentals of the Gaussian Random-Walk Model (E. Helfand)</a:t>
            </a:r>
          </a:p>
          <a:p>
            <a:pPr marL="800100" lvl="1" indent="-342900">
              <a:buFont typeface="+mj-lt"/>
              <a:buAutoNum type="arabicPeriod"/>
            </a:pPr>
            <a:r>
              <a:rPr lang="en-CA" sz="1400" dirty="0">
                <a:latin typeface="+mj-lt"/>
              </a:rPr>
              <a:t>The Statistical Mechanics of Polymers with Excluded Volume (S. Edwards)</a:t>
            </a:r>
          </a:p>
          <a:p>
            <a:pPr marL="800100" lvl="1" indent="-342900">
              <a:buFont typeface="+mj-lt"/>
              <a:buAutoNum type="arabicPeriod"/>
            </a:pPr>
            <a:r>
              <a:rPr lang="en-CA" sz="1400" dirty="0">
                <a:latin typeface="+mj-lt"/>
              </a:rPr>
              <a:t>Self-Consistent Field Theory and Its Applications (M. W. </a:t>
            </a:r>
            <a:r>
              <a:rPr lang="en-CA" sz="1400" dirty="0" err="1">
                <a:latin typeface="+mj-lt"/>
              </a:rPr>
              <a:t>Matsen</a:t>
            </a:r>
            <a:r>
              <a:rPr lang="en-CA" sz="1400" dirty="0">
                <a:latin typeface="+mj-lt"/>
              </a:rPr>
              <a:t>)</a:t>
            </a:r>
          </a:p>
          <a:p>
            <a:pPr marL="800100" lvl="1" indent="-342900">
              <a:buFont typeface="+mj-lt"/>
              <a:buAutoNum type="arabicPeriod"/>
            </a:pPr>
            <a:r>
              <a:rPr lang="en-CA" sz="1400" dirty="0">
                <a:latin typeface="+mj-lt"/>
              </a:rPr>
              <a:t>Quantum Statistics of Almost Classical Assemblies (J. Kirkwood)</a:t>
            </a:r>
          </a:p>
          <a:p>
            <a:pPr marL="800100" lvl="1" indent="-342900">
              <a:buFont typeface="+mj-lt"/>
              <a:buAutoNum type="arabicPeriod"/>
            </a:pPr>
            <a:r>
              <a:rPr lang="en-CA" sz="1400" dirty="0">
                <a:latin typeface="+mj-lt"/>
              </a:rPr>
              <a:t>Path Integrals in the Theory of Condensed Helium (D. </a:t>
            </a:r>
            <a:r>
              <a:rPr lang="en-CA" sz="1400" dirty="0" err="1">
                <a:latin typeface="+mj-lt"/>
              </a:rPr>
              <a:t>Ceperley</a:t>
            </a:r>
            <a:r>
              <a:rPr lang="en-CA" sz="1400" dirty="0">
                <a:latin typeface="+mj-lt"/>
              </a:rPr>
              <a:t>)</a:t>
            </a:r>
          </a:p>
          <a:p>
            <a:pPr marL="800100" lvl="1" indent="-342900">
              <a:buFont typeface="+mj-lt"/>
              <a:buAutoNum type="arabicPeriod"/>
            </a:pPr>
            <a:r>
              <a:rPr lang="en-CA" sz="1400" dirty="0">
                <a:latin typeface="+mj-lt"/>
              </a:rPr>
              <a:t>Exploiting the Isomorphism Between Quantum Theory and Classical Statistical Mechanics of Polyatomic Fluids (D. Chandler &amp; P. </a:t>
            </a:r>
            <a:r>
              <a:rPr lang="en-CA" sz="1400" dirty="0" err="1">
                <a:latin typeface="+mj-lt"/>
              </a:rPr>
              <a:t>Wolynes</a:t>
            </a:r>
            <a:r>
              <a:rPr lang="en-CA" sz="1400" dirty="0">
                <a:latin typeface="+mj-lt"/>
              </a:rPr>
              <a:t>)</a:t>
            </a:r>
          </a:p>
          <a:p>
            <a:pPr marL="800100" lvl="1" indent="-342900">
              <a:buFont typeface="+mj-lt"/>
              <a:buAutoNum type="arabicPeriod"/>
            </a:pPr>
            <a:r>
              <a:rPr lang="en-CA" sz="1400" dirty="0">
                <a:latin typeface="+mj-lt"/>
              </a:rPr>
              <a:t>Density Functional Theory: It’s Origins, Rise to Prominence, and Future (R. Jones)</a:t>
            </a:r>
          </a:p>
          <a:p>
            <a:pPr marL="800100" lvl="1" indent="-342900">
              <a:buFont typeface="+mj-lt"/>
              <a:buAutoNum type="arabicPeriod"/>
            </a:pPr>
            <a:r>
              <a:rPr lang="en-CA" sz="1400" dirty="0">
                <a:latin typeface="+mj-lt"/>
              </a:rPr>
              <a:t>Density Functional Theory of Atoms and Molecules (R. G. Parr &amp; W. Yang)</a:t>
            </a:r>
          </a:p>
          <a:p>
            <a:pPr marL="800100" lvl="1" indent="-342900">
              <a:buFont typeface="+mj-lt"/>
              <a:buAutoNum type="arabicPeriod"/>
            </a:pPr>
            <a:r>
              <a:rPr lang="en-CA" sz="1400" dirty="0">
                <a:latin typeface="+mj-lt"/>
              </a:rPr>
              <a:t>Atomic Theory of the Lambda-Transition in Helium (R. P. Feynman)</a:t>
            </a:r>
          </a:p>
          <a:p>
            <a:pPr marL="800100" lvl="1" indent="-342900">
              <a:buFont typeface="+mj-lt"/>
              <a:buAutoNum type="arabicPeriod"/>
            </a:pPr>
            <a:r>
              <a:rPr lang="en-CA" sz="1400" dirty="0">
                <a:latin typeface="+mj-lt"/>
              </a:rPr>
              <a:t>The Lambda-Transition in Liquid Helium (R. P. Feynman)</a:t>
            </a:r>
          </a:p>
          <a:p>
            <a:pPr marL="800100" lvl="1" indent="-342900">
              <a:buFont typeface="+mj-lt"/>
              <a:buAutoNum type="arabicPeriod"/>
            </a:pPr>
            <a:r>
              <a:rPr lang="en-CA" sz="1400" dirty="0">
                <a:latin typeface="+mj-lt"/>
              </a:rPr>
              <a:t>Can Orbital-Free Density Functional Theory Simulate Molecules (J. Xia, C. Huang, I. Shin, &amp; E. Carter)</a:t>
            </a:r>
          </a:p>
          <a:p>
            <a:pPr marL="800100" lvl="1" indent="-342900">
              <a:buFont typeface="+mj-lt"/>
              <a:buAutoNum type="arabicPeriod"/>
            </a:pPr>
            <a:r>
              <a:rPr lang="en-CA" sz="1400" dirty="0">
                <a:latin typeface="+mj-lt"/>
              </a:rPr>
              <a:t>Molecular Bonding in an Orbital-Free-Related Density Functional Theory (S. </a:t>
            </a:r>
            <a:r>
              <a:rPr lang="en-CA" sz="1400" dirty="0" err="1">
                <a:latin typeface="+mj-lt"/>
              </a:rPr>
              <a:t>Sillaste</a:t>
            </a:r>
            <a:r>
              <a:rPr lang="en-CA" sz="1400" dirty="0">
                <a:latin typeface="+mj-lt"/>
              </a:rPr>
              <a:t> &amp; R. B. Thompson)</a:t>
            </a:r>
          </a:p>
          <a:p>
            <a:pPr marL="800100" lvl="1" indent="-342900">
              <a:buFont typeface="+mj-lt"/>
              <a:buAutoNum type="arabicPeriod"/>
            </a:pPr>
            <a:r>
              <a:rPr lang="en-CA" sz="1400" dirty="0">
                <a:latin typeface="+mj-lt"/>
              </a:rPr>
              <a:t>An Alternative Derivation to Orbital-Free Density Functional Theory (R. B. Thompson)</a:t>
            </a:r>
          </a:p>
          <a:p>
            <a:pPr marL="800100" lvl="1" indent="-342900">
              <a:buFont typeface="+mj-lt"/>
              <a:buAutoNum type="arabicPeriod"/>
            </a:pPr>
            <a:r>
              <a:rPr lang="en-CA" sz="1400" dirty="0">
                <a:latin typeface="+mj-lt"/>
              </a:rPr>
              <a:t>Atomic Shell Structure From an Orbital-Free-Related Density-Functional-Theory Pauli Potential (R. B. Thompson)</a:t>
            </a:r>
          </a:p>
          <a:p>
            <a:pPr marL="800100" lvl="1" indent="-342900">
              <a:buFont typeface="+mj-lt"/>
              <a:buAutoNum type="arabicPeriod"/>
            </a:pPr>
            <a:r>
              <a:rPr lang="en-CA" sz="1400" dirty="0">
                <a:latin typeface="+mj-lt"/>
              </a:rPr>
              <a:t>Moments and Expansion Coefficients of Atomic Electron Momentum Densities: Numerical Hartree-</a:t>
            </a:r>
            <a:r>
              <a:rPr lang="en-CA" sz="1400" dirty="0" err="1">
                <a:latin typeface="+mj-lt"/>
              </a:rPr>
              <a:t>Fock</a:t>
            </a:r>
            <a:r>
              <a:rPr lang="en-CA" sz="1400" dirty="0">
                <a:latin typeface="+mj-lt"/>
              </a:rPr>
              <a:t> Calculations for Hydrogen to Lawrencium (T. Koga &amp; A. J. </a:t>
            </a:r>
            <a:r>
              <a:rPr lang="en-CA" sz="1400" dirty="0" err="1">
                <a:latin typeface="+mj-lt"/>
              </a:rPr>
              <a:t>Thakker</a:t>
            </a:r>
            <a:r>
              <a:rPr lang="en-CA" sz="1400" dirty="0">
                <a:latin typeface="+mj-lt"/>
              </a:rPr>
              <a:t>)</a:t>
            </a:r>
          </a:p>
          <a:p>
            <a:pPr marL="800100" lvl="1" indent="-342900">
              <a:buFont typeface="+mj-lt"/>
              <a:buAutoNum type="arabicPeriod"/>
            </a:pPr>
            <a:r>
              <a:rPr lang="en-CA" sz="1400" dirty="0">
                <a:latin typeface="+mj-lt"/>
              </a:rPr>
              <a:t>Analytical Expressions for the Hartree-</a:t>
            </a:r>
            <a:r>
              <a:rPr lang="en-CA" sz="1400" dirty="0" err="1">
                <a:latin typeface="+mj-lt"/>
              </a:rPr>
              <a:t>Fock</a:t>
            </a:r>
            <a:r>
              <a:rPr lang="en-CA" sz="1400" dirty="0">
                <a:latin typeface="+mj-lt"/>
              </a:rPr>
              <a:t> Potential of Neutral Atoms and for the Corresponding Scattering Factors for X-Rays and Electrons (T. G. Strand &amp; R. A. Bonham)</a:t>
            </a:r>
          </a:p>
          <a:p>
            <a:pPr marL="800100" lvl="1" indent="-342900">
              <a:buFont typeface="+mj-lt"/>
              <a:buAutoNum type="arabicPeriod"/>
            </a:pPr>
            <a:r>
              <a:rPr lang="en-CA" sz="1400" dirty="0">
                <a:latin typeface="+mj-lt"/>
              </a:rPr>
              <a:t>Stable and Unstable Phases of a </a:t>
            </a:r>
            <a:r>
              <a:rPr lang="en-CA" sz="1400" dirty="0" err="1">
                <a:latin typeface="+mj-lt"/>
              </a:rPr>
              <a:t>Diblock</a:t>
            </a:r>
            <a:r>
              <a:rPr lang="en-CA" sz="1400" dirty="0">
                <a:latin typeface="+mj-lt"/>
              </a:rPr>
              <a:t> Copolymer Melt (M. W. </a:t>
            </a:r>
            <a:r>
              <a:rPr lang="en-CA" sz="1400" dirty="0" err="1">
                <a:latin typeface="+mj-lt"/>
              </a:rPr>
              <a:t>Matsen</a:t>
            </a:r>
            <a:r>
              <a:rPr lang="en-CA" sz="1400" dirty="0">
                <a:latin typeface="+mj-lt"/>
              </a:rPr>
              <a:t> &amp; M. Schick)</a:t>
            </a:r>
          </a:p>
          <a:p>
            <a:pPr marL="800100" lvl="1" indent="-342900">
              <a:buFont typeface="+mj-lt"/>
              <a:buAutoNum type="arabicPeriod"/>
            </a:pPr>
            <a:r>
              <a:rPr lang="en-CA" sz="1400" dirty="0">
                <a:latin typeface="+mj-lt"/>
              </a:rPr>
              <a:t>Thermal Properties of the Inhomogeneous Electron Gas (N. D. </a:t>
            </a:r>
            <a:r>
              <a:rPr lang="en-CA" sz="1400" dirty="0" err="1">
                <a:latin typeface="+mj-lt"/>
              </a:rPr>
              <a:t>Mermin</a:t>
            </a:r>
            <a:r>
              <a:rPr lang="en-CA" sz="1400" dirty="0">
                <a:latin typeface="+mj-lt"/>
              </a:rPr>
              <a:t>)</a:t>
            </a:r>
          </a:p>
          <a:p>
            <a:pPr marL="800100" lvl="1" indent="-342900">
              <a:buFont typeface="+mj-lt"/>
              <a:buAutoNum type="arabicPeriod"/>
            </a:pPr>
            <a:r>
              <a:rPr lang="en-CA" sz="1400" dirty="0">
                <a:latin typeface="+mj-lt"/>
              </a:rPr>
              <a:t>Self-Consistent Equations Including Exchange and Correlation Effects (W. Kohn &amp; L. J. Sham)</a:t>
            </a:r>
          </a:p>
          <a:p>
            <a:pPr marL="800100" lvl="1" indent="-342900">
              <a:buFont typeface="+mj-lt"/>
              <a:buAutoNum type="arabicPeriod"/>
            </a:pPr>
            <a:r>
              <a:rPr lang="en-CA" sz="1400" dirty="0">
                <a:latin typeface="+mj-lt"/>
              </a:rPr>
              <a:t>Quantum Mechanics and Path Integrals (R. P. Feynman &amp; A. R. Hibbs)</a:t>
            </a:r>
          </a:p>
          <a:p>
            <a:pPr marL="800100" lvl="1" indent="-342900">
              <a:buFont typeface="+mj-lt"/>
              <a:buAutoNum type="arabicPeriod"/>
            </a:pPr>
            <a:r>
              <a:rPr lang="en-CA" sz="1400" dirty="0">
                <a:latin typeface="+mj-lt"/>
              </a:rPr>
              <a:t>Principles of Quantum Mechanics 2</a:t>
            </a:r>
            <a:r>
              <a:rPr lang="en-CA" sz="1400" baseline="30000" dirty="0">
                <a:latin typeface="+mj-lt"/>
              </a:rPr>
              <a:t>nd</a:t>
            </a:r>
            <a:r>
              <a:rPr lang="en-CA" sz="1400" dirty="0">
                <a:latin typeface="+mj-lt"/>
              </a:rPr>
              <a:t> Ed. (R. Shankar)</a:t>
            </a:r>
          </a:p>
          <a:p>
            <a:pPr marL="800100" lvl="1" indent="-342900">
              <a:buFont typeface="+mj-lt"/>
              <a:buAutoNum type="arabicPeriod"/>
            </a:pPr>
            <a:r>
              <a:rPr lang="en-CA" sz="1400" dirty="0">
                <a:latin typeface="+mj-lt"/>
              </a:rPr>
              <a:t>Modern Electronic Structure Theory Chapter 12 (T. </a:t>
            </a:r>
            <a:r>
              <a:rPr lang="en-CA" sz="1400" dirty="0" err="1">
                <a:latin typeface="+mj-lt"/>
              </a:rPr>
              <a:t>Helgaker</a:t>
            </a:r>
            <a:r>
              <a:rPr lang="en-CA" sz="1400" dirty="0">
                <a:latin typeface="+mj-lt"/>
              </a:rPr>
              <a:t>)</a:t>
            </a:r>
          </a:p>
          <a:p>
            <a:pPr marL="800100" lvl="1" indent="-342900">
              <a:buFont typeface="+mj-lt"/>
              <a:buAutoNum type="arabicPeriod"/>
            </a:pPr>
            <a:r>
              <a:rPr lang="en-CA" sz="1400" dirty="0">
                <a:latin typeface="+mj-lt"/>
              </a:rPr>
              <a:t>NIST Atomic Spectra Database (A. </a:t>
            </a:r>
            <a:r>
              <a:rPr lang="en-CA" sz="1400" dirty="0" err="1">
                <a:latin typeface="+mj-lt"/>
              </a:rPr>
              <a:t>Kramida</a:t>
            </a:r>
            <a:r>
              <a:rPr lang="en-CA" sz="1400" dirty="0">
                <a:latin typeface="+mj-lt"/>
              </a:rPr>
              <a:t> et al.)</a:t>
            </a:r>
          </a:p>
          <a:p>
            <a:pPr marL="742950" lvl="1" indent="-285750">
              <a:buFont typeface="Arial" panose="020B0604020202020204" pitchFamily="34" charset="0"/>
              <a:buChar char="•"/>
            </a:pPr>
            <a:endParaRPr lang="en-CA" dirty="0">
              <a:latin typeface="+mj-lt"/>
            </a:endParaRPr>
          </a:p>
        </p:txBody>
      </p:sp>
      <p:cxnSp>
        <p:nvCxnSpPr>
          <p:cNvPr id="6" name="Straight Connector 5">
            <a:extLst>
              <a:ext uri="{FF2B5EF4-FFF2-40B4-BE49-F238E27FC236}">
                <a16:creationId xmlns:a16="http://schemas.microsoft.com/office/drawing/2014/main" id="{F70A427C-3247-4EB2-8C07-45946AC9FD9B}"/>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890E78D4-0A02-4C96-988E-707CE05223F7}"/>
              </a:ext>
            </a:extLst>
          </p:cNvPr>
          <p:cNvSpPr>
            <a:spLocks noGrp="1"/>
          </p:cNvSpPr>
          <p:nvPr>
            <p:ph type="sldNum" sz="quarter" idx="12"/>
          </p:nvPr>
        </p:nvSpPr>
        <p:spPr/>
        <p:txBody>
          <a:bodyPr/>
          <a:lstStyle/>
          <a:p>
            <a:r>
              <a:rPr lang="en-US"/>
              <a:t>PAGE  </a:t>
            </a:r>
            <a:fld id="{93005692-73BE-493E-93AB-ECD6027A7652}" type="slidenum">
              <a:rPr lang="en-US" smtClean="0"/>
              <a:pPr/>
              <a:t>17</a:t>
            </a:fld>
            <a:endParaRPr lang="en-US" dirty="0"/>
          </a:p>
        </p:txBody>
      </p:sp>
    </p:spTree>
    <p:extLst>
      <p:ext uri="{BB962C8B-B14F-4D97-AF65-F5344CB8AC3E}">
        <p14:creationId xmlns:p14="http://schemas.microsoft.com/office/powerpoint/2010/main" val="11556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Benefits of Using this Model</a:t>
            </a:r>
          </a:p>
        </p:txBody>
      </p:sp>
      <p:sp>
        <p:nvSpPr>
          <p:cNvPr id="7" name="Slide Number Placeholder 6">
            <a:extLst>
              <a:ext uri="{FF2B5EF4-FFF2-40B4-BE49-F238E27FC236}">
                <a16:creationId xmlns:a16="http://schemas.microsoft.com/office/drawing/2014/main" id="{DC9210D1-CFBA-4864-BFC1-66C67479F4DD}"/>
              </a:ext>
            </a:extLst>
          </p:cNvPr>
          <p:cNvSpPr>
            <a:spLocks noGrp="1"/>
          </p:cNvSpPr>
          <p:nvPr>
            <p:ph type="sldNum" sz="quarter" idx="12"/>
          </p:nvPr>
        </p:nvSpPr>
        <p:spPr/>
        <p:txBody>
          <a:bodyPr/>
          <a:lstStyle/>
          <a:p>
            <a:r>
              <a:rPr lang="en-US"/>
              <a:t>PAGE  </a:t>
            </a:r>
            <a:fld id="{93005692-73BE-493E-93AB-ECD6027A7652}" type="slidenum">
              <a:rPr lang="en-US" smtClean="0"/>
              <a:pPr/>
              <a:t>18</a:t>
            </a:fld>
            <a:endParaRPr lang="en-US" dirty="0"/>
          </a:p>
        </p:txBody>
      </p:sp>
      <p:pic>
        <p:nvPicPr>
          <p:cNvPr id="8" name="Picture 7">
            <a:extLst>
              <a:ext uri="{FF2B5EF4-FFF2-40B4-BE49-F238E27FC236}">
                <a16:creationId xmlns:a16="http://schemas.microsoft.com/office/drawing/2014/main" id="{8F79FA6C-1C83-4715-B2F0-B8A010636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C35099F-EB9F-4503-9643-F30D4D215E1F}"/>
                  </a:ext>
                </a:extLst>
              </p:cNvPr>
              <p:cNvSpPr txBox="1"/>
              <p:nvPr/>
            </p:nvSpPr>
            <p:spPr>
              <a:xfrm>
                <a:off x="157162" y="2997161"/>
                <a:ext cx="11784307" cy="2585323"/>
              </a:xfrm>
              <a:prstGeom prst="rect">
                <a:avLst/>
              </a:prstGeom>
              <a:noFill/>
            </p:spPr>
            <p:txBody>
              <a:bodyPr wrap="square" rtlCol="0">
                <a:spAutoFit/>
              </a:bodyPr>
              <a:lstStyle/>
              <a:p>
                <a:pPr lvl="0"/>
                <a:r>
                  <a:rPr lang="en-CA" sz="2400" dirty="0">
                    <a:solidFill>
                      <a:srgbClr val="000000"/>
                    </a:solidFill>
                    <a:latin typeface="Barlow Condensed"/>
                  </a:rPr>
                  <a:t>Advantages</a:t>
                </a:r>
                <a:r>
                  <a:rPr lang="en-CA" dirty="0">
                    <a:solidFill>
                      <a:srgbClr val="000000"/>
                    </a:solidFill>
                    <a:latin typeface="Barlow Condensed"/>
                  </a:rPr>
                  <a:t>:</a:t>
                </a:r>
              </a:p>
              <a:p>
                <a:pPr marL="742950" lvl="1" indent="-285750">
                  <a:buFont typeface="Arial" panose="020B0604020202020204" pitchFamily="34" charset="0"/>
                  <a:buChar char="•"/>
                </a:pPr>
                <a:r>
                  <a:rPr lang="en-CA" dirty="0">
                    <a:solidFill>
                      <a:srgbClr val="000000"/>
                    </a:solidFill>
                    <a:latin typeface="Barlow Condensed"/>
                  </a:rPr>
                  <a:t>Potential to significantly reduce computational cost of simulating quantum-mechanical systems</a:t>
                </a:r>
              </a:p>
              <a:p>
                <a:pPr marL="742950" lvl="1" indent="-285750">
                  <a:buFont typeface="Arial" panose="020B0604020202020204" pitchFamily="34" charset="0"/>
                  <a:buChar char="•"/>
                </a:pPr>
                <a:endParaRPr lang="en-CA" sz="1000" dirty="0">
                  <a:solidFill>
                    <a:srgbClr val="000000"/>
                  </a:solidFill>
                  <a:latin typeface="Barlow Condensed"/>
                </a:endParaRPr>
              </a:p>
              <a:p>
                <a:pPr marL="1257300" lvl="2" indent="-342900">
                  <a:buFont typeface="+mj-lt"/>
                  <a:buAutoNum type="arabicParenR"/>
                </a:pPr>
                <a:r>
                  <a:rPr lang="en-CA" dirty="0">
                    <a:solidFill>
                      <a:srgbClr val="000000"/>
                    </a:solidFill>
                    <a:latin typeface="Barlow Condensed"/>
                  </a:rPr>
                  <a:t>OF-DFT can achieve quasi-linear scaling for large systems while KS-DFT scales with the cube of the system size</a:t>
                </a:r>
                <a:endParaRPr lang="en-CA" sz="1000" dirty="0">
                  <a:solidFill>
                    <a:srgbClr val="000000"/>
                  </a:solidFill>
                  <a:latin typeface="Barlow Condensed"/>
                </a:endParaRPr>
              </a:p>
              <a:p>
                <a:pPr marL="1257300" lvl="2" indent="-342900">
                  <a:buFont typeface="+mj-lt"/>
                  <a:buAutoNum type="arabicParenR"/>
                </a:pPr>
                <a:endParaRPr lang="en-CA" sz="1000" dirty="0">
                  <a:solidFill>
                    <a:srgbClr val="000000"/>
                  </a:solidFill>
                  <a:latin typeface="Barlow Condensed"/>
                </a:endParaRPr>
              </a:p>
              <a:p>
                <a:pPr marL="1257300" lvl="2" indent="-342900">
                  <a:buFont typeface="+mj-lt"/>
                  <a:buAutoNum type="arabicParenR"/>
                </a:pPr>
                <a:r>
                  <a:rPr lang="en-CA" dirty="0">
                    <a:solidFill>
                      <a:srgbClr val="000000"/>
                    </a:solidFill>
                    <a:latin typeface="Barlow Condensed"/>
                  </a:rPr>
                  <a:t>Diffusion equation can be spectrally decomposed and converted to a matrix eigenvalue problem, avoiding solving a diffusion equation for each particle position </a:t>
                </a:r>
                <a14:m>
                  <m:oMath xmlns:m="http://schemas.openxmlformats.org/officeDocument/2006/math">
                    <m:sSub>
                      <m:sSubPr>
                        <m:ctrlPr>
                          <a:rPr lang="en-CA" b="0" i="1" smtClean="0">
                            <a:solidFill>
                              <a:srgbClr val="000000"/>
                            </a:solidFill>
                            <a:latin typeface="Cambria Math" panose="02040503050406030204" pitchFamily="18" charset="0"/>
                          </a:rPr>
                        </m:ctrlPr>
                      </m:sSubPr>
                      <m:e>
                        <m:r>
                          <a:rPr lang="en-CA" b="1" i="1" smtClean="0">
                            <a:solidFill>
                              <a:srgbClr val="000000"/>
                            </a:solidFill>
                            <a:latin typeface="Cambria Math" panose="02040503050406030204" pitchFamily="18" charset="0"/>
                          </a:rPr>
                          <m:t>𝒓</m:t>
                        </m:r>
                      </m:e>
                      <m:sub>
                        <m:r>
                          <a:rPr lang="en-CA" b="0" i="1" smtClean="0">
                            <a:solidFill>
                              <a:srgbClr val="000000"/>
                            </a:solidFill>
                            <a:latin typeface="Cambria Math" panose="02040503050406030204" pitchFamily="18" charset="0"/>
                          </a:rPr>
                          <m:t>0</m:t>
                        </m:r>
                      </m:sub>
                    </m:sSub>
                  </m:oMath>
                </a14:m>
                <a:endParaRPr lang="en-CA" sz="1000" b="1" dirty="0">
                  <a:solidFill>
                    <a:srgbClr val="000000"/>
                  </a:solidFill>
                  <a:latin typeface="Barlow Condensed"/>
                </a:endParaRPr>
              </a:p>
              <a:p>
                <a:pPr marL="1257300" lvl="2" indent="-342900">
                  <a:buFont typeface="+mj-lt"/>
                  <a:buAutoNum type="arabicParenR"/>
                </a:pPr>
                <a:endParaRPr lang="en-CA" sz="1000" b="1" dirty="0">
                  <a:solidFill>
                    <a:srgbClr val="000000"/>
                  </a:solidFill>
                  <a:latin typeface="Barlow Condensed"/>
                </a:endParaRPr>
              </a:p>
              <a:p>
                <a:pPr marL="742950" lvl="1" indent="-285750">
                  <a:buFont typeface="Arial" panose="020B0604020202020204" pitchFamily="34" charset="0"/>
                  <a:buChar char="•"/>
                </a:pPr>
                <a:r>
                  <a:rPr lang="en-CA" dirty="0">
                    <a:solidFill>
                      <a:srgbClr val="000000"/>
                    </a:solidFill>
                    <a:latin typeface="Barlow Condensed"/>
                  </a:rPr>
                  <a:t>Temperature dependence is built in automatically</a:t>
                </a:r>
              </a:p>
              <a:p>
                <a:pPr marL="742950" lvl="1" indent="-285750">
                  <a:buFont typeface="Arial" panose="020B0604020202020204" pitchFamily="34" charset="0"/>
                  <a:buChar char="•"/>
                </a:pPr>
                <a:r>
                  <a:rPr lang="en-CA" dirty="0">
                    <a:solidFill>
                      <a:srgbClr val="000000"/>
                    </a:solidFill>
                    <a:latin typeface="Barlow Condensed"/>
                  </a:rPr>
                  <a:t>Can use the more intuitive idea of polymer threads to understand quantum-mechanical calculations</a:t>
                </a:r>
              </a:p>
            </p:txBody>
          </p:sp>
        </mc:Choice>
        <mc:Fallback>
          <p:sp>
            <p:nvSpPr>
              <p:cNvPr id="18" name="TextBox 17">
                <a:extLst>
                  <a:ext uri="{FF2B5EF4-FFF2-40B4-BE49-F238E27FC236}">
                    <a16:creationId xmlns:a16="http://schemas.microsoft.com/office/drawing/2014/main" id="{9C35099F-EB9F-4503-9643-F30D4D215E1F}"/>
                  </a:ext>
                </a:extLst>
              </p:cNvPr>
              <p:cNvSpPr txBox="1">
                <a:spLocks noRot="1" noChangeAspect="1" noMove="1" noResize="1" noEditPoints="1" noAdjustHandles="1" noChangeArrowheads="1" noChangeShapeType="1" noTextEdit="1"/>
              </p:cNvSpPr>
              <p:nvPr/>
            </p:nvSpPr>
            <p:spPr>
              <a:xfrm>
                <a:off x="157162" y="2997161"/>
                <a:ext cx="11784307" cy="2585323"/>
              </a:xfrm>
              <a:prstGeom prst="rect">
                <a:avLst/>
              </a:prstGeom>
              <a:blipFill>
                <a:blip r:embed="rId4"/>
                <a:stretch>
                  <a:fillRect l="-828" t="-1887" b="-3066"/>
                </a:stretch>
              </a:blipFill>
            </p:spPr>
            <p:txBody>
              <a:bodyPr/>
              <a:lstStyle/>
              <a:p>
                <a:r>
                  <a:rPr lang="en-CA">
                    <a:noFill/>
                  </a:rPr>
                  <a:t> </a:t>
                </a:r>
              </a:p>
            </p:txBody>
          </p:sp>
        </mc:Fallback>
      </mc:AlternateContent>
      <p:sp>
        <p:nvSpPr>
          <p:cNvPr id="9" name="TextBox 8">
            <a:extLst>
              <a:ext uri="{FF2B5EF4-FFF2-40B4-BE49-F238E27FC236}">
                <a16:creationId xmlns:a16="http://schemas.microsoft.com/office/drawing/2014/main" id="{255BDE57-CE02-4921-888A-CB64BE87EC5B}"/>
              </a:ext>
            </a:extLst>
          </p:cNvPr>
          <p:cNvSpPr txBox="1"/>
          <p:nvPr/>
        </p:nvSpPr>
        <p:spPr>
          <a:xfrm>
            <a:off x="9287740" y="6335309"/>
            <a:ext cx="2700412" cy="307777"/>
          </a:xfrm>
          <a:prstGeom prst="rect">
            <a:avLst/>
          </a:prstGeom>
          <a:noFill/>
        </p:spPr>
        <p:txBody>
          <a:bodyPr wrap="square">
            <a:spAutoFit/>
          </a:bodyPr>
          <a:lstStyle/>
          <a:p>
            <a:r>
              <a:rPr lang="de-DE" sz="1400" i="1" dirty="0">
                <a:solidFill>
                  <a:srgbClr val="000000"/>
                </a:solidFill>
                <a:latin typeface="-apple-system"/>
              </a:rPr>
              <a:t>J Chem. Phys</a:t>
            </a:r>
            <a:r>
              <a:rPr lang="de-DE" sz="1400" b="0" i="1" dirty="0">
                <a:solidFill>
                  <a:srgbClr val="000000"/>
                </a:solidFill>
                <a:effectLst/>
                <a:latin typeface="-apple-system"/>
              </a:rPr>
              <a:t>. </a:t>
            </a:r>
            <a:r>
              <a:rPr lang="de-DE" sz="1400" b="1" dirty="0">
                <a:solidFill>
                  <a:srgbClr val="000000"/>
                </a:solidFill>
                <a:latin typeface="-apple-system"/>
              </a:rPr>
              <a:t>150</a:t>
            </a:r>
            <a:r>
              <a:rPr lang="de-DE" sz="1400" b="0" i="0" dirty="0">
                <a:solidFill>
                  <a:srgbClr val="000000"/>
                </a:solidFill>
                <a:effectLst/>
                <a:latin typeface="-apple-system"/>
              </a:rPr>
              <a:t>, 204109 (</a:t>
            </a:r>
            <a:r>
              <a:rPr lang="de-DE" sz="1400" dirty="0">
                <a:solidFill>
                  <a:srgbClr val="000000"/>
                </a:solidFill>
                <a:latin typeface="-apple-system"/>
              </a:rPr>
              <a:t>2019</a:t>
            </a:r>
            <a:r>
              <a:rPr lang="de-DE" sz="1400" b="0" i="0" dirty="0">
                <a:solidFill>
                  <a:srgbClr val="000000"/>
                </a:solidFill>
                <a:effectLst/>
                <a:latin typeface="-apple-system"/>
              </a:rPr>
              <a:t>).</a:t>
            </a:r>
            <a:endParaRPr lang="en-CA" sz="1400" dirty="0"/>
          </a:p>
        </p:txBody>
      </p:sp>
      <p:sp>
        <p:nvSpPr>
          <p:cNvPr id="4" name="TextBox 3">
            <a:extLst>
              <a:ext uri="{FF2B5EF4-FFF2-40B4-BE49-F238E27FC236}">
                <a16:creationId xmlns:a16="http://schemas.microsoft.com/office/drawing/2014/main" id="{7823C07B-358D-4B60-ADBE-EAA624AA88D5}"/>
              </a:ext>
            </a:extLst>
          </p:cNvPr>
          <p:cNvSpPr txBox="1"/>
          <p:nvPr/>
        </p:nvSpPr>
        <p:spPr>
          <a:xfrm>
            <a:off x="157162" y="1468521"/>
            <a:ext cx="3449934" cy="461665"/>
          </a:xfrm>
          <a:prstGeom prst="rect">
            <a:avLst/>
          </a:prstGeom>
          <a:noFill/>
        </p:spPr>
        <p:txBody>
          <a:bodyPr wrap="square" rtlCol="0">
            <a:spAutoFit/>
          </a:bodyPr>
          <a:lstStyle/>
          <a:p>
            <a:r>
              <a:rPr lang="en-CA" sz="2400" dirty="0">
                <a:latin typeface="+mj-lt"/>
              </a:rPr>
              <a:t>Thompson proved the model…</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151712B-FF07-4D98-978A-78076B3E5166}"/>
                  </a:ext>
                </a:extLst>
              </p:cNvPr>
              <p:cNvSpPr txBox="1"/>
              <p:nvPr/>
            </p:nvSpPr>
            <p:spPr>
              <a:xfrm>
                <a:off x="609028" y="1881660"/>
                <a:ext cx="9215908" cy="923330"/>
              </a:xfrm>
              <a:prstGeom prst="rect">
                <a:avLst/>
              </a:prstGeom>
              <a:noFill/>
            </p:spPr>
            <p:txBody>
              <a:bodyPr wrap="square">
                <a:spAutoFit/>
              </a:bodyPr>
              <a:lstStyle/>
              <a:p>
                <a:pPr marL="285750" lvl="0" indent="-285750">
                  <a:buFont typeface="Arial" panose="020B0604020202020204" pitchFamily="34" charset="0"/>
                  <a:buChar char="•"/>
                </a:pPr>
                <a:r>
                  <a:rPr lang="en-CA" dirty="0">
                    <a:solidFill>
                      <a:srgbClr val="000000"/>
                    </a:solidFill>
                    <a:latin typeface="Barlow Condensed"/>
                  </a:rPr>
                  <a:t>Is equivalent to Kohn-Sham density-functional theory (KS-DFT)</a:t>
                </a:r>
              </a:p>
              <a:p>
                <a:pPr marL="285750" lvl="0" indent="-285750">
                  <a:buFont typeface="Arial" panose="020B0604020202020204" pitchFamily="34" charset="0"/>
                  <a:buChar char="•"/>
                </a:pPr>
                <a:r>
                  <a:rPr lang="en-CA" dirty="0">
                    <a:solidFill>
                      <a:srgbClr val="000000"/>
                    </a:solidFill>
                    <a:latin typeface="Barlow Condensed"/>
                  </a:rPr>
                  <a:t>Reduces to classical DFT in </a:t>
                </a:r>
                <a14:m>
                  <m:oMath xmlns:m="http://schemas.openxmlformats.org/officeDocument/2006/math">
                    <m:r>
                      <a:rPr lang="en-CA" i="1">
                        <a:solidFill>
                          <a:srgbClr val="000000"/>
                        </a:solidFill>
                        <a:latin typeface="Cambria Math" panose="02040503050406030204" pitchFamily="18" charset="0"/>
                      </a:rPr>
                      <m:t>ℏ</m:t>
                    </m:r>
                    <m:r>
                      <a:rPr lang="en-CA" i="1">
                        <a:solidFill>
                          <a:srgbClr val="000000"/>
                        </a:solidFill>
                        <a:latin typeface="Cambria Math" panose="02040503050406030204" pitchFamily="18" charset="0"/>
                        <a:ea typeface="Cambria Math" panose="02040503050406030204" pitchFamily="18" charset="0"/>
                      </a:rPr>
                      <m:t>→0</m:t>
                    </m:r>
                  </m:oMath>
                </a14:m>
                <a:r>
                  <a:rPr lang="en-CA" dirty="0">
                    <a:solidFill>
                      <a:srgbClr val="000000"/>
                    </a:solidFill>
                    <a:latin typeface="Barlow Condensed"/>
                  </a:rPr>
                  <a:t> limit</a:t>
                </a:r>
              </a:p>
              <a:p>
                <a:pPr marL="285750" lvl="0" indent="-285750">
                  <a:buFont typeface="Arial" panose="020B0604020202020204" pitchFamily="34" charset="0"/>
                  <a:buChar char="•"/>
                </a:pPr>
                <a:r>
                  <a:rPr lang="en-CA" dirty="0">
                    <a:solidFill>
                      <a:srgbClr val="000000"/>
                    </a:solidFill>
                    <a:latin typeface="Barlow Condensed"/>
                  </a:rPr>
                  <a:t>Is derivable from a first-principles partition function, independently from theorems of DFT</a:t>
                </a:r>
              </a:p>
            </p:txBody>
          </p:sp>
        </mc:Choice>
        <mc:Fallback>
          <p:sp>
            <p:nvSpPr>
              <p:cNvPr id="12" name="TextBox 11">
                <a:extLst>
                  <a:ext uri="{FF2B5EF4-FFF2-40B4-BE49-F238E27FC236}">
                    <a16:creationId xmlns:a16="http://schemas.microsoft.com/office/drawing/2014/main" id="{3151712B-FF07-4D98-978A-78076B3E5166}"/>
                  </a:ext>
                </a:extLst>
              </p:cNvPr>
              <p:cNvSpPr txBox="1">
                <a:spLocks noRot="1" noChangeAspect="1" noMove="1" noResize="1" noEditPoints="1" noAdjustHandles="1" noChangeArrowheads="1" noChangeShapeType="1" noTextEdit="1"/>
              </p:cNvSpPr>
              <p:nvPr/>
            </p:nvSpPr>
            <p:spPr>
              <a:xfrm>
                <a:off x="609028" y="1881660"/>
                <a:ext cx="9215908" cy="923330"/>
              </a:xfrm>
              <a:prstGeom prst="rect">
                <a:avLst/>
              </a:prstGeom>
              <a:blipFill>
                <a:blip r:embed="rId5"/>
                <a:stretch>
                  <a:fillRect l="-463" t="-3311" b="-10596"/>
                </a:stretch>
              </a:blipFill>
            </p:spPr>
            <p:txBody>
              <a:bodyPr/>
              <a:lstStyle/>
              <a:p>
                <a:r>
                  <a:rPr lang="en-CA">
                    <a:noFill/>
                  </a:rPr>
                  <a:t> </a:t>
                </a:r>
              </a:p>
            </p:txBody>
          </p:sp>
        </mc:Fallback>
      </mc:AlternateContent>
    </p:spTree>
    <p:extLst>
      <p:ext uri="{BB962C8B-B14F-4D97-AF65-F5344CB8AC3E}">
        <p14:creationId xmlns:p14="http://schemas.microsoft.com/office/powerpoint/2010/main" val="16891154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Calculation Process</a:t>
            </a:r>
          </a:p>
        </p:txBody>
      </p:sp>
      <p:sp>
        <p:nvSpPr>
          <p:cNvPr id="7" name="Slide Number Placeholder 6">
            <a:extLst>
              <a:ext uri="{FF2B5EF4-FFF2-40B4-BE49-F238E27FC236}">
                <a16:creationId xmlns:a16="http://schemas.microsoft.com/office/drawing/2014/main" id="{DC9210D1-CFBA-4864-BFC1-66C67479F4DD}"/>
              </a:ext>
            </a:extLst>
          </p:cNvPr>
          <p:cNvSpPr>
            <a:spLocks noGrp="1"/>
          </p:cNvSpPr>
          <p:nvPr>
            <p:ph type="sldNum" sz="quarter" idx="12"/>
          </p:nvPr>
        </p:nvSpPr>
        <p:spPr/>
        <p:txBody>
          <a:bodyPr/>
          <a:lstStyle/>
          <a:p>
            <a:r>
              <a:rPr lang="en-US"/>
              <a:t>PAGE  </a:t>
            </a:r>
            <a:fld id="{93005692-73BE-493E-93AB-ECD6027A7652}" type="slidenum">
              <a:rPr lang="en-US" smtClean="0"/>
              <a:pPr/>
              <a:t>19</a:t>
            </a:fld>
            <a:endParaRPr lang="en-US" dirty="0"/>
          </a:p>
        </p:txBody>
      </p:sp>
      <p:pic>
        <p:nvPicPr>
          <p:cNvPr id="8" name="Picture 7">
            <a:extLst>
              <a:ext uri="{FF2B5EF4-FFF2-40B4-BE49-F238E27FC236}">
                <a16:creationId xmlns:a16="http://schemas.microsoft.com/office/drawing/2014/main" id="{8F79FA6C-1C83-4715-B2F0-B8A010636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xmlns:a14="http://schemas.microsoft.com/office/drawing/2010/main">
        <mc:Choice Requires="a14">
          <p:sp>
            <p:nvSpPr>
              <p:cNvPr id="14" name="Rounded Rectangle 21">
                <a:extLst>
                  <a:ext uri="{FF2B5EF4-FFF2-40B4-BE49-F238E27FC236}">
                    <a16:creationId xmlns:a16="http://schemas.microsoft.com/office/drawing/2014/main" id="{2103D687-D2A8-4B8B-B283-5E18A782D112}"/>
                  </a:ext>
                </a:extLst>
              </p:cNvPr>
              <p:cNvSpPr/>
              <p:nvPr/>
            </p:nvSpPr>
            <p:spPr>
              <a:xfrm>
                <a:off x="221855" y="1717132"/>
                <a:ext cx="1124022" cy="94513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Initial </a:t>
                </a:r>
                <a14:m>
                  <m:oMath xmlns:m="http://schemas.openxmlformats.org/officeDocument/2006/math">
                    <m:r>
                      <a:rPr lang="en-CA" sz="1400" b="0" i="1" smtClean="0">
                        <a:solidFill>
                          <a:schemeClr val="tx1"/>
                        </a:solidFill>
                        <a:latin typeface="Cambria Math" panose="02040503050406030204" pitchFamily="18" charset="0"/>
                      </a:rPr>
                      <m:t>𝑤</m:t>
                    </m:r>
                    <m:r>
                      <a:rPr lang="en-CA" sz="1400" b="0" i="1" smtClean="0">
                        <a:solidFill>
                          <a:schemeClr val="tx1"/>
                        </a:solidFill>
                        <a:latin typeface="Cambria Math" panose="02040503050406030204" pitchFamily="18" charset="0"/>
                      </a:rPr>
                      <m:t>(</m:t>
                    </m:r>
                    <m:r>
                      <a:rPr lang="en-CA" sz="1400" b="1" i="1" smtClean="0">
                        <a:solidFill>
                          <a:schemeClr val="tx1"/>
                        </a:solidFill>
                        <a:latin typeface="Cambria Math" panose="02040503050406030204" pitchFamily="18" charset="0"/>
                      </a:rPr>
                      <m:t>𝒓</m:t>
                    </m:r>
                    <m:r>
                      <a:rPr lang="en-CA" sz="1400" b="0" i="1" smtClean="0">
                        <a:solidFill>
                          <a:schemeClr val="tx1"/>
                        </a:solidFill>
                        <a:latin typeface="Cambria Math" panose="02040503050406030204" pitchFamily="18" charset="0"/>
                      </a:rPr>
                      <m:t>)</m:t>
                    </m:r>
                  </m:oMath>
                </a14:m>
                <a:r>
                  <a:rPr lang="en-US" sz="1400" dirty="0">
                    <a:solidFill>
                      <a:schemeClr val="tx1"/>
                    </a:solidFill>
                  </a:rPr>
                  <a:t> estimate</a:t>
                </a:r>
              </a:p>
            </p:txBody>
          </p:sp>
        </mc:Choice>
        <mc:Fallback xmlns="">
          <p:sp>
            <p:nvSpPr>
              <p:cNvPr id="14" name="Rounded Rectangle 21">
                <a:extLst>
                  <a:ext uri="{FF2B5EF4-FFF2-40B4-BE49-F238E27FC236}">
                    <a16:creationId xmlns:a16="http://schemas.microsoft.com/office/drawing/2014/main" id="{2103D687-D2A8-4B8B-B283-5E18A782D112}"/>
                  </a:ext>
                </a:extLst>
              </p:cNvPr>
              <p:cNvSpPr>
                <a:spLocks noRot="1" noChangeAspect="1" noMove="1" noResize="1" noEditPoints="1" noAdjustHandles="1" noChangeArrowheads="1" noChangeShapeType="1" noTextEdit="1"/>
              </p:cNvSpPr>
              <p:nvPr/>
            </p:nvSpPr>
            <p:spPr>
              <a:xfrm>
                <a:off x="221855" y="1717132"/>
                <a:ext cx="1124022" cy="945136"/>
              </a:xfrm>
              <a:prstGeom prst="roundRect">
                <a:avLst/>
              </a:prstGeom>
              <a:blipFill>
                <a:blip r:embed="rId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Rounded Rectangle 22">
                <a:extLst>
                  <a:ext uri="{FF2B5EF4-FFF2-40B4-BE49-F238E27FC236}">
                    <a16:creationId xmlns:a16="http://schemas.microsoft.com/office/drawing/2014/main" id="{CFF181BE-D805-4279-B228-F97D5C02EF7C}"/>
                  </a:ext>
                </a:extLst>
              </p:cNvPr>
              <p:cNvSpPr/>
              <p:nvPr/>
            </p:nvSpPr>
            <p:spPr>
              <a:xfrm>
                <a:off x="1766333" y="1492663"/>
                <a:ext cx="1759825" cy="142992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Spectrally decompose using desired basis set and compute basis-specific matrices </a:t>
                </a:r>
                <a14:m>
                  <m:oMath xmlns:m="http://schemas.openxmlformats.org/officeDocument/2006/math">
                    <m:r>
                      <a:rPr lang="en-CA" sz="1400" b="0" i="1" smtClean="0">
                        <a:solidFill>
                          <a:schemeClr val="tx1"/>
                        </a:solidFill>
                        <a:latin typeface="Cambria Math" panose="02040503050406030204" pitchFamily="18" charset="0"/>
                      </a:rPr>
                      <m:t>𝑆</m:t>
                    </m:r>
                    <m:r>
                      <a:rPr lang="en-CA" sz="1400" b="0" i="1" smtClean="0">
                        <a:solidFill>
                          <a:schemeClr val="tx1"/>
                        </a:solidFill>
                        <a:latin typeface="Cambria Math" panose="02040503050406030204" pitchFamily="18" charset="0"/>
                      </a:rPr>
                      <m:t>, </m:t>
                    </m:r>
                    <m:r>
                      <a:rPr lang="en-CA" sz="1400" b="0" i="1" smtClean="0">
                        <a:solidFill>
                          <a:schemeClr val="tx1"/>
                        </a:solidFill>
                        <a:latin typeface="Cambria Math" panose="02040503050406030204" pitchFamily="18" charset="0"/>
                      </a:rPr>
                      <m:t>𝐿</m:t>
                    </m:r>
                    <m:r>
                      <a:rPr lang="en-CA" sz="1400" b="0" i="1" smtClean="0">
                        <a:solidFill>
                          <a:schemeClr val="tx1"/>
                        </a:solidFill>
                        <a:latin typeface="Cambria Math" panose="02040503050406030204" pitchFamily="18" charset="0"/>
                      </a:rPr>
                      <m:t>, </m:t>
                    </m:r>
                    <m:r>
                      <m:rPr>
                        <m:sty m:val="p"/>
                      </m:rPr>
                      <a:rPr lang="en-CA" sz="1400" b="0" i="0" smtClean="0">
                        <a:solidFill>
                          <a:schemeClr val="tx1"/>
                        </a:solidFill>
                        <a:latin typeface="Cambria Math" panose="02040503050406030204" pitchFamily="18" charset="0"/>
                      </a:rPr>
                      <m:t>Γ</m:t>
                    </m:r>
                  </m:oMath>
                </a14:m>
                <a:endParaRPr lang="en-CA" sz="1400" dirty="0">
                  <a:solidFill>
                    <a:schemeClr val="tx1"/>
                  </a:solidFill>
                </a:endParaRPr>
              </a:p>
            </p:txBody>
          </p:sp>
        </mc:Choice>
        <mc:Fallback xmlns="">
          <p:sp>
            <p:nvSpPr>
              <p:cNvPr id="15" name="Rounded Rectangle 22">
                <a:extLst>
                  <a:ext uri="{FF2B5EF4-FFF2-40B4-BE49-F238E27FC236}">
                    <a16:creationId xmlns:a16="http://schemas.microsoft.com/office/drawing/2014/main" id="{CFF181BE-D805-4279-B228-F97D5C02EF7C}"/>
                  </a:ext>
                </a:extLst>
              </p:cNvPr>
              <p:cNvSpPr>
                <a:spLocks noRot="1" noChangeAspect="1" noMove="1" noResize="1" noEditPoints="1" noAdjustHandles="1" noChangeArrowheads="1" noChangeShapeType="1" noTextEdit="1"/>
              </p:cNvSpPr>
              <p:nvPr/>
            </p:nvSpPr>
            <p:spPr>
              <a:xfrm>
                <a:off x="1766333" y="1492663"/>
                <a:ext cx="1759825" cy="1429925"/>
              </a:xfrm>
              <a:prstGeom prst="roundRect">
                <a:avLst/>
              </a:prstGeom>
              <a:blipFill>
                <a:blip r:embed="rId5"/>
                <a:stretch>
                  <a:fillRect b="-169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 name="Rounded Rectangle 23">
                <a:extLst>
                  <a:ext uri="{FF2B5EF4-FFF2-40B4-BE49-F238E27FC236}">
                    <a16:creationId xmlns:a16="http://schemas.microsoft.com/office/drawing/2014/main" id="{2860200F-BCC1-4F05-8353-6FDBAC84CD6A}"/>
                  </a:ext>
                </a:extLst>
              </p:cNvPr>
              <p:cNvSpPr/>
              <p:nvPr/>
            </p:nvSpPr>
            <p:spPr>
              <a:xfrm>
                <a:off x="8727595" y="5241569"/>
                <a:ext cx="3198423" cy="1173998"/>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Calculate spectral coefficients of density</a:t>
                </a:r>
              </a:p>
              <a:p>
                <a:pPr algn="ctr"/>
                <a14:m>
                  <m:oMathPara xmlns:m="http://schemas.openxmlformats.org/officeDocument/2006/math">
                    <m:oMathParaPr>
                      <m:jc m:val="centerGroup"/>
                    </m:oMathParaPr>
                    <m:oMath xmlns:m="http://schemas.openxmlformats.org/officeDocument/2006/math">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𝑛</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m:t>
                          </m:r>
                        </m:sub>
                      </m:sSub>
                      <m:d>
                        <m:dPr>
                          <m:ctrlPr>
                            <a:rPr lang="en-CA" sz="1400" b="0" i="1" smtClean="0">
                              <a:solidFill>
                                <a:schemeClr val="tx1"/>
                              </a:solidFill>
                              <a:latin typeface="Cambria Math" panose="02040503050406030204" pitchFamily="18" charset="0"/>
                            </a:rPr>
                          </m:ctrlPr>
                        </m:dPr>
                        <m:e>
                          <m:r>
                            <a:rPr lang="en-CA" sz="1400" b="0" i="1" smtClean="0">
                              <a:solidFill>
                                <a:schemeClr val="tx1"/>
                              </a:solidFill>
                              <a:latin typeface="Cambria Math" panose="02040503050406030204" pitchFamily="18" charset="0"/>
                            </a:rPr>
                            <m:t>𝛽</m:t>
                          </m:r>
                        </m:e>
                      </m:d>
                      <m:r>
                        <a:rPr lang="en-CA" sz="1400" b="0" i="1" smtClean="0">
                          <a:solidFill>
                            <a:schemeClr val="tx1"/>
                          </a:solidFill>
                          <a:latin typeface="Cambria Math" panose="02040503050406030204" pitchFamily="18" charset="0"/>
                        </a:rPr>
                        <m:t>=</m:t>
                      </m:r>
                      <m:f>
                        <m:fPr>
                          <m:ctrlPr>
                            <a:rPr lang="en-CA" sz="1400" b="0" i="1" smtClean="0">
                              <a:solidFill>
                                <a:schemeClr val="tx1"/>
                              </a:solidFill>
                              <a:latin typeface="Cambria Math" panose="02040503050406030204" pitchFamily="18" charset="0"/>
                            </a:rPr>
                          </m:ctrlPr>
                        </m:fPr>
                        <m:num>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𝑁</m:t>
                              </m:r>
                            </m:e>
                            <m:sub>
                              <m:r>
                                <a:rPr lang="en-CA" sz="1400" b="0" i="1" smtClean="0">
                                  <a:solidFill>
                                    <a:schemeClr val="tx1"/>
                                  </a:solidFill>
                                  <a:latin typeface="Cambria Math" panose="02040503050406030204" pitchFamily="18" charset="0"/>
                                </a:rPr>
                                <m:t>𝜇</m:t>
                              </m:r>
                            </m:sub>
                          </m:sSub>
                        </m:num>
                        <m:den>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𝑄</m:t>
                              </m:r>
                            </m:e>
                            <m:sub>
                              <m:r>
                                <a:rPr lang="en-CA" sz="1400" b="0" i="1" smtClean="0">
                                  <a:solidFill>
                                    <a:schemeClr val="tx1"/>
                                  </a:solidFill>
                                  <a:latin typeface="Cambria Math" panose="02040503050406030204" pitchFamily="18" charset="0"/>
                                </a:rPr>
                                <m:t>𝜇</m:t>
                              </m:r>
                            </m:sub>
                          </m:sSub>
                          <m:d>
                            <m:dPr>
                              <m:ctrlPr>
                                <a:rPr lang="en-CA" sz="1400" b="0" i="1" smtClean="0">
                                  <a:solidFill>
                                    <a:schemeClr val="tx1"/>
                                  </a:solidFill>
                                  <a:latin typeface="Cambria Math" panose="02040503050406030204" pitchFamily="18" charset="0"/>
                                </a:rPr>
                              </m:ctrlPr>
                            </m:dPr>
                            <m:e>
                              <m:r>
                                <a:rPr lang="en-CA" sz="1400" b="0" i="1" smtClean="0">
                                  <a:solidFill>
                                    <a:schemeClr val="tx1"/>
                                  </a:solidFill>
                                  <a:latin typeface="Cambria Math" panose="02040503050406030204" pitchFamily="18" charset="0"/>
                                </a:rPr>
                                <m:t>𝛽</m:t>
                              </m:r>
                            </m:e>
                          </m:d>
                        </m:den>
                      </m:f>
                      <m:nary>
                        <m:naryPr>
                          <m:chr m:val="∑"/>
                          <m:supHide m:val="on"/>
                          <m:ctrlPr>
                            <a:rPr lang="en-CA" sz="1400" b="0" i="1" smtClean="0">
                              <a:solidFill>
                                <a:schemeClr val="tx1"/>
                              </a:solidFill>
                              <a:latin typeface="Cambria Math" panose="02040503050406030204" pitchFamily="18" charset="0"/>
                            </a:rPr>
                          </m:ctrlPr>
                        </m:naryPr>
                        <m:sub>
                          <m:r>
                            <m:rPr>
                              <m:brk m:alnAt="7"/>
                            </m:rPr>
                            <a:rPr lang="en-CA" sz="1400" b="0" i="1" smtClean="0">
                              <a:solidFill>
                                <a:schemeClr val="tx1"/>
                              </a:solidFill>
                              <a:latin typeface="Cambria Math" panose="02040503050406030204" pitchFamily="18" charset="0"/>
                            </a:rPr>
                            <m:t>𝑗</m:t>
                          </m:r>
                          <m:r>
                            <a:rPr lang="en-CA" sz="1400" b="0" i="1" smtClean="0">
                              <a:solidFill>
                                <a:schemeClr val="tx1"/>
                              </a:solidFill>
                              <a:latin typeface="Cambria Math" panose="02040503050406030204" pitchFamily="18" charset="0"/>
                            </a:rPr>
                            <m:t>𝑘</m:t>
                          </m:r>
                          <m:sSup>
                            <m:sSupPr>
                              <m:ctrlPr>
                                <a:rPr lang="en-CA" sz="1400" b="0" i="1" smtClean="0">
                                  <a:solidFill>
                                    <a:schemeClr val="tx1"/>
                                  </a:solidFill>
                                  <a:latin typeface="Cambria Math" panose="02040503050406030204" pitchFamily="18" charset="0"/>
                                </a:rPr>
                              </m:ctrlPr>
                            </m:sSupPr>
                            <m:e>
                              <m:r>
                                <m:rPr>
                                  <m:brk m:alnAt="7"/>
                                </m:rPr>
                                <a:rPr lang="en-CA" sz="1400" b="0" i="1" smtClean="0">
                                  <a:solidFill>
                                    <a:schemeClr val="tx1"/>
                                  </a:solidFill>
                                  <a:latin typeface="Cambria Math" panose="02040503050406030204" pitchFamily="18" charset="0"/>
                                </a:rPr>
                                <m:t>𝑘</m:t>
                              </m:r>
                            </m:e>
                            <m:sup>
                              <m:r>
                                <a:rPr lang="en-CA" sz="1400" b="0" i="1" smtClean="0">
                                  <a:solidFill>
                                    <a:schemeClr val="tx1"/>
                                  </a:solidFill>
                                  <a:latin typeface="Cambria Math" panose="02040503050406030204" pitchFamily="18" charset="0"/>
                                </a:rPr>
                                <m:t>′</m:t>
                              </m:r>
                            </m:sup>
                          </m:sSup>
                        </m:sub>
                        <m:sup/>
                        <m:e>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𝑆</m:t>
                              </m:r>
                            </m:e>
                            <m:sub>
                              <m:r>
                                <a:rPr lang="en-CA" sz="1400" b="0" i="1" smtClean="0">
                                  <a:solidFill>
                                    <a:schemeClr val="tx1"/>
                                  </a:solidFill>
                                  <a:latin typeface="Cambria Math" panose="02040503050406030204" pitchFamily="18" charset="0"/>
                                </a:rPr>
                                <m:t>𝑖𝑘</m:t>
                              </m:r>
                            </m:sub>
                            <m:sup>
                              <m:r>
                                <a:rPr lang="en-CA" sz="1400" b="0" i="1" smtClean="0">
                                  <a:solidFill>
                                    <a:schemeClr val="tx1"/>
                                  </a:solidFill>
                                  <a:latin typeface="Cambria Math" panose="02040503050406030204" pitchFamily="18" charset="0"/>
                                </a:rPr>
                                <m:t>−1</m:t>
                              </m:r>
                            </m:sup>
                          </m:sSubSup>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𝑞</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𝑗</m:t>
                              </m:r>
                              <m:sSup>
                                <m:sSupPr>
                                  <m:ctrlPr>
                                    <a:rPr lang="en-CA" sz="1400" b="0" i="1" smtClean="0">
                                      <a:solidFill>
                                        <a:schemeClr val="tx1"/>
                                      </a:solidFill>
                                      <a:latin typeface="Cambria Math" panose="02040503050406030204" pitchFamily="18" charset="0"/>
                                    </a:rPr>
                                  </m:ctrlPr>
                                </m:sSupPr>
                                <m:e>
                                  <m:r>
                                    <a:rPr lang="en-CA" sz="1400" b="0" i="1" smtClean="0">
                                      <a:solidFill>
                                        <a:schemeClr val="tx1"/>
                                      </a:solidFill>
                                      <a:latin typeface="Cambria Math" panose="02040503050406030204" pitchFamily="18" charset="0"/>
                                    </a:rPr>
                                    <m:t>𝑘</m:t>
                                  </m:r>
                                </m:e>
                                <m:sup>
                                  <m:r>
                                    <a:rPr lang="en-CA" sz="1400" b="0" i="1" smtClean="0">
                                      <a:solidFill>
                                        <a:schemeClr val="tx1"/>
                                      </a:solidFill>
                                      <a:latin typeface="Cambria Math" panose="02040503050406030204" pitchFamily="18" charset="0"/>
                                    </a:rPr>
                                    <m:t>′</m:t>
                                  </m:r>
                                </m:sup>
                              </m:sSup>
                            </m:sub>
                          </m:sSub>
                          <m:d>
                            <m:dPr>
                              <m:ctrlPr>
                                <a:rPr lang="en-CA" sz="1400" b="0" i="1" smtClean="0">
                                  <a:solidFill>
                                    <a:schemeClr val="tx1"/>
                                  </a:solidFill>
                                  <a:latin typeface="Cambria Math" panose="02040503050406030204" pitchFamily="18" charset="0"/>
                                </a:rPr>
                              </m:ctrlPr>
                            </m:dPr>
                            <m:e>
                              <m:r>
                                <a:rPr lang="en-CA" sz="1400" b="0" i="1" smtClean="0">
                                  <a:solidFill>
                                    <a:schemeClr val="tx1"/>
                                  </a:solidFill>
                                  <a:latin typeface="Cambria Math" panose="02040503050406030204" pitchFamily="18" charset="0"/>
                                </a:rPr>
                                <m:t>𝛽</m:t>
                              </m:r>
                            </m:e>
                          </m:d>
                          <m:sSub>
                            <m:sSubPr>
                              <m:ctrlPr>
                                <a:rPr lang="en-CA" sz="1400" b="0" i="1" smtClean="0">
                                  <a:solidFill>
                                    <a:schemeClr val="tx1"/>
                                  </a:solidFill>
                                  <a:latin typeface="Cambria Math" panose="02040503050406030204" pitchFamily="18" charset="0"/>
                                </a:rPr>
                              </m:ctrlPr>
                            </m:sSubPr>
                            <m:e>
                              <m:r>
                                <m:rPr>
                                  <m:sty m:val="p"/>
                                </m:rPr>
                                <a:rPr lang="en-CA" sz="1400" b="0" i="0" smtClean="0">
                                  <a:solidFill>
                                    <a:schemeClr val="tx1"/>
                                  </a:solidFill>
                                  <a:latin typeface="Cambria Math" panose="02040503050406030204" pitchFamily="18" charset="0"/>
                                </a:rPr>
                                <m:t>Γ</m:t>
                              </m:r>
                            </m:e>
                            <m:sub>
                              <m:r>
                                <a:rPr lang="en-CA" sz="1400" b="0" i="1" smtClean="0">
                                  <a:solidFill>
                                    <a:schemeClr val="tx1"/>
                                  </a:solidFill>
                                  <a:latin typeface="Cambria Math" panose="02040503050406030204" pitchFamily="18" charset="0"/>
                                </a:rPr>
                                <m:t>𝑗</m:t>
                              </m:r>
                              <m:sSup>
                                <m:sSupPr>
                                  <m:ctrlPr>
                                    <a:rPr lang="en-CA" sz="1400" b="0" i="1" smtClean="0">
                                      <a:solidFill>
                                        <a:schemeClr val="tx1"/>
                                      </a:solidFill>
                                      <a:latin typeface="Cambria Math" panose="02040503050406030204" pitchFamily="18" charset="0"/>
                                    </a:rPr>
                                  </m:ctrlPr>
                                </m:sSupPr>
                                <m:e>
                                  <m:r>
                                    <a:rPr lang="en-CA" sz="1400" b="0" i="1" smtClean="0">
                                      <a:solidFill>
                                        <a:schemeClr val="tx1"/>
                                      </a:solidFill>
                                      <a:latin typeface="Cambria Math" panose="02040503050406030204" pitchFamily="18" charset="0"/>
                                    </a:rPr>
                                    <m:t>𝑘</m:t>
                                  </m:r>
                                </m:e>
                                <m:sup>
                                  <m:r>
                                    <a:rPr lang="en-CA" sz="1400" b="0" i="1" smtClean="0">
                                      <a:solidFill>
                                        <a:schemeClr val="tx1"/>
                                      </a:solidFill>
                                      <a:latin typeface="Cambria Math" panose="02040503050406030204" pitchFamily="18" charset="0"/>
                                    </a:rPr>
                                    <m:t>′</m:t>
                                  </m:r>
                                </m:sup>
                              </m:sSup>
                              <m:r>
                                <a:rPr lang="en-CA" sz="1400" b="0" i="1" smtClean="0">
                                  <a:solidFill>
                                    <a:schemeClr val="tx1"/>
                                  </a:solidFill>
                                  <a:latin typeface="Cambria Math" panose="02040503050406030204" pitchFamily="18" charset="0"/>
                                </a:rPr>
                                <m:t>𝑘</m:t>
                              </m:r>
                            </m:sub>
                          </m:sSub>
                        </m:e>
                      </m:nary>
                    </m:oMath>
                  </m:oMathPara>
                </a14:m>
                <a:endParaRPr lang="en-CA" sz="1400" dirty="0">
                  <a:solidFill>
                    <a:schemeClr val="tx1"/>
                  </a:solidFill>
                </a:endParaRPr>
              </a:p>
            </p:txBody>
          </p:sp>
        </mc:Choice>
        <mc:Fallback xmlns="">
          <p:sp>
            <p:nvSpPr>
              <p:cNvPr id="16" name="Rounded Rectangle 23">
                <a:extLst>
                  <a:ext uri="{FF2B5EF4-FFF2-40B4-BE49-F238E27FC236}">
                    <a16:creationId xmlns:a16="http://schemas.microsoft.com/office/drawing/2014/main" id="{2860200F-BCC1-4F05-8353-6FDBAC84CD6A}"/>
                  </a:ext>
                </a:extLst>
              </p:cNvPr>
              <p:cNvSpPr>
                <a:spLocks noRot="1" noChangeAspect="1" noMove="1" noResize="1" noEditPoints="1" noAdjustHandles="1" noChangeArrowheads="1" noChangeShapeType="1" noTextEdit="1"/>
              </p:cNvSpPr>
              <p:nvPr/>
            </p:nvSpPr>
            <p:spPr>
              <a:xfrm>
                <a:off x="8727595" y="5241569"/>
                <a:ext cx="3198423" cy="1173998"/>
              </a:xfrm>
              <a:prstGeom prst="roundRect">
                <a:avLst/>
              </a:prstGeom>
              <a:blipFill>
                <a:blip r:embed="rId6"/>
                <a:stretch>
                  <a:fillRect t="-19072" b="-79897"/>
                </a:stretch>
              </a:blipFill>
            </p:spPr>
            <p:txBody>
              <a:bodyPr/>
              <a:lstStyle/>
              <a:p>
                <a:r>
                  <a:rPr lang="en-CA">
                    <a:noFill/>
                  </a:rPr>
                  <a:t> </a:t>
                </a:r>
              </a:p>
            </p:txBody>
          </p:sp>
        </mc:Fallback>
      </mc:AlternateContent>
      <p:cxnSp>
        <p:nvCxnSpPr>
          <p:cNvPr id="18" name="Straight Arrow Connector 17">
            <a:extLst>
              <a:ext uri="{FF2B5EF4-FFF2-40B4-BE49-F238E27FC236}">
                <a16:creationId xmlns:a16="http://schemas.microsoft.com/office/drawing/2014/main" id="{79E58AE1-5D4C-4783-BFAA-BFC521CC1AEC}"/>
              </a:ext>
            </a:extLst>
          </p:cNvPr>
          <p:cNvCxnSpPr>
            <a:cxnSpLocks/>
            <a:stCxn id="14" idx="3"/>
          </p:cNvCxnSpPr>
          <p:nvPr/>
        </p:nvCxnSpPr>
        <p:spPr>
          <a:xfrm>
            <a:off x="1345877" y="2189700"/>
            <a:ext cx="41920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2D0E9DC-618B-4910-9097-DFD743D67303}"/>
              </a:ext>
            </a:extLst>
          </p:cNvPr>
          <p:cNvCxnSpPr>
            <a:cxnSpLocks/>
            <a:stCxn id="15" idx="3"/>
            <a:endCxn id="27" idx="1"/>
          </p:cNvCxnSpPr>
          <p:nvPr/>
        </p:nvCxnSpPr>
        <p:spPr>
          <a:xfrm>
            <a:off x="3526158" y="2207626"/>
            <a:ext cx="385671" cy="17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DF5C2E2-CBCD-4F89-B07C-DFFC932F8C25}"/>
              </a:ext>
            </a:extLst>
          </p:cNvPr>
          <p:cNvCxnSpPr>
            <a:cxnSpLocks/>
          </p:cNvCxnSpPr>
          <p:nvPr/>
        </p:nvCxnSpPr>
        <p:spPr>
          <a:xfrm flipV="1">
            <a:off x="6719994" y="4839168"/>
            <a:ext cx="0" cy="4024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9D50654-C8D9-4A40-BA0B-7C204D200CF3}"/>
              </a:ext>
            </a:extLst>
          </p:cNvPr>
          <p:cNvCxnSpPr>
            <a:cxnSpLocks/>
          </p:cNvCxnSpPr>
          <p:nvPr/>
        </p:nvCxnSpPr>
        <p:spPr>
          <a:xfrm flipH="1">
            <a:off x="8277109" y="5802660"/>
            <a:ext cx="45048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C322C9A3-7772-491E-8B82-8A87E2BF193A}"/>
              </a:ext>
            </a:extLst>
          </p:cNvPr>
          <p:cNvSpPr/>
          <p:nvPr/>
        </p:nvSpPr>
        <p:spPr>
          <a:xfrm>
            <a:off x="4363345" y="3708369"/>
            <a:ext cx="458780" cy="307777"/>
          </a:xfrm>
          <a:prstGeom prst="rect">
            <a:avLst/>
          </a:prstGeom>
        </p:spPr>
        <p:txBody>
          <a:bodyPr wrap="square">
            <a:spAutoFit/>
          </a:bodyPr>
          <a:lstStyle/>
          <a:p>
            <a:r>
              <a:rPr lang="en-CA" sz="1400" dirty="0"/>
              <a:t>Yes</a:t>
            </a:r>
            <a:endParaRPr lang="en-US" sz="1400" dirty="0"/>
          </a:p>
        </p:txBody>
      </p:sp>
      <mc:AlternateContent xmlns:mc="http://schemas.openxmlformats.org/markup-compatibility/2006" xmlns:a14="http://schemas.microsoft.com/office/drawing/2010/main">
        <mc:Choice Requires="a14">
          <p:sp>
            <p:nvSpPr>
              <p:cNvPr id="24" name="Rounded Rectangle 24">
                <a:extLst>
                  <a:ext uri="{FF2B5EF4-FFF2-40B4-BE49-F238E27FC236}">
                    <a16:creationId xmlns:a16="http://schemas.microsoft.com/office/drawing/2014/main" id="{84C72AEA-B3AD-47FA-9907-8FF9CF39540C}"/>
                  </a:ext>
                </a:extLst>
              </p:cNvPr>
              <p:cNvSpPr/>
              <p:nvPr/>
            </p:nvSpPr>
            <p:spPr>
              <a:xfrm>
                <a:off x="4891778" y="3373707"/>
                <a:ext cx="4109696" cy="1465461"/>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Self-consistently check accuracy:</a:t>
                </a:r>
                <a:br>
                  <a:rPr lang="en-CA" sz="1400" dirty="0">
                    <a:solidFill>
                      <a:schemeClr val="tx1"/>
                    </a:solidFill>
                  </a:rPr>
                </a:br>
                <a14:m>
                  <m:oMathPara xmlns:m="http://schemas.openxmlformats.org/officeDocument/2006/math">
                    <m:oMathParaPr>
                      <m:jc m:val="centerGroup"/>
                    </m:oMathParaPr>
                    <m:oMath xmlns:m="http://schemas.openxmlformats.org/officeDocument/2006/math">
                      <m:f>
                        <m:fPr>
                          <m:ctrlPr>
                            <a:rPr lang="en-CA" sz="1400" i="1" smtClean="0">
                              <a:solidFill>
                                <a:schemeClr val="tx1"/>
                              </a:solidFill>
                              <a:latin typeface="Cambria Math" panose="02040503050406030204" pitchFamily="18" charset="0"/>
                            </a:rPr>
                          </m:ctrlPr>
                        </m:fPr>
                        <m:num>
                          <m:rad>
                            <m:radPr>
                              <m:degHide m:val="on"/>
                              <m:ctrlPr>
                                <a:rPr lang="en-CA" sz="1400" i="1">
                                  <a:solidFill>
                                    <a:schemeClr val="tx1"/>
                                  </a:solidFill>
                                  <a:latin typeface="Cambria Math" panose="02040503050406030204" pitchFamily="18" charset="0"/>
                                </a:rPr>
                              </m:ctrlPr>
                            </m:radPr>
                            <m:deg/>
                            <m:e>
                              <m:nary>
                                <m:naryPr>
                                  <m:chr m:val="∑"/>
                                  <m:supHide m:val="on"/>
                                  <m:ctrlPr>
                                    <a:rPr lang="en-CA" sz="1400" i="1">
                                      <a:solidFill>
                                        <a:schemeClr val="tx1"/>
                                      </a:solidFill>
                                      <a:latin typeface="Cambria Math" panose="02040503050406030204" pitchFamily="18" charset="0"/>
                                    </a:rPr>
                                  </m:ctrlPr>
                                </m:naryPr>
                                <m:sub>
                                  <m:r>
                                    <m:rPr>
                                      <m:brk m:alnAt="7"/>
                                    </m:rPr>
                                    <a:rPr lang="en-CA" sz="1400" i="1">
                                      <a:solidFill>
                                        <a:schemeClr val="tx1"/>
                                      </a:solidFill>
                                      <a:latin typeface="Cambria Math" panose="02040503050406030204" pitchFamily="18" charset="0"/>
                                    </a:rPr>
                                    <m:t>𝜇</m:t>
                                  </m:r>
                                  <m:r>
                                    <a:rPr lang="en-CA" sz="1400" i="1">
                                      <a:solidFill>
                                        <a:schemeClr val="tx1"/>
                                      </a:solidFill>
                                      <a:latin typeface="Cambria Math" panose="02040503050406030204" pitchFamily="18" charset="0"/>
                                    </a:rPr>
                                    <m:t>𝑖𝑗𝑘</m:t>
                                  </m:r>
                                </m:sub>
                                <m:sup/>
                                <m:e>
                                  <m:sSubSup>
                                    <m:sSubSupPr>
                                      <m:ctrlPr>
                                        <a:rPr lang="en-CA" sz="1400" i="1">
                                          <a:solidFill>
                                            <a:schemeClr val="tx1"/>
                                          </a:solidFill>
                                          <a:latin typeface="Cambria Math" panose="02040503050406030204" pitchFamily="18" charset="0"/>
                                        </a:rPr>
                                      </m:ctrlPr>
                                    </m:sSubSupPr>
                                    <m:e>
                                      <m:r>
                                        <a:rPr lang="en-CA" sz="1400" i="1">
                                          <a:solidFill>
                                            <a:schemeClr val="tx1"/>
                                          </a:solidFill>
                                          <a:latin typeface="Cambria Math" panose="02040503050406030204" pitchFamily="18" charset="0"/>
                                        </a:rPr>
                                        <m:t>(</m:t>
                                      </m:r>
                                      <m:r>
                                        <a:rPr lang="en-CA" sz="1400" i="1">
                                          <a:solidFill>
                                            <a:schemeClr val="tx1"/>
                                          </a:solidFill>
                                          <a:latin typeface="Cambria Math" panose="02040503050406030204" pitchFamily="18" charset="0"/>
                                        </a:rPr>
                                        <m:t>𝑤</m:t>
                                      </m:r>
                                    </m:e>
                                    <m:sub>
                                      <m:r>
                                        <a:rPr lang="en-CA" sz="1400" i="1">
                                          <a:solidFill>
                                            <a:schemeClr val="tx1"/>
                                          </a:solidFill>
                                          <a:latin typeface="Cambria Math" panose="02040503050406030204" pitchFamily="18" charset="0"/>
                                        </a:rPr>
                                        <m:t>𝜇</m:t>
                                      </m:r>
                                      <m:r>
                                        <a:rPr lang="en-CA" sz="1400" i="1">
                                          <a:solidFill>
                                            <a:schemeClr val="tx1"/>
                                          </a:solidFill>
                                          <a:latin typeface="Cambria Math" panose="02040503050406030204" pitchFamily="18" charset="0"/>
                                        </a:rPr>
                                        <m:t>𝑖</m:t>
                                      </m:r>
                                    </m:sub>
                                    <m:sup>
                                      <m:r>
                                        <a:rPr lang="en-CA" sz="1400" i="1">
                                          <a:solidFill>
                                            <a:schemeClr val="tx1"/>
                                          </a:solidFill>
                                          <a:latin typeface="Cambria Math" panose="02040503050406030204" pitchFamily="18" charset="0"/>
                                        </a:rPr>
                                        <m:t>𝑛𝑒𝑤</m:t>
                                      </m:r>
                                    </m:sup>
                                  </m:sSubSup>
                                  <m:r>
                                    <a:rPr lang="en-CA" sz="1400" i="1">
                                      <a:solidFill>
                                        <a:schemeClr val="tx1"/>
                                      </a:solidFill>
                                      <a:latin typeface="Cambria Math" panose="02040503050406030204" pitchFamily="18" charset="0"/>
                                    </a:rPr>
                                    <m:t>−</m:t>
                                  </m:r>
                                  <m:sSubSup>
                                    <m:sSubSupPr>
                                      <m:ctrlPr>
                                        <a:rPr lang="en-CA" sz="1400" i="1">
                                          <a:solidFill>
                                            <a:schemeClr val="tx1"/>
                                          </a:solidFill>
                                          <a:latin typeface="Cambria Math" panose="02040503050406030204" pitchFamily="18" charset="0"/>
                                        </a:rPr>
                                      </m:ctrlPr>
                                    </m:sSubSupPr>
                                    <m:e>
                                      <m:r>
                                        <a:rPr lang="en-CA" sz="1400" i="1">
                                          <a:solidFill>
                                            <a:schemeClr val="tx1"/>
                                          </a:solidFill>
                                          <a:latin typeface="Cambria Math" panose="02040503050406030204" pitchFamily="18" charset="0"/>
                                        </a:rPr>
                                        <m:t>𝑤</m:t>
                                      </m:r>
                                    </m:e>
                                    <m:sub>
                                      <m:r>
                                        <a:rPr lang="en-CA" sz="1400" i="1">
                                          <a:solidFill>
                                            <a:schemeClr val="tx1"/>
                                          </a:solidFill>
                                          <a:latin typeface="Cambria Math" panose="02040503050406030204" pitchFamily="18" charset="0"/>
                                        </a:rPr>
                                        <m:t>𝜇</m:t>
                                      </m:r>
                                      <m:r>
                                        <a:rPr lang="en-CA" sz="1400" i="1">
                                          <a:solidFill>
                                            <a:schemeClr val="tx1"/>
                                          </a:solidFill>
                                          <a:latin typeface="Cambria Math" panose="02040503050406030204" pitchFamily="18" charset="0"/>
                                        </a:rPr>
                                        <m:t>𝑖</m:t>
                                      </m:r>
                                    </m:sub>
                                    <m:sup>
                                      <m:r>
                                        <a:rPr lang="en-CA" sz="1400" i="1">
                                          <a:solidFill>
                                            <a:schemeClr val="tx1"/>
                                          </a:solidFill>
                                          <a:latin typeface="Cambria Math" panose="02040503050406030204" pitchFamily="18" charset="0"/>
                                        </a:rPr>
                                        <m:t>𝑜𝑙𝑑</m:t>
                                      </m:r>
                                    </m:sup>
                                  </m:sSubSup>
                                  <m:r>
                                    <a:rPr lang="en-CA" sz="1400" i="1">
                                      <a:solidFill>
                                        <a:schemeClr val="tx1"/>
                                      </a:solidFill>
                                      <a:latin typeface="Cambria Math" panose="02040503050406030204" pitchFamily="18" charset="0"/>
                                    </a:rPr>
                                    <m:t>)(</m:t>
                                  </m:r>
                                  <m:sSubSup>
                                    <m:sSubSupPr>
                                      <m:ctrlPr>
                                        <a:rPr lang="en-CA" sz="1400" i="1">
                                          <a:solidFill>
                                            <a:schemeClr val="tx1"/>
                                          </a:solidFill>
                                          <a:latin typeface="Cambria Math" panose="02040503050406030204" pitchFamily="18" charset="0"/>
                                        </a:rPr>
                                      </m:ctrlPr>
                                    </m:sSubSupPr>
                                    <m:e>
                                      <m:r>
                                        <a:rPr lang="en-CA" sz="1400" i="1">
                                          <a:solidFill>
                                            <a:schemeClr val="tx1"/>
                                          </a:solidFill>
                                          <a:latin typeface="Cambria Math" panose="02040503050406030204" pitchFamily="18" charset="0"/>
                                        </a:rPr>
                                        <m:t>𝑤</m:t>
                                      </m:r>
                                    </m:e>
                                    <m:sub>
                                      <m:r>
                                        <a:rPr lang="en-CA" sz="1400" i="1">
                                          <a:solidFill>
                                            <a:schemeClr val="tx1"/>
                                          </a:solidFill>
                                          <a:latin typeface="Cambria Math" panose="02040503050406030204" pitchFamily="18" charset="0"/>
                                        </a:rPr>
                                        <m:t>𝜇</m:t>
                                      </m:r>
                                      <m:r>
                                        <a:rPr lang="en-CA" sz="1400" i="1">
                                          <a:solidFill>
                                            <a:schemeClr val="tx1"/>
                                          </a:solidFill>
                                          <a:latin typeface="Cambria Math" panose="02040503050406030204" pitchFamily="18" charset="0"/>
                                        </a:rPr>
                                        <m:t>𝑗</m:t>
                                      </m:r>
                                    </m:sub>
                                    <m:sup>
                                      <m:r>
                                        <a:rPr lang="en-CA" sz="1400" i="1">
                                          <a:solidFill>
                                            <a:schemeClr val="tx1"/>
                                          </a:solidFill>
                                          <a:latin typeface="Cambria Math" panose="02040503050406030204" pitchFamily="18" charset="0"/>
                                        </a:rPr>
                                        <m:t>𝑛𝑒𝑤</m:t>
                                      </m:r>
                                    </m:sup>
                                  </m:sSubSup>
                                  <m:r>
                                    <a:rPr lang="en-CA" sz="1400" i="1">
                                      <a:solidFill>
                                        <a:schemeClr val="tx1"/>
                                      </a:solidFill>
                                      <a:latin typeface="Cambria Math" panose="02040503050406030204" pitchFamily="18" charset="0"/>
                                    </a:rPr>
                                    <m:t>−</m:t>
                                  </m:r>
                                  <m:sSubSup>
                                    <m:sSubSupPr>
                                      <m:ctrlPr>
                                        <a:rPr lang="en-CA" sz="1400" i="1">
                                          <a:solidFill>
                                            <a:schemeClr val="tx1"/>
                                          </a:solidFill>
                                          <a:latin typeface="Cambria Math" panose="02040503050406030204" pitchFamily="18" charset="0"/>
                                        </a:rPr>
                                      </m:ctrlPr>
                                    </m:sSubSupPr>
                                    <m:e>
                                      <m:r>
                                        <a:rPr lang="en-CA" sz="1400" i="1">
                                          <a:solidFill>
                                            <a:schemeClr val="tx1"/>
                                          </a:solidFill>
                                          <a:latin typeface="Cambria Math" panose="02040503050406030204" pitchFamily="18" charset="0"/>
                                        </a:rPr>
                                        <m:t>𝑤</m:t>
                                      </m:r>
                                    </m:e>
                                    <m:sub>
                                      <m:r>
                                        <a:rPr lang="en-CA" sz="1400" i="1">
                                          <a:solidFill>
                                            <a:schemeClr val="tx1"/>
                                          </a:solidFill>
                                          <a:latin typeface="Cambria Math" panose="02040503050406030204" pitchFamily="18" charset="0"/>
                                        </a:rPr>
                                        <m:t>𝜇</m:t>
                                      </m:r>
                                      <m:r>
                                        <a:rPr lang="en-CA" sz="1400" i="1">
                                          <a:solidFill>
                                            <a:schemeClr val="tx1"/>
                                          </a:solidFill>
                                          <a:latin typeface="Cambria Math" panose="02040503050406030204" pitchFamily="18" charset="0"/>
                                        </a:rPr>
                                        <m:t>𝑗</m:t>
                                      </m:r>
                                    </m:sub>
                                    <m:sup>
                                      <m:r>
                                        <a:rPr lang="en-CA" sz="1400" i="1">
                                          <a:solidFill>
                                            <a:schemeClr val="tx1"/>
                                          </a:solidFill>
                                          <a:latin typeface="Cambria Math" panose="02040503050406030204" pitchFamily="18" charset="0"/>
                                        </a:rPr>
                                        <m:t>𝑜𝑙𝑑</m:t>
                                      </m:r>
                                    </m:sup>
                                  </m:sSubSup>
                                  <m:r>
                                    <a:rPr lang="en-CA" sz="1400" i="1">
                                      <a:solidFill>
                                        <a:schemeClr val="tx1"/>
                                      </a:solidFill>
                                      <a:latin typeface="Cambria Math" panose="02040503050406030204" pitchFamily="18" charset="0"/>
                                    </a:rPr>
                                    <m:t>)</m:t>
                                  </m:r>
                                  <m:sSub>
                                    <m:sSubPr>
                                      <m:ctrlPr>
                                        <a:rPr lang="en-CA" sz="1400" i="1">
                                          <a:solidFill>
                                            <a:schemeClr val="tx1"/>
                                          </a:solidFill>
                                          <a:latin typeface="Cambria Math" panose="02040503050406030204" pitchFamily="18" charset="0"/>
                                        </a:rPr>
                                      </m:ctrlPr>
                                    </m:sSubPr>
                                    <m:e>
                                      <m:r>
                                        <a:rPr lang="en-CA" sz="1400" i="1">
                                          <a:solidFill>
                                            <a:schemeClr val="tx1"/>
                                          </a:solidFill>
                                          <a:latin typeface="Cambria Math" panose="02040503050406030204" pitchFamily="18" charset="0"/>
                                        </a:rPr>
                                        <m:t>𝑛</m:t>
                                      </m:r>
                                    </m:e>
                                    <m:sub>
                                      <m:r>
                                        <a:rPr lang="en-CA" sz="1400" i="1">
                                          <a:solidFill>
                                            <a:schemeClr val="tx1"/>
                                          </a:solidFill>
                                          <a:latin typeface="Cambria Math" panose="02040503050406030204" pitchFamily="18" charset="0"/>
                                        </a:rPr>
                                        <m:t>𝜇</m:t>
                                      </m:r>
                                      <m:r>
                                        <a:rPr lang="en-CA" sz="1400" i="1">
                                          <a:solidFill>
                                            <a:schemeClr val="tx1"/>
                                          </a:solidFill>
                                          <a:latin typeface="Cambria Math" panose="02040503050406030204" pitchFamily="18" charset="0"/>
                                        </a:rPr>
                                        <m:t>𝑘</m:t>
                                      </m:r>
                                    </m:sub>
                                  </m:sSub>
                                  <m:sSub>
                                    <m:sSubPr>
                                      <m:ctrlPr>
                                        <a:rPr lang="en-CA" sz="1400" i="1">
                                          <a:solidFill>
                                            <a:schemeClr val="tx1"/>
                                          </a:solidFill>
                                          <a:latin typeface="Cambria Math" panose="02040503050406030204" pitchFamily="18" charset="0"/>
                                        </a:rPr>
                                      </m:ctrlPr>
                                    </m:sSubPr>
                                    <m:e>
                                      <m:r>
                                        <m:rPr>
                                          <m:sty m:val="p"/>
                                        </m:rPr>
                                        <a:rPr lang="en-CA" sz="1400">
                                          <a:solidFill>
                                            <a:schemeClr val="tx1"/>
                                          </a:solidFill>
                                          <a:latin typeface="Cambria Math" panose="02040503050406030204" pitchFamily="18" charset="0"/>
                                        </a:rPr>
                                        <m:t>Γ</m:t>
                                      </m:r>
                                    </m:e>
                                    <m:sub>
                                      <m:r>
                                        <a:rPr lang="en-CA" sz="1400" i="1">
                                          <a:solidFill>
                                            <a:schemeClr val="tx1"/>
                                          </a:solidFill>
                                          <a:latin typeface="Cambria Math" panose="02040503050406030204" pitchFamily="18" charset="0"/>
                                        </a:rPr>
                                        <m:t>𝑖𝑗𝑘</m:t>
                                      </m:r>
                                    </m:sub>
                                  </m:sSub>
                                </m:e>
                              </m:nary>
                            </m:e>
                          </m:rad>
                        </m:num>
                        <m:den>
                          <m:rad>
                            <m:radPr>
                              <m:degHide m:val="on"/>
                              <m:ctrlPr>
                                <a:rPr lang="en-CA" sz="1400" i="1">
                                  <a:solidFill>
                                    <a:schemeClr val="tx1"/>
                                  </a:solidFill>
                                  <a:latin typeface="Cambria Math" panose="02040503050406030204" pitchFamily="18" charset="0"/>
                                </a:rPr>
                              </m:ctrlPr>
                            </m:radPr>
                            <m:deg/>
                            <m:e>
                              <m:nary>
                                <m:naryPr>
                                  <m:chr m:val="∑"/>
                                  <m:supHide m:val="on"/>
                                  <m:ctrlPr>
                                    <a:rPr lang="en-CA" sz="1400" i="1" smtClean="0">
                                      <a:solidFill>
                                        <a:schemeClr val="tx1"/>
                                      </a:solidFill>
                                      <a:latin typeface="Cambria Math" panose="02040503050406030204" pitchFamily="18" charset="0"/>
                                    </a:rPr>
                                  </m:ctrlPr>
                                </m:naryPr>
                                <m:sub>
                                  <m:r>
                                    <m:rPr>
                                      <m:brk m:alnAt="7"/>
                                    </m:rP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𝑖𝑗𝑘</m:t>
                                  </m:r>
                                </m:sub>
                                <m:sup/>
                                <m:e>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m:t>
                                      </m:r>
                                    </m:sub>
                                    <m:sup>
                                      <m:r>
                                        <a:rPr lang="en-CA" sz="1400" b="0" i="1" smtClean="0">
                                          <a:solidFill>
                                            <a:schemeClr val="tx1"/>
                                          </a:solidFill>
                                          <a:latin typeface="Cambria Math" panose="02040503050406030204" pitchFamily="18" charset="0"/>
                                        </a:rPr>
                                        <m:t>𝑛𝑒𝑤</m:t>
                                      </m:r>
                                    </m:sup>
                                  </m:sSubSup>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𝑛𝑒𝑤</m:t>
                                      </m:r>
                                    </m:sup>
                                  </m:sSubSup>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𝑛</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𝑘</m:t>
                                      </m:r>
                                    </m:sub>
                                  </m:sSub>
                                  <m:sSub>
                                    <m:sSubPr>
                                      <m:ctrlPr>
                                        <a:rPr lang="en-CA" sz="1400" b="0" i="1" smtClean="0">
                                          <a:solidFill>
                                            <a:schemeClr val="tx1"/>
                                          </a:solidFill>
                                          <a:latin typeface="Cambria Math" panose="02040503050406030204" pitchFamily="18" charset="0"/>
                                        </a:rPr>
                                      </m:ctrlPr>
                                    </m:sSubPr>
                                    <m:e>
                                      <m:r>
                                        <m:rPr>
                                          <m:sty m:val="p"/>
                                        </m:rPr>
                                        <a:rPr lang="en-CA" sz="1400" b="0" i="0" smtClean="0">
                                          <a:solidFill>
                                            <a:schemeClr val="tx1"/>
                                          </a:solidFill>
                                          <a:latin typeface="Cambria Math" panose="02040503050406030204" pitchFamily="18" charset="0"/>
                                        </a:rPr>
                                        <m:t>Γ</m:t>
                                      </m:r>
                                    </m:e>
                                    <m:sub>
                                      <m:r>
                                        <a:rPr lang="en-CA" sz="1400" b="0" i="1" smtClean="0">
                                          <a:solidFill>
                                            <a:schemeClr val="tx1"/>
                                          </a:solidFill>
                                          <a:latin typeface="Cambria Math" panose="02040503050406030204" pitchFamily="18" charset="0"/>
                                        </a:rPr>
                                        <m:t>𝑖𝑗𝑘</m:t>
                                      </m:r>
                                    </m:sub>
                                  </m:sSub>
                                </m:e>
                              </m:nary>
                            </m:e>
                          </m:rad>
                        </m:den>
                      </m:f>
                      <m:r>
                        <a:rPr lang="en-CA" sz="1400" i="1" smtClean="0">
                          <a:solidFill>
                            <a:schemeClr val="tx1"/>
                          </a:solidFill>
                          <a:latin typeface="Cambria Math" panose="02040503050406030204" pitchFamily="18" charset="0"/>
                          <a:ea typeface="Cambria Math" panose="02040503050406030204" pitchFamily="18" charset="0"/>
                        </a:rPr>
                        <m:t>≤</m:t>
                      </m:r>
                      <m:r>
                        <a:rPr lang="en-CA" sz="1400" b="0" i="1" smtClean="0">
                          <a:solidFill>
                            <a:schemeClr val="tx1"/>
                          </a:solidFill>
                          <a:latin typeface="Cambria Math" panose="02040503050406030204" pitchFamily="18" charset="0"/>
                          <a:ea typeface="Cambria Math" panose="02040503050406030204" pitchFamily="18" charset="0"/>
                        </a:rPr>
                        <m:t>𝑡𝑜𝑙</m:t>
                      </m:r>
                    </m:oMath>
                  </m:oMathPara>
                </a14:m>
                <a:endParaRPr lang="en-CA" sz="1400" dirty="0">
                  <a:solidFill>
                    <a:schemeClr val="tx1"/>
                  </a:solidFill>
                </a:endParaRPr>
              </a:p>
            </p:txBody>
          </p:sp>
        </mc:Choice>
        <mc:Fallback xmlns="">
          <p:sp>
            <p:nvSpPr>
              <p:cNvPr id="24" name="Rounded Rectangle 24">
                <a:extLst>
                  <a:ext uri="{FF2B5EF4-FFF2-40B4-BE49-F238E27FC236}">
                    <a16:creationId xmlns:a16="http://schemas.microsoft.com/office/drawing/2014/main" id="{84C72AEA-B3AD-47FA-9907-8FF9CF39540C}"/>
                  </a:ext>
                </a:extLst>
              </p:cNvPr>
              <p:cNvSpPr>
                <a:spLocks noRot="1" noChangeAspect="1" noMove="1" noResize="1" noEditPoints="1" noAdjustHandles="1" noChangeArrowheads="1" noChangeShapeType="1" noTextEdit="1"/>
              </p:cNvSpPr>
              <p:nvPr/>
            </p:nvSpPr>
            <p:spPr>
              <a:xfrm>
                <a:off x="4891778" y="3373707"/>
                <a:ext cx="4109696" cy="1465461"/>
              </a:xfrm>
              <a:prstGeom prst="roundRect">
                <a:avLst/>
              </a:prstGeom>
              <a:blipFill>
                <a:blip r:embed="rId7"/>
                <a:stretch>
                  <a:fillRect/>
                </a:stretch>
              </a:blipFill>
            </p:spPr>
            <p:txBody>
              <a:bodyPr/>
              <a:lstStyle/>
              <a:p>
                <a:r>
                  <a:rPr lang="en-CA">
                    <a:noFill/>
                  </a:rPr>
                  <a:t> </a:t>
                </a:r>
              </a:p>
            </p:txBody>
          </p:sp>
        </mc:Fallback>
      </mc:AlternateContent>
      <p:sp>
        <p:nvSpPr>
          <p:cNvPr id="25" name="Rectangle 24">
            <a:extLst>
              <a:ext uri="{FF2B5EF4-FFF2-40B4-BE49-F238E27FC236}">
                <a16:creationId xmlns:a16="http://schemas.microsoft.com/office/drawing/2014/main" id="{174BE053-FC97-4A7B-8AA8-75C1C956DE4B}"/>
              </a:ext>
            </a:extLst>
          </p:cNvPr>
          <p:cNvSpPr/>
          <p:nvPr/>
        </p:nvSpPr>
        <p:spPr>
          <a:xfrm>
            <a:off x="5867474" y="2962628"/>
            <a:ext cx="418704" cy="307777"/>
          </a:xfrm>
          <a:prstGeom prst="rect">
            <a:avLst/>
          </a:prstGeom>
        </p:spPr>
        <p:txBody>
          <a:bodyPr wrap="square">
            <a:spAutoFit/>
          </a:bodyPr>
          <a:lstStyle/>
          <a:p>
            <a:r>
              <a:rPr lang="en-CA" sz="1400" dirty="0"/>
              <a:t>No</a:t>
            </a:r>
            <a:endParaRPr lang="en-US" sz="1400" dirty="0"/>
          </a:p>
        </p:txBody>
      </p:sp>
      <p:cxnSp>
        <p:nvCxnSpPr>
          <p:cNvPr id="28" name="Straight Arrow Connector 27">
            <a:extLst>
              <a:ext uri="{FF2B5EF4-FFF2-40B4-BE49-F238E27FC236}">
                <a16:creationId xmlns:a16="http://schemas.microsoft.com/office/drawing/2014/main" id="{A039C8A8-7974-4F6A-A09E-D9F71B87DE6E}"/>
              </a:ext>
            </a:extLst>
          </p:cNvPr>
          <p:cNvCxnSpPr>
            <a:cxnSpLocks/>
            <a:stCxn id="27" idx="3"/>
            <a:endCxn id="77" idx="1"/>
          </p:cNvCxnSpPr>
          <p:nvPr/>
        </p:nvCxnSpPr>
        <p:spPr>
          <a:xfrm flipV="1">
            <a:off x="8402276" y="2207625"/>
            <a:ext cx="325319" cy="17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04C32A0-2C63-4C15-AB31-02E70DAEE81B}"/>
              </a:ext>
            </a:extLst>
          </p:cNvPr>
          <p:cNvCxnSpPr>
            <a:cxnSpLocks/>
          </p:cNvCxnSpPr>
          <p:nvPr/>
        </p:nvCxnSpPr>
        <p:spPr>
          <a:xfrm flipH="1" flipV="1">
            <a:off x="4301836" y="4086150"/>
            <a:ext cx="592433" cy="164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Rounded Rectangle 25">
                <a:extLst>
                  <a:ext uri="{FF2B5EF4-FFF2-40B4-BE49-F238E27FC236}">
                    <a16:creationId xmlns:a16="http://schemas.microsoft.com/office/drawing/2014/main" id="{96BBC08C-2CAF-4253-B491-C783E599972C}"/>
                  </a:ext>
                </a:extLst>
              </p:cNvPr>
              <p:cNvSpPr/>
              <p:nvPr/>
            </p:nvSpPr>
            <p:spPr>
              <a:xfrm>
                <a:off x="5156791" y="5218630"/>
                <a:ext cx="3120318" cy="97357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Update spectral coefficients of field </a:t>
                </a:r>
                <a14:m>
                  <m:oMath xmlns:m="http://schemas.openxmlformats.org/officeDocument/2006/math">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m:t>
                        </m:r>
                      </m:sub>
                    </m:sSub>
                    <m:r>
                      <a:rPr lang="en-CA" sz="1400" b="0" i="1" smtClean="0">
                        <a:solidFill>
                          <a:schemeClr val="tx1"/>
                        </a:solidFill>
                        <a:latin typeface="Cambria Math" panose="02040503050406030204" pitchFamily="18" charset="0"/>
                      </a:rPr>
                      <m:t>=</m:t>
                    </m:r>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𝑖</m:t>
                        </m:r>
                      </m:sub>
                      <m:sup>
                        <m:r>
                          <a:rPr lang="en-CA" sz="1400" b="0" i="1" smtClean="0">
                            <a:solidFill>
                              <a:schemeClr val="tx1"/>
                            </a:solidFill>
                            <a:latin typeface="Cambria Math" panose="02040503050406030204" pitchFamily="18" charset="0"/>
                          </a:rPr>
                          <m:t>𝑒</m:t>
                        </m:r>
                        <m:r>
                          <a:rPr lang="en-CA" sz="1400" b="0" i="1" smtClean="0">
                            <a:solidFill>
                              <a:schemeClr val="tx1"/>
                            </a:solidFill>
                            <a:latin typeface="Cambria Math" panose="02040503050406030204" pitchFamily="18" charset="0"/>
                          </a:rPr>
                          <m:t>−</m:t>
                        </m:r>
                        <m:r>
                          <a:rPr lang="en-CA" sz="1400" b="0" i="1" smtClean="0">
                            <a:solidFill>
                              <a:schemeClr val="tx1"/>
                            </a:solidFill>
                            <a:latin typeface="Cambria Math" panose="02040503050406030204" pitchFamily="18" charset="0"/>
                          </a:rPr>
                          <m:t>𝑛</m:t>
                        </m:r>
                      </m:sup>
                    </m:sSubSup>
                    <m:r>
                      <a:rPr lang="en-CA" sz="1400" b="0" i="1" smtClean="0">
                        <a:solidFill>
                          <a:schemeClr val="tx1"/>
                        </a:solidFill>
                        <a:latin typeface="Cambria Math" panose="02040503050406030204" pitchFamily="18" charset="0"/>
                      </a:rPr>
                      <m:t>+</m:t>
                    </m:r>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𝑖</m:t>
                        </m:r>
                      </m:sub>
                      <m:sup>
                        <m:r>
                          <a:rPr lang="en-CA" sz="1400" b="0" i="1" smtClean="0">
                            <a:solidFill>
                              <a:schemeClr val="tx1"/>
                            </a:solidFill>
                            <a:latin typeface="Cambria Math" panose="02040503050406030204" pitchFamily="18" charset="0"/>
                          </a:rPr>
                          <m:t>𝑒</m:t>
                        </m:r>
                        <m:r>
                          <a:rPr lang="en-CA" sz="1400" b="0" i="1" smtClean="0">
                            <a:solidFill>
                              <a:schemeClr val="tx1"/>
                            </a:solidFill>
                            <a:latin typeface="Cambria Math" panose="02040503050406030204" pitchFamily="18" charset="0"/>
                          </a:rPr>
                          <m:t>−</m:t>
                        </m:r>
                        <m:r>
                          <a:rPr lang="en-CA" sz="1400" b="0" i="1" smtClean="0">
                            <a:solidFill>
                              <a:schemeClr val="tx1"/>
                            </a:solidFill>
                            <a:latin typeface="Cambria Math" panose="02040503050406030204" pitchFamily="18" charset="0"/>
                          </a:rPr>
                          <m:t>𝑒</m:t>
                        </m:r>
                      </m:sup>
                    </m:sSubSup>
                    <m:r>
                      <a:rPr lang="en-CA" sz="1400" b="0" i="1" smtClean="0">
                        <a:solidFill>
                          <a:schemeClr val="tx1"/>
                        </a:solidFill>
                        <a:latin typeface="Cambria Math" panose="02040503050406030204" pitchFamily="18" charset="0"/>
                      </a:rPr>
                      <m:t>+</m:t>
                    </m:r>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m:t>
                        </m:r>
                      </m:sub>
                      <m:sup>
                        <m:r>
                          <a:rPr lang="en-CA" sz="1400" b="0" i="1" smtClean="0">
                            <a:solidFill>
                              <a:schemeClr val="tx1"/>
                            </a:solidFill>
                            <a:latin typeface="Cambria Math" panose="02040503050406030204" pitchFamily="18" charset="0"/>
                          </a:rPr>
                          <m:t>𝑃</m:t>
                        </m:r>
                      </m:sup>
                    </m:sSubSup>
                    <m:r>
                      <a:rPr lang="en-CA" sz="1400" b="0" i="1" smtClean="0">
                        <a:solidFill>
                          <a:schemeClr val="tx1"/>
                        </a:solidFill>
                        <a:latin typeface="Cambria Math" panose="02040503050406030204" pitchFamily="18" charset="0"/>
                      </a:rPr>
                      <m:t>+</m:t>
                    </m:r>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m:t>
                        </m:r>
                      </m:sub>
                      <m:sup>
                        <m:r>
                          <a:rPr lang="en-CA" sz="1400" b="0" i="1" smtClean="0">
                            <a:solidFill>
                              <a:schemeClr val="tx1"/>
                            </a:solidFill>
                            <a:latin typeface="Cambria Math" panose="02040503050406030204" pitchFamily="18" charset="0"/>
                          </a:rPr>
                          <m:t>𝑠𝑖𝑐</m:t>
                        </m:r>
                      </m:sup>
                    </m:sSubSup>
                  </m:oMath>
                </a14:m>
                <a:endParaRPr lang="en-US" sz="1400" dirty="0">
                  <a:solidFill>
                    <a:schemeClr val="tx1"/>
                  </a:solidFill>
                </a:endParaRPr>
              </a:p>
            </p:txBody>
          </p:sp>
        </mc:Choice>
        <mc:Fallback xmlns="">
          <p:sp>
            <p:nvSpPr>
              <p:cNvPr id="49" name="Rounded Rectangle 25">
                <a:extLst>
                  <a:ext uri="{FF2B5EF4-FFF2-40B4-BE49-F238E27FC236}">
                    <a16:creationId xmlns:a16="http://schemas.microsoft.com/office/drawing/2014/main" id="{96BBC08C-2CAF-4253-B491-C783E599972C}"/>
                  </a:ext>
                </a:extLst>
              </p:cNvPr>
              <p:cNvSpPr>
                <a:spLocks noRot="1" noChangeAspect="1" noMove="1" noResize="1" noEditPoints="1" noAdjustHandles="1" noChangeArrowheads="1" noChangeShapeType="1" noTextEdit="1"/>
              </p:cNvSpPr>
              <p:nvPr/>
            </p:nvSpPr>
            <p:spPr>
              <a:xfrm>
                <a:off x="5156791" y="5218630"/>
                <a:ext cx="3120318" cy="973576"/>
              </a:xfrm>
              <a:prstGeom prst="round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7" name="Rounded Rectangle 23">
                <a:extLst>
                  <a:ext uri="{FF2B5EF4-FFF2-40B4-BE49-F238E27FC236}">
                    <a16:creationId xmlns:a16="http://schemas.microsoft.com/office/drawing/2014/main" id="{22558B20-73F5-4229-B8E0-F213F93E7F7F}"/>
                  </a:ext>
                </a:extLst>
              </p:cNvPr>
              <p:cNvSpPr/>
              <p:nvPr/>
            </p:nvSpPr>
            <p:spPr>
              <a:xfrm>
                <a:off x="8727595" y="1442676"/>
                <a:ext cx="3198423" cy="1529897"/>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Generalized Eigenvalue Problem:</a:t>
                </a:r>
              </a:p>
              <a:p>
                <a:pPr algn="ctr"/>
                <a14:m>
                  <m:oMathPara xmlns:m="http://schemas.openxmlformats.org/officeDocument/2006/math">
                    <m:oMathParaPr>
                      <m:jc m:val="centerGroup"/>
                    </m:oMathParaPr>
                    <m:oMath xmlns:m="http://schemas.openxmlformats.org/officeDocument/2006/math">
                      <m:nary>
                        <m:naryPr>
                          <m:chr m:val="∑"/>
                          <m:supHide m:val="on"/>
                          <m:ctrlPr>
                            <a:rPr lang="en-CA" sz="1400" b="0" i="1" smtClean="0">
                              <a:solidFill>
                                <a:schemeClr val="tx1"/>
                              </a:solidFill>
                              <a:latin typeface="Cambria Math" panose="02040503050406030204" pitchFamily="18" charset="0"/>
                            </a:rPr>
                          </m:ctrlPr>
                        </m:naryPr>
                        <m:sub>
                          <m:r>
                            <m:rPr>
                              <m:brk m:alnAt="7"/>
                            </m:rPr>
                            <a:rPr lang="en-CA" sz="1400" b="0" i="1" smtClean="0">
                              <a:solidFill>
                                <a:schemeClr val="tx1"/>
                              </a:solidFill>
                              <a:latin typeface="Cambria Math" panose="02040503050406030204" pitchFamily="18" charset="0"/>
                            </a:rPr>
                            <m:t>𝑘</m:t>
                          </m:r>
                        </m:sub>
                        <m:sup/>
                        <m:e>
                          <m:d>
                            <m:dPr>
                              <m:ctrlPr>
                                <a:rPr lang="en-CA" sz="1400" b="0" i="1" smtClean="0">
                                  <a:solidFill>
                                    <a:schemeClr val="tx1"/>
                                  </a:solidFill>
                                  <a:latin typeface="Cambria Math" panose="02040503050406030204" pitchFamily="18" charset="0"/>
                                </a:rPr>
                              </m:ctrlPr>
                            </m:dPr>
                            <m:e>
                              <m:f>
                                <m:fPr>
                                  <m:ctrlPr>
                                    <a:rPr lang="en-CA" sz="1400" i="1">
                                      <a:solidFill>
                                        <a:srgbClr val="000000"/>
                                      </a:solidFill>
                                      <a:latin typeface="Cambria Math" panose="02040503050406030204" pitchFamily="18" charset="0"/>
                                      <a:ea typeface="Cambria Math" panose="02040503050406030204" pitchFamily="18" charset="0"/>
                                    </a:rPr>
                                  </m:ctrlPr>
                                </m:fPr>
                                <m:num>
                                  <m:sSup>
                                    <m:sSupPr>
                                      <m:ctrlPr>
                                        <a:rPr lang="en-CA" sz="1400" i="1">
                                          <a:solidFill>
                                            <a:srgbClr val="000000"/>
                                          </a:solidFill>
                                          <a:latin typeface="Cambria Math" panose="02040503050406030204" pitchFamily="18" charset="0"/>
                                          <a:ea typeface="Cambria Math" panose="02040503050406030204" pitchFamily="18" charset="0"/>
                                        </a:rPr>
                                      </m:ctrlPr>
                                    </m:sSupPr>
                                    <m:e>
                                      <m:r>
                                        <a:rPr lang="en-CA" sz="1400" i="1">
                                          <a:solidFill>
                                            <a:srgbClr val="000000"/>
                                          </a:solidFill>
                                          <a:latin typeface="Cambria Math" panose="02040503050406030204" pitchFamily="18" charset="0"/>
                                          <a:ea typeface="Cambria Math" panose="02040503050406030204" pitchFamily="18" charset="0"/>
                                        </a:rPr>
                                        <m:t>ℏ</m:t>
                                      </m:r>
                                    </m:e>
                                    <m:sup>
                                      <m:r>
                                        <a:rPr lang="en-CA" sz="1400" i="1">
                                          <a:solidFill>
                                            <a:srgbClr val="000000"/>
                                          </a:solidFill>
                                          <a:latin typeface="Cambria Math" panose="02040503050406030204" pitchFamily="18" charset="0"/>
                                          <a:ea typeface="Cambria Math" panose="02040503050406030204" pitchFamily="18" charset="0"/>
                                        </a:rPr>
                                        <m:t>2</m:t>
                                      </m:r>
                                    </m:sup>
                                  </m:sSup>
                                </m:num>
                                <m:den>
                                  <m:r>
                                    <a:rPr lang="en-CA" sz="1400" i="1">
                                      <a:solidFill>
                                        <a:srgbClr val="000000"/>
                                      </a:solidFill>
                                      <a:latin typeface="Cambria Math" panose="02040503050406030204" pitchFamily="18" charset="0"/>
                                      <a:ea typeface="Cambria Math" panose="02040503050406030204" pitchFamily="18" charset="0"/>
                                    </a:rPr>
                                    <m:t>2</m:t>
                                  </m:r>
                                  <m:r>
                                    <a:rPr lang="en-CA" sz="1400" i="1">
                                      <a:solidFill>
                                        <a:srgbClr val="000000"/>
                                      </a:solidFill>
                                      <a:latin typeface="Cambria Math" panose="02040503050406030204" pitchFamily="18" charset="0"/>
                                      <a:ea typeface="Cambria Math" panose="02040503050406030204" pitchFamily="18" charset="0"/>
                                    </a:rPr>
                                    <m:t>𝑚</m:t>
                                  </m:r>
                                </m:den>
                              </m:f>
                              <m:sSub>
                                <m:sSubPr>
                                  <m:ctrlPr>
                                    <a:rPr lang="en-CA" sz="1400" i="1">
                                      <a:solidFill>
                                        <a:srgbClr val="000000"/>
                                      </a:solidFill>
                                      <a:latin typeface="Cambria Math" panose="02040503050406030204" pitchFamily="18" charset="0"/>
                                      <a:ea typeface="Cambria Math" panose="02040503050406030204" pitchFamily="18" charset="0"/>
                                    </a:rPr>
                                  </m:ctrlPr>
                                </m:sSubPr>
                                <m:e>
                                  <m:r>
                                    <a:rPr lang="en-CA" sz="1400" i="1">
                                      <a:solidFill>
                                        <a:srgbClr val="000000"/>
                                      </a:solidFill>
                                      <a:latin typeface="Cambria Math" panose="02040503050406030204" pitchFamily="18" charset="0"/>
                                      <a:ea typeface="Cambria Math" panose="02040503050406030204" pitchFamily="18" charset="0"/>
                                    </a:rPr>
                                    <m:t>𝐿</m:t>
                                  </m:r>
                                </m:e>
                                <m:sub>
                                  <m:r>
                                    <a:rPr lang="en-CA" sz="1400" b="0" i="1" smtClean="0">
                                      <a:solidFill>
                                        <a:srgbClr val="000000"/>
                                      </a:solidFill>
                                      <a:latin typeface="Cambria Math" panose="02040503050406030204" pitchFamily="18" charset="0"/>
                                      <a:ea typeface="Cambria Math" panose="02040503050406030204" pitchFamily="18" charset="0"/>
                                    </a:rPr>
                                    <m:t>𝑖𝑘</m:t>
                                  </m:r>
                                </m:sub>
                              </m:sSub>
                              <m:r>
                                <a:rPr lang="en-CA" sz="1400" i="1">
                                  <a:solidFill>
                                    <a:srgbClr val="000000"/>
                                  </a:solidFill>
                                  <a:latin typeface="Cambria Math" panose="02040503050406030204" pitchFamily="18" charset="0"/>
                                  <a:ea typeface="Cambria Math" panose="02040503050406030204" pitchFamily="18" charset="0"/>
                                </a:rPr>
                                <m:t>−</m:t>
                              </m:r>
                              <m:nary>
                                <m:naryPr>
                                  <m:chr m:val="∑"/>
                                  <m:supHide m:val="on"/>
                                  <m:ctrlPr>
                                    <a:rPr lang="en-CA" sz="1400" i="1">
                                      <a:solidFill>
                                        <a:srgbClr val="000000"/>
                                      </a:solidFill>
                                      <a:latin typeface="Cambria Math" panose="02040503050406030204" pitchFamily="18" charset="0"/>
                                      <a:ea typeface="Cambria Math" panose="02040503050406030204" pitchFamily="18" charset="0"/>
                                    </a:rPr>
                                  </m:ctrlPr>
                                </m:naryPr>
                                <m:sub>
                                  <m:r>
                                    <m:rPr>
                                      <m:brk m:alnAt="7"/>
                                    </m:rPr>
                                    <a:rPr lang="en-CA" sz="1400" i="1">
                                      <a:solidFill>
                                        <a:srgbClr val="000000"/>
                                      </a:solidFill>
                                      <a:latin typeface="Cambria Math" panose="02040503050406030204" pitchFamily="18" charset="0"/>
                                      <a:ea typeface="Cambria Math" panose="02040503050406030204" pitchFamily="18" charset="0"/>
                                    </a:rPr>
                                    <m:t>𝑛</m:t>
                                  </m:r>
                                </m:sub>
                                <m:sup/>
                                <m:e>
                                  <m:sSub>
                                    <m:sSubPr>
                                      <m:ctrlPr>
                                        <a:rPr lang="en-CA" sz="1400" i="1">
                                          <a:solidFill>
                                            <a:srgbClr val="000000"/>
                                          </a:solidFill>
                                          <a:latin typeface="Cambria Math" panose="02040503050406030204" pitchFamily="18" charset="0"/>
                                          <a:ea typeface="Cambria Math" panose="02040503050406030204" pitchFamily="18" charset="0"/>
                                        </a:rPr>
                                      </m:ctrlPr>
                                    </m:sSubPr>
                                    <m:e>
                                      <m:r>
                                        <a:rPr lang="en-CA" sz="1400" i="1">
                                          <a:solidFill>
                                            <a:srgbClr val="000000"/>
                                          </a:solidFill>
                                          <a:latin typeface="Cambria Math" panose="02040503050406030204" pitchFamily="18" charset="0"/>
                                          <a:ea typeface="Cambria Math" panose="02040503050406030204" pitchFamily="18" charset="0"/>
                                        </a:rPr>
                                        <m:t>𝑤</m:t>
                                      </m:r>
                                    </m:e>
                                    <m:sub>
                                      <m:r>
                                        <a:rPr lang="en-CA" sz="1400" i="1">
                                          <a:solidFill>
                                            <a:srgbClr val="000000"/>
                                          </a:solidFill>
                                          <a:latin typeface="Cambria Math" panose="02040503050406030204" pitchFamily="18" charset="0"/>
                                          <a:ea typeface="Cambria Math" panose="02040503050406030204" pitchFamily="18" charset="0"/>
                                        </a:rPr>
                                        <m:t>𝜇</m:t>
                                      </m:r>
                                      <m:r>
                                        <a:rPr lang="en-CA" sz="1400" i="1">
                                          <a:solidFill>
                                            <a:srgbClr val="000000"/>
                                          </a:solidFill>
                                          <a:latin typeface="Cambria Math" panose="02040503050406030204" pitchFamily="18" charset="0"/>
                                          <a:ea typeface="Cambria Math" panose="02040503050406030204" pitchFamily="18" charset="0"/>
                                        </a:rPr>
                                        <m:t>𝑛</m:t>
                                      </m:r>
                                    </m:sub>
                                  </m:sSub>
                                  <m:sSub>
                                    <m:sSubPr>
                                      <m:ctrlPr>
                                        <a:rPr lang="en-CA" sz="1400" i="1">
                                          <a:solidFill>
                                            <a:srgbClr val="000000"/>
                                          </a:solidFill>
                                          <a:latin typeface="Cambria Math" panose="02040503050406030204" pitchFamily="18" charset="0"/>
                                          <a:ea typeface="Cambria Math" panose="02040503050406030204" pitchFamily="18" charset="0"/>
                                        </a:rPr>
                                      </m:ctrlPr>
                                    </m:sSubPr>
                                    <m:e>
                                      <m:r>
                                        <m:rPr>
                                          <m:sty m:val="p"/>
                                        </m:rPr>
                                        <a:rPr lang="en-CA" sz="1400">
                                          <a:solidFill>
                                            <a:srgbClr val="000000"/>
                                          </a:solidFill>
                                          <a:latin typeface="Cambria Math" panose="02040503050406030204" pitchFamily="18" charset="0"/>
                                          <a:ea typeface="Cambria Math" panose="02040503050406030204" pitchFamily="18" charset="0"/>
                                        </a:rPr>
                                        <m:t>Γ</m:t>
                                      </m:r>
                                    </m:e>
                                    <m:sub>
                                      <m:r>
                                        <a:rPr lang="en-CA" sz="1400" b="0" i="1" smtClean="0">
                                          <a:solidFill>
                                            <a:srgbClr val="000000"/>
                                          </a:solidFill>
                                          <a:latin typeface="Cambria Math" panose="02040503050406030204" pitchFamily="18" charset="0"/>
                                          <a:ea typeface="Cambria Math" panose="02040503050406030204" pitchFamily="18" charset="0"/>
                                        </a:rPr>
                                        <m:t>𝑖𝑘</m:t>
                                      </m:r>
                                      <m:r>
                                        <a:rPr lang="en-CA" sz="1400" i="1">
                                          <a:solidFill>
                                            <a:srgbClr val="000000"/>
                                          </a:solidFill>
                                          <a:latin typeface="Cambria Math" panose="02040503050406030204" pitchFamily="18" charset="0"/>
                                          <a:ea typeface="Cambria Math" panose="02040503050406030204" pitchFamily="18" charset="0"/>
                                        </a:rPr>
                                        <m:t>𝑛</m:t>
                                      </m:r>
                                    </m:sub>
                                  </m:sSub>
                                </m:e>
                              </m:nary>
                            </m:e>
                          </m:d>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𝑈</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𝑘𝑗</m:t>
                              </m:r>
                            </m:sub>
                          </m:sSub>
                        </m:e>
                      </m:nary>
                      <m:r>
                        <a:rPr lang="en-CA" sz="1400" b="0" i="1" smtClean="0">
                          <a:solidFill>
                            <a:schemeClr val="tx1"/>
                          </a:solidFill>
                          <a:latin typeface="Cambria Math" panose="02040503050406030204" pitchFamily="18" charset="0"/>
                          <a:ea typeface="Cambria Math" panose="02040503050406030204" pitchFamily="18" charset="0"/>
                        </a:rPr>
                        <m:t>≡</m:t>
                      </m:r>
                      <m:nary>
                        <m:naryPr>
                          <m:chr m:val="∑"/>
                          <m:supHide m:val="on"/>
                          <m:ctrlPr>
                            <a:rPr lang="en-CA" sz="1400" b="0" i="1" smtClean="0">
                              <a:solidFill>
                                <a:schemeClr val="tx1"/>
                              </a:solidFill>
                              <a:latin typeface="Cambria Math" panose="02040503050406030204" pitchFamily="18" charset="0"/>
                              <a:ea typeface="Cambria Math" panose="02040503050406030204" pitchFamily="18" charset="0"/>
                            </a:rPr>
                          </m:ctrlPr>
                        </m:naryPr>
                        <m:sub>
                          <m:r>
                            <m:rPr>
                              <m:brk m:alnAt="7"/>
                            </m:rPr>
                            <a:rPr lang="en-CA" sz="1400" b="0" i="1" smtClean="0">
                              <a:solidFill>
                                <a:schemeClr val="tx1"/>
                              </a:solidFill>
                              <a:latin typeface="Cambria Math" panose="02040503050406030204" pitchFamily="18" charset="0"/>
                              <a:ea typeface="Cambria Math" panose="02040503050406030204" pitchFamily="18" charset="0"/>
                            </a:rPr>
                            <m:t>𝑘</m:t>
                          </m:r>
                        </m:sub>
                        <m:sup/>
                        <m:e>
                          <m:sSub>
                            <m:sSubPr>
                              <m:ctrlPr>
                                <a:rPr lang="en-CA" sz="1400" b="0" i="1" smtClean="0">
                                  <a:solidFill>
                                    <a:schemeClr val="tx1"/>
                                  </a:solidFill>
                                  <a:latin typeface="Cambria Math" panose="02040503050406030204" pitchFamily="18" charset="0"/>
                                  <a:ea typeface="Cambria Math" panose="02040503050406030204" pitchFamily="18" charset="0"/>
                                </a:rPr>
                              </m:ctrlPr>
                            </m:sSubPr>
                            <m:e>
                              <m:r>
                                <a:rPr lang="en-CA" sz="1400" b="0" i="1" smtClean="0">
                                  <a:solidFill>
                                    <a:schemeClr val="tx1"/>
                                  </a:solidFill>
                                  <a:latin typeface="Cambria Math" panose="02040503050406030204" pitchFamily="18" charset="0"/>
                                  <a:ea typeface="Cambria Math" panose="02040503050406030204" pitchFamily="18" charset="0"/>
                                </a:rPr>
                                <m:t>𝐴</m:t>
                              </m:r>
                            </m:e>
                            <m:sub>
                              <m:r>
                                <a:rPr lang="en-CA" sz="1400" b="0" i="1" smtClean="0">
                                  <a:solidFill>
                                    <a:schemeClr val="tx1"/>
                                  </a:solidFill>
                                  <a:latin typeface="Cambria Math" panose="02040503050406030204" pitchFamily="18" charset="0"/>
                                  <a:ea typeface="Cambria Math" panose="02040503050406030204" pitchFamily="18" charset="0"/>
                                </a:rPr>
                                <m:t>𝜇</m:t>
                              </m:r>
                              <m:r>
                                <a:rPr lang="en-CA" sz="1400" b="0" i="1" smtClean="0">
                                  <a:solidFill>
                                    <a:schemeClr val="tx1"/>
                                  </a:solidFill>
                                  <a:latin typeface="Cambria Math" panose="02040503050406030204" pitchFamily="18" charset="0"/>
                                  <a:ea typeface="Cambria Math" panose="02040503050406030204" pitchFamily="18" charset="0"/>
                                </a:rPr>
                                <m:t>𝑖𝑘</m:t>
                              </m:r>
                            </m:sub>
                          </m:sSub>
                          <m:sSub>
                            <m:sSubPr>
                              <m:ctrlPr>
                                <a:rPr lang="en-CA" sz="1400" b="0" i="1" smtClean="0">
                                  <a:solidFill>
                                    <a:schemeClr val="tx1"/>
                                  </a:solidFill>
                                  <a:latin typeface="Cambria Math" panose="02040503050406030204" pitchFamily="18" charset="0"/>
                                  <a:ea typeface="Cambria Math" panose="02040503050406030204" pitchFamily="18" charset="0"/>
                                </a:rPr>
                              </m:ctrlPr>
                            </m:sSubPr>
                            <m:e>
                              <m:r>
                                <a:rPr lang="en-CA" sz="1400" b="0" i="1" smtClean="0">
                                  <a:solidFill>
                                    <a:schemeClr val="tx1"/>
                                  </a:solidFill>
                                  <a:latin typeface="Cambria Math" panose="02040503050406030204" pitchFamily="18" charset="0"/>
                                  <a:ea typeface="Cambria Math" panose="02040503050406030204" pitchFamily="18" charset="0"/>
                                </a:rPr>
                                <m:t>𝑈</m:t>
                              </m:r>
                            </m:e>
                            <m:sub>
                              <m:r>
                                <a:rPr lang="en-CA" sz="1400" b="0" i="1" smtClean="0">
                                  <a:solidFill>
                                    <a:schemeClr val="tx1"/>
                                  </a:solidFill>
                                  <a:latin typeface="Cambria Math" panose="02040503050406030204" pitchFamily="18" charset="0"/>
                                  <a:ea typeface="Cambria Math" panose="02040503050406030204" pitchFamily="18" charset="0"/>
                                </a:rPr>
                                <m:t>𝜇</m:t>
                              </m:r>
                              <m:r>
                                <a:rPr lang="en-CA" sz="1400" b="0" i="1" smtClean="0">
                                  <a:solidFill>
                                    <a:schemeClr val="tx1"/>
                                  </a:solidFill>
                                  <a:latin typeface="Cambria Math" panose="02040503050406030204" pitchFamily="18" charset="0"/>
                                  <a:ea typeface="Cambria Math" panose="02040503050406030204" pitchFamily="18" charset="0"/>
                                </a:rPr>
                                <m:t>𝑘𝑗</m:t>
                              </m:r>
                            </m:sub>
                          </m:sSub>
                        </m:e>
                      </m:nary>
                      <m:r>
                        <a:rPr lang="en-CA" sz="1400" b="0" i="1" smtClean="0">
                          <a:solidFill>
                            <a:schemeClr val="tx1"/>
                          </a:solidFill>
                          <a:latin typeface="Cambria Math" panose="02040503050406030204" pitchFamily="18" charset="0"/>
                        </a:rPr>
                        <m:t>=</m:t>
                      </m:r>
                      <m:nary>
                        <m:naryPr>
                          <m:chr m:val="∑"/>
                          <m:supHide m:val="on"/>
                          <m:ctrlPr>
                            <a:rPr lang="en-CA" sz="1400" b="0" i="1" smtClean="0">
                              <a:solidFill>
                                <a:schemeClr val="tx1"/>
                              </a:solidFill>
                              <a:latin typeface="Cambria Math" panose="02040503050406030204" pitchFamily="18" charset="0"/>
                            </a:rPr>
                          </m:ctrlPr>
                        </m:naryPr>
                        <m:sub>
                          <m:r>
                            <m:rPr>
                              <m:brk m:alnAt="7"/>
                            </m:rPr>
                            <a:rPr lang="en-CA" sz="1400" b="0" i="1" smtClean="0">
                              <a:solidFill>
                                <a:schemeClr val="tx1"/>
                              </a:solidFill>
                              <a:latin typeface="Cambria Math" panose="02040503050406030204" pitchFamily="18" charset="0"/>
                            </a:rPr>
                            <m:t>𝑘</m:t>
                          </m:r>
                          <m:sSup>
                            <m:sSupPr>
                              <m:ctrlPr>
                                <a:rPr lang="en-CA" sz="1400" b="0" i="1" smtClean="0">
                                  <a:solidFill>
                                    <a:schemeClr val="tx1"/>
                                  </a:solidFill>
                                  <a:latin typeface="Cambria Math" panose="02040503050406030204" pitchFamily="18" charset="0"/>
                                </a:rPr>
                              </m:ctrlPr>
                            </m:sSupPr>
                            <m:e>
                              <m:r>
                                <m:rPr>
                                  <m:brk m:alnAt="7"/>
                                </m:rPr>
                                <a:rPr lang="en-CA" sz="1400" b="0" i="1" smtClean="0">
                                  <a:solidFill>
                                    <a:schemeClr val="tx1"/>
                                  </a:solidFill>
                                  <a:latin typeface="Cambria Math" panose="02040503050406030204" pitchFamily="18" charset="0"/>
                                </a:rPr>
                                <m:t>𝑘</m:t>
                              </m:r>
                            </m:e>
                            <m:sup>
                              <m:r>
                                <m:rPr>
                                  <m:brk m:alnAt="7"/>
                                </m:rPr>
                                <a:rPr lang="en-CA" sz="1400" b="0" i="1" smtClean="0">
                                  <a:solidFill>
                                    <a:schemeClr val="tx1"/>
                                  </a:solidFill>
                                  <a:latin typeface="Cambria Math" panose="02040503050406030204" pitchFamily="18" charset="0"/>
                                </a:rPr>
                                <m:t>′</m:t>
                              </m:r>
                            </m:sup>
                          </m:sSup>
                        </m:sub>
                        <m:sup/>
                        <m:e>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𝑆</m:t>
                              </m:r>
                            </m:e>
                            <m:sub>
                              <m:r>
                                <a:rPr lang="en-CA" sz="1400" b="0" i="1" smtClean="0">
                                  <a:solidFill>
                                    <a:schemeClr val="tx1"/>
                                  </a:solidFill>
                                  <a:latin typeface="Cambria Math" panose="02040503050406030204" pitchFamily="18" charset="0"/>
                                </a:rPr>
                                <m:t>𝑖𝑘</m:t>
                              </m:r>
                            </m:sub>
                          </m:sSub>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𝑈</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𝑘</m:t>
                              </m:r>
                              <m:sSup>
                                <m:sSupPr>
                                  <m:ctrlPr>
                                    <a:rPr lang="en-CA" sz="1400" b="0" i="1" smtClean="0">
                                      <a:solidFill>
                                        <a:schemeClr val="tx1"/>
                                      </a:solidFill>
                                      <a:latin typeface="Cambria Math" panose="02040503050406030204" pitchFamily="18" charset="0"/>
                                    </a:rPr>
                                  </m:ctrlPr>
                                </m:sSupPr>
                                <m:e>
                                  <m:r>
                                    <a:rPr lang="en-CA" sz="1400" b="0" i="1" smtClean="0">
                                      <a:solidFill>
                                        <a:schemeClr val="tx1"/>
                                      </a:solidFill>
                                      <a:latin typeface="Cambria Math" panose="02040503050406030204" pitchFamily="18" charset="0"/>
                                    </a:rPr>
                                    <m:t>𝑘</m:t>
                                  </m:r>
                                </m:e>
                                <m:sup>
                                  <m:r>
                                    <a:rPr lang="en-CA" sz="1400" b="0" i="1" smtClean="0">
                                      <a:solidFill>
                                        <a:schemeClr val="tx1"/>
                                      </a:solidFill>
                                      <a:latin typeface="Cambria Math" panose="02040503050406030204" pitchFamily="18" charset="0"/>
                                    </a:rPr>
                                    <m:t>′</m:t>
                                  </m:r>
                                </m:sup>
                              </m:sSup>
                            </m:sub>
                          </m:sSub>
                          <m:sSub>
                            <m:sSubPr>
                              <m:ctrlPr>
                                <a:rPr lang="en-CA" sz="1400" b="0" i="1" smtClean="0">
                                  <a:solidFill>
                                    <a:schemeClr val="tx1"/>
                                  </a:solidFill>
                                  <a:latin typeface="Cambria Math" panose="02040503050406030204" pitchFamily="18" charset="0"/>
                                </a:rPr>
                              </m:ctrlPr>
                            </m:sSubPr>
                            <m:e>
                              <m:r>
                                <m:rPr>
                                  <m:sty m:val="p"/>
                                </m:rPr>
                                <a:rPr lang="en-CA" sz="1400" b="0" i="0" smtClean="0">
                                  <a:solidFill>
                                    <a:schemeClr val="tx1"/>
                                  </a:solidFill>
                                  <a:latin typeface="Cambria Math" panose="02040503050406030204" pitchFamily="18" charset="0"/>
                                </a:rPr>
                                <m:t>D</m:t>
                              </m:r>
                            </m:e>
                            <m:sub>
                              <m:r>
                                <a:rPr lang="en-CA" sz="1400" b="0" i="1" smtClean="0">
                                  <a:solidFill>
                                    <a:schemeClr val="tx1"/>
                                  </a:solidFill>
                                  <a:latin typeface="Cambria Math" panose="02040503050406030204" pitchFamily="18" charset="0"/>
                                </a:rPr>
                                <m:t>𝜇</m:t>
                              </m:r>
                              <m:sSup>
                                <m:sSupPr>
                                  <m:ctrlPr>
                                    <a:rPr lang="en-CA" sz="1400" b="0" i="1" smtClean="0">
                                      <a:solidFill>
                                        <a:schemeClr val="tx1"/>
                                      </a:solidFill>
                                      <a:latin typeface="Cambria Math" panose="02040503050406030204" pitchFamily="18" charset="0"/>
                                    </a:rPr>
                                  </m:ctrlPr>
                                </m:sSupPr>
                                <m:e>
                                  <m:r>
                                    <a:rPr lang="en-CA" sz="1400" b="0" i="1" smtClean="0">
                                      <a:solidFill>
                                        <a:schemeClr val="tx1"/>
                                      </a:solidFill>
                                      <a:latin typeface="Cambria Math" panose="02040503050406030204" pitchFamily="18" charset="0"/>
                                    </a:rPr>
                                    <m:t>𝑘</m:t>
                                  </m:r>
                                </m:e>
                                <m:sup>
                                  <m:r>
                                    <a:rPr lang="en-CA" sz="1400" b="0" i="1" smtClean="0">
                                      <a:solidFill>
                                        <a:schemeClr val="tx1"/>
                                      </a:solidFill>
                                      <a:latin typeface="Cambria Math" panose="02040503050406030204" pitchFamily="18" charset="0"/>
                                    </a:rPr>
                                    <m:t>′</m:t>
                                  </m:r>
                                </m:sup>
                              </m:sSup>
                              <m:r>
                                <a:rPr lang="en-CA" sz="1400" b="0" i="1" smtClean="0">
                                  <a:solidFill>
                                    <a:schemeClr val="tx1"/>
                                  </a:solidFill>
                                  <a:latin typeface="Cambria Math" panose="02040503050406030204" pitchFamily="18" charset="0"/>
                                </a:rPr>
                                <m:t>𝑗</m:t>
                              </m:r>
                            </m:sub>
                          </m:sSub>
                        </m:e>
                      </m:nary>
                    </m:oMath>
                  </m:oMathPara>
                </a14:m>
                <a:endParaRPr lang="en-CA" sz="1400" dirty="0">
                  <a:solidFill>
                    <a:schemeClr val="tx1"/>
                  </a:solidFill>
                </a:endParaRPr>
              </a:p>
            </p:txBody>
          </p:sp>
        </mc:Choice>
        <mc:Fallback xmlns="">
          <p:sp>
            <p:nvSpPr>
              <p:cNvPr id="77" name="Rounded Rectangle 23">
                <a:extLst>
                  <a:ext uri="{FF2B5EF4-FFF2-40B4-BE49-F238E27FC236}">
                    <a16:creationId xmlns:a16="http://schemas.microsoft.com/office/drawing/2014/main" id="{22558B20-73F5-4229-B8E0-F213F93E7F7F}"/>
                  </a:ext>
                </a:extLst>
              </p:cNvPr>
              <p:cNvSpPr>
                <a:spLocks noRot="1" noChangeAspect="1" noMove="1" noResize="1" noEditPoints="1" noAdjustHandles="1" noChangeArrowheads="1" noChangeShapeType="1" noTextEdit="1"/>
              </p:cNvSpPr>
              <p:nvPr/>
            </p:nvSpPr>
            <p:spPr>
              <a:xfrm>
                <a:off x="8727595" y="1442676"/>
                <a:ext cx="3198423" cy="1529897"/>
              </a:xfrm>
              <a:prstGeom prst="roundRect">
                <a:avLst/>
              </a:prstGeom>
              <a:blipFill>
                <a:blip r:embed="rId9"/>
                <a:stretch>
                  <a:fillRect l="-7414" b="-61660"/>
                </a:stretch>
              </a:blipFill>
            </p:spPr>
            <p:txBody>
              <a:bodyPr/>
              <a:lstStyle/>
              <a:p>
                <a:r>
                  <a:rPr lang="en-CA">
                    <a:noFill/>
                  </a:rPr>
                  <a:t> </a:t>
                </a:r>
              </a:p>
            </p:txBody>
          </p:sp>
        </mc:Fallback>
      </mc:AlternateContent>
      <p:grpSp>
        <p:nvGrpSpPr>
          <p:cNvPr id="79" name="Group 78">
            <a:extLst>
              <a:ext uri="{FF2B5EF4-FFF2-40B4-BE49-F238E27FC236}">
                <a16:creationId xmlns:a16="http://schemas.microsoft.com/office/drawing/2014/main" id="{4CEB64DE-D214-43E2-A8BA-28C0AC6398FC}"/>
              </a:ext>
            </a:extLst>
          </p:cNvPr>
          <p:cNvGrpSpPr/>
          <p:nvPr/>
        </p:nvGrpSpPr>
        <p:grpSpPr>
          <a:xfrm>
            <a:off x="3911829" y="1559518"/>
            <a:ext cx="4490447" cy="1299809"/>
            <a:chOff x="3945363" y="1622774"/>
            <a:chExt cx="4490447" cy="1299809"/>
          </a:xfrm>
        </p:grpSpPr>
        <p:grpSp>
          <p:nvGrpSpPr>
            <p:cNvPr id="4" name="Group 3">
              <a:extLst>
                <a:ext uri="{FF2B5EF4-FFF2-40B4-BE49-F238E27FC236}">
                  <a16:creationId xmlns:a16="http://schemas.microsoft.com/office/drawing/2014/main" id="{2BBD8145-A64F-4E8F-AC97-ED581F3B7F2B}"/>
                </a:ext>
              </a:extLst>
            </p:cNvPr>
            <p:cNvGrpSpPr/>
            <p:nvPr/>
          </p:nvGrpSpPr>
          <p:grpSpPr>
            <a:xfrm>
              <a:off x="3945363" y="1622774"/>
              <a:ext cx="4490447" cy="1299809"/>
              <a:chOff x="1794346" y="4355131"/>
              <a:chExt cx="4285607" cy="1982966"/>
            </a:xfrm>
          </p:grpSpPr>
          <mc:AlternateContent xmlns:mc="http://schemas.openxmlformats.org/markup-compatibility/2006" xmlns:a14="http://schemas.microsoft.com/office/drawing/2010/main">
            <mc:Choice Requires="a14">
              <p:sp>
                <p:nvSpPr>
                  <p:cNvPr id="27" name="Rounded Rectangle 73">
                    <a:extLst>
                      <a:ext uri="{FF2B5EF4-FFF2-40B4-BE49-F238E27FC236}">
                        <a16:creationId xmlns:a16="http://schemas.microsoft.com/office/drawing/2014/main" id="{04571C40-0066-4840-80C1-E4C7201DCEB6}"/>
                      </a:ext>
                    </a:extLst>
                  </p:cNvPr>
                  <p:cNvSpPr/>
                  <p:nvPr/>
                </p:nvSpPr>
                <p:spPr>
                  <a:xfrm>
                    <a:off x="1794346" y="4355131"/>
                    <a:ext cx="4285607" cy="198296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CA" sz="1400" i="1" smtClean="0">
                                  <a:solidFill>
                                    <a:srgbClr val="000000"/>
                                  </a:solidFill>
                                  <a:latin typeface="Cambria Math" panose="02040503050406030204" pitchFamily="18" charset="0"/>
                                </a:rPr>
                              </m:ctrlPr>
                            </m:fPr>
                            <m:num>
                              <m:r>
                                <a:rPr lang="en-CA" sz="1400" i="1">
                                  <a:solidFill>
                                    <a:srgbClr val="000000"/>
                                  </a:solidFill>
                                  <a:latin typeface="Cambria Math" panose="02040503050406030204" pitchFamily="18" charset="0"/>
                                  <a:ea typeface="Cambria Math" panose="02040503050406030204" pitchFamily="18" charset="0"/>
                                </a:rPr>
                                <m:t>𝜕</m:t>
                              </m:r>
                              <m:sSub>
                                <m:sSubPr>
                                  <m:ctrlPr>
                                    <a:rPr lang="en-CA" sz="1400" b="0" i="1" smtClean="0">
                                      <a:solidFill>
                                        <a:srgbClr val="000000"/>
                                      </a:solidFill>
                                      <a:latin typeface="Cambria Math" panose="02040503050406030204" pitchFamily="18" charset="0"/>
                                      <a:ea typeface="Cambria Math" panose="02040503050406030204" pitchFamily="18" charset="0"/>
                                    </a:rPr>
                                  </m:ctrlPr>
                                </m:sSubPr>
                                <m:e>
                                  <m:r>
                                    <a:rPr lang="en-CA" sz="1400" b="0" i="1" smtClean="0">
                                      <a:solidFill>
                                        <a:srgbClr val="000000"/>
                                      </a:solidFill>
                                      <a:latin typeface="Cambria Math" panose="02040503050406030204" pitchFamily="18" charset="0"/>
                                      <a:ea typeface="Cambria Math" panose="02040503050406030204" pitchFamily="18" charset="0"/>
                                    </a:rPr>
                                    <m:t>𝑞</m:t>
                                  </m:r>
                                </m:e>
                                <m:sub>
                                  <m:r>
                                    <a:rPr lang="en-CA" sz="1400" b="0" i="1" smtClean="0">
                                      <a:solidFill>
                                        <a:srgbClr val="000000"/>
                                      </a:solidFill>
                                      <a:latin typeface="Cambria Math" panose="02040503050406030204" pitchFamily="18" charset="0"/>
                                      <a:ea typeface="Cambria Math" panose="02040503050406030204" pitchFamily="18" charset="0"/>
                                    </a:rPr>
                                    <m:t>𝜇</m:t>
                                  </m:r>
                                  <m:r>
                                    <a:rPr lang="en-CA" sz="1400" b="0" i="1" smtClean="0">
                                      <a:solidFill>
                                        <a:srgbClr val="000000"/>
                                      </a:solidFill>
                                      <a:latin typeface="Cambria Math" panose="02040503050406030204" pitchFamily="18" charset="0"/>
                                      <a:ea typeface="Cambria Math" panose="02040503050406030204" pitchFamily="18" charset="0"/>
                                    </a:rPr>
                                    <m:t>𝑖𝑗</m:t>
                                  </m:r>
                                </m:sub>
                              </m:sSub>
                              <m:d>
                                <m:dPr>
                                  <m:ctrlPr>
                                    <a:rPr lang="en-CA" sz="1400" i="1">
                                      <a:solidFill>
                                        <a:srgbClr val="000000"/>
                                      </a:solidFill>
                                      <a:latin typeface="Cambria Math" panose="02040503050406030204" pitchFamily="18" charset="0"/>
                                    </a:rPr>
                                  </m:ctrlPr>
                                </m:dPr>
                                <m:e>
                                  <m:r>
                                    <a:rPr lang="en-CA" sz="1400" i="1">
                                      <a:solidFill>
                                        <a:srgbClr val="000000"/>
                                      </a:solidFill>
                                      <a:latin typeface="Cambria Math" panose="02040503050406030204" pitchFamily="18" charset="0"/>
                                      <a:ea typeface="Cambria Math" panose="02040503050406030204" pitchFamily="18" charset="0"/>
                                    </a:rPr>
                                    <m:t>𝛽</m:t>
                                  </m:r>
                                </m:e>
                              </m:d>
                            </m:num>
                            <m:den>
                              <m:r>
                                <a:rPr lang="en-CA" sz="1400" i="1">
                                  <a:solidFill>
                                    <a:srgbClr val="000000"/>
                                  </a:solidFill>
                                  <a:latin typeface="Cambria Math" panose="02040503050406030204" pitchFamily="18" charset="0"/>
                                  <a:ea typeface="Cambria Math" panose="02040503050406030204" pitchFamily="18" charset="0"/>
                                </a:rPr>
                                <m:t>𝜕𝛽</m:t>
                              </m:r>
                            </m:den>
                          </m:f>
                          <m:r>
                            <a:rPr lang="en-CA" sz="1400" b="0" i="1" smtClean="0">
                              <a:solidFill>
                                <a:srgbClr val="000000"/>
                              </a:solidFill>
                              <a:latin typeface="Cambria Math" panose="02040503050406030204" pitchFamily="18" charset="0"/>
                              <a:ea typeface="Cambria Math" panose="02040503050406030204" pitchFamily="18" charset="0"/>
                            </a:rPr>
                            <m:t>=</m:t>
                          </m:r>
                          <m:nary>
                            <m:naryPr>
                              <m:chr m:val="∑"/>
                              <m:supHide m:val="on"/>
                              <m:ctrlPr>
                                <a:rPr lang="en-CA" sz="1400" b="0" i="1" smtClean="0">
                                  <a:solidFill>
                                    <a:srgbClr val="000000"/>
                                  </a:solidFill>
                                  <a:latin typeface="Cambria Math" panose="02040503050406030204" pitchFamily="18" charset="0"/>
                                  <a:ea typeface="Cambria Math" panose="02040503050406030204" pitchFamily="18" charset="0"/>
                                </a:rPr>
                              </m:ctrlPr>
                            </m:naryPr>
                            <m:sub>
                              <m:r>
                                <m:rPr>
                                  <m:brk m:alnAt="7"/>
                                </m:rPr>
                                <a:rPr lang="en-CA" sz="1400" b="0" i="1" smtClean="0">
                                  <a:solidFill>
                                    <a:srgbClr val="000000"/>
                                  </a:solidFill>
                                  <a:latin typeface="Cambria Math" panose="02040503050406030204" pitchFamily="18" charset="0"/>
                                  <a:ea typeface="Cambria Math" panose="02040503050406030204" pitchFamily="18" charset="0"/>
                                </a:rPr>
                                <m:t>𝑘</m:t>
                              </m:r>
                              <m:sSup>
                                <m:sSupPr>
                                  <m:ctrlPr>
                                    <a:rPr lang="en-CA" sz="1400" b="0" i="1" smtClean="0">
                                      <a:solidFill>
                                        <a:srgbClr val="000000"/>
                                      </a:solidFill>
                                      <a:latin typeface="Cambria Math" panose="02040503050406030204" pitchFamily="18" charset="0"/>
                                      <a:ea typeface="Cambria Math" panose="02040503050406030204" pitchFamily="18" charset="0"/>
                                    </a:rPr>
                                  </m:ctrlPr>
                                </m:sSupPr>
                                <m:e>
                                  <m:r>
                                    <m:rPr>
                                      <m:brk m:alnAt="7"/>
                                    </m:rPr>
                                    <a:rPr lang="en-CA" sz="1400" b="0" i="1" smtClean="0">
                                      <a:solidFill>
                                        <a:srgbClr val="000000"/>
                                      </a:solidFill>
                                      <a:latin typeface="Cambria Math" panose="02040503050406030204" pitchFamily="18" charset="0"/>
                                      <a:ea typeface="Cambria Math" panose="02040503050406030204" pitchFamily="18" charset="0"/>
                                    </a:rPr>
                                    <m:t>𝑘</m:t>
                                  </m:r>
                                </m:e>
                                <m:sup>
                                  <m:r>
                                    <a:rPr lang="en-CA" sz="1400" b="0" i="1" smtClean="0">
                                      <a:solidFill>
                                        <a:srgbClr val="000000"/>
                                      </a:solidFill>
                                      <a:latin typeface="Cambria Math" panose="02040503050406030204" pitchFamily="18" charset="0"/>
                                      <a:ea typeface="Cambria Math" panose="02040503050406030204" pitchFamily="18" charset="0"/>
                                    </a:rPr>
                                    <m:t>′</m:t>
                                  </m:r>
                                </m:sup>
                              </m:sSup>
                            </m:sub>
                            <m:sup/>
                            <m:e>
                              <m:sSubSup>
                                <m:sSubSupPr>
                                  <m:ctrlPr>
                                    <a:rPr lang="en-CA" sz="1400" b="0" i="1" smtClean="0">
                                      <a:solidFill>
                                        <a:srgbClr val="000000"/>
                                      </a:solidFill>
                                      <a:latin typeface="Cambria Math" panose="02040503050406030204" pitchFamily="18" charset="0"/>
                                      <a:ea typeface="Cambria Math" panose="02040503050406030204" pitchFamily="18" charset="0"/>
                                    </a:rPr>
                                  </m:ctrlPr>
                                </m:sSubSupPr>
                                <m:e>
                                  <m:r>
                                    <a:rPr lang="en-CA" sz="1400" b="0" i="1" smtClean="0">
                                      <a:solidFill>
                                        <a:srgbClr val="000000"/>
                                      </a:solidFill>
                                      <a:latin typeface="Cambria Math" panose="02040503050406030204" pitchFamily="18" charset="0"/>
                                      <a:ea typeface="Cambria Math" panose="02040503050406030204" pitchFamily="18" charset="0"/>
                                    </a:rPr>
                                    <m:t>𝑆</m:t>
                                  </m:r>
                                </m:e>
                                <m:sub>
                                  <m:r>
                                    <a:rPr lang="en-CA" sz="1400" b="0" i="1" smtClean="0">
                                      <a:solidFill>
                                        <a:srgbClr val="000000"/>
                                      </a:solidFill>
                                      <a:latin typeface="Cambria Math" panose="02040503050406030204" pitchFamily="18" charset="0"/>
                                      <a:ea typeface="Cambria Math" panose="02040503050406030204" pitchFamily="18" charset="0"/>
                                    </a:rPr>
                                    <m:t>𝑖𝑘</m:t>
                                  </m:r>
                                </m:sub>
                                <m:sup>
                                  <m:r>
                                    <a:rPr lang="en-CA" sz="1400" b="0" i="1" smtClean="0">
                                      <a:solidFill>
                                        <a:srgbClr val="000000"/>
                                      </a:solidFill>
                                      <a:latin typeface="Cambria Math" panose="02040503050406030204" pitchFamily="18" charset="0"/>
                                      <a:ea typeface="Cambria Math" panose="02040503050406030204" pitchFamily="18" charset="0"/>
                                    </a:rPr>
                                    <m:t>−1</m:t>
                                  </m:r>
                                </m:sup>
                              </m:sSubSup>
                              <m:d>
                                <m:dPr>
                                  <m:ctrlPr>
                                    <a:rPr lang="en-CA" sz="1400" b="0" i="1" smtClean="0">
                                      <a:solidFill>
                                        <a:srgbClr val="000000"/>
                                      </a:solidFill>
                                      <a:latin typeface="Cambria Math" panose="02040503050406030204" pitchFamily="18" charset="0"/>
                                      <a:ea typeface="Cambria Math" panose="02040503050406030204" pitchFamily="18" charset="0"/>
                                    </a:rPr>
                                  </m:ctrlPr>
                                </m:dPr>
                                <m:e>
                                  <m:f>
                                    <m:fPr>
                                      <m:ctrlPr>
                                        <a:rPr lang="en-CA" sz="1400" b="0" i="1" smtClean="0">
                                          <a:solidFill>
                                            <a:srgbClr val="000000"/>
                                          </a:solidFill>
                                          <a:latin typeface="Cambria Math" panose="02040503050406030204" pitchFamily="18" charset="0"/>
                                          <a:ea typeface="Cambria Math" panose="02040503050406030204" pitchFamily="18" charset="0"/>
                                        </a:rPr>
                                      </m:ctrlPr>
                                    </m:fPr>
                                    <m:num>
                                      <m:sSup>
                                        <m:sSupPr>
                                          <m:ctrlPr>
                                            <a:rPr lang="en-CA" sz="1400" b="0" i="1" smtClean="0">
                                              <a:solidFill>
                                                <a:srgbClr val="000000"/>
                                              </a:solidFill>
                                              <a:latin typeface="Cambria Math" panose="02040503050406030204" pitchFamily="18" charset="0"/>
                                              <a:ea typeface="Cambria Math" panose="02040503050406030204" pitchFamily="18" charset="0"/>
                                            </a:rPr>
                                          </m:ctrlPr>
                                        </m:sSupPr>
                                        <m:e>
                                          <m:r>
                                            <a:rPr lang="en-CA" sz="1400" b="0" i="1" smtClean="0">
                                              <a:solidFill>
                                                <a:srgbClr val="000000"/>
                                              </a:solidFill>
                                              <a:latin typeface="Cambria Math" panose="02040503050406030204" pitchFamily="18" charset="0"/>
                                              <a:ea typeface="Cambria Math" panose="02040503050406030204" pitchFamily="18" charset="0"/>
                                            </a:rPr>
                                            <m:t>ℏ</m:t>
                                          </m:r>
                                        </m:e>
                                        <m:sup>
                                          <m:r>
                                            <a:rPr lang="en-CA" sz="1400" b="0" i="1" smtClean="0">
                                              <a:solidFill>
                                                <a:srgbClr val="000000"/>
                                              </a:solidFill>
                                              <a:latin typeface="Cambria Math" panose="02040503050406030204" pitchFamily="18" charset="0"/>
                                              <a:ea typeface="Cambria Math" panose="02040503050406030204" pitchFamily="18" charset="0"/>
                                            </a:rPr>
                                            <m:t>2</m:t>
                                          </m:r>
                                        </m:sup>
                                      </m:sSup>
                                    </m:num>
                                    <m:den>
                                      <m:r>
                                        <a:rPr lang="en-CA" sz="1400" b="0" i="1" smtClean="0">
                                          <a:solidFill>
                                            <a:srgbClr val="000000"/>
                                          </a:solidFill>
                                          <a:latin typeface="Cambria Math" panose="02040503050406030204" pitchFamily="18" charset="0"/>
                                          <a:ea typeface="Cambria Math" panose="02040503050406030204" pitchFamily="18" charset="0"/>
                                        </a:rPr>
                                        <m:t>2</m:t>
                                      </m:r>
                                      <m:r>
                                        <a:rPr lang="en-CA" sz="1400" b="0" i="1" smtClean="0">
                                          <a:solidFill>
                                            <a:srgbClr val="000000"/>
                                          </a:solidFill>
                                          <a:latin typeface="Cambria Math" panose="02040503050406030204" pitchFamily="18" charset="0"/>
                                          <a:ea typeface="Cambria Math" panose="02040503050406030204" pitchFamily="18" charset="0"/>
                                        </a:rPr>
                                        <m:t>𝑚</m:t>
                                      </m:r>
                                    </m:den>
                                  </m:f>
                                  <m:sSub>
                                    <m:sSubPr>
                                      <m:ctrlPr>
                                        <a:rPr lang="en-CA" sz="1400" b="0" i="1" smtClean="0">
                                          <a:solidFill>
                                            <a:srgbClr val="000000"/>
                                          </a:solidFill>
                                          <a:latin typeface="Cambria Math" panose="02040503050406030204" pitchFamily="18" charset="0"/>
                                          <a:ea typeface="Cambria Math" panose="02040503050406030204" pitchFamily="18" charset="0"/>
                                        </a:rPr>
                                      </m:ctrlPr>
                                    </m:sSubPr>
                                    <m:e>
                                      <m:r>
                                        <a:rPr lang="en-CA" sz="1400" b="0" i="1" smtClean="0">
                                          <a:solidFill>
                                            <a:srgbClr val="000000"/>
                                          </a:solidFill>
                                          <a:latin typeface="Cambria Math" panose="02040503050406030204" pitchFamily="18" charset="0"/>
                                          <a:ea typeface="Cambria Math" panose="02040503050406030204" pitchFamily="18" charset="0"/>
                                        </a:rPr>
                                        <m:t>𝐿</m:t>
                                      </m:r>
                                    </m:e>
                                    <m:sub>
                                      <m:r>
                                        <a:rPr lang="en-CA" sz="1400" b="0" i="1" smtClean="0">
                                          <a:solidFill>
                                            <a:srgbClr val="000000"/>
                                          </a:solidFill>
                                          <a:latin typeface="Cambria Math" panose="02040503050406030204" pitchFamily="18" charset="0"/>
                                          <a:ea typeface="Cambria Math" panose="02040503050406030204" pitchFamily="18" charset="0"/>
                                        </a:rPr>
                                        <m:t>𝑘</m:t>
                                      </m:r>
                                      <m:sSup>
                                        <m:sSupPr>
                                          <m:ctrlPr>
                                            <a:rPr lang="en-CA" sz="1400" b="0" i="1" smtClean="0">
                                              <a:solidFill>
                                                <a:srgbClr val="000000"/>
                                              </a:solidFill>
                                              <a:latin typeface="Cambria Math" panose="02040503050406030204" pitchFamily="18" charset="0"/>
                                              <a:ea typeface="Cambria Math" panose="02040503050406030204" pitchFamily="18" charset="0"/>
                                            </a:rPr>
                                          </m:ctrlPr>
                                        </m:sSupPr>
                                        <m:e>
                                          <m:r>
                                            <a:rPr lang="en-CA" sz="1400" b="0" i="1" smtClean="0">
                                              <a:solidFill>
                                                <a:srgbClr val="000000"/>
                                              </a:solidFill>
                                              <a:latin typeface="Cambria Math" panose="02040503050406030204" pitchFamily="18" charset="0"/>
                                              <a:ea typeface="Cambria Math" panose="02040503050406030204" pitchFamily="18" charset="0"/>
                                            </a:rPr>
                                            <m:t>𝑘</m:t>
                                          </m:r>
                                        </m:e>
                                        <m:sup>
                                          <m:r>
                                            <a:rPr lang="en-CA" sz="1400" b="0" i="1" smtClean="0">
                                              <a:solidFill>
                                                <a:srgbClr val="000000"/>
                                              </a:solidFill>
                                              <a:latin typeface="Cambria Math" panose="02040503050406030204" pitchFamily="18" charset="0"/>
                                              <a:ea typeface="Cambria Math" panose="02040503050406030204" pitchFamily="18" charset="0"/>
                                            </a:rPr>
                                            <m:t>′</m:t>
                                          </m:r>
                                        </m:sup>
                                      </m:sSup>
                                    </m:sub>
                                  </m:sSub>
                                  <m:r>
                                    <a:rPr lang="en-CA" sz="1400" b="0" i="1" smtClean="0">
                                      <a:solidFill>
                                        <a:srgbClr val="000000"/>
                                      </a:solidFill>
                                      <a:latin typeface="Cambria Math" panose="02040503050406030204" pitchFamily="18" charset="0"/>
                                      <a:ea typeface="Cambria Math" panose="02040503050406030204" pitchFamily="18" charset="0"/>
                                    </a:rPr>
                                    <m:t>−</m:t>
                                  </m:r>
                                  <m:nary>
                                    <m:naryPr>
                                      <m:chr m:val="∑"/>
                                      <m:supHide m:val="on"/>
                                      <m:ctrlPr>
                                        <a:rPr lang="en-CA" sz="1400" b="0" i="1" smtClean="0">
                                          <a:solidFill>
                                            <a:srgbClr val="000000"/>
                                          </a:solidFill>
                                          <a:latin typeface="Cambria Math" panose="02040503050406030204" pitchFamily="18" charset="0"/>
                                          <a:ea typeface="Cambria Math" panose="02040503050406030204" pitchFamily="18" charset="0"/>
                                        </a:rPr>
                                      </m:ctrlPr>
                                    </m:naryPr>
                                    <m:sub>
                                      <m:r>
                                        <m:rPr>
                                          <m:brk m:alnAt="7"/>
                                        </m:rPr>
                                        <a:rPr lang="en-CA" sz="1400" b="0" i="1" smtClean="0">
                                          <a:solidFill>
                                            <a:srgbClr val="000000"/>
                                          </a:solidFill>
                                          <a:latin typeface="Cambria Math" panose="02040503050406030204" pitchFamily="18" charset="0"/>
                                          <a:ea typeface="Cambria Math" panose="02040503050406030204" pitchFamily="18" charset="0"/>
                                        </a:rPr>
                                        <m:t>𝑛</m:t>
                                      </m:r>
                                    </m:sub>
                                    <m:sup/>
                                    <m:e>
                                      <m:sSub>
                                        <m:sSubPr>
                                          <m:ctrlPr>
                                            <a:rPr lang="en-CA" sz="1400" b="0" i="1" smtClean="0">
                                              <a:solidFill>
                                                <a:srgbClr val="000000"/>
                                              </a:solidFill>
                                              <a:latin typeface="Cambria Math" panose="02040503050406030204" pitchFamily="18" charset="0"/>
                                              <a:ea typeface="Cambria Math" panose="02040503050406030204" pitchFamily="18" charset="0"/>
                                            </a:rPr>
                                          </m:ctrlPr>
                                        </m:sSubPr>
                                        <m:e>
                                          <m:r>
                                            <a:rPr lang="en-CA" sz="1400" b="0" i="1" smtClean="0">
                                              <a:solidFill>
                                                <a:srgbClr val="000000"/>
                                              </a:solidFill>
                                              <a:latin typeface="Cambria Math" panose="02040503050406030204" pitchFamily="18" charset="0"/>
                                              <a:ea typeface="Cambria Math" panose="02040503050406030204" pitchFamily="18" charset="0"/>
                                            </a:rPr>
                                            <m:t>𝑤</m:t>
                                          </m:r>
                                        </m:e>
                                        <m:sub>
                                          <m:r>
                                            <a:rPr lang="en-CA" sz="1400" b="0" i="1" smtClean="0">
                                              <a:solidFill>
                                                <a:srgbClr val="000000"/>
                                              </a:solidFill>
                                              <a:latin typeface="Cambria Math" panose="02040503050406030204" pitchFamily="18" charset="0"/>
                                              <a:ea typeface="Cambria Math" panose="02040503050406030204" pitchFamily="18" charset="0"/>
                                            </a:rPr>
                                            <m:t>𝜇</m:t>
                                          </m:r>
                                          <m:r>
                                            <a:rPr lang="en-CA" sz="1400" b="0" i="1" smtClean="0">
                                              <a:solidFill>
                                                <a:srgbClr val="000000"/>
                                              </a:solidFill>
                                              <a:latin typeface="Cambria Math" panose="02040503050406030204" pitchFamily="18" charset="0"/>
                                              <a:ea typeface="Cambria Math" panose="02040503050406030204" pitchFamily="18" charset="0"/>
                                            </a:rPr>
                                            <m:t>𝑛</m:t>
                                          </m:r>
                                        </m:sub>
                                      </m:sSub>
                                      <m:sSub>
                                        <m:sSubPr>
                                          <m:ctrlPr>
                                            <a:rPr lang="en-CA" sz="1400" b="0" i="1" smtClean="0">
                                              <a:solidFill>
                                                <a:srgbClr val="000000"/>
                                              </a:solidFill>
                                              <a:latin typeface="Cambria Math" panose="02040503050406030204" pitchFamily="18" charset="0"/>
                                              <a:ea typeface="Cambria Math" panose="02040503050406030204" pitchFamily="18" charset="0"/>
                                            </a:rPr>
                                          </m:ctrlPr>
                                        </m:sSubPr>
                                        <m:e>
                                          <m:r>
                                            <m:rPr>
                                              <m:sty m:val="p"/>
                                            </m:rPr>
                                            <a:rPr lang="en-CA" sz="1400" b="0" i="0" smtClean="0">
                                              <a:solidFill>
                                                <a:srgbClr val="000000"/>
                                              </a:solidFill>
                                              <a:latin typeface="Cambria Math" panose="02040503050406030204" pitchFamily="18" charset="0"/>
                                              <a:ea typeface="Cambria Math" panose="02040503050406030204" pitchFamily="18" charset="0"/>
                                            </a:rPr>
                                            <m:t>Γ</m:t>
                                          </m:r>
                                        </m:e>
                                        <m:sub>
                                          <m:r>
                                            <a:rPr lang="en-CA" sz="1400" b="0" i="1" smtClean="0">
                                              <a:solidFill>
                                                <a:srgbClr val="000000"/>
                                              </a:solidFill>
                                              <a:latin typeface="Cambria Math" panose="02040503050406030204" pitchFamily="18" charset="0"/>
                                              <a:ea typeface="Cambria Math" panose="02040503050406030204" pitchFamily="18" charset="0"/>
                                            </a:rPr>
                                            <m:t>𝑘</m:t>
                                          </m:r>
                                          <m:sSup>
                                            <m:sSupPr>
                                              <m:ctrlPr>
                                                <a:rPr lang="en-CA" sz="1400" b="0" i="1" smtClean="0">
                                                  <a:solidFill>
                                                    <a:srgbClr val="000000"/>
                                                  </a:solidFill>
                                                  <a:latin typeface="Cambria Math" panose="02040503050406030204" pitchFamily="18" charset="0"/>
                                                  <a:ea typeface="Cambria Math" panose="02040503050406030204" pitchFamily="18" charset="0"/>
                                                </a:rPr>
                                              </m:ctrlPr>
                                            </m:sSupPr>
                                            <m:e>
                                              <m:r>
                                                <a:rPr lang="en-CA" sz="1400" b="0" i="1" smtClean="0">
                                                  <a:solidFill>
                                                    <a:srgbClr val="000000"/>
                                                  </a:solidFill>
                                                  <a:latin typeface="Cambria Math" panose="02040503050406030204" pitchFamily="18" charset="0"/>
                                                  <a:ea typeface="Cambria Math" panose="02040503050406030204" pitchFamily="18" charset="0"/>
                                                </a:rPr>
                                                <m:t>𝑘</m:t>
                                              </m:r>
                                            </m:e>
                                            <m:sup>
                                              <m:r>
                                                <a:rPr lang="en-CA" sz="1400" b="0" i="1" smtClean="0">
                                                  <a:solidFill>
                                                    <a:srgbClr val="000000"/>
                                                  </a:solidFill>
                                                  <a:latin typeface="Cambria Math" panose="02040503050406030204" pitchFamily="18" charset="0"/>
                                                  <a:ea typeface="Cambria Math" panose="02040503050406030204" pitchFamily="18" charset="0"/>
                                                </a:rPr>
                                                <m:t>′</m:t>
                                              </m:r>
                                            </m:sup>
                                          </m:sSup>
                                          <m:r>
                                            <a:rPr lang="en-CA" sz="1400" b="0" i="1" smtClean="0">
                                              <a:solidFill>
                                                <a:srgbClr val="000000"/>
                                              </a:solidFill>
                                              <a:latin typeface="Cambria Math" panose="02040503050406030204" pitchFamily="18" charset="0"/>
                                              <a:ea typeface="Cambria Math" panose="02040503050406030204" pitchFamily="18" charset="0"/>
                                            </a:rPr>
                                            <m:t>𝑛</m:t>
                                          </m:r>
                                        </m:sub>
                                      </m:sSub>
                                    </m:e>
                                  </m:nary>
                                </m:e>
                              </m:d>
                              <m:sSub>
                                <m:sSubPr>
                                  <m:ctrlPr>
                                    <a:rPr lang="en-CA" sz="1400" b="0" i="1" smtClean="0">
                                      <a:solidFill>
                                        <a:srgbClr val="000000"/>
                                      </a:solidFill>
                                      <a:latin typeface="Cambria Math" panose="02040503050406030204" pitchFamily="18" charset="0"/>
                                      <a:ea typeface="Cambria Math" panose="02040503050406030204" pitchFamily="18" charset="0"/>
                                    </a:rPr>
                                  </m:ctrlPr>
                                </m:sSubPr>
                                <m:e>
                                  <m:r>
                                    <a:rPr lang="en-CA" sz="1400" b="0" i="1" smtClean="0">
                                      <a:solidFill>
                                        <a:srgbClr val="000000"/>
                                      </a:solidFill>
                                      <a:latin typeface="Cambria Math" panose="02040503050406030204" pitchFamily="18" charset="0"/>
                                      <a:ea typeface="Cambria Math" panose="02040503050406030204" pitchFamily="18" charset="0"/>
                                    </a:rPr>
                                    <m:t>𝑞</m:t>
                                  </m:r>
                                </m:e>
                                <m:sub>
                                  <m:r>
                                    <a:rPr lang="en-CA" sz="1400" b="0" i="1" smtClean="0">
                                      <a:solidFill>
                                        <a:srgbClr val="000000"/>
                                      </a:solidFill>
                                      <a:latin typeface="Cambria Math" panose="02040503050406030204" pitchFamily="18" charset="0"/>
                                      <a:ea typeface="Cambria Math" panose="02040503050406030204" pitchFamily="18" charset="0"/>
                                    </a:rPr>
                                    <m:t>𝜇</m:t>
                                  </m:r>
                                  <m:sSup>
                                    <m:sSupPr>
                                      <m:ctrlPr>
                                        <a:rPr lang="en-CA" sz="1400" b="0" i="1" smtClean="0">
                                          <a:solidFill>
                                            <a:srgbClr val="000000"/>
                                          </a:solidFill>
                                          <a:latin typeface="Cambria Math" panose="02040503050406030204" pitchFamily="18" charset="0"/>
                                          <a:ea typeface="Cambria Math" panose="02040503050406030204" pitchFamily="18" charset="0"/>
                                        </a:rPr>
                                      </m:ctrlPr>
                                    </m:sSupPr>
                                    <m:e>
                                      <m:r>
                                        <a:rPr lang="en-CA" sz="1400" b="0" i="1" smtClean="0">
                                          <a:solidFill>
                                            <a:srgbClr val="000000"/>
                                          </a:solidFill>
                                          <a:latin typeface="Cambria Math" panose="02040503050406030204" pitchFamily="18" charset="0"/>
                                          <a:ea typeface="Cambria Math" panose="02040503050406030204" pitchFamily="18" charset="0"/>
                                        </a:rPr>
                                        <m:t>𝑘</m:t>
                                      </m:r>
                                    </m:e>
                                    <m:sup>
                                      <m:r>
                                        <a:rPr lang="en-CA" sz="1400" b="0" i="1" smtClean="0">
                                          <a:solidFill>
                                            <a:srgbClr val="000000"/>
                                          </a:solidFill>
                                          <a:latin typeface="Cambria Math" panose="02040503050406030204" pitchFamily="18" charset="0"/>
                                          <a:ea typeface="Cambria Math" panose="02040503050406030204" pitchFamily="18" charset="0"/>
                                        </a:rPr>
                                        <m:t>′</m:t>
                                      </m:r>
                                    </m:sup>
                                  </m:sSup>
                                  <m:r>
                                    <a:rPr lang="en-CA" sz="1400" b="0" i="1" smtClean="0">
                                      <a:solidFill>
                                        <a:srgbClr val="000000"/>
                                      </a:solidFill>
                                      <a:latin typeface="Cambria Math" panose="02040503050406030204" pitchFamily="18" charset="0"/>
                                      <a:ea typeface="Cambria Math" panose="02040503050406030204" pitchFamily="18" charset="0"/>
                                    </a:rPr>
                                    <m:t>𝑗</m:t>
                                  </m:r>
                                </m:sub>
                              </m:sSub>
                              <m:d>
                                <m:dPr>
                                  <m:ctrlPr>
                                    <a:rPr lang="en-CA" sz="1400" b="0" i="1" smtClean="0">
                                      <a:solidFill>
                                        <a:srgbClr val="000000"/>
                                      </a:solidFill>
                                      <a:latin typeface="Cambria Math" panose="02040503050406030204" pitchFamily="18" charset="0"/>
                                      <a:ea typeface="Cambria Math" panose="02040503050406030204" pitchFamily="18" charset="0"/>
                                    </a:rPr>
                                  </m:ctrlPr>
                                </m:dPr>
                                <m:e>
                                  <m:r>
                                    <a:rPr lang="en-CA" sz="1400" b="0" i="1" smtClean="0">
                                      <a:solidFill>
                                        <a:srgbClr val="000000"/>
                                      </a:solidFill>
                                      <a:latin typeface="Cambria Math" panose="02040503050406030204" pitchFamily="18" charset="0"/>
                                      <a:ea typeface="Cambria Math" panose="02040503050406030204" pitchFamily="18" charset="0"/>
                                    </a:rPr>
                                    <m:t>𝛽</m:t>
                                  </m:r>
                                </m:e>
                              </m:d>
                            </m:e>
                          </m:nary>
                        </m:oMath>
                      </m:oMathPara>
                    </a14:m>
                    <a:endParaRPr lang="en-CA" sz="1400" dirty="0">
                      <a:solidFill>
                        <a:schemeClr val="tx1"/>
                      </a:solidFill>
                    </a:endParaRPr>
                  </a:p>
                </p:txBody>
              </p:sp>
            </mc:Choice>
            <mc:Fallback xmlns="">
              <p:sp>
                <p:nvSpPr>
                  <p:cNvPr id="27" name="Rounded Rectangle 73">
                    <a:extLst>
                      <a:ext uri="{FF2B5EF4-FFF2-40B4-BE49-F238E27FC236}">
                        <a16:creationId xmlns:a16="http://schemas.microsoft.com/office/drawing/2014/main" id="{04571C40-0066-4840-80C1-E4C7201DCEB6}"/>
                      </a:ext>
                    </a:extLst>
                  </p:cNvPr>
                  <p:cNvSpPr>
                    <a:spLocks noRot="1" noChangeAspect="1" noMove="1" noResize="1" noEditPoints="1" noAdjustHandles="1" noChangeArrowheads="1" noChangeShapeType="1" noTextEdit="1"/>
                  </p:cNvSpPr>
                  <p:nvPr/>
                </p:nvSpPr>
                <p:spPr>
                  <a:xfrm>
                    <a:off x="1794346" y="4355131"/>
                    <a:ext cx="4285607" cy="1982966"/>
                  </a:xfrm>
                  <a:prstGeom prst="roundRect">
                    <a:avLst/>
                  </a:prstGeom>
                  <a:blipFill>
                    <a:blip r:embed="rId10"/>
                    <a:stretch>
                      <a:fillRect/>
                    </a:stretch>
                  </a:blipFill>
                </p:spPr>
                <p:txBody>
                  <a:bodyPr/>
                  <a:lstStyle/>
                  <a:p>
                    <a:r>
                      <a:rPr lang="en-CA">
                        <a:noFill/>
                      </a:rPr>
                      <a:t> </a:t>
                    </a:r>
                  </a:p>
                </p:txBody>
              </p:sp>
            </mc:Fallback>
          </mc:AlternateContent>
          <p:sp>
            <p:nvSpPr>
              <p:cNvPr id="2" name="TextBox 1">
                <a:extLst>
                  <a:ext uri="{FF2B5EF4-FFF2-40B4-BE49-F238E27FC236}">
                    <a16:creationId xmlns:a16="http://schemas.microsoft.com/office/drawing/2014/main" id="{D367EAE9-A90A-4F58-8EC2-F234F20AB3B4}"/>
                  </a:ext>
                </a:extLst>
              </p:cNvPr>
              <p:cNvSpPr txBox="1"/>
              <p:nvPr/>
            </p:nvSpPr>
            <p:spPr>
              <a:xfrm>
                <a:off x="3547607" y="4392750"/>
                <a:ext cx="2231291" cy="307777"/>
              </a:xfrm>
              <a:prstGeom prst="rect">
                <a:avLst/>
              </a:prstGeom>
              <a:noFill/>
            </p:spPr>
            <p:txBody>
              <a:bodyPr wrap="square" rtlCol="0">
                <a:spAutoFit/>
              </a:bodyPr>
              <a:lstStyle/>
              <a:p>
                <a:r>
                  <a:rPr lang="en-CA" sz="1400" dirty="0"/>
                  <a:t>Solve</a:t>
                </a:r>
              </a:p>
            </p:txBody>
          </p:sp>
        </p:grpSp>
        <p:sp>
          <p:nvSpPr>
            <p:cNvPr id="78" name="TextBox 77">
              <a:extLst>
                <a:ext uri="{FF2B5EF4-FFF2-40B4-BE49-F238E27FC236}">
                  <a16:creationId xmlns:a16="http://schemas.microsoft.com/office/drawing/2014/main" id="{42294E47-91AA-40BB-9215-CC6DD7615033}"/>
                </a:ext>
              </a:extLst>
            </p:cNvPr>
            <p:cNvSpPr txBox="1"/>
            <p:nvPr/>
          </p:nvSpPr>
          <p:spPr>
            <a:xfrm>
              <a:off x="4709921" y="2568385"/>
              <a:ext cx="3219582" cy="307777"/>
            </a:xfrm>
            <a:prstGeom prst="rect">
              <a:avLst/>
            </a:prstGeom>
            <a:noFill/>
          </p:spPr>
          <p:txBody>
            <a:bodyPr wrap="square" rtlCol="0">
              <a:spAutoFit/>
            </a:bodyPr>
            <a:lstStyle/>
            <a:p>
              <a:pPr algn="ctr"/>
              <a:r>
                <a:rPr lang="en-CA" sz="1400" dirty="0">
                  <a:solidFill>
                    <a:schemeClr val="tx1"/>
                  </a:solidFill>
                </a:rPr>
                <a:t>by computing </a:t>
              </a:r>
              <a:r>
                <a:rPr lang="en-CA" sz="1400" dirty="0" err="1">
                  <a:solidFill>
                    <a:schemeClr val="tx1"/>
                  </a:solidFill>
                </a:rPr>
                <a:t>Eigendecomposition</a:t>
              </a:r>
              <a:endParaRPr lang="en-CA" sz="1400" dirty="0">
                <a:solidFill>
                  <a:schemeClr val="tx1"/>
                </a:solidFill>
              </a:endParaRPr>
            </a:p>
          </p:txBody>
        </p:sp>
      </p:grpSp>
      <mc:AlternateContent xmlns:mc="http://schemas.openxmlformats.org/markup-compatibility/2006" xmlns:a14="http://schemas.microsoft.com/office/drawing/2010/main">
        <mc:Choice Requires="a14">
          <p:sp>
            <p:nvSpPr>
              <p:cNvPr id="86" name="Rounded Rectangle 23">
                <a:extLst>
                  <a:ext uri="{FF2B5EF4-FFF2-40B4-BE49-F238E27FC236}">
                    <a16:creationId xmlns:a16="http://schemas.microsoft.com/office/drawing/2014/main" id="{5E45FD73-2F7E-43AC-9801-37F9036797E2}"/>
                  </a:ext>
                </a:extLst>
              </p:cNvPr>
              <p:cNvSpPr/>
              <p:nvPr/>
            </p:nvSpPr>
            <p:spPr>
              <a:xfrm>
                <a:off x="9293271" y="3324337"/>
                <a:ext cx="2632747" cy="1573827"/>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Calculate propagator matrix spectral coefficients </a:t>
                </a:r>
                <a:endParaRPr lang="en-CA" sz="14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𝑞</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𝑖𝑗</m:t>
                          </m:r>
                        </m:sub>
                      </m:sSub>
                      <m:d>
                        <m:dPr>
                          <m:ctrlPr>
                            <a:rPr lang="en-CA" sz="1400" b="0" i="1" smtClean="0">
                              <a:solidFill>
                                <a:schemeClr val="tx1"/>
                              </a:solidFill>
                              <a:latin typeface="Cambria Math" panose="02040503050406030204" pitchFamily="18" charset="0"/>
                            </a:rPr>
                          </m:ctrlPr>
                        </m:dPr>
                        <m:e>
                          <m:r>
                            <a:rPr lang="en-CA" sz="1400" b="0" i="1" smtClean="0">
                              <a:solidFill>
                                <a:schemeClr val="tx1"/>
                              </a:solidFill>
                              <a:latin typeface="Cambria Math" panose="02040503050406030204" pitchFamily="18" charset="0"/>
                            </a:rPr>
                            <m:t>𝛽</m:t>
                          </m:r>
                        </m:e>
                      </m:d>
                      <m:r>
                        <a:rPr lang="en-CA" sz="1400" b="0" i="1" smtClean="0">
                          <a:solidFill>
                            <a:schemeClr val="tx1"/>
                          </a:solidFill>
                          <a:latin typeface="Cambria Math" panose="02040503050406030204" pitchFamily="18" charset="0"/>
                        </a:rPr>
                        <m:t>=</m:t>
                      </m:r>
                      <m:nary>
                        <m:naryPr>
                          <m:chr m:val="∑"/>
                          <m:supHide m:val="on"/>
                          <m:ctrlPr>
                            <a:rPr lang="en-CA" sz="1400" b="0" i="1" smtClean="0">
                              <a:solidFill>
                                <a:schemeClr val="tx1"/>
                              </a:solidFill>
                              <a:latin typeface="Cambria Math" panose="02040503050406030204" pitchFamily="18" charset="0"/>
                            </a:rPr>
                          </m:ctrlPr>
                        </m:naryPr>
                        <m:sub>
                          <m:r>
                            <m:rPr>
                              <m:brk m:alnAt="7"/>
                            </m:rPr>
                            <a:rPr lang="en-CA" sz="1400" b="0" i="1" smtClean="0">
                              <a:solidFill>
                                <a:schemeClr val="tx1"/>
                              </a:solidFill>
                              <a:latin typeface="Cambria Math" panose="02040503050406030204" pitchFamily="18" charset="0"/>
                            </a:rPr>
                            <m:t>𝑘</m:t>
                          </m:r>
                        </m:sub>
                        <m:sup/>
                        <m:e>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𝑆</m:t>
                              </m:r>
                            </m:e>
                            <m:sub>
                              <m:r>
                                <a:rPr lang="en-CA" sz="1400" b="0" i="1" smtClean="0">
                                  <a:solidFill>
                                    <a:schemeClr val="tx1"/>
                                  </a:solidFill>
                                  <a:latin typeface="Cambria Math" panose="02040503050406030204" pitchFamily="18" charset="0"/>
                                </a:rPr>
                                <m:t>𝑖𝑘</m:t>
                              </m:r>
                            </m:sub>
                            <m:sup>
                              <m:r>
                                <a:rPr lang="en-CA" sz="1400" b="0" i="1" smtClean="0">
                                  <a:solidFill>
                                    <a:schemeClr val="tx1"/>
                                  </a:solidFill>
                                  <a:latin typeface="Cambria Math" panose="02040503050406030204" pitchFamily="18" charset="0"/>
                                </a:rPr>
                                <m:t>−1</m:t>
                              </m:r>
                            </m:sup>
                          </m:sSubSup>
                          <m:sSub>
                            <m:sSubPr>
                              <m:ctrlPr>
                                <a:rPr lang="en-CA" sz="1400" b="0" i="1" smtClean="0">
                                  <a:solidFill>
                                    <a:schemeClr val="tx1"/>
                                  </a:solidFill>
                                  <a:latin typeface="Cambria Math" panose="02040503050406030204" pitchFamily="18" charset="0"/>
                                </a:rPr>
                              </m:ctrlPr>
                            </m:sSubPr>
                            <m:e>
                              <m:d>
                                <m:dPr>
                                  <m:ctrlPr>
                                    <a:rPr lang="en-CA" sz="1400" b="0" i="1" smtClean="0">
                                      <a:solidFill>
                                        <a:schemeClr val="tx1"/>
                                      </a:solidFill>
                                      <a:latin typeface="Cambria Math" panose="02040503050406030204" pitchFamily="18" charset="0"/>
                                    </a:rPr>
                                  </m:ctrlPr>
                                </m:dPr>
                                <m:e>
                                  <m:sSup>
                                    <m:sSupPr>
                                      <m:ctrlPr>
                                        <a:rPr lang="en-CA" sz="1400" i="1">
                                          <a:solidFill>
                                            <a:schemeClr val="tx1"/>
                                          </a:solidFill>
                                          <a:latin typeface="Cambria Math" panose="02040503050406030204" pitchFamily="18" charset="0"/>
                                        </a:rPr>
                                      </m:ctrlPr>
                                    </m:sSupPr>
                                    <m:e>
                                      <m:r>
                                        <a:rPr lang="en-CA" sz="1400" i="1">
                                          <a:solidFill>
                                            <a:schemeClr val="tx1"/>
                                          </a:solidFill>
                                          <a:latin typeface="Cambria Math" panose="02040503050406030204" pitchFamily="18" charset="0"/>
                                        </a:rPr>
                                        <m:t>𝑒</m:t>
                                      </m:r>
                                    </m:e>
                                    <m:sup>
                                      <m:sSup>
                                        <m:sSupPr>
                                          <m:ctrlPr>
                                            <a:rPr lang="en-CA" sz="1400" i="1">
                                              <a:solidFill>
                                                <a:schemeClr val="tx1"/>
                                              </a:solidFill>
                                              <a:latin typeface="Cambria Math" panose="02040503050406030204" pitchFamily="18" charset="0"/>
                                            </a:rPr>
                                          </m:ctrlPr>
                                        </m:sSupPr>
                                        <m:e>
                                          <m:r>
                                            <a:rPr lang="en-CA" sz="1400" i="1">
                                              <a:solidFill>
                                                <a:schemeClr val="tx1"/>
                                              </a:solidFill>
                                              <a:latin typeface="Cambria Math" panose="02040503050406030204" pitchFamily="18" charset="0"/>
                                            </a:rPr>
                                            <m:t>𝑆</m:t>
                                          </m:r>
                                        </m:e>
                                        <m:sup>
                                          <m:r>
                                            <a:rPr lang="en-CA" sz="1400" i="1">
                                              <a:solidFill>
                                                <a:schemeClr val="tx1"/>
                                              </a:solidFill>
                                              <a:latin typeface="Cambria Math" panose="02040503050406030204" pitchFamily="18" charset="0"/>
                                            </a:rPr>
                                            <m:t>−1</m:t>
                                          </m:r>
                                        </m:sup>
                                      </m:sSup>
                                      <m:r>
                                        <a:rPr lang="en-CA" sz="1400" i="1">
                                          <a:solidFill>
                                            <a:schemeClr val="tx1"/>
                                          </a:solidFill>
                                          <a:latin typeface="Cambria Math" panose="02040503050406030204" pitchFamily="18" charset="0"/>
                                        </a:rPr>
                                        <m:t>𝐴</m:t>
                                      </m:r>
                                      <m:r>
                                        <a:rPr lang="en-CA" sz="1400" i="1">
                                          <a:solidFill>
                                            <a:schemeClr val="tx1"/>
                                          </a:solidFill>
                                          <a:latin typeface="Cambria Math" panose="02040503050406030204" pitchFamily="18" charset="0"/>
                                        </a:rPr>
                                        <m:t>𝛽</m:t>
                                      </m:r>
                                    </m:sup>
                                  </m:sSup>
                                </m:e>
                              </m:d>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𝑘𝑗</m:t>
                              </m:r>
                            </m:sub>
                          </m:sSub>
                        </m:e>
                      </m:nary>
                      <m:r>
                        <a:rPr lang="en-CA" sz="1400" b="0" i="1" smtClean="0">
                          <a:solidFill>
                            <a:schemeClr val="tx1"/>
                          </a:solidFill>
                          <a:latin typeface="Cambria Math" panose="02040503050406030204" pitchFamily="18" charset="0"/>
                        </a:rPr>
                        <m:t>=</m:t>
                      </m:r>
                      <m:nary>
                        <m:naryPr>
                          <m:chr m:val="∑"/>
                          <m:supHide m:val="on"/>
                          <m:ctrlPr>
                            <a:rPr lang="en-CA" sz="1400" b="0" i="1" smtClean="0">
                              <a:solidFill>
                                <a:schemeClr val="tx1"/>
                              </a:solidFill>
                              <a:latin typeface="Cambria Math" panose="02040503050406030204" pitchFamily="18" charset="0"/>
                            </a:rPr>
                          </m:ctrlPr>
                        </m:naryPr>
                        <m:sub>
                          <m:r>
                            <m:rPr>
                              <m:brk m:alnAt="7"/>
                            </m:rPr>
                            <a:rPr lang="en-CA" sz="1400" b="0" i="1" smtClean="0">
                              <a:solidFill>
                                <a:schemeClr val="tx1"/>
                              </a:solidFill>
                              <a:latin typeface="Cambria Math" panose="02040503050406030204" pitchFamily="18" charset="0"/>
                            </a:rPr>
                            <m:t>𝑘</m:t>
                          </m:r>
                        </m:sub>
                        <m:sup/>
                        <m:e>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𝑈</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𝑖𝑘</m:t>
                              </m:r>
                            </m:sub>
                          </m:sSub>
                          <m:sSup>
                            <m:sSupPr>
                              <m:ctrlPr>
                                <a:rPr lang="en-CA" sz="1400" b="0" i="1" smtClean="0">
                                  <a:solidFill>
                                    <a:schemeClr val="tx1"/>
                                  </a:solidFill>
                                  <a:latin typeface="Cambria Math" panose="02040503050406030204" pitchFamily="18" charset="0"/>
                                </a:rPr>
                              </m:ctrlPr>
                            </m:sSupPr>
                            <m:e>
                              <m:r>
                                <a:rPr lang="en-CA" sz="1400" b="0" i="1" smtClean="0">
                                  <a:solidFill>
                                    <a:schemeClr val="tx1"/>
                                  </a:solidFill>
                                  <a:latin typeface="Cambria Math" panose="02040503050406030204" pitchFamily="18" charset="0"/>
                                </a:rPr>
                                <m:t>𝑒</m:t>
                              </m:r>
                            </m:e>
                            <m:sup>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𝐷</m:t>
                                  </m:r>
                                </m:e>
                                <m:sub>
                                  <m:r>
                                    <a:rPr lang="en-CA" sz="1400" b="0" i="1" smtClean="0">
                                      <a:solidFill>
                                        <a:schemeClr val="tx1"/>
                                      </a:solidFill>
                                      <a:latin typeface="Cambria Math" panose="02040503050406030204" pitchFamily="18" charset="0"/>
                                    </a:rPr>
                                    <m:t>𝑘𝑘</m:t>
                                  </m:r>
                                </m:sub>
                              </m:sSub>
                              <m:r>
                                <a:rPr lang="en-CA" sz="1400" b="0" i="1" smtClean="0">
                                  <a:solidFill>
                                    <a:schemeClr val="tx1"/>
                                  </a:solidFill>
                                  <a:latin typeface="Cambria Math" panose="02040503050406030204" pitchFamily="18" charset="0"/>
                                </a:rPr>
                                <m:t>𝛽</m:t>
                              </m:r>
                            </m:sup>
                          </m:sSup>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𝑈</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𝑘𝑗</m:t>
                              </m:r>
                            </m:sub>
                          </m:sSub>
                        </m:e>
                      </m:nary>
                    </m:oMath>
                  </m:oMathPara>
                </a14:m>
                <a:endParaRPr lang="en-CA" sz="1400" dirty="0">
                  <a:solidFill>
                    <a:schemeClr val="tx1"/>
                  </a:solidFill>
                </a:endParaRPr>
              </a:p>
            </p:txBody>
          </p:sp>
        </mc:Choice>
        <mc:Fallback xmlns="">
          <p:sp>
            <p:nvSpPr>
              <p:cNvPr id="86" name="Rounded Rectangle 23">
                <a:extLst>
                  <a:ext uri="{FF2B5EF4-FFF2-40B4-BE49-F238E27FC236}">
                    <a16:creationId xmlns:a16="http://schemas.microsoft.com/office/drawing/2014/main" id="{5E45FD73-2F7E-43AC-9801-37F9036797E2}"/>
                  </a:ext>
                </a:extLst>
              </p:cNvPr>
              <p:cNvSpPr>
                <a:spLocks noRot="1" noChangeAspect="1" noMove="1" noResize="1" noEditPoints="1" noAdjustHandles="1" noChangeArrowheads="1" noChangeShapeType="1" noTextEdit="1"/>
              </p:cNvSpPr>
              <p:nvPr/>
            </p:nvSpPr>
            <p:spPr>
              <a:xfrm>
                <a:off x="9293271" y="3324337"/>
                <a:ext cx="2632747" cy="1573827"/>
              </a:xfrm>
              <a:prstGeom prst="roundRect">
                <a:avLst/>
              </a:prstGeom>
              <a:blipFill>
                <a:blip r:embed="rId11"/>
                <a:stretch>
                  <a:fillRect l="-10599" t="-16858" b="-63602"/>
                </a:stretch>
              </a:blipFill>
            </p:spPr>
            <p:txBody>
              <a:bodyPr/>
              <a:lstStyle/>
              <a:p>
                <a:r>
                  <a:rPr lang="en-CA">
                    <a:noFill/>
                  </a:rPr>
                  <a:t> </a:t>
                </a:r>
              </a:p>
            </p:txBody>
          </p:sp>
        </mc:Fallback>
      </mc:AlternateContent>
      <p:cxnSp>
        <p:nvCxnSpPr>
          <p:cNvPr id="87" name="Straight Arrow Connector 86">
            <a:extLst>
              <a:ext uri="{FF2B5EF4-FFF2-40B4-BE49-F238E27FC236}">
                <a16:creationId xmlns:a16="http://schemas.microsoft.com/office/drawing/2014/main" id="{9725F97C-4646-475D-A54E-8913B55A4C94}"/>
              </a:ext>
            </a:extLst>
          </p:cNvPr>
          <p:cNvCxnSpPr>
            <a:cxnSpLocks/>
          </p:cNvCxnSpPr>
          <p:nvPr/>
        </p:nvCxnSpPr>
        <p:spPr>
          <a:xfrm>
            <a:off x="10695299" y="2980932"/>
            <a:ext cx="0" cy="3434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0AC7DEB3-6A78-45C1-AF0D-55CE696CE2A8}"/>
              </a:ext>
            </a:extLst>
          </p:cNvPr>
          <p:cNvCxnSpPr>
            <a:cxnSpLocks/>
          </p:cNvCxnSpPr>
          <p:nvPr/>
        </p:nvCxnSpPr>
        <p:spPr>
          <a:xfrm>
            <a:off x="10695299" y="4923866"/>
            <a:ext cx="0" cy="3177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38F2E03D-4B50-4942-9A5A-8D5615CD81F9}"/>
              </a:ext>
            </a:extLst>
          </p:cNvPr>
          <p:cNvCxnSpPr>
            <a:cxnSpLocks/>
          </p:cNvCxnSpPr>
          <p:nvPr/>
        </p:nvCxnSpPr>
        <p:spPr>
          <a:xfrm flipV="1">
            <a:off x="6406707" y="2859327"/>
            <a:ext cx="0" cy="5172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Rounded Rectangle 25">
            <a:extLst>
              <a:ext uri="{FF2B5EF4-FFF2-40B4-BE49-F238E27FC236}">
                <a16:creationId xmlns:a16="http://schemas.microsoft.com/office/drawing/2014/main" id="{E345A388-1CA8-4BD1-922D-18757B6C7C6B}"/>
              </a:ext>
            </a:extLst>
          </p:cNvPr>
          <p:cNvSpPr/>
          <p:nvPr/>
        </p:nvSpPr>
        <p:spPr>
          <a:xfrm>
            <a:off x="1056702" y="5241569"/>
            <a:ext cx="2575273" cy="561091"/>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chemeClr val="tx1"/>
                </a:solidFill>
              </a:rPr>
              <a:t>Convert densities and fields back to real space</a:t>
            </a:r>
            <a:endParaRPr lang="en-US" sz="1400" dirty="0">
              <a:solidFill>
                <a:schemeClr val="tx1"/>
              </a:solidFill>
            </a:endParaRPr>
          </a:p>
        </p:txBody>
      </p:sp>
      <p:grpSp>
        <p:nvGrpSpPr>
          <p:cNvPr id="124" name="Group 123">
            <a:extLst>
              <a:ext uri="{FF2B5EF4-FFF2-40B4-BE49-F238E27FC236}">
                <a16:creationId xmlns:a16="http://schemas.microsoft.com/office/drawing/2014/main" id="{178233D5-C8DF-448B-BB5B-396A1CB7CD4A}"/>
              </a:ext>
            </a:extLst>
          </p:cNvPr>
          <p:cNvGrpSpPr/>
          <p:nvPr/>
        </p:nvGrpSpPr>
        <p:grpSpPr>
          <a:xfrm>
            <a:off x="328229" y="3206171"/>
            <a:ext cx="3974851" cy="1585005"/>
            <a:chOff x="134057" y="3328862"/>
            <a:chExt cx="5968892" cy="1038610"/>
          </a:xfrm>
        </p:grpSpPr>
        <p:sp>
          <p:nvSpPr>
            <p:cNvPr id="47" name="Rounded Rectangle 25">
              <a:extLst>
                <a:ext uri="{FF2B5EF4-FFF2-40B4-BE49-F238E27FC236}">
                  <a16:creationId xmlns:a16="http://schemas.microsoft.com/office/drawing/2014/main" id="{494A28B6-4947-4539-B7CE-18112EB6078E}"/>
                </a:ext>
              </a:extLst>
            </p:cNvPr>
            <p:cNvSpPr/>
            <p:nvPr/>
          </p:nvSpPr>
          <p:spPr>
            <a:xfrm>
              <a:off x="134057" y="3331895"/>
              <a:ext cx="5968892" cy="1035577"/>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400" dirty="0">
                <a:solidFill>
                  <a:schemeClr val="tx1"/>
                </a:solidFill>
              </a:endParaRPr>
            </a:p>
            <a:p>
              <a:pPr algn="ctr"/>
              <a:endParaRPr lang="en-CA" sz="1400" dirty="0">
                <a:solidFill>
                  <a:schemeClr val="tx1"/>
                </a:solidFill>
              </a:endParaRPr>
            </a:p>
          </p:txBody>
        </p:sp>
        <p:sp>
          <p:nvSpPr>
            <p:cNvPr id="123" name="TextBox 122">
              <a:extLst>
                <a:ext uri="{FF2B5EF4-FFF2-40B4-BE49-F238E27FC236}">
                  <a16:creationId xmlns:a16="http://schemas.microsoft.com/office/drawing/2014/main" id="{FE34EF78-5D44-4FB7-9A74-BDDB22C269DD}"/>
                </a:ext>
              </a:extLst>
            </p:cNvPr>
            <p:cNvSpPr txBox="1"/>
            <p:nvPr/>
          </p:nvSpPr>
          <p:spPr>
            <a:xfrm>
              <a:off x="1649455" y="3328862"/>
              <a:ext cx="2938095" cy="383187"/>
            </a:xfrm>
            <a:prstGeom prst="rect">
              <a:avLst/>
            </a:prstGeom>
            <a:noFill/>
          </p:spPr>
          <p:txBody>
            <a:bodyPr wrap="square" rtlCol="0">
              <a:spAutoFit/>
            </a:bodyPr>
            <a:lstStyle/>
            <a:p>
              <a:r>
                <a:rPr lang="en-CA" sz="1400" dirty="0">
                  <a:solidFill>
                    <a:schemeClr val="tx1"/>
                  </a:solidFill>
                </a:rPr>
                <a:t>Calculate free energy </a:t>
              </a:r>
            </a:p>
            <a:p>
              <a:endParaRPr lang="en-CA" dirty="0"/>
            </a:p>
          </p:txBody>
        </p:sp>
      </p:grpSp>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21C221D4-932E-4E18-A932-E436DD8471DD}"/>
                  </a:ext>
                </a:extLst>
              </p:cNvPr>
              <p:cNvSpPr txBox="1"/>
              <p:nvPr/>
            </p:nvSpPr>
            <p:spPr>
              <a:xfrm>
                <a:off x="201793" y="3480613"/>
                <a:ext cx="2559564" cy="6395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400" b="0" i="1" smtClean="0">
                          <a:latin typeface="Cambria Math" panose="02040503050406030204" pitchFamily="18" charset="0"/>
                        </a:rPr>
                        <m:t>𝐹</m:t>
                      </m:r>
                      <m:r>
                        <a:rPr lang="en-CA" sz="1400" i="1">
                          <a:latin typeface="Cambria Math" panose="02040503050406030204" pitchFamily="18" charset="0"/>
                        </a:rPr>
                        <m:t>=−</m:t>
                      </m:r>
                      <m:nary>
                        <m:naryPr>
                          <m:chr m:val="∑"/>
                          <m:supHide m:val="on"/>
                          <m:ctrlPr>
                            <a:rPr lang="en-CA" sz="1400" i="1">
                              <a:latin typeface="Cambria Math" panose="02040503050406030204" pitchFamily="18" charset="0"/>
                            </a:rPr>
                          </m:ctrlPr>
                        </m:naryPr>
                        <m:sub>
                          <m:r>
                            <a:rPr lang="en-CA" sz="1400" i="1">
                              <a:latin typeface="Cambria Math" panose="02040503050406030204" pitchFamily="18" charset="0"/>
                            </a:rPr>
                            <m:t>𝜇</m:t>
                          </m:r>
                        </m:sub>
                        <m:sup/>
                        <m:e>
                          <m:f>
                            <m:fPr>
                              <m:ctrlPr>
                                <a:rPr lang="en-CA" sz="1400" i="1">
                                  <a:latin typeface="Cambria Math" panose="02040503050406030204" pitchFamily="18" charset="0"/>
                                </a:rPr>
                              </m:ctrlPr>
                            </m:fPr>
                            <m:num>
                              <m:sSub>
                                <m:sSubPr>
                                  <m:ctrlPr>
                                    <a:rPr lang="en-CA" sz="1400" i="1">
                                      <a:latin typeface="Cambria Math" panose="02040503050406030204" pitchFamily="18" charset="0"/>
                                    </a:rPr>
                                  </m:ctrlPr>
                                </m:sSubPr>
                                <m:e>
                                  <m:r>
                                    <a:rPr lang="en-CA" sz="1400" i="1">
                                      <a:latin typeface="Cambria Math" panose="02040503050406030204" pitchFamily="18" charset="0"/>
                                    </a:rPr>
                                    <m:t>𝑁</m:t>
                                  </m:r>
                                </m:e>
                                <m:sub>
                                  <m:r>
                                    <a:rPr lang="en-CA" sz="1400" i="1">
                                      <a:latin typeface="Cambria Math" panose="02040503050406030204" pitchFamily="18" charset="0"/>
                                    </a:rPr>
                                    <m:t>𝜇</m:t>
                                  </m:r>
                                </m:sub>
                              </m:sSub>
                            </m:num>
                            <m:den>
                              <m:r>
                                <a:rPr lang="en-CA" sz="1400" i="1">
                                  <a:latin typeface="Cambria Math" panose="02040503050406030204" pitchFamily="18" charset="0"/>
                                </a:rPr>
                                <m:t>𝛽</m:t>
                              </m:r>
                            </m:den>
                          </m:f>
                          <m:func>
                            <m:funcPr>
                              <m:ctrlPr>
                                <a:rPr lang="en-CA" sz="1400" i="1">
                                  <a:latin typeface="Cambria Math" panose="02040503050406030204" pitchFamily="18" charset="0"/>
                                </a:rPr>
                              </m:ctrlPr>
                            </m:funcPr>
                            <m:fName>
                              <m:r>
                                <m:rPr>
                                  <m:sty m:val="p"/>
                                </m:rPr>
                                <a:rPr lang="en-CA" sz="1400">
                                  <a:latin typeface="Cambria Math" panose="02040503050406030204" pitchFamily="18" charset="0"/>
                                </a:rPr>
                                <m:t>ln</m:t>
                              </m:r>
                            </m:fName>
                            <m:e>
                              <m:d>
                                <m:dPr>
                                  <m:ctrlPr>
                                    <a:rPr lang="en-CA" sz="1400" i="1">
                                      <a:latin typeface="Cambria Math" panose="02040503050406030204" pitchFamily="18" charset="0"/>
                                    </a:rPr>
                                  </m:ctrlPr>
                                </m:dPr>
                                <m:e>
                                  <m:sSub>
                                    <m:sSubPr>
                                      <m:ctrlPr>
                                        <a:rPr lang="en-CA" sz="1400" i="1">
                                          <a:latin typeface="Cambria Math" panose="02040503050406030204" pitchFamily="18" charset="0"/>
                                        </a:rPr>
                                      </m:ctrlPr>
                                    </m:sSubPr>
                                    <m:e>
                                      <m:r>
                                        <a:rPr lang="en-CA" sz="1400" i="1">
                                          <a:latin typeface="Cambria Math" panose="02040503050406030204" pitchFamily="18" charset="0"/>
                                        </a:rPr>
                                        <m:t>𝑄</m:t>
                                      </m:r>
                                    </m:e>
                                    <m:sub>
                                      <m:r>
                                        <a:rPr lang="en-CA" sz="1400" i="1">
                                          <a:latin typeface="Cambria Math" panose="02040503050406030204" pitchFamily="18" charset="0"/>
                                        </a:rPr>
                                        <m:t>𝜇</m:t>
                                      </m:r>
                                    </m:sub>
                                  </m:sSub>
                                  <m:d>
                                    <m:dPr>
                                      <m:ctrlPr>
                                        <a:rPr lang="en-CA" sz="1400" i="1">
                                          <a:latin typeface="Cambria Math" panose="02040503050406030204" pitchFamily="18" charset="0"/>
                                        </a:rPr>
                                      </m:ctrlPr>
                                    </m:dPr>
                                    <m:e>
                                      <m:r>
                                        <a:rPr lang="en-CA" sz="1400" i="1">
                                          <a:latin typeface="Cambria Math" panose="02040503050406030204" pitchFamily="18" charset="0"/>
                                        </a:rPr>
                                        <m:t>𝛽</m:t>
                                      </m:r>
                                    </m:e>
                                  </m:d>
                                </m:e>
                              </m:d>
                            </m:e>
                          </m:func>
                        </m:e>
                      </m:nary>
                      <m:r>
                        <a:rPr lang="en-CA" sz="1400" b="0" i="1" smtClean="0">
                          <a:latin typeface="Cambria Math" panose="02040503050406030204" pitchFamily="18" charset="0"/>
                        </a:rPr>
                        <m:t>−</m:t>
                      </m:r>
                    </m:oMath>
                  </m:oMathPara>
                </a14:m>
                <a:endParaRPr lang="en-CA" sz="1400" dirty="0"/>
              </a:p>
            </p:txBody>
          </p:sp>
        </mc:Choice>
        <mc:Fallback xmlns="">
          <p:sp>
            <p:nvSpPr>
              <p:cNvPr id="133" name="TextBox 132">
                <a:extLst>
                  <a:ext uri="{FF2B5EF4-FFF2-40B4-BE49-F238E27FC236}">
                    <a16:creationId xmlns:a16="http://schemas.microsoft.com/office/drawing/2014/main" id="{21C221D4-932E-4E18-A932-E436DD8471DD}"/>
                  </a:ext>
                </a:extLst>
              </p:cNvPr>
              <p:cNvSpPr txBox="1">
                <a:spLocks noRot="1" noChangeAspect="1" noMove="1" noResize="1" noEditPoints="1" noAdjustHandles="1" noChangeArrowheads="1" noChangeShapeType="1" noTextEdit="1"/>
              </p:cNvSpPr>
              <p:nvPr/>
            </p:nvSpPr>
            <p:spPr>
              <a:xfrm>
                <a:off x="201793" y="3480613"/>
                <a:ext cx="2559564" cy="639534"/>
              </a:xfrm>
              <a:prstGeom prst="rect">
                <a:avLst/>
              </a:prstGeom>
              <a:blipFill>
                <a:blip r:embed="rId12"/>
                <a:stretch>
                  <a:fillRect t="-111429" b="-15619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3553DDE3-D4D4-4B78-A501-5ECB5603AFF9}"/>
                  </a:ext>
                </a:extLst>
              </p:cNvPr>
              <p:cNvSpPr txBox="1"/>
              <p:nvPr/>
            </p:nvSpPr>
            <p:spPr>
              <a:xfrm>
                <a:off x="372140" y="4081097"/>
                <a:ext cx="3925623" cy="6491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CA" sz="1400" b="0" i="1" smtClean="0">
                              <a:solidFill>
                                <a:schemeClr val="tx1"/>
                              </a:solidFill>
                              <a:latin typeface="Cambria Math" panose="02040503050406030204" pitchFamily="18" charset="0"/>
                            </a:rPr>
                          </m:ctrlPr>
                        </m:fPr>
                        <m:num>
                          <m:r>
                            <a:rPr lang="en-CA" sz="1400" b="0" i="1" smtClean="0">
                              <a:solidFill>
                                <a:schemeClr val="tx1"/>
                              </a:solidFill>
                              <a:latin typeface="Cambria Math" panose="02040503050406030204" pitchFamily="18" charset="0"/>
                            </a:rPr>
                            <m:t>1</m:t>
                          </m:r>
                        </m:num>
                        <m:den>
                          <m:r>
                            <a:rPr lang="en-CA" sz="1400" b="0" i="1" smtClean="0">
                              <a:solidFill>
                                <a:schemeClr val="tx1"/>
                              </a:solidFill>
                              <a:latin typeface="Cambria Math" panose="02040503050406030204" pitchFamily="18" charset="0"/>
                            </a:rPr>
                            <m:t>2</m:t>
                          </m:r>
                        </m:den>
                      </m:f>
                      <m:nary>
                        <m:naryPr>
                          <m:chr m:val="∑"/>
                          <m:supHide m:val="on"/>
                          <m:ctrlPr>
                            <a:rPr lang="en-CA" sz="1400" b="0" i="1" smtClean="0">
                              <a:solidFill>
                                <a:schemeClr val="tx1"/>
                              </a:solidFill>
                              <a:latin typeface="Cambria Math" panose="02040503050406030204" pitchFamily="18" charset="0"/>
                            </a:rPr>
                          </m:ctrlPr>
                        </m:naryPr>
                        <m:sub>
                          <m:r>
                            <m:rPr>
                              <m:brk m:alnAt="7"/>
                            </m:rPr>
                            <a:rPr lang="en-CA" sz="1400" b="0" i="1" smtClean="0">
                              <a:solidFill>
                                <a:schemeClr val="tx1"/>
                              </a:solidFill>
                              <a:latin typeface="Cambria Math" panose="02040503050406030204" pitchFamily="18" charset="0"/>
                            </a:rPr>
                            <m:t>𝑖</m:t>
                          </m:r>
                          <m:r>
                            <a:rPr lang="en-CA" sz="1400" b="0" i="1" smtClean="0">
                              <a:solidFill>
                                <a:schemeClr val="tx1"/>
                              </a:solidFill>
                              <a:latin typeface="Cambria Math" panose="02040503050406030204" pitchFamily="18" charset="0"/>
                            </a:rPr>
                            <m:t>𝑗</m:t>
                          </m:r>
                        </m:sub>
                        <m:sup/>
                        <m:e>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𝑆</m:t>
                              </m:r>
                            </m:e>
                            <m:sub>
                              <m:r>
                                <a:rPr lang="en-CA" sz="1400" b="0" i="1" smtClean="0">
                                  <a:solidFill>
                                    <a:schemeClr val="tx1"/>
                                  </a:solidFill>
                                  <a:latin typeface="Cambria Math" panose="02040503050406030204" pitchFamily="18" charset="0"/>
                                </a:rPr>
                                <m:t>𝑖𝑗</m:t>
                              </m:r>
                            </m:sub>
                          </m:sSub>
                          <m:d>
                            <m:dPr>
                              <m:ctrlPr>
                                <a:rPr lang="en-CA" sz="1400" b="0" i="1" smtClean="0">
                                  <a:solidFill>
                                    <a:schemeClr val="tx1"/>
                                  </a:solidFill>
                                  <a:latin typeface="Cambria Math" panose="02040503050406030204" pitchFamily="18" charset="0"/>
                                </a:rPr>
                              </m:ctrlPr>
                            </m:dPr>
                            <m:e>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𝑛</m:t>
                                  </m:r>
                                </m:e>
                                <m:sub>
                                  <m:r>
                                    <a:rPr lang="en-CA" sz="1400" b="0" i="1" smtClean="0">
                                      <a:solidFill>
                                        <a:schemeClr val="tx1"/>
                                      </a:solidFill>
                                      <a:latin typeface="Cambria Math" panose="02040503050406030204" pitchFamily="18" charset="0"/>
                                    </a:rPr>
                                    <m:t>𝑖</m:t>
                                  </m:r>
                                </m:sub>
                              </m:sSub>
                              <m:d>
                                <m:dPr>
                                  <m:ctrlPr>
                                    <a:rPr lang="en-CA" sz="1400" b="0" i="1" smtClean="0">
                                      <a:solidFill>
                                        <a:schemeClr val="tx1"/>
                                      </a:solidFill>
                                      <a:latin typeface="Cambria Math" panose="02040503050406030204" pitchFamily="18" charset="0"/>
                                    </a:rPr>
                                  </m:ctrlPr>
                                </m:dPr>
                                <m:e>
                                  <m:r>
                                    <a:rPr lang="en-CA" sz="1400" b="0" i="1" smtClean="0">
                                      <a:solidFill>
                                        <a:schemeClr val="tx1"/>
                                      </a:solidFill>
                                      <a:latin typeface="Cambria Math" panose="02040503050406030204" pitchFamily="18" charset="0"/>
                                    </a:rPr>
                                    <m:t>𝛽</m:t>
                                  </m:r>
                                </m:e>
                              </m:d>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𝑒</m:t>
                                  </m:r>
                                  <m:r>
                                    <a:rPr lang="en-CA" sz="1400" b="0" i="1" smtClean="0">
                                      <a:solidFill>
                                        <a:schemeClr val="tx1"/>
                                      </a:solidFill>
                                      <a:latin typeface="Cambria Math" panose="02040503050406030204" pitchFamily="18" charset="0"/>
                                    </a:rPr>
                                    <m:t>−</m:t>
                                  </m:r>
                                  <m:r>
                                    <a:rPr lang="en-CA" sz="1400" b="0" i="1" smtClean="0">
                                      <a:solidFill>
                                        <a:schemeClr val="tx1"/>
                                      </a:solidFill>
                                      <a:latin typeface="Cambria Math" panose="02040503050406030204" pitchFamily="18" charset="0"/>
                                    </a:rPr>
                                    <m:t>𝑒</m:t>
                                  </m:r>
                                </m:sup>
                              </m:sSubSup>
                              <m:r>
                                <a:rPr lang="en-CA" sz="1400" b="0" i="1" smtClean="0">
                                  <a:solidFill>
                                    <a:schemeClr val="tx1"/>
                                  </a:solidFill>
                                  <a:latin typeface="Cambria Math" panose="02040503050406030204" pitchFamily="18" charset="0"/>
                                </a:rPr>
                                <m:t>+</m:t>
                              </m:r>
                              <m:nary>
                                <m:naryPr>
                                  <m:chr m:val="∑"/>
                                  <m:supHide m:val="on"/>
                                  <m:ctrlPr>
                                    <a:rPr lang="en-CA" sz="1400" b="0" i="1" smtClean="0">
                                      <a:solidFill>
                                        <a:schemeClr val="tx1"/>
                                      </a:solidFill>
                                      <a:latin typeface="Cambria Math" panose="02040503050406030204" pitchFamily="18" charset="0"/>
                                    </a:rPr>
                                  </m:ctrlPr>
                                </m:naryPr>
                                <m:sub>
                                  <m:r>
                                    <a:rPr lang="en-CA" sz="1400" b="0" i="1" smtClean="0">
                                      <a:solidFill>
                                        <a:schemeClr val="tx1"/>
                                      </a:solidFill>
                                      <a:latin typeface="Cambria Math" panose="02040503050406030204" pitchFamily="18" charset="0"/>
                                    </a:rPr>
                                    <m:t>𝜇</m:t>
                                  </m:r>
                                </m:sub>
                                <m:sup/>
                                <m:e>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𝑛</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𝑖</m:t>
                                      </m:r>
                                    </m:sub>
                                  </m:sSub>
                                  <m:d>
                                    <m:dPr>
                                      <m:ctrlPr>
                                        <a:rPr lang="en-CA" sz="1400" b="0" i="1" smtClean="0">
                                          <a:solidFill>
                                            <a:schemeClr val="tx1"/>
                                          </a:solidFill>
                                          <a:latin typeface="Cambria Math" panose="02040503050406030204" pitchFamily="18" charset="0"/>
                                        </a:rPr>
                                      </m:ctrlPr>
                                    </m:dPr>
                                    <m:e>
                                      <m:r>
                                        <a:rPr lang="en-CA" sz="1400" b="0" i="1" smtClean="0">
                                          <a:solidFill>
                                            <a:schemeClr val="tx1"/>
                                          </a:solidFill>
                                          <a:latin typeface="Cambria Math" panose="02040503050406030204" pitchFamily="18" charset="0"/>
                                        </a:rPr>
                                        <m:t>𝛽</m:t>
                                      </m:r>
                                    </m:e>
                                  </m:d>
                                  <m:d>
                                    <m:dPr>
                                      <m:ctrlPr>
                                        <a:rPr lang="en-CA" sz="1400" b="0" i="1" smtClean="0">
                                          <a:solidFill>
                                            <a:schemeClr val="tx1"/>
                                          </a:solidFill>
                                          <a:latin typeface="Cambria Math" panose="02040503050406030204" pitchFamily="18" charset="0"/>
                                        </a:rPr>
                                      </m:ctrlPr>
                                    </m:dPr>
                                    <m:e>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𝑃</m:t>
                                          </m:r>
                                        </m:sup>
                                      </m:sSubSup>
                                      <m:r>
                                        <a:rPr lang="en-CA" sz="1400" b="0" i="1" smtClean="0">
                                          <a:solidFill>
                                            <a:schemeClr val="tx1"/>
                                          </a:solidFill>
                                          <a:latin typeface="Cambria Math" panose="02040503050406030204" pitchFamily="18" charset="0"/>
                                        </a:rPr>
                                        <m:t>+</m:t>
                                      </m:r>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𝑤</m:t>
                                          </m:r>
                                        </m:e>
                                        <m:sub>
                                          <m:r>
                                            <a:rPr lang="en-CA" sz="1400" b="0" i="1" smtClean="0">
                                              <a:solidFill>
                                                <a:schemeClr val="tx1"/>
                                              </a:solidFill>
                                              <a:latin typeface="Cambria Math" panose="02040503050406030204" pitchFamily="18" charset="0"/>
                                            </a:rPr>
                                            <m:t>𝜇</m:t>
                                          </m:r>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𝑠𝑖𝑐</m:t>
                                          </m:r>
                                        </m:sup>
                                      </m:sSubSup>
                                    </m:e>
                                  </m:d>
                                </m:e>
                              </m:nary>
                            </m:e>
                          </m:d>
                        </m:e>
                      </m:nary>
                    </m:oMath>
                  </m:oMathPara>
                </a14:m>
                <a:endParaRPr lang="en-CA" sz="1400" dirty="0"/>
              </a:p>
            </p:txBody>
          </p:sp>
        </mc:Choice>
        <mc:Fallback xmlns="">
          <p:sp>
            <p:nvSpPr>
              <p:cNvPr id="134" name="TextBox 133">
                <a:extLst>
                  <a:ext uri="{FF2B5EF4-FFF2-40B4-BE49-F238E27FC236}">
                    <a16:creationId xmlns:a16="http://schemas.microsoft.com/office/drawing/2014/main" id="{3553DDE3-D4D4-4B78-A501-5ECB5603AFF9}"/>
                  </a:ext>
                </a:extLst>
              </p:cNvPr>
              <p:cNvSpPr txBox="1">
                <a:spLocks noRot="1" noChangeAspect="1" noMove="1" noResize="1" noEditPoints="1" noAdjustHandles="1" noChangeArrowheads="1" noChangeShapeType="1" noTextEdit="1"/>
              </p:cNvSpPr>
              <p:nvPr/>
            </p:nvSpPr>
            <p:spPr>
              <a:xfrm>
                <a:off x="372140" y="4081097"/>
                <a:ext cx="3925623" cy="649152"/>
              </a:xfrm>
              <a:prstGeom prst="rect">
                <a:avLst/>
              </a:prstGeom>
              <a:blipFill>
                <a:blip r:embed="rId13"/>
                <a:stretch>
                  <a:fillRect l="-9783" t="-109346" b="-151402"/>
                </a:stretch>
              </a:blipFill>
            </p:spPr>
            <p:txBody>
              <a:bodyPr/>
              <a:lstStyle/>
              <a:p>
                <a:r>
                  <a:rPr lang="en-CA">
                    <a:noFill/>
                  </a:rPr>
                  <a:t> </a:t>
                </a:r>
              </a:p>
            </p:txBody>
          </p:sp>
        </mc:Fallback>
      </mc:AlternateContent>
      <p:cxnSp>
        <p:nvCxnSpPr>
          <p:cNvPr id="137" name="Straight Arrow Connector 136">
            <a:extLst>
              <a:ext uri="{FF2B5EF4-FFF2-40B4-BE49-F238E27FC236}">
                <a16:creationId xmlns:a16="http://schemas.microsoft.com/office/drawing/2014/main" id="{991C570C-471F-4F2A-B9C8-687AC1EB9674}"/>
              </a:ext>
            </a:extLst>
          </p:cNvPr>
          <p:cNvCxnSpPr>
            <a:cxnSpLocks/>
          </p:cNvCxnSpPr>
          <p:nvPr/>
        </p:nvCxnSpPr>
        <p:spPr>
          <a:xfrm>
            <a:off x="2344339" y="4791176"/>
            <a:ext cx="0" cy="4503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5736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Non-Orthogonal Basis Set Expansions</a:t>
            </a:r>
          </a:p>
        </p:txBody>
      </p:sp>
      <p:sp>
        <p:nvSpPr>
          <p:cNvPr id="8" name="Slide Number Placeholder 7">
            <a:extLst>
              <a:ext uri="{FF2B5EF4-FFF2-40B4-BE49-F238E27FC236}">
                <a16:creationId xmlns:a16="http://schemas.microsoft.com/office/drawing/2014/main" id="{365AFE75-5A7E-409B-98EA-97616DA83A60}"/>
              </a:ext>
            </a:extLst>
          </p:cNvPr>
          <p:cNvSpPr>
            <a:spLocks noGrp="1"/>
          </p:cNvSpPr>
          <p:nvPr>
            <p:ph type="sldNum" sz="quarter" idx="12"/>
          </p:nvPr>
        </p:nvSpPr>
        <p:spPr/>
        <p:txBody>
          <a:bodyPr/>
          <a:lstStyle/>
          <a:p>
            <a:r>
              <a:rPr lang="en-US"/>
              <a:t>PAGE  </a:t>
            </a:r>
            <a:fld id="{93005692-73BE-493E-93AB-ECD6027A7652}" type="slidenum">
              <a:rPr lang="en-US" smtClean="0"/>
              <a:pPr/>
              <a:t>20</a:t>
            </a:fld>
            <a:endParaRPr lang="en-US" dirty="0"/>
          </a:p>
        </p:txBody>
      </p:sp>
      <p:pic>
        <p:nvPicPr>
          <p:cNvPr id="9" name="Picture 8">
            <a:extLst>
              <a:ext uri="{FF2B5EF4-FFF2-40B4-BE49-F238E27FC236}">
                <a16:creationId xmlns:a16="http://schemas.microsoft.com/office/drawing/2014/main" id="{BBB7C3BF-C02E-4660-B586-029FEBF95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BE4C718-A279-4D6D-8704-B635EC3B0C9C}"/>
                  </a:ext>
                </a:extLst>
              </p:cNvPr>
              <p:cNvSpPr txBox="1"/>
              <p:nvPr/>
            </p:nvSpPr>
            <p:spPr>
              <a:xfrm>
                <a:off x="523875" y="1368296"/>
                <a:ext cx="11098178" cy="369332"/>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Translate problem of solving diffusion equation to spectral space using Gaussian basis functions </a:t>
                </a:r>
                <a14:m>
                  <m:oMath xmlns:m="http://schemas.openxmlformats.org/officeDocument/2006/math">
                    <m:r>
                      <a:rPr lang="en-CA" i="1" smtClean="0">
                        <a:latin typeface="Cambria Math" panose="02040503050406030204" pitchFamily="18" charset="0"/>
                        <a:ea typeface="Cambria Math" panose="02040503050406030204" pitchFamily="18" charset="0"/>
                      </a:rPr>
                      <m:t>→</m:t>
                    </m:r>
                  </m:oMath>
                </a14:m>
                <a:r>
                  <a:rPr lang="en-CA" dirty="0">
                    <a:latin typeface="+mj-lt"/>
                  </a:rPr>
                  <a:t> non-orthogonal spectral expansions </a:t>
                </a:r>
              </a:p>
            </p:txBody>
          </p:sp>
        </mc:Choice>
        <mc:Fallback xmlns="">
          <p:sp>
            <p:nvSpPr>
              <p:cNvPr id="2" name="TextBox 1">
                <a:extLst>
                  <a:ext uri="{FF2B5EF4-FFF2-40B4-BE49-F238E27FC236}">
                    <a16:creationId xmlns:a16="http://schemas.microsoft.com/office/drawing/2014/main" id="{5BE4C718-A279-4D6D-8704-B635EC3B0C9C}"/>
                  </a:ext>
                </a:extLst>
              </p:cNvPr>
              <p:cNvSpPr txBox="1">
                <a:spLocks noRot="1" noChangeAspect="1" noMove="1" noResize="1" noEditPoints="1" noAdjustHandles="1" noChangeArrowheads="1" noChangeShapeType="1" noTextEdit="1"/>
              </p:cNvSpPr>
              <p:nvPr/>
            </p:nvSpPr>
            <p:spPr>
              <a:xfrm>
                <a:off x="523875" y="1368296"/>
                <a:ext cx="11098178" cy="369332"/>
              </a:xfrm>
              <a:prstGeom prst="rect">
                <a:avLst/>
              </a:prstGeom>
              <a:blipFill>
                <a:blip r:embed="rId4"/>
                <a:stretch>
                  <a:fillRect l="-384" t="-8197" r="-659" b="-24590"/>
                </a:stretch>
              </a:blipFill>
            </p:spPr>
            <p:txBody>
              <a:bodyPr/>
              <a:lstStyle/>
              <a:p>
                <a:r>
                  <a:rPr lang="en-CA">
                    <a:noFill/>
                  </a:rPr>
                  <a:t> </a:t>
                </a:r>
              </a:p>
            </p:txBody>
          </p:sp>
        </mc:Fallback>
      </mc:AlternateContent>
      <p:sp>
        <p:nvSpPr>
          <p:cNvPr id="4" name="TextBox 3">
            <a:extLst>
              <a:ext uri="{FF2B5EF4-FFF2-40B4-BE49-F238E27FC236}">
                <a16:creationId xmlns:a16="http://schemas.microsoft.com/office/drawing/2014/main" id="{6B4F8BDD-C9FD-4CD6-9817-8A48DA6D2BC1}"/>
              </a:ext>
            </a:extLst>
          </p:cNvPr>
          <p:cNvSpPr txBox="1"/>
          <p:nvPr/>
        </p:nvSpPr>
        <p:spPr>
          <a:xfrm>
            <a:off x="523875" y="2391640"/>
            <a:ext cx="4973824" cy="369332"/>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We must modify the SCFT equations in spectral space:</a:t>
            </a:r>
          </a:p>
        </p:txBody>
      </p:sp>
      <p:sp>
        <p:nvSpPr>
          <p:cNvPr id="20" name="TextBox 19">
            <a:extLst>
              <a:ext uri="{FF2B5EF4-FFF2-40B4-BE49-F238E27FC236}">
                <a16:creationId xmlns:a16="http://schemas.microsoft.com/office/drawing/2014/main" id="{A1EF3D19-5405-4B05-970F-A799398C50E0}"/>
              </a:ext>
            </a:extLst>
          </p:cNvPr>
          <p:cNvSpPr txBox="1"/>
          <p:nvPr/>
        </p:nvSpPr>
        <p:spPr>
          <a:xfrm>
            <a:off x="872535" y="2865402"/>
            <a:ext cx="8452884" cy="1754326"/>
          </a:xfrm>
          <a:prstGeom prst="rect">
            <a:avLst/>
          </a:prstGeom>
          <a:noFill/>
        </p:spPr>
        <p:txBody>
          <a:bodyPr wrap="square" rtlCol="0">
            <a:spAutoFit/>
          </a:bodyPr>
          <a:lstStyle/>
          <a:p>
            <a:pPr marL="285750" indent="-285750">
              <a:buFont typeface="Wingdings" panose="05000000000000000000" pitchFamily="2" charset="2"/>
              <a:buChar char="Ø"/>
            </a:pPr>
            <a:r>
              <a:rPr lang="en-CA" dirty="0">
                <a:latin typeface="+mj-lt"/>
              </a:rPr>
              <a:t>Overlap integral is no longer diagonal</a:t>
            </a:r>
          </a:p>
          <a:p>
            <a:pPr marL="285750" indent="-285750">
              <a:buFont typeface="Wingdings" panose="05000000000000000000" pitchFamily="2" charset="2"/>
              <a:buChar char="Ø"/>
            </a:pPr>
            <a:endParaRPr lang="en-CA" dirty="0">
              <a:latin typeface="+mj-lt"/>
            </a:endParaRPr>
          </a:p>
          <a:p>
            <a:pPr marL="285750" indent="-285750">
              <a:buFont typeface="Wingdings" panose="05000000000000000000" pitchFamily="2" charset="2"/>
              <a:buChar char="Ø"/>
            </a:pPr>
            <a:r>
              <a:rPr lang="en-CA" dirty="0">
                <a:latin typeface="+mj-lt"/>
              </a:rPr>
              <a:t>Basis functions are no longer eigenfunctions of the Laplacian</a:t>
            </a:r>
          </a:p>
          <a:p>
            <a:pPr marL="285750" indent="-285750">
              <a:buFont typeface="Wingdings" panose="05000000000000000000" pitchFamily="2" charset="2"/>
              <a:buChar char="Ø"/>
            </a:pPr>
            <a:endParaRPr lang="en-CA" dirty="0">
              <a:latin typeface="+mj-lt"/>
            </a:endParaRPr>
          </a:p>
          <a:p>
            <a:pPr marL="285750" indent="-285750">
              <a:buFont typeface="Wingdings" panose="05000000000000000000" pitchFamily="2" charset="2"/>
              <a:buChar char="Ø"/>
            </a:pPr>
            <a:r>
              <a:rPr lang="en-CA" dirty="0">
                <a:latin typeface="+mj-lt"/>
              </a:rPr>
              <a:t>Generalized eigenvalue problem should be solved when spectrally decomposing the solution for the spectral expansion coefficients of the single-particle propagator to maintain Hermiticity</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5C8B2EA-EE2A-4C46-8BF6-89B4A8CBF642}"/>
                  </a:ext>
                </a:extLst>
              </p:cNvPr>
              <p:cNvSpPr txBox="1"/>
              <p:nvPr/>
            </p:nvSpPr>
            <p:spPr>
              <a:xfrm>
                <a:off x="4425663" y="2691746"/>
                <a:ext cx="2477386" cy="8188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𝑖𝑗</m:t>
                          </m:r>
                        </m:sub>
                      </m:sSub>
                      <m:r>
                        <a:rPr lang="en-CA" b="0" i="1" smtClean="0">
                          <a:latin typeface="Cambria Math" panose="02040503050406030204" pitchFamily="18" charset="0"/>
                        </a:rPr>
                        <m:t>=</m:t>
                      </m:r>
                      <m:nary>
                        <m:naryPr>
                          <m:limLoc m:val="undOvr"/>
                          <m:subHide m:val="on"/>
                          <m:supHide m:val="on"/>
                          <m:ctrlPr>
                            <a:rPr lang="en-CA" b="0" i="1" smtClean="0">
                              <a:latin typeface="Cambria Math" panose="02040503050406030204" pitchFamily="18" charset="0"/>
                            </a:rPr>
                          </m:ctrlPr>
                        </m:naryPr>
                        <m:sub/>
                        <m:sup/>
                        <m:e>
                          <m:r>
                            <a:rPr lang="en-CA" b="0" i="1" smtClean="0">
                              <a:latin typeface="Cambria Math" panose="02040503050406030204" pitchFamily="18" charset="0"/>
                            </a:rPr>
                            <m:t>𝑑</m:t>
                          </m:r>
                          <m:r>
                            <a:rPr lang="en-CA" b="1" i="1" smtClean="0">
                              <a:latin typeface="Cambria Math" panose="02040503050406030204" pitchFamily="18" charset="0"/>
                            </a:rPr>
                            <m:t>𝒓</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𝑓</m:t>
                              </m:r>
                            </m:e>
                            <m:sub>
                              <m:r>
                                <a:rPr lang="en-CA" b="0" i="1" smtClean="0">
                                  <a:latin typeface="Cambria Math" panose="02040503050406030204" pitchFamily="18" charset="0"/>
                                </a:rPr>
                                <m:t>𝑖</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sSub>
                            <m:sSubPr>
                              <m:ctrlPr>
                                <a:rPr lang="en-CA" b="0" i="1" smtClean="0">
                                  <a:latin typeface="Cambria Math" panose="02040503050406030204" pitchFamily="18" charset="0"/>
                                </a:rPr>
                              </m:ctrlPr>
                            </m:sSubPr>
                            <m:e>
                              <m:r>
                                <a:rPr lang="en-CA" b="0" i="1" smtClean="0">
                                  <a:latin typeface="Cambria Math" panose="02040503050406030204" pitchFamily="18" charset="0"/>
                                </a:rPr>
                                <m:t>𝑓</m:t>
                              </m:r>
                            </m:e>
                            <m:sub>
                              <m:r>
                                <a:rPr lang="en-CA" b="0" i="1" smtClean="0">
                                  <a:latin typeface="Cambria Math" panose="02040503050406030204" pitchFamily="18" charset="0"/>
                                </a:rPr>
                                <m:t>𝑗</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e>
                      </m:nary>
                    </m:oMath>
                  </m:oMathPara>
                </a14:m>
                <a:endParaRPr lang="en-CA" dirty="0"/>
              </a:p>
            </p:txBody>
          </p:sp>
        </mc:Choice>
        <mc:Fallback xmlns="">
          <p:sp>
            <p:nvSpPr>
              <p:cNvPr id="21" name="TextBox 20">
                <a:extLst>
                  <a:ext uri="{FF2B5EF4-FFF2-40B4-BE49-F238E27FC236}">
                    <a16:creationId xmlns:a16="http://schemas.microsoft.com/office/drawing/2014/main" id="{A5C8B2EA-EE2A-4C46-8BF6-89B4A8CBF642}"/>
                  </a:ext>
                </a:extLst>
              </p:cNvPr>
              <p:cNvSpPr txBox="1">
                <a:spLocks noRot="1" noChangeAspect="1" noMove="1" noResize="1" noEditPoints="1" noAdjustHandles="1" noChangeArrowheads="1" noChangeShapeType="1" noTextEdit="1"/>
              </p:cNvSpPr>
              <p:nvPr/>
            </p:nvSpPr>
            <p:spPr>
              <a:xfrm>
                <a:off x="4425663" y="2691746"/>
                <a:ext cx="2477386" cy="818879"/>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9673259-445F-4C10-B671-D763CC8224AE}"/>
                  </a:ext>
                </a:extLst>
              </p:cNvPr>
              <p:cNvSpPr txBox="1"/>
              <p:nvPr/>
            </p:nvSpPr>
            <p:spPr>
              <a:xfrm>
                <a:off x="6300061" y="3242658"/>
                <a:ext cx="2477386" cy="8188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𝐿</m:t>
                          </m:r>
                        </m:e>
                        <m:sub>
                          <m:r>
                            <a:rPr lang="en-CA" b="0" i="1" smtClean="0">
                              <a:latin typeface="Cambria Math" panose="02040503050406030204" pitchFamily="18" charset="0"/>
                            </a:rPr>
                            <m:t>𝑖𝑗</m:t>
                          </m:r>
                        </m:sub>
                      </m:sSub>
                      <m:r>
                        <a:rPr lang="en-CA" b="0" i="1" smtClean="0">
                          <a:latin typeface="Cambria Math" panose="02040503050406030204" pitchFamily="18" charset="0"/>
                        </a:rPr>
                        <m:t>=</m:t>
                      </m:r>
                      <m:nary>
                        <m:naryPr>
                          <m:limLoc m:val="undOvr"/>
                          <m:subHide m:val="on"/>
                          <m:supHide m:val="on"/>
                          <m:ctrlPr>
                            <a:rPr lang="en-CA" b="0" i="1" smtClean="0">
                              <a:latin typeface="Cambria Math" panose="02040503050406030204" pitchFamily="18" charset="0"/>
                            </a:rPr>
                          </m:ctrlPr>
                        </m:naryPr>
                        <m:sub/>
                        <m:sup/>
                        <m:e>
                          <m:r>
                            <a:rPr lang="en-CA" b="0" i="1" smtClean="0">
                              <a:latin typeface="Cambria Math" panose="02040503050406030204" pitchFamily="18" charset="0"/>
                            </a:rPr>
                            <m:t>𝑑</m:t>
                          </m:r>
                          <m:r>
                            <a:rPr lang="en-CA" b="1" i="1" smtClean="0">
                              <a:latin typeface="Cambria Math" panose="02040503050406030204" pitchFamily="18" charset="0"/>
                            </a:rPr>
                            <m:t>𝒓</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𝑓</m:t>
                              </m:r>
                            </m:e>
                            <m:sub>
                              <m:r>
                                <a:rPr lang="en-CA" b="0" i="1" smtClean="0">
                                  <a:latin typeface="Cambria Math" panose="02040503050406030204" pitchFamily="18" charset="0"/>
                                </a:rPr>
                                <m:t>𝑖</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sSup>
                            <m:sSupPr>
                              <m:ctrlPr>
                                <a:rPr lang="en-CA" b="0" i="1" smtClean="0">
                                  <a:latin typeface="Cambria Math" panose="02040503050406030204" pitchFamily="18" charset="0"/>
                                </a:rPr>
                              </m:ctrlPr>
                            </m:sSupPr>
                            <m:e>
                              <m:r>
                                <m:rPr>
                                  <m:sty m:val="p"/>
                                </m:rPr>
                                <a:rPr lang="en-CA" b="0" i="0" smtClean="0">
                                  <a:latin typeface="Cambria Math" panose="02040503050406030204" pitchFamily="18" charset="0"/>
                                </a:rPr>
                                <m:t>∇</m:t>
                              </m:r>
                            </m:e>
                            <m:sup>
                              <m:r>
                                <a:rPr lang="en-CA" b="0" i="1" smtClean="0">
                                  <a:latin typeface="Cambria Math" panose="02040503050406030204" pitchFamily="18" charset="0"/>
                                </a:rPr>
                                <m:t>2</m:t>
                              </m:r>
                            </m:sup>
                          </m:sSup>
                          <m:sSub>
                            <m:sSubPr>
                              <m:ctrlPr>
                                <a:rPr lang="en-CA" b="0" i="1" smtClean="0">
                                  <a:latin typeface="Cambria Math" panose="02040503050406030204" pitchFamily="18" charset="0"/>
                                </a:rPr>
                              </m:ctrlPr>
                            </m:sSubPr>
                            <m:e>
                              <m:r>
                                <a:rPr lang="en-CA" b="0" i="1" smtClean="0">
                                  <a:latin typeface="Cambria Math" panose="02040503050406030204" pitchFamily="18" charset="0"/>
                                </a:rPr>
                                <m:t>𝑓</m:t>
                              </m:r>
                            </m:e>
                            <m:sub>
                              <m:r>
                                <a:rPr lang="en-CA" b="0" i="1" smtClean="0">
                                  <a:latin typeface="Cambria Math" panose="02040503050406030204" pitchFamily="18" charset="0"/>
                                </a:rPr>
                                <m:t>𝑗</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e>
                      </m:nary>
                    </m:oMath>
                  </m:oMathPara>
                </a14:m>
                <a:endParaRPr lang="en-CA" dirty="0"/>
              </a:p>
            </p:txBody>
          </p:sp>
        </mc:Choice>
        <mc:Fallback xmlns="">
          <p:sp>
            <p:nvSpPr>
              <p:cNvPr id="22" name="TextBox 21">
                <a:extLst>
                  <a:ext uri="{FF2B5EF4-FFF2-40B4-BE49-F238E27FC236}">
                    <a16:creationId xmlns:a16="http://schemas.microsoft.com/office/drawing/2014/main" id="{39673259-445F-4C10-B671-D763CC8224AE}"/>
                  </a:ext>
                </a:extLst>
              </p:cNvPr>
              <p:cNvSpPr txBox="1">
                <a:spLocks noRot="1" noChangeAspect="1" noMove="1" noResize="1" noEditPoints="1" noAdjustHandles="1" noChangeArrowheads="1" noChangeShapeType="1" noTextEdit="1"/>
              </p:cNvSpPr>
              <p:nvPr/>
            </p:nvSpPr>
            <p:spPr>
              <a:xfrm>
                <a:off x="6300061" y="3242658"/>
                <a:ext cx="2477386" cy="818879"/>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D69429E-2E35-4EA5-B66F-DAC87ADDD406}"/>
                  </a:ext>
                </a:extLst>
              </p:cNvPr>
              <p:cNvSpPr txBox="1"/>
              <p:nvPr/>
            </p:nvSpPr>
            <p:spPr>
              <a:xfrm>
                <a:off x="4777737" y="1864010"/>
                <a:ext cx="2590453" cy="3201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𝑓</m:t>
                          </m:r>
                        </m:e>
                        <m:sub>
                          <m:r>
                            <a:rPr lang="en-CA" b="0" i="1" smtClean="0">
                              <a:latin typeface="Cambria Math" panose="02040503050406030204" pitchFamily="18" charset="0"/>
                            </a:rPr>
                            <m:t>𝑖</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r>
                        <a:rPr lang="en-CA" b="0" i="1" smtClean="0">
                          <a:latin typeface="Cambria Math" panose="02040503050406030204" pitchFamily="18" charset="0"/>
                        </a:rPr>
                        <m:t>=</m:t>
                      </m:r>
                      <m:sSup>
                        <m:sSupPr>
                          <m:ctrlPr>
                            <a:rPr lang="en-CA" b="0" i="1" smtClean="0">
                              <a:latin typeface="Cambria Math" panose="02040503050406030204" pitchFamily="18" charset="0"/>
                            </a:rPr>
                          </m:ctrlPr>
                        </m:sSupPr>
                        <m:e>
                          <m:r>
                            <a:rPr lang="en-CA" b="0" i="1" smtClean="0">
                              <a:latin typeface="Cambria Math" panose="02040503050406030204" pitchFamily="18" charset="0"/>
                            </a:rPr>
                            <m:t>𝑟</m:t>
                          </m:r>
                        </m:e>
                        <m:sup>
                          <m:r>
                            <a:rPr lang="en-CA" b="0" i="1" smtClean="0">
                              <a:latin typeface="Cambria Math" panose="02040503050406030204" pitchFamily="18" charset="0"/>
                            </a:rPr>
                            <m:t>𝑙</m:t>
                          </m:r>
                        </m:sup>
                      </m:sSup>
                      <m:sSup>
                        <m:sSupPr>
                          <m:ctrlPr>
                            <a:rPr lang="en-CA" b="0" i="1" smtClean="0">
                              <a:latin typeface="Cambria Math" panose="02040503050406030204" pitchFamily="18" charset="0"/>
                            </a:rPr>
                          </m:ctrlPr>
                        </m:sSupPr>
                        <m:e>
                          <m:r>
                            <a:rPr lang="en-CA" b="0" i="1" smtClean="0">
                              <a:latin typeface="Cambria Math" panose="02040503050406030204" pitchFamily="18" charset="0"/>
                            </a:rPr>
                            <m:t>𝑒</m:t>
                          </m:r>
                        </m:e>
                        <m:sup>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𝑖</m:t>
                              </m:r>
                            </m:sub>
                          </m:sSub>
                          <m:sSup>
                            <m:sSupPr>
                              <m:ctrlPr>
                                <a:rPr lang="en-CA" b="0" i="1" smtClean="0">
                                  <a:latin typeface="Cambria Math" panose="02040503050406030204" pitchFamily="18" charset="0"/>
                                </a:rPr>
                              </m:ctrlPr>
                            </m:sSupPr>
                            <m:e>
                              <m:r>
                                <a:rPr lang="en-CA" b="0" i="1" smtClean="0">
                                  <a:latin typeface="Cambria Math" panose="02040503050406030204" pitchFamily="18" charset="0"/>
                                </a:rPr>
                                <m:t>𝑟</m:t>
                              </m:r>
                            </m:e>
                            <m:sup>
                              <m:r>
                                <a:rPr lang="en-CA" b="0" i="1" smtClean="0">
                                  <a:latin typeface="Cambria Math" panose="02040503050406030204" pitchFamily="18" charset="0"/>
                                </a:rPr>
                                <m:t>2</m:t>
                              </m:r>
                            </m:sup>
                          </m:sSup>
                        </m:sup>
                      </m:sSup>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𝑍</m:t>
                          </m:r>
                        </m:e>
                        <m:sub>
                          <m:r>
                            <a:rPr lang="en-CA" b="0" i="1" smtClean="0">
                              <a:latin typeface="Cambria Math" panose="02040503050406030204" pitchFamily="18" charset="0"/>
                            </a:rPr>
                            <m:t>𝑙</m:t>
                          </m:r>
                        </m:sub>
                        <m:sup>
                          <m:r>
                            <a:rPr lang="en-CA" b="0" i="1" smtClean="0">
                              <a:latin typeface="Cambria Math" panose="02040503050406030204" pitchFamily="18" charset="0"/>
                            </a:rPr>
                            <m:t>𝑚</m:t>
                          </m:r>
                        </m:sup>
                      </m:sSubSup>
                      <m:d>
                        <m:dPr>
                          <m:ctrlPr>
                            <a:rPr lang="en-CA" b="0" i="1" smtClean="0">
                              <a:latin typeface="Cambria Math" panose="02040503050406030204" pitchFamily="18" charset="0"/>
                            </a:rPr>
                          </m:ctrlPr>
                        </m:dPr>
                        <m:e>
                          <m:r>
                            <a:rPr lang="en-CA" b="0" i="1" smtClean="0">
                              <a:latin typeface="Cambria Math" panose="02040503050406030204" pitchFamily="18" charset="0"/>
                              <a:ea typeface="Cambria Math" panose="02040503050406030204" pitchFamily="18" charset="0"/>
                            </a:rPr>
                            <m:t>𝜃</m:t>
                          </m:r>
                          <m:r>
                            <a:rPr lang="en-CA" b="0"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𝜑</m:t>
                          </m:r>
                        </m:e>
                      </m:d>
                    </m:oMath>
                  </m:oMathPara>
                </a14:m>
                <a:endParaRPr lang="en-CA" dirty="0"/>
              </a:p>
            </p:txBody>
          </p:sp>
        </mc:Choice>
        <mc:Fallback xmlns="">
          <p:sp>
            <p:nvSpPr>
              <p:cNvPr id="18" name="TextBox 17">
                <a:extLst>
                  <a:ext uri="{FF2B5EF4-FFF2-40B4-BE49-F238E27FC236}">
                    <a16:creationId xmlns:a16="http://schemas.microsoft.com/office/drawing/2014/main" id="{AD69429E-2E35-4EA5-B66F-DAC87ADDD406}"/>
                  </a:ext>
                </a:extLst>
              </p:cNvPr>
              <p:cNvSpPr txBox="1">
                <a:spLocks noRot="1" noChangeAspect="1" noMove="1" noResize="1" noEditPoints="1" noAdjustHandles="1" noChangeArrowheads="1" noChangeShapeType="1" noTextEdit="1"/>
              </p:cNvSpPr>
              <p:nvPr/>
            </p:nvSpPr>
            <p:spPr>
              <a:xfrm>
                <a:off x="4777737" y="1864010"/>
                <a:ext cx="2590453" cy="320152"/>
              </a:xfrm>
              <a:prstGeom prst="rect">
                <a:avLst/>
              </a:prstGeom>
              <a:blipFill>
                <a:blip r:embed="rId7"/>
                <a:stretch>
                  <a:fillRect l="-1176" b="-3269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FD39D2-FE94-4427-B2A0-2C6DDBDEE2E4}"/>
                  </a:ext>
                </a:extLst>
              </p:cNvPr>
              <p:cNvSpPr txBox="1"/>
              <p:nvPr/>
            </p:nvSpPr>
            <p:spPr>
              <a:xfrm>
                <a:off x="867046" y="4580368"/>
                <a:ext cx="7985051" cy="7552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CA" sz="1600" i="1" smtClean="0">
                              <a:solidFill>
                                <a:srgbClr val="000000"/>
                              </a:solidFill>
                              <a:latin typeface="Cambria Math" panose="02040503050406030204" pitchFamily="18" charset="0"/>
                            </a:rPr>
                          </m:ctrlPr>
                        </m:fPr>
                        <m:num>
                          <m:r>
                            <a:rPr lang="en-CA" sz="1600" i="1">
                              <a:solidFill>
                                <a:srgbClr val="000000"/>
                              </a:solidFill>
                              <a:latin typeface="Cambria Math" panose="02040503050406030204" pitchFamily="18" charset="0"/>
                              <a:ea typeface="Cambria Math" panose="02040503050406030204" pitchFamily="18" charset="0"/>
                            </a:rPr>
                            <m:t>𝜕</m:t>
                          </m:r>
                          <m:sSub>
                            <m:sSubPr>
                              <m:ctrlPr>
                                <a:rPr lang="en-CA" sz="1600" b="0" i="1" smtClean="0">
                                  <a:solidFill>
                                    <a:srgbClr val="000000"/>
                                  </a:solidFill>
                                  <a:latin typeface="Cambria Math" panose="02040503050406030204" pitchFamily="18" charset="0"/>
                                  <a:ea typeface="Cambria Math" panose="02040503050406030204" pitchFamily="18" charset="0"/>
                                </a:rPr>
                              </m:ctrlPr>
                            </m:sSubPr>
                            <m:e>
                              <m:r>
                                <a:rPr lang="en-CA" sz="1600" b="0" i="1" smtClean="0">
                                  <a:solidFill>
                                    <a:srgbClr val="000000"/>
                                  </a:solidFill>
                                  <a:latin typeface="Cambria Math" panose="02040503050406030204" pitchFamily="18" charset="0"/>
                                  <a:ea typeface="Cambria Math" panose="02040503050406030204" pitchFamily="18" charset="0"/>
                                </a:rPr>
                                <m:t>𝑞</m:t>
                              </m:r>
                            </m:e>
                            <m:sub>
                              <m:r>
                                <a:rPr lang="en-CA" sz="1600" b="0" i="1" smtClean="0">
                                  <a:solidFill>
                                    <a:srgbClr val="000000"/>
                                  </a:solidFill>
                                  <a:latin typeface="Cambria Math" panose="02040503050406030204" pitchFamily="18" charset="0"/>
                                  <a:ea typeface="Cambria Math" panose="02040503050406030204" pitchFamily="18" charset="0"/>
                                </a:rPr>
                                <m:t>𝜇</m:t>
                              </m:r>
                              <m:r>
                                <a:rPr lang="en-CA" sz="1600" b="0" i="1" smtClean="0">
                                  <a:solidFill>
                                    <a:srgbClr val="000000"/>
                                  </a:solidFill>
                                  <a:latin typeface="Cambria Math" panose="02040503050406030204" pitchFamily="18" charset="0"/>
                                  <a:ea typeface="Cambria Math" panose="02040503050406030204" pitchFamily="18" charset="0"/>
                                </a:rPr>
                                <m:t>𝑖𝑗</m:t>
                              </m:r>
                            </m:sub>
                          </m:sSub>
                          <m:d>
                            <m:dPr>
                              <m:ctrlPr>
                                <a:rPr lang="en-CA" sz="1600" i="1">
                                  <a:solidFill>
                                    <a:srgbClr val="000000"/>
                                  </a:solidFill>
                                  <a:latin typeface="Cambria Math" panose="02040503050406030204" pitchFamily="18" charset="0"/>
                                </a:rPr>
                              </m:ctrlPr>
                            </m:dPr>
                            <m:e>
                              <m:r>
                                <a:rPr lang="en-CA" sz="1600" b="0" i="1" smtClean="0">
                                  <a:solidFill>
                                    <a:srgbClr val="000000"/>
                                  </a:solidFill>
                                  <a:latin typeface="Cambria Math" panose="02040503050406030204" pitchFamily="18" charset="0"/>
                                </a:rPr>
                                <m:t>𝑠</m:t>
                              </m:r>
                            </m:e>
                          </m:d>
                        </m:num>
                        <m:den>
                          <m:r>
                            <a:rPr lang="en-CA" sz="1600" i="1">
                              <a:solidFill>
                                <a:srgbClr val="000000"/>
                              </a:solidFill>
                              <a:latin typeface="Cambria Math" panose="02040503050406030204" pitchFamily="18" charset="0"/>
                              <a:ea typeface="Cambria Math" panose="02040503050406030204" pitchFamily="18" charset="0"/>
                            </a:rPr>
                            <m:t>𝜕</m:t>
                          </m:r>
                          <m:r>
                            <a:rPr lang="en-CA" sz="1600" b="0" i="1" smtClean="0">
                              <a:solidFill>
                                <a:srgbClr val="000000"/>
                              </a:solidFill>
                              <a:latin typeface="Cambria Math" panose="02040503050406030204" pitchFamily="18" charset="0"/>
                              <a:ea typeface="Cambria Math" panose="02040503050406030204" pitchFamily="18" charset="0"/>
                            </a:rPr>
                            <m:t>𝑠</m:t>
                          </m:r>
                        </m:den>
                      </m:f>
                      <m:r>
                        <a:rPr lang="en-CA" sz="1600" b="0" i="1" smtClean="0">
                          <a:solidFill>
                            <a:srgbClr val="000000"/>
                          </a:solidFill>
                          <a:latin typeface="Cambria Math" panose="02040503050406030204" pitchFamily="18" charset="0"/>
                          <a:ea typeface="Cambria Math" panose="02040503050406030204" pitchFamily="18" charset="0"/>
                        </a:rPr>
                        <m:t>=</m:t>
                      </m:r>
                      <m:nary>
                        <m:naryPr>
                          <m:chr m:val="∑"/>
                          <m:supHide m:val="on"/>
                          <m:ctrlPr>
                            <a:rPr lang="en-CA" sz="1600" b="0" i="1" smtClean="0">
                              <a:solidFill>
                                <a:srgbClr val="000000"/>
                              </a:solidFill>
                              <a:latin typeface="Cambria Math" panose="02040503050406030204" pitchFamily="18" charset="0"/>
                              <a:ea typeface="Cambria Math" panose="02040503050406030204" pitchFamily="18" charset="0"/>
                            </a:rPr>
                          </m:ctrlPr>
                        </m:naryPr>
                        <m:sub>
                          <m:r>
                            <m:rPr>
                              <m:brk m:alnAt="7"/>
                            </m:rPr>
                            <a:rPr lang="en-CA" sz="1600" b="0" i="1" smtClean="0">
                              <a:solidFill>
                                <a:srgbClr val="000000"/>
                              </a:solidFill>
                              <a:latin typeface="Cambria Math" panose="02040503050406030204" pitchFamily="18" charset="0"/>
                              <a:ea typeface="Cambria Math" panose="02040503050406030204" pitchFamily="18" charset="0"/>
                            </a:rPr>
                            <m:t>𝑘</m:t>
                          </m:r>
                          <m:sSup>
                            <m:sSupPr>
                              <m:ctrlPr>
                                <a:rPr lang="en-CA" sz="1600" b="0" i="1" smtClean="0">
                                  <a:solidFill>
                                    <a:srgbClr val="000000"/>
                                  </a:solidFill>
                                  <a:latin typeface="Cambria Math" panose="02040503050406030204" pitchFamily="18" charset="0"/>
                                  <a:ea typeface="Cambria Math" panose="02040503050406030204" pitchFamily="18" charset="0"/>
                                </a:rPr>
                              </m:ctrlPr>
                            </m:sSupPr>
                            <m:e>
                              <m:r>
                                <m:rPr>
                                  <m:brk m:alnAt="7"/>
                                </m:rPr>
                                <a:rPr lang="en-CA" sz="1600" b="0" i="1" smtClean="0">
                                  <a:solidFill>
                                    <a:srgbClr val="000000"/>
                                  </a:solidFill>
                                  <a:latin typeface="Cambria Math" panose="02040503050406030204" pitchFamily="18" charset="0"/>
                                  <a:ea typeface="Cambria Math" panose="02040503050406030204" pitchFamily="18" charset="0"/>
                                </a:rPr>
                                <m:t>𝑘</m:t>
                              </m:r>
                            </m:e>
                            <m:sup>
                              <m:r>
                                <a:rPr lang="en-CA" sz="1600" b="0" i="1" smtClean="0">
                                  <a:solidFill>
                                    <a:srgbClr val="000000"/>
                                  </a:solidFill>
                                  <a:latin typeface="Cambria Math" panose="02040503050406030204" pitchFamily="18" charset="0"/>
                                  <a:ea typeface="Cambria Math" panose="02040503050406030204" pitchFamily="18" charset="0"/>
                                </a:rPr>
                                <m:t>′</m:t>
                              </m:r>
                            </m:sup>
                          </m:sSup>
                        </m:sub>
                        <m:sup/>
                        <m:e>
                          <m:sSubSup>
                            <m:sSubSupPr>
                              <m:ctrlPr>
                                <a:rPr lang="en-CA" sz="1600" b="0" i="1" smtClean="0">
                                  <a:solidFill>
                                    <a:srgbClr val="000000"/>
                                  </a:solidFill>
                                  <a:latin typeface="Cambria Math" panose="02040503050406030204" pitchFamily="18" charset="0"/>
                                  <a:ea typeface="Cambria Math" panose="02040503050406030204" pitchFamily="18" charset="0"/>
                                </a:rPr>
                              </m:ctrlPr>
                            </m:sSubSupPr>
                            <m:e>
                              <m:r>
                                <a:rPr lang="en-CA" sz="1600" b="0" i="1" smtClean="0">
                                  <a:solidFill>
                                    <a:srgbClr val="000000"/>
                                  </a:solidFill>
                                  <a:latin typeface="Cambria Math" panose="02040503050406030204" pitchFamily="18" charset="0"/>
                                  <a:ea typeface="Cambria Math" panose="02040503050406030204" pitchFamily="18" charset="0"/>
                                </a:rPr>
                                <m:t>𝑆</m:t>
                              </m:r>
                            </m:e>
                            <m:sub>
                              <m:r>
                                <a:rPr lang="en-CA" sz="1600" b="0" i="1" smtClean="0">
                                  <a:solidFill>
                                    <a:srgbClr val="000000"/>
                                  </a:solidFill>
                                  <a:latin typeface="Cambria Math" panose="02040503050406030204" pitchFamily="18" charset="0"/>
                                  <a:ea typeface="Cambria Math" panose="02040503050406030204" pitchFamily="18" charset="0"/>
                                </a:rPr>
                                <m:t>𝑖𝑘</m:t>
                              </m:r>
                            </m:sub>
                            <m:sup>
                              <m:r>
                                <a:rPr lang="en-CA" sz="1600" b="0" i="1" smtClean="0">
                                  <a:solidFill>
                                    <a:srgbClr val="000000"/>
                                  </a:solidFill>
                                  <a:latin typeface="Cambria Math" panose="02040503050406030204" pitchFamily="18" charset="0"/>
                                  <a:ea typeface="Cambria Math" panose="02040503050406030204" pitchFamily="18" charset="0"/>
                                </a:rPr>
                                <m:t>−1</m:t>
                              </m:r>
                            </m:sup>
                          </m:sSubSup>
                          <m:d>
                            <m:dPr>
                              <m:ctrlPr>
                                <a:rPr lang="en-CA" sz="1600" b="0" i="1" smtClean="0">
                                  <a:solidFill>
                                    <a:srgbClr val="000000"/>
                                  </a:solidFill>
                                  <a:latin typeface="Cambria Math" panose="02040503050406030204" pitchFamily="18" charset="0"/>
                                  <a:ea typeface="Cambria Math" panose="02040503050406030204" pitchFamily="18" charset="0"/>
                                </a:rPr>
                              </m:ctrlPr>
                            </m:dPr>
                            <m:e>
                              <m:f>
                                <m:fPr>
                                  <m:ctrlPr>
                                    <a:rPr lang="en-CA" sz="1600" b="0" i="1" smtClean="0">
                                      <a:solidFill>
                                        <a:srgbClr val="000000"/>
                                      </a:solidFill>
                                      <a:latin typeface="Cambria Math" panose="02040503050406030204" pitchFamily="18" charset="0"/>
                                      <a:ea typeface="Cambria Math" panose="02040503050406030204" pitchFamily="18" charset="0"/>
                                    </a:rPr>
                                  </m:ctrlPr>
                                </m:fPr>
                                <m:num>
                                  <m:sSup>
                                    <m:sSupPr>
                                      <m:ctrlPr>
                                        <a:rPr lang="en-CA" sz="1600" b="0" i="1" smtClean="0">
                                          <a:solidFill>
                                            <a:srgbClr val="000000"/>
                                          </a:solidFill>
                                          <a:latin typeface="Cambria Math" panose="02040503050406030204" pitchFamily="18" charset="0"/>
                                          <a:ea typeface="Cambria Math" panose="02040503050406030204" pitchFamily="18" charset="0"/>
                                        </a:rPr>
                                      </m:ctrlPr>
                                    </m:sSupPr>
                                    <m:e>
                                      <m:r>
                                        <a:rPr lang="en-CA" sz="1600" b="0" i="1" smtClean="0">
                                          <a:solidFill>
                                            <a:srgbClr val="000000"/>
                                          </a:solidFill>
                                          <a:latin typeface="Cambria Math" panose="02040503050406030204" pitchFamily="18" charset="0"/>
                                          <a:ea typeface="Cambria Math" panose="02040503050406030204" pitchFamily="18" charset="0"/>
                                        </a:rPr>
                                        <m:t>ℏ</m:t>
                                      </m:r>
                                    </m:e>
                                    <m:sup>
                                      <m:r>
                                        <a:rPr lang="en-CA" sz="1600" b="0" i="1" smtClean="0">
                                          <a:solidFill>
                                            <a:srgbClr val="000000"/>
                                          </a:solidFill>
                                          <a:latin typeface="Cambria Math" panose="02040503050406030204" pitchFamily="18" charset="0"/>
                                          <a:ea typeface="Cambria Math" panose="02040503050406030204" pitchFamily="18" charset="0"/>
                                        </a:rPr>
                                        <m:t>2</m:t>
                                      </m:r>
                                    </m:sup>
                                  </m:sSup>
                                </m:num>
                                <m:den>
                                  <m:r>
                                    <a:rPr lang="en-CA" sz="1600" b="0" i="1" smtClean="0">
                                      <a:solidFill>
                                        <a:srgbClr val="000000"/>
                                      </a:solidFill>
                                      <a:latin typeface="Cambria Math" panose="02040503050406030204" pitchFamily="18" charset="0"/>
                                      <a:ea typeface="Cambria Math" panose="02040503050406030204" pitchFamily="18" charset="0"/>
                                    </a:rPr>
                                    <m:t>2</m:t>
                                  </m:r>
                                  <m:r>
                                    <a:rPr lang="en-CA" sz="1600" b="0" i="1" smtClean="0">
                                      <a:solidFill>
                                        <a:srgbClr val="000000"/>
                                      </a:solidFill>
                                      <a:latin typeface="Cambria Math" panose="02040503050406030204" pitchFamily="18" charset="0"/>
                                      <a:ea typeface="Cambria Math" panose="02040503050406030204" pitchFamily="18" charset="0"/>
                                    </a:rPr>
                                    <m:t>𝑚</m:t>
                                  </m:r>
                                </m:den>
                              </m:f>
                              <m:sSub>
                                <m:sSubPr>
                                  <m:ctrlPr>
                                    <a:rPr lang="en-CA" sz="1600" b="0" i="1" smtClean="0">
                                      <a:solidFill>
                                        <a:srgbClr val="000000"/>
                                      </a:solidFill>
                                      <a:latin typeface="Cambria Math" panose="02040503050406030204" pitchFamily="18" charset="0"/>
                                      <a:ea typeface="Cambria Math" panose="02040503050406030204" pitchFamily="18" charset="0"/>
                                    </a:rPr>
                                  </m:ctrlPr>
                                </m:sSubPr>
                                <m:e>
                                  <m:r>
                                    <a:rPr lang="en-CA" sz="1600" b="0" i="1" smtClean="0">
                                      <a:solidFill>
                                        <a:srgbClr val="000000"/>
                                      </a:solidFill>
                                      <a:latin typeface="Cambria Math" panose="02040503050406030204" pitchFamily="18" charset="0"/>
                                      <a:ea typeface="Cambria Math" panose="02040503050406030204" pitchFamily="18" charset="0"/>
                                    </a:rPr>
                                    <m:t>𝐿</m:t>
                                  </m:r>
                                </m:e>
                                <m:sub>
                                  <m:r>
                                    <a:rPr lang="en-CA" sz="1600" b="0" i="1" smtClean="0">
                                      <a:solidFill>
                                        <a:srgbClr val="000000"/>
                                      </a:solidFill>
                                      <a:latin typeface="Cambria Math" panose="02040503050406030204" pitchFamily="18" charset="0"/>
                                      <a:ea typeface="Cambria Math" panose="02040503050406030204" pitchFamily="18" charset="0"/>
                                    </a:rPr>
                                    <m:t>𝑘</m:t>
                                  </m:r>
                                  <m:sSup>
                                    <m:sSupPr>
                                      <m:ctrlPr>
                                        <a:rPr lang="en-CA" sz="1600" b="0" i="1" smtClean="0">
                                          <a:solidFill>
                                            <a:srgbClr val="000000"/>
                                          </a:solidFill>
                                          <a:latin typeface="Cambria Math" panose="02040503050406030204" pitchFamily="18" charset="0"/>
                                          <a:ea typeface="Cambria Math" panose="02040503050406030204" pitchFamily="18" charset="0"/>
                                        </a:rPr>
                                      </m:ctrlPr>
                                    </m:sSupPr>
                                    <m:e>
                                      <m:r>
                                        <a:rPr lang="en-CA" sz="1600" b="0" i="1" smtClean="0">
                                          <a:solidFill>
                                            <a:srgbClr val="000000"/>
                                          </a:solidFill>
                                          <a:latin typeface="Cambria Math" panose="02040503050406030204" pitchFamily="18" charset="0"/>
                                          <a:ea typeface="Cambria Math" panose="02040503050406030204" pitchFamily="18" charset="0"/>
                                        </a:rPr>
                                        <m:t>𝑘</m:t>
                                      </m:r>
                                    </m:e>
                                    <m:sup>
                                      <m:r>
                                        <a:rPr lang="en-CA" sz="1600" b="0" i="1" smtClean="0">
                                          <a:solidFill>
                                            <a:srgbClr val="000000"/>
                                          </a:solidFill>
                                          <a:latin typeface="Cambria Math" panose="02040503050406030204" pitchFamily="18" charset="0"/>
                                          <a:ea typeface="Cambria Math" panose="02040503050406030204" pitchFamily="18" charset="0"/>
                                        </a:rPr>
                                        <m:t>′</m:t>
                                      </m:r>
                                    </m:sup>
                                  </m:sSup>
                                </m:sub>
                              </m:sSub>
                              <m:r>
                                <a:rPr lang="en-CA" sz="1600" b="0" i="1" smtClean="0">
                                  <a:solidFill>
                                    <a:srgbClr val="000000"/>
                                  </a:solidFill>
                                  <a:latin typeface="Cambria Math" panose="02040503050406030204" pitchFamily="18" charset="0"/>
                                  <a:ea typeface="Cambria Math" panose="02040503050406030204" pitchFamily="18" charset="0"/>
                                </a:rPr>
                                <m:t>−</m:t>
                              </m:r>
                              <m:nary>
                                <m:naryPr>
                                  <m:chr m:val="∑"/>
                                  <m:supHide m:val="on"/>
                                  <m:ctrlPr>
                                    <a:rPr lang="en-CA" sz="1600" b="0" i="1" smtClean="0">
                                      <a:solidFill>
                                        <a:srgbClr val="000000"/>
                                      </a:solidFill>
                                      <a:latin typeface="Cambria Math" panose="02040503050406030204" pitchFamily="18" charset="0"/>
                                      <a:ea typeface="Cambria Math" panose="02040503050406030204" pitchFamily="18" charset="0"/>
                                    </a:rPr>
                                  </m:ctrlPr>
                                </m:naryPr>
                                <m:sub>
                                  <m:r>
                                    <m:rPr>
                                      <m:brk m:alnAt="7"/>
                                    </m:rPr>
                                    <a:rPr lang="en-CA" sz="1600" b="0" i="1" smtClean="0">
                                      <a:solidFill>
                                        <a:srgbClr val="000000"/>
                                      </a:solidFill>
                                      <a:latin typeface="Cambria Math" panose="02040503050406030204" pitchFamily="18" charset="0"/>
                                      <a:ea typeface="Cambria Math" panose="02040503050406030204" pitchFamily="18" charset="0"/>
                                    </a:rPr>
                                    <m:t>𝑛</m:t>
                                  </m:r>
                                </m:sub>
                                <m:sup/>
                                <m:e>
                                  <m:sSub>
                                    <m:sSubPr>
                                      <m:ctrlPr>
                                        <a:rPr lang="en-CA" sz="1600" b="0" i="1" smtClean="0">
                                          <a:solidFill>
                                            <a:srgbClr val="000000"/>
                                          </a:solidFill>
                                          <a:latin typeface="Cambria Math" panose="02040503050406030204" pitchFamily="18" charset="0"/>
                                          <a:ea typeface="Cambria Math" panose="02040503050406030204" pitchFamily="18" charset="0"/>
                                        </a:rPr>
                                      </m:ctrlPr>
                                    </m:sSubPr>
                                    <m:e>
                                      <m:r>
                                        <a:rPr lang="en-CA" sz="1600" b="0" i="1" smtClean="0">
                                          <a:solidFill>
                                            <a:srgbClr val="000000"/>
                                          </a:solidFill>
                                          <a:latin typeface="Cambria Math" panose="02040503050406030204" pitchFamily="18" charset="0"/>
                                          <a:ea typeface="Cambria Math" panose="02040503050406030204" pitchFamily="18" charset="0"/>
                                        </a:rPr>
                                        <m:t>𝑤</m:t>
                                      </m:r>
                                    </m:e>
                                    <m:sub>
                                      <m:r>
                                        <a:rPr lang="en-CA" sz="1600" b="0" i="1" smtClean="0">
                                          <a:solidFill>
                                            <a:srgbClr val="000000"/>
                                          </a:solidFill>
                                          <a:latin typeface="Cambria Math" panose="02040503050406030204" pitchFamily="18" charset="0"/>
                                          <a:ea typeface="Cambria Math" panose="02040503050406030204" pitchFamily="18" charset="0"/>
                                        </a:rPr>
                                        <m:t>𝜇</m:t>
                                      </m:r>
                                      <m:r>
                                        <a:rPr lang="en-CA" sz="1600" b="0" i="1" smtClean="0">
                                          <a:solidFill>
                                            <a:srgbClr val="000000"/>
                                          </a:solidFill>
                                          <a:latin typeface="Cambria Math" panose="02040503050406030204" pitchFamily="18" charset="0"/>
                                          <a:ea typeface="Cambria Math" panose="02040503050406030204" pitchFamily="18" charset="0"/>
                                        </a:rPr>
                                        <m:t>𝑛</m:t>
                                      </m:r>
                                    </m:sub>
                                  </m:sSub>
                                  <m:sSub>
                                    <m:sSubPr>
                                      <m:ctrlPr>
                                        <a:rPr lang="en-CA" sz="1600" b="0" i="1" smtClean="0">
                                          <a:solidFill>
                                            <a:srgbClr val="000000"/>
                                          </a:solidFill>
                                          <a:latin typeface="Cambria Math" panose="02040503050406030204" pitchFamily="18" charset="0"/>
                                          <a:ea typeface="Cambria Math" panose="02040503050406030204" pitchFamily="18" charset="0"/>
                                        </a:rPr>
                                      </m:ctrlPr>
                                    </m:sSubPr>
                                    <m:e>
                                      <m:r>
                                        <m:rPr>
                                          <m:sty m:val="p"/>
                                        </m:rPr>
                                        <a:rPr lang="en-CA" sz="1600" b="0" i="0" smtClean="0">
                                          <a:solidFill>
                                            <a:srgbClr val="000000"/>
                                          </a:solidFill>
                                          <a:latin typeface="Cambria Math" panose="02040503050406030204" pitchFamily="18" charset="0"/>
                                          <a:ea typeface="Cambria Math" panose="02040503050406030204" pitchFamily="18" charset="0"/>
                                        </a:rPr>
                                        <m:t>Γ</m:t>
                                      </m:r>
                                    </m:e>
                                    <m:sub>
                                      <m:r>
                                        <a:rPr lang="en-CA" sz="1600" b="0" i="1" smtClean="0">
                                          <a:solidFill>
                                            <a:srgbClr val="000000"/>
                                          </a:solidFill>
                                          <a:latin typeface="Cambria Math" panose="02040503050406030204" pitchFamily="18" charset="0"/>
                                          <a:ea typeface="Cambria Math" panose="02040503050406030204" pitchFamily="18" charset="0"/>
                                        </a:rPr>
                                        <m:t>𝑘</m:t>
                                      </m:r>
                                      <m:sSup>
                                        <m:sSupPr>
                                          <m:ctrlPr>
                                            <a:rPr lang="en-CA" sz="1600" b="0" i="1" smtClean="0">
                                              <a:solidFill>
                                                <a:srgbClr val="000000"/>
                                              </a:solidFill>
                                              <a:latin typeface="Cambria Math" panose="02040503050406030204" pitchFamily="18" charset="0"/>
                                              <a:ea typeface="Cambria Math" panose="02040503050406030204" pitchFamily="18" charset="0"/>
                                            </a:rPr>
                                          </m:ctrlPr>
                                        </m:sSupPr>
                                        <m:e>
                                          <m:r>
                                            <a:rPr lang="en-CA" sz="1600" b="0" i="1" smtClean="0">
                                              <a:solidFill>
                                                <a:srgbClr val="000000"/>
                                              </a:solidFill>
                                              <a:latin typeface="Cambria Math" panose="02040503050406030204" pitchFamily="18" charset="0"/>
                                              <a:ea typeface="Cambria Math" panose="02040503050406030204" pitchFamily="18" charset="0"/>
                                            </a:rPr>
                                            <m:t>𝑘</m:t>
                                          </m:r>
                                        </m:e>
                                        <m:sup>
                                          <m:r>
                                            <a:rPr lang="en-CA" sz="1600" b="0" i="1" smtClean="0">
                                              <a:solidFill>
                                                <a:srgbClr val="000000"/>
                                              </a:solidFill>
                                              <a:latin typeface="Cambria Math" panose="02040503050406030204" pitchFamily="18" charset="0"/>
                                              <a:ea typeface="Cambria Math" panose="02040503050406030204" pitchFamily="18" charset="0"/>
                                            </a:rPr>
                                            <m:t>′</m:t>
                                          </m:r>
                                        </m:sup>
                                      </m:sSup>
                                      <m:r>
                                        <a:rPr lang="en-CA" sz="1600" b="0" i="1" smtClean="0">
                                          <a:solidFill>
                                            <a:srgbClr val="000000"/>
                                          </a:solidFill>
                                          <a:latin typeface="Cambria Math" panose="02040503050406030204" pitchFamily="18" charset="0"/>
                                          <a:ea typeface="Cambria Math" panose="02040503050406030204" pitchFamily="18" charset="0"/>
                                        </a:rPr>
                                        <m:t>𝑛</m:t>
                                      </m:r>
                                    </m:sub>
                                  </m:sSub>
                                </m:e>
                              </m:nary>
                            </m:e>
                          </m:d>
                          <m:sSub>
                            <m:sSubPr>
                              <m:ctrlPr>
                                <a:rPr lang="en-CA" sz="1600" b="0" i="1" smtClean="0">
                                  <a:solidFill>
                                    <a:srgbClr val="000000"/>
                                  </a:solidFill>
                                  <a:latin typeface="Cambria Math" panose="02040503050406030204" pitchFamily="18" charset="0"/>
                                  <a:ea typeface="Cambria Math" panose="02040503050406030204" pitchFamily="18" charset="0"/>
                                </a:rPr>
                              </m:ctrlPr>
                            </m:sSubPr>
                            <m:e>
                              <m:r>
                                <a:rPr lang="en-CA" sz="1600" b="0" i="1" smtClean="0">
                                  <a:solidFill>
                                    <a:srgbClr val="000000"/>
                                  </a:solidFill>
                                  <a:latin typeface="Cambria Math" panose="02040503050406030204" pitchFamily="18" charset="0"/>
                                  <a:ea typeface="Cambria Math" panose="02040503050406030204" pitchFamily="18" charset="0"/>
                                </a:rPr>
                                <m:t>𝑞</m:t>
                              </m:r>
                            </m:e>
                            <m:sub>
                              <m:r>
                                <a:rPr lang="en-CA" sz="1600" b="0" i="1" smtClean="0">
                                  <a:solidFill>
                                    <a:srgbClr val="000000"/>
                                  </a:solidFill>
                                  <a:latin typeface="Cambria Math" panose="02040503050406030204" pitchFamily="18" charset="0"/>
                                  <a:ea typeface="Cambria Math" panose="02040503050406030204" pitchFamily="18" charset="0"/>
                                </a:rPr>
                                <m:t>𝜇</m:t>
                              </m:r>
                              <m:sSup>
                                <m:sSupPr>
                                  <m:ctrlPr>
                                    <a:rPr lang="en-CA" sz="1600" b="0" i="1" smtClean="0">
                                      <a:solidFill>
                                        <a:srgbClr val="000000"/>
                                      </a:solidFill>
                                      <a:latin typeface="Cambria Math" panose="02040503050406030204" pitchFamily="18" charset="0"/>
                                      <a:ea typeface="Cambria Math" panose="02040503050406030204" pitchFamily="18" charset="0"/>
                                    </a:rPr>
                                  </m:ctrlPr>
                                </m:sSupPr>
                                <m:e>
                                  <m:r>
                                    <a:rPr lang="en-CA" sz="1600" b="0" i="1" smtClean="0">
                                      <a:solidFill>
                                        <a:srgbClr val="000000"/>
                                      </a:solidFill>
                                      <a:latin typeface="Cambria Math" panose="02040503050406030204" pitchFamily="18" charset="0"/>
                                      <a:ea typeface="Cambria Math" panose="02040503050406030204" pitchFamily="18" charset="0"/>
                                    </a:rPr>
                                    <m:t>𝑘</m:t>
                                  </m:r>
                                </m:e>
                                <m:sup>
                                  <m:r>
                                    <a:rPr lang="en-CA" sz="1600" b="0" i="1" smtClean="0">
                                      <a:solidFill>
                                        <a:srgbClr val="000000"/>
                                      </a:solidFill>
                                      <a:latin typeface="Cambria Math" panose="02040503050406030204" pitchFamily="18" charset="0"/>
                                      <a:ea typeface="Cambria Math" panose="02040503050406030204" pitchFamily="18" charset="0"/>
                                    </a:rPr>
                                    <m:t>′</m:t>
                                  </m:r>
                                </m:sup>
                              </m:sSup>
                              <m:r>
                                <a:rPr lang="en-CA" sz="1600" b="0" i="1" smtClean="0">
                                  <a:solidFill>
                                    <a:srgbClr val="000000"/>
                                  </a:solidFill>
                                  <a:latin typeface="Cambria Math" panose="02040503050406030204" pitchFamily="18" charset="0"/>
                                  <a:ea typeface="Cambria Math" panose="02040503050406030204" pitchFamily="18" charset="0"/>
                                </a:rPr>
                                <m:t>𝑗</m:t>
                              </m:r>
                            </m:sub>
                          </m:sSub>
                          <m:d>
                            <m:dPr>
                              <m:ctrlPr>
                                <a:rPr lang="en-CA" sz="1600" b="0" i="1" smtClean="0">
                                  <a:solidFill>
                                    <a:srgbClr val="000000"/>
                                  </a:solidFill>
                                  <a:latin typeface="Cambria Math" panose="02040503050406030204" pitchFamily="18" charset="0"/>
                                  <a:ea typeface="Cambria Math" panose="02040503050406030204" pitchFamily="18" charset="0"/>
                                </a:rPr>
                              </m:ctrlPr>
                            </m:dPr>
                            <m:e>
                              <m:r>
                                <a:rPr lang="en-CA" sz="1600" b="0" i="1" smtClean="0">
                                  <a:solidFill>
                                    <a:srgbClr val="000000"/>
                                  </a:solidFill>
                                  <a:latin typeface="Cambria Math" panose="02040503050406030204" pitchFamily="18" charset="0"/>
                                  <a:ea typeface="Cambria Math" panose="02040503050406030204" pitchFamily="18" charset="0"/>
                                </a:rPr>
                                <m:t>𝑠</m:t>
                              </m:r>
                            </m:e>
                          </m:d>
                        </m:e>
                      </m:nary>
                      <m:r>
                        <a:rPr lang="en-CA" sz="1600" b="0" i="1" smtClean="0">
                          <a:solidFill>
                            <a:srgbClr val="000000"/>
                          </a:solidFill>
                          <a:latin typeface="Cambria Math" panose="02040503050406030204" pitchFamily="18" charset="0"/>
                          <a:ea typeface="Cambria Math" panose="02040503050406030204" pitchFamily="18" charset="0"/>
                        </a:rPr>
                        <m:t>≡</m:t>
                      </m:r>
                      <m:nary>
                        <m:naryPr>
                          <m:chr m:val="∑"/>
                          <m:supHide m:val="on"/>
                          <m:ctrlPr>
                            <a:rPr lang="en-CA" sz="1600" i="1">
                              <a:solidFill>
                                <a:srgbClr val="000000"/>
                              </a:solidFill>
                              <a:latin typeface="Cambria Math" panose="02040503050406030204" pitchFamily="18" charset="0"/>
                              <a:ea typeface="Cambria Math" panose="02040503050406030204" pitchFamily="18" charset="0"/>
                            </a:rPr>
                          </m:ctrlPr>
                        </m:naryPr>
                        <m:sub>
                          <m:r>
                            <m:rPr>
                              <m:brk m:alnAt="7"/>
                            </m:rPr>
                            <a:rPr lang="en-CA" sz="1600" i="1">
                              <a:solidFill>
                                <a:srgbClr val="000000"/>
                              </a:solidFill>
                              <a:latin typeface="Cambria Math" panose="02040503050406030204" pitchFamily="18" charset="0"/>
                              <a:ea typeface="Cambria Math" panose="02040503050406030204" pitchFamily="18" charset="0"/>
                            </a:rPr>
                            <m:t>𝑘</m:t>
                          </m:r>
                          <m:sSup>
                            <m:sSupPr>
                              <m:ctrlPr>
                                <a:rPr lang="en-CA" sz="1600" i="1">
                                  <a:solidFill>
                                    <a:srgbClr val="000000"/>
                                  </a:solidFill>
                                  <a:latin typeface="Cambria Math" panose="02040503050406030204" pitchFamily="18" charset="0"/>
                                  <a:ea typeface="Cambria Math" panose="02040503050406030204" pitchFamily="18" charset="0"/>
                                </a:rPr>
                              </m:ctrlPr>
                            </m:sSupPr>
                            <m:e>
                              <m:r>
                                <m:rPr>
                                  <m:brk m:alnAt="7"/>
                                </m:rPr>
                                <a:rPr lang="en-CA" sz="1600" i="1">
                                  <a:solidFill>
                                    <a:srgbClr val="000000"/>
                                  </a:solidFill>
                                  <a:latin typeface="Cambria Math" panose="02040503050406030204" pitchFamily="18" charset="0"/>
                                  <a:ea typeface="Cambria Math" panose="02040503050406030204" pitchFamily="18" charset="0"/>
                                </a:rPr>
                                <m:t>𝑘</m:t>
                              </m:r>
                            </m:e>
                            <m:sup>
                              <m:r>
                                <a:rPr lang="en-CA" sz="1600" i="1">
                                  <a:solidFill>
                                    <a:srgbClr val="000000"/>
                                  </a:solidFill>
                                  <a:latin typeface="Cambria Math" panose="02040503050406030204" pitchFamily="18" charset="0"/>
                                  <a:ea typeface="Cambria Math" panose="02040503050406030204" pitchFamily="18" charset="0"/>
                                </a:rPr>
                                <m:t>′</m:t>
                              </m:r>
                            </m:sup>
                          </m:sSup>
                        </m:sub>
                        <m:sup/>
                        <m:e>
                          <m:sSubSup>
                            <m:sSubSupPr>
                              <m:ctrlPr>
                                <a:rPr lang="en-CA" sz="1600" i="1">
                                  <a:solidFill>
                                    <a:srgbClr val="000000"/>
                                  </a:solidFill>
                                  <a:latin typeface="Cambria Math" panose="02040503050406030204" pitchFamily="18" charset="0"/>
                                  <a:ea typeface="Cambria Math" panose="02040503050406030204" pitchFamily="18" charset="0"/>
                                </a:rPr>
                              </m:ctrlPr>
                            </m:sSubSupPr>
                            <m:e>
                              <m:r>
                                <a:rPr lang="en-CA" sz="1600" i="1">
                                  <a:solidFill>
                                    <a:srgbClr val="000000"/>
                                  </a:solidFill>
                                  <a:latin typeface="Cambria Math" panose="02040503050406030204" pitchFamily="18" charset="0"/>
                                  <a:ea typeface="Cambria Math" panose="02040503050406030204" pitchFamily="18" charset="0"/>
                                </a:rPr>
                                <m:t>𝑆</m:t>
                              </m:r>
                            </m:e>
                            <m:sub>
                              <m:r>
                                <a:rPr lang="en-CA" sz="1600" i="1">
                                  <a:solidFill>
                                    <a:srgbClr val="000000"/>
                                  </a:solidFill>
                                  <a:latin typeface="Cambria Math" panose="02040503050406030204" pitchFamily="18" charset="0"/>
                                  <a:ea typeface="Cambria Math" panose="02040503050406030204" pitchFamily="18" charset="0"/>
                                </a:rPr>
                                <m:t>𝑖𝑘</m:t>
                              </m:r>
                            </m:sub>
                            <m:sup>
                              <m:r>
                                <a:rPr lang="en-CA" sz="1600" i="1">
                                  <a:solidFill>
                                    <a:srgbClr val="000000"/>
                                  </a:solidFill>
                                  <a:latin typeface="Cambria Math" panose="02040503050406030204" pitchFamily="18" charset="0"/>
                                  <a:ea typeface="Cambria Math" panose="02040503050406030204" pitchFamily="18" charset="0"/>
                                </a:rPr>
                                <m:t>−1</m:t>
                              </m:r>
                            </m:sup>
                          </m:sSubSup>
                          <m:sSub>
                            <m:sSubPr>
                              <m:ctrlPr>
                                <a:rPr lang="en-CA" sz="1600" b="0" i="1" smtClean="0">
                                  <a:solidFill>
                                    <a:srgbClr val="000000"/>
                                  </a:solidFill>
                                  <a:latin typeface="Cambria Math" panose="02040503050406030204" pitchFamily="18" charset="0"/>
                                  <a:ea typeface="Cambria Math" panose="02040503050406030204" pitchFamily="18" charset="0"/>
                                </a:rPr>
                              </m:ctrlPr>
                            </m:sSubPr>
                            <m:e>
                              <m:r>
                                <a:rPr lang="en-CA" sz="1600" b="0" i="1" smtClean="0">
                                  <a:solidFill>
                                    <a:srgbClr val="000000"/>
                                  </a:solidFill>
                                  <a:latin typeface="Cambria Math" panose="02040503050406030204" pitchFamily="18" charset="0"/>
                                  <a:ea typeface="Cambria Math" panose="02040503050406030204" pitchFamily="18" charset="0"/>
                                </a:rPr>
                                <m:t>𝐴</m:t>
                              </m:r>
                            </m:e>
                            <m:sub>
                              <m:r>
                                <a:rPr lang="en-CA" sz="1600" b="0" i="1" smtClean="0">
                                  <a:solidFill>
                                    <a:srgbClr val="000000"/>
                                  </a:solidFill>
                                  <a:latin typeface="Cambria Math" panose="02040503050406030204" pitchFamily="18" charset="0"/>
                                  <a:ea typeface="Cambria Math" panose="02040503050406030204" pitchFamily="18" charset="0"/>
                                </a:rPr>
                                <m:t>𝑘</m:t>
                              </m:r>
                              <m:sSup>
                                <m:sSupPr>
                                  <m:ctrlPr>
                                    <a:rPr lang="en-CA" sz="1600" b="0" i="1" smtClean="0">
                                      <a:solidFill>
                                        <a:srgbClr val="000000"/>
                                      </a:solidFill>
                                      <a:latin typeface="Cambria Math" panose="02040503050406030204" pitchFamily="18" charset="0"/>
                                      <a:ea typeface="Cambria Math" panose="02040503050406030204" pitchFamily="18" charset="0"/>
                                    </a:rPr>
                                  </m:ctrlPr>
                                </m:sSupPr>
                                <m:e>
                                  <m:r>
                                    <a:rPr lang="en-CA" sz="1600" b="0" i="1" smtClean="0">
                                      <a:solidFill>
                                        <a:srgbClr val="000000"/>
                                      </a:solidFill>
                                      <a:latin typeface="Cambria Math" panose="02040503050406030204" pitchFamily="18" charset="0"/>
                                      <a:ea typeface="Cambria Math" panose="02040503050406030204" pitchFamily="18" charset="0"/>
                                    </a:rPr>
                                    <m:t>𝑘</m:t>
                                  </m:r>
                                </m:e>
                                <m:sup>
                                  <m:r>
                                    <a:rPr lang="en-CA" sz="1600" b="0" i="1" smtClean="0">
                                      <a:solidFill>
                                        <a:srgbClr val="000000"/>
                                      </a:solidFill>
                                      <a:latin typeface="Cambria Math" panose="02040503050406030204" pitchFamily="18" charset="0"/>
                                      <a:ea typeface="Cambria Math" panose="02040503050406030204" pitchFamily="18" charset="0"/>
                                    </a:rPr>
                                    <m:t>′</m:t>
                                  </m:r>
                                </m:sup>
                              </m:sSup>
                            </m:sub>
                          </m:sSub>
                          <m:sSub>
                            <m:sSubPr>
                              <m:ctrlPr>
                                <a:rPr lang="en-CA" sz="1600" i="1">
                                  <a:solidFill>
                                    <a:srgbClr val="000000"/>
                                  </a:solidFill>
                                  <a:latin typeface="Cambria Math" panose="02040503050406030204" pitchFamily="18" charset="0"/>
                                  <a:ea typeface="Cambria Math" panose="02040503050406030204" pitchFamily="18" charset="0"/>
                                </a:rPr>
                              </m:ctrlPr>
                            </m:sSubPr>
                            <m:e>
                              <m:r>
                                <a:rPr lang="en-CA" sz="1600" i="1">
                                  <a:solidFill>
                                    <a:srgbClr val="000000"/>
                                  </a:solidFill>
                                  <a:latin typeface="Cambria Math" panose="02040503050406030204" pitchFamily="18" charset="0"/>
                                  <a:ea typeface="Cambria Math" panose="02040503050406030204" pitchFamily="18" charset="0"/>
                                </a:rPr>
                                <m:t>𝑞</m:t>
                              </m:r>
                            </m:e>
                            <m:sub>
                              <m:r>
                                <a:rPr lang="en-CA" sz="1600" i="1">
                                  <a:solidFill>
                                    <a:srgbClr val="000000"/>
                                  </a:solidFill>
                                  <a:latin typeface="Cambria Math" panose="02040503050406030204" pitchFamily="18" charset="0"/>
                                  <a:ea typeface="Cambria Math" panose="02040503050406030204" pitchFamily="18" charset="0"/>
                                </a:rPr>
                                <m:t>𝜇</m:t>
                              </m:r>
                              <m:sSup>
                                <m:sSupPr>
                                  <m:ctrlPr>
                                    <a:rPr lang="en-CA" sz="1600" i="1">
                                      <a:solidFill>
                                        <a:srgbClr val="000000"/>
                                      </a:solidFill>
                                      <a:latin typeface="Cambria Math" panose="02040503050406030204" pitchFamily="18" charset="0"/>
                                      <a:ea typeface="Cambria Math" panose="02040503050406030204" pitchFamily="18" charset="0"/>
                                    </a:rPr>
                                  </m:ctrlPr>
                                </m:sSupPr>
                                <m:e>
                                  <m:r>
                                    <a:rPr lang="en-CA" sz="1600" i="1">
                                      <a:solidFill>
                                        <a:srgbClr val="000000"/>
                                      </a:solidFill>
                                      <a:latin typeface="Cambria Math" panose="02040503050406030204" pitchFamily="18" charset="0"/>
                                      <a:ea typeface="Cambria Math" panose="02040503050406030204" pitchFamily="18" charset="0"/>
                                    </a:rPr>
                                    <m:t>𝑘</m:t>
                                  </m:r>
                                </m:e>
                                <m:sup>
                                  <m:r>
                                    <a:rPr lang="en-CA" sz="1600" i="1">
                                      <a:solidFill>
                                        <a:srgbClr val="000000"/>
                                      </a:solidFill>
                                      <a:latin typeface="Cambria Math" panose="02040503050406030204" pitchFamily="18" charset="0"/>
                                      <a:ea typeface="Cambria Math" panose="02040503050406030204" pitchFamily="18" charset="0"/>
                                    </a:rPr>
                                    <m:t>′</m:t>
                                  </m:r>
                                </m:sup>
                              </m:sSup>
                              <m:r>
                                <a:rPr lang="en-CA" sz="1600" i="1">
                                  <a:solidFill>
                                    <a:srgbClr val="000000"/>
                                  </a:solidFill>
                                  <a:latin typeface="Cambria Math" panose="02040503050406030204" pitchFamily="18" charset="0"/>
                                  <a:ea typeface="Cambria Math" panose="02040503050406030204" pitchFamily="18" charset="0"/>
                                </a:rPr>
                                <m:t>𝑗</m:t>
                              </m:r>
                            </m:sub>
                          </m:sSub>
                          <m:d>
                            <m:dPr>
                              <m:ctrlPr>
                                <a:rPr lang="en-CA" sz="1600" i="1">
                                  <a:solidFill>
                                    <a:srgbClr val="000000"/>
                                  </a:solidFill>
                                  <a:latin typeface="Cambria Math" panose="02040503050406030204" pitchFamily="18" charset="0"/>
                                  <a:ea typeface="Cambria Math" panose="02040503050406030204" pitchFamily="18" charset="0"/>
                                </a:rPr>
                              </m:ctrlPr>
                            </m:dPr>
                            <m:e>
                              <m:r>
                                <a:rPr lang="en-CA" sz="1600" b="0" i="1" smtClean="0">
                                  <a:solidFill>
                                    <a:srgbClr val="000000"/>
                                  </a:solidFill>
                                  <a:latin typeface="Cambria Math" panose="02040503050406030204" pitchFamily="18" charset="0"/>
                                  <a:ea typeface="Cambria Math" panose="02040503050406030204" pitchFamily="18" charset="0"/>
                                </a:rPr>
                                <m:t>𝑠</m:t>
                              </m:r>
                            </m:e>
                          </m:d>
                        </m:e>
                      </m:nary>
                    </m:oMath>
                  </m:oMathPara>
                </a14:m>
                <a:endParaRPr lang="en-CA" sz="1600" dirty="0"/>
              </a:p>
            </p:txBody>
          </p:sp>
        </mc:Choice>
        <mc:Fallback xmlns="">
          <p:sp>
            <p:nvSpPr>
              <p:cNvPr id="12" name="TextBox 11">
                <a:extLst>
                  <a:ext uri="{FF2B5EF4-FFF2-40B4-BE49-F238E27FC236}">
                    <a16:creationId xmlns:a16="http://schemas.microsoft.com/office/drawing/2014/main" id="{96FD39D2-FE94-4427-B2A0-2C6DDBDEE2E4}"/>
                  </a:ext>
                </a:extLst>
              </p:cNvPr>
              <p:cNvSpPr txBox="1">
                <a:spLocks noRot="1" noChangeAspect="1" noMove="1" noResize="1" noEditPoints="1" noAdjustHandles="1" noChangeArrowheads="1" noChangeShapeType="1" noTextEdit="1"/>
              </p:cNvSpPr>
              <p:nvPr/>
            </p:nvSpPr>
            <p:spPr>
              <a:xfrm>
                <a:off x="867046" y="4580368"/>
                <a:ext cx="7985051" cy="755207"/>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F2E7CF2-5BB0-425D-918F-91AFC89BAA28}"/>
                  </a:ext>
                </a:extLst>
              </p:cNvPr>
              <p:cNvSpPr txBox="1"/>
              <p:nvPr/>
            </p:nvSpPr>
            <p:spPr>
              <a:xfrm>
                <a:off x="6614095" y="5396993"/>
                <a:ext cx="3434780" cy="698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600" b="0" i="1" smtClean="0">
                              <a:solidFill>
                                <a:schemeClr val="tx1"/>
                              </a:solidFill>
                              <a:latin typeface="Cambria Math" panose="02040503050406030204" pitchFamily="18" charset="0"/>
                              <a:ea typeface="Cambria Math" panose="02040503050406030204" pitchFamily="18" charset="0"/>
                            </a:rPr>
                          </m:ctrlPr>
                        </m:naryPr>
                        <m:sub>
                          <m:r>
                            <m:rPr>
                              <m:brk m:alnAt="7"/>
                            </m:rPr>
                            <a:rPr lang="en-CA" sz="1600" b="0" i="1" smtClean="0">
                              <a:solidFill>
                                <a:schemeClr val="tx1"/>
                              </a:solidFill>
                              <a:latin typeface="Cambria Math" panose="02040503050406030204" pitchFamily="18" charset="0"/>
                              <a:ea typeface="Cambria Math" panose="02040503050406030204" pitchFamily="18" charset="0"/>
                            </a:rPr>
                            <m:t>𝑘</m:t>
                          </m:r>
                        </m:sub>
                        <m:sup/>
                        <m:e>
                          <m:sSub>
                            <m:sSubPr>
                              <m:ctrlPr>
                                <a:rPr lang="en-CA" sz="1600" b="0" i="1" smtClean="0">
                                  <a:solidFill>
                                    <a:schemeClr val="tx1"/>
                                  </a:solidFill>
                                  <a:latin typeface="Cambria Math" panose="02040503050406030204" pitchFamily="18" charset="0"/>
                                  <a:ea typeface="Cambria Math" panose="02040503050406030204" pitchFamily="18" charset="0"/>
                                </a:rPr>
                              </m:ctrlPr>
                            </m:sSubPr>
                            <m:e>
                              <m:r>
                                <a:rPr lang="en-CA" sz="1600" b="0" i="1" smtClean="0">
                                  <a:solidFill>
                                    <a:schemeClr val="tx1"/>
                                  </a:solidFill>
                                  <a:latin typeface="Cambria Math" panose="02040503050406030204" pitchFamily="18" charset="0"/>
                                  <a:ea typeface="Cambria Math" panose="02040503050406030204" pitchFamily="18" charset="0"/>
                                </a:rPr>
                                <m:t>𝐴</m:t>
                              </m:r>
                            </m:e>
                            <m:sub>
                              <m:r>
                                <a:rPr lang="en-CA" sz="1600" b="0" i="1" smtClean="0">
                                  <a:solidFill>
                                    <a:schemeClr val="tx1"/>
                                  </a:solidFill>
                                  <a:latin typeface="Cambria Math" panose="02040503050406030204" pitchFamily="18" charset="0"/>
                                  <a:ea typeface="Cambria Math" panose="02040503050406030204" pitchFamily="18" charset="0"/>
                                </a:rPr>
                                <m:t>𝜇</m:t>
                              </m:r>
                              <m:r>
                                <a:rPr lang="en-CA" sz="1600" b="0" i="1" smtClean="0">
                                  <a:solidFill>
                                    <a:schemeClr val="tx1"/>
                                  </a:solidFill>
                                  <a:latin typeface="Cambria Math" panose="02040503050406030204" pitchFamily="18" charset="0"/>
                                  <a:ea typeface="Cambria Math" panose="02040503050406030204" pitchFamily="18" charset="0"/>
                                </a:rPr>
                                <m:t>𝑖𝑘</m:t>
                              </m:r>
                            </m:sub>
                          </m:sSub>
                          <m:sSub>
                            <m:sSubPr>
                              <m:ctrlPr>
                                <a:rPr lang="en-CA" sz="1600" b="0" i="1" smtClean="0">
                                  <a:solidFill>
                                    <a:schemeClr val="tx1"/>
                                  </a:solidFill>
                                  <a:latin typeface="Cambria Math" panose="02040503050406030204" pitchFamily="18" charset="0"/>
                                  <a:ea typeface="Cambria Math" panose="02040503050406030204" pitchFamily="18" charset="0"/>
                                </a:rPr>
                              </m:ctrlPr>
                            </m:sSubPr>
                            <m:e>
                              <m:r>
                                <a:rPr lang="en-CA" sz="1600" b="0" i="1" smtClean="0">
                                  <a:solidFill>
                                    <a:schemeClr val="tx1"/>
                                  </a:solidFill>
                                  <a:latin typeface="Cambria Math" panose="02040503050406030204" pitchFamily="18" charset="0"/>
                                  <a:ea typeface="Cambria Math" panose="02040503050406030204" pitchFamily="18" charset="0"/>
                                </a:rPr>
                                <m:t>𝑈</m:t>
                              </m:r>
                            </m:e>
                            <m:sub>
                              <m:r>
                                <a:rPr lang="en-CA" sz="1600" b="0" i="1" smtClean="0">
                                  <a:solidFill>
                                    <a:schemeClr val="tx1"/>
                                  </a:solidFill>
                                  <a:latin typeface="Cambria Math" panose="02040503050406030204" pitchFamily="18" charset="0"/>
                                  <a:ea typeface="Cambria Math" panose="02040503050406030204" pitchFamily="18" charset="0"/>
                                </a:rPr>
                                <m:t>𝜇</m:t>
                              </m:r>
                              <m:r>
                                <a:rPr lang="en-CA" sz="1600" b="0" i="1" smtClean="0">
                                  <a:solidFill>
                                    <a:schemeClr val="tx1"/>
                                  </a:solidFill>
                                  <a:latin typeface="Cambria Math" panose="02040503050406030204" pitchFamily="18" charset="0"/>
                                  <a:ea typeface="Cambria Math" panose="02040503050406030204" pitchFamily="18" charset="0"/>
                                </a:rPr>
                                <m:t>𝑘𝑗</m:t>
                              </m:r>
                            </m:sub>
                          </m:sSub>
                        </m:e>
                      </m:nary>
                      <m:r>
                        <a:rPr lang="en-CA" sz="1600" b="0" i="1" smtClean="0">
                          <a:solidFill>
                            <a:schemeClr val="tx1"/>
                          </a:solidFill>
                          <a:latin typeface="Cambria Math" panose="02040503050406030204" pitchFamily="18" charset="0"/>
                        </a:rPr>
                        <m:t>=</m:t>
                      </m:r>
                      <m:nary>
                        <m:naryPr>
                          <m:chr m:val="∑"/>
                          <m:supHide m:val="on"/>
                          <m:ctrlPr>
                            <a:rPr lang="en-CA" sz="1600" b="0" i="1" smtClean="0">
                              <a:solidFill>
                                <a:schemeClr val="tx1"/>
                              </a:solidFill>
                              <a:latin typeface="Cambria Math" panose="02040503050406030204" pitchFamily="18" charset="0"/>
                            </a:rPr>
                          </m:ctrlPr>
                        </m:naryPr>
                        <m:sub>
                          <m:r>
                            <m:rPr>
                              <m:brk m:alnAt="7"/>
                            </m:rPr>
                            <a:rPr lang="en-CA" sz="1600" b="0" i="1" smtClean="0">
                              <a:solidFill>
                                <a:schemeClr val="tx1"/>
                              </a:solidFill>
                              <a:latin typeface="Cambria Math" panose="02040503050406030204" pitchFamily="18" charset="0"/>
                            </a:rPr>
                            <m:t>𝑘</m:t>
                          </m:r>
                          <m:sSup>
                            <m:sSupPr>
                              <m:ctrlPr>
                                <a:rPr lang="en-CA" sz="1600" b="0" i="1" smtClean="0">
                                  <a:solidFill>
                                    <a:schemeClr val="tx1"/>
                                  </a:solidFill>
                                  <a:latin typeface="Cambria Math" panose="02040503050406030204" pitchFamily="18" charset="0"/>
                                </a:rPr>
                              </m:ctrlPr>
                            </m:sSupPr>
                            <m:e>
                              <m:r>
                                <m:rPr>
                                  <m:brk m:alnAt="7"/>
                                </m:rPr>
                                <a:rPr lang="en-CA" sz="1600" b="0" i="1" smtClean="0">
                                  <a:solidFill>
                                    <a:schemeClr val="tx1"/>
                                  </a:solidFill>
                                  <a:latin typeface="Cambria Math" panose="02040503050406030204" pitchFamily="18" charset="0"/>
                                </a:rPr>
                                <m:t>𝑘</m:t>
                              </m:r>
                            </m:e>
                            <m:sup>
                              <m:r>
                                <m:rPr>
                                  <m:brk m:alnAt="7"/>
                                </m:rPr>
                                <a:rPr lang="en-CA" sz="1600" b="0" i="1" smtClean="0">
                                  <a:solidFill>
                                    <a:schemeClr val="tx1"/>
                                  </a:solidFill>
                                  <a:latin typeface="Cambria Math" panose="02040503050406030204" pitchFamily="18" charset="0"/>
                                </a:rPr>
                                <m:t>′</m:t>
                              </m:r>
                            </m:sup>
                          </m:sSup>
                        </m:sub>
                        <m:sup/>
                        <m:e>
                          <m:sSub>
                            <m:sSubPr>
                              <m:ctrlPr>
                                <a:rPr lang="en-CA" sz="1600" b="0" i="1" smtClean="0">
                                  <a:solidFill>
                                    <a:schemeClr val="tx1"/>
                                  </a:solidFill>
                                  <a:latin typeface="Cambria Math" panose="02040503050406030204" pitchFamily="18" charset="0"/>
                                </a:rPr>
                              </m:ctrlPr>
                            </m:sSubPr>
                            <m:e>
                              <m:r>
                                <a:rPr lang="en-CA" sz="1600" b="0" i="1" smtClean="0">
                                  <a:solidFill>
                                    <a:schemeClr val="tx1"/>
                                  </a:solidFill>
                                  <a:latin typeface="Cambria Math" panose="02040503050406030204" pitchFamily="18" charset="0"/>
                                </a:rPr>
                                <m:t>𝑆</m:t>
                              </m:r>
                            </m:e>
                            <m:sub>
                              <m:r>
                                <a:rPr lang="en-CA" sz="1600" b="0" i="1" smtClean="0">
                                  <a:solidFill>
                                    <a:schemeClr val="tx1"/>
                                  </a:solidFill>
                                  <a:latin typeface="Cambria Math" panose="02040503050406030204" pitchFamily="18" charset="0"/>
                                </a:rPr>
                                <m:t>𝑖𝑘</m:t>
                              </m:r>
                            </m:sub>
                          </m:sSub>
                          <m:sSub>
                            <m:sSubPr>
                              <m:ctrlPr>
                                <a:rPr lang="en-CA" sz="1600" b="0" i="1" smtClean="0">
                                  <a:solidFill>
                                    <a:schemeClr val="tx1"/>
                                  </a:solidFill>
                                  <a:latin typeface="Cambria Math" panose="02040503050406030204" pitchFamily="18" charset="0"/>
                                </a:rPr>
                              </m:ctrlPr>
                            </m:sSubPr>
                            <m:e>
                              <m:r>
                                <a:rPr lang="en-CA" sz="1600" b="0" i="1" smtClean="0">
                                  <a:solidFill>
                                    <a:schemeClr val="tx1"/>
                                  </a:solidFill>
                                  <a:latin typeface="Cambria Math" panose="02040503050406030204" pitchFamily="18" charset="0"/>
                                </a:rPr>
                                <m:t>𝑈</m:t>
                              </m:r>
                            </m:e>
                            <m:sub>
                              <m:r>
                                <a:rPr lang="en-CA" sz="1600" b="0" i="1" smtClean="0">
                                  <a:solidFill>
                                    <a:schemeClr val="tx1"/>
                                  </a:solidFill>
                                  <a:latin typeface="Cambria Math" panose="02040503050406030204" pitchFamily="18" charset="0"/>
                                </a:rPr>
                                <m:t>𝜇</m:t>
                              </m:r>
                              <m:r>
                                <a:rPr lang="en-CA" sz="1600" b="0" i="1" smtClean="0">
                                  <a:solidFill>
                                    <a:schemeClr val="tx1"/>
                                  </a:solidFill>
                                  <a:latin typeface="Cambria Math" panose="02040503050406030204" pitchFamily="18" charset="0"/>
                                </a:rPr>
                                <m:t>𝑘</m:t>
                              </m:r>
                              <m:sSup>
                                <m:sSupPr>
                                  <m:ctrlPr>
                                    <a:rPr lang="en-CA" sz="1600" b="0" i="1" smtClean="0">
                                      <a:solidFill>
                                        <a:schemeClr val="tx1"/>
                                      </a:solidFill>
                                      <a:latin typeface="Cambria Math" panose="02040503050406030204" pitchFamily="18" charset="0"/>
                                    </a:rPr>
                                  </m:ctrlPr>
                                </m:sSupPr>
                                <m:e>
                                  <m:r>
                                    <a:rPr lang="en-CA" sz="1600" b="0" i="1" smtClean="0">
                                      <a:solidFill>
                                        <a:schemeClr val="tx1"/>
                                      </a:solidFill>
                                      <a:latin typeface="Cambria Math" panose="02040503050406030204" pitchFamily="18" charset="0"/>
                                    </a:rPr>
                                    <m:t>𝑘</m:t>
                                  </m:r>
                                </m:e>
                                <m:sup>
                                  <m:r>
                                    <a:rPr lang="en-CA" sz="1600" b="0" i="1" smtClean="0">
                                      <a:solidFill>
                                        <a:schemeClr val="tx1"/>
                                      </a:solidFill>
                                      <a:latin typeface="Cambria Math" panose="02040503050406030204" pitchFamily="18" charset="0"/>
                                    </a:rPr>
                                    <m:t>′</m:t>
                                  </m:r>
                                </m:sup>
                              </m:sSup>
                            </m:sub>
                          </m:sSub>
                          <m:sSub>
                            <m:sSubPr>
                              <m:ctrlPr>
                                <a:rPr lang="en-CA" sz="1600" b="0" i="1" smtClean="0">
                                  <a:solidFill>
                                    <a:schemeClr val="tx1"/>
                                  </a:solidFill>
                                  <a:latin typeface="Cambria Math" panose="02040503050406030204" pitchFamily="18" charset="0"/>
                                </a:rPr>
                              </m:ctrlPr>
                            </m:sSubPr>
                            <m:e>
                              <m:r>
                                <m:rPr>
                                  <m:sty m:val="p"/>
                                </m:rPr>
                                <a:rPr lang="en-CA" sz="1600" b="0" i="0" smtClean="0">
                                  <a:solidFill>
                                    <a:schemeClr val="tx1"/>
                                  </a:solidFill>
                                  <a:latin typeface="Cambria Math" panose="02040503050406030204" pitchFamily="18" charset="0"/>
                                </a:rPr>
                                <m:t>D</m:t>
                              </m:r>
                            </m:e>
                            <m:sub>
                              <m:r>
                                <a:rPr lang="en-CA" sz="1600" b="0" i="1" smtClean="0">
                                  <a:solidFill>
                                    <a:schemeClr val="tx1"/>
                                  </a:solidFill>
                                  <a:latin typeface="Cambria Math" panose="02040503050406030204" pitchFamily="18" charset="0"/>
                                </a:rPr>
                                <m:t>𝜇</m:t>
                              </m:r>
                              <m:sSup>
                                <m:sSupPr>
                                  <m:ctrlPr>
                                    <a:rPr lang="en-CA" sz="1600" b="0" i="1" smtClean="0">
                                      <a:solidFill>
                                        <a:schemeClr val="tx1"/>
                                      </a:solidFill>
                                      <a:latin typeface="Cambria Math" panose="02040503050406030204" pitchFamily="18" charset="0"/>
                                    </a:rPr>
                                  </m:ctrlPr>
                                </m:sSupPr>
                                <m:e>
                                  <m:r>
                                    <a:rPr lang="en-CA" sz="1600" b="0" i="1" smtClean="0">
                                      <a:solidFill>
                                        <a:schemeClr val="tx1"/>
                                      </a:solidFill>
                                      <a:latin typeface="Cambria Math" panose="02040503050406030204" pitchFamily="18" charset="0"/>
                                    </a:rPr>
                                    <m:t>𝑘</m:t>
                                  </m:r>
                                </m:e>
                                <m:sup>
                                  <m:r>
                                    <a:rPr lang="en-CA" sz="1600" b="0" i="1" smtClean="0">
                                      <a:solidFill>
                                        <a:schemeClr val="tx1"/>
                                      </a:solidFill>
                                      <a:latin typeface="Cambria Math" panose="02040503050406030204" pitchFamily="18" charset="0"/>
                                    </a:rPr>
                                    <m:t>′</m:t>
                                  </m:r>
                                </m:sup>
                              </m:sSup>
                              <m:r>
                                <a:rPr lang="en-CA" sz="1600" b="0" i="1" smtClean="0">
                                  <a:solidFill>
                                    <a:schemeClr val="tx1"/>
                                  </a:solidFill>
                                  <a:latin typeface="Cambria Math" panose="02040503050406030204" pitchFamily="18" charset="0"/>
                                </a:rPr>
                                <m:t>𝑗</m:t>
                              </m:r>
                            </m:sub>
                          </m:sSub>
                        </m:e>
                      </m:nary>
                    </m:oMath>
                  </m:oMathPara>
                </a14:m>
                <a:endParaRPr lang="en-CA" sz="1600" dirty="0"/>
              </a:p>
            </p:txBody>
          </p:sp>
        </mc:Choice>
        <mc:Fallback xmlns="">
          <p:sp>
            <p:nvSpPr>
              <p:cNvPr id="13" name="TextBox 12">
                <a:extLst>
                  <a:ext uri="{FF2B5EF4-FFF2-40B4-BE49-F238E27FC236}">
                    <a16:creationId xmlns:a16="http://schemas.microsoft.com/office/drawing/2014/main" id="{CF2E7CF2-5BB0-425D-918F-91AFC89BAA28}"/>
                  </a:ext>
                </a:extLst>
              </p:cNvPr>
              <p:cNvSpPr txBox="1">
                <a:spLocks noRot="1" noChangeAspect="1" noMove="1" noResize="1" noEditPoints="1" noAdjustHandles="1" noChangeArrowheads="1" noChangeShapeType="1" noTextEdit="1"/>
              </p:cNvSpPr>
              <p:nvPr/>
            </p:nvSpPr>
            <p:spPr>
              <a:xfrm>
                <a:off x="6614095" y="5396993"/>
                <a:ext cx="3434780" cy="698012"/>
              </a:xfrm>
              <a:prstGeom prst="rect">
                <a:avLst/>
              </a:prstGeom>
              <a:blipFill>
                <a:blip r:embed="rId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58756AA-AE55-43DC-BE90-1CEB894F93BD}"/>
                  </a:ext>
                </a:extLst>
              </p:cNvPr>
              <p:cNvSpPr txBox="1"/>
              <p:nvPr/>
            </p:nvSpPr>
            <p:spPr>
              <a:xfrm>
                <a:off x="1103868" y="5402600"/>
                <a:ext cx="6166882" cy="689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sz="1600" b="0" i="1" smtClean="0">
                          <a:solidFill>
                            <a:schemeClr val="tx1"/>
                          </a:solidFill>
                          <a:latin typeface="Cambria Math" panose="02040503050406030204" pitchFamily="18" charset="0"/>
                          <a:ea typeface="Cambria Math" panose="02040503050406030204" pitchFamily="18" charset="0"/>
                        </a:rPr>
                        <m:t>→    </m:t>
                      </m:r>
                      <m:sSub>
                        <m:sSubPr>
                          <m:ctrlPr>
                            <a:rPr lang="en-CA" sz="1600" b="0" i="1" smtClean="0">
                              <a:solidFill>
                                <a:schemeClr val="tx1"/>
                              </a:solidFill>
                              <a:latin typeface="Cambria Math" panose="02040503050406030204" pitchFamily="18" charset="0"/>
                            </a:rPr>
                          </m:ctrlPr>
                        </m:sSubPr>
                        <m:e>
                          <m:r>
                            <a:rPr lang="en-CA" sz="1600" b="0" i="1" smtClean="0">
                              <a:solidFill>
                                <a:schemeClr val="tx1"/>
                              </a:solidFill>
                              <a:latin typeface="Cambria Math" panose="02040503050406030204" pitchFamily="18" charset="0"/>
                            </a:rPr>
                            <m:t>𝑞</m:t>
                          </m:r>
                        </m:e>
                        <m:sub>
                          <m:r>
                            <a:rPr lang="en-CA" sz="1600" b="0" i="1" smtClean="0">
                              <a:solidFill>
                                <a:schemeClr val="tx1"/>
                              </a:solidFill>
                              <a:latin typeface="Cambria Math" panose="02040503050406030204" pitchFamily="18" charset="0"/>
                            </a:rPr>
                            <m:t>𝜇</m:t>
                          </m:r>
                          <m:r>
                            <a:rPr lang="en-CA" sz="1600" b="0" i="1" smtClean="0">
                              <a:solidFill>
                                <a:schemeClr val="tx1"/>
                              </a:solidFill>
                              <a:latin typeface="Cambria Math" panose="02040503050406030204" pitchFamily="18" charset="0"/>
                            </a:rPr>
                            <m:t>𝑖𝑗</m:t>
                          </m:r>
                        </m:sub>
                      </m:sSub>
                      <m:d>
                        <m:dPr>
                          <m:ctrlPr>
                            <a:rPr lang="en-CA" sz="1600" b="0" i="1" smtClean="0">
                              <a:solidFill>
                                <a:schemeClr val="tx1"/>
                              </a:solidFill>
                              <a:latin typeface="Cambria Math" panose="02040503050406030204" pitchFamily="18" charset="0"/>
                            </a:rPr>
                          </m:ctrlPr>
                        </m:dPr>
                        <m:e>
                          <m:r>
                            <a:rPr lang="en-CA" sz="1600" b="0" i="1" smtClean="0">
                              <a:solidFill>
                                <a:schemeClr val="tx1"/>
                              </a:solidFill>
                              <a:latin typeface="Cambria Math" panose="02040503050406030204" pitchFamily="18" charset="0"/>
                            </a:rPr>
                            <m:t>𝑠</m:t>
                          </m:r>
                        </m:e>
                      </m:d>
                      <m:r>
                        <a:rPr lang="en-CA" sz="1600" b="0" i="1" smtClean="0">
                          <a:solidFill>
                            <a:schemeClr val="tx1"/>
                          </a:solidFill>
                          <a:latin typeface="Cambria Math" panose="02040503050406030204" pitchFamily="18" charset="0"/>
                        </a:rPr>
                        <m:t>=</m:t>
                      </m:r>
                      <m:nary>
                        <m:naryPr>
                          <m:chr m:val="∑"/>
                          <m:supHide m:val="on"/>
                          <m:ctrlPr>
                            <a:rPr lang="en-CA" sz="1600" b="0" i="1" smtClean="0">
                              <a:solidFill>
                                <a:schemeClr val="tx1"/>
                              </a:solidFill>
                              <a:latin typeface="Cambria Math" panose="02040503050406030204" pitchFamily="18" charset="0"/>
                            </a:rPr>
                          </m:ctrlPr>
                        </m:naryPr>
                        <m:sub>
                          <m:r>
                            <m:rPr>
                              <m:brk m:alnAt="7"/>
                            </m:rPr>
                            <a:rPr lang="en-CA" sz="1600" b="0" i="1" smtClean="0">
                              <a:solidFill>
                                <a:schemeClr val="tx1"/>
                              </a:solidFill>
                              <a:latin typeface="Cambria Math" panose="02040503050406030204" pitchFamily="18" charset="0"/>
                            </a:rPr>
                            <m:t>𝑘</m:t>
                          </m:r>
                        </m:sub>
                        <m:sup/>
                        <m:e>
                          <m:sSubSup>
                            <m:sSubSupPr>
                              <m:ctrlPr>
                                <a:rPr lang="en-CA" sz="1600" b="0" i="1" smtClean="0">
                                  <a:solidFill>
                                    <a:schemeClr val="tx1"/>
                                  </a:solidFill>
                                  <a:latin typeface="Cambria Math" panose="02040503050406030204" pitchFamily="18" charset="0"/>
                                </a:rPr>
                              </m:ctrlPr>
                            </m:sSubSupPr>
                            <m:e>
                              <m:r>
                                <a:rPr lang="en-CA" sz="1600" b="0" i="1" smtClean="0">
                                  <a:solidFill>
                                    <a:schemeClr val="tx1"/>
                                  </a:solidFill>
                                  <a:latin typeface="Cambria Math" panose="02040503050406030204" pitchFamily="18" charset="0"/>
                                </a:rPr>
                                <m:t>𝑆</m:t>
                              </m:r>
                            </m:e>
                            <m:sub>
                              <m:r>
                                <a:rPr lang="en-CA" sz="1600" b="0" i="1" smtClean="0">
                                  <a:solidFill>
                                    <a:schemeClr val="tx1"/>
                                  </a:solidFill>
                                  <a:latin typeface="Cambria Math" panose="02040503050406030204" pitchFamily="18" charset="0"/>
                                </a:rPr>
                                <m:t>𝑖𝑘</m:t>
                              </m:r>
                            </m:sub>
                            <m:sup>
                              <m:r>
                                <a:rPr lang="en-CA" sz="1600" b="0" i="1" smtClean="0">
                                  <a:solidFill>
                                    <a:schemeClr val="tx1"/>
                                  </a:solidFill>
                                  <a:latin typeface="Cambria Math" panose="02040503050406030204" pitchFamily="18" charset="0"/>
                                </a:rPr>
                                <m:t>−1</m:t>
                              </m:r>
                            </m:sup>
                          </m:sSubSup>
                          <m:sSub>
                            <m:sSubPr>
                              <m:ctrlPr>
                                <a:rPr lang="en-CA" sz="1600" b="0" i="1" smtClean="0">
                                  <a:solidFill>
                                    <a:schemeClr val="tx1"/>
                                  </a:solidFill>
                                  <a:latin typeface="Cambria Math" panose="02040503050406030204" pitchFamily="18" charset="0"/>
                                </a:rPr>
                              </m:ctrlPr>
                            </m:sSubPr>
                            <m:e>
                              <m:d>
                                <m:dPr>
                                  <m:ctrlPr>
                                    <a:rPr lang="en-CA" sz="1600" b="0" i="1" smtClean="0">
                                      <a:solidFill>
                                        <a:schemeClr val="tx1"/>
                                      </a:solidFill>
                                      <a:latin typeface="Cambria Math" panose="02040503050406030204" pitchFamily="18" charset="0"/>
                                    </a:rPr>
                                  </m:ctrlPr>
                                </m:dPr>
                                <m:e>
                                  <m:sSup>
                                    <m:sSupPr>
                                      <m:ctrlPr>
                                        <a:rPr lang="en-CA" sz="1600" i="1">
                                          <a:solidFill>
                                            <a:schemeClr val="tx1"/>
                                          </a:solidFill>
                                          <a:latin typeface="Cambria Math" panose="02040503050406030204" pitchFamily="18" charset="0"/>
                                        </a:rPr>
                                      </m:ctrlPr>
                                    </m:sSupPr>
                                    <m:e>
                                      <m:r>
                                        <a:rPr lang="en-CA" sz="1600" i="1">
                                          <a:solidFill>
                                            <a:schemeClr val="tx1"/>
                                          </a:solidFill>
                                          <a:latin typeface="Cambria Math" panose="02040503050406030204" pitchFamily="18" charset="0"/>
                                        </a:rPr>
                                        <m:t>𝑒</m:t>
                                      </m:r>
                                    </m:e>
                                    <m:sup>
                                      <m:sSup>
                                        <m:sSupPr>
                                          <m:ctrlPr>
                                            <a:rPr lang="en-CA" sz="1600" i="1">
                                              <a:solidFill>
                                                <a:schemeClr val="tx1"/>
                                              </a:solidFill>
                                              <a:latin typeface="Cambria Math" panose="02040503050406030204" pitchFamily="18" charset="0"/>
                                            </a:rPr>
                                          </m:ctrlPr>
                                        </m:sSupPr>
                                        <m:e>
                                          <m:r>
                                            <a:rPr lang="en-CA" sz="1600" i="1">
                                              <a:solidFill>
                                                <a:schemeClr val="tx1"/>
                                              </a:solidFill>
                                              <a:latin typeface="Cambria Math" panose="02040503050406030204" pitchFamily="18" charset="0"/>
                                            </a:rPr>
                                            <m:t>𝑆</m:t>
                                          </m:r>
                                        </m:e>
                                        <m:sup>
                                          <m:r>
                                            <a:rPr lang="en-CA" sz="1600" i="1">
                                              <a:solidFill>
                                                <a:schemeClr val="tx1"/>
                                              </a:solidFill>
                                              <a:latin typeface="Cambria Math" panose="02040503050406030204" pitchFamily="18" charset="0"/>
                                            </a:rPr>
                                            <m:t>−1</m:t>
                                          </m:r>
                                        </m:sup>
                                      </m:sSup>
                                      <m:r>
                                        <a:rPr lang="en-CA" sz="1600" i="1">
                                          <a:solidFill>
                                            <a:schemeClr val="tx1"/>
                                          </a:solidFill>
                                          <a:latin typeface="Cambria Math" panose="02040503050406030204" pitchFamily="18" charset="0"/>
                                        </a:rPr>
                                        <m:t>𝐴</m:t>
                                      </m:r>
                                      <m:r>
                                        <a:rPr lang="en-CA" sz="1600" b="0" i="1" smtClean="0">
                                          <a:solidFill>
                                            <a:schemeClr val="tx1"/>
                                          </a:solidFill>
                                          <a:latin typeface="Cambria Math" panose="02040503050406030204" pitchFamily="18" charset="0"/>
                                        </a:rPr>
                                        <m:t>𝑠</m:t>
                                      </m:r>
                                    </m:sup>
                                  </m:sSup>
                                </m:e>
                              </m:d>
                            </m:e>
                            <m:sub>
                              <m:r>
                                <a:rPr lang="en-CA" sz="1600" b="0" i="1" smtClean="0">
                                  <a:solidFill>
                                    <a:schemeClr val="tx1"/>
                                  </a:solidFill>
                                  <a:latin typeface="Cambria Math" panose="02040503050406030204" pitchFamily="18" charset="0"/>
                                </a:rPr>
                                <m:t>𝜇</m:t>
                              </m:r>
                              <m:r>
                                <a:rPr lang="en-CA" sz="1600" b="0" i="1" smtClean="0">
                                  <a:solidFill>
                                    <a:schemeClr val="tx1"/>
                                  </a:solidFill>
                                  <a:latin typeface="Cambria Math" panose="02040503050406030204" pitchFamily="18" charset="0"/>
                                </a:rPr>
                                <m:t>𝑘𝑗</m:t>
                              </m:r>
                            </m:sub>
                          </m:sSub>
                        </m:e>
                      </m:nary>
                      <m:r>
                        <a:rPr lang="en-CA" sz="1600" b="0" i="1" smtClean="0">
                          <a:solidFill>
                            <a:schemeClr val="tx1"/>
                          </a:solidFill>
                          <a:latin typeface="Cambria Math" panose="02040503050406030204" pitchFamily="18" charset="0"/>
                        </a:rPr>
                        <m:t>=</m:t>
                      </m:r>
                      <m:nary>
                        <m:naryPr>
                          <m:chr m:val="∑"/>
                          <m:supHide m:val="on"/>
                          <m:ctrlPr>
                            <a:rPr lang="en-CA" sz="1600" b="0" i="1" smtClean="0">
                              <a:solidFill>
                                <a:schemeClr val="tx1"/>
                              </a:solidFill>
                              <a:latin typeface="Cambria Math" panose="02040503050406030204" pitchFamily="18" charset="0"/>
                            </a:rPr>
                          </m:ctrlPr>
                        </m:naryPr>
                        <m:sub>
                          <m:r>
                            <m:rPr>
                              <m:brk m:alnAt="7"/>
                            </m:rPr>
                            <a:rPr lang="en-CA" sz="1600" b="0" i="1" smtClean="0">
                              <a:solidFill>
                                <a:schemeClr val="tx1"/>
                              </a:solidFill>
                              <a:latin typeface="Cambria Math" panose="02040503050406030204" pitchFamily="18" charset="0"/>
                            </a:rPr>
                            <m:t>𝑘</m:t>
                          </m:r>
                        </m:sub>
                        <m:sup/>
                        <m:e>
                          <m:sSub>
                            <m:sSubPr>
                              <m:ctrlPr>
                                <a:rPr lang="en-CA" sz="1600" b="0" i="1" smtClean="0">
                                  <a:solidFill>
                                    <a:schemeClr val="tx1"/>
                                  </a:solidFill>
                                  <a:latin typeface="Cambria Math" panose="02040503050406030204" pitchFamily="18" charset="0"/>
                                </a:rPr>
                              </m:ctrlPr>
                            </m:sSubPr>
                            <m:e>
                              <m:r>
                                <a:rPr lang="en-CA" sz="1600" b="0" i="1" smtClean="0">
                                  <a:solidFill>
                                    <a:schemeClr val="tx1"/>
                                  </a:solidFill>
                                  <a:latin typeface="Cambria Math" panose="02040503050406030204" pitchFamily="18" charset="0"/>
                                </a:rPr>
                                <m:t>𝑈</m:t>
                              </m:r>
                            </m:e>
                            <m:sub>
                              <m:r>
                                <a:rPr lang="en-CA" sz="1600" b="0" i="1" smtClean="0">
                                  <a:solidFill>
                                    <a:schemeClr val="tx1"/>
                                  </a:solidFill>
                                  <a:latin typeface="Cambria Math" panose="02040503050406030204" pitchFamily="18" charset="0"/>
                                </a:rPr>
                                <m:t>𝜇</m:t>
                              </m:r>
                              <m:r>
                                <a:rPr lang="en-CA" sz="1600" b="0" i="1" smtClean="0">
                                  <a:solidFill>
                                    <a:schemeClr val="tx1"/>
                                  </a:solidFill>
                                  <a:latin typeface="Cambria Math" panose="02040503050406030204" pitchFamily="18" charset="0"/>
                                </a:rPr>
                                <m:t>𝑖𝑘</m:t>
                              </m:r>
                            </m:sub>
                          </m:sSub>
                          <m:sSup>
                            <m:sSupPr>
                              <m:ctrlPr>
                                <a:rPr lang="en-CA" sz="1600" b="0" i="1" smtClean="0">
                                  <a:solidFill>
                                    <a:schemeClr val="tx1"/>
                                  </a:solidFill>
                                  <a:latin typeface="Cambria Math" panose="02040503050406030204" pitchFamily="18" charset="0"/>
                                </a:rPr>
                              </m:ctrlPr>
                            </m:sSupPr>
                            <m:e>
                              <m:r>
                                <a:rPr lang="en-CA" sz="1600" b="0" i="1" smtClean="0">
                                  <a:solidFill>
                                    <a:schemeClr val="tx1"/>
                                  </a:solidFill>
                                  <a:latin typeface="Cambria Math" panose="02040503050406030204" pitchFamily="18" charset="0"/>
                                </a:rPr>
                                <m:t>𝑒</m:t>
                              </m:r>
                            </m:e>
                            <m:sup>
                              <m:sSub>
                                <m:sSubPr>
                                  <m:ctrlPr>
                                    <a:rPr lang="en-CA" sz="1600" b="0" i="1" smtClean="0">
                                      <a:solidFill>
                                        <a:schemeClr val="tx1"/>
                                      </a:solidFill>
                                      <a:latin typeface="Cambria Math" panose="02040503050406030204" pitchFamily="18" charset="0"/>
                                    </a:rPr>
                                  </m:ctrlPr>
                                </m:sSubPr>
                                <m:e>
                                  <m:r>
                                    <a:rPr lang="en-CA" sz="1600" b="0" i="1" smtClean="0">
                                      <a:solidFill>
                                        <a:schemeClr val="tx1"/>
                                      </a:solidFill>
                                      <a:latin typeface="Cambria Math" panose="02040503050406030204" pitchFamily="18" charset="0"/>
                                    </a:rPr>
                                    <m:t>𝐷</m:t>
                                  </m:r>
                                </m:e>
                                <m:sub>
                                  <m:r>
                                    <a:rPr lang="en-CA" sz="1600" b="0" i="1" smtClean="0">
                                      <a:solidFill>
                                        <a:schemeClr val="tx1"/>
                                      </a:solidFill>
                                      <a:latin typeface="Cambria Math" panose="02040503050406030204" pitchFamily="18" charset="0"/>
                                    </a:rPr>
                                    <m:t>𝑘𝑘</m:t>
                                  </m:r>
                                </m:sub>
                              </m:sSub>
                              <m:r>
                                <a:rPr lang="en-CA" sz="1600" b="0" i="1" smtClean="0">
                                  <a:solidFill>
                                    <a:schemeClr val="tx1"/>
                                  </a:solidFill>
                                  <a:latin typeface="Cambria Math" panose="02040503050406030204" pitchFamily="18" charset="0"/>
                                </a:rPr>
                                <m:t>𝑠</m:t>
                              </m:r>
                            </m:sup>
                          </m:sSup>
                          <m:sSub>
                            <m:sSubPr>
                              <m:ctrlPr>
                                <a:rPr lang="en-CA" sz="1600" b="0" i="1" smtClean="0">
                                  <a:solidFill>
                                    <a:schemeClr val="tx1"/>
                                  </a:solidFill>
                                  <a:latin typeface="Cambria Math" panose="02040503050406030204" pitchFamily="18" charset="0"/>
                                </a:rPr>
                              </m:ctrlPr>
                            </m:sSubPr>
                            <m:e>
                              <m:r>
                                <a:rPr lang="en-CA" sz="1600" b="0" i="1" smtClean="0">
                                  <a:solidFill>
                                    <a:schemeClr val="tx1"/>
                                  </a:solidFill>
                                  <a:latin typeface="Cambria Math" panose="02040503050406030204" pitchFamily="18" charset="0"/>
                                </a:rPr>
                                <m:t>𝑈</m:t>
                              </m:r>
                            </m:e>
                            <m:sub>
                              <m:r>
                                <a:rPr lang="en-CA" sz="1600" b="0" i="1" smtClean="0">
                                  <a:solidFill>
                                    <a:schemeClr val="tx1"/>
                                  </a:solidFill>
                                  <a:latin typeface="Cambria Math" panose="02040503050406030204" pitchFamily="18" charset="0"/>
                                </a:rPr>
                                <m:t>𝜇</m:t>
                              </m:r>
                              <m:r>
                                <a:rPr lang="en-CA" sz="1600" b="0" i="1" smtClean="0">
                                  <a:solidFill>
                                    <a:schemeClr val="tx1"/>
                                  </a:solidFill>
                                  <a:latin typeface="Cambria Math" panose="02040503050406030204" pitchFamily="18" charset="0"/>
                                </a:rPr>
                                <m:t>𝑘𝑗</m:t>
                              </m:r>
                            </m:sub>
                          </m:sSub>
                        </m:e>
                      </m:nary>
                      <m:r>
                        <a:rPr lang="en-CA" sz="1600" b="0" i="1" smtClean="0">
                          <a:solidFill>
                            <a:schemeClr val="tx1"/>
                          </a:solidFill>
                          <a:latin typeface="Cambria Math" panose="02040503050406030204" pitchFamily="18" charset="0"/>
                        </a:rPr>
                        <m:t>    </m:t>
                      </m:r>
                      <m:r>
                        <a:rPr lang="en-CA" sz="1600" b="0" i="1" smtClean="0">
                          <a:solidFill>
                            <a:schemeClr val="tx1"/>
                          </a:solidFill>
                          <a:latin typeface="Cambria Math" panose="02040503050406030204" pitchFamily="18" charset="0"/>
                          <a:ea typeface="Cambria Math" panose="02040503050406030204" pitchFamily="18" charset="0"/>
                        </a:rPr>
                        <m:t>→</m:t>
                      </m:r>
                    </m:oMath>
                  </m:oMathPara>
                </a14:m>
                <a:endParaRPr lang="en-CA" sz="1600" dirty="0"/>
              </a:p>
            </p:txBody>
          </p:sp>
        </mc:Choice>
        <mc:Fallback xmlns="">
          <p:sp>
            <p:nvSpPr>
              <p:cNvPr id="14" name="TextBox 13">
                <a:extLst>
                  <a:ext uri="{FF2B5EF4-FFF2-40B4-BE49-F238E27FC236}">
                    <a16:creationId xmlns:a16="http://schemas.microsoft.com/office/drawing/2014/main" id="{158756AA-AE55-43DC-BE90-1CEB894F93BD}"/>
                  </a:ext>
                </a:extLst>
              </p:cNvPr>
              <p:cNvSpPr txBox="1">
                <a:spLocks noRot="1" noChangeAspect="1" noMove="1" noResize="1" noEditPoints="1" noAdjustHandles="1" noChangeArrowheads="1" noChangeShapeType="1" noTextEdit="1"/>
              </p:cNvSpPr>
              <p:nvPr/>
            </p:nvSpPr>
            <p:spPr>
              <a:xfrm>
                <a:off x="1103868" y="5402600"/>
                <a:ext cx="6166882" cy="689804"/>
              </a:xfrm>
              <a:prstGeom prst="rect">
                <a:avLst/>
              </a:prstGeom>
              <a:blipFill>
                <a:blip r:embed="rId10"/>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5944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12" grpId="0"/>
      <p:bldP spid="13"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Non-Orthogonal Basis Set Expansions</a:t>
            </a:r>
          </a:p>
        </p:txBody>
      </p:sp>
      <p:sp>
        <p:nvSpPr>
          <p:cNvPr id="8" name="Slide Number Placeholder 7">
            <a:extLst>
              <a:ext uri="{FF2B5EF4-FFF2-40B4-BE49-F238E27FC236}">
                <a16:creationId xmlns:a16="http://schemas.microsoft.com/office/drawing/2014/main" id="{365AFE75-5A7E-409B-98EA-97616DA83A60}"/>
              </a:ext>
            </a:extLst>
          </p:cNvPr>
          <p:cNvSpPr>
            <a:spLocks noGrp="1"/>
          </p:cNvSpPr>
          <p:nvPr>
            <p:ph type="sldNum" sz="quarter" idx="12"/>
          </p:nvPr>
        </p:nvSpPr>
        <p:spPr/>
        <p:txBody>
          <a:bodyPr/>
          <a:lstStyle/>
          <a:p>
            <a:r>
              <a:rPr lang="en-US"/>
              <a:t>PAGE  </a:t>
            </a:r>
            <a:fld id="{93005692-73BE-493E-93AB-ECD6027A7652}" type="slidenum">
              <a:rPr lang="en-US" smtClean="0"/>
              <a:pPr/>
              <a:t>21</a:t>
            </a:fld>
            <a:endParaRPr lang="en-US" dirty="0"/>
          </a:p>
        </p:txBody>
      </p:sp>
      <p:pic>
        <p:nvPicPr>
          <p:cNvPr id="9" name="Picture 8">
            <a:extLst>
              <a:ext uri="{FF2B5EF4-FFF2-40B4-BE49-F238E27FC236}">
                <a16:creationId xmlns:a16="http://schemas.microsoft.com/office/drawing/2014/main" id="{BBB7C3BF-C02E-4660-B586-029FEBF95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sp>
        <p:nvSpPr>
          <p:cNvPr id="11" name="Rectangle 10">
            <a:extLst>
              <a:ext uri="{FF2B5EF4-FFF2-40B4-BE49-F238E27FC236}">
                <a16:creationId xmlns:a16="http://schemas.microsoft.com/office/drawing/2014/main" id="{F8E0157C-F88B-4DF5-9F43-8D204DBC8172}"/>
              </a:ext>
            </a:extLst>
          </p:cNvPr>
          <p:cNvSpPr/>
          <p:nvPr/>
        </p:nvSpPr>
        <p:spPr>
          <a:xfrm>
            <a:off x="550677" y="1912812"/>
            <a:ext cx="9471395" cy="923330"/>
          </a:xfrm>
          <a:prstGeom prst="rect">
            <a:avLst/>
          </a:prstGeom>
        </p:spPr>
        <p:txBody>
          <a:bodyPr wrap="square">
            <a:spAutoFit/>
          </a:bodyPr>
          <a:lstStyle/>
          <a:p>
            <a:pPr marL="742950" lvl="1" indent="-285750">
              <a:buFont typeface="Arial" panose="020B0604020202020204" pitchFamily="34" charset="0"/>
              <a:buChar char="•"/>
            </a:pPr>
            <a:r>
              <a:rPr lang="en-CA" dirty="0">
                <a:solidFill>
                  <a:srgbClr val="000000"/>
                </a:solidFill>
                <a:latin typeface="Barlow Condensed"/>
              </a:rPr>
              <a:t>Have a very suitable form for atomic systems allowing for relatively good resolution with a modest sized basis</a:t>
            </a:r>
          </a:p>
          <a:p>
            <a:pPr marL="742950" lvl="1" indent="-285750">
              <a:buFont typeface="Arial" panose="020B0604020202020204" pitchFamily="34" charset="0"/>
              <a:buChar char="•"/>
            </a:pPr>
            <a:r>
              <a:rPr lang="en-CA" dirty="0">
                <a:solidFill>
                  <a:srgbClr val="000000"/>
                </a:solidFill>
                <a:latin typeface="Barlow Condensed"/>
              </a:rPr>
              <a:t>Allow integrals to be evaluated quickly and analytically</a:t>
            </a:r>
          </a:p>
          <a:p>
            <a:pPr marL="742950" lvl="1" indent="-285750">
              <a:buFont typeface="Arial" panose="020B0604020202020204" pitchFamily="34" charset="0"/>
              <a:buChar char="•"/>
            </a:pPr>
            <a:r>
              <a:rPr lang="en-CA" dirty="0">
                <a:solidFill>
                  <a:srgbClr val="000000"/>
                </a:solidFill>
                <a:latin typeface="Barlow Condensed"/>
              </a:rPr>
              <a:t>Give us the opportunity to explore angular degrees of freedom in atomic systems</a:t>
            </a:r>
          </a:p>
        </p:txBody>
      </p:sp>
      <p:sp>
        <p:nvSpPr>
          <p:cNvPr id="6" name="TextBox 5">
            <a:extLst>
              <a:ext uri="{FF2B5EF4-FFF2-40B4-BE49-F238E27FC236}">
                <a16:creationId xmlns:a16="http://schemas.microsoft.com/office/drawing/2014/main" id="{7C0397A9-824F-45A2-87F0-235039132087}"/>
              </a:ext>
            </a:extLst>
          </p:cNvPr>
          <p:cNvSpPr txBox="1"/>
          <p:nvPr/>
        </p:nvSpPr>
        <p:spPr>
          <a:xfrm>
            <a:off x="523875" y="1487865"/>
            <a:ext cx="4165083" cy="677108"/>
          </a:xfrm>
          <a:prstGeom prst="rect">
            <a:avLst/>
          </a:prstGeom>
          <a:noFill/>
        </p:spPr>
        <p:txBody>
          <a:bodyPr wrap="square" rtlCol="0">
            <a:spAutoFit/>
          </a:bodyPr>
          <a:lstStyle/>
          <a:p>
            <a:r>
              <a:rPr lang="en-CA" sz="2000" dirty="0">
                <a:solidFill>
                  <a:srgbClr val="000000"/>
                </a:solidFill>
                <a:latin typeface="Barlow Condensed"/>
              </a:rPr>
              <a:t>Gaussian basis sets in spherical coordinates:</a:t>
            </a:r>
          </a:p>
          <a:p>
            <a:endParaRPr lang="en-CA" dirty="0"/>
          </a:p>
        </p:txBody>
      </p:sp>
      <p:sp>
        <p:nvSpPr>
          <p:cNvPr id="12" name="TextBox 11">
            <a:extLst>
              <a:ext uri="{FF2B5EF4-FFF2-40B4-BE49-F238E27FC236}">
                <a16:creationId xmlns:a16="http://schemas.microsoft.com/office/drawing/2014/main" id="{4D65037F-E4F0-4CA0-A033-9BAD44C54416}"/>
              </a:ext>
            </a:extLst>
          </p:cNvPr>
          <p:cNvSpPr txBox="1"/>
          <p:nvPr/>
        </p:nvSpPr>
        <p:spPr>
          <a:xfrm>
            <a:off x="523875" y="5127963"/>
            <a:ext cx="9115139"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Angular dependence Introduces new term into the gamma tensor: the integral over three real spherical harmonics, also known as the real Gaunt coefficients</a:t>
            </a:r>
          </a:p>
        </p:txBody>
      </p:sp>
      <p:sp>
        <p:nvSpPr>
          <p:cNvPr id="21" name="TextBox 20">
            <a:extLst>
              <a:ext uri="{FF2B5EF4-FFF2-40B4-BE49-F238E27FC236}">
                <a16:creationId xmlns:a16="http://schemas.microsoft.com/office/drawing/2014/main" id="{2387EB23-2416-4894-B52F-D959E632C43A}"/>
              </a:ext>
            </a:extLst>
          </p:cNvPr>
          <p:cNvSpPr txBox="1"/>
          <p:nvPr/>
        </p:nvSpPr>
        <p:spPr>
          <a:xfrm>
            <a:off x="523875" y="3296093"/>
            <a:ext cx="9821162" cy="400110"/>
          </a:xfrm>
          <a:prstGeom prst="rect">
            <a:avLst/>
          </a:prstGeom>
          <a:noFill/>
        </p:spPr>
        <p:txBody>
          <a:bodyPr wrap="square" rtlCol="0">
            <a:spAutoFit/>
          </a:bodyPr>
          <a:lstStyle/>
          <a:p>
            <a:r>
              <a:rPr lang="en-CA" sz="2000" dirty="0">
                <a:latin typeface="+mj-lt"/>
              </a:rPr>
              <a:t>New Dangers:</a:t>
            </a: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3366B27D-651E-4C64-A928-4A33B4F916C3}"/>
                  </a:ext>
                </a:extLst>
              </p:cNvPr>
              <p:cNvSpPr/>
              <p:nvPr/>
            </p:nvSpPr>
            <p:spPr>
              <a:xfrm>
                <a:off x="577480" y="3785626"/>
                <a:ext cx="9471395" cy="923330"/>
              </a:xfrm>
              <a:prstGeom prst="rect">
                <a:avLst/>
              </a:prstGeom>
            </p:spPr>
            <p:txBody>
              <a:bodyPr wrap="square">
                <a:spAutoFit/>
              </a:bodyPr>
              <a:lstStyle/>
              <a:p>
                <a:pPr marL="742950" lvl="1" indent="-285750">
                  <a:buFont typeface="Arial" panose="020B0604020202020204" pitchFamily="34" charset="0"/>
                  <a:buChar char="•"/>
                </a:pPr>
                <a:r>
                  <a:rPr lang="en-CA" dirty="0">
                    <a:solidFill>
                      <a:srgbClr val="000000"/>
                    </a:solidFill>
                    <a:latin typeface="Barlow Condensed"/>
                  </a:rPr>
                  <a:t>Arbitrary parameters </a:t>
                </a:r>
                <a14:m>
                  <m:oMath xmlns:m="http://schemas.openxmlformats.org/officeDocument/2006/math">
                    <m:sSub>
                      <m:sSubPr>
                        <m:ctrlPr>
                          <a:rPr lang="en-CA" b="0" i="1" smtClean="0">
                            <a:solidFill>
                              <a:srgbClr val="000000"/>
                            </a:solidFill>
                            <a:latin typeface="Cambria Math" panose="02040503050406030204" pitchFamily="18" charset="0"/>
                          </a:rPr>
                        </m:ctrlPr>
                      </m:sSubPr>
                      <m:e>
                        <m:r>
                          <a:rPr lang="en-CA" b="0" i="1" smtClean="0">
                            <a:solidFill>
                              <a:srgbClr val="000000"/>
                            </a:solidFill>
                            <a:latin typeface="Cambria Math" panose="02040503050406030204" pitchFamily="18" charset="0"/>
                          </a:rPr>
                          <m:t>𝑐</m:t>
                        </m:r>
                      </m:e>
                      <m:sub>
                        <m:r>
                          <a:rPr lang="en-CA" b="0" i="1" smtClean="0">
                            <a:solidFill>
                              <a:srgbClr val="000000"/>
                            </a:solidFill>
                            <a:latin typeface="Cambria Math" panose="02040503050406030204" pitchFamily="18" charset="0"/>
                          </a:rPr>
                          <m:t>𝑛</m:t>
                        </m:r>
                      </m:sub>
                    </m:sSub>
                  </m:oMath>
                </a14:m>
                <a:r>
                  <a:rPr lang="en-CA" dirty="0">
                    <a:solidFill>
                      <a:srgbClr val="000000"/>
                    </a:solidFill>
                    <a:latin typeface="Barlow Condensed"/>
                  </a:rPr>
                  <a:t> have been introduced and we need a way to choose them appropriately so the basis set spans the space well</a:t>
                </a:r>
              </a:p>
              <a:p>
                <a:pPr marL="742950" lvl="1" indent="-285750">
                  <a:buFont typeface="Arial" panose="020B0604020202020204" pitchFamily="34" charset="0"/>
                  <a:buChar char="•"/>
                </a:pPr>
                <a:r>
                  <a:rPr lang="en-CA" dirty="0">
                    <a:solidFill>
                      <a:srgbClr val="000000"/>
                    </a:solidFill>
                    <a:latin typeface="Barlow Condensed"/>
                  </a:rPr>
                  <a:t>Nonorthogonality of basis functions can lead to linear dependence errors in calculations</a:t>
                </a:r>
              </a:p>
            </p:txBody>
          </p:sp>
        </mc:Choice>
        <mc:Fallback xmlns="">
          <p:sp>
            <p:nvSpPr>
              <p:cNvPr id="22" name="Rectangle 21">
                <a:extLst>
                  <a:ext uri="{FF2B5EF4-FFF2-40B4-BE49-F238E27FC236}">
                    <a16:creationId xmlns:a16="http://schemas.microsoft.com/office/drawing/2014/main" id="{3366B27D-651E-4C64-A928-4A33B4F916C3}"/>
                  </a:ext>
                </a:extLst>
              </p:cNvPr>
              <p:cNvSpPr>
                <a:spLocks noRot="1" noChangeAspect="1" noMove="1" noResize="1" noEditPoints="1" noAdjustHandles="1" noChangeArrowheads="1" noChangeShapeType="1" noTextEdit="1"/>
              </p:cNvSpPr>
              <p:nvPr/>
            </p:nvSpPr>
            <p:spPr>
              <a:xfrm>
                <a:off x="577480" y="3785626"/>
                <a:ext cx="9471395" cy="923330"/>
              </a:xfrm>
              <a:prstGeom prst="rect">
                <a:avLst/>
              </a:prstGeom>
              <a:blipFill>
                <a:blip r:embed="rId4"/>
                <a:stretch>
                  <a:fillRect t="-3311" r="-64" b="-10596"/>
                </a:stretch>
              </a:blipFill>
            </p:spPr>
            <p:txBody>
              <a:bodyPr/>
              <a:lstStyle/>
              <a:p>
                <a:r>
                  <a:rPr lang="en-CA">
                    <a:noFill/>
                  </a:rPr>
                  <a:t> </a:t>
                </a:r>
              </a:p>
            </p:txBody>
          </p:sp>
        </mc:Fallback>
      </mc:AlternateContent>
    </p:spTree>
    <p:extLst>
      <p:ext uri="{BB962C8B-B14F-4D97-AF65-F5344CB8AC3E}">
        <p14:creationId xmlns:p14="http://schemas.microsoft.com/office/powerpoint/2010/main" val="4150896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Results – Atomic Binding Energies</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22</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2E9620A-49AF-4CD3-A610-965AE5D7CDDB}"/>
                  </a:ext>
                </a:extLst>
              </p:cNvPr>
              <p:cNvSpPr txBox="1"/>
              <p:nvPr/>
            </p:nvSpPr>
            <p:spPr>
              <a:xfrm>
                <a:off x="9873696" y="1504054"/>
                <a:ext cx="2173657" cy="1754326"/>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mj-lt"/>
                  </a:rPr>
                  <a:t>The errors in the binding energy values are </a:t>
                </a:r>
                <a14:m>
                  <m:oMath xmlns:m="http://schemas.openxmlformats.org/officeDocument/2006/math">
                    <m:r>
                      <a:rPr lang="en-CA" b="0" i="1" smtClean="0">
                        <a:latin typeface="Cambria Math" panose="02040503050406030204" pitchFamily="18" charset="0"/>
                      </a:rPr>
                      <m:t>±1</m:t>
                    </m:r>
                  </m:oMath>
                </a14:m>
                <a:r>
                  <a:rPr lang="en-CA" dirty="0">
                    <a:latin typeface="+mj-lt"/>
                  </a:rPr>
                  <a:t> of the last digit reported and reflect numerical accuracy only</a:t>
                </a:r>
              </a:p>
            </p:txBody>
          </p:sp>
        </mc:Choice>
        <mc:Fallback xmlns="">
          <p:sp>
            <p:nvSpPr>
              <p:cNvPr id="4" name="TextBox 3">
                <a:extLst>
                  <a:ext uri="{FF2B5EF4-FFF2-40B4-BE49-F238E27FC236}">
                    <a16:creationId xmlns:a16="http://schemas.microsoft.com/office/drawing/2014/main" id="{E2E9620A-49AF-4CD3-A610-965AE5D7CDDB}"/>
                  </a:ext>
                </a:extLst>
              </p:cNvPr>
              <p:cNvSpPr txBox="1">
                <a:spLocks noRot="1" noChangeAspect="1" noMove="1" noResize="1" noEditPoints="1" noAdjustHandles="1" noChangeArrowheads="1" noChangeShapeType="1" noTextEdit="1"/>
              </p:cNvSpPr>
              <p:nvPr/>
            </p:nvSpPr>
            <p:spPr>
              <a:xfrm>
                <a:off x="9873696" y="1504054"/>
                <a:ext cx="2173657" cy="1754326"/>
              </a:xfrm>
              <a:prstGeom prst="rect">
                <a:avLst/>
              </a:prstGeom>
              <a:blipFill>
                <a:blip r:embed="rId4"/>
                <a:stretch>
                  <a:fillRect l="-1966" t="-1736" r="-4213" b="-4861"/>
                </a:stretch>
              </a:blipFill>
            </p:spPr>
            <p:txBody>
              <a:bodyPr/>
              <a:lstStyle/>
              <a:p>
                <a:r>
                  <a:rPr lang="en-CA">
                    <a:noFill/>
                  </a:rPr>
                  <a:t> </a:t>
                </a:r>
              </a:p>
            </p:txBody>
          </p:sp>
        </mc:Fallback>
      </mc:AlternateContent>
      <p:pic>
        <p:nvPicPr>
          <p:cNvPr id="6" name="Picture 5">
            <a:extLst>
              <a:ext uri="{FF2B5EF4-FFF2-40B4-BE49-F238E27FC236}">
                <a16:creationId xmlns:a16="http://schemas.microsoft.com/office/drawing/2014/main" id="{57894A64-C67D-40C8-9FB8-9146E347B84A}"/>
              </a:ext>
            </a:extLst>
          </p:cNvPr>
          <p:cNvPicPr>
            <a:picLocks noChangeAspect="1"/>
          </p:cNvPicPr>
          <p:nvPr/>
        </p:nvPicPr>
        <p:blipFill rotWithShape="1">
          <a:blip r:embed="rId5"/>
          <a:srcRect l="2317" t="1056" r="2070" b="36961"/>
          <a:stretch/>
        </p:blipFill>
        <p:spPr>
          <a:xfrm>
            <a:off x="157162" y="1363445"/>
            <a:ext cx="3079799" cy="4713505"/>
          </a:xfrm>
          <a:prstGeom prst="rect">
            <a:avLst/>
          </a:prstGeom>
        </p:spPr>
      </p:pic>
      <p:grpSp>
        <p:nvGrpSpPr>
          <p:cNvPr id="21" name="Group 20">
            <a:extLst>
              <a:ext uri="{FF2B5EF4-FFF2-40B4-BE49-F238E27FC236}">
                <a16:creationId xmlns:a16="http://schemas.microsoft.com/office/drawing/2014/main" id="{3A7D7431-D022-4433-9C42-F8EA41CC6C7F}"/>
              </a:ext>
            </a:extLst>
          </p:cNvPr>
          <p:cNvGrpSpPr/>
          <p:nvPr/>
        </p:nvGrpSpPr>
        <p:grpSpPr>
          <a:xfrm>
            <a:off x="3368318" y="1363445"/>
            <a:ext cx="3153200" cy="4783017"/>
            <a:chOff x="3366586" y="1342543"/>
            <a:chExt cx="3153200" cy="4783017"/>
          </a:xfrm>
        </p:grpSpPr>
        <p:grpSp>
          <p:nvGrpSpPr>
            <p:cNvPr id="15" name="Group 14">
              <a:extLst>
                <a:ext uri="{FF2B5EF4-FFF2-40B4-BE49-F238E27FC236}">
                  <a16:creationId xmlns:a16="http://schemas.microsoft.com/office/drawing/2014/main" id="{EEB03E1D-64DB-4608-B22D-D3659B1622A1}"/>
                </a:ext>
              </a:extLst>
            </p:cNvPr>
            <p:cNvGrpSpPr/>
            <p:nvPr/>
          </p:nvGrpSpPr>
          <p:grpSpPr>
            <a:xfrm>
              <a:off x="3370050" y="1504054"/>
              <a:ext cx="3149736" cy="4621506"/>
              <a:chOff x="3281784" y="1504054"/>
              <a:chExt cx="3149736" cy="4621506"/>
            </a:xfrm>
          </p:grpSpPr>
          <p:pic>
            <p:nvPicPr>
              <p:cNvPr id="16" name="Picture 15">
                <a:extLst>
                  <a:ext uri="{FF2B5EF4-FFF2-40B4-BE49-F238E27FC236}">
                    <a16:creationId xmlns:a16="http://schemas.microsoft.com/office/drawing/2014/main" id="{175E5C4A-5181-44B1-BBF3-9769F7EC1363}"/>
                  </a:ext>
                </a:extLst>
              </p:cNvPr>
              <p:cNvPicPr>
                <a:picLocks noChangeAspect="1"/>
              </p:cNvPicPr>
              <p:nvPr/>
            </p:nvPicPr>
            <p:blipFill rotWithShape="1">
              <a:blip r:embed="rId5"/>
              <a:srcRect l="2570" t="62970" r="1334" b="234"/>
              <a:stretch/>
            </p:blipFill>
            <p:spPr>
              <a:xfrm>
                <a:off x="3281784" y="1504054"/>
                <a:ext cx="3149736" cy="2801246"/>
              </a:xfrm>
              <a:prstGeom prst="rect">
                <a:avLst/>
              </a:prstGeom>
            </p:spPr>
          </p:pic>
          <p:pic>
            <p:nvPicPr>
              <p:cNvPr id="17" name="Picture 16">
                <a:extLst>
                  <a:ext uri="{FF2B5EF4-FFF2-40B4-BE49-F238E27FC236}">
                    <a16:creationId xmlns:a16="http://schemas.microsoft.com/office/drawing/2014/main" id="{613D45EA-05A7-4550-A173-68EA1DC482AA}"/>
                  </a:ext>
                </a:extLst>
              </p:cNvPr>
              <p:cNvPicPr>
                <a:picLocks noChangeAspect="1"/>
              </p:cNvPicPr>
              <p:nvPr/>
            </p:nvPicPr>
            <p:blipFill rotWithShape="1">
              <a:blip r:embed="rId6"/>
              <a:srcRect l="2775" t="2279" r="2775" b="67015"/>
              <a:stretch/>
            </p:blipFill>
            <p:spPr>
              <a:xfrm>
                <a:off x="3281784" y="4287235"/>
                <a:ext cx="3149736" cy="1838325"/>
              </a:xfrm>
              <a:prstGeom prst="rect">
                <a:avLst/>
              </a:prstGeom>
            </p:spPr>
          </p:pic>
        </p:grpSp>
        <p:pic>
          <p:nvPicPr>
            <p:cNvPr id="19" name="Picture 18">
              <a:extLst>
                <a:ext uri="{FF2B5EF4-FFF2-40B4-BE49-F238E27FC236}">
                  <a16:creationId xmlns:a16="http://schemas.microsoft.com/office/drawing/2014/main" id="{AC1BC777-EDF7-4481-BD6A-121011497D91}"/>
                </a:ext>
              </a:extLst>
            </p:cNvPr>
            <p:cNvPicPr>
              <a:picLocks noChangeAspect="1"/>
            </p:cNvPicPr>
            <p:nvPr/>
          </p:nvPicPr>
          <p:blipFill rotWithShape="1">
            <a:blip r:embed="rId5"/>
            <a:srcRect l="2317" t="1056" r="2070" b="96490"/>
            <a:stretch/>
          </p:blipFill>
          <p:spPr>
            <a:xfrm>
              <a:off x="3366586" y="1342543"/>
              <a:ext cx="3149736" cy="190839"/>
            </a:xfrm>
            <a:prstGeom prst="rect">
              <a:avLst/>
            </a:prstGeom>
          </p:spPr>
        </p:pic>
      </p:grpSp>
      <p:grpSp>
        <p:nvGrpSpPr>
          <p:cNvPr id="22" name="Group 21">
            <a:extLst>
              <a:ext uri="{FF2B5EF4-FFF2-40B4-BE49-F238E27FC236}">
                <a16:creationId xmlns:a16="http://schemas.microsoft.com/office/drawing/2014/main" id="{F7F6E940-B52F-415A-A614-E402BAEFFB77}"/>
              </a:ext>
            </a:extLst>
          </p:cNvPr>
          <p:cNvGrpSpPr/>
          <p:nvPr/>
        </p:nvGrpSpPr>
        <p:grpSpPr>
          <a:xfrm>
            <a:off x="6656339" y="1363445"/>
            <a:ext cx="3149736" cy="4202956"/>
            <a:chOff x="6652875" y="1316496"/>
            <a:chExt cx="3149736" cy="4202956"/>
          </a:xfrm>
        </p:grpSpPr>
        <p:pic>
          <p:nvPicPr>
            <p:cNvPr id="14" name="Picture 13">
              <a:extLst>
                <a:ext uri="{FF2B5EF4-FFF2-40B4-BE49-F238E27FC236}">
                  <a16:creationId xmlns:a16="http://schemas.microsoft.com/office/drawing/2014/main" id="{B77D7881-07B8-4DEE-953F-0C5686A5B8B7}"/>
                </a:ext>
              </a:extLst>
            </p:cNvPr>
            <p:cNvPicPr>
              <a:picLocks noChangeAspect="1"/>
            </p:cNvPicPr>
            <p:nvPr/>
          </p:nvPicPr>
          <p:blipFill rotWithShape="1">
            <a:blip r:embed="rId6"/>
            <a:srcRect l="2172" t="32530" r="1581" b="602"/>
            <a:stretch/>
          </p:blipFill>
          <p:spPr>
            <a:xfrm>
              <a:off x="6652875" y="1499011"/>
              <a:ext cx="3149736" cy="4020441"/>
            </a:xfrm>
            <a:prstGeom prst="rect">
              <a:avLst/>
            </a:prstGeom>
          </p:spPr>
        </p:pic>
        <p:pic>
          <p:nvPicPr>
            <p:cNvPr id="20" name="Picture 19">
              <a:extLst>
                <a:ext uri="{FF2B5EF4-FFF2-40B4-BE49-F238E27FC236}">
                  <a16:creationId xmlns:a16="http://schemas.microsoft.com/office/drawing/2014/main" id="{C584DB52-0EA2-4A31-9620-00B30DAEE3CA}"/>
                </a:ext>
              </a:extLst>
            </p:cNvPr>
            <p:cNvPicPr>
              <a:picLocks noChangeAspect="1"/>
            </p:cNvPicPr>
            <p:nvPr/>
          </p:nvPicPr>
          <p:blipFill rotWithShape="1">
            <a:blip r:embed="rId5"/>
            <a:srcRect l="2317" t="1056" r="2070" b="96490"/>
            <a:stretch/>
          </p:blipFill>
          <p:spPr>
            <a:xfrm>
              <a:off x="6652875" y="1316496"/>
              <a:ext cx="3149736" cy="190839"/>
            </a:xfrm>
            <a:prstGeom prst="rect">
              <a:avLst/>
            </a:prstGeom>
          </p:spPr>
        </p:pic>
      </p:grpSp>
      <p:sp>
        <p:nvSpPr>
          <p:cNvPr id="23" name="TextBox 22">
            <a:extLst>
              <a:ext uri="{FF2B5EF4-FFF2-40B4-BE49-F238E27FC236}">
                <a16:creationId xmlns:a16="http://schemas.microsoft.com/office/drawing/2014/main" id="{1AABBBC4-20DE-4E58-849D-44038CAEA6DB}"/>
              </a:ext>
            </a:extLst>
          </p:cNvPr>
          <p:cNvSpPr txBox="1"/>
          <p:nvPr/>
        </p:nvSpPr>
        <p:spPr>
          <a:xfrm>
            <a:off x="7890164" y="6335309"/>
            <a:ext cx="4739241" cy="307777"/>
          </a:xfrm>
          <a:prstGeom prst="rect">
            <a:avLst/>
          </a:prstGeom>
          <a:noFill/>
        </p:spPr>
        <p:txBody>
          <a:bodyPr wrap="square" rtlCol="0">
            <a:spAutoFit/>
          </a:bodyPr>
          <a:lstStyle/>
          <a:p>
            <a:r>
              <a:rPr lang="en-CA" sz="1400" dirty="0">
                <a:latin typeface="+mj-lt"/>
              </a:rPr>
              <a:t>All Hartree-</a:t>
            </a:r>
            <a:r>
              <a:rPr lang="en-CA" sz="1400" dirty="0" err="1">
                <a:latin typeface="+mj-lt"/>
              </a:rPr>
              <a:t>Fock</a:t>
            </a:r>
            <a:r>
              <a:rPr lang="en-CA" sz="1400" dirty="0">
                <a:latin typeface="+mj-lt"/>
              </a:rPr>
              <a:t> data are from (T. Koga &amp; A. J. </a:t>
            </a:r>
            <a:r>
              <a:rPr lang="en-CA" sz="1400" dirty="0" err="1">
                <a:latin typeface="+mj-lt"/>
              </a:rPr>
              <a:t>Thakker</a:t>
            </a:r>
            <a:r>
              <a:rPr lang="en-CA" sz="1400" dirty="0">
                <a:latin typeface="+mj-lt"/>
              </a:rPr>
              <a:t>, 1996)</a:t>
            </a:r>
          </a:p>
        </p:txBody>
      </p:sp>
      <p:sp>
        <p:nvSpPr>
          <p:cNvPr id="24" name="TextBox 23">
            <a:extLst>
              <a:ext uri="{FF2B5EF4-FFF2-40B4-BE49-F238E27FC236}">
                <a16:creationId xmlns:a16="http://schemas.microsoft.com/office/drawing/2014/main" id="{60675874-28F2-4B02-A032-5C361632A947}"/>
              </a:ext>
            </a:extLst>
          </p:cNvPr>
          <p:cNvSpPr txBox="1"/>
          <p:nvPr/>
        </p:nvSpPr>
        <p:spPr>
          <a:xfrm>
            <a:off x="6792408" y="5566401"/>
            <a:ext cx="2195512" cy="307777"/>
          </a:xfrm>
          <a:prstGeom prst="rect">
            <a:avLst/>
          </a:prstGeom>
          <a:noFill/>
        </p:spPr>
        <p:txBody>
          <a:bodyPr wrap="square" rtlCol="0">
            <a:spAutoFit/>
          </a:bodyPr>
          <a:lstStyle/>
          <a:p>
            <a:r>
              <a:rPr lang="en-CA" sz="1400" dirty="0">
                <a:latin typeface="+mj-lt"/>
              </a:rPr>
              <a:t>(All units given in </a:t>
            </a:r>
            <a:r>
              <a:rPr lang="en-CA" sz="1400" dirty="0" err="1">
                <a:latin typeface="+mj-lt"/>
              </a:rPr>
              <a:t>Hartrees</a:t>
            </a:r>
            <a:r>
              <a:rPr lang="en-CA" sz="1400" dirty="0">
                <a:latin typeface="+mj-lt"/>
              </a:rPr>
              <a:t>)</a:t>
            </a:r>
          </a:p>
        </p:txBody>
      </p:sp>
    </p:spTree>
    <p:extLst>
      <p:ext uri="{BB962C8B-B14F-4D97-AF65-F5344CB8AC3E}">
        <p14:creationId xmlns:p14="http://schemas.microsoft.com/office/powerpoint/2010/main" val="3308797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4E6CACD-1605-4A79-B526-999957BFA3B2}"/>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ED89338-0445-4262-8D84-9936E849F3B7}"/>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NIST Atomic Binding Energies</a:t>
            </a:r>
          </a:p>
        </p:txBody>
      </p:sp>
      <p:sp>
        <p:nvSpPr>
          <p:cNvPr id="7" name="Slide Number Placeholder 6">
            <a:extLst>
              <a:ext uri="{FF2B5EF4-FFF2-40B4-BE49-F238E27FC236}">
                <a16:creationId xmlns:a16="http://schemas.microsoft.com/office/drawing/2014/main" id="{0321E408-56A6-4A65-9406-D1D4F4189E1D}"/>
              </a:ext>
            </a:extLst>
          </p:cNvPr>
          <p:cNvSpPr>
            <a:spLocks noGrp="1"/>
          </p:cNvSpPr>
          <p:nvPr>
            <p:ph type="sldNum" sz="quarter" idx="12"/>
          </p:nvPr>
        </p:nvSpPr>
        <p:spPr/>
        <p:txBody>
          <a:bodyPr/>
          <a:lstStyle/>
          <a:p>
            <a:r>
              <a:rPr lang="en-US"/>
              <a:t>PAGE  </a:t>
            </a:r>
            <a:fld id="{93005692-73BE-493E-93AB-ECD6027A7652}" type="slidenum">
              <a:rPr lang="en-US" smtClean="0"/>
              <a:pPr/>
              <a:t>23</a:t>
            </a:fld>
            <a:endParaRPr lang="en-US" dirty="0"/>
          </a:p>
        </p:txBody>
      </p:sp>
      <p:pic>
        <p:nvPicPr>
          <p:cNvPr id="10" name="Picture 9">
            <a:extLst>
              <a:ext uri="{FF2B5EF4-FFF2-40B4-BE49-F238E27FC236}">
                <a16:creationId xmlns:a16="http://schemas.microsoft.com/office/drawing/2014/main" id="{4D88C894-D125-4455-B010-DE200318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p:grpSp>
        <p:nvGrpSpPr>
          <p:cNvPr id="17" name="Group 16">
            <a:extLst>
              <a:ext uri="{FF2B5EF4-FFF2-40B4-BE49-F238E27FC236}">
                <a16:creationId xmlns:a16="http://schemas.microsoft.com/office/drawing/2014/main" id="{C06455F9-4474-4784-B134-D5EB2EC8664C}"/>
              </a:ext>
            </a:extLst>
          </p:cNvPr>
          <p:cNvGrpSpPr/>
          <p:nvPr/>
        </p:nvGrpSpPr>
        <p:grpSpPr>
          <a:xfrm>
            <a:off x="116934" y="1449449"/>
            <a:ext cx="2259314" cy="4550991"/>
            <a:chOff x="273941" y="1417209"/>
            <a:chExt cx="2259314" cy="4550991"/>
          </a:xfrm>
        </p:grpSpPr>
        <p:pic>
          <p:nvPicPr>
            <p:cNvPr id="6" name="Picture 5">
              <a:extLst>
                <a:ext uri="{FF2B5EF4-FFF2-40B4-BE49-F238E27FC236}">
                  <a16:creationId xmlns:a16="http://schemas.microsoft.com/office/drawing/2014/main" id="{87534825-B1DD-419F-B3F6-34E2CBA36CAC}"/>
                </a:ext>
              </a:extLst>
            </p:cNvPr>
            <p:cNvPicPr>
              <a:picLocks noChangeAspect="1"/>
            </p:cNvPicPr>
            <p:nvPr/>
          </p:nvPicPr>
          <p:blipFill rotWithShape="1">
            <a:blip r:embed="rId4"/>
            <a:srcRect l="47960" t="6528" r="30431" b="49546"/>
            <a:stretch/>
          </p:blipFill>
          <p:spPr>
            <a:xfrm>
              <a:off x="942622" y="1417210"/>
              <a:ext cx="1590633" cy="4550990"/>
            </a:xfrm>
            <a:prstGeom prst="rect">
              <a:avLst/>
            </a:prstGeom>
          </p:spPr>
        </p:pic>
        <p:pic>
          <p:nvPicPr>
            <p:cNvPr id="20" name="Picture 19">
              <a:extLst>
                <a:ext uri="{FF2B5EF4-FFF2-40B4-BE49-F238E27FC236}">
                  <a16:creationId xmlns:a16="http://schemas.microsoft.com/office/drawing/2014/main" id="{61BB7B13-72D7-4541-AE9A-F5F82E497093}"/>
                </a:ext>
              </a:extLst>
            </p:cNvPr>
            <p:cNvPicPr>
              <a:picLocks noChangeAspect="1"/>
            </p:cNvPicPr>
            <p:nvPr/>
          </p:nvPicPr>
          <p:blipFill rotWithShape="1">
            <a:blip r:embed="rId4"/>
            <a:srcRect l="27725" t="6528" r="62762" b="49546"/>
            <a:stretch/>
          </p:blipFill>
          <p:spPr>
            <a:xfrm>
              <a:off x="273941" y="1417209"/>
              <a:ext cx="697609" cy="4550990"/>
            </a:xfrm>
            <a:prstGeom prst="rect">
              <a:avLst/>
            </a:prstGeom>
          </p:spPr>
        </p:pic>
      </p:grpSp>
      <p:grpSp>
        <p:nvGrpSpPr>
          <p:cNvPr id="34" name="Group 33">
            <a:extLst>
              <a:ext uri="{FF2B5EF4-FFF2-40B4-BE49-F238E27FC236}">
                <a16:creationId xmlns:a16="http://schemas.microsoft.com/office/drawing/2014/main" id="{7E5E2DB5-947E-4809-A129-96B3BA9A0FBA}"/>
              </a:ext>
            </a:extLst>
          </p:cNvPr>
          <p:cNvGrpSpPr/>
          <p:nvPr/>
        </p:nvGrpSpPr>
        <p:grpSpPr>
          <a:xfrm>
            <a:off x="2504349" y="1449449"/>
            <a:ext cx="2256776" cy="4550989"/>
            <a:chOff x="2782882" y="1417209"/>
            <a:chExt cx="2256776" cy="4550989"/>
          </a:xfrm>
        </p:grpSpPr>
        <p:pic>
          <p:nvPicPr>
            <p:cNvPr id="19" name="Picture 18">
              <a:extLst>
                <a:ext uri="{FF2B5EF4-FFF2-40B4-BE49-F238E27FC236}">
                  <a16:creationId xmlns:a16="http://schemas.microsoft.com/office/drawing/2014/main" id="{69C70A51-D306-4477-A739-E61075F5A63B}"/>
                </a:ext>
              </a:extLst>
            </p:cNvPr>
            <p:cNvPicPr>
              <a:picLocks noChangeAspect="1"/>
            </p:cNvPicPr>
            <p:nvPr/>
          </p:nvPicPr>
          <p:blipFill rotWithShape="1">
            <a:blip r:embed="rId4"/>
            <a:srcRect l="47960" t="50296" r="30431" b="5778"/>
            <a:stretch/>
          </p:blipFill>
          <p:spPr>
            <a:xfrm>
              <a:off x="3450202" y="1762650"/>
              <a:ext cx="1578292" cy="4205548"/>
            </a:xfrm>
            <a:prstGeom prst="rect">
              <a:avLst/>
            </a:prstGeom>
          </p:spPr>
        </p:pic>
        <p:pic>
          <p:nvPicPr>
            <p:cNvPr id="21" name="Picture 20">
              <a:extLst>
                <a:ext uri="{FF2B5EF4-FFF2-40B4-BE49-F238E27FC236}">
                  <a16:creationId xmlns:a16="http://schemas.microsoft.com/office/drawing/2014/main" id="{8E5FFFF4-FBE2-429C-A6F6-65A81445B581}"/>
                </a:ext>
              </a:extLst>
            </p:cNvPr>
            <p:cNvPicPr>
              <a:picLocks noChangeAspect="1"/>
            </p:cNvPicPr>
            <p:nvPr/>
          </p:nvPicPr>
          <p:blipFill rotWithShape="1">
            <a:blip r:embed="rId4"/>
            <a:srcRect l="27725" t="50296" r="62848" b="5778"/>
            <a:stretch/>
          </p:blipFill>
          <p:spPr>
            <a:xfrm>
              <a:off x="2785595" y="1759447"/>
              <a:ext cx="694896" cy="4208751"/>
            </a:xfrm>
            <a:prstGeom prst="rect">
              <a:avLst/>
            </a:prstGeom>
          </p:spPr>
        </p:pic>
        <p:pic>
          <p:nvPicPr>
            <p:cNvPr id="26" name="Picture 25">
              <a:extLst>
                <a:ext uri="{FF2B5EF4-FFF2-40B4-BE49-F238E27FC236}">
                  <a16:creationId xmlns:a16="http://schemas.microsoft.com/office/drawing/2014/main" id="{28D7A85B-E9B7-40DC-9791-766976A56EBF}"/>
                </a:ext>
              </a:extLst>
            </p:cNvPr>
            <p:cNvPicPr>
              <a:picLocks noChangeAspect="1"/>
            </p:cNvPicPr>
            <p:nvPr/>
          </p:nvPicPr>
          <p:blipFill rotWithShape="1">
            <a:blip r:embed="rId4"/>
            <a:srcRect l="27725" t="6528" r="62762" b="90200"/>
            <a:stretch/>
          </p:blipFill>
          <p:spPr>
            <a:xfrm>
              <a:off x="2782882" y="1420412"/>
              <a:ext cx="697609" cy="339035"/>
            </a:xfrm>
            <a:prstGeom prst="rect">
              <a:avLst/>
            </a:prstGeom>
          </p:spPr>
        </p:pic>
        <p:pic>
          <p:nvPicPr>
            <p:cNvPr id="27" name="Picture 26">
              <a:extLst>
                <a:ext uri="{FF2B5EF4-FFF2-40B4-BE49-F238E27FC236}">
                  <a16:creationId xmlns:a16="http://schemas.microsoft.com/office/drawing/2014/main" id="{59212D2E-F825-4B89-8C7E-8721F854CD17}"/>
                </a:ext>
              </a:extLst>
            </p:cNvPr>
            <p:cNvPicPr>
              <a:picLocks noChangeAspect="1"/>
            </p:cNvPicPr>
            <p:nvPr/>
          </p:nvPicPr>
          <p:blipFill rotWithShape="1">
            <a:blip r:embed="rId4"/>
            <a:srcRect l="48029" t="6529" r="30431" b="90199"/>
            <a:stretch/>
          </p:blipFill>
          <p:spPr>
            <a:xfrm>
              <a:off x="3454102" y="1417209"/>
              <a:ext cx="1585556" cy="339034"/>
            </a:xfrm>
            <a:prstGeom prst="rect">
              <a:avLst/>
            </a:prstGeom>
          </p:spPr>
        </p:pic>
      </p:grpSp>
      <p:grpSp>
        <p:nvGrpSpPr>
          <p:cNvPr id="35" name="Group 34">
            <a:extLst>
              <a:ext uri="{FF2B5EF4-FFF2-40B4-BE49-F238E27FC236}">
                <a16:creationId xmlns:a16="http://schemas.microsoft.com/office/drawing/2014/main" id="{4840238B-7523-44A0-97C0-8D33E987B713}"/>
              </a:ext>
            </a:extLst>
          </p:cNvPr>
          <p:cNvGrpSpPr/>
          <p:nvPr/>
        </p:nvGrpSpPr>
        <p:grpSpPr>
          <a:xfrm>
            <a:off x="4912414" y="1449449"/>
            <a:ext cx="2265118" cy="4583232"/>
            <a:chOff x="6071760" y="1386906"/>
            <a:chExt cx="2265118" cy="4583232"/>
          </a:xfrm>
        </p:grpSpPr>
        <p:pic>
          <p:nvPicPr>
            <p:cNvPr id="14" name="Picture 13">
              <a:extLst>
                <a:ext uri="{FF2B5EF4-FFF2-40B4-BE49-F238E27FC236}">
                  <a16:creationId xmlns:a16="http://schemas.microsoft.com/office/drawing/2014/main" id="{93791D26-9E9E-4097-BF0C-6229B0A8AA10}"/>
                </a:ext>
              </a:extLst>
            </p:cNvPr>
            <p:cNvPicPr>
              <a:picLocks noChangeAspect="1"/>
            </p:cNvPicPr>
            <p:nvPr/>
          </p:nvPicPr>
          <p:blipFill rotWithShape="1">
            <a:blip r:embed="rId5"/>
            <a:srcRect l="19846" t="1736" r="67118" b="50000"/>
            <a:stretch/>
          </p:blipFill>
          <p:spPr>
            <a:xfrm>
              <a:off x="6079513" y="1725940"/>
              <a:ext cx="689856" cy="4211955"/>
            </a:xfrm>
            <a:prstGeom prst="rect">
              <a:avLst/>
            </a:prstGeom>
          </p:spPr>
        </p:pic>
        <p:pic>
          <p:nvPicPr>
            <p:cNvPr id="23" name="Picture 22">
              <a:extLst>
                <a:ext uri="{FF2B5EF4-FFF2-40B4-BE49-F238E27FC236}">
                  <a16:creationId xmlns:a16="http://schemas.microsoft.com/office/drawing/2014/main" id="{03CED8AD-DDA3-41CD-A625-9591436DE0B5}"/>
                </a:ext>
              </a:extLst>
            </p:cNvPr>
            <p:cNvPicPr>
              <a:picLocks noChangeAspect="1"/>
            </p:cNvPicPr>
            <p:nvPr/>
          </p:nvPicPr>
          <p:blipFill rotWithShape="1">
            <a:blip r:embed="rId5"/>
            <a:srcRect l="48496" t="2141" r="22123" b="49595"/>
            <a:stretch/>
          </p:blipFill>
          <p:spPr>
            <a:xfrm>
              <a:off x="6764850" y="1764589"/>
              <a:ext cx="1572028" cy="4205549"/>
            </a:xfrm>
            <a:prstGeom prst="rect">
              <a:avLst/>
            </a:prstGeom>
          </p:spPr>
        </p:pic>
        <p:pic>
          <p:nvPicPr>
            <p:cNvPr id="28" name="Picture 27">
              <a:extLst>
                <a:ext uri="{FF2B5EF4-FFF2-40B4-BE49-F238E27FC236}">
                  <a16:creationId xmlns:a16="http://schemas.microsoft.com/office/drawing/2014/main" id="{62517860-B51E-4D0D-89DC-B7345F9A8554}"/>
                </a:ext>
              </a:extLst>
            </p:cNvPr>
            <p:cNvPicPr>
              <a:picLocks noChangeAspect="1"/>
            </p:cNvPicPr>
            <p:nvPr/>
          </p:nvPicPr>
          <p:blipFill rotWithShape="1">
            <a:blip r:embed="rId4"/>
            <a:srcRect l="27725" t="6528" r="62762" b="90200"/>
            <a:stretch/>
          </p:blipFill>
          <p:spPr>
            <a:xfrm>
              <a:off x="6071760" y="1386906"/>
              <a:ext cx="697609" cy="345441"/>
            </a:xfrm>
            <a:prstGeom prst="rect">
              <a:avLst/>
            </a:prstGeom>
          </p:spPr>
        </p:pic>
        <p:pic>
          <p:nvPicPr>
            <p:cNvPr id="31" name="Picture 30">
              <a:extLst>
                <a:ext uri="{FF2B5EF4-FFF2-40B4-BE49-F238E27FC236}">
                  <a16:creationId xmlns:a16="http://schemas.microsoft.com/office/drawing/2014/main" id="{38F2CD63-3F75-4AD6-975F-250294EF58A2}"/>
                </a:ext>
              </a:extLst>
            </p:cNvPr>
            <p:cNvPicPr>
              <a:picLocks noChangeAspect="1"/>
            </p:cNvPicPr>
            <p:nvPr/>
          </p:nvPicPr>
          <p:blipFill rotWithShape="1">
            <a:blip r:embed="rId4"/>
            <a:srcRect l="48029" t="6529" r="30431" b="90199"/>
            <a:stretch/>
          </p:blipFill>
          <p:spPr>
            <a:xfrm>
              <a:off x="6737829" y="1386906"/>
              <a:ext cx="1585556" cy="345440"/>
            </a:xfrm>
            <a:prstGeom prst="rect">
              <a:avLst/>
            </a:prstGeom>
          </p:spPr>
        </p:pic>
      </p:grpSp>
      <p:grpSp>
        <p:nvGrpSpPr>
          <p:cNvPr id="37" name="Group 36">
            <a:extLst>
              <a:ext uri="{FF2B5EF4-FFF2-40B4-BE49-F238E27FC236}">
                <a16:creationId xmlns:a16="http://schemas.microsoft.com/office/drawing/2014/main" id="{20E88F7F-D20C-4806-AA99-1DDA8763B031}"/>
              </a:ext>
            </a:extLst>
          </p:cNvPr>
          <p:cNvGrpSpPr/>
          <p:nvPr/>
        </p:nvGrpSpPr>
        <p:grpSpPr>
          <a:xfrm>
            <a:off x="9766821" y="1449449"/>
            <a:ext cx="2309278" cy="1322815"/>
            <a:chOff x="10210961" y="2931325"/>
            <a:chExt cx="2309278" cy="1322815"/>
          </a:xfrm>
        </p:grpSpPr>
        <p:pic>
          <p:nvPicPr>
            <p:cNvPr id="16" name="Picture 15">
              <a:extLst>
                <a:ext uri="{FF2B5EF4-FFF2-40B4-BE49-F238E27FC236}">
                  <a16:creationId xmlns:a16="http://schemas.microsoft.com/office/drawing/2014/main" id="{64DD4806-6368-4A4B-936B-A876968C065B}"/>
                </a:ext>
              </a:extLst>
            </p:cNvPr>
            <p:cNvPicPr>
              <a:picLocks noChangeAspect="1"/>
            </p:cNvPicPr>
            <p:nvPr/>
          </p:nvPicPr>
          <p:blipFill rotWithShape="1">
            <a:blip r:embed="rId6"/>
            <a:srcRect l="47134" t="4512" r="22594" b="79378"/>
            <a:stretch/>
          </p:blipFill>
          <p:spPr>
            <a:xfrm>
              <a:off x="10899385" y="3309010"/>
              <a:ext cx="1620854" cy="945130"/>
            </a:xfrm>
            <a:prstGeom prst="rect">
              <a:avLst/>
            </a:prstGeom>
          </p:spPr>
        </p:pic>
        <p:pic>
          <p:nvPicPr>
            <p:cNvPr id="25" name="Picture 24">
              <a:extLst>
                <a:ext uri="{FF2B5EF4-FFF2-40B4-BE49-F238E27FC236}">
                  <a16:creationId xmlns:a16="http://schemas.microsoft.com/office/drawing/2014/main" id="{4E21F4F3-C664-4C8E-81A4-5DCCE8E3B54E}"/>
                </a:ext>
              </a:extLst>
            </p:cNvPr>
            <p:cNvPicPr>
              <a:picLocks noChangeAspect="1"/>
            </p:cNvPicPr>
            <p:nvPr/>
          </p:nvPicPr>
          <p:blipFill rotWithShape="1">
            <a:blip r:embed="rId6"/>
            <a:srcRect l="18664" t="4512" r="68503" b="79532"/>
            <a:stretch/>
          </p:blipFill>
          <p:spPr>
            <a:xfrm>
              <a:off x="10210961" y="3305802"/>
              <a:ext cx="697609" cy="938727"/>
            </a:xfrm>
            <a:prstGeom prst="rect">
              <a:avLst/>
            </a:prstGeom>
          </p:spPr>
        </p:pic>
        <p:pic>
          <p:nvPicPr>
            <p:cNvPr id="30" name="Picture 29">
              <a:extLst>
                <a:ext uri="{FF2B5EF4-FFF2-40B4-BE49-F238E27FC236}">
                  <a16:creationId xmlns:a16="http://schemas.microsoft.com/office/drawing/2014/main" id="{231CE1E4-B34E-401B-A84E-89BC466E82CF}"/>
                </a:ext>
              </a:extLst>
            </p:cNvPr>
            <p:cNvPicPr>
              <a:picLocks noChangeAspect="1"/>
            </p:cNvPicPr>
            <p:nvPr/>
          </p:nvPicPr>
          <p:blipFill rotWithShape="1">
            <a:blip r:embed="rId4"/>
            <a:srcRect l="27725" t="6528" r="62762" b="90200"/>
            <a:stretch/>
          </p:blipFill>
          <p:spPr>
            <a:xfrm>
              <a:off x="10210962" y="2931325"/>
              <a:ext cx="697609" cy="364867"/>
            </a:xfrm>
            <a:prstGeom prst="rect">
              <a:avLst/>
            </a:prstGeom>
          </p:spPr>
        </p:pic>
        <p:pic>
          <p:nvPicPr>
            <p:cNvPr id="32" name="Picture 31">
              <a:extLst>
                <a:ext uri="{FF2B5EF4-FFF2-40B4-BE49-F238E27FC236}">
                  <a16:creationId xmlns:a16="http://schemas.microsoft.com/office/drawing/2014/main" id="{D6AA6271-4512-418B-B8C5-22FBADB00139}"/>
                </a:ext>
              </a:extLst>
            </p:cNvPr>
            <p:cNvPicPr>
              <a:picLocks noChangeAspect="1"/>
            </p:cNvPicPr>
            <p:nvPr/>
          </p:nvPicPr>
          <p:blipFill rotWithShape="1">
            <a:blip r:embed="rId4"/>
            <a:srcRect l="48029" t="6529" r="30431" b="90199"/>
            <a:stretch/>
          </p:blipFill>
          <p:spPr>
            <a:xfrm>
              <a:off x="10899385" y="2931325"/>
              <a:ext cx="1585556" cy="364867"/>
            </a:xfrm>
            <a:prstGeom prst="rect">
              <a:avLst/>
            </a:prstGeom>
          </p:spPr>
        </p:pic>
      </p:grpSp>
      <p:grpSp>
        <p:nvGrpSpPr>
          <p:cNvPr id="36" name="Group 35">
            <a:extLst>
              <a:ext uri="{FF2B5EF4-FFF2-40B4-BE49-F238E27FC236}">
                <a16:creationId xmlns:a16="http://schemas.microsoft.com/office/drawing/2014/main" id="{51AC8C1B-1CA1-49BD-BE72-B02E3397F716}"/>
              </a:ext>
            </a:extLst>
          </p:cNvPr>
          <p:cNvGrpSpPr/>
          <p:nvPr/>
        </p:nvGrpSpPr>
        <p:grpSpPr>
          <a:xfrm>
            <a:off x="7359904" y="1449449"/>
            <a:ext cx="2242592" cy="4586431"/>
            <a:chOff x="8539349" y="1788073"/>
            <a:chExt cx="2242592" cy="4586431"/>
          </a:xfrm>
        </p:grpSpPr>
        <p:pic>
          <p:nvPicPr>
            <p:cNvPr id="22" name="Picture 21">
              <a:extLst>
                <a:ext uri="{FF2B5EF4-FFF2-40B4-BE49-F238E27FC236}">
                  <a16:creationId xmlns:a16="http://schemas.microsoft.com/office/drawing/2014/main" id="{E371D408-0C71-4F4F-9997-61ADDA568672}"/>
                </a:ext>
              </a:extLst>
            </p:cNvPr>
            <p:cNvPicPr>
              <a:picLocks noChangeAspect="1"/>
            </p:cNvPicPr>
            <p:nvPr/>
          </p:nvPicPr>
          <p:blipFill rotWithShape="1">
            <a:blip r:embed="rId5"/>
            <a:srcRect l="19994" t="50069" r="66970" b="1666"/>
            <a:stretch/>
          </p:blipFill>
          <p:spPr>
            <a:xfrm>
              <a:off x="8539349" y="2159349"/>
              <a:ext cx="657036" cy="4211955"/>
            </a:xfrm>
            <a:prstGeom prst="rect">
              <a:avLst/>
            </a:prstGeom>
          </p:spPr>
        </p:pic>
        <p:pic>
          <p:nvPicPr>
            <p:cNvPr id="24" name="Picture 23">
              <a:extLst>
                <a:ext uri="{FF2B5EF4-FFF2-40B4-BE49-F238E27FC236}">
                  <a16:creationId xmlns:a16="http://schemas.microsoft.com/office/drawing/2014/main" id="{2DD267B4-F93D-4A8F-871E-7D91C1673954}"/>
                </a:ext>
              </a:extLst>
            </p:cNvPr>
            <p:cNvPicPr>
              <a:picLocks noChangeAspect="1"/>
            </p:cNvPicPr>
            <p:nvPr/>
          </p:nvPicPr>
          <p:blipFill rotWithShape="1">
            <a:blip r:embed="rId5"/>
            <a:srcRect l="48674" t="50069" r="21945" b="1666"/>
            <a:stretch/>
          </p:blipFill>
          <p:spPr>
            <a:xfrm>
              <a:off x="9196386" y="2162549"/>
              <a:ext cx="1585555" cy="4211955"/>
            </a:xfrm>
            <a:prstGeom prst="rect">
              <a:avLst/>
            </a:prstGeom>
          </p:spPr>
        </p:pic>
        <p:pic>
          <p:nvPicPr>
            <p:cNvPr id="29" name="Picture 28">
              <a:extLst>
                <a:ext uri="{FF2B5EF4-FFF2-40B4-BE49-F238E27FC236}">
                  <a16:creationId xmlns:a16="http://schemas.microsoft.com/office/drawing/2014/main" id="{57EED14B-6636-4FA5-AE18-01A8DAB2A640}"/>
                </a:ext>
              </a:extLst>
            </p:cNvPr>
            <p:cNvPicPr>
              <a:picLocks noChangeAspect="1"/>
            </p:cNvPicPr>
            <p:nvPr/>
          </p:nvPicPr>
          <p:blipFill rotWithShape="1">
            <a:blip r:embed="rId4"/>
            <a:srcRect l="27725" t="6528" r="62762" b="90200"/>
            <a:stretch/>
          </p:blipFill>
          <p:spPr>
            <a:xfrm>
              <a:off x="8539350" y="1791276"/>
              <a:ext cx="707096" cy="364867"/>
            </a:xfrm>
            <a:prstGeom prst="rect">
              <a:avLst/>
            </a:prstGeom>
          </p:spPr>
        </p:pic>
        <p:pic>
          <p:nvPicPr>
            <p:cNvPr id="33" name="Picture 32">
              <a:extLst>
                <a:ext uri="{FF2B5EF4-FFF2-40B4-BE49-F238E27FC236}">
                  <a16:creationId xmlns:a16="http://schemas.microsoft.com/office/drawing/2014/main" id="{A335B50C-09D6-4C8A-BEF7-88DB4324F362}"/>
                </a:ext>
              </a:extLst>
            </p:cNvPr>
            <p:cNvPicPr>
              <a:picLocks noChangeAspect="1"/>
            </p:cNvPicPr>
            <p:nvPr/>
          </p:nvPicPr>
          <p:blipFill rotWithShape="1">
            <a:blip r:embed="rId4"/>
            <a:srcRect l="48029" t="6529" r="30431" b="90199"/>
            <a:stretch/>
          </p:blipFill>
          <p:spPr>
            <a:xfrm>
              <a:off x="9196385" y="1788073"/>
              <a:ext cx="1585556" cy="345438"/>
            </a:xfrm>
            <a:prstGeom prst="rect">
              <a:avLst/>
            </a:prstGeom>
          </p:spPr>
        </p:pic>
      </p:grpSp>
      <p:sp>
        <p:nvSpPr>
          <p:cNvPr id="38" name="TextBox 37">
            <a:extLst>
              <a:ext uri="{FF2B5EF4-FFF2-40B4-BE49-F238E27FC236}">
                <a16:creationId xmlns:a16="http://schemas.microsoft.com/office/drawing/2014/main" id="{FA879DE9-11AF-4064-9FB9-3C1874E5972F}"/>
              </a:ext>
            </a:extLst>
          </p:cNvPr>
          <p:cNvSpPr txBox="1"/>
          <p:nvPr/>
        </p:nvSpPr>
        <p:spPr>
          <a:xfrm>
            <a:off x="9879554" y="2816890"/>
            <a:ext cx="2195512" cy="307777"/>
          </a:xfrm>
          <a:prstGeom prst="rect">
            <a:avLst/>
          </a:prstGeom>
          <a:noFill/>
        </p:spPr>
        <p:txBody>
          <a:bodyPr wrap="square" rtlCol="0">
            <a:spAutoFit/>
          </a:bodyPr>
          <a:lstStyle/>
          <a:p>
            <a:r>
              <a:rPr lang="en-CA" sz="1400" dirty="0">
                <a:latin typeface="+mj-lt"/>
              </a:rPr>
              <a:t>(All units given in </a:t>
            </a:r>
            <a:r>
              <a:rPr lang="en-CA" sz="1400" dirty="0" err="1">
                <a:latin typeface="+mj-lt"/>
              </a:rPr>
              <a:t>Hartrees</a:t>
            </a:r>
            <a:r>
              <a:rPr lang="en-CA" sz="1400" dirty="0">
                <a:latin typeface="+mj-lt"/>
              </a:rPr>
              <a:t>)</a:t>
            </a:r>
          </a:p>
        </p:txBody>
      </p:sp>
      <p:sp>
        <p:nvSpPr>
          <p:cNvPr id="39" name="TextBox 38">
            <a:extLst>
              <a:ext uri="{FF2B5EF4-FFF2-40B4-BE49-F238E27FC236}">
                <a16:creationId xmlns:a16="http://schemas.microsoft.com/office/drawing/2014/main" id="{E5AA9B70-BE28-4385-BEE0-B7B9A59DF29A}"/>
              </a:ext>
            </a:extLst>
          </p:cNvPr>
          <p:cNvSpPr txBox="1"/>
          <p:nvPr/>
        </p:nvSpPr>
        <p:spPr>
          <a:xfrm>
            <a:off x="9211194" y="6335309"/>
            <a:ext cx="2823643" cy="307777"/>
          </a:xfrm>
          <a:prstGeom prst="rect">
            <a:avLst/>
          </a:prstGeom>
          <a:noFill/>
        </p:spPr>
        <p:txBody>
          <a:bodyPr wrap="square" rtlCol="0">
            <a:spAutoFit/>
          </a:bodyPr>
          <a:lstStyle/>
          <a:p>
            <a:r>
              <a:rPr lang="en-CA" sz="1400" dirty="0">
                <a:latin typeface="+mj-lt"/>
              </a:rPr>
              <a:t>All NIST data from (A. </a:t>
            </a:r>
            <a:r>
              <a:rPr lang="en-CA" sz="1400" dirty="0" err="1">
                <a:latin typeface="+mj-lt"/>
              </a:rPr>
              <a:t>Kramida</a:t>
            </a:r>
            <a:r>
              <a:rPr lang="en-CA" sz="1400" dirty="0">
                <a:latin typeface="+mj-lt"/>
              </a:rPr>
              <a:t> et al., 2022)</a:t>
            </a:r>
          </a:p>
        </p:txBody>
      </p:sp>
    </p:spTree>
    <p:extLst>
      <p:ext uri="{BB962C8B-B14F-4D97-AF65-F5344CB8AC3E}">
        <p14:creationId xmlns:p14="http://schemas.microsoft.com/office/powerpoint/2010/main" val="408262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4E13BC-03D2-4034-95D6-6A08D5535F94}"/>
              </a:ext>
            </a:extLst>
          </p:cNvPr>
          <p:cNvSpPr txBox="1"/>
          <p:nvPr/>
        </p:nvSpPr>
        <p:spPr>
          <a:xfrm>
            <a:off x="523875" y="542925"/>
            <a:ext cx="9525000" cy="646331"/>
          </a:xfrm>
          <a:prstGeom prst="rect">
            <a:avLst/>
          </a:prstGeom>
          <a:noFill/>
        </p:spPr>
        <p:txBody>
          <a:bodyPr wrap="square" rtlCol="0">
            <a:spAutoFit/>
          </a:bodyPr>
          <a:lstStyle/>
          <a:p>
            <a:r>
              <a:rPr lang="en-CA" sz="3600" dirty="0">
                <a:latin typeface="+mj-lt"/>
              </a:rPr>
              <a:t>Equivalence to Kohn-Sham DFT</a:t>
            </a:r>
          </a:p>
        </p:txBody>
      </p:sp>
      <p:cxnSp>
        <p:nvCxnSpPr>
          <p:cNvPr id="6" name="Straight Connector 5">
            <a:extLst>
              <a:ext uri="{FF2B5EF4-FFF2-40B4-BE49-F238E27FC236}">
                <a16:creationId xmlns:a16="http://schemas.microsoft.com/office/drawing/2014/main" id="{F70A427C-3247-4EB2-8C07-45946AC9FD9B}"/>
              </a:ext>
            </a:extLst>
          </p:cNvPr>
          <p:cNvCxnSpPr/>
          <p:nvPr/>
        </p:nvCxnSpPr>
        <p:spPr>
          <a:xfrm>
            <a:off x="157162" y="1276350"/>
            <a:ext cx="11877675"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2FD7C5F-1B3C-436D-8A4E-8AA83E9D9E16}"/>
                  </a:ext>
                </a:extLst>
              </p:cNvPr>
              <p:cNvSpPr txBox="1"/>
              <p:nvPr/>
            </p:nvSpPr>
            <p:spPr>
              <a:xfrm>
                <a:off x="312805" y="1479626"/>
                <a:ext cx="11652216" cy="799706"/>
              </a:xfrm>
              <a:prstGeom prst="rect">
                <a:avLst/>
              </a:prstGeom>
              <a:noFill/>
            </p:spPr>
            <p:txBody>
              <a:bodyPr wrap="square" rtlCol="0">
                <a:spAutoFit/>
              </a:bodyPr>
              <a:lstStyle/>
              <a:p>
                <a:r>
                  <a:rPr lang="en-CA" dirty="0">
                    <a:latin typeface="+mj-lt"/>
                  </a:rPr>
                  <a:t>The pair densities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𝜇</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oMath>
                </a14:m>
                <a:r>
                  <a:rPr lang="en-CA" dirty="0">
                    <a:latin typeface="+mj-lt"/>
                  </a:rPr>
                  <a:t> are related to Kohn-Sham orbitals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𝜙</m:t>
                        </m:r>
                      </m:e>
                      <m:sub>
                        <m:r>
                          <a:rPr lang="en-CA" b="0" i="1" smtClean="0">
                            <a:latin typeface="Cambria Math" panose="02040503050406030204" pitchFamily="18" charset="0"/>
                          </a:rPr>
                          <m:t>𝑖</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oMath>
                </a14:m>
                <a:r>
                  <a:rPr lang="en-CA" dirty="0">
                    <a:latin typeface="+mj-lt"/>
                  </a:rPr>
                  <a:t> through the effective Hamiltonian </a:t>
                </a:r>
                <a14:m>
                  <m:oMath xmlns:m="http://schemas.openxmlformats.org/officeDocument/2006/math">
                    <m:r>
                      <a:rPr lang="en-CA" i="1" smtClean="0">
                        <a:latin typeface="Cambria Math" panose="02040503050406030204" pitchFamily="18" charset="0"/>
                      </a:rPr>
                      <m:t>ℋ</m:t>
                    </m:r>
                    <m:r>
                      <a:rPr lang="en-CA" b="0" i="1" smtClean="0">
                        <a:latin typeface="Cambria Math" panose="02040503050406030204" pitchFamily="18" charset="0"/>
                      </a:rPr>
                      <m:t>=</m:t>
                    </m:r>
                    <m:f>
                      <m:fPr>
                        <m:ctrlPr>
                          <a:rPr lang="en-CA" b="0" i="1" smtClean="0">
                            <a:latin typeface="Cambria Math" panose="02040503050406030204" pitchFamily="18" charset="0"/>
                          </a:rPr>
                        </m:ctrlPr>
                      </m:fPr>
                      <m:num>
                        <m:sSup>
                          <m:sSupPr>
                            <m:ctrlPr>
                              <a:rPr lang="en-CA" b="0" i="1" smtClean="0">
                                <a:latin typeface="Cambria Math" panose="02040503050406030204" pitchFamily="18" charset="0"/>
                              </a:rPr>
                            </m:ctrlPr>
                          </m:sSupPr>
                          <m:e>
                            <m:r>
                              <a:rPr lang="en-CA" b="0" i="1" smtClean="0">
                                <a:latin typeface="Cambria Math" panose="02040503050406030204" pitchFamily="18" charset="0"/>
                              </a:rPr>
                              <m:t>ℏ</m:t>
                            </m:r>
                          </m:e>
                          <m:sup>
                            <m:r>
                              <a:rPr lang="en-CA" b="0" i="1" smtClean="0">
                                <a:latin typeface="Cambria Math" panose="02040503050406030204" pitchFamily="18" charset="0"/>
                              </a:rPr>
                              <m:t>2</m:t>
                            </m:r>
                          </m:sup>
                        </m:sSup>
                      </m:num>
                      <m:den>
                        <m:r>
                          <a:rPr lang="en-CA" b="0" i="1" smtClean="0">
                            <a:latin typeface="Cambria Math" panose="02040503050406030204" pitchFamily="18" charset="0"/>
                          </a:rPr>
                          <m:t>2</m:t>
                        </m:r>
                        <m:r>
                          <a:rPr lang="en-CA" b="0" i="1" smtClean="0">
                            <a:latin typeface="Cambria Math" panose="02040503050406030204" pitchFamily="18" charset="0"/>
                          </a:rPr>
                          <m:t>𝑚</m:t>
                        </m:r>
                      </m:den>
                    </m:f>
                    <m:sSup>
                      <m:sSupPr>
                        <m:ctrlPr>
                          <a:rPr lang="en-CA" b="0" i="1" smtClean="0">
                            <a:latin typeface="Cambria Math" panose="02040503050406030204" pitchFamily="18" charset="0"/>
                          </a:rPr>
                        </m:ctrlPr>
                      </m:sSupPr>
                      <m:e>
                        <m:r>
                          <m:rPr>
                            <m:sty m:val="p"/>
                          </m:rPr>
                          <a:rPr lang="en-CA" b="0" i="0" smtClean="0">
                            <a:latin typeface="Cambria Math" panose="02040503050406030204" pitchFamily="18" charset="0"/>
                          </a:rPr>
                          <m:t>∇</m:t>
                        </m:r>
                      </m:e>
                      <m:sup>
                        <m:r>
                          <a:rPr lang="en-CA" b="0" i="1" smtClean="0">
                            <a:latin typeface="Cambria Math" panose="02040503050406030204" pitchFamily="18" charset="0"/>
                          </a:rPr>
                          <m:t>2</m:t>
                        </m:r>
                      </m:sup>
                    </m:sSup>
                    <m:r>
                      <a:rPr lang="en-CA" b="0" i="1" smtClean="0">
                        <a:latin typeface="Cambria Math" panose="02040503050406030204" pitchFamily="18" charset="0"/>
                      </a:rPr>
                      <m:t>−</m:t>
                    </m:r>
                    <m:r>
                      <a:rPr lang="en-CA" b="0" i="1" smtClean="0">
                        <a:latin typeface="Cambria Math" panose="02040503050406030204" pitchFamily="18" charset="0"/>
                      </a:rPr>
                      <m:t>𝑤</m:t>
                    </m:r>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oMath>
                </a14:m>
                <a:r>
                  <a:rPr lang="en-CA" dirty="0">
                    <a:latin typeface="+mj-lt"/>
                  </a:rPr>
                  <a:t>  </a:t>
                </a:r>
                <a:br>
                  <a:rPr lang="en-CA" dirty="0">
                    <a:latin typeface="+mj-lt"/>
                  </a:rPr>
                </a:br>
                <a:endParaRPr lang="en-CA" dirty="0">
                  <a:latin typeface="+mj-lt"/>
                </a:endParaRPr>
              </a:p>
            </p:txBody>
          </p:sp>
        </mc:Choice>
        <mc:Fallback xmlns="">
          <p:sp>
            <p:nvSpPr>
              <p:cNvPr id="7" name="TextBox 6">
                <a:extLst>
                  <a:ext uri="{FF2B5EF4-FFF2-40B4-BE49-F238E27FC236}">
                    <a16:creationId xmlns:a16="http://schemas.microsoft.com/office/drawing/2014/main" id="{D2FD7C5F-1B3C-436D-8A4E-8AA83E9D9E16}"/>
                  </a:ext>
                </a:extLst>
              </p:cNvPr>
              <p:cNvSpPr txBox="1">
                <a:spLocks noRot="1" noChangeAspect="1" noMove="1" noResize="1" noEditPoints="1" noAdjustHandles="1" noChangeArrowheads="1" noChangeShapeType="1" noTextEdit="1"/>
              </p:cNvSpPr>
              <p:nvPr/>
            </p:nvSpPr>
            <p:spPr>
              <a:xfrm>
                <a:off x="312805" y="1479626"/>
                <a:ext cx="11652216" cy="799706"/>
              </a:xfrm>
              <a:prstGeom prst="rect">
                <a:avLst/>
              </a:prstGeom>
              <a:blipFill>
                <a:blip r:embed="rId3"/>
                <a:stretch>
                  <a:fillRect l="-418"/>
                </a:stretch>
              </a:blipFill>
            </p:spPr>
            <p:txBody>
              <a:bodyPr/>
              <a:lstStyle/>
              <a:p>
                <a:r>
                  <a:rPr lang="en-CA">
                    <a:noFill/>
                  </a:rPr>
                  <a:t> </a:t>
                </a:r>
              </a:p>
            </p:txBody>
          </p:sp>
        </mc:Fallback>
      </mc:AlternateContent>
      <p:sp>
        <p:nvSpPr>
          <p:cNvPr id="5" name="Slide Number Placeholder 4">
            <a:extLst>
              <a:ext uri="{FF2B5EF4-FFF2-40B4-BE49-F238E27FC236}">
                <a16:creationId xmlns:a16="http://schemas.microsoft.com/office/drawing/2014/main" id="{15541C5C-34C4-4180-9D70-19351CA20856}"/>
              </a:ext>
            </a:extLst>
          </p:cNvPr>
          <p:cNvSpPr>
            <a:spLocks noGrp="1"/>
          </p:cNvSpPr>
          <p:nvPr>
            <p:ph type="sldNum" sz="quarter" idx="12"/>
          </p:nvPr>
        </p:nvSpPr>
        <p:spPr/>
        <p:txBody>
          <a:bodyPr/>
          <a:lstStyle/>
          <a:p>
            <a:r>
              <a:rPr lang="en-US"/>
              <a:t>PAGE  </a:t>
            </a:r>
            <a:fld id="{93005692-73BE-493E-93AB-ECD6027A7652}" type="slidenum">
              <a:rPr lang="en-US" smtClean="0"/>
              <a:pPr/>
              <a:t>24</a:t>
            </a:fld>
            <a:endParaRPr lang="en-US" dirty="0"/>
          </a:p>
        </p:txBody>
      </p:sp>
      <p:pic>
        <p:nvPicPr>
          <p:cNvPr id="9" name="Picture 8">
            <a:extLst>
              <a:ext uri="{FF2B5EF4-FFF2-40B4-BE49-F238E27FC236}">
                <a16:creationId xmlns:a16="http://schemas.microsoft.com/office/drawing/2014/main" id="{55893AE0-9302-4321-B5A7-320893C269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082" y="5916302"/>
            <a:ext cx="4436918" cy="108835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BC8D19C-891B-4F9C-A00B-EC5B86F1F4F8}"/>
                  </a:ext>
                </a:extLst>
              </p:cNvPr>
              <p:cNvSpPr txBox="1"/>
              <p:nvPr/>
            </p:nvSpPr>
            <p:spPr>
              <a:xfrm>
                <a:off x="733872" y="2812371"/>
                <a:ext cx="211819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ℋ</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𝜙</m:t>
                          </m:r>
                        </m:e>
                        <m:sub>
                          <m:r>
                            <a:rPr lang="en-CA" b="0" i="1" smtClean="0">
                              <a:latin typeface="Cambria Math" panose="02040503050406030204" pitchFamily="18" charset="0"/>
                            </a:rPr>
                            <m:t>𝑖</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𝜖</m:t>
                          </m:r>
                        </m:e>
                        <m:sub>
                          <m:r>
                            <a:rPr lang="en-CA" b="0" i="1" smtClean="0">
                              <a:latin typeface="Cambria Math" panose="02040503050406030204" pitchFamily="18" charset="0"/>
                            </a:rPr>
                            <m:t>𝑖</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𝜙</m:t>
                          </m:r>
                        </m:e>
                        <m:sub>
                          <m:r>
                            <a:rPr lang="en-CA" b="0" i="1" smtClean="0">
                              <a:latin typeface="Cambria Math" panose="02040503050406030204" pitchFamily="18" charset="0"/>
                            </a:rPr>
                            <m:t>𝑖</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oMath>
                  </m:oMathPara>
                </a14:m>
                <a:endParaRPr lang="en-CA" dirty="0"/>
              </a:p>
            </p:txBody>
          </p:sp>
        </mc:Choice>
        <mc:Fallback xmlns="">
          <p:sp>
            <p:nvSpPr>
              <p:cNvPr id="2" name="TextBox 1">
                <a:extLst>
                  <a:ext uri="{FF2B5EF4-FFF2-40B4-BE49-F238E27FC236}">
                    <a16:creationId xmlns:a16="http://schemas.microsoft.com/office/drawing/2014/main" id="{BBC8D19C-891B-4F9C-A00B-EC5B86F1F4F8}"/>
                  </a:ext>
                </a:extLst>
              </p:cNvPr>
              <p:cNvSpPr txBox="1">
                <a:spLocks noRot="1" noChangeAspect="1" noMove="1" noResize="1" noEditPoints="1" noAdjustHandles="1" noChangeArrowheads="1" noChangeShapeType="1" noTextEdit="1"/>
              </p:cNvSpPr>
              <p:nvPr/>
            </p:nvSpPr>
            <p:spPr>
              <a:xfrm>
                <a:off x="733872" y="2812371"/>
                <a:ext cx="2118198" cy="369332"/>
              </a:xfrm>
              <a:prstGeom prst="rect">
                <a:avLst/>
              </a:prstGeom>
              <a:blipFill>
                <a:blip r:embed="rId5"/>
                <a:stretch>
                  <a:fillRect b="-13115"/>
                </a:stretch>
              </a:blipFill>
            </p:spPr>
            <p:txBody>
              <a:bodyPr/>
              <a:lstStyle/>
              <a:p>
                <a:r>
                  <a:rPr lang="en-CA">
                    <a:noFill/>
                  </a:rPr>
                  <a:t> </a:t>
                </a:r>
              </a:p>
            </p:txBody>
          </p:sp>
        </mc:Fallback>
      </mc:AlternateContent>
      <p:sp>
        <p:nvSpPr>
          <p:cNvPr id="20" name="TextBox 19">
            <a:extLst>
              <a:ext uri="{FF2B5EF4-FFF2-40B4-BE49-F238E27FC236}">
                <a16:creationId xmlns:a16="http://schemas.microsoft.com/office/drawing/2014/main" id="{E19FE5E9-4A5B-4D63-8AC3-000CF4C1CDF4}"/>
              </a:ext>
            </a:extLst>
          </p:cNvPr>
          <p:cNvSpPr txBox="1"/>
          <p:nvPr/>
        </p:nvSpPr>
        <p:spPr>
          <a:xfrm>
            <a:off x="668894" y="2245421"/>
            <a:ext cx="2230066" cy="369332"/>
          </a:xfrm>
          <a:prstGeom prst="rect">
            <a:avLst/>
          </a:prstGeom>
          <a:noFill/>
        </p:spPr>
        <p:txBody>
          <a:bodyPr wrap="square">
            <a:spAutoFit/>
          </a:bodyPr>
          <a:lstStyle/>
          <a:p>
            <a:r>
              <a:rPr lang="en-CA" dirty="0">
                <a:latin typeface="+mj-lt"/>
              </a:rPr>
              <a:t>Solve eigenvalue problem </a:t>
            </a:r>
            <a:endParaRPr lang="en-CA" dirty="0"/>
          </a:p>
        </p:txBody>
      </p:sp>
      <p:sp>
        <p:nvSpPr>
          <p:cNvPr id="22" name="TextBox 21">
            <a:extLst>
              <a:ext uri="{FF2B5EF4-FFF2-40B4-BE49-F238E27FC236}">
                <a16:creationId xmlns:a16="http://schemas.microsoft.com/office/drawing/2014/main" id="{96D6434D-29AA-4613-BF53-EA64CAF5C561}"/>
              </a:ext>
            </a:extLst>
          </p:cNvPr>
          <p:cNvSpPr txBox="1"/>
          <p:nvPr/>
        </p:nvSpPr>
        <p:spPr>
          <a:xfrm>
            <a:off x="4602264" y="2262377"/>
            <a:ext cx="2230066" cy="369332"/>
          </a:xfrm>
          <a:prstGeom prst="rect">
            <a:avLst/>
          </a:prstGeom>
          <a:noFill/>
        </p:spPr>
        <p:txBody>
          <a:bodyPr wrap="square">
            <a:spAutoFit/>
          </a:bodyPr>
          <a:lstStyle/>
          <a:p>
            <a:r>
              <a:rPr lang="en-CA" dirty="0">
                <a:latin typeface="+mj-lt"/>
              </a:rPr>
              <a:t>Construct propagator</a:t>
            </a:r>
            <a:endParaRPr lang="en-CA"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AA6C7A6-6A09-4E8A-855B-6FCDA2B91B99}"/>
                  </a:ext>
                </a:extLst>
              </p:cNvPr>
              <p:cNvSpPr txBox="1"/>
              <p:nvPr/>
            </p:nvSpPr>
            <p:spPr>
              <a:xfrm>
                <a:off x="3926081" y="2641850"/>
                <a:ext cx="3582432" cy="7645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m:rPr>
                              <m:sty m:val="p"/>
                            </m:rPr>
                            <a:rPr lang="en-CA" i="1" smtClean="0">
                              <a:latin typeface="Cambria Math" panose="02040503050406030204" pitchFamily="18" charset="0"/>
                            </a:rPr>
                            <m:t>q</m:t>
                          </m:r>
                        </m:e>
                        <m:sub>
                          <m:r>
                            <a:rPr lang="en-CA" b="0" i="1" smtClean="0">
                              <a:latin typeface="Cambria Math" panose="02040503050406030204" pitchFamily="18" charset="0"/>
                            </a:rPr>
                            <m:t>𝜇</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r>
                            <a:rPr lang="en-CA" b="0" i="1" smtClean="0">
                              <a:latin typeface="Cambria Math" panose="02040503050406030204" pitchFamily="18" charset="0"/>
                            </a:rPr>
                            <m:t>, </m:t>
                          </m:r>
                          <m:sSup>
                            <m:sSupPr>
                              <m:ctrlPr>
                                <a:rPr lang="en-CA" b="0" i="1" smtClean="0">
                                  <a:latin typeface="Cambria Math" panose="02040503050406030204" pitchFamily="18" charset="0"/>
                                </a:rPr>
                              </m:ctrlPr>
                            </m:sSupPr>
                            <m:e>
                              <m:r>
                                <a:rPr lang="en-CA" b="1" i="1" smtClean="0">
                                  <a:latin typeface="Cambria Math" panose="02040503050406030204" pitchFamily="18" charset="0"/>
                                </a:rPr>
                                <m:t>𝒓</m:t>
                              </m:r>
                            </m:e>
                            <m:sup>
                              <m:r>
                                <a:rPr lang="en-CA" b="0" i="1" smtClean="0">
                                  <a:latin typeface="Cambria Math" panose="02040503050406030204" pitchFamily="18" charset="0"/>
                                </a:rPr>
                                <m:t>′</m:t>
                              </m:r>
                            </m:sup>
                          </m:sSup>
                          <m:r>
                            <a:rPr lang="en-CA" b="0" i="1" smtClean="0">
                              <a:latin typeface="Cambria Math" panose="02040503050406030204" pitchFamily="18" charset="0"/>
                            </a:rPr>
                            <m:t>,</m:t>
                          </m:r>
                          <m:r>
                            <a:rPr lang="en-CA" b="0" i="1" smtClean="0">
                              <a:latin typeface="Cambria Math" panose="02040503050406030204" pitchFamily="18" charset="0"/>
                            </a:rPr>
                            <m:t>𝛽</m:t>
                          </m:r>
                        </m:e>
                      </m:d>
                      <m:r>
                        <a:rPr lang="en-CA" b="0" i="1" smtClean="0">
                          <a:latin typeface="Cambria Math" panose="02040503050406030204" pitchFamily="18" charset="0"/>
                        </a:rPr>
                        <m:t>=</m:t>
                      </m:r>
                      <m:nary>
                        <m:naryPr>
                          <m:chr m:val="∑"/>
                          <m:supHide m:val="on"/>
                          <m:ctrlPr>
                            <a:rPr lang="en-CA" b="0" i="1" smtClean="0">
                              <a:latin typeface="Cambria Math" panose="02040503050406030204" pitchFamily="18" charset="0"/>
                            </a:rPr>
                          </m:ctrlPr>
                        </m:naryPr>
                        <m:sub>
                          <m:r>
                            <m:rPr>
                              <m:brk m:alnAt="7"/>
                            </m:rPr>
                            <a:rPr lang="en-CA" b="0" i="1" smtClean="0">
                              <a:latin typeface="Cambria Math" panose="02040503050406030204" pitchFamily="18" charset="0"/>
                            </a:rPr>
                            <m:t>𝑖</m:t>
                          </m:r>
                        </m:sub>
                        <m:sup/>
                        <m:e>
                          <m:sSup>
                            <m:sSupPr>
                              <m:ctrlPr>
                                <a:rPr lang="en-CA" b="0" i="1" smtClean="0">
                                  <a:latin typeface="Cambria Math" panose="02040503050406030204" pitchFamily="18" charset="0"/>
                                </a:rPr>
                              </m:ctrlPr>
                            </m:sSupPr>
                            <m:e>
                              <m:r>
                                <a:rPr lang="en-CA" b="0" i="1" smtClean="0">
                                  <a:latin typeface="Cambria Math" panose="02040503050406030204" pitchFamily="18" charset="0"/>
                                </a:rPr>
                                <m:t>𝑒</m:t>
                              </m:r>
                            </m:e>
                            <m:sup>
                              <m:sSub>
                                <m:sSubPr>
                                  <m:ctrlPr>
                                    <a:rPr lang="en-CA" b="0" i="1" smtClean="0">
                                      <a:latin typeface="Cambria Math" panose="02040503050406030204" pitchFamily="18" charset="0"/>
                                    </a:rPr>
                                  </m:ctrlPr>
                                </m:sSubPr>
                                <m:e>
                                  <m:r>
                                    <a:rPr lang="en-CA" b="0" i="1" smtClean="0">
                                      <a:latin typeface="Cambria Math" panose="02040503050406030204" pitchFamily="18" charset="0"/>
                                    </a:rPr>
                                    <m:t>𝜖</m:t>
                                  </m:r>
                                </m:e>
                                <m:sub>
                                  <m:r>
                                    <a:rPr lang="en-CA" b="0" i="1" smtClean="0">
                                      <a:latin typeface="Cambria Math" panose="02040503050406030204" pitchFamily="18" charset="0"/>
                                    </a:rPr>
                                    <m:t>𝑖</m:t>
                                  </m:r>
                                </m:sub>
                              </m:sSub>
                              <m:r>
                                <a:rPr lang="en-CA" b="0" i="1" smtClean="0">
                                  <a:latin typeface="Cambria Math" panose="02040503050406030204" pitchFamily="18" charset="0"/>
                                </a:rPr>
                                <m:t>𝛽</m:t>
                              </m:r>
                            </m:sup>
                          </m:sSup>
                          <m:sSub>
                            <m:sSubPr>
                              <m:ctrlPr>
                                <a:rPr lang="en-CA" i="1">
                                  <a:latin typeface="Cambria Math" panose="02040503050406030204" pitchFamily="18" charset="0"/>
                                </a:rPr>
                              </m:ctrlPr>
                            </m:sSubPr>
                            <m:e>
                              <m:r>
                                <a:rPr lang="en-CA" i="1">
                                  <a:latin typeface="Cambria Math" panose="02040503050406030204" pitchFamily="18" charset="0"/>
                                </a:rPr>
                                <m:t>𝜙</m:t>
                              </m:r>
                            </m:e>
                            <m:sub>
                              <m:r>
                                <a:rPr lang="en-CA" i="1">
                                  <a:latin typeface="Cambria Math" panose="02040503050406030204" pitchFamily="18" charset="0"/>
                                </a:rPr>
                                <m:t>𝑖</m:t>
                              </m:r>
                            </m:sub>
                          </m:sSub>
                          <m:d>
                            <m:dPr>
                              <m:ctrlPr>
                                <a:rPr lang="en-CA" i="1">
                                  <a:latin typeface="Cambria Math" panose="02040503050406030204" pitchFamily="18" charset="0"/>
                                </a:rPr>
                              </m:ctrlPr>
                            </m:dPr>
                            <m:e>
                              <m:r>
                                <a:rPr lang="en-CA" b="1" i="1">
                                  <a:latin typeface="Cambria Math" panose="02040503050406030204" pitchFamily="18" charset="0"/>
                                </a:rPr>
                                <m:t>𝒓</m:t>
                              </m:r>
                            </m:e>
                          </m:d>
                          <m:sSubSup>
                            <m:sSubSupPr>
                              <m:ctrlPr>
                                <a:rPr lang="en-CA" b="0" i="1" smtClean="0">
                                  <a:latin typeface="Cambria Math" panose="02040503050406030204" pitchFamily="18" charset="0"/>
                                </a:rPr>
                              </m:ctrlPr>
                            </m:sSubSupPr>
                            <m:e>
                              <m:r>
                                <a:rPr lang="en-CA" i="1">
                                  <a:latin typeface="Cambria Math" panose="02040503050406030204" pitchFamily="18" charset="0"/>
                                </a:rPr>
                                <m:t>𝜙</m:t>
                              </m:r>
                            </m:e>
                            <m:sub>
                              <m:r>
                                <a:rPr lang="en-CA" i="1">
                                  <a:latin typeface="Cambria Math" panose="02040503050406030204" pitchFamily="18" charset="0"/>
                                </a:rPr>
                                <m:t>𝑖</m:t>
                              </m:r>
                            </m:sub>
                            <m:sup>
                              <m:r>
                                <a:rPr lang="en-CA" b="0" i="1" smtClean="0">
                                  <a:latin typeface="Cambria Math" panose="02040503050406030204" pitchFamily="18" charset="0"/>
                                </a:rPr>
                                <m:t>∗</m:t>
                              </m:r>
                            </m:sup>
                          </m:sSubSup>
                          <m:d>
                            <m:dPr>
                              <m:ctrlPr>
                                <a:rPr lang="en-CA" i="1">
                                  <a:latin typeface="Cambria Math" panose="02040503050406030204" pitchFamily="18" charset="0"/>
                                </a:rPr>
                              </m:ctrlPr>
                            </m:dPr>
                            <m:e>
                              <m:r>
                                <a:rPr lang="en-CA" b="1" i="1">
                                  <a:latin typeface="Cambria Math" panose="02040503050406030204" pitchFamily="18" charset="0"/>
                                </a:rPr>
                                <m:t>𝒓</m:t>
                              </m:r>
                              <m:r>
                                <a:rPr lang="en-CA" b="1" i="1" smtClean="0">
                                  <a:latin typeface="Cambria Math" panose="02040503050406030204" pitchFamily="18" charset="0"/>
                                </a:rPr>
                                <m:t>′</m:t>
                              </m:r>
                            </m:e>
                          </m:d>
                        </m:e>
                      </m:nary>
                    </m:oMath>
                  </m:oMathPara>
                </a14:m>
                <a:endParaRPr lang="en-CA" dirty="0"/>
              </a:p>
            </p:txBody>
          </p:sp>
        </mc:Choice>
        <mc:Fallback xmlns="">
          <p:sp>
            <p:nvSpPr>
              <p:cNvPr id="25" name="TextBox 24">
                <a:extLst>
                  <a:ext uri="{FF2B5EF4-FFF2-40B4-BE49-F238E27FC236}">
                    <a16:creationId xmlns:a16="http://schemas.microsoft.com/office/drawing/2014/main" id="{4AA6C7A6-6A09-4E8A-855B-6FCDA2B91B99}"/>
                  </a:ext>
                </a:extLst>
              </p:cNvPr>
              <p:cNvSpPr txBox="1">
                <a:spLocks noRot="1" noChangeAspect="1" noMove="1" noResize="1" noEditPoints="1" noAdjustHandles="1" noChangeArrowheads="1" noChangeShapeType="1" noTextEdit="1"/>
              </p:cNvSpPr>
              <p:nvPr/>
            </p:nvSpPr>
            <p:spPr>
              <a:xfrm>
                <a:off x="3926081" y="2641850"/>
                <a:ext cx="3582432" cy="764568"/>
              </a:xfrm>
              <a:prstGeom prst="rect">
                <a:avLst/>
              </a:prstGeom>
              <a:blipFill>
                <a:blip r:embed="rId6"/>
                <a:stretch>
                  <a:fillRect/>
                </a:stretch>
              </a:blipFill>
            </p:spPr>
            <p:txBody>
              <a:bodyPr/>
              <a:lstStyle/>
              <a:p>
                <a:r>
                  <a:rPr lang="en-CA">
                    <a:noFill/>
                  </a:rPr>
                  <a:t> </a:t>
                </a:r>
              </a:p>
            </p:txBody>
          </p:sp>
        </mc:Fallback>
      </mc:AlternateContent>
      <p:sp>
        <p:nvSpPr>
          <p:cNvPr id="31" name="TextBox 30">
            <a:extLst>
              <a:ext uri="{FF2B5EF4-FFF2-40B4-BE49-F238E27FC236}">
                <a16:creationId xmlns:a16="http://schemas.microsoft.com/office/drawing/2014/main" id="{EDBF76E9-4C56-4E28-BE3F-0A6E0E07A06E}"/>
              </a:ext>
            </a:extLst>
          </p:cNvPr>
          <p:cNvSpPr txBox="1"/>
          <p:nvPr/>
        </p:nvSpPr>
        <p:spPr>
          <a:xfrm>
            <a:off x="2606062" y="3806588"/>
            <a:ext cx="1345379" cy="369332"/>
          </a:xfrm>
          <a:prstGeom prst="rect">
            <a:avLst/>
          </a:prstGeom>
          <a:noFill/>
        </p:spPr>
        <p:txBody>
          <a:bodyPr wrap="square">
            <a:spAutoFit/>
          </a:bodyPr>
          <a:lstStyle/>
          <a:p>
            <a:r>
              <a:rPr lang="en-CA" dirty="0">
                <a:latin typeface="+mj-lt"/>
              </a:rPr>
              <a:t>Density is then</a:t>
            </a:r>
            <a:endParaRPr lang="en-CA"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6F3F073-5D5E-4DE1-A720-36689D32DE9B}"/>
                  </a:ext>
                </a:extLst>
              </p:cNvPr>
              <p:cNvSpPr txBox="1"/>
              <p:nvPr/>
            </p:nvSpPr>
            <p:spPr>
              <a:xfrm>
                <a:off x="668894" y="4215969"/>
                <a:ext cx="5280999" cy="7400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𝜇</m:t>
                          </m:r>
                        </m:sub>
                      </m:sSub>
                      <m:d>
                        <m:dPr>
                          <m:ctrlPr>
                            <a:rPr lang="en-CA" b="0" i="1" smtClean="0">
                              <a:latin typeface="Cambria Math" panose="02040503050406030204" pitchFamily="18" charset="0"/>
                            </a:rPr>
                          </m:ctrlPr>
                        </m:dPr>
                        <m:e>
                          <m:r>
                            <a:rPr lang="en-CA" b="1" i="1" smtClean="0">
                              <a:latin typeface="Cambria Math" panose="02040503050406030204" pitchFamily="18" charset="0"/>
                            </a:rPr>
                            <m:t>𝒓</m:t>
                          </m:r>
                        </m:e>
                      </m:d>
                      <m:r>
                        <a:rPr lang="en-CA" b="0" i="1" smtClean="0">
                          <a:latin typeface="Cambria Math" panose="02040503050406030204" pitchFamily="18" charset="0"/>
                        </a:rPr>
                        <m:t>=</m:t>
                      </m:r>
                      <m:f>
                        <m:fPr>
                          <m:ctrlPr>
                            <a:rPr lang="en-CA" i="1">
                              <a:latin typeface="Cambria Math" panose="02040503050406030204" pitchFamily="18" charset="0"/>
                            </a:rPr>
                          </m:ctrlPr>
                        </m:fPr>
                        <m:num>
                          <m:sSub>
                            <m:sSubPr>
                              <m:ctrlPr>
                                <a:rPr lang="en-CA" i="1">
                                  <a:latin typeface="Cambria Math" panose="02040503050406030204" pitchFamily="18" charset="0"/>
                                </a:rPr>
                              </m:ctrlPr>
                            </m:sSubPr>
                            <m:e>
                              <m:r>
                                <a:rPr lang="en-CA" i="1">
                                  <a:latin typeface="Cambria Math" panose="02040503050406030204" pitchFamily="18" charset="0"/>
                                </a:rPr>
                                <m:t>𝑁</m:t>
                              </m:r>
                            </m:e>
                            <m:sub>
                              <m:r>
                                <a:rPr lang="en-CA" i="1">
                                  <a:latin typeface="Cambria Math" panose="02040503050406030204" pitchFamily="18" charset="0"/>
                                </a:rPr>
                                <m:t>𝜇</m:t>
                              </m:r>
                            </m:sub>
                          </m:sSub>
                        </m:num>
                        <m:den>
                          <m:sSub>
                            <m:sSubPr>
                              <m:ctrlPr>
                                <a:rPr lang="en-CA" i="1">
                                  <a:latin typeface="Cambria Math" panose="02040503050406030204" pitchFamily="18" charset="0"/>
                                </a:rPr>
                              </m:ctrlPr>
                            </m:sSubPr>
                            <m:e>
                              <m:r>
                                <a:rPr lang="en-CA" i="1">
                                  <a:latin typeface="Cambria Math" panose="02040503050406030204" pitchFamily="18" charset="0"/>
                                </a:rPr>
                                <m:t>𝑄</m:t>
                              </m:r>
                            </m:e>
                            <m:sub>
                              <m:r>
                                <a:rPr lang="en-CA" i="1">
                                  <a:latin typeface="Cambria Math" panose="02040503050406030204" pitchFamily="18" charset="0"/>
                                </a:rPr>
                                <m:t>𝜇</m:t>
                              </m:r>
                            </m:sub>
                          </m:sSub>
                          <m:d>
                            <m:dPr>
                              <m:begChr m:val="["/>
                              <m:endChr m:val="]"/>
                              <m:ctrlPr>
                                <a:rPr lang="en-CA" i="1">
                                  <a:latin typeface="Cambria Math" panose="02040503050406030204" pitchFamily="18" charset="0"/>
                                </a:rPr>
                              </m:ctrlPr>
                            </m:dPr>
                            <m:e>
                              <m:r>
                                <a:rPr lang="en-CA" i="1">
                                  <a:latin typeface="Cambria Math" panose="02040503050406030204" pitchFamily="18" charset="0"/>
                                </a:rPr>
                                <m:t>𝑤</m:t>
                              </m:r>
                            </m:e>
                          </m:d>
                        </m:den>
                      </m:f>
                      <m:sSub>
                        <m:sSubPr>
                          <m:ctrlPr>
                            <a:rPr lang="en-CA" i="1">
                              <a:latin typeface="Cambria Math" panose="02040503050406030204" pitchFamily="18" charset="0"/>
                            </a:rPr>
                          </m:ctrlPr>
                        </m:sSubPr>
                        <m:e>
                          <m:r>
                            <m:rPr>
                              <m:sty m:val="p"/>
                            </m:rPr>
                            <a:rPr lang="en-CA" i="1">
                              <a:latin typeface="Cambria Math" panose="02040503050406030204" pitchFamily="18" charset="0"/>
                            </a:rPr>
                            <m:t>q</m:t>
                          </m:r>
                        </m:e>
                        <m:sub>
                          <m:r>
                            <a:rPr lang="en-CA" i="1">
                              <a:latin typeface="Cambria Math" panose="02040503050406030204" pitchFamily="18" charset="0"/>
                            </a:rPr>
                            <m:t>𝜇</m:t>
                          </m:r>
                        </m:sub>
                      </m:sSub>
                      <m:d>
                        <m:dPr>
                          <m:ctrlPr>
                            <a:rPr lang="en-CA" i="1">
                              <a:latin typeface="Cambria Math" panose="02040503050406030204" pitchFamily="18" charset="0"/>
                            </a:rPr>
                          </m:ctrlPr>
                        </m:dPr>
                        <m:e>
                          <m:r>
                            <a:rPr lang="en-CA" b="1" i="1">
                              <a:latin typeface="Cambria Math" panose="02040503050406030204" pitchFamily="18" charset="0"/>
                            </a:rPr>
                            <m:t>𝒓</m:t>
                          </m:r>
                          <m:r>
                            <a:rPr lang="en-CA" b="1" i="1">
                              <a:latin typeface="Cambria Math" panose="02040503050406030204" pitchFamily="18" charset="0"/>
                            </a:rPr>
                            <m:t>,</m:t>
                          </m:r>
                          <m:r>
                            <a:rPr lang="en-CA" b="1" i="1" smtClean="0">
                              <a:latin typeface="Cambria Math" panose="02040503050406030204" pitchFamily="18" charset="0"/>
                            </a:rPr>
                            <m:t>𝒓</m:t>
                          </m:r>
                          <m:r>
                            <a:rPr lang="en-CA" b="1" i="1">
                              <a:latin typeface="Cambria Math" panose="02040503050406030204" pitchFamily="18" charset="0"/>
                            </a:rPr>
                            <m:t>,</m:t>
                          </m:r>
                          <m:r>
                            <a:rPr lang="en-CA" i="1">
                              <a:latin typeface="Cambria Math" panose="02040503050406030204" pitchFamily="18" charset="0"/>
                            </a:rPr>
                            <m:t>𝛽</m:t>
                          </m:r>
                        </m:e>
                      </m:d>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𝑁</m:t>
                          </m:r>
                        </m:e>
                        <m:sub>
                          <m:r>
                            <a:rPr lang="en-CA" i="1">
                              <a:latin typeface="Cambria Math" panose="02040503050406030204" pitchFamily="18" charset="0"/>
                            </a:rPr>
                            <m:t>𝜇</m:t>
                          </m:r>
                        </m:sub>
                      </m:sSub>
                      <m:f>
                        <m:fPr>
                          <m:ctrlPr>
                            <a:rPr lang="en-CA" i="1" smtClean="0">
                              <a:latin typeface="Cambria Math" panose="02040503050406030204" pitchFamily="18" charset="0"/>
                            </a:rPr>
                          </m:ctrlPr>
                        </m:fPr>
                        <m:num>
                          <m:nary>
                            <m:naryPr>
                              <m:chr m:val="∑"/>
                              <m:supHide m:val="on"/>
                              <m:ctrlPr>
                                <a:rPr lang="en-CA" i="1">
                                  <a:latin typeface="Cambria Math" panose="02040503050406030204" pitchFamily="18" charset="0"/>
                                </a:rPr>
                              </m:ctrlPr>
                            </m:naryPr>
                            <m:sub>
                              <m:r>
                                <m:rPr>
                                  <m:brk m:alnAt="7"/>
                                </m:rPr>
                                <a:rPr lang="en-CA" i="1">
                                  <a:latin typeface="Cambria Math" panose="02040503050406030204" pitchFamily="18" charset="0"/>
                                </a:rPr>
                                <m:t>𝑖</m:t>
                              </m:r>
                            </m:sub>
                            <m:sup/>
                            <m:e>
                              <m:sSup>
                                <m:sSupPr>
                                  <m:ctrlPr>
                                    <a:rPr lang="en-CA" i="1">
                                      <a:latin typeface="Cambria Math" panose="02040503050406030204" pitchFamily="18" charset="0"/>
                                    </a:rPr>
                                  </m:ctrlPr>
                                </m:sSupPr>
                                <m:e>
                                  <m:r>
                                    <a:rPr lang="en-CA" i="1">
                                      <a:latin typeface="Cambria Math" panose="02040503050406030204" pitchFamily="18" charset="0"/>
                                    </a:rPr>
                                    <m:t>𝑒</m:t>
                                  </m:r>
                                </m:e>
                                <m:sup>
                                  <m:sSub>
                                    <m:sSubPr>
                                      <m:ctrlPr>
                                        <a:rPr lang="en-CA" i="1">
                                          <a:latin typeface="Cambria Math" panose="02040503050406030204" pitchFamily="18" charset="0"/>
                                        </a:rPr>
                                      </m:ctrlPr>
                                    </m:sSubPr>
                                    <m:e>
                                      <m:r>
                                        <a:rPr lang="en-CA" i="1">
                                          <a:latin typeface="Cambria Math" panose="02040503050406030204" pitchFamily="18" charset="0"/>
                                        </a:rPr>
                                        <m:t>𝜖</m:t>
                                      </m:r>
                                    </m:e>
                                    <m:sub>
                                      <m:r>
                                        <a:rPr lang="en-CA" i="1">
                                          <a:latin typeface="Cambria Math" panose="02040503050406030204" pitchFamily="18" charset="0"/>
                                        </a:rPr>
                                        <m:t>𝑖</m:t>
                                      </m:r>
                                    </m:sub>
                                  </m:sSub>
                                  <m:r>
                                    <a:rPr lang="en-CA" i="1">
                                      <a:latin typeface="Cambria Math" panose="02040503050406030204" pitchFamily="18" charset="0"/>
                                    </a:rPr>
                                    <m:t>𝛽</m:t>
                                  </m:r>
                                </m:sup>
                              </m:sSup>
                              <m:sSup>
                                <m:sSupPr>
                                  <m:ctrlPr>
                                    <a:rPr lang="en-CA" i="1">
                                      <a:latin typeface="Cambria Math" panose="02040503050406030204" pitchFamily="18" charset="0"/>
                                    </a:rPr>
                                  </m:ctrlPr>
                                </m:sSupPr>
                                <m:e>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𝜙</m:t>
                                          </m:r>
                                        </m:e>
                                        <m:sub>
                                          <m:r>
                                            <a:rPr lang="en-CA" i="1">
                                              <a:latin typeface="Cambria Math" panose="02040503050406030204" pitchFamily="18" charset="0"/>
                                            </a:rPr>
                                            <m:t>𝑖</m:t>
                                          </m:r>
                                        </m:sub>
                                      </m:sSub>
                                      <m:d>
                                        <m:dPr>
                                          <m:ctrlPr>
                                            <a:rPr lang="en-CA" i="1">
                                              <a:latin typeface="Cambria Math" panose="02040503050406030204" pitchFamily="18" charset="0"/>
                                            </a:rPr>
                                          </m:ctrlPr>
                                        </m:dPr>
                                        <m:e>
                                          <m:r>
                                            <a:rPr lang="en-CA" b="1" i="1">
                                              <a:latin typeface="Cambria Math" panose="02040503050406030204" pitchFamily="18" charset="0"/>
                                            </a:rPr>
                                            <m:t>𝒓</m:t>
                                          </m:r>
                                        </m:e>
                                      </m:d>
                                    </m:e>
                                  </m:d>
                                </m:e>
                                <m:sup>
                                  <m:r>
                                    <a:rPr lang="en-CA" i="1">
                                      <a:latin typeface="Cambria Math" panose="02040503050406030204" pitchFamily="18" charset="0"/>
                                    </a:rPr>
                                    <m:t>2</m:t>
                                  </m:r>
                                </m:sup>
                              </m:sSup>
                            </m:e>
                          </m:nary>
                        </m:num>
                        <m:den>
                          <m:nary>
                            <m:naryPr>
                              <m:chr m:val="∑"/>
                              <m:supHide m:val="on"/>
                              <m:ctrlPr>
                                <a:rPr lang="en-CA" i="1">
                                  <a:latin typeface="Cambria Math" panose="02040503050406030204" pitchFamily="18" charset="0"/>
                                </a:rPr>
                              </m:ctrlPr>
                            </m:naryPr>
                            <m:sub>
                              <m:r>
                                <m:rPr>
                                  <m:brk m:alnAt="7"/>
                                </m:rPr>
                                <a:rPr lang="en-CA" i="1">
                                  <a:latin typeface="Cambria Math" panose="02040503050406030204" pitchFamily="18" charset="0"/>
                                </a:rPr>
                                <m:t>𝑖</m:t>
                              </m:r>
                            </m:sub>
                            <m:sup/>
                            <m:e>
                              <m:sSup>
                                <m:sSupPr>
                                  <m:ctrlPr>
                                    <a:rPr lang="en-CA" i="1">
                                      <a:latin typeface="Cambria Math" panose="02040503050406030204" pitchFamily="18" charset="0"/>
                                    </a:rPr>
                                  </m:ctrlPr>
                                </m:sSupPr>
                                <m:e>
                                  <m:r>
                                    <a:rPr lang="en-CA" i="1">
                                      <a:latin typeface="Cambria Math" panose="02040503050406030204" pitchFamily="18" charset="0"/>
                                    </a:rPr>
                                    <m:t>𝑒</m:t>
                                  </m:r>
                                </m:e>
                                <m:sup>
                                  <m:sSub>
                                    <m:sSubPr>
                                      <m:ctrlPr>
                                        <a:rPr lang="en-CA" i="1">
                                          <a:latin typeface="Cambria Math" panose="02040503050406030204" pitchFamily="18" charset="0"/>
                                        </a:rPr>
                                      </m:ctrlPr>
                                    </m:sSubPr>
                                    <m:e>
                                      <m:r>
                                        <a:rPr lang="en-CA" i="1">
                                          <a:latin typeface="Cambria Math" panose="02040503050406030204" pitchFamily="18" charset="0"/>
                                        </a:rPr>
                                        <m:t>𝜖</m:t>
                                      </m:r>
                                    </m:e>
                                    <m:sub>
                                      <m:r>
                                        <a:rPr lang="en-CA" i="1">
                                          <a:latin typeface="Cambria Math" panose="02040503050406030204" pitchFamily="18" charset="0"/>
                                        </a:rPr>
                                        <m:t>𝑖</m:t>
                                      </m:r>
                                    </m:sub>
                                  </m:sSub>
                                  <m:r>
                                    <a:rPr lang="en-CA" i="1">
                                      <a:latin typeface="Cambria Math" panose="02040503050406030204" pitchFamily="18" charset="0"/>
                                    </a:rPr>
                                    <m:t>𝛽</m:t>
                                  </m:r>
                                </m:sup>
                              </m:sSup>
                            </m:e>
                          </m:nary>
                        </m:den>
                      </m:f>
                    </m:oMath>
                  </m:oMathPara>
                </a14:m>
                <a:endParaRPr lang="en-CA" dirty="0"/>
              </a:p>
            </p:txBody>
          </p:sp>
        </mc:Choice>
        <mc:Fallback xmlns="">
          <p:sp>
            <p:nvSpPr>
              <p:cNvPr id="32" name="TextBox 31">
                <a:extLst>
                  <a:ext uri="{FF2B5EF4-FFF2-40B4-BE49-F238E27FC236}">
                    <a16:creationId xmlns:a16="http://schemas.microsoft.com/office/drawing/2014/main" id="{26F3F073-5D5E-4DE1-A720-36689D32DE9B}"/>
                  </a:ext>
                </a:extLst>
              </p:cNvPr>
              <p:cNvSpPr txBox="1">
                <a:spLocks noRot="1" noChangeAspect="1" noMove="1" noResize="1" noEditPoints="1" noAdjustHandles="1" noChangeArrowheads="1" noChangeShapeType="1" noTextEdit="1"/>
              </p:cNvSpPr>
              <p:nvPr/>
            </p:nvSpPr>
            <p:spPr>
              <a:xfrm>
                <a:off x="668894" y="4215969"/>
                <a:ext cx="5280999" cy="740074"/>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049C488-DBDE-426B-9E21-23288ABC3B58}"/>
                  </a:ext>
                </a:extLst>
              </p:cNvPr>
              <p:cNvSpPr txBox="1"/>
              <p:nvPr/>
            </p:nvSpPr>
            <p:spPr>
              <a:xfrm>
                <a:off x="7775032" y="2812371"/>
                <a:ext cx="46552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oMath>
                  </m:oMathPara>
                </a14:m>
                <a:endParaRPr lang="en-CA" dirty="0"/>
              </a:p>
            </p:txBody>
          </p:sp>
        </mc:Choice>
        <mc:Fallback xmlns="">
          <p:sp>
            <p:nvSpPr>
              <p:cNvPr id="34" name="TextBox 33">
                <a:extLst>
                  <a:ext uri="{FF2B5EF4-FFF2-40B4-BE49-F238E27FC236}">
                    <a16:creationId xmlns:a16="http://schemas.microsoft.com/office/drawing/2014/main" id="{8049C488-DBDE-426B-9E21-23288ABC3B58}"/>
                  </a:ext>
                </a:extLst>
              </p:cNvPr>
              <p:cNvSpPr txBox="1">
                <a:spLocks noRot="1" noChangeAspect="1" noMove="1" noResize="1" noEditPoints="1" noAdjustHandles="1" noChangeArrowheads="1" noChangeShapeType="1" noTextEdit="1"/>
              </p:cNvSpPr>
              <p:nvPr/>
            </p:nvSpPr>
            <p:spPr>
              <a:xfrm>
                <a:off x="7775032" y="2812371"/>
                <a:ext cx="465528" cy="369332"/>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2FA02A7-1589-4173-A635-36EC95C777C8}"/>
                  </a:ext>
                </a:extLst>
              </p:cNvPr>
              <p:cNvSpPr txBox="1"/>
              <p:nvPr/>
            </p:nvSpPr>
            <p:spPr>
              <a:xfrm>
                <a:off x="3271229" y="2812371"/>
                <a:ext cx="46552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oMath>
                  </m:oMathPara>
                </a14:m>
                <a:endParaRPr lang="en-CA" dirty="0"/>
              </a:p>
            </p:txBody>
          </p:sp>
        </mc:Choice>
        <mc:Fallback xmlns="">
          <p:sp>
            <p:nvSpPr>
              <p:cNvPr id="35" name="TextBox 34">
                <a:extLst>
                  <a:ext uri="{FF2B5EF4-FFF2-40B4-BE49-F238E27FC236}">
                    <a16:creationId xmlns:a16="http://schemas.microsoft.com/office/drawing/2014/main" id="{D2FA02A7-1589-4173-A635-36EC95C777C8}"/>
                  </a:ext>
                </a:extLst>
              </p:cNvPr>
              <p:cNvSpPr txBox="1">
                <a:spLocks noRot="1" noChangeAspect="1" noMove="1" noResize="1" noEditPoints="1" noAdjustHandles="1" noChangeArrowheads="1" noChangeShapeType="1" noTextEdit="1"/>
              </p:cNvSpPr>
              <p:nvPr/>
            </p:nvSpPr>
            <p:spPr>
              <a:xfrm>
                <a:off x="3271229" y="2812371"/>
                <a:ext cx="465528" cy="369332"/>
              </a:xfrm>
              <a:prstGeom prst="rect">
                <a:avLst/>
              </a:prstGeom>
              <a:blipFill>
                <a:blip r:embed="rId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70F35E3-2B56-4C16-AEA7-8900147407E0}"/>
                  </a:ext>
                </a:extLst>
              </p:cNvPr>
              <p:cNvSpPr txBox="1"/>
              <p:nvPr/>
            </p:nvSpPr>
            <p:spPr>
              <a:xfrm>
                <a:off x="436130" y="4410031"/>
                <a:ext cx="46552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oMath>
                  </m:oMathPara>
                </a14:m>
                <a:endParaRPr lang="en-CA" dirty="0"/>
              </a:p>
            </p:txBody>
          </p:sp>
        </mc:Choice>
        <mc:Fallback xmlns="">
          <p:sp>
            <p:nvSpPr>
              <p:cNvPr id="36" name="TextBox 35">
                <a:extLst>
                  <a:ext uri="{FF2B5EF4-FFF2-40B4-BE49-F238E27FC236}">
                    <a16:creationId xmlns:a16="http://schemas.microsoft.com/office/drawing/2014/main" id="{C70F35E3-2B56-4C16-AEA7-8900147407E0}"/>
                  </a:ext>
                </a:extLst>
              </p:cNvPr>
              <p:cNvSpPr txBox="1">
                <a:spLocks noRot="1" noChangeAspect="1" noMove="1" noResize="1" noEditPoints="1" noAdjustHandles="1" noChangeArrowheads="1" noChangeShapeType="1" noTextEdit="1"/>
              </p:cNvSpPr>
              <p:nvPr/>
            </p:nvSpPr>
            <p:spPr>
              <a:xfrm>
                <a:off x="436130" y="4410031"/>
                <a:ext cx="465528" cy="369332"/>
              </a:xfrm>
              <a:prstGeom prst="rect">
                <a:avLst/>
              </a:prstGeom>
              <a:blipFill>
                <a:blip r:embed="rId10"/>
                <a:stretch>
                  <a:fillRect/>
                </a:stretch>
              </a:blipFill>
            </p:spPr>
            <p:txBody>
              <a:bodyPr/>
              <a:lstStyle/>
              <a:p>
                <a:r>
                  <a:rPr lang="en-CA">
                    <a:noFill/>
                  </a:rPr>
                  <a:t> </a:t>
                </a:r>
              </a:p>
            </p:txBody>
          </p:sp>
        </mc:Fallback>
      </mc:AlternateContent>
      <p:sp>
        <p:nvSpPr>
          <p:cNvPr id="37" name="TextBox 36">
            <a:extLst>
              <a:ext uri="{FF2B5EF4-FFF2-40B4-BE49-F238E27FC236}">
                <a16:creationId xmlns:a16="http://schemas.microsoft.com/office/drawing/2014/main" id="{64920812-A400-469E-BDCC-BC3B196E17B8}"/>
              </a:ext>
            </a:extLst>
          </p:cNvPr>
          <p:cNvSpPr txBox="1"/>
          <p:nvPr/>
        </p:nvSpPr>
        <p:spPr>
          <a:xfrm>
            <a:off x="8037125" y="2245421"/>
            <a:ext cx="3485981" cy="369332"/>
          </a:xfrm>
          <a:prstGeom prst="rect">
            <a:avLst/>
          </a:prstGeom>
          <a:noFill/>
        </p:spPr>
        <p:txBody>
          <a:bodyPr wrap="square">
            <a:spAutoFit/>
          </a:bodyPr>
          <a:lstStyle/>
          <a:p>
            <a:r>
              <a:rPr lang="en-CA" dirty="0">
                <a:latin typeface="+mj-lt"/>
              </a:rPr>
              <a:t>Calculate single-particle partition function</a:t>
            </a:r>
            <a:endParaRPr lang="en-CA"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D656B4D-59FF-4B48-B5F7-D071CD15C9C1}"/>
                  </a:ext>
                </a:extLst>
              </p:cNvPr>
              <p:cNvSpPr txBox="1"/>
              <p:nvPr/>
            </p:nvSpPr>
            <p:spPr>
              <a:xfrm>
                <a:off x="8240560" y="2607836"/>
                <a:ext cx="3656365" cy="15454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𝑄</m:t>
                          </m:r>
                        </m:e>
                        <m:sub>
                          <m:r>
                            <a:rPr lang="en-CA" b="0" i="1" smtClean="0">
                              <a:latin typeface="Cambria Math" panose="02040503050406030204" pitchFamily="18" charset="0"/>
                            </a:rPr>
                            <m:t>𝜇</m:t>
                          </m:r>
                        </m:sub>
                      </m:sSub>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𝑤</m:t>
                          </m:r>
                        </m:e>
                      </m:d>
                      <m:r>
                        <a:rPr lang="en-CA" b="0" i="1" smtClean="0">
                          <a:latin typeface="Cambria Math" panose="02040503050406030204" pitchFamily="18" charset="0"/>
                        </a:rPr>
                        <m:t>=</m:t>
                      </m:r>
                      <m:nary>
                        <m:naryPr>
                          <m:limLoc m:val="undOvr"/>
                          <m:subHide m:val="on"/>
                          <m:supHide m:val="on"/>
                          <m:ctrlPr>
                            <a:rPr lang="en-CA" b="0" i="1" smtClean="0">
                              <a:latin typeface="Cambria Math" panose="02040503050406030204" pitchFamily="18" charset="0"/>
                            </a:rPr>
                          </m:ctrlPr>
                        </m:naryPr>
                        <m:sub/>
                        <m:sup/>
                        <m:e>
                          <m:r>
                            <a:rPr lang="en-CA" b="0" i="1" smtClean="0">
                              <a:latin typeface="Cambria Math" panose="02040503050406030204" pitchFamily="18" charset="0"/>
                            </a:rPr>
                            <m:t>𝑑</m:t>
                          </m:r>
                          <m:r>
                            <a:rPr lang="en-CA" b="1" i="1" smtClean="0">
                              <a:latin typeface="Cambria Math" panose="02040503050406030204" pitchFamily="18" charset="0"/>
                            </a:rPr>
                            <m:t>𝒓</m:t>
                          </m:r>
                        </m:e>
                      </m:nary>
                      <m:sSub>
                        <m:sSubPr>
                          <m:ctrlPr>
                            <a:rPr lang="en-CA" i="1">
                              <a:latin typeface="Cambria Math" panose="02040503050406030204" pitchFamily="18" charset="0"/>
                            </a:rPr>
                          </m:ctrlPr>
                        </m:sSubPr>
                        <m:e>
                          <m:r>
                            <m:rPr>
                              <m:sty m:val="p"/>
                            </m:rPr>
                            <a:rPr lang="en-CA" i="1">
                              <a:latin typeface="Cambria Math" panose="02040503050406030204" pitchFamily="18" charset="0"/>
                            </a:rPr>
                            <m:t>q</m:t>
                          </m:r>
                        </m:e>
                        <m:sub>
                          <m:r>
                            <a:rPr lang="en-CA" i="1">
                              <a:latin typeface="Cambria Math" panose="02040503050406030204" pitchFamily="18" charset="0"/>
                            </a:rPr>
                            <m:t>𝜇</m:t>
                          </m:r>
                        </m:sub>
                      </m:sSub>
                      <m:d>
                        <m:dPr>
                          <m:ctrlPr>
                            <a:rPr lang="en-CA" i="1">
                              <a:latin typeface="Cambria Math" panose="02040503050406030204" pitchFamily="18" charset="0"/>
                            </a:rPr>
                          </m:ctrlPr>
                        </m:dPr>
                        <m:e>
                          <m:r>
                            <a:rPr lang="en-CA" b="1" i="1">
                              <a:latin typeface="Cambria Math" panose="02040503050406030204" pitchFamily="18" charset="0"/>
                            </a:rPr>
                            <m:t>𝒓</m:t>
                          </m:r>
                          <m:r>
                            <a:rPr lang="en-CA" b="1" i="1">
                              <a:latin typeface="Cambria Math" panose="02040503050406030204" pitchFamily="18" charset="0"/>
                            </a:rPr>
                            <m:t>,</m:t>
                          </m:r>
                          <m:r>
                            <a:rPr lang="en-CA" b="1" i="1" smtClean="0">
                              <a:latin typeface="Cambria Math" panose="02040503050406030204" pitchFamily="18" charset="0"/>
                            </a:rPr>
                            <m:t>𝒓</m:t>
                          </m:r>
                          <m:r>
                            <a:rPr lang="en-CA" b="1" i="1">
                              <a:latin typeface="Cambria Math" panose="02040503050406030204" pitchFamily="18" charset="0"/>
                            </a:rPr>
                            <m:t>,</m:t>
                          </m:r>
                          <m:r>
                            <a:rPr lang="en-CA" i="1">
                              <a:latin typeface="Cambria Math" panose="02040503050406030204" pitchFamily="18" charset="0"/>
                            </a:rPr>
                            <m:t>𝛽</m:t>
                          </m:r>
                        </m:e>
                      </m:d>
                    </m:oMath>
                    <m:oMath xmlns:m="http://schemas.openxmlformats.org/officeDocument/2006/math">
                      <m:r>
                        <a:rPr lang="en-CA" b="0" i="1" smtClean="0">
                          <a:latin typeface="Cambria Math" panose="02040503050406030204" pitchFamily="18" charset="0"/>
                        </a:rPr>
                        <m:t>=</m:t>
                      </m:r>
                      <m:nary>
                        <m:naryPr>
                          <m:limLoc m:val="undOvr"/>
                          <m:subHide m:val="on"/>
                          <m:supHide m:val="on"/>
                          <m:ctrlPr>
                            <a:rPr lang="en-CA" i="1">
                              <a:latin typeface="Cambria Math" panose="02040503050406030204" pitchFamily="18" charset="0"/>
                            </a:rPr>
                          </m:ctrlPr>
                        </m:naryPr>
                        <m:sub/>
                        <m:sup/>
                        <m:e>
                          <m:r>
                            <a:rPr lang="en-CA" i="1">
                              <a:latin typeface="Cambria Math" panose="02040503050406030204" pitchFamily="18" charset="0"/>
                            </a:rPr>
                            <m:t>𝑑</m:t>
                          </m:r>
                          <m:r>
                            <a:rPr lang="en-CA" b="1" i="1">
                              <a:latin typeface="Cambria Math" panose="02040503050406030204" pitchFamily="18" charset="0"/>
                            </a:rPr>
                            <m:t>𝒓</m:t>
                          </m:r>
                        </m:e>
                      </m:nary>
                      <m:nary>
                        <m:naryPr>
                          <m:chr m:val="∑"/>
                          <m:supHide m:val="on"/>
                          <m:ctrlPr>
                            <a:rPr lang="en-CA" i="1">
                              <a:latin typeface="Cambria Math" panose="02040503050406030204" pitchFamily="18" charset="0"/>
                            </a:rPr>
                          </m:ctrlPr>
                        </m:naryPr>
                        <m:sub>
                          <m:r>
                            <m:rPr>
                              <m:brk m:alnAt="7"/>
                            </m:rPr>
                            <a:rPr lang="en-CA" i="1">
                              <a:latin typeface="Cambria Math" panose="02040503050406030204" pitchFamily="18" charset="0"/>
                            </a:rPr>
                            <m:t>𝑖</m:t>
                          </m:r>
                        </m:sub>
                        <m:sup/>
                        <m:e>
                          <m:sSup>
                            <m:sSupPr>
                              <m:ctrlPr>
                                <a:rPr lang="en-CA" i="1">
                                  <a:latin typeface="Cambria Math" panose="02040503050406030204" pitchFamily="18" charset="0"/>
                                </a:rPr>
                              </m:ctrlPr>
                            </m:sSupPr>
                            <m:e>
                              <m:r>
                                <a:rPr lang="en-CA" i="1">
                                  <a:latin typeface="Cambria Math" panose="02040503050406030204" pitchFamily="18" charset="0"/>
                                </a:rPr>
                                <m:t>𝑒</m:t>
                              </m:r>
                            </m:e>
                            <m:sup>
                              <m:sSub>
                                <m:sSubPr>
                                  <m:ctrlPr>
                                    <a:rPr lang="en-CA" i="1">
                                      <a:latin typeface="Cambria Math" panose="02040503050406030204" pitchFamily="18" charset="0"/>
                                    </a:rPr>
                                  </m:ctrlPr>
                                </m:sSubPr>
                                <m:e>
                                  <m:r>
                                    <a:rPr lang="en-CA" i="1">
                                      <a:latin typeface="Cambria Math" panose="02040503050406030204" pitchFamily="18" charset="0"/>
                                    </a:rPr>
                                    <m:t>𝜖</m:t>
                                  </m:r>
                                </m:e>
                                <m:sub>
                                  <m:r>
                                    <a:rPr lang="en-CA" i="1">
                                      <a:latin typeface="Cambria Math" panose="02040503050406030204" pitchFamily="18" charset="0"/>
                                    </a:rPr>
                                    <m:t>𝑖</m:t>
                                  </m:r>
                                </m:sub>
                              </m:sSub>
                              <m:r>
                                <a:rPr lang="en-CA" i="1">
                                  <a:latin typeface="Cambria Math" panose="02040503050406030204" pitchFamily="18" charset="0"/>
                                </a:rPr>
                                <m:t>𝛽</m:t>
                              </m:r>
                            </m:sup>
                          </m:sSup>
                          <m:sSup>
                            <m:sSupPr>
                              <m:ctrlPr>
                                <a:rPr lang="en-CA" i="1">
                                  <a:latin typeface="Cambria Math" panose="02040503050406030204" pitchFamily="18" charset="0"/>
                                </a:rPr>
                              </m:ctrlPr>
                            </m:sSupPr>
                            <m:e>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𝜙</m:t>
                                      </m:r>
                                    </m:e>
                                    <m:sub>
                                      <m:r>
                                        <a:rPr lang="en-CA" i="1">
                                          <a:latin typeface="Cambria Math" panose="02040503050406030204" pitchFamily="18" charset="0"/>
                                        </a:rPr>
                                        <m:t>𝑖</m:t>
                                      </m:r>
                                    </m:sub>
                                  </m:sSub>
                                  <m:d>
                                    <m:dPr>
                                      <m:ctrlPr>
                                        <a:rPr lang="en-CA" i="1">
                                          <a:latin typeface="Cambria Math" panose="02040503050406030204" pitchFamily="18" charset="0"/>
                                        </a:rPr>
                                      </m:ctrlPr>
                                    </m:dPr>
                                    <m:e>
                                      <m:r>
                                        <a:rPr lang="en-CA" b="1" i="1">
                                          <a:latin typeface="Cambria Math" panose="02040503050406030204" pitchFamily="18" charset="0"/>
                                        </a:rPr>
                                        <m:t>𝒓</m:t>
                                      </m:r>
                                    </m:e>
                                  </m:d>
                                </m:e>
                              </m:d>
                            </m:e>
                            <m:sup>
                              <m:r>
                                <a:rPr lang="en-CA" i="1">
                                  <a:latin typeface="Cambria Math" panose="02040503050406030204" pitchFamily="18" charset="0"/>
                                </a:rPr>
                                <m:t>2</m:t>
                              </m:r>
                            </m:sup>
                          </m:sSup>
                        </m:e>
                      </m:nary>
                      <m:r>
                        <a:rPr lang="en-CA" b="0" i="1" smtClean="0">
                          <a:latin typeface="Cambria Math" panose="02040503050406030204" pitchFamily="18" charset="0"/>
                        </a:rPr>
                        <m:t>=</m:t>
                      </m:r>
                      <m:nary>
                        <m:naryPr>
                          <m:chr m:val="∑"/>
                          <m:supHide m:val="on"/>
                          <m:ctrlPr>
                            <a:rPr lang="en-CA" i="1">
                              <a:latin typeface="Cambria Math" panose="02040503050406030204" pitchFamily="18" charset="0"/>
                            </a:rPr>
                          </m:ctrlPr>
                        </m:naryPr>
                        <m:sub>
                          <m:r>
                            <m:rPr>
                              <m:brk m:alnAt="7"/>
                            </m:rPr>
                            <a:rPr lang="en-CA" i="1">
                              <a:latin typeface="Cambria Math" panose="02040503050406030204" pitchFamily="18" charset="0"/>
                            </a:rPr>
                            <m:t>𝑖</m:t>
                          </m:r>
                        </m:sub>
                        <m:sup/>
                        <m:e>
                          <m:sSup>
                            <m:sSupPr>
                              <m:ctrlPr>
                                <a:rPr lang="en-CA" i="1">
                                  <a:latin typeface="Cambria Math" panose="02040503050406030204" pitchFamily="18" charset="0"/>
                                </a:rPr>
                              </m:ctrlPr>
                            </m:sSupPr>
                            <m:e>
                              <m:r>
                                <a:rPr lang="en-CA" i="1">
                                  <a:latin typeface="Cambria Math" panose="02040503050406030204" pitchFamily="18" charset="0"/>
                                </a:rPr>
                                <m:t>𝑒</m:t>
                              </m:r>
                            </m:e>
                            <m:sup>
                              <m:sSub>
                                <m:sSubPr>
                                  <m:ctrlPr>
                                    <a:rPr lang="en-CA" i="1">
                                      <a:latin typeface="Cambria Math" panose="02040503050406030204" pitchFamily="18" charset="0"/>
                                    </a:rPr>
                                  </m:ctrlPr>
                                </m:sSubPr>
                                <m:e>
                                  <m:r>
                                    <a:rPr lang="en-CA" i="1">
                                      <a:latin typeface="Cambria Math" panose="02040503050406030204" pitchFamily="18" charset="0"/>
                                    </a:rPr>
                                    <m:t>𝜖</m:t>
                                  </m:r>
                                </m:e>
                                <m:sub>
                                  <m:r>
                                    <a:rPr lang="en-CA" i="1">
                                      <a:latin typeface="Cambria Math" panose="02040503050406030204" pitchFamily="18" charset="0"/>
                                    </a:rPr>
                                    <m:t>𝑖</m:t>
                                  </m:r>
                                </m:sub>
                              </m:sSub>
                              <m:r>
                                <a:rPr lang="en-CA" i="1">
                                  <a:latin typeface="Cambria Math" panose="02040503050406030204" pitchFamily="18" charset="0"/>
                                </a:rPr>
                                <m:t>𝛽</m:t>
                              </m:r>
                            </m:sup>
                          </m:sSup>
                        </m:e>
                      </m:nary>
                    </m:oMath>
                  </m:oMathPara>
                </a14:m>
                <a:endParaRPr lang="en-CA" dirty="0"/>
              </a:p>
            </p:txBody>
          </p:sp>
        </mc:Choice>
        <mc:Fallback xmlns="">
          <p:sp>
            <p:nvSpPr>
              <p:cNvPr id="38" name="TextBox 37">
                <a:extLst>
                  <a:ext uri="{FF2B5EF4-FFF2-40B4-BE49-F238E27FC236}">
                    <a16:creationId xmlns:a16="http://schemas.microsoft.com/office/drawing/2014/main" id="{7D656B4D-59FF-4B48-B5F7-D071CD15C9C1}"/>
                  </a:ext>
                </a:extLst>
              </p:cNvPr>
              <p:cNvSpPr txBox="1">
                <a:spLocks noRot="1" noChangeAspect="1" noMove="1" noResize="1" noEditPoints="1" noAdjustHandles="1" noChangeArrowheads="1" noChangeShapeType="1" noTextEdit="1"/>
              </p:cNvSpPr>
              <p:nvPr/>
            </p:nvSpPr>
            <p:spPr>
              <a:xfrm>
                <a:off x="8240560" y="2607836"/>
                <a:ext cx="3656365" cy="1545423"/>
              </a:xfrm>
              <a:prstGeom prst="rect">
                <a:avLst/>
              </a:prstGeom>
              <a:blipFill>
                <a:blip r:embed="rId11"/>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3493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Custom 8">
      <a:dk1>
        <a:srgbClr val="000000"/>
      </a:dk1>
      <a:lt1>
        <a:srgbClr val="FFFFFF"/>
      </a:lt1>
      <a:dk2>
        <a:srgbClr val="757575"/>
      </a:dk2>
      <a:lt2>
        <a:srgbClr val="D6D6D6"/>
      </a:lt2>
      <a:accent1>
        <a:srgbClr val="63A0FF"/>
      </a:accent1>
      <a:accent2>
        <a:srgbClr val="000000"/>
      </a:accent2>
      <a:accent3>
        <a:srgbClr val="0073CE"/>
      </a:accent3>
      <a:accent4>
        <a:srgbClr val="B2D3FF"/>
      </a:accent4>
      <a:accent5>
        <a:srgbClr val="0033BD"/>
      </a:accent5>
      <a:accent6>
        <a:srgbClr val="62A0FF"/>
      </a:accent6>
      <a:hlink>
        <a:srgbClr val="0033BD"/>
      </a:hlink>
      <a:folHlink>
        <a:srgbClr val="595959"/>
      </a:folHlink>
    </a:clrScheme>
    <a:fontScheme name="Custom 7">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culty_of_science_powerpoint_template_16-9_widescreen" id="{4B02A63D-EFDB-4542-8111-F91B73883A89}" vid="{80FB7268-E644-784A-B5F7-63C0996B8E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64868</TotalTime>
  <Words>3389</Words>
  <Application>Microsoft Office PowerPoint</Application>
  <PresentationFormat>Widescreen</PresentationFormat>
  <Paragraphs>301</Paragraphs>
  <Slides>24</Slides>
  <Notes>24</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-apple-system</vt:lpstr>
      <vt:lpstr>Arial</vt:lpstr>
      <vt:lpstr>Barlow Condensed</vt:lpstr>
      <vt:lpstr>Calibri</vt:lpstr>
      <vt:lpstr>Calibri Light</vt:lpstr>
      <vt:lpstr>Cambria Math</vt:lpstr>
      <vt:lpstr>Georgia</vt:lpstr>
      <vt:lpstr>Verdana</vt:lpstr>
      <vt:lpstr>Wingdings</vt:lpstr>
      <vt:lpstr>UofWaterloo_WhiteBkgrd</vt:lpstr>
      <vt:lpstr>Atomic Shell Structure IN A Polymer-Based Approach to Orbital-Free Density-Functional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Classical Trajectory</dc:title>
  <dc:creator>Phil LeMaitre</dc:creator>
  <cp:lastModifiedBy>Phil LeMaitre</cp:lastModifiedBy>
  <cp:revision>699</cp:revision>
  <dcterms:created xsi:type="dcterms:W3CDTF">2021-02-21T01:11:45Z</dcterms:created>
  <dcterms:modified xsi:type="dcterms:W3CDTF">2022-06-09T17:13:35Z</dcterms:modified>
</cp:coreProperties>
</file>