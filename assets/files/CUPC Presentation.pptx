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omments/comment1.xml" ContentType="application/vnd.openxmlformats-officedocument.presentationml.comments+xml"/>
  <Override PartName="/ppt/comments/comment2.xml" ContentType="application/vnd.openxmlformats-officedocument.presentationml.comments+xml"/>
  <Override PartName="/ppt/notesSlides/notesSlide3.xml" ContentType="application/vnd.openxmlformats-officedocument.presentationml.notesSlide+xml"/>
  <Override PartName="/ppt/comments/comment3.xml" ContentType="application/vnd.openxmlformats-officedocument.presentationml.comments+xml"/>
  <Override PartName="/ppt/comments/comment4.xml" ContentType="application/vnd.openxmlformats-officedocument.presentationml.comments+xml"/>
  <Override PartName="/ppt/comments/comment5.xml" ContentType="application/vnd.openxmlformats-officedocument.presentationml.comments+xml"/>
  <Override PartName="/ppt/comments/comment6.xml" ContentType="application/vnd.openxmlformats-officedocument.presentationml.comments+xml"/>
  <Override PartName="/ppt/comments/comment7.xml" ContentType="application/vnd.openxmlformats-officedocument.presentationml.comments+xml"/>
  <Override PartName="/ppt/comments/comment8.xml" ContentType="application/vnd.openxmlformats-officedocument.presentationml.comments+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14"/>
  </p:notesMasterIdLst>
  <p:handoutMasterIdLst>
    <p:handoutMasterId r:id="rId15"/>
  </p:handoutMasterIdLst>
  <p:sldIdLst>
    <p:sldId id="257" r:id="rId2"/>
    <p:sldId id="281" r:id="rId3"/>
    <p:sldId id="282" r:id="rId4"/>
    <p:sldId id="291" r:id="rId5"/>
    <p:sldId id="300" r:id="rId6"/>
    <p:sldId id="287" r:id="rId7"/>
    <p:sldId id="294" r:id="rId8"/>
    <p:sldId id="295" r:id="rId9"/>
    <p:sldId id="261" r:id="rId10"/>
    <p:sldId id="298" r:id="rId11"/>
    <p:sldId id="303" r:id="rId12"/>
    <p:sldId id="30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il Lemaitre" initials="PL" lastIdx="124" clrIdx="0">
    <p:extLst>
      <p:ext uri="{19B8F6BF-5375-455C-9EA6-DF929625EA0E}">
        <p15:presenceInfo xmlns:p15="http://schemas.microsoft.com/office/powerpoint/2012/main" userId="ed6183d04514a5e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94660"/>
  </p:normalViewPr>
  <p:slideViewPr>
    <p:cSldViewPr snapToGrid="0">
      <p:cViewPr varScale="1">
        <p:scale>
          <a:sx n="99" d="100"/>
          <a:sy n="99" d="100"/>
        </p:scale>
        <p:origin x="90" y="28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commentAuthors" Target="commentAuthors.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9-04-02T19:47:31.872" idx="46">
    <p:pos x="2659" y="245"/>
    <p:text>defined as compact if it has a large mass/radius ratio</p:text>
    <p:extLst mod="1">
      <p:ext uri="{C676402C-5697-4E1C-873F-D02D1690AC5C}">
        <p15:threadingInfo xmlns:p15="http://schemas.microsoft.com/office/powerpoint/2012/main" timeZoneBias="240"/>
      </p:ext>
    </p:extLst>
  </p:cm>
  <p:cm authorId="1" dt="2019-04-02T19:47:43.043" idx="47">
    <p:pos x="4865" y="250"/>
    <p:text>Compact stars that are not black holes are called degenerate stars, which is referring to the degeneracy pressure supplied by either electrons or baryons, that prevents further collapse to a black hole</p:text>
    <p:extLst mod="1">
      <p:ext uri="{C676402C-5697-4E1C-873F-D02D1690AC5C}">
        <p15:threadingInfo xmlns:p15="http://schemas.microsoft.com/office/powerpoint/2012/main" timeZoneBias="240"/>
      </p:ext>
    </p:extLst>
  </p:cm>
  <p:cm authorId="1" dt="2019-04-02T19:48:03.598" idx="48">
    <p:pos x="7469" y="45"/>
    <p:text>Nuclear fusion no longer happens, so they slowly radiate heat until they cool to equilibrium or evaporate (black holes)</p:text>
    <p:extLst>
      <p:ext uri="{C676402C-5697-4E1C-873F-D02D1690AC5C}">
        <p15:threadingInfo xmlns:p15="http://schemas.microsoft.com/office/powerpoint/2012/main" timeZoneBias="240"/>
      </p:ext>
    </p:extLst>
  </p:cm>
  <p:cm authorId="1" dt="2019-04-02T19:48:38.494" idx="49">
    <p:pos x="3143" y="747"/>
    <p:text>Each compact object behaves according to a specific equation of state, so measuring the energies of these objects allows for a determination of what they are by the corresponding EoS</p:text>
    <p:extLst>
      <p:ext uri="{C676402C-5697-4E1C-873F-D02D1690AC5C}">
        <p15:threadingInfo xmlns:p15="http://schemas.microsoft.com/office/powerpoint/2012/main" timeZoneBias="240"/>
      </p:ext>
    </p:extLst>
  </p:cm>
  <p:cm authorId="1" dt="2019-04-02T20:23:01.987" idx="80">
    <p:pos x="3143" y="883"/>
    <p:text>The exception being quark stars, because we are unsure of what their equation of state is</p:text>
    <p:extLst>
      <p:ext uri="{C676402C-5697-4E1C-873F-D02D1690AC5C}">
        <p15:threadingInfo xmlns:p15="http://schemas.microsoft.com/office/powerpoint/2012/main" timeZoneBias="240">
          <p15:parentCm authorId="1" idx="49"/>
        </p15:threadingInfo>
      </p:ext>
    </p:extLst>
  </p:cm>
  <p:cm authorId="1" dt="2019-04-02T19:49:57.950" idx="52">
    <p:pos x="3661" y="1677"/>
    <p:text>Other versions of Neutron stars include magnetars and pulsars</p:text>
    <p:extLst mod="1">
      <p:ext uri="{C676402C-5697-4E1C-873F-D02D1690AC5C}">
        <p15:threadingInfo xmlns:p15="http://schemas.microsoft.com/office/powerpoint/2012/main" timeZoneBias="240"/>
      </p:ext>
    </p:extLst>
  </p:cm>
  <p:cm authorId="1" dt="2019-04-02T19:50:20.466" idx="53">
    <p:pos x="2529" y="1673"/>
    <p:text>We can detect neutron stars by detecting high energy photon emissions from accreting binary companions, collisions, and pulsars. We can also detect gravitational waves of merger events and assign a mass range for the corresponding energy.</p:text>
    <p:extLst mod="1">
      <p:ext uri="{C676402C-5697-4E1C-873F-D02D1690AC5C}">
        <p15:threadingInfo xmlns:p15="http://schemas.microsoft.com/office/powerpoint/2012/main" timeZoneBias="240"/>
      </p:ext>
    </p:extLst>
  </p:cm>
  <p:cm authorId="1" dt="2019-04-02T19:50:58.226" idx="54">
    <p:pos x="3121" y="3627"/>
    <p:text>A Black holes entropy is classically proportional to its surface area, and its mass is proportional to its Schwarzschild radius</p:text>
    <p:extLst mod="1">
      <p:ext uri="{C676402C-5697-4E1C-873F-D02D1690AC5C}">
        <p15:threadingInfo xmlns:p15="http://schemas.microsoft.com/office/powerpoint/2012/main" timeZoneBias="240"/>
      </p:ext>
    </p:extLst>
  </p:cm>
  <p:cm authorId="1" dt="2019-04-02T19:51:19.429" idx="55">
    <p:pos x="4650" y="1217"/>
    <p:text>Masses can be measured based on a few techniques; gravitalional lensing measures the amount that light is bent on its path towards Earth, then calculate the mass required to bend the light ray to its observed path, another way is to use the temperature, luminosity or orbital velocity  obtained through measuring collected photons, and then use some physical law that relates these quantities to determine the mass. (Could also work for radius)</p:text>
    <p:extLst mod="1">
      <p:ext uri="{C676402C-5697-4E1C-873F-D02D1690AC5C}">
        <p15:threadingInfo xmlns:p15="http://schemas.microsoft.com/office/powerpoint/2012/main" timeZoneBias="240"/>
      </p:ext>
    </p:extLst>
  </p:cm>
  <p:cm authorId="1" dt="2019-04-02T19:51:41.114" idx="56">
    <p:pos x="5140" y="3384"/>
    <p:text>Astronomical Unit, defined as the distance between the Earth and Sun on average</p:text>
    <p:extLst mod="1">
      <p:ext uri="{C676402C-5697-4E1C-873F-D02D1690AC5C}">
        <p15:threadingInfo xmlns:p15="http://schemas.microsoft.com/office/powerpoint/2012/main" timeZoneBias="240"/>
      </p:ext>
    </p:extLst>
  </p:cm>
  <p:cm authorId="1" dt="2019-04-02T19:52:02.988" idx="57">
    <p:pos x="7362" y="3406"/>
    <p:text>Black holes grow in size by accreting more matter, so it is thought that the densest region of galaxies is near the centre, so black holes that form there have an abundance of material to increase their mass to such large values, also galaxy mergers</p:text>
    <p:extLst mod="1">
      <p:ext uri="{C676402C-5697-4E1C-873F-D02D1690AC5C}">
        <p15:threadingInfo xmlns:p15="http://schemas.microsoft.com/office/powerpoint/2012/main" timeZoneBias="240"/>
      </p:ext>
    </p:extLst>
  </p:cm>
  <p:cm authorId="1" dt="2019-04-02T19:52:55.530" idx="58">
    <p:pos x="5701" y="3364"/>
    <p:text>For reference, the edge of the solar system is at about 120 AU, so this upper bound is roughly 3 times the size of our solar system</p:text>
    <p:extLst mod="1">
      <p:ext uri="{C676402C-5697-4E1C-873F-D02D1690AC5C}">
        <p15:threadingInfo xmlns:p15="http://schemas.microsoft.com/office/powerpoint/2012/main" timeZoneBias="240"/>
      </p:ext>
    </p:extLst>
  </p:cm>
  <p:cm authorId="1" dt="2019-04-02T19:56:12.381" idx="59">
    <p:pos x="2430" y="673"/>
    <p:text>Nova forms white dwarf, supernova forms neutron star and quark star, hypernova forms black hole</p:text>
    <p:extLst>
      <p:ext uri="{C676402C-5697-4E1C-873F-D02D1690AC5C}">
        <p15:threadingInfo xmlns:p15="http://schemas.microsoft.com/office/powerpoint/2012/main" timeZoneBias="240"/>
      </p:ext>
    </p:extLst>
  </p:cm>
  <p:cm authorId="1" dt="2019-04-02T19:58:04.697" idx="62">
    <p:pos x="2279" y="1594"/>
    <p:text>Electron degeneracy pressure for white dwarfs and neutron degeneracy pressure for neutron stars halt further collapse to black hole.</p:text>
    <p:extLst>
      <p:ext uri="{C676402C-5697-4E1C-873F-D02D1690AC5C}">
        <p15:threadingInfo xmlns:p15="http://schemas.microsoft.com/office/powerpoint/2012/main" timeZoneBias="240"/>
      </p:ext>
    </p:extLst>
  </p:cm>
  <p:cm authorId="1" dt="2019-04-02T19:58:36.746" idx="63">
    <p:pos x="2279" y="1730"/>
    <p:text>Pauli exclusion principle forbids identical fermions from occupying the same state, so the electrons exert a pressure that combats the gravitational force, the end result is the occupation of all low lying energy levels, which gives the resulting valence electrons relativistic energy.</p:text>
    <p:extLst>
      <p:ext uri="{C676402C-5697-4E1C-873F-D02D1690AC5C}">
        <p15:threadingInfo xmlns:p15="http://schemas.microsoft.com/office/powerpoint/2012/main" timeZoneBias="240">
          <p15:parentCm authorId="1" idx="62"/>
        </p15:threadingInfo>
      </p:ext>
    </p:extLst>
  </p:cm>
  <p:cm authorId="1" dt="2019-04-02T19:58:49.061" idx="64">
    <p:pos x="2279" y="1866"/>
    <p:text>combat the gravitational force, the nucleons will exert a pressure that prevents further collapse. The electrons and protons are pushed together to form neutrons and hence the composition of neutron stars is entirely neutrons.</p:text>
    <p:extLst>
      <p:ext uri="{C676402C-5697-4E1C-873F-D02D1690AC5C}">
        <p15:threadingInfo xmlns:p15="http://schemas.microsoft.com/office/powerpoint/2012/main" timeZoneBias="240">
          <p15:parentCm authorId="1" idx="62"/>
        </p15:threadingInfo>
      </p:ext>
    </p:extLst>
  </p:cm>
  <p:cm authorId="1" dt="2019-04-02T19:58:56.906" idx="65">
    <p:pos x="4" y="3374"/>
    <p:text>Extremely dense regions of the early universe also thought to give rise to compact objects</p:text>
    <p:extLst>
      <p:ext uri="{C676402C-5697-4E1C-873F-D02D1690AC5C}">
        <p15:threadingInfo xmlns:p15="http://schemas.microsoft.com/office/powerpoint/2012/main" timeZoneBias="240"/>
      </p:ext>
    </p:extLst>
  </p:cm>
  <p:cm authorId="1" dt="2019-04-02T20:38:16.113" idx="83">
    <p:pos x="7089" y="2945"/>
    <p:text>Globular clusters are very dense spherical  clusters of generally old low-metal stars bound together by gravity, they havent been observed to have star formation in them and are clear of gas and dust.</p:text>
    <p:extLst mod="1">
      <p:ext uri="{C676402C-5697-4E1C-873F-D02D1690AC5C}">
        <p15:threadingInfo xmlns:p15="http://schemas.microsoft.com/office/powerpoint/2012/main" timeZoneBias="240"/>
      </p:ext>
    </p:extLst>
  </p:cm>
  <p:cm authorId="1" dt="2019-04-02T20:52:39.140" idx="84">
    <p:pos x="7089" y="3081"/>
    <p:text>It is thought that they are the remnants of dwarf galaxy cores from the merger with a larger parent galaxy</p:text>
    <p:extLst mod="1">
      <p:ext uri="{C676402C-5697-4E1C-873F-D02D1690AC5C}">
        <p15:threadingInfo xmlns:p15="http://schemas.microsoft.com/office/powerpoint/2012/main" timeZoneBias="240">
          <p15:parentCm authorId="1" idx="83"/>
        </p15:threadingInfo>
      </p:ext>
    </p:extLst>
  </p:cm>
  <p:cm authorId="1" dt="2019-04-02T20:53:25.531" idx="85">
    <p:pos x="7089" y="3217"/>
    <p:text>due to the density of stars, they routinely collide and form compact stars.</p:text>
    <p:extLst mod="1">
      <p:ext uri="{C676402C-5697-4E1C-873F-D02D1690AC5C}">
        <p15:threadingInfo xmlns:p15="http://schemas.microsoft.com/office/powerpoint/2012/main" timeZoneBias="240">
          <p15:parentCm authorId="1" idx="83"/>
        </p15:threadingInfo>
      </p:ext>
    </p:extLst>
  </p:cm>
</p:cmLst>
</file>

<file path=ppt/comments/comment2.xml><?xml version="1.0" encoding="utf-8"?>
<p:cmLst xmlns:a="http://schemas.openxmlformats.org/drawingml/2006/main" xmlns:r="http://schemas.openxmlformats.org/officeDocument/2006/relationships" xmlns:p="http://schemas.openxmlformats.org/presentationml/2006/main">
  <p:cm authorId="1" dt="2019-04-02T21:31:35.795" idx="95">
    <p:pos x="7467" y="1664"/>
    <p:text>we know this based on comparison with the work done by chandrashekar, wheeler, tooper, etc.</p:text>
    <p:extLst>
      <p:ext uri="{C676402C-5697-4E1C-873F-D02D1690AC5C}">
        <p15:threadingInfo xmlns:p15="http://schemas.microsoft.com/office/powerpoint/2012/main" timeZoneBias="240"/>
      </p:ext>
    </p:extLst>
  </p:cm>
  <p:cm authorId="1" dt="2019-04-02T21:37:40.060" idx="98">
    <p:pos x="4519" y="2748"/>
    <p:text>Stability mechanism prevents the complete collapse to a black hole, which is to the right of this plot (where the Schwarzschild radius is)</p:text>
    <p:extLst>
      <p:ext uri="{C676402C-5697-4E1C-873F-D02D1690AC5C}">
        <p15:threadingInfo xmlns:p15="http://schemas.microsoft.com/office/powerpoint/2012/main" timeZoneBias="240"/>
      </p:ext>
    </p:extLst>
  </p:cm>
  <p:cm authorId="1" dt="2019-04-02T21:38:28.716" idx="100">
    <p:pos x="35" y="4123"/>
    <p:text>Much more complicated than the thin-shell approach, which yields similar conclusions</p:text>
    <p:extLst>
      <p:ext uri="{C676402C-5697-4E1C-873F-D02D1690AC5C}">
        <p15:threadingInfo xmlns:p15="http://schemas.microsoft.com/office/powerpoint/2012/main" timeZoneBias="240"/>
      </p:ext>
    </p:extLst>
  </p:cm>
  <p:cm authorId="1" dt="2019-11-03T19:49:21.776" idx="118">
    <p:pos x="7462" y="34"/>
    <p:text>Geometrized units for relativistic gravity are used unless otherwise stated</p:text>
    <p:extLst>
      <p:ext uri="{C676402C-5697-4E1C-873F-D02D1690AC5C}">
        <p15:threadingInfo xmlns:p15="http://schemas.microsoft.com/office/powerpoint/2012/main" timeZoneBias="300"/>
      </p:ext>
    </p:extLst>
  </p:cm>
  <p:cm authorId="1" dt="2019-11-03T19:55:49.124" idx="119">
    <p:pos x="1780" y="1338"/>
    <p:text>Realistic and nonrotating neutron stars are thought to have an upper mass bound around 2.2 solar masses</p:text>
    <p:extLst>
      <p:ext uri="{C676402C-5697-4E1C-873F-D02D1690AC5C}">
        <p15:threadingInfo xmlns:p15="http://schemas.microsoft.com/office/powerpoint/2012/main" timeZoneBias="300"/>
      </p:ext>
    </p:extLst>
  </p:cm>
  <p:cm authorId="1" dt="2019-11-03T19:57:48.833" idx="120">
    <p:pos x="1780" y="1474"/>
    <p:text>rotating neutron stars can push this bound up</p:text>
    <p:extLst>
      <p:ext uri="{C676402C-5697-4E1C-873F-D02D1690AC5C}">
        <p15:threadingInfo xmlns:p15="http://schemas.microsoft.com/office/powerpoint/2012/main" timeZoneBias="300">
          <p15:parentCm authorId="1" idx="119"/>
        </p15:threadingInfo>
      </p:ext>
    </p:extLst>
  </p:cm>
  <p:cm authorId="1" dt="2019-11-03T19:59:00.369" idx="121">
    <p:pos x="5212" y="598"/>
    <p:text>This is the state the star spends the majority of its life in</p:text>
    <p:extLst>
      <p:ext uri="{C676402C-5697-4E1C-873F-D02D1690AC5C}">
        <p15:threadingInfo xmlns:p15="http://schemas.microsoft.com/office/powerpoint/2012/main" timeZoneBias="300"/>
      </p:ext>
    </p:extLst>
  </p:cm>
  <p:cm authorId="1" dt="2019-11-03T20:00:08.987" idx="122">
    <p:pos x="4060" y="2902"/>
    <p:text>Could be interpreted as some nuclear pressure that halts gravitational collapse (i.e. quark degeneracy)</p:text>
    <p:extLst>
      <p:ext uri="{C676402C-5697-4E1C-873F-D02D1690AC5C}">
        <p15:threadingInfo xmlns:p15="http://schemas.microsoft.com/office/powerpoint/2012/main" timeZoneBias="300"/>
      </p:ext>
    </p:extLst>
  </p:cm>
</p:cmLst>
</file>

<file path=ppt/comments/comment3.xml><?xml version="1.0" encoding="utf-8"?>
<p:cmLst xmlns:a="http://schemas.openxmlformats.org/drawingml/2006/main" xmlns:r="http://schemas.openxmlformats.org/officeDocument/2006/relationships" xmlns:p="http://schemas.openxmlformats.org/presentationml/2006/main">
  <p:cm authorId="1" dt="2019-10-31T22:32:15.514" idx="108">
    <p:pos x="7334" y="859"/>
    <p:text>potentially reorganize this slide</p:text>
    <p:extLst>
      <p:ext uri="{C676402C-5697-4E1C-873F-D02D1690AC5C}">
        <p15:threadingInfo xmlns:p15="http://schemas.microsoft.com/office/powerpoint/2012/main" timeZoneBias="240"/>
      </p:ext>
    </p:extLst>
  </p:cm>
</p:cmLst>
</file>

<file path=ppt/comments/comment4.xml><?xml version="1.0" encoding="utf-8"?>
<p:cmLst xmlns:a="http://schemas.openxmlformats.org/drawingml/2006/main" xmlns:r="http://schemas.openxmlformats.org/officeDocument/2006/relationships" xmlns:p="http://schemas.openxmlformats.org/presentationml/2006/main">
  <p:cm authorId="1" dt="2019-04-02T20:03:06.377" idx="69">
    <p:pos x="7429" y="3345"/>
    <p:text>The general relativistic thin-shell is described as a perfect fluid which connects a Minkowski interior geometry with a Schwarzschild exterior geometry</p:text>
    <p:extLst>
      <p:ext uri="{C676402C-5697-4E1C-873F-D02D1690AC5C}">
        <p15:threadingInfo xmlns:p15="http://schemas.microsoft.com/office/powerpoint/2012/main" timeZoneBias="240"/>
      </p:ext>
    </p:extLst>
  </p:cm>
  <p:cm authorId="1" dt="2019-04-02T21:15:53.954" idx="91">
    <p:pos x="7429" y="3481"/>
    <p:text>the surface boundary is where we take the difference between the metrics to get conditions for the shell</p:text>
    <p:extLst>
      <p:ext uri="{C676402C-5697-4E1C-873F-D02D1690AC5C}">
        <p15:threadingInfo xmlns:p15="http://schemas.microsoft.com/office/powerpoint/2012/main" timeZoneBias="240">
          <p15:parentCm authorId="1" idx="69"/>
        </p15:threadingInfo>
      </p:ext>
    </p:extLst>
  </p:cm>
  <p:cm authorId="1" dt="2019-04-02T20:03:43.187" idx="70">
    <p:pos x="4549" y="2026"/>
    <p:text>Israel and Darmois develop the thin-shell formalism</p:text>
    <p:extLst>
      <p:ext uri="{C676402C-5697-4E1C-873F-D02D1690AC5C}">
        <p15:threadingInfo xmlns:p15="http://schemas.microsoft.com/office/powerpoint/2012/main" timeZoneBias="240"/>
      </p:ext>
    </p:extLst>
  </p:cm>
  <p:cm authorId="1" dt="2019-04-02T21:11:44.173" idx="89">
    <p:pos x="4025" y="1291"/>
    <p:text>this means a spacetime devoid of matter and energy</p:text>
    <p:extLst mod="1">
      <p:ext uri="{C676402C-5697-4E1C-873F-D02D1690AC5C}">
        <p15:threadingInfo xmlns:p15="http://schemas.microsoft.com/office/powerpoint/2012/main" timeZoneBias="240"/>
      </p:ext>
    </p:extLst>
  </p:cm>
  <p:cm authorId="1" dt="2019-04-02T21:13:07.111" idx="90">
    <p:pos x="5925" y="2035"/>
    <p:text>The shells time and radial coordinates are parametrized by the proper time, which is a consequence of the chosen reference frame</p:text>
    <p:extLst mod="1">
      <p:ext uri="{C676402C-5697-4E1C-873F-D02D1690AC5C}">
        <p15:threadingInfo xmlns:p15="http://schemas.microsoft.com/office/powerpoint/2012/main" timeZoneBias="240"/>
      </p:ext>
    </p:extLst>
  </p:cm>
  <p:cm authorId="1" dt="2019-04-02T21:19:13.444" idx="93">
    <p:pos x="4547" y="211"/>
    <p:text>Using geometrized units for the general relativistic parts of this research (c = G = 1)</p:text>
    <p:extLst mod="1">
      <p:ext uri="{C676402C-5697-4E1C-873F-D02D1690AC5C}">
        <p15:threadingInfo xmlns:p15="http://schemas.microsoft.com/office/powerpoint/2012/main" timeZoneBias="240"/>
      </p:ext>
    </p:extLst>
  </p:cm>
  <p:cm authorId="1" dt="2019-11-03T20:07:23.191" idx="123">
    <p:pos x="4897" y="3563"/>
    <p:text>Obviously Schhwarzschild reduces to Minkowski for Newtonian gravity, and reference frame doesnt matter</p:text>
    <p:extLst>
      <p:ext uri="{C676402C-5697-4E1C-873F-D02D1690AC5C}">
        <p15:threadingInfo xmlns:p15="http://schemas.microsoft.com/office/powerpoint/2012/main" timeZoneBias="300"/>
      </p:ext>
    </p:extLst>
  </p:cm>
</p:cmLst>
</file>

<file path=ppt/comments/comment5.xml><?xml version="1.0" encoding="utf-8"?>
<p:cmLst xmlns:a="http://schemas.openxmlformats.org/drawingml/2006/main" xmlns:r="http://schemas.openxmlformats.org/officeDocument/2006/relationships" xmlns:p="http://schemas.openxmlformats.org/presentationml/2006/main">
  <p:cm authorId="1" dt="2019-10-26T13:45:16.390" idx="107">
    <p:pos x="6279" y="3812"/>
    <p:text>Polytopic index for Newtonian fluid sphere model is 4/3</p:text>
    <p:extLst>
      <p:ext uri="{C676402C-5697-4E1C-873F-D02D1690AC5C}">
        <p15:threadingInfo xmlns:p15="http://schemas.microsoft.com/office/powerpoint/2012/main" timeZoneBias="240"/>
      </p:ext>
    </p:extLst>
  </p:cm>
</p:cmLst>
</file>

<file path=ppt/comments/comment6.xml><?xml version="1.0" encoding="utf-8"?>
<p:cmLst xmlns:a="http://schemas.openxmlformats.org/drawingml/2006/main" xmlns:r="http://schemas.openxmlformats.org/officeDocument/2006/relationships" xmlns:p="http://schemas.openxmlformats.org/presentationml/2006/main">
  <p:cm authorId="1" dt="2019-10-26T13:38:12.612" idx="105">
    <p:pos x="7352" y="1041"/>
    <p:text>Results apply equally well to white dwarf stars</p:text>
    <p:extLst>
      <p:ext uri="{C676402C-5697-4E1C-873F-D02D1690AC5C}">
        <p15:threadingInfo xmlns:p15="http://schemas.microsoft.com/office/powerpoint/2012/main" timeZoneBias="240"/>
      </p:ext>
    </p:extLst>
  </p:cm>
  <p:cm authorId="1" dt="2019-10-26T13:38:55.454" idx="106">
    <p:pos x="7449" y="3969"/>
    <p:text>Barotropic form of equation of state is crucial in maintaining equality of polytropic index and adiabatic index</p:text>
    <p:extLst>
      <p:ext uri="{C676402C-5697-4E1C-873F-D02D1690AC5C}">
        <p15:threadingInfo xmlns:p15="http://schemas.microsoft.com/office/powerpoint/2012/main" timeZoneBias="240"/>
      </p:ext>
    </p:extLst>
  </p:cm>
  <p:cm authorId="1" dt="2019-11-03T17:54:52.002" idx="113">
    <p:pos x="5145" y="3727"/>
    <p:text>This behaviour is only observed in the small perturbation limit; as the shell accretes more mass this solution will become unstable</p:text>
    <p:extLst>
      <p:ext uri="{C676402C-5697-4E1C-873F-D02D1690AC5C}">
        <p15:threadingInfo xmlns:p15="http://schemas.microsoft.com/office/powerpoint/2012/main" timeZoneBias="300"/>
      </p:ext>
    </p:extLst>
  </p:cm>
  <p:cm authorId="1" dt="2019-11-03T18:13:49.324" idx="114">
    <p:pos x="5194" y="2793"/>
    <p:text>Larger polytropic indicies mean larger internal pressure so accreted matter causes shell to oscillate about equilibrium eventually settling down</p:text>
    <p:extLst>
      <p:ext uri="{C676402C-5697-4E1C-873F-D02D1690AC5C}">
        <p15:threadingInfo xmlns:p15="http://schemas.microsoft.com/office/powerpoint/2012/main" timeZoneBias="300"/>
      </p:ext>
    </p:extLst>
  </p:cm>
  <p:cm authorId="1" dt="2019-11-03T18:22:13.195" idx="115">
    <p:pos x="5194" y="2929"/>
    <p:text>Real neutron stars radiate a lot of energy over their lifetime</p:text>
    <p:extLst>
      <p:ext uri="{C676402C-5697-4E1C-873F-D02D1690AC5C}">
        <p15:threadingInfo xmlns:p15="http://schemas.microsoft.com/office/powerpoint/2012/main" timeZoneBias="300">
          <p15:parentCm authorId="1" idx="114"/>
        </p15:threadingInfo>
      </p:ext>
    </p:extLst>
  </p:cm>
  <p:cm authorId="1" dt="2019-11-03T18:22:17.632" idx="116">
    <p:pos x="5515" y="3272"/>
    <p:text>These are the smaller polytropic indicies, which means smaller internal pressure and thus accreted matter gives gravity the edge  and compresses the neutron star into a black hole</p:text>
    <p:extLst>
      <p:ext uri="{C676402C-5697-4E1C-873F-D02D1690AC5C}">
        <p15:threadingInfo xmlns:p15="http://schemas.microsoft.com/office/powerpoint/2012/main" timeZoneBias="300"/>
      </p:ext>
    </p:extLst>
  </p:cm>
</p:cmLst>
</file>

<file path=ppt/comments/comment7.xml><?xml version="1.0" encoding="utf-8"?>
<p:cmLst xmlns:a="http://schemas.openxmlformats.org/drawingml/2006/main" xmlns:r="http://schemas.openxmlformats.org/officeDocument/2006/relationships" xmlns:p="http://schemas.openxmlformats.org/presentationml/2006/main">
  <p:cm authorId="1" dt="2019-04-02T21:22:48.625" idx="94">
    <p:pos x="3726" y="1076"/>
    <p:text>once the shell expands sufficiently then the behaviour may deviate from the conditions derived in this research</p:text>
    <p:extLst>
      <p:ext uri="{C676402C-5697-4E1C-873F-D02D1690AC5C}">
        <p15:threadingInfo xmlns:p15="http://schemas.microsoft.com/office/powerpoint/2012/main" timeZoneBias="240"/>
      </p:ext>
    </p:extLst>
  </p:cm>
  <p:cm authorId="1" dt="2019-04-02T21:46:42.069" idx="104">
    <p:pos x="3726" y="1212"/>
    <p:text>also for suffecintly small radii, the perturbations will be proportionally large so may see more deviations that way</p:text>
    <p:extLst>
      <p:ext uri="{C676402C-5697-4E1C-873F-D02D1690AC5C}">
        <p15:threadingInfo xmlns:p15="http://schemas.microsoft.com/office/powerpoint/2012/main" timeZoneBias="240">
          <p15:parentCm authorId="1" idx="94"/>
        </p15:threadingInfo>
      </p:ext>
    </p:extLst>
  </p:cm>
  <p:cm authorId="1" dt="2019-10-31T22:54:55.052" idx="109">
    <p:pos x="1884" y="2156"/>
    <p:text>conservation of mass means that shell total mass does not change over time (convenient numerical check)</p:text>
    <p:extLst>
      <p:ext uri="{C676402C-5697-4E1C-873F-D02D1690AC5C}">
        <p15:threadingInfo xmlns:p15="http://schemas.microsoft.com/office/powerpoint/2012/main" timeZoneBias="240"/>
      </p:ext>
    </p:extLst>
  </p:cm>
  <p:cm authorId="1" dt="2019-11-03T17:35:17.275" idx="110">
    <p:pos x="2114" y="1962"/>
    <p:text>Limiting Radius (in geometrized units) is the Schwarzschild radius, which is the minimum matter compression radius before collapse to a black hole</p:text>
    <p:extLst>
      <p:ext uri="{C676402C-5697-4E1C-873F-D02D1690AC5C}">
        <p15:threadingInfo xmlns:p15="http://schemas.microsoft.com/office/powerpoint/2012/main" timeZoneBias="300"/>
      </p:ext>
    </p:extLst>
  </p:cm>
  <p:cm authorId="1" dt="2019-11-03T17:38:20.308" idx="111">
    <p:pos x="2848" y="1467"/>
    <p:text>A negative initial shell velocity favours contraction over expansion for the unstable polytropic indicies</p:text>
    <p:extLst>
      <p:ext uri="{C676402C-5697-4E1C-873F-D02D1690AC5C}">
        <p15:threadingInfo xmlns:p15="http://schemas.microsoft.com/office/powerpoint/2012/main" timeZoneBias="300"/>
      </p:ext>
    </p:extLst>
  </p:cm>
</p:cmLst>
</file>

<file path=ppt/comments/comment8.xml><?xml version="1.0" encoding="utf-8"?>
<p:cmLst xmlns:a="http://schemas.openxmlformats.org/drawingml/2006/main" xmlns:r="http://schemas.openxmlformats.org/officeDocument/2006/relationships" xmlns:p="http://schemas.openxmlformats.org/presentationml/2006/main">
  <p:cm authorId="1" dt="2019-04-02T20:05:09.651" idx="72">
    <p:pos x="4346" y="852"/>
    <p:text>Consider radiative fluid, dust (pressureless) fluid, electromagnetic field pressure, etc.</p:text>
    <p:extLst mod="1">
      <p:ext uri="{C676402C-5697-4E1C-873F-D02D1690AC5C}">
        <p15:threadingInfo xmlns:p15="http://schemas.microsoft.com/office/powerpoint/2012/main" timeZoneBias="240"/>
      </p:ext>
    </p:extLst>
  </p:cm>
  <p:cm authorId="1" dt="2019-04-02T20:05:16.744" idx="73">
    <p:pos x="1876" y="1421"/>
    <p:text>Could be used to model stellar interfaces (inner core, outer core, mantle, etc.), also crossings could be for boundary layers touching during gravitational collapse</p:text>
    <p:extLst mod="1">
      <p:ext uri="{C676402C-5697-4E1C-873F-D02D1690AC5C}">
        <p15:threadingInfo xmlns:p15="http://schemas.microsoft.com/office/powerpoint/2012/main" timeZoneBias="240"/>
      </p:ext>
    </p:extLst>
  </p:cm>
  <p:cm authorId="1" dt="2019-04-02T20:05:22.560" idx="74">
    <p:pos x="1940" y="2013"/>
    <p:text>( i.e. slow rotation metric, Kerr metric, Reissner-Nordstrom metric, Lemaitre-Tolman metric, Friedmann-Lemaitre-Robertson-Walker metric, etc.)</p:text>
    <p:extLst mod="1">
      <p:ext uri="{C676402C-5697-4E1C-873F-D02D1690AC5C}">
        <p15:threadingInfo xmlns:p15="http://schemas.microsoft.com/office/powerpoint/2012/main" timeZoneBias="240"/>
      </p:ext>
    </p:extLst>
  </p:cm>
  <p:cm authorId="1" dt="2019-04-02T20:05:26.301" idx="75">
    <p:pos x="3219" y="2394"/>
    <p:text>Consider the form of the fluid, Degenerate Fermi gas, van der waals, stiffened EoS</p:text>
    <p:extLst mod="1">
      <p:ext uri="{C676402C-5697-4E1C-873F-D02D1690AC5C}">
        <p15:threadingInfo xmlns:p15="http://schemas.microsoft.com/office/powerpoint/2012/main" timeZoneBias="240"/>
      </p:ext>
    </p:extLst>
  </p:cm>
  <p:cm authorId="1" dt="2019-04-02T20:05:29.972" idx="76">
    <p:pos x="1358" y="2943"/>
    <p:text>Could see interesting behaviour or the removal of certain conditions from the stability analysis</p:text>
    <p:extLst mod="1">
      <p:ext uri="{C676402C-5697-4E1C-873F-D02D1690AC5C}">
        <p15:threadingInfo xmlns:p15="http://schemas.microsoft.com/office/powerpoint/2012/main" timeZoneBias="240"/>
      </p:ext>
    </p:extLst>
  </p:cm>
  <p:cm authorId="1" dt="2019-11-03T20:18:03.673" idx="124">
    <p:pos x="5685" y="3060"/>
    <p:text>A Useful reference for the thin-shell formalism is "A relativists toolkit" by Eric Poisson</p:text>
    <p:extLst>
      <p:ext uri="{C676402C-5697-4E1C-873F-D02D1690AC5C}">
        <p15:threadingInfo xmlns:p15="http://schemas.microsoft.com/office/powerpoint/2012/main" timeZoneBias="300"/>
      </p:ext>
    </p:extLst>
  </p:cm>
</p: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B29905EA-578C-4882-A9EF-34672ADE4BCC}"/>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a:extLst>
              <a:ext uri="{FF2B5EF4-FFF2-40B4-BE49-F238E27FC236}">
                <a16:creationId xmlns:a16="http://schemas.microsoft.com/office/drawing/2014/main" id="{699B05E0-2E13-4BFD-B184-9245B9EF8B6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9FA87F33-7C9E-48DC-92EB-1B3286167CE8}" type="datetimeFigureOut">
              <a:rPr lang="en-CA" smtClean="0"/>
              <a:t>2019-10-26</a:t>
            </a:fld>
            <a:endParaRPr lang="en-CA"/>
          </a:p>
        </p:txBody>
      </p:sp>
      <p:sp>
        <p:nvSpPr>
          <p:cNvPr id="4" name="Footer Placeholder 3">
            <a:extLst>
              <a:ext uri="{FF2B5EF4-FFF2-40B4-BE49-F238E27FC236}">
                <a16:creationId xmlns:a16="http://schemas.microsoft.com/office/drawing/2014/main" id="{5DFF738D-088B-4E2F-9273-B9655446165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5" name="Slide Number Placeholder 4">
            <a:extLst>
              <a:ext uri="{FF2B5EF4-FFF2-40B4-BE49-F238E27FC236}">
                <a16:creationId xmlns:a16="http://schemas.microsoft.com/office/drawing/2014/main" id="{E0441798-0C33-47E1-B6AB-F4EB5131FFA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D1179458-1915-4FDB-9229-BB254478D29A}" type="slidenum">
              <a:rPr lang="en-CA" smtClean="0"/>
              <a:t>‹#›</a:t>
            </a:fld>
            <a:endParaRPr lang="en-CA"/>
          </a:p>
        </p:txBody>
      </p:sp>
    </p:spTree>
    <p:extLst>
      <p:ext uri="{BB962C8B-B14F-4D97-AF65-F5344CB8AC3E}">
        <p14:creationId xmlns:p14="http://schemas.microsoft.com/office/powerpoint/2010/main" val="320820769"/>
      </p:ext>
    </p:extLst>
  </p:cSld>
  <p:clrMap bg1="lt1" tx1="dk1" bg2="lt2" tx2="dk2" accent1="accent1" accent2="accent2" accent3="accent3" accent4="accent4" accent5="accent5" accent6="accent6" hlink="hlink" folHlink="folHlink"/>
  <p:hf sldNum="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111A9C1-C5DB-4391-A054-7A8D78FC8695}" type="datetimeFigureOut">
              <a:rPr lang="en-CA" smtClean="0"/>
              <a:t>2019-10-26</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07C114-74F2-4171-A101-D03CD3109006}" type="slidenum">
              <a:rPr lang="en-CA" smtClean="0"/>
              <a:t>‹#›</a:t>
            </a:fld>
            <a:endParaRPr lang="en-CA"/>
          </a:p>
        </p:txBody>
      </p:sp>
    </p:spTree>
    <p:extLst>
      <p:ext uri="{BB962C8B-B14F-4D97-AF65-F5344CB8AC3E}">
        <p14:creationId xmlns:p14="http://schemas.microsoft.com/office/powerpoint/2010/main" val="723932084"/>
      </p:ext>
    </p:extLst>
  </p:cSld>
  <p:clrMap bg1="lt1" tx1="dk1" bg2="lt2" tx2="dk2" accent1="accent1" accent2="accent2" accent3="accent3" accent4="accent4" accent5="accent5" accent6="accent6" hlink="hlink" folHlink="folHlink"/>
  <p:hf sldNum="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 Introduce model as an accreting Neutron star in a binary system with a much smaller mass object (so it doesn’t perturb the neutron star very much)</a:t>
            </a:r>
          </a:p>
        </p:txBody>
      </p:sp>
      <p:sp>
        <p:nvSpPr>
          <p:cNvPr id="4" name="Header Placeholder 3"/>
          <p:cNvSpPr>
            <a:spLocks noGrp="1"/>
          </p:cNvSpPr>
          <p:nvPr>
            <p:ph type="hdr" sz="quarter"/>
          </p:nvPr>
        </p:nvSpPr>
        <p:spPr/>
        <p:txBody>
          <a:bodyPr/>
          <a:lstStyle/>
          <a:p>
            <a:endParaRPr lang="en-CA"/>
          </a:p>
        </p:txBody>
      </p:sp>
    </p:spTree>
    <p:extLst>
      <p:ext uri="{BB962C8B-B14F-4D97-AF65-F5344CB8AC3E}">
        <p14:creationId xmlns:p14="http://schemas.microsoft.com/office/powerpoint/2010/main" val="28928175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p:nvPr>
        </p:nvSpPr>
        <p:spPr/>
        <p:txBody>
          <a:bodyPr/>
          <a:lstStyle/>
          <a:p>
            <a:endParaRPr lang="en-CA"/>
          </a:p>
        </p:txBody>
      </p:sp>
    </p:spTree>
    <p:extLst>
      <p:ext uri="{BB962C8B-B14F-4D97-AF65-F5344CB8AC3E}">
        <p14:creationId xmlns:p14="http://schemas.microsoft.com/office/powerpoint/2010/main" val="27986528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p:nvPr>
        </p:nvSpPr>
        <p:spPr/>
        <p:txBody>
          <a:bodyPr/>
          <a:lstStyle/>
          <a:p>
            <a:endParaRPr lang="en-CA"/>
          </a:p>
        </p:txBody>
      </p:sp>
    </p:spTree>
    <p:extLst>
      <p:ext uri="{BB962C8B-B14F-4D97-AF65-F5344CB8AC3E}">
        <p14:creationId xmlns:p14="http://schemas.microsoft.com/office/powerpoint/2010/main" val="107366988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Header Placeholder 3"/>
          <p:cNvSpPr>
            <a:spLocks noGrp="1"/>
          </p:cNvSpPr>
          <p:nvPr>
            <p:ph type="hdr" sz="quarter"/>
          </p:nvPr>
        </p:nvSpPr>
        <p:spPr/>
        <p:txBody>
          <a:bodyPr/>
          <a:lstStyle/>
          <a:p>
            <a:endParaRPr lang="en-CA"/>
          </a:p>
        </p:txBody>
      </p:sp>
    </p:spTree>
    <p:extLst>
      <p:ext uri="{BB962C8B-B14F-4D97-AF65-F5344CB8AC3E}">
        <p14:creationId xmlns:p14="http://schemas.microsoft.com/office/powerpoint/2010/main" val="277174908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7164FE25-C977-4875-94CC-38CA42C77DFC}" type="datetime1">
              <a:rPr lang="en-US" smtClean="0"/>
              <a:t>10/26/2019</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r>
              <a:rPr lang="en-US"/>
              <a:t>Canadian Undergraduate Physics Conference</a:t>
            </a:r>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72233714"/>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D260202-F119-493C-A081-437FAD07F8D1}" type="datetime1">
              <a:rPr lang="en-US" smtClean="0"/>
              <a:t>10/26/2019</a:t>
            </a:fld>
            <a:endParaRPr lang="en-US" dirty="0"/>
          </a:p>
        </p:txBody>
      </p:sp>
      <p:sp>
        <p:nvSpPr>
          <p:cNvPr id="5" name="Footer Placeholder 4"/>
          <p:cNvSpPr>
            <a:spLocks noGrp="1"/>
          </p:cNvSpPr>
          <p:nvPr>
            <p:ph type="ftr" sz="quarter" idx="11"/>
          </p:nvPr>
        </p:nvSpPr>
        <p:spPr/>
        <p:txBody>
          <a:bodyPr/>
          <a:lstStyle/>
          <a:p>
            <a:r>
              <a:rPr lang="en-US"/>
              <a:t>Canadian Undergraduate Physics Conference</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958314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459FD23-7439-411A-98A5-7390A2ED60E5}" type="datetime1">
              <a:rPr lang="en-US" smtClean="0"/>
              <a:t>10/26/2019</a:t>
            </a:fld>
            <a:endParaRPr lang="en-US" dirty="0"/>
          </a:p>
        </p:txBody>
      </p:sp>
      <p:sp>
        <p:nvSpPr>
          <p:cNvPr id="5" name="Footer Placeholder 4"/>
          <p:cNvSpPr>
            <a:spLocks noGrp="1"/>
          </p:cNvSpPr>
          <p:nvPr>
            <p:ph type="ftr" sz="quarter" idx="11"/>
          </p:nvPr>
        </p:nvSpPr>
        <p:spPr/>
        <p:txBody>
          <a:bodyPr/>
          <a:lstStyle/>
          <a:p>
            <a:r>
              <a:rPr lang="en-US"/>
              <a:t>Canadian Undergraduate Physics Conference</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6270648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C534ECA-9A15-429B-BDE3-13F38E920A76}" type="datetime1">
              <a:rPr lang="en-US" smtClean="0"/>
              <a:t>10/26/2019</a:t>
            </a:fld>
            <a:endParaRPr lang="en-US" dirty="0"/>
          </a:p>
        </p:txBody>
      </p:sp>
      <p:sp>
        <p:nvSpPr>
          <p:cNvPr id="6" name="Footer Placeholder 5"/>
          <p:cNvSpPr>
            <a:spLocks noGrp="1"/>
          </p:cNvSpPr>
          <p:nvPr>
            <p:ph type="ftr" sz="quarter" idx="11"/>
          </p:nvPr>
        </p:nvSpPr>
        <p:spPr/>
        <p:txBody>
          <a:bodyPr/>
          <a:lstStyle/>
          <a:p>
            <a:r>
              <a:rPr lang="en-US"/>
              <a:t>Canadian Undergraduate Physics Conference</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9622101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2EA994-17E1-4634-86B9-F06BCAC69C01}" type="datetime1">
              <a:rPr lang="en-US" smtClean="0"/>
              <a:t>10/26/2019</a:t>
            </a:fld>
            <a:endParaRPr lang="en-US" dirty="0"/>
          </a:p>
        </p:txBody>
      </p:sp>
      <p:sp>
        <p:nvSpPr>
          <p:cNvPr id="8" name="Footer Placeholder 7"/>
          <p:cNvSpPr>
            <a:spLocks noGrp="1"/>
          </p:cNvSpPr>
          <p:nvPr>
            <p:ph type="ftr" sz="quarter" idx="11"/>
          </p:nvPr>
        </p:nvSpPr>
        <p:spPr/>
        <p:txBody>
          <a:bodyPr/>
          <a:lstStyle/>
          <a:p>
            <a:r>
              <a:rPr lang="en-US"/>
              <a:t>Canadian Undergraduate Physics Conference</a:t>
            </a:r>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569654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3434375-641F-4537-9FEA-4E55B156EA12}" type="datetime1">
              <a:rPr lang="en-US" smtClean="0"/>
              <a:t>10/26/2019</a:t>
            </a:fld>
            <a:endParaRPr lang="en-US" dirty="0"/>
          </a:p>
        </p:txBody>
      </p:sp>
      <p:sp>
        <p:nvSpPr>
          <p:cNvPr id="4" name="Footer Placeholder 3"/>
          <p:cNvSpPr>
            <a:spLocks noGrp="1"/>
          </p:cNvSpPr>
          <p:nvPr>
            <p:ph type="ftr" sz="quarter" idx="11"/>
          </p:nvPr>
        </p:nvSpPr>
        <p:spPr/>
        <p:txBody>
          <a:bodyPr/>
          <a:lstStyle/>
          <a:p>
            <a:r>
              <a:rPr lang="en-US"/>
              <a:t>Canadian Undergraduate Physics Conference</a:t>
            </a:r>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861697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AF2B5FFE-1E11-4060-BE69-E4F28C2DC511}" type="datetime1">
              <a:rPr lang="en-US" smtClean="0"/>
              <a:t>10/26/2019</a:t>
            </a:fld>
            <a:endParaRPr lang="en-US" dirty="0"/>
          </a:p>
        </p:txBody>
      </p:sp>
      <p:sp>
        <p:nvSpPr>
          <p:cNvPr id="3" name="Footer Placeholder 2"/>
          <p:cNvSpPr>
            <a:spLocks noGrp="1"/>
          </p:cNvSpPr>
          <p:nvPr>
            <p:ph type="ftr" sz="quarter" idx="11"/>
          </p:nvPr>
        </p:nvSpPr>
        <p:spPr/>
        <p:txBody>
          <a:bodyPr/>
          <a:lstStyle/>
          <a:p>
            <a:r>
              <a:rPr lang="en-US"/>
              <a:t>Canadian Undergraduate Physics Conference</a:t>
            </a:r>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2516475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8DE0353-BC7C-4DB2-8214-5BF04B5C1265}" type="datetime1">
              <a:rPr lang="en-US" smtClean="0"/>
              <a:t>10/26/2019</a:t>
            </a:fld>
            <a:endParaRPr lang="en-US" dirty="0"/>
          </a:p>
        </p:txBody>
      </p:sp>
      <p:sp>
        <p:nvSpPr>
          <p:cNvPr id="6" name="Footer Placeholder 5"/>
          <p:cNvSpPr>
            <a:spLocks noGrp="1"/>
          </p:cNvSpPr>
          <p:nvPr>
            <p:ph type="ftr" sz="quarter" idx="11"/>
          </p:nvPr>
        </p:nvSpPr>
        <p:spPr/>
        <p:txBody>
          <a:bodyPr/>
          <a:lstStyle/>
          <a:p>
            <a:r>
              <a:rPr lang="en-US"/>
              <a:t>Canadian Undergraduate Physics Conference</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501574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176855E-FA84-4F96-9DD9-4DBC9B621F14}" type="datetime1">
              <a:rPr lang="en-US" smtClean="0"/>
              <a:t>10/26/2019</a:t>
            </a:fld>
            <a:endParaRPr lang="en-US" dirty="0"/>
          </a:p>
        </p:txBody>
      </p:sp>
      <p:sp>
        <p:nvSpPr>
          <p:cNvPr id="6" name="Footer Placeholder 5"/>
          <p:cNvSpPr>
            <a:spLocks noGrp="1"/>
          </p:cNvSpPr>
          <p:nvPr>
            <p:ph type="ftr" sz="quarter" idx="11"/>
          </p:nvPr>
        </p:nvSpPr>
        <p:spPr/>
        <p:txBody>
          <a:bodyPr/>
          <a:lstStyle/>
          <a:p>
            <a:r>
              <a:rPr lang="en-US"/>
              <a:t>Canadian Undergraduate Physics Conference</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349911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CBA5928F-C8FA-4C15-8C1B-4DDD06818164}" type="datetime1">
              <a:rPr lang="en-US" smtClean="0"/>
              <a:t>10/26/2019</a:t>
            </a:fld>
            <a:endParaRPr lang="en-US" dirty="0"/>
          </a:p>
        </p:txBody>
      </p:sp>
      <p:sp>
        <p:nvSpPr>
          <p:cNvPr id="6" name="Footer Placeholder 5"/>
          <p:cNvSpPr>
            <a:spLocks noGrp="1"/>
          </p:cNvSpPr>
          <p:nvPr>
            <p:ph type="ftr" sz="quarter" idx="11"/>
          </p:nvPr>
        </p:nvSpPr>
        <p:spPr/>
        <p:txBody>
          <a:bodyPr/>
          <a:lstStyle/>
          <a:p>
            <a:r>
              <a:rPr lang="en-US"/>
              <a:t>Canadian Undergraduate Physics Conference</a:t>
            </a:r>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7192801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10C903F-BFB3-4828-BCB9-466C2C606A86}" type="datetime1">
              <a:rPr lang="en-US" smtClean="0"/>
              <a:t>10/26/2019</a:t>
            </a:fld>
            <a:endParaRPr lang="en-US" dirty="0"/>
          </a:p>
        </p:txBody>
      </p:sp>
      <p:sp>
        <p:nvSpPr>
          <p:cNvPr id="5" name="Footer Placeholder 4"/>
          <p:cNvSpPr>
            <a:spLocks noGrp="1"/>
          </p:cNvSpPr>
          <p:nvPr>
            <p:ph type="ftr" sz="quarter" idx="11"/>
          </p:nvPr>
        </p:nvSpPr>
        <p:spPr/>
        <p:txBody>
          <a:bodyPr/>
          <a:lstStyle/>
          <a:p>
            <a:r>
              <a:rPr lang="en-US"/>
              <a:t>Canadian Undergraduate Physics Conference</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6540299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2" name="TextBox 11"/>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3" name="TextBox 12"/>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CD6F75E3-D768-4568-BCC0-AFE93BE86D02}" type="datetime1">
              <a:rPr lang="en-US" smtClean="0"/>
              <a:t>10/26/2019</a:t>
            </a:fld>
            <a:endParaRPr lang="en-US" dirty="0"/>
          </a:p>
        </p:txBody>
      </p:sp>
      <p:sp>
        <p:nvSpPr>
          <p:cNvPr id="5" name="Footer Placeholder 4"/>
          <p:cNvSpPr>
            <a:spLocks noGrp="1"/>
          </p:cNvSpPr>
          <p:nvPr>
            <p:ph type="ftr" sz="quarter" idx="11"/>
          </p:nvPr>
        </p:nvSpPr>
        <p:spPr/>
        <p:txBody>
          <a:bodyPr/>
          <a:lstStyle/>
          <a:p>
            <a:r>
              <a:rPr lang="en-US"/>
              <a:t>Canadian Undergraduate Physics Conference</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8157367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64ED9B9-5862-4FBD-A043-CA16114AEF4F}" type="datetime1">
              <a:rPr lang="en-US" smtClean="0"/>
              <a:t>10/26/2019</a:t>
            </a:fld>
            <a:endParaRPr lang="en-US" dirty="0"/>
          </a:p>
        </p:txBody>
      </p:sp>
      <p:sp>
        <p:nvSpPr>
          <p:cNvPr id="5" name="Footer Placeholder 4"/>
          <p:cNvSpPr>
            <a:spLocks noGrp="1"/>
          </p:cNvSpPr>
          <p:nvPr>
            <p:ph type="ftr" sz="quarter" idx="11"/>
          </p:nvPr>
        </p:nvSpPr>
        <p:spPr/>
        <p:txBody>
          <a:bodyPr/>
          <a:lstStyle/>
          <a:p>
            <a:r>
              <a:rPr lang="en-US"/>
              <a:t>Canadian Undergraduate Physics Conference</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33434003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80EC27F-282A-4D9E-9DBF-97F8CD58F5FC}" type="datetime1">
              <a:rPr lang="en-US" smtClean="0"/>
              <a:t>10/26/2019</a:t>
            </a:fld>
            <a:endParaRPr lang="en-US" dirty="0"/>
          </a:p>
        </p:txBody>
      </p:sp>
      <p:sp>
        <p:nvSpPr>
          <p:cNvPr id="5" name="Footer Placeholder 4"/>
          <p:cNvSpPr>
            <a:spLocks noGrp="1"/>
          </p:cNvSpPr>
          <p:nvPr>
            <p:ph type="ftr" sz="quarter" idx="11"/>
          </p:nvPr>
        </p:nvSpPr>
        <p:spPr/>
        <p:txBody>
          <a:bodyPr/>
          <a:lstStyle/>
          <a:p>
            <a:r>
              <a:rPr lang="en-US"/>
              <a:t>Canadian Undergraduate Physics Conference</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47225958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BC16C902-4503-4813-9A5C-3DA55E0C76BE}" type="datetime1">
              <a:rPr lang="en-US" smtClean="0"/>
              <a:t>10/26/2019</a:t>
            </a:fld>
            <a:endParaRPr lang="en-US" dirty="0"/>
          </a:p>
        </p:txBody>
      </p:sp>
      <p:sp>
        <p:nvSpPr>
          <p:cNvPr id="5" name="Footer Placeholder 4"/>
          <p:cNvSpPr>
            <a:spLocks noGrp="1"/>
          </p:cNvSpPr>
          <p:nvPr>
            <p:ph type="ftr" sz="quarter" idx="11"/>
          </p:nvPr>
        </p:nvSpPr>
        <p:spPr/>
        <p:txBody>
          <a:bodyPr/>
          <a:lstStyle/>
          <a:p>
            <a:r>
              <a:rPr lang="en-US"/>
              <a:t>Canadian Undergraduate Physics Conference</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53538584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649CE4-707F-4406-AE91-EDF3F9465D32}" type="datetime1">
              <a:rPr lang="en-US" smtClean="0"/>
              <a:t>10/26/2019</a:t>
            </a:fld>
            <a:endParaRPr lang="en-US" dirty="0"/>
          </a:p>
        </p:txBody>
      </p:sp>
      <p:sp>
        <p:nvSpPr>
          <p:cNvPr id="5" name="Footer Placeholder 4"/>
          <p:cNvSpPr>
            <a:spLocks noGrp="1"/>
          </p:cNvSpPr>
          <p:nvPr>
            <p:ph type="ftr" sz="quarter" idx="11"/>
          </p:nvPr>
        </p:nvSpPr>
        <p:spPr/>
        <p:txBody>
          <a:bodyPr/>
          <a:lstStyle/>
          <a:p>
            <a:r>
              <a:rPr lang="en-US"/>
              <a:t>Canadian Undergraduate Physics Conference</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12945525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891E090-C819-448E-A7E6-5BCA38CB1E6F}" type="datetime1">
              <a:rPr lang="en-US" smtClean="0"/>
              <a:t>10/26/2019</a:t>
            </a:fld>
            <a:endParaRPr lang="en-US" dirty="0"/>
          </a:p>
        </p:txBody>
      </p:sp>
      <p:sp>
        <p:nvSpPr>
          <p:cNvPr id="5" name="Footer Placeholder 4"/>
          <p:cNvSpPr>
            <a:spLocks noGrp="1"/>
          </p:cNvSpPr>
          <p:nvPr>
            <p:ph type="ftr" sz="quarter" idx="11"/>
          </p:nvPr>
        </p:nvSpPr>
        <p:spPr/>
        <p:txBody>
          <a:bodyPr/>
          <a:lstStyle/>
          <a:p>
            <a:r>
              <a:rPr lang="en-US"/>
              <a:t>Canadian Undergraduate Physics Conference</a:t>
            </a:r>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254370956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8A5A5C38-8EF6-42B4-BCDD-B3FD5B46C883}" type="datetime1">
              <a:rPr lang="en-US" smtClean="0"/>
              <a:t>10/26/2019</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r>
              <a:rPr lang="en-US"/>
              <a:t>Canadian Undergraduate Physics Conference</a:t>
            </a:r>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smtClean="0"/>
              <a:pPr/>
              <a:t>‹#›</a:t>
            </a:fld>
            <a:endParaRPr lang="en-US" dirty="0"/>
          </a:p>
        </p:txBody>
      </p:sp>
    </p:spTree>
    <p:extLst>
      <p:ext uri="{BB962C8B-B14F-4D97-AF65-F5344CB8AC3E}">
        <p14:creationId xmlns:p14="http://schemas.microsoft.com/office/powerpoint/2010/main" val="4107108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hf hdr="0"/>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7" Type="http://schemas.openxmlformats.org/officeDocument/2006/relationships/comments" Target="../comments/comment1.xml"/><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9.png"/><Relationship Id="rId4" Type="http://schemas.openxmlformats.org/officeDocument/2006/relationships/image" Target="../media/image8.jpeg"/></Relationships>
</file>

<file path=ppt/slides/_rels/slide3.xml.rels><?xml version="1.0" encoding="UTF-8" standalone="yes"?>
<Relationships xmlns="http://schemas.openxmlformats.org/package/2006/relationships"><Relationship Id="rId8" Type="http://schemas.openxmlformats.org/officeDocument/2006/relationships/comments" Target="../comments/comment2.xml"/><Relationship Id="rId3" Type="http://schemas.openxmlformats.org/officeDocument/2006/relationships/image" Target="../media/image10.png"/><Relationship Id="rId7"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NUL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comments" Target="../comments/comment3.xml"/></Relationships>
</file>

<file path=ppt/slides/_rels/slide5.xml.rels><?xml version="1.0" encoding="UTF-8" standalone="yes"?>
<Relationships xmlns="http://schemas.openxmlformats.org/package/2006/relationships"><Relationship Id="rId8" Type="http://schemas.openxmlformats.org/officeDocument/2006/relationships/image" Target="../media/image6.png"/><Relationship Id="rId7" Type="http://schemas.openxmlformats.org/officeDocument/2006/relationships/image" Target="../media/image15.png"/><Relationship Id="rId2" Type="http://schemas.openxmlformats.org/officeDocument/2006/relationships/image" Target="../media/image14.jpg"/><Relationship Id="rId1" Type="http://schemas.openxmlformats.org/officeDocument/2006/relationships/slideLayout" Target="../slideLayouts/slideLayout2.xml"/><Relationship Id="rId6" Type="http://schemas.openxmlformats.org/officeDocument/2006/relationships/image" Target="NULL"/><Relationship Id="rId9" Type="http://schemas.openxmlformats.org/officeDocument/2006/relationships/comments" Target="../comments/comment4.xml"/></Relationships>
</file>

<file path=ppt/slides/_rels/slide6.xml.rels><?xml version="1.0" encoding="UTF-8" standalone="yes"?>
<Relationships xmlns="http://schemas.openxmlformats.org/package/2006/relationships"><Relationship Id="rId8" Type="http://schemas.openxmlformats.org/officeDocument/2006/relationships/image" Target="../media/image160.png"/><Relationship Id="rId3" Type="http://schemas.openxmlformats.org/officeDocument/2006/relationships/image" Target="../media/image17.png"/><Relationship Id="rId7" Type="http://schemas.openxmlformats.org/officeDocument/2006/relationships/image" Target="../media/image20.png"/><Relationship Id="rId2" Type="http://schemas.openxmlformats.org/officeDocument/2006/relationships/image" Target="../media/image16.png"/><Relationship Id="rId1" Type="http://schemas.openxmlformats.org/officeDocument/2006/relationships/slideLayout" Target="../slideLayouts/slideLayout2.xml"/><Relationship Id="rId6" Type="http://schemas.openxmlformats.org/officeDocument/2006/relationships/image" Target="../media/image6.png"/><Relationship Id="rId11" Type="http://schemas.openxmlformats.org/officeDocument/2006/relationships/comments" Target="../comments/comment5.xml"/><Relationship Id="rId5" Type="http://schemas.openxmlformats.org/officeDocument/2006/relationships/image" Target="../media/image19.png"/><Relationship Id="rId10" Type="http://schemas.openxmlformats.org/officeDocument/2006/relationships/image" Target="../media/image181.png"/><Relationship Id="rId4" Type="http://schemas.openxmlformats.org/officeDocument/2006/relationships/image" Target="../media/image18.pn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2.png"/><Relationship Id="rId7" Type="http://schemas.openxmlformats.org/officeDocument/2006/relationships/comments" Target="../comments/comment6.xml"/><Relationship Id="rId2" Type="http://schemas.openxmlformats.org/officeDocument/2006/relationships/image" Target="../media/image150.png"/><Relationship Id="rId1" Type="http://schemas.openxmlformats.org/officeDocument/2006/relationships/slideLayout" Target="../slideLayouts/slideLayout2.xml"/><Relationship Id="rId6" Type="http://schemas.openxmlformats.org/officeDocument/2006/relationships/image" Target="../media/image180.png"/><Relationship Id="rId5" Type="http://schemas.openxmlformats.org/officeDocument/2006/relationships/image" Target="../media/image6.png"/><Relationship Id="rId4" Type="http://schemas.openxmlformats.org/officeDocument/2006/relationships/image" Target="../media/image23.png"/></Relationships>
</file>

<file path=ppt/slides/_rels/slide8.xml.rels><?xml version="1.0" encoding="UTF-8" standalone="yes"?>
<Relationships xmlns="http://schemas.openxmlformats.org/package/2006/relationships"><Relationship Id="rId8" Type="http://schemas.openxmlformats.org/officeDocument/2006/relationships/comments" Target="../comments/comment7.xml"/><Relationship Id="rId3" Type="http://schemas.openxmlformats.org/officeDocument/2006/relationships/image" Target="../media/image6.png"/><Relationship Id="rId7" Type="http://schemas.openxmlformats.org/officeDocument/2006/relationships/image" Target="../media/image28.png"/><Relationship Id="rId2" Type="http://schemas.openxmlformats.org/officeDocument/2006/relationships/image" Target="../media/image24.png"/><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29.emf"/><Relationship Id="rId1" Type="http://schemas.openxmlformats.org/officeDocument/2006/relationships/slideLayout" Target="../slideLayouts/slideLayout2.xml"/><Relationship Id="rId4" Type="http://schemas.openxmlformats.org/officeDocument/2006/relationships/comments" Target="../comments/comment8.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1.png"/><Relationship Id="rId7" Type="http://schemas.openxmlformats.org/officeDocument/2006/relationships/image" Target="../media/image34.png"/><Relationship Id="rId2" Type="http://schemas.openxmlformats.org/officeDocument/2006/relationships/image" Target="../media/image30.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33.png"/><Relationship Id="rId4" Type="http://schemas.openxmlformats.org/officeDocument/2006/relationships/image" Target="../media/image32.png"/></Relationships>
</file>

<file path=ppt/slides/_rels/slide1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extLst/>
          </a:blip>
          <a:stretch/>
        </a:blip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D1E5586-8BB5-40F6-96C3-2E87DD7CE5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cxnSp>
        <p:nvCxnSpPr>
          <p:cNvPr id="10" name="Straight Connector 9">
            <a:extLst>
              <a:ext uri="{FF2B5EF4-FFF2-40B4-BE49-F238E27FC236}">
                <a16:creationId xmlns:a16="http://schemas.microsoft.com/office/drawing/2014/main" id="{8A832D40-B9E2-4CE7-9E0A-B35591EA2035}"/>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845629" y="3810000"/>
            <a:ext cx="500743" cy="0"/>
          </a:xfrm>
          <a:prstGeom prst="line">
            <a:avLst/>
          </a:prstGeom>
          <a:ln w="19050"/>
        </p:spPr>
        <p:style>
          <a:lnRef idx="1">
            <a:schemeClr val="accent1"/>
          </a:lnRef>
          <a:fillRef idx="0">
            <a:schemeClr val="accent1"/>
          </a:fillRef>
          <a:effectRef idx="0">
            <a:schemeClr val="accent1"/>
          </a:effectRef>
          <a:fontRef idx="minor">
            <a:schemeClr val="tx1"/>
          </a:fontRef>
        </p:style>
      </p:cxnSp>
      <p:pic>
        <p:nvPicPr>
          <p:cNvPr id="1026" name="Picture 2" descr="Image result for general relativity">
            <a:extLst>
              <a:ext uri="{FF2B5EF4-FFF2-40B4-BE49-F238E27FC236}">
                <a16:creationId xmlns:a16="http://schemas.microsoft.com/office/drawing/2014/main" id="{BFBC9082-1DB7-4814-9E0C-318E65233AC6}"/>
              </a:ext>
            </a:extLst>
          </p:cNvPr>
          <p:cNvPicPr>
            <a:picLocks noChangeAspect="1" noChangeArrowheads="1"/>
          </p:cNvPicPr>
          <p:nvPr/>
        </p:nvPicPr>
        <p:blipFill>
          <a:blip r:embed="rId4">
            <a:alphaModFix/>
            <a:extLst>
              <a:ext uri="{28A0092B-C50C-407E-A947-70E740481C1C}">
                <a14:useLocalDpi xmlns:a14="http://schemas.microsoft.com/office/drawing/2010/main" val="0"/>
              </a:ext>
            </a:extLst>
          </a:blip>
          <a:srcRect/>
          <a:stretch>
            <a:fillRect/>
          </a:stretch>
        </p:blipFill>
        <p:spPr bwMode="auto">
          <a:xfrm>
            <a:off x="0" y="4068"/>
            <a:ext cx="12192000" cy="6853932"/>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FF6F4DEC-A9D1-4CBC-B23D-0CA684653454}"/>
              </a:ext>
            </a:extLst>
          </p:cNvPr>
          <p:cNvSpPr txBox="1"/>
          <p:nvPr/>
        </p:nvSpPr>
        <p:spPr>
          <a:xfrm>
            <a:off x="608287" y="1745610"/>
            <a:ext cx="4823927" cy="2308324"/>
          </a:xfrm>
          <a:prstGeom prst="rect">
            <a:avLst/>
          </a:prstGeom>
          <a:noFill/>
        </p:spPr>
        <p:txBody>
          <a:bodyPr wrap="square" rtlCol="0">
            <a:spAutoFit/>
          </a:bodyPr>
          <a:lstStyle/>
          <a:p>
            <a:pPr marL="0" marR="0" lvl="0" indent="0" defTabSz="457200" rtl="0" eaLnBrk="1" fontAlgn="auto" latinLnBrk="0" hangingPunct="1">
              <a:lnSpc>
                <a:spcPct val="100000"/>
              </a:lnSpc>
              <a:spcBef>
                <a:spcPts val="0"/>
              </a:spcBef>
              <a:spcAft>
                <a:spcPts val="0"/>
              </a:spcAft>
              <a:buClrTx/>
              <a:buSzTx/>
              <a:buFontTx/>
              <a:buNone/>
              <a:tabLst/>
              <a:defRPr/>
            </a:pPr>
            <a:r>
              <a:rPr kumimoji="0" lang="en-CA" sz="3600" b="1"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Thin Shells as Neutron Stars: A Simple Stellar Model with Great Insight</a:t>
            </a:r>
          </a:p>
        </p:txBody>
      </p:sp>
      <p:sp>
        <p:nvSpPr>
          <p:cNvPr id="7" name="TextBox 6">
            <a:extLst>
              <a:ext uri="{FF2B5EF4-FFF2-40B4-BE49-F238E27FC236}">
                <a16:creationId xmlns:a16="http://schemas.microsoft.com/office/drawing/2014/main" id="{F2ECC9EB-3969-4245-A46C-20AE055E5050}"/>
              </a:ext>
            </a:extLst>
          </p:cNvPr>
          <p:cNvSpPr txBox="1"/>
          <p:nvPr/>
        </p:nvSpPr>
        <p:spPr>
          <a:xfrm>
            <a:off x="608287" y="4632710"/>
            <a:ext cx="4240586" cy="461665"/>
          </a:xfrm>
          <a:prstGeom prst="rect">
            <a:avLst/>
          </a:prstGeom>
          <a:noFill/>
        </p:spPr>
        <p:txBody>
          <a:bodyPr wrap="square" rtlCol="0">
            <a:spAutoFit/>
          </a:bodyPr>
          <a:lstStyle/>
          <a:p>
            <a:pPr marL="0" marR="0" lvl="0" indent="0" defTabSz="457200" rtl="0" eaLnBrk="1" fontAlgn="auto" latinLnBrk="0" hangingPunct="1">
              <a:lnSpc>
                <a:spcPct val="100000"/>
              </a:lnSpc>
              <a:spcBef>
                <a:spcPts val="400"/>
              </a:spcBef>
              <a:spcAft>
                <a:spcPts val="400"/>
              </a:spcAft>
              <a:buClrTx/>
              <a:buSzTx/>
              <a:buFontTx/>
              <a:buNone/>
              <a:tabLst/>
              <a:defRPr/>
            </a:pPr>
            <a:r>
              <a:rPr kumimoji="0" lang="en-CA" sz="2400" b="1" i="0" u="sng"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Phil LeMaitre</a:t>
            </a:r>
            <a:r>
              <a:rPr kumimoji="0" lang="en-CA" sz="2400" b="1" i="0" u="none" strike="noStrike" kern="1200" cap="none" spc="0" normalizeH="0" baseline="0" noProof="0" dirty="0">
                <a:ln>
                  <a:noFill/>
                </a:ln>
                <a:effectLst/>
                <a:uLnTx/>
                <a:uFillTx/>
                <a:latin typeface="Arial" panose="020B0604020202020204" pitchFamily="34" charset="0"/>
                <a:ea typeface="+mn-ea"/>
                <a:cs typeface="Arial" panose="020B0604020202020204" pitchFamily="34" charset="0"/>
              </a:rPr>
              <a:t>, Eric Poisson</a:t>
            </a:r>
          </a:p>
        </p:txBody>
      </p:sp>
      <p:grpSp>
        <p:nvGrpSpPr>
          <p:cNvPr id="11" name="Group 10">
            <a:extLst>
              <a:ext uri="{FF2B5EF4-FFF2-40B4-BE49-F238E27FC236}">
                <a16:creationId xmlns:a16="http://schemas.microsoft.com/office/drawing/2014/main" id="{B149218C-B4B8-4513-96B4-7AD372B8B314}"/>
              </a:ext>
            </a:extLst>
          </p:cNvPr>
          <p:cNvGrpSpPr/>
          <p:nvPr/>
        </p:nvGrpSpPr>
        <p:grpSpPr>
          <a:xfrm>
            <a:off x="0" y="1"/>
            <a:ext cx="12192000" cy="936000"/>
            <a:chOff x="0" y="1"/>
            <a:chExt cx="12192000" cy="1026366"/>
          </a:xfrm>
        </p:grpSpPr>
        <p:sp>
          <p:nvSpPr>
            <p:cNvPr id="12" name="Rectangle 11">
              <a:extLst>
                <a:ext uri="{FF2B5EF4-FFF2-40B4-BE49-F238E27FC236}">
                  <a16:creationId xmlns:a16="http://schemas.microsoft.com/office/drawing/2014/main" id="{367BAD55-5F64-434F-B93A-9984120D938F}"/>
                </a:ext>
              </a:extLst>
            </p:cNvPr>
            <p:cNvSpPr/>
            <p:nvPr/>
          </p:nvSpPr>
          <p:spPr>
            <a:xfrm>
              <a:off x="0" y="1"/>
              <a:ext cx="12192000" cy="10263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3" name="Picture 2" descr="Related image">
              <a:extLst>
                <a:ext uri="{FF2B5EF4-FFF2-40B4-BE49-F238E27FC236}">
                  <a16:creationId xmlns:a16="http://schemas.microsoft.com/office/drawing/2014/main" id="{CA66977C-A7D4-4403-8E70-01A5A321EF88}"/>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9357" t="33734" r="11492" b="33338"/>
            <a:stretch/>
          </p:blipFill>
          <p:spPr bwMode="auto">
            <a:xfrm>
              <a:off x="102636" y="37835"/>
              <a:ext cx="2496044" cy="988532"/>
            </a:xfrm>
            <a:prstGeom prst="rect">
              <a:avLst/>
            </a:prstGeom>
            <a:noFill/>
          </p:spPr>
        </p:pic>
      </p:grpSp>
      <p:sp>
        <p:nvSpPr>
          <p:cNvPr id="4" name="TextBox 3">
            <a:extLst>
              <a:ext uri="{FF2B5EF4-FFF2-40B4-BE49-F238E27FC236}">
                <a16:creationId xmlns:a16="http://schemas.microsoft.com/office/drawing/2014/main" id="{8C84356E-62A5-48BD-B15C-7A96D27AEBDE}"/>
              </a:ext>
            </a:extLst>
          </p:cNvPr>
          <p:cNvSpPr txBox="1"/>
          <p:nvPr/>
        </p:nvSpPr>
        <p:spPr>
          <a:xfrm>
            <a:off x="608287" y="5485394"/>
            <a:ext cx="11685070" cy="1107996"/>
          </a:xfrm>
          <a:prstGeom prst="rect">
            <a:avLst/>
          </a:prstGeom>
          <a:noFill/>
        </p:spPr>
        <p:txBody>
          <a:bodyPr wrap="square" rtlCol="0">
            <a:spAutoFit/>
          </a:bodyPr>
          <a:lstStyle/>
          <a:p>
            <a:pPr lvl="0" defTabSz="457200">
              <a:spcBef>
                <a:spcPts val="400"/>
              </a:spcBef>
              <a:spcAft>
                <a:spcPts val="400"/>
              </a:spcAft>
              <a:defRPr/>
            </a:pPr>
            <a:r>
              <a:rPr lang="en-CA" sz="2200" dirty="0">
                <a:solidFill>
                  <a:prstClr val="white"/>
                </a:solidFill>
                <a:latin typeface="Arial" panose="020B0604020202020204" pitchFamily="34" charset="0"/>
                <a:cs typeface="Arial" panose="020B0604020202020204" pitchFamily="34" charset="0"/>
              </a:rPr>
              <a:t>Based on our paper: “Equilibrium and stability of thin spherical shells in Newtonian and relativistic gravity”. arXiv:1909.06253., which has been accepted for publication in the American Journal of Physics </a:t>
            </a:r>
          </a:p>
        </p:txBody>
      </p:sp>
    </p:spTree>
    <p:extLst>
      <p:ext uri="{BB962C8B-B14F-4D97-AF65-F5344CB8AC3E}">
        <p14:creationId xmlns:p14="http://schemas.microsoft.com/office/powerpoint/2010/main" val="150895376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B5895B7D-A3DA-4BB5-B9EF-BED32F1BEF94}"/>
              </a:ext>
            </a:extLst>
          </p:cNvPr>
          <p:cNvGrpSpPr/>
          <p:nvPr/>
        </p:nvGrpSpPr>
        <p:grpSpPr>
          <a:xfrm>
            <a:off x="157281" y="1288620"/>
            <a:ext cx="3731137" cy="4695549"/>
            <a:chOff x="137357" y="2365916"/>
            <a:chExt cx="3321902" cy="4185478"/>
          </a:xfrm>
        </p:grpSpPr>
        <p:pic>
          <p:nvPicPr>
            <p:cNvPr id="4" name="Picture 2" descr="Image result for neutron stars">
              <a:extLst>
                <a:ext uri="{FF2B5EF4-FFF2-40B4-BE49-F238E27FC236}">
                  <a16:creationId xmlns:a16="http://schemas.microsoft.com/office/drawing/2014/main" id="{ACD9267C-5E15-469C-B453-7913A8A06DCF}"/>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37357" y="2365916"/>
              <a:ext cx="3321815" cy="205587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lated image">
              <a:extLst>
                <a:ext uri="{FF2B5EF4-FFF2-40B4-BE49-F238E27FC236}">
                  <a16:creationId xmlns:a16="http://schemas.microsoft.com/office/drawing/2014/main" id="{EDC67E7A-E200-437B-8B93-21BF4505935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7357" y="4421795"/>
              <a:ext cx="3321902" cy="2129599"/>
            </a:xfrm>
            <a:prstGeom prst="rect">
              <a:avLst/>
            </a:prstGeom>
            <a:noFill/>
            <a:extLst>
              <a:ext uri="{909E8E84-426E-40DD-AFC4-6F175D3DCCD1}">
                <a14:hiddenFill xmlns:a14="http://schemas.microsoft.com/office/drawing/2010/main">
                  <a:solidFill>
                    <a:srgbClr val="FFFFFF"/>
                  </a:solidFill>
                </a14:hiddenFill>
              </a:ext>
            </a:extLst>
          </p:spPr>
        </p:pic>
      </p:grpSp>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81F7E129-F23D-4B5C-AA4A-C9C9E14C00EB}"/>
                  </a:ext>
                </a:extLst>
              </p:cNvPr>
              <p:cNvGraphicFramePr>
                <a:graphicFrameLocks noGrp="1"/>
              </p:cNvGraphicFramePr>
              <p:nvPr>
                <p:extLst>
                  <p:ext uri="{D42A27DB-BD31-4B8C-83A1-F6EECF244321}">
                    <p14:modId xmlns:p14="http://schemas.microsoft.com/office/powerpoint/2010/main" val="739740686"/>
                  </p:ext>
                </p:extLst>
              </p:nvPr>
            </p:nvGraphicFramePr>
            <p:xfrm>
              <a:off x="3980156" y="1652895"/>
              <a:ext cx="8021786" cy="4027657"/>
            </p:xfrm>
            <a:graphic>
              <a:graphicData uri="http://schemas.openxmlformats.org/drawingml/2006/table">
                <a:tbl>
                  <a:tblPr firstRow="1" bandRow="1">
                    <a:tableStyleId>{5C22544A-7EE6-4342-B048-85BDC9FD1C3A}</a:tableStyleId>
                  </a:tblPr>
                  <a:tblGrid>
                    <a:gridCol w="2123415">
                      <a:extLst>
                        <a:ext uri="{9D8B030D-6E8A-4147-A177-3AD203B41FA5}">
                          <a16:colId xmlns:a16="http://schemas.microsoft.com/office/drawing/2014/main" val="3362707069"/>
                        </a:ext>
                      </a:extLst>
                    </a:gridCol>
                    <a:gridCol w="1764779">
                      <a:extLst>
                        <a:ext uri="{9D8B030D-6E8A-4147-A177-3AD203B41FA5}">
                          <a16:colId xmlns:a16="http://schemas.microsoft.com/office/drawing/2014/main" val="2466855429"/>
                        </a:ext>
                      </a:extLst>
                    </a:gridCol>
                    <a:gridCol w="1670465">
                      <a:extLst>
                        <a:ext uri="{9D8B030D-6E8A-4147-A177-3AD203B41FA5}">
                          <a16:colId xmlns:a16="http://schemas.microsoft.com/office/drawing/2014/main" val="527447015"/>
                        </a:ext>
                      </a:extLst>
                    </a:gridCol>
                    <a:gridCol w="2463127">
                      <a:extLst>
                        <a:ext uri="{9D8B030D-6E8A-4147-A177-3AD203B41FA5}">
                          <a16:colId xmlns:a16="http://schemas.microsoft.com/office/drawing/2014/main" val="2390220292"/>
                        </a:ext>
                      </a:extLst>
                    </a:gridCol>
                  </a:tblGrid>
                  <a:tr h="735099">
                    <a:tc>
                      <a:txBody>
                        <a:bodyPr/>
                        <a:lstStyle/>
                        <a:p>
                          <a:r>
                            <a:rPr lang="en-CA" sz="2000" dirty="0">
                              <a:latin typeface="Arial" panose="020B0604020202020204" pitchFamily="34" charset="0"/>
                              <a:cs typeface="Arial" panose="020B0604020202020204" pitchFamily="34" charset="0"/>
                            </a:rPr>
                            <a:t>Compact Object</a:t>
                          </a:r>
                        </a:p>
                      </a:txBody>
                      <a:tcPr marL="72000" marR="72000" anchor="ctr" anchorCtr="1"/>
                    </a:tc>
                    <a:tc>
                      <a:txBody>
                        <a:bodyPr/>
                        <a:lstStyle/>
                        <a:p>
                          <a:r>
                            <a:rPr lang="en-CA" sz="2000" dirty="0">
                              <a:latin typeface="Arial" panose="020B0604020202020204" pitchFamily="34" charset="0"/>
                              <a:cs typeface="Arial" panose="020B0604020202020204" pitchFamily="34" charset="0"/>
                            </a:rPr>
                            <a:t>Mass</a:t>
                          </a:r>
                        </a:p>
                      </a:txBody>
                      <a:tcPr marL="72000" marR="72000" anchor="ctr" anchorCtr="1"/>
                    </a:tc>
                    <a:tc>
                      <a:txBody>
                        <a:bodyPr/>
                        <a:lstStyle/>
                        <a:p>
                          <a:r>
                            <a:rPr lang="en-CA" sz="2000" dirty="0">
                              <a:latin typeface="Arial" panose="020B0604020202020204" pitchFamily="34" charset="0"/>
                              <a:cs typeface="Arial" panose="020B0604020202020204" pitchFamily="34" charset="0"/>
                            </a:rPr>
                            <a:t>Radius</a:t>
                          </a:r>
                        </a:p>
                      </a:txBody>
                      <a:tcPr marL="72000" marR="72000" anchor="ctr" anchorCtr="1"/>
                    </a:tc>
                    <a:tc>
                      <a:txBody>
                        <a:bodyPr/>
                        <a:lstStyle/>
                        <a:p>
                          <a:r>
                            <a:rPr lang="en-CA" sz="2000" dirty="0">
                              <a:latin typeface="Arial" panose="020B0604020202020204" pitchFamily="34" charset="0"/>
                              <a:cs typeface="Arial" panose="020B0604020202020204" pitchFamily="34" charset="0"/>
                            </a:rPr>
                            <a:t>Location</a:t>
                          </a:r>
                        </a:p>
                      </a:txBody>
                      <a:tcPr marL="72000" marR="72000" anchor="ctr" anchorCtr="1"/>
                    </a:tc>
                    <a:extLst>
                      <a:ext uri="{0D108BD9-81ED-4DB2-BD59-A6C34878D82A}">
                        <a16:rowId xmlns:a16="http://schemas.microsoft.com/office/drawing/2014/main" val="2566073655"/>
                      </a:ext>
                    </a:extLst>
                  </a:tr>
                  <a:tr h="77856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Neutron Star</a:t>
                          </a:r>
                        </a:p>
                      </a:txBody>
                      <a:tcPr marL="72000" marR="72000" anchor="ctr" anchorCtr="1"/>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1−2.5</m:t>
                              </m:r>
                            </m:oMath>
                          </a14:m>
                          <a:r>
                            <a:rPr kumimoji="0" lang="en-CA" sz="2000" b="0" i="0" u="none" strike="noStrike" kern="1200" cap="none" spc="0" normalizeH="0" baseline="0" noProof="0" dirty="0">
                              <a:ln>
                                <a:noFill/>
                              </a:ln>
                              <a:solidFill>
                                <a:prstClr val="black"/>
                              </a:solidFill>
                              <a:effectLst/>
                              <a:uLnTx/>
                              <a:uFillTx/>
                              <a:latin typeface="+mn-lt"/>
                              <a:ea typeface="+mn-ea"/>
                              <a:cs typeface="+mn-cs"/>
                            </a:rPr>
                            <a:t> </a:t>
                          </a:r>
                          <a:r>
                            <a:rPr kumimoji="0" lang="en-CA" sz="2000"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M</a:t>
                          </a:r>
                          <a:r>
                            <a:rPr kumimoji="0" lang="en-CA" sz="2000" b="0" i="0" u="none" strike="noStrike" kern="1200" cap="none" spc="0" normalizeH="0" baseline="-25000" noProof="0" dirty="0">
                              <a:ln>
                                <a:noFill/>
                              </a:ln>
                              <a:solidFill>
                                <a:srgbClr val="222222"/>
                              </a:solidFill>
                              <a:effectLst/>
                              <a:uLnTx/>
                              <a:uFillTx/>
                              <a:latin typeface="arial" panose="020B0604020202020204" pitchFamily="34" charset="0"/>
                              <a:ea typeface="+mn-ea"/>
                              <a:cs typeface="+mn-cs"/>
                            </a:rPr>
                            <a:t>☉</a:t>
                          </a:r>
                          <a:endParaRPr kumimoji="0" lang="en-CA" sz="2000" b="0" i="0" u="none" strike="noStrike" kern="1200" cap="none" spc="0" normalizeH="0" baseline="0" noProof="0" dirty="0">
                            <a:ln>
                              <a:noFill/>
                            </a:ln>
                            <a:solidFill>
                              <a:prstClr val="black"/>
                            </a:solidFill>
                            <a:effectLst/>
                            <a:uLnTx/>
                            <a:uFillTx/>
                            <a:latin typeface="+mn-lt"/>
                            <a:ea typeface="+mn-ea"/>
                            <a:cs typeface="+mn-cs"/>
                          </a:endParaRPr>
                        </a:p>
                      </a:txBody>
                      <a:tcPr marL="72000" marR="72000" anchor="ctr" anchorCtr="1"/>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m:t>~10</m:t>
                              </m:r>
                            </m:oMath>
                          </a14:m>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km</a:t>
                          </a:r>
                        </a:p>
                      </a:txBody>
                      <a:tcPr marL="72000" marR="72000" anchor="ctr" anchorCtr="1"/>
                    </a:tc>
                    <a:tc>
                      <a:txBody>
                        <a:bodyPr/>
                        <a:lstStyle/>
                        <a:p>
                          <a:pPr algn="ctr"/>
                          <a:r>
                            <a:rPr lang="en-CA" sz="2000" dirty="0">
                              <a:latin typeface="Arial" panose="020B0604020202020204" pitchFamily="34" charset="0"/>
                              <a:cs typeface="Arial" panose="020B0604020202020204" pitchFamily="34" charset="0"/>
                            </a:rPr>
                            <a:t>Binary systems and interstellar nebulae</a:t>
                          </a:r>
                        </a:p>
                      </a:txBody>
                      <a:tcPr marL="72000" marR="72000" anchor="ctr" anchorCtr="1"/>
                    </a:tc>
                    <a:extLst>
                      <a:ext uri="{0D108BD9-81ED-4DB2-BD59-A6C34878D82A}">
                        <a16:rowId xmlns:a16="http://schemas.microsoft.com/office/drawing/2014/main" val="2192742847"/>
                      </a:ext>
                    </a:extLst>
                  </a:tr>
                  <a:tr h="799734">
                    <a:tc>
                      <a:txBody>
                        <a:bodyPr/>
                        <a:lstStyle/>
                        <a:p>
                          <a:pPr algn="ctr"/>
                          <a:r>
                            <a:rPr lang="en-CA" sz="2000" dirty="0">
                              <a:latin typeface="Arial" panose="020B0604020202020204" pitchFamily="34" charset="0"/>
                              <a:cs typeface="Arial" panose="020B0604020202020204" pitchFamily="34" charset="0"/>
                            </a:rPr>
                            <a:t>Stellar Mass Black Hole</a:t>
                          </a:r>
                        </a:p>
                      </a:txBody>
                      <a:tcPr marL="72000" marR="72000" anchor="ctr" anchorCtr="1"/>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5−100</m:t>
                              </m:r>
                            </m:oMath>
                          </a14:m>
                          <a:r>
                            <a:rPr kumimoji="0" lang="en-CA" sz="2000" b="0" i="0" u="none" strike="noStrike" kern="1200" cap="none" spc="0" normalizeH="0" baseline="0" noProof="0" dirty="0">
                              <a:ln>
                                <a:noFill/>
                              </a:ln>
                              <a:solidFill>
                                <a:prstClr val="black"/>
                              </a:solidFill>
                              <a:effectLst/>
                              <a:uLnTx/>
                              <a:uFillTx/>
                              <a:latin typeface="+mn-lt"/>
                              <a:ea typeface="+mn-ea"/>
                              <a:cs typeface="+mn-cs"/>
                            </a:rPr>
                            <a:t> </a:t>
                          </a:r>
                          <a:r>
                            <a:rPr kumimoji="0" lang="en-CA" sz="2000"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M</a:t>
                          </a:r>
                          <a:r>
                            <a:rPr kumimoji="0" lang="en-CA" sz="2000" b="0" i="0" u="none" strike="noStrike" kern="1200" cap="none" spc="0" normalizeH="0" baseline="-25000" noProof="0" dirty="0">
                              <a:ln>
                                <a:noFill/>
                              </a:ln>
                              <a:solidFill>
                                <a:srgbClr val="222222"/>
                              </a:solidFill>
                              <a:effectLst/>
                              <a:uLnTx/>
                              <a:uFillTx/>
                              <a:latin typeface="arial" panose="020B0604020202020204" pitchFamily="34" charset="0"/>
                              <a:ea typeface="+mn-ea"/>
                              <a:cs typeface="+mn-cs"/>
                            </a:rPr>
                            <a:t>☉</a:t>
                          </a:r>
                          <a:endParaRPr kumimoji="0" lang="en-CA" sz="2000" b="0" i="0" u="none" strike="noStrike" kern="1200" cap="none" spc="0" normalizeH="0" baseline="0" noProof="0" dirty="0">
                            <a:ln>
                              <a:noFill/>
                            </a:ln>
                            <a:solidFill>
                              <a:prstClr val="black"/>
                            </a:solidFill>
                            <a:effectLst/>
                            <a:uLnTx/>
                            <a:uFillTx/>
                            <a:latin typeface="+mn-lt"/>
                            <a:ea typeface="+mn-ea"/>
                            <a:cs typeface="+mn-cs"/>
                          </a:endParaRPr>
                        </a:p>
                      </a:txBody>
                      <a:tcPr marL="72000" marR="72000" anchor="ctr" anchorCtr="1"/>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m:t>15−300</m:t>
                              </m:r>
                            </m:oMath>
                          </a14:m>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km</a:t>
                          </a:r>
                        </a:p>
                      </a:txBody>
                      <a:tcPr marL="72000" marR="72000" anchor="ctr" anchorCtr="1"/>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Binary systems and interstellar nebulae</a:t>
                          </a:r>
                        </a:p>
                      </a:txBody>
                      <a:tcPr marL="72000" marR="72000" anchor="ctr" anchorCtr="1"/>
                    </a:tc>
                    <a:extLst>
                      <a:ext uri="{0D108BD9-81ED-4DB2-BD59-A6C34878D82A}">
                        <a16:rowId xmlns:a16="http://schemas.microsoft.com/office/drawing/2014/main" val="687509278"/>
                      </a:ext>
                    </a:extLst>
                  </a:tr>
                  <a:tr h="995781">
                    <a:tc>
                      <a:txBody>
                        <a:bodyPr/>
                        <a:lstStyle/>
                        <a:p>
                          <a:pPr algn="ctr"/>
                          <a:r>
                            <a:rPr lang="en-CA" sz="2000" dirty="0">
                              <a:latin typeface="Arial" panose="020B0604020202020204" pitchFamily="34" charset="0"/>
                              <a:cs typeface="Arial" panose="020B0604020202020204" pitchFamily="34" charset="0"/>
                            </a:rPr>
                            <a:t>Intermediate Mass Black Hole</a:t>
                          </a:r>
                        </a:p>
                      </a:txBody>
                      <a:tcPr marL="72000" marR="72000" anchor="ctr" anchorCtr="1"/>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m:t>~</m:t>
                              </m:r>
                              <m:sSup>
                                <m:sSupPr>
                                  <m:ctrlP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10</m:t>
                                  </m:r>
                                </m:e>
                                <m:sup>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p>
                              </m:sSup>
                            </m:oMath>
                          </a14:m>
                          <a:r>
                            <a:rPr kumimoji="0" lang="en-CA" sz="2000" b="0" i="0" u="none" strike="noStrike" kern="1200" cap="none" spc="0" normalizeH="0" baseline="0" noProof="0" dirty="0">
                              <a:ln>
                                <a:noFill/>
                              </a:ln>
                              <a:solidFill>
                                <a:prstClr val="black"/>
                              </a:solidFill>
                              <a:effectLst/>
                              <a:uLnTx/>
                              <a:uFillTx/>
                              <a:latin typeface="+mn-lt"/>
                              <a:ea typeface="+mn-ea"/>
                              <a:cs typeface="+mn-cs"/>
                            </a:rPr>
                            <a:t> </a:t>
                          </a:r>
                          <a:r>
                            <a:rPr kumimoji="0" lang="en-CA" sz="2000"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M</a:t>
                          </a:r>
                          <a:r>
                            <a:rPr kumimoji="0" lang="en-CA" sz="2000" b="0" i="0" u="none" strike="noStrike" kern="1200" cap="none" spc="0" normalizeH="0" baseline="-25000" noProof="0" dirty="0">
                              <a:ln>
                                <a:noFill/>
                              </a:ln>
                              <a:solidFill>
                                <a:srgbClr val="222222"/>
                              </a:solidFill>
                              <a:effectLst/>
                              <a:uLnTx/>
                              <a:uFillTx/>
                              <a:latin typeface="arial" panose="020B0604020202020204" pitchFamily="34" charset="0"/>
                              <a:ea typeface="+mn-ea"/>
                              <a:cs typeface="+mn-cs"/>
                            </a:rPr>
                            <a:t>☉</a:t>
                          </a:r>
                          <a:endParaRPr kumimoji="0" lang="en-CA" sz="2000" b="0" i="0" u="none" strike="noStrike" kern="1200" cap="none" spc="0" normalizeH="0" baseline="0" noProof="0" dirty="0">
                            <a:ln>
                              <a:noFill/>
                            </a:ln>
                            <a:solidFill>
                              <a:prstClr val="black"/>
                            </a:solidFill>
                            <a:effectLst/>
                            <a:uLnTx/>
                            <a:uFillTx/>
                            <a:latin typeface="+mn-lt"/>
                            <a:ea typeface="+mn-ea"/>
                            <a:cs typeface="+mn-cs"/>
                          </a:endParaRPr>
                        </a:p>
                      </a:txBody>
                      <a:tcPr marL="72000" marR="72000" anchor="ctr" anchorCtr="1"/>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m:t>~</m:t>
                              </m:r>
                            </m:oMath>
                          </a14:m>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14:m>
                            <m:oMath xmlns:m="http://schemas.openxmlformats.org/officeDocument/2006/math">
                              <m:sSup>
                                <m:sSupPr>
                                  <m:ctrlP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10</m:t>
                                  </m:r>
                                </m:e>
                                <m:sup>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3</m:t>
                                  </m:r>
                                </m:sup>
                              </m:sSup>
                            </m:oMath>
                          </a14:m>
                          <a:r>
                            <a:rPr kumimoji="0" lang="en-CA" sz="2000" b="0" i="0" u="none" strike="noStrike" kern="1200" cap="none" spc="0" normalizeH="0" baseline="0" noProof="0" dirty="0">
                              <a:ln>
                                <a:noFill/>
                              </a:ln>
                              <a:solidFill>
                                <a:prstClr val="black"/>
                              </a:solidFill>
                              <a:effectLst/>
                              <a:uLnTx/>
                              <a:uFillTx/>
                              <a:latin typeface="+mn-lt"/>
                              <a:ea typeface="+mn-ea"/>
                              <a:cs typeface="+mn-cs"/>
                            </a:rPr>
                            <a:t> </a:t>
                          </a: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km</a:t>
                          </a:r>
                        </a:p>
                      </a:txBody>
                      <a:tcPr marL="72000" marR="72000" anchor="ctr" anchorCtr="1"/>
                    </a:tc>
                    <a:tc>
                      <a:txBody>
                        <a:bodyPr/>
                        <a:lstStyle/>
                        <a:p>
                          <a:pPr algn="ctr"/>
                          <a:r>
                            <a:rPr lang="en-CA" sz="2000" dirty="0">
                              <a:latin typeface="Arial" panose="020B0604020202020204" pitchFamily="34" charset="0"/>
                              <a:cs typeface="Arial" panose="020B0604020202020204" pitchFamily="34" charset="0"/>
                            </a:rPr>
                            <a:t>Interstellar space and globular clusters</a:t>
                          </a:r>
                        </a:p>
                      </a:txBody>
                      <a:tcPr marL="72000" marR="72000" anchor="ctr" anchorCtr="1"/>
                    </a:tc>
                    <a:extLst>
                      <a:ext uri="{0D108BD9-81ED-4DB2-BD59-A6C34878D82A}">
                        <a16:rowId xmlns:a16="http://schemas.microsoft.com/office/drawing/2014/main" val="3410426505"/>
                      </a:ext>
                    </a:extLst>
                  </a:tr>
                  <a:tr h="708424">
                    <a:tc>
                      <a:txBody>
                        <a:bodyPr/>
                        <a:lstStyle/>
                        <a:p>
                          <a:pPr algn="ctr"/>
                          <a:r>
                            <a:rPr lang="en-CA" sz="2000" dirty="0">
                              <a:latin typeface="Arial" panose="020B0604020202020204" pitchFamily="34" charset="0"/>
                              <a:cs typeface="Arial" panose="020B0604020202020204" pitchFamily="34" charset="0"/>
                            </a:rPr>
                            <a:t>Supermassive Black Hole</a:t>
                          </a:r>
                        </a:p>
                      </a:txBody>
                      <a:tcPr marL="72000" marR="72000" anchor="ctr" anchorCtr="1"/>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m:t>5</m:t>
                                  </m:r>
                                </m:sup>
                              </m:sSup>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m:t>
                              </m:r>
                              <m:sSup>
                                <m:sSupPr>
                                  <m:ctrlP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ctrlPr>
                                </m:sSupPr>
                                <m:e>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10</m:t>
                                  </m:r>
                                </m:e>
                                <m:sup>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mn-cs"/>
                                    </a:rPr>
                                    <m:t>10</m:t>
                                  </m:r>
                                </m:sup>
                              </m:sSup>
                            </m:oMath>
                          </a14:m>
                          <a:r>
                            <a:rPr kumimoji="0" lang="en-CA" sz="2000" b="0" i="0" u="none" strike="noStrike" kern="1200" cap="none" spc="0" normalizeH="0" baseline="0" noProof="0" dirty="0">
                              <a:ln>
                                <a:noFill/>
                              </a:ln>
                              <a:solidFill>
                                <a:prstClr val="black"/>
                              </a:solidFill>
                              <a:effectLst/>
                              <a:uLnTx/>
                              <a:uFillTx/>
                              <a:latin typeface="+mn-lt"/>
                              <a:ea typeface="+mn-ea"/>
                              <a:cs typeface="+mn-cs"/>
                            </a:rPr>
                            <a:t> </a:t>
                          </a:r>
                          <a:r>
                            <a:rPr kumimoji="0" lang="en-CA" sz="2000" b="0" i="0" u="none" strike="noStrike" kern="1200" cap="none" spc="0" normalizeH="0" baseline="0" noProof="0" dirty="0">
                              <a:ln>
                                <a:noFill/>
                              </a:ln>
                              <a:solidFill>
                                <a:srgbClr val="222222"/>
                              </a:solidFill>
                              <a:effectLst/>
                              <a:uLnTx/>
                              <a:uFillTx/>
                              <a:latin typeface="arial" panose="020B0604020202020204" pitchFamily="34" charset="0"/>
                              <a:ea typeface="+mn-ea"/>
                              <a:cs typeface="+mn-cs"/>
                            </a:rPr>
                            <a:t>M</a:t>
                          </a:r>
                          <a:r>
                            <a:rPr kumimoji="0" lang="en-CA" sz="2000" b="0" i="0" u="none" strike="noStrike" kern="1200" cap="none" spc="0" normalizeH="0" baseline="-25000" noProof="0" dirty="0">
                              <a:ln>
                                <a:noFill/>
                              </a:ln>
                              <a:solidFill>
                                <a:srgbClr val="222222"/>
                              </a:solidFill>
                              <a:effectLst/>
                              <a:uLnTx/>
                              <a:uFillTx/>
                              <a:latin typeface="arial" panose="020B0604020202020204" pitchFamily="34" charset="0"/>
                              <a:ea typeface="+mn-ea"/>
                              <a:cs typeface="+mn-cs"/>
                            </a:rPr>
                            <a:t>☉</a:t>
                          </a:r>
                          <a:endParaRPr kumimoji="0" lang="en-CA" sz="2000" b="0" i="0" u="none" strike="noStrike" kern="1200" cap="none" spc="0" normalizeH="0" baseline="0" noProof="0" dirty="0">
                            <a:ln>
                              <a:noFill/>
                            </a:ln>
                            <a:solidFill>
                              <a:prstClr val="black"/>
                            </a:solidFill>
                            <a:effectLst/>
                            <a:uLnTx/>
                            <a:uFillTx/>
                            <a:latin typeface="+mn-lt"/>
                            <a:ea typeface="+mn-ea"/>
                            <a:cs typeface="+mn-cs"/>
                          </a:endParaRPr>
                        </a:p>
                      </a:txBody>
                      <a:tcPr marL="72000" marR="72000" anchor="ctr" anchorCtr="1"/>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sSup>
                                <m:sSupPr>
                                  <m:ctrlP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m:ctrlPr>
                                </m:sSupPr>
                                <m:e>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m:t>10</m:t>
                                  </m:r>
                                </m:e>
                                <m:sup>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m:t>−3</m:t>
                                  </m:r>
                                </m:sup>
                              </m:sSup>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m:t>−400</m:t>
                              </m:r>
                            </m:oMath>
                          </a14:m>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AU</a:t>
                          </a:r>
                        </a:p>
                      </a:txBody>
                      <a:tcPr marL="72000" marR="72000" anchor="ctr" anchorCtr="1"/>
                    </a:tc>
                    <a:tc>
                      <a:txBody>
                        <a:bodyPr/>
                        <a:lstStyle/>
                        <a:p>
                          <a:pPr algn="ctr"/>
                          <a:r>
                            <a:rPr lang="en-CA" sz="2000" dirty="0">
                              <a:latin typeface="Arial" panose="020B0604020202020204" pitchFamily="34" charset="0"/>
                              <a:cs typeface="Arial" panose="020B0604020202020204" pitchFamily="34" charset="0"/>
                            </a:rPr>
                            <a:t>Galactic Centres</a:t>
                          </a:r>
                        </a:p>
                      </a:txBody>
                      <a:tcPr marL="72000" marR="72000" anchor="ctr" anchorCtr="1"/>
                    </a:tc>
                    <a:extLst>
                      <a:ext uri="{0D108BD9-81ED-4DB2-BD59-A6C34878D82A}">
                        <a16:rowId xmlns:a16="http://schemas.microsoft.com/office/drawing/2014/main" val="2502275117"/>
                      </a:ext>
                    </a:extLst>
                  </a:tr>
                </a:tbl>
              </a:graphicData>
            </a:graphic>
          </p:graphicFrame>
        </mc:Choice>
        <mc:Fallback>
          <p:graphicFrame>
            <p:nvGraphicFramePr>
              <p:cNvPr id="3" name="Table 2">
                <a:extLst>
                  <a:ext uri="{FF2B5EF4-FFF2-40B4-BE49-F238E27FC236}">
                    <a16:creationId xmlns:a16="http://schemas.microsoft.com/office/drawing/2014/main" id="{81F7E129-F23D-4B5C-AA4A-C9C9E14C00EB}"/>
                  </a:ext>
                </a:extLst>
              </p:cNvPr>
              <p:cNvGraphicFramePr>
                <a:graphicFrameLocks noGrp="1"/>
              </p:cNvGraphicFramePr>
              <p:nvPr>
                <p:extLst>
                  <p:ext uri="{D42A27DB-BD31-4B8C-83A1-F6EECF244321}">
                    <p14:modId xmlns:p14="http://schemas.microsoft.com/office/powerpoint/2010/main" val="739740686"/>
                  </p:ext>
                </p:extLst>
              </p:nvPr>
            </p:nvGraphicFramePr>
            <p:xfrm>
              <a:off x="3980156" y="1652895"/>
              <a:ext cx="8021786" cy="4027657"/>
            </p:xfrm>
            <a:graphic>
              <a:graphicData uri="http://schemas.openxmlformats.org/drawingml/2006/table">
                <a:tbl>
                  <a:tblPr firstRow="1" bandRow="1">
                    <a:tableStyleId>{5C22544A-7EE6-4342-B048-85BDC9FD1C3A}</a:tableStyleId>
                  </a:tblPr>
                  <a:tblGrid>
                    <a:gridCol w="2123415">
                      <a:extLst>
                        <a:ext uri="{9D8B030D-6E8A-4147-A177-3AD203B41FA5}">
                          <a16:colId xmlns:a16="http://schemas.microsoft.com/office/drawing/2014/main" val="3362707069"/>
                        </a:ext>
                      </a:extLst>
                    </a:gridCol>
                    <a:gridCol w="1764779">
                      <a:extLst>
                        <a:ext uri="{9D8B030D-6E8A-4147-A177-3AD203B41FA5}">
                          <a16:colId xmlns:a16="http://schemas.microsoft.com/office/drawing/2014/main" val="2466855429"/>
                        </a:ext>
                      </a:extLst>
                    </a:gridCol>
                    <a:gridCol w="1670465">
                      <a:extLst>
                        <a:ext uri="{9D8B030D-6E8A-4147-A177-3AD203B41FA5}">
                          <a16:colId xmlns:a16="http://schemas.microsoft.com/office/drawing/2014/main" val="527447015"/>
                        </a:ext>
                      </a:extLst>
                    </a:gridCol>
                    <a:gridCol w="2463127">
                      <a:extLst>
                        <a:ext uri="{9D8B030D-6E8A-4147-A177-3AD203B41FA5}">
                          <a16:colId xmlns:a16="http://schemas.microsoft.com/office/drawing/2014/main" val="2390220292"/>
                        </a:ext>
                      </a:extLst>
                    </a:gridCol>
                  </a:tblGrid>
                  <a:tr h="735099">
                    <a:tc>
                      <a:txBody>
                        <a:bodyPr/>
                        <a:lstStyle/>
                        <a:p>
                          <a:r>
                            <a:rPr lang="en-CA" sz="2000" dirty="0">
                              <a:latin typeface="Arial" panose="020B0604020202020204" pitchFamily="34" charset="0"/>
                              <a:cs typeface="Arial" panose="020B0604020202020204" pitchFamily="34" charset="0"/>
                            </a:rPr>
                            <a:t>Compact Object</a:t>
                          </a:r>
                        </a:p>
                      </a:txBody>
                      <a:tcPr marL="72000" marR="72000" anchor="ctr" anchorCtr="1"/>
                    </a:tc>
                    <a:tc>
                      <a:txBody>
                        <a:bodyPr/>
                        <a:lstStyle/>
                        <a:p>
                          <a:r>
                            <a:rPr lang="en-CA" sz="2000" dirty="0">
                              <a:latin typeface="Arial" panose="020B0604020202020204" pitchFamily="34" charset="0"/>
                              <a:cs typeface="Arial" panose="020B0604020202020204" pitchFamily="34" charset="0"/>
                            </a:rPr>
                            <a:t>Mass</a:t>
                          </a:r>
                        </a:p>
                      </a:txBody>
                      <a:tcPr marL="72000" marR="72000" anchor="ctr" anchorCtr="1"/>
                    </a:tc>
                    <a:tc>
                      <a:txBody>
                        <a:bodyPr/>
                        <a:lstStyle/>
                        <a:p>
                          <a:r>
                            <a:rPr lang="en-CA" sz="2000" dirty="0">
                              <a:latin typeface="Arial" panose="020B0604020202020204" pitchFamily="34" charset="0"/>
                              <a:cs typeface="Arial" panose="020B0604020202020204" pitchFamily="34" charset="0"/>
                            </a:rPr>
                            <a:t>Radius</a:t>
                          </a:r>
                        </a:p>
                      </a:txBody>
                      <a:tcPr marL="72000" marR="72000" anchor="ctr" anchorCtr="1"/>
                    </a:tc>
                    <a:tc>
                      <a:txBody>
                        <a:bodyPr/>
                        <a:lstStyle/>
                        <a:p>
                          <a:r>
                            <a:rPr lang="en-CA" sz="2000" dirty="0">
                              <a:latin typeface="Arial" panose="020B0604020202020204" pitchFamily="34" charset="0"/>
                              <a:cs typeface="Arial" panose="020B0604020202020204" pitchFamily="34" charset="0"/>
                            </a:rPr>
                            <a:t>Location</a:t>
                          </a:r>
                        </a:p>
                      </a:txBody>
                      <a:tcPr marL="72000" marR="72000" anchor="ctr" anchorCtr="1"/>
                    </a:tc>
                    <a:extLst>
                      <a:ext uri="{0D108BD9-81ED-4DB2-BD59-A6C34878D82A}">
                        <a16:rowId xmlns:a16="http://schemas.microsoft.com/office/drawing/2014/main" val="2566073655"/>
                      </a:ext>
                    </a:extLst>
                  </a:tr>
                  <a:tr h="778560">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Neutron Star</a:t>
                          </a:r>
                        </a:p>
                      </a:txBody>
                      <a:tcPr marL="72000" marR="72000" anchor="ctr" anchorCtr="1"/>
                    </a:tc>
                    <a:tc>
                      <a:txBody>
                        <a:bodyPr/>
                        <a:lstStyle/>
                        <a:p>
                          <a:endParaRPr lang="en-US"/>
                        </a:p>
                      </a:txBody>
                      <a:tcPr marL="72000" marR="72000" anchor="ctr" anchorCtr="1">
                        <a:blipFill>
                          <a:blip r:embed="rId5"/>
                          <a:stretch>
                            <a:fillRect l="-121107" t="-96063" r="-236332" b="-339370"/>
                          </a:stretch>
                        </a:blipFill>
                      </a:tcPr>
                    </a:tc>
                    <a:tc>
                      <a:txBody>
                        <a:bodyPr/>
                        <a:lstStyle/>
                        <a:p>
                          <a:endParaRPr lang="en-US"/>
                        </a:p>
                      </a:txBody>
                      <a:tcPr marL="72000" marR="72000" anchor="ctr" anchorCtr="1">
                        <a:blipFill>
                          <a:blip r:embed="rId5"/>
                          <a:stretch>
                            <a:fillRect l="-232364" t="-96063" r="-148364" b="-339370"/>
                          </a:stretch>
                        </a:blipFill>
                      </a:tcPr>
                    </a:tc>
                    <a:tc>
                      <a:txBody>
                        <a:bodyPr/>
                        <a:lstStyle/>
                        <a:p>
                          <a:pPr algn="ctr"/>
                          <a:r>
                            <a:rPr lang="en-CA" sz="2000" dirty="0">
                              <a:latin typeface="Arial" panose="020B0604020202020204" pitchFamily="34" charset="0"/>
                              <a:cs typeface="Arial" panose="020B0604020202020204" pitchFamily="34" charset="0"/>
                            </a:rPr>
                            <a:t>Binary systems and interstellar nebulae</a:t>
                          </a:r>
                        </a:p>
                      </a:txBody>
                      <a:tcPr marL="72000" marR="72000" anchor="ctr" anchorCtr="1"/>
                    </a:tc>
                    <a:extLst>
                      <a:ext uri="{0D108BD9-81ED-4DB2-BD59-A6C34878D82A}">
                        <a16:rowId xmlns:a16="http://schemas.microsoft.com/office/drawing/2014/main" val="2192742847"/>
                      </a:ext>
                    </a:extLst>
                  </a:tr>
                  <a:tr h="799734">
                    <a:tc>
                      <a:txBody>
                        <a:bodyPr/>
                        <a:lstStyle/>
                        <a:p>
                          <a:pPr algn="ctr"/>
                          <a:r>
                            <a:rPr lang="en-CA" sz="2000" dirty="0">
                              <a:latin typeface="Arial" panose="020B0604020202020204" pitchFamily="34" charset="0"/>
                              <a:cs typeface="Arial" panose="020B0604020202020204" pitchFamily="34" charset="0"/>
                            </a:rPr>
                            <a:t>Stellar Mass Black Hole</a:t>
                          </a:r>
                        </a:p>
                      </a:txBody>
                      <a:tcPr marL="72000" marR="72000" anchor="ctr" anchorCtr="1"/>
                    </a:tc>
                    <a:tc>
                      <a:txBody>
                        <a:bodyPr/>
                        <a:lstStyle/>
                        <a:p>
                          <a:endParaRPr lang="en-US"/>
                        </a:p>
                      </a:txBody>
                      <a:tcPr marL="72000" marR="72000" anchor="ctr" anchorCtr="1">
                        <a:blipFill>
                          <a:blip r:embed="rId5"/>
                          <a:stretch>
                            <a:fillRect l="-121107" t="-188636" r="-236332" b="-226515"/>
                          </a:stretch>
                        </a:blipFill>
                      </a:tcPr>
                    </a:tc>
                    <a:tc>
                      <a:txBody>
                        <a:bodyPr/>
                        <a:lstStyle/>
                        <a:p>
                          <a:endParaRPr lang="en-US"/>
                        </a:p>
                      </a:txBody>
                      <a:tcPr marL="72000" marR="72000" anchor="ctr" anchorCtr="1">
                        <a:blipFill>
                          <a:blip r:embed="rId5"/>
                          <a:stretch>
                            <a:fillRect l="-232364" t="-188636" r="-148364" b="-226515"/>
                          </a:stretch>
                        </a:blipFill>
                      </a:tcPr>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Binary systems and interstellar nebulae</a:t>
                          </a:r>
                        </a:p>
                      </a:txBody>
                      <a:tcPr marL="72000" marR="72000" anchor="ctr" anchorCtr="1"/>
                    </a:tc>
                    <a:extLst>
                      <a:ext uri="{0D108BD9-81ED-4DB2-BD59-A6C34878D82A}">
                        <a16:rowId xmlns:a16="http://schemas.microsoft.com/office/drawing/2014/main" val="687509278"/>
                      </a:ext>
                    </a:extLst>
                  </a:tr>
                  <a:tr h="1005840">
                    <a:tc>
                      <a:txBody>
                        <a:bodyPr/>
                        <a:lstStyle/>
                        <a:p>
                          <a:pPr algn="ctr"/>
                          <a:r>
                            <a:rPr lang="en-CA" sz="2000" dirty="0">
                              <a:latin typeface="Arial" panose="020B0604020202020204" pitchFamily="34" charset="0"/>
                              <a:cs typeface="Arial" panose="020B0604020202020204" pitchFamily="34" charset="0"/>
                            </a:rPr>
                            <a:t>Intermediate Mass Black Hole</a:t>
                          </a:r>
                        </a:p>
                      </a:txBody>
                      <a:tcPr marL="72000" marR="72000" anchor="ctr" anchorCtr="1"/>
                    </a:tc>
                    <a:tc>
                      <a:txBody>
                        <a:bodyPr/>
                        <a:lstStyle/>
                        <a:p>
                          <a:endParaRPr lang="en-US"/>
                        </a:p>
                      </a:txBody>
                      <a:tcPr marL="72000" marR="72000" anchor="ctr" anchorCtr="1">
                        <a:blipFill>
                          <a:blip r:embed="rId5"/>
                          <a:stretch>
                            <a:fillRect l="-121107" t="-230909" r="-236332" b="-81212"/>
                          </a:stretch>
                        </a:blipFill>
                      </a:tcPr>
                    </a:tc>
                    <a:tc>
                      <a:txBody>
                        <a:bodyPr/>
                        <a:lstStyle/>
                        <a:p>
                          <a:endParaRPr lang="en-US"/>
                        </a:p>
                      </a:txBody>
                      <a:tcPr marL="72000" marR="72000" anchor="ctr" anchorCtr="1">
                        <a:blipFill>
                          <a:blip r:embed="rId5"/>
                          <a:stretch>
                            <a:fillRect l="-232364" t="-230909" r="-148364" b="-81212"/>
                          </a:stretch>
                        </a:blipFill>
                      </a:tcPr>
                    </a:tc>
                    <a:tc>
                      <a:txBody>
                        <a:bodyPr/>
                        <a:lstStyle/>
                        <a:p>
                          <a:pPr algn="ctr"/>
                          <a:r>
                            <a:rPr lang="en-CA" sz="2000" dirty="0">
                              <a:latin typeface="Arial" panose="020B0604020202020204" pitchFamily="34" charset="0"/>
                              <a:cs typeface="Arial" panose="020B0604020202020204" pitchFamily="34" charset="0"/>
                            </a:rPr>
                            <a:t>Interstellar space and globular clusters</a:t>
                          </a:r>
                        </a:p>
                      </a:txBody>
                      <a:tcPr marL="72000" marR="72000" anchor="ctr" anchorCtr="1"/>
                    </a:tc>
                    <a:extLst>
                      <a:ext uri="{0D108BD9-81ED-4DB2-BD59-A6C34878D82A}">
                        <a16:rowId xmlns:a16="http://schemas.microsoft.com/office/drawing/2014/main" val="3410426505"/>
                      </a:ext>
                    </a:extLst>
                  </a:tr>
                  <a:tr h="708424">
                    <a:tc>
                      <a:txBody>
                        <a:bodyPr/>
                        <a:lstStyle/>
                        <a:p>
                          <a:pPr algn="ctr"/>
                          <a:r>
                            <a:rPr lang="en-CA" sz="2000" dirty="0">
                              <a:latin typeface="Arial" panose="020B0604020202020204" pitchFamily="34" charset="0"/>
                              <a:cs typeface="Arial" panose="020B0604020202020204" pitchFamily="34" charset="0"/>
                            </a:rPr>
                            <a:t>Supermassive Black Hole</a:t>
                          </a:r>
                        </a:p>
                      </a:txBody>
                      <a:tcPr marL="72000" marR="72000" anchor="ctr" anchorCtr="1"/>
                    </a:tc>
                    <a:tc>
                      <a:txBody>
                        <a:bodyPr/>
                        <a:lstStyle/>
                        <a:p>
                          <a:endParaRPr lang="en-US"/>
                        </a:p>
                      </a:txBody>
                      <a:tcPr marL="72000" marR="72000" anchor="ctr" anchorCtr="1">
                        <a:blipFill>
                          <a:blip r:embed="rId5"/>
                          <a:stretch>
                            <a:fillRect l="-121107" t="-470690" r="-236332" b="-15517"/>
                          </a:stretch>
                        </a:blipFill>
                      </a:tcPr>
                    </a:tc>
                    <a:tc>
                      <a:txBody>
                        <a:bodyPr/>
                        <a:lstStyle/>
                        <a:p>
                          <a:endParaRPr lang="en-US"/>
                        </a:p>
                      </a:txBody>
                      <a:tcPr marL="72000" marR="72000" anchor="ctr" anchorCtr="1">
                        <a:blipFill>
                          <a:blip r:embed="rId5"/>
                          <a:stretch>
                            <a:fillRect l="-232364" t="-470690" r="-148364" b="-15517"/>
                          </a:stretch>
                        </a:blipFill>
                      </a:tcPr>
                    </a:tc>
                    <a:tc>
                      <a:txBody>
                        <a:bodyPr/>
                        <a:lstStyle/>
                        <a:p>
                          <a:pPr algn="ctr"/>
                          <a:r>
                            <a:rPr lang="en-CA" sz="2000" dirty="0">
                              <a:latin typeface="Arial" panose="020B0604020202020204" pitchFamily="34" charset="0"/>
                              <a:cs typeface="Arial" panose="020B0604020202020204" pitchFamily="34" charset="0"/>
                            </a:rPr>
                            <a:t>Galactic Centres</a:t>
                          </a:r>
                        </a:p>
                      </a:txBody>
                      <a:tcPr marL="72000" marR="72000" anchor="ctr" anchorCtr="1"/>
                    </a:tc>
                    <a:extLst>
                      <a:ext uri="{0D108BD9-81ED-4DB2-BD59-A6C34878D82A}">
                        <a16:rowId xmlns:a16="http://schemas.microsoft.com/office/drawing/2014/main" val="2502275117"/>
                      </a:ext>
                    </a:extLst>
                  </a:tr>
                </a:tbl>
              </a:graphicData>
            </a:graphic>
          </p:graphicFrame>
        </mc:Fallback>
      </mc:AlternateContent>
      <p:grpSp>
        <p:nvGrpSpPr>
          <p:cNvPr id="20" name="Group 19">
            <a:extLst>
              <a:ext uri="{FF2B5EF4-FFF2-40B4-BE49-F238E27FC236}">
                <a16:creationId xmlns:a16="http://schemas.microsoft.com/office/drawing/2014/main" id="{6046069F-0F31-4043-B8FE-3B51D82DCF72}"/>
              </a:ext>
            </a:extLst>
          </p:cNvPr>
          <p:cNvGrpSpPr/>
          <p:nvPr/>
        </p:nvGrpSpPr>
        <p:grpSpPr>
          <a:xfrm>
            <a:off x="-27806" y="-15615"/>
            <a:ext cx="12219806" cy="936000"/>
            <a:chOff x="-27806" y="1"/>
            <a:chExt cx="12219806" cy="1026366"/>
          </a:xfrm>
        </p:grpSpPr>
        <p:sp>
          <p:nvSpPr>
            <p:cNvPr id="21" name="Rectangle 20">
              <a:extLst>
                <a:ext uri="{FF2B5EF4-FFF2-40B4-BE49-F238E27FC236}">
                  <a16:creationId xmlns:a16="http://schemas.microsoft.com/office/drawing/2014/main" id="{897C2A92-C23C-47E3-A25E-2863517577AC}"/>
                </a:ext>
              </a:extLst>
            </p:cNvPr>
            <p:cNvSpPr/>
            <p:nvPr/>
          </p:nvSpPr>
          <p:spPr>
            <a:xfrm>
              <a:off x="0" y="1"/>
              <a:ext cx="12192000" cy="10263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2" name="Picture 2" descr="Related image">
              <a:extLst>
                <a:ext uri="{FF2B5EF4-FFF2-40B4-BE49-F238E27FC236}">
                  <a16:creationId xmlns:a16="http://schemas.microsoft.com/office/drawing/2014/main" id="{9DFE6D6E-0869-4AE6-A23A-E4341BB33A3C}"/>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357" t="33734" r="11492" b="33338"/>
            <a:stretch/>
          </p:blipFill>
          <p:spPr bwMode="auto">
            <a:xfrm>
              <a:off x="-27806" y="6113"/>
              <a:ext cx="1567544" cy="620809"/>
            </a:xfrm>
            <a:prstGeom prst="rect">
              <a:avLst/>
            </a:prstGeom>
            <a:noFill/>
          </p:spPr>
        </p:pic>
      </p:grpSp>
      <p:sp>
        <p:nvSpPr>
          <p:cNvPr id="13" name="TextBox 12">
            <a:extLst>
              <a:ext uri="{FF2B5EF4-FFF2-40B4-BE49-F238E27FC236}">
                <a16:creationId xmlns:a16="http://schemas.microsoft.com/office/drawing/2014/main" id="{0E90E551-296B-4646-B557-E798A645367B}"/>
              </a:ext>
            </a:extLst>
          </p:cNvPr>
          <p:cNvSpPr txBox="1"/>
          <p:nvPr/>
        </p:nvSpPr>
        <p:spPr>
          <a:xfrm>
            <a:off x="2403237" y="193763"/>
            <a:ext cx="7385526"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32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Compact Objects</a:t>
            </a:r>
          </a:p>
        </p:txBody>
      </p:sp>
      <p:sp>
        <p:nvSpPr>
          <p:cNvPr id="23" name="Footer Placeholder 1">
            <a:extLst>
              <a:ext uri="{FF2B5EF4-FFF2-40B4-BE49-F238E27FC236}">
                <a16:creationId xmlns:a16="http://schemas.microsoft.com/office/drawing/2014/main" id="{F9C7BC1D-65BA-4A86-A860-BBFA245DC1B4}"/>
              </a:ext>
            </a:extLst>
          </p:cNvPr>
          <p:cNvSpPr txBox="1">
            <a:spLocks/>
          </p:cNvSpPr>
          <p:nvPr/>
        </p:nvSpPr>
        <p:spPr>
          <a:xfrm>
            <a:off x="2182170" y="6413063"/>
            <a:ext cx="7827659" cy="377825"/>
          </a:xfrm>
          <a:prstGeom prst="rect">
            <a:avLst/>
          </a:prstGeom>
        </p:spPr>
        <p:txBody>
          <a:bodyPr vert="horz" lIns="91440" tIns="45720" rIns="91440" bIns="45720" rtlCol="0" anchor="ctr"/>
          <a:lstStyle>
            <a:defPPr>
              <a:defRPr lang="en-US"/>
            </a:defPPr>
            <a:lvl1pPr marL="0" algn="l"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atin typeface="Arial" panose="020B0604020202020204" pitchFamily="34" charset="0"/>
                <a:cs typeface="Arial" panose="020B0604020202020204" pitchFamily="34" charset="0"/>
              </a:rPr>
              <a:t>Canadian Undergraduate Physics Conference</a:t>
            </a:r>
            <a:endParaRPr lang="en-US" dirty="0">
              <a:latin typeface="Arial" panose="020B0604020202020204" pitchFamily="34" charset="0"/>
              <a:cs typeface="Arial" panose="020B0604020202020204" pitchFamily="34" charset="0"/>
            </a:endParaRPr>
          </a:p>
        </p:txBody>
      </p:sp>
      <p:sp>
        <p:nvSpPr>
          <p:cNvPr id="24" name="Slide Number Placeholder 2">
            <a:extLst>
              <a:ext uri="{FF2B5EF4-FFF2-40B4-BE49-F238E27FC236}">
                <a16:creationId xmlns:a16="http://schemas.microsoft.com/office/drawing/2014/main" id="{F12B8F06-F178-426E-AF73-730B5D711309}"/>
              </a:ext>
            </a:extLst>
          </p:cNvPr>
          <p:cNvSpPr txBox="1">
            <a:spLocks/>
          </p:cNvSpPr>
          <p:nvPr/>
        </p:nvSpPr>
        <p:spPr>
          <a:xfrm>
            <a:off x="10284775" y="6413063"/>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57F1E4F-1CFF-5643-939E-217C01CDF565}" type="slidenum">
              <a:rPr lang="en-US" smtClean="0">
                <a:latin typeface="Arial" panose="020B0604020202020204" pitchFamily="34" charset="0"/>
                <a:cs typeface="Arial" panose="020B0604020202020204" pitchFamily="34" charset="0"/>
              </a:rPr>
              <a:pPr algn="ctr"/>
              <a:t>2</a:t>
            </a:fld>
            <a:endParaRPr lang="en-US" dirty="0">
              <a:latin typeface="Arial" panose="020B0604020202020204" pitchFamily="34" charset="0"/>
              <a:cs typeface="Arial" panose="020B0604020202020204" pitchFamily="34" charset="0"/>
            </a:endParaRPr>
          </a:p>
        </p:txBody>
      </p:sp>
      <p:sp>
        <p:nvSpPr>
          <p:cNvPr id="25" name="Date Placeholder 5">
            <a:extLst>
              <a:ext uri="{FF2B5EF4-FFF2-40B4-BE49-F238E27FC236}">
                <a16:creationId xmlns:a16="http://schemas.microsoft.com/office/drawing/2014/main" id="{9F98CA20-FAB5-40BD-A1F5-DFF7A8309793}"/>
              </a:ext>
            </a:extLst>
          </p:cNvPr>
          <p:cNvSpPr txBox="1">
            <a:spLocks/>
          </p:cNvSpPr>
          <p:nvPr/>
        </p:nvSpPr>
        <p:spPr>
          <a:xfrm>
            <a:off x="831541" y="6413063"/>
            <a:ext cx="1600200"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1A6D2-BD25-476B-8695-9DF6C2E37C50}" type="datetime1">
              <a:rPr lang="en-US" smtClean="0">
                <a:latin typeface="Arial" panose="020B0604020202020204" pitchFamily="34" charset="0"/>
                <a:cs typeface="Arial" panose="020B0604020202020204" pitchFamily="34" charset="0"/>
              </a:rPr>
              <a:pPr algn="ctr"/>
              <a:t>10/26/2019</a:t>
            </a:fld>
            <a:endParaRPr lang="en-US"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41560441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Footer Placeholder 1">
            <a:extLst>
              <a:ext uri="{FF2B5EF4-FFF2-40B4-BE49-F238E27FC236}">
                <a16:creationId xmlns:a16="http://schemas.microsoft.com/office/drawing/2014/main" id="{E01B0191-D481-4BAA-88BC-231DF74D2631}"/>
              </a:ext>
            </a:extLst>
          </p:cNvPr>
          <p:cNvSpPr txBox="1">
            <a:spLocks/>
          </p:cNvSpPr>
          <p:nvPr/>
        </p:nvSpPr>
        <p:spPr>
          <a:xfrm>
            <a:off x="2182170" y="6413063"/>
            <a:ext cx="7827659" cy="377825"/>
          </a:xfrm>
          <a:prstGeom prst="rect">
            <a:avLst/>
          </a:prstGeom>
        </p:spPr>
        <p:txBody>
          <a:bodyPr vert="horz" lIns="91440" tIns="45720" rIns="91440" bIns="45720" rtlCol="0" anchor="ctr"/>
          <a:lstStyle>
            <a:defPPr>
              <a:defRPr lang="en-US"/>
            </a:defPPr>
            <a:lvl1pPr marL="0" algn="l"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latin typeface="Arial" panose="020B0604020202020204" pitchFamily="34" charset="0"/>
                <a:cs typeface="Arial" panose="020B0604020202020204" pitchFamily="34" charset="0"/>
              </a:rPr>
              <a:t>Canadian Undergraduate Physics Conference</a:t>
            </a:r>
          </a:p>
        </p:txBody>
      </p:sp>
      <p:sp>
        <p:nvSpPr>
          <p:cNvPr id="26" name="Slide Number Placeholder 2">
            <a:extLst>
              <a:ext uri="{FF2B5EF4-FFF2-40B4-BE49-F238E27FC236}">
                <a16:creationId xmlns:a16="http://schemas.microsoft.com/office/drawing/2014/main" id="{E4CE7361-2A2E-4E58-992E-87DB46E739DD}"/>
              </a:ext>
            </a:extLst>
          </p:cNvPr>
          <p:cNvSpPr txBox="1">
            <a:spLocks/>
          </p:cNvSpPr>
          <p:nvPr/>
        </p:nvSpPr>
        <p:spPr>
          <a:xfrm>
            <a:off x="10284775" y="6413063"/>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57F1E4F-1CFF-5643-939E-217C01CDF565}" type="slidenum">
              <a:rPr lang="en-US" smtClean="0">
                <a:latin typeface="Arial" panose="020B0604020202020204" pitchFamily="34" charset="0"/>
                <a:cs typeface="Arial" panose="020B0604020202020204" pitchFamily="34" charset="0"/>
              </a:rPr>
              <a:pPr algn="ctr"/>
              <a:t>3</a:t>
            </a:fld>
            <a:endParaRPr lang="en-US" dirty="0">
              <a:latin typeface="Arial" panose="020B0604020202020204" pitchFamily="34" charset="0"/>
              <a:cs typeface="Arial" panose="020B0604020202020204" pitchFamily="34" charset="0"/>
            </a:endParaRPr>
          </a:p>
        </p:txBody>
      </p:sp>
      <p:sp>
        <p:nvSpPr>
          <p:cNvPr id="27" name="Date Placeholder 5">
            <a:extLst>
              <a:ext uri="{FF2B5EF4-FFF2-40B4-BE49-F238E27FC236}">
                <a16:creationId xmlns:a16="http://schemas.microsoft.com/office/drawing/2014/main" id="{E6198F3C-AB5A-4E8C-AF7B-CAC91EA7D18D}"/>
              </a:ext>
            </a:extLst>
          </p:cNvPr>
          <p:cNvSpPr txBox="1">
            <a:spLocks/>
          </p:cNvSpPr>
          <p:nvPr/>
        </p:nvSpPr>
        <p:spPr>
          <a:xfrm>
            <a:off x="831541" y="6413063"/>
            <a:ext cx="1600200"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1A6D2-BD25-476B-8695-9DF6C2E37C50}" type="datetime1">
              <a:rPr lang="en-US" smtClean="0">
                <a:latin typeface="Arial" panose="020B0604020202020204" pitchFamily="34" charset="0"/>
                <a:cs typeface="Arial" panose="020B0604020202020204" pitchFamily="34" charset="0"/>
              </a:rPr>
              <a:pPr algn="ctr"/>
              <a:t>10/28/2019</a:t>
            </a:fld>
            <a:endParaRPr lang="en-US" dirty="0">
              <a:latin typeface="Arial" panose="020B0604020202020204" pitchFamily="34" charset="0"/>
              <a:cs typeface="Arial" panose="020B0604020202020204" pitchFamily="34" charset="0"/>
            </a:endParaRPr>
          </a:p>
        </p:txBody>
      </p:sp>
      <p:grpSp>
        <p:nvGrpSpPr>
          <p:cNvPr id="7" name="Group 6">
            <a:extLst>
              <a:ext uri="{FF2B5EF4-FFF2-40B4-BE49-F238E27FC236}">
                <a16:creationId xmlns:a16="http://schemas.microsoft.com/office/drawing/2014/main" id="{2A084065-58E7-48DC-8A7A-30DA141DDD78}"/>
              </a:ext>
            </a:extLst>
          </p:cNvPr>
          <p:cNvGrpSpPr/>
          <p:nvPr/>
        </p:nvGrpSpPr>
        <p:grpSpPr>
          <a:xfrm>
            <a:off x="-27806" y="-39158"/>
            <a:ext cx="12219806" cy="936000"/>
            <a:chOff x="-27806" y="-9503"/>
            <a:chExt cx="12219806" cy="1035870"/>
          </a:xfrm>
        </p:grpSpPr>
        <p:sp>
          <p:nvSpPr>
            <p:cNvPr id="23" name="Rectangle 22">
              <a:extLst>
                <a:ext uri="{FF2B5EF4-FFF2-40B4-BE49-F238E27FC236}">
                  <a16:creationId xmlns:a16="http://schemas.microsoft.com/office/drawing/2014/main" id="{0BC6A5EB-FA77-4A2D-8A14-59F64A11FB44}"/>
                </a:ext>
              </a:extLst>
            </p:cNvPr>
            <p:cNvSpPr/>
            <p:nvPr/>
          </p:nvSpPr>
          <p:spPr>
            <a:xfrm>
              <a:off x="0" y="1"/>
              <a:ext cx="12192000" cy="10263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8" name="Picture 2" descr="Related image">
              <a:extLst>
                <a:ext uri="{FF2B5EF4-FFF2-40B4-BE49-F238E27FC236}">
                  <a16:creationId xmlns:a16="http://schemas.microsoft.com/office/drawing/2014/main" id="{5B9A0F6C-888F-445A-A13C-2ABB8C83AE45}"/>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57" t="33734" r="11492" b="33338"/>
            <a:stretch/>
          </p:blipFill>
          <p:spPr bwMode="auto">
            <a:xfrm>
              <a:off x="-27806" y="-9503"/>
              <a:ext cx="1567544" cy="620809"/>
            </a:xfrm>
            <a:prstGeom prst="rect">
              <a:avLst/>
            </a:prstGeom>
            <a:noFill/>
          </p:spPr>
        </p:pic>
      </p:grpSp>
      <p:sp>
        <p:nvSpPr>
          <p:cNvPr id="16" name="TextBox 15">
            <a:extLst>
              <a:ext uri="{FF2B5EF4-FFF2-40B4-BE49-F238E27FC236}">
                <a16:creationId xmlns:a16="http://schemas.microsoft.com/office/drawing/2014/main" id="{9C4CFAE9-6440-4421-9DAA-68D393B3A80F}"/>
              </a:ext>
            </a:extLst>
          </p:cNvPr>
          <p:cNvSpPr txBox="1"/>
          <p:nvPr/>
        </p:nvSpPr>
        <p:spPr>
          <a:xfrm>
            <a:off x="2473723" y="133272"/>
            <a:ext cx="7585176"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32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Fluid Sphere Neutron Star Model</a:t>
            </a:r>
          </a:p>
        </p:txBody>
      </p:sp>
      <p:grpSp>
        <p:nvGrpSpPr>
          <p:cNvPr id="19" name="Group 18">
            <a:extLst>
              <a:ext uri="{FF2B5EF4-FFF2-40B4-BE49-F238E27FC236}">
                <a16:creationId xmlns:a16="http://schemas.microsoft.com/office/drawing/2014/main" id="{279D5A79-5288-45DE-BEA5-35E48C4433ED}"/>
              </a:ext>
            </a:extLst>
          </p:cNvPr>
          <p:cNvGrpSpPr/>
          <p:nvPr/>
        </p:nvGrpSpPr>
        <p:grpSpPr>
          <a:xfrm>
            <a:off x="8120040" y="2268069"/>
            <a:ext cx="3634136" cy="3786795"/>
            <a:chOff x="9236280" y="338021"/>
            <a:chExt cx="2469722" cy="2721639"/>
          </a:xfrm>
        </p:grpSpPr>
        <p:pic>
          <p:nvPicPr>
            <p:cNvPr id="20" name="Picture 2" descr="Image result for hydrostatic equilibrium">
              <a:extLst>
                <a:ext uri="{FF2B5EF4-FFF2-40B4-BE49-F238E27FC236}">
                  <a16:creationId xmlns:a16="http://schemas.microsoft.com/office/drawing/2014/main" id="{BE427F51-5654-4F48-B065-FD2A6FCE98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36280" y="660012"/>
              <a:ext cx="2469722" cy="2399648"/>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E2841B96-5B08-4D09-B9C8-9D1ABC6AE2B9}"/>
                    </a:ext>
                  </a:extLst>
                </p:cNvPr>
                <p:cNvSpPr txBox="1"/>
                <p:nvPr/>
              </p:nvSpPr>
              <p:spPr>
                <a:xfrm>
                  <a:off x="9859790" y="1552916"/>
                  <a:ext cx="1222698" cy="1015663"/>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Internal Pressure </a:t>
                  </a:r>
                  <a14:m>
                    <m:oMath xmlns:m="http://schemas.openxmlformats.org/officeDocument/2006/math">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𝑝</m:t>
                      </m:r>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𝜎</m:t>
                      </m:r>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libri" panose="020F0502020204030204" pitchFamily="34" charset="0"/>
                          <a:cs typeface="Times New Roman" panose="02020603050405020304" pitchFamily="18" charset="0"/>
                        </a:rPr>
                        <m:t>)</m:t>
                      </m:r>
                    </m:oMath>
                  </a14:m>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mc:Choice>
          <mc:Fallback xmlns="">
            <p:sp>
              <p:nvSpPr>
                <p:cNvPr id="2" name="TextBox 1">
                  <a:extLst>
                    <a:ext uri="{FF2B5EF4-FFF2-40B4-BE49-F238E27FC236}">
                      <a16:creationId xmlns:a16="http://schemas.microsoft.com/office/drawing/2014/main" id="{92490659-6907-4620-803E-F446EAD73CCA}"/>
                    </a:ext>
                  </a:extLst>
                </p:cNvPr>
                <p:cNvSpPr txBox="1">
                  <a:spLocks noRot="1" noChangeAspect="1" noMove="1" noResize="1" noEditPoints="1" noAdjustHandles="1" noChangeArrowheads="1" noChangeShapeType="1" noTextEdit="1"/>
                </p:cNvSpPr>
                <p:nvPr/>
              </p:nvSpPr>
              <p:spPr>
                <a:xfrm>
                  <a:off x="9859790" y="1552916"/>
                  <a:ext cx="1222698" cy="1015663"/>
                </a:xfrm>
                <a:prstGeom prst="rect">
                  <a:avLst/>
                </a:prstGeom>
                <a:blipFill>
                  <a:blip r:embed="rId4"/>
                  <a:stretch>
                    <a:fillRect l="-977" t="-2058"/>
                  </a:stretch>
                </a:blipFill>
              </p:spPr>
              <p:txBody>
                <a:bodyPr/>
                <a:lstStyle/>
                <a:p>
                  <a:r>
                    <a:rPr lang="en-CA">
                      <a:noFill/>
                    </a:rPr>
                    <a:t> </a:t>
                  </a:r>
                </a:p>
              </p:txBody>
            </p:sp>
          </mc:Fallback>
        </mc:AlternateContent>
        <p:sp>
          <p:nvSpPr>
            <p:cNvPr id="22" name="TextBox 21">
              <a:extLst>
                <a:ext uri="{FF2B5EF4-FFF2-40B4-BE49-F238E27FC236}">
                  <a16:creationId xmlns:a16="http://schemas.microsoft.com/office/drawing/2014/main" id="{F65825A8-5BFC-491F-A440-65B1762A3351}"/>
                </a:ext>
              </a:extLst>
            </p:cNvPr>
            <p:cNvSpPr txBox="1"/>
            <p:nvPr/>
          </p:nvSpPr>
          <p:spPr>
            <a:xfrm>
              <a:off x="9691461" y="338021"/>
              <a:ext cx="1774438" cy="312112"/>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Gravitational Force</a:t>
              </a:r>
            </a:p>
          </p:txBody>
        </p:sp>
      </p:grpSp>
      <mc:AlternateContent xmlns:mc="http://schemas.openxmlformats.org/markup-compatibility/2006">
        <mc:Choice xmlns:a14="http://schemas.microsoft.com/office/drawing/2010/main" Requires="a14">
          <p:sp>
            <p:nvSpPr>
              <p:cNvPr id="24" name="Rectangle 23">
                <a:extLst>
                  <a:ext uri="{FF2B5EF4-FFF2-40B4-BE49-F238E27FC236}">
                    <a16:creationId xmlns:a16="http://schemas.microsoft.com/office/drawing/2014/main" id="{2D6EB65E-5805-4714-AF62-E00B47BAA377}"/>
                  </a:ext>
                </a:extLst>
              </p:cNvPr>
              <p:cNvSpPr/>
              <p:nvPr/>
            </p:nvSpPr>
            <p:spPr>
              <a:xfrm>
                <a:off x="6901311" y="1089029"/>
                <a:ext cx="5290689" cy="1025409"/>
              </a:xfrm>
              <a:prstGeom prst="rect">
                <a:avLst/>
              </a:prstGeom>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Hydrostatic Equilibrium (</a:t>
                </a:r>
                <a14:m>
                  <m:oMath xmlns:m="http://schemas.openxmlformats.org/officeDocument/2006/math">
                    <m:acc>
                      <m:accPr>
                        <m:chr m:val="̈"/>
                        <m:ctrlP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mn-ea"/>
                            <a:cs typeface="Times New Roman" panose="02020603050405020304" pitchFamily="18" charset="0"/>
                          </a:rPr>
                        </m:ctrlPr>
                      </m:accPr>
                      <m:e>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mn-ea"/>
                            <a:cs typeface="Times New Roman" panose="02020603050405020304" pitchFamily="18" charset="0"/>
                          </a:rPr>
                          <m:t>𝑅</m:t>
                        </m:r>
                      </m:e>
                    </m:acc>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mn-ea"/>
                        <a:cs typeface="Times New Roman" panose="02020603050405020304" pitchFamily="18" charset="0"/>
                      </a:rPr>
                      <m:t>=</m:t>
                    </m:r>
                    <m:acc>
                      <m:accPr>
                        <m:chr m:val="̇"/>
                        <m:ctrlP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mn-ea"/>
                            <a:cs typeface="Times New Roman" panose="02020603050405020304" pitchFamily="18" charset="0"/>
                          </a:rPr>
                        </m:ctrlPr>
                      </m:accPr>
                      <m:e>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mn-ea"/>
                            <a:cs typeface="Times New Roman" panose="02020603050405020304" pitchFamily="18" charset="0"/>
                          </a:rPr>
                          <m:t>𝑅</m:t>
                        </m:r>
                      </m:e>
                    </m:acc>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mn-ea"/>
                        <a:cs typeface="Times New Roman" panose="02020603050405020304" pitchFamily="18" charset="0"/>
                      </a:rPr>
                      <m:t>=0</m:t>
                    </m:r>
                  </m:oMath>
                </a14:m>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Fluid rest frame, meaning internal pressure balances external force</a:t>
                </a:r>
                <a:r>
                  <a:rPr kumimoji="0" lang="en-CA" sz="2000" b="0" i="0" u="none" strike="noStrike" kern="1200" cap="none" spc="0" normalizeH="0" noProof="0" dirty="0">
                    <a:ln>
                      <a:noFill/>
                    </a:ln>
                    <a:solidFill>
                      <a:prstClr val="white"/>
                    </a:solidFill>
                    <a:effectLst/>
                    <a:uLnTx/>
                    <a:uFillTx/>
                    <a:latin typeface="Arial" panose="020B0604020202020204" pitchFamily="34" charset="0"/>
                    <a:ea typeface="+mn-ea"/>
                    <a:cs typeface="Arial" panose="020B0604020202020204" pitchFamily="34" charset="0"/>
                  </a:rPr>
                  <a:t> of</a:t>
                </a: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gravity</a:t>
                </a:r>
              </a:p>
            </p:txBody>
          </p:sp>
        </mc:Choice>
        <mc:Fallback>
          <p:sp>
            <p:nvSpPr>
              <p:cNvPr id="24" name="Rectangle 23">
                <a:extLst>
                  <a:ext uri="{FF2B5EF4-FFF2-40B4-BE49-F238E27FC236}">
                    <a16:creationId xmlns:a16="http://schemas.microsoft.com/office/drawing/2014/main" id="{2D6EB65E-5805-4714-AF62-E00B47BAA377}"/>
                  </a:ext>
                </a:extLst>
              </p:cNvPr>
              <p:cNvSpPr>
                <a:spLocks noRot="1" noChangeAspect="1" noMove="1" noResize="1" noEditPoints="1" noAdjustHandles="1" noChangeArrowheads="1" noChangeShapeType="1" noTextEdit="1"/>
              </p:cNvSpPr>
              <p:nvPr/>
            </p:nvSpPr>
            <p:spPr>
              <a:xfrm>
                <a:off x="6901311" y="1089029"/>
                <a:ext cx="5290689" cy="1025409"/>
              </a:xfrm>
              <a:prstGeom prst="rect">
                <a:avLst/>
              </a:prstGeom>
              <a:blipFill>
                <a:blip r:embed="rId5"/>
                <a:stretch>
                  <a:fillRect l="-1037" t="-2381" b="-10119"/>
                </a:stretch>
              </a:blipFill>
            </p:spPr>
            <p:txBody>
              <a:bodyPr/>
              <a:lstStyle/>
              <a:p>
                <a:r>
                  <a:rPr lang="en-CA">
                    <a:noFill/>
                  </a:rPr>
                  <a:t> </a:t>
                </a:r>
              </a:p>
            </p:txBody>
          </p:sp>
        </mc:Fallback>
      </mc:AlternateContent>
      <p:grpSp>
        <p:nvGrpSpPr>
          <p:cNvPr id="29" name="Group 28">
            <a:extLst>
              <a:ext uri="{FF2B5EF4-FFF2-40B4-BE49-F238E27FC236}">
                <a16:creationId xmlns:a16="http://schemas.microsoft.com/office/drawing/2014/main" id="{017BDB2F-11FD-4B9D-B44B-E7375FC76510}"/>
              </a:ext>
            </a:extLst>
          </p:cNvPr>
          <p:cNvGrpSpPr/>
          <p:nvPr/>
        </p:nvGrpSpPr>
        <p:grpSpPr>
          <a:xfrm>
            <a:off x="697258" y="5495066"/>
            <a:ext cx="7615582" cy="939687"/>
            <a:chOff x="752882" y="4978015"/>
            <a:chExt cx="7287473" cy="939687"/>
          </a:xfrm>
        </p:grpSpPr>
        <p:cxnSp>
          <p:nvCxnSpPr>
            <p:cNvPr id="30" name="Straight Arrow Connector 29">
              <a:extLst>
                <a:ext uri="{FF2B5EF4-FFF2-40B4-BE49-F238E27FC236}">
                  <a16:creationId xmlns:a16="http://schemas.microsoft.com/office/drawing/2014/main" id="{2ED6A798-75A2-4F88-BC2C-D80533F0D8C3}"/>
                </a:ext>
              </a:extLst>
            </p:cNvPr>
            <p:cNvCxnSpPr>
              <a:cxnSpLocks/>
            </p:cNvCxnSpPr>
            <p:nvPr/>
          </p:nvCxnSpPr>
          <p:spPr>
            <a:xfrm>
              <a:off x="5336091" y="5086296"/>
              <a:ext cx="0" cy="234649"/>
            </a:xfrm>
            <a:prstGeom prst="straightConnector1">
              <a:avLst/>
            </a:prstGeom>
            <a:ln w="2222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1" name="TextBox 30">
              <a:extLst>
                <a:ext uri="{FF2B5EF4-FFF2-40B4-BE49-F238E27FC236}">
                  <a16:creationId xmlns:a16="http://schemas.microsoft.com/office/drawing/2014/main" id="{A88DDAF1-F627-45B1-B0BD-049CD597998E}"/>
                </a:ext>
              </a:extLst>
            </p:cNvPr>
            <p:cNvSpPr txBox="1"/>
            <p:nvPr/>
          </p:nvSpPr>
          <p:spPr>
            <a:xfrm>
              <a:off x="6132280" y="4978015"/>
              <a:ext cx="1908075" cy="400110"/>
            </a:xfrm>
            <a:prstGeom prst="rect">
              <a:avLst/>
            </a:prstGeom>
            <a:solidFill>
              <a:schemeClr val="tx1"/>
            </a:solidFill>
            <a:ln>
              <a:solidFill>
                <a:schemeClr val="bg1"/>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Polytropic Index</a:t>
              </a:r>
            </a:p>
          </p:txBody>
        </p:sp>
        <p:cxnSp>
          <p:nvCxnSpPr>
            <p:cNvPr id="32" name="Straight Arrow Connector 31">
              <a:extLst>
                <a:ext uri="{FF2B5EF4-FFF2-40B4-BE49-F238E27FC236}">
                  <a16:creationId xmlns:a16="http://schemas.microsoft.com/office/drawing/2014/main" id="{C0CA0E46-654F-495E-999F-D3495F292248}"/>
                </a:ext>
              </a:extLst>
            </p:cNvPr>
            <p:cNvCxnSpPr>
              <a:cxnSpLocks/>
            </p:cNvCxnSpPr>
            <p:nvPr/>
          </p:nvCxnSpPr>
          <p:spPr>
            <a:xfrm flipV="1">
              <a:off x="5002730" y="5582636"/>
              <a:ext cx="0" cy="213787"/>
            </a:xfrm>
            <a:prstGeom prst="straightConnector1">
              <a:avLst/>
            </a:prstGeom>
            <a:ln w="2222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3" name="TextBox 32">
              <a:extLst>
                <a:ext uri="{FF2B5EF4-FFF2-40B4-BE49-F238E27FC236}">
                  <a16:creationId xmlns:a16="http://schemas.microsoft.com/office/drawing/2014/main" id="{1766F6FB-9E2F-4839-A230-78FD3E80AB96}"/>
                </a:ext>
              </a:extLst>
            </p:cNvPr>
            <p:cNvSpPr txBox="1"/>
            <p:nvPr/>
          </p:nvSpPr>
          <p:spPr>
            <a:xfrm>
              <a:off x="752882" y="5517592"/>
              <a:ext cx="3088784" cy="400110"/>
            </a:xfrm>
            <a:prstGeom prst="rect">
              <a:avLst/>
            </a:prstGeom>
            <a:solidFill>
              <a:schemeClr val="tx1"/>
            </a:solidFill>
            <a:ln>
              <a:solidFill>
                <a:schemeClr val="dk1"/>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Constant of Proportionality</a:t>
              </a:r>
            </a:p>
          </p:txBody>
        </p:sp>
        <p:cxnSp>
          <p:nvCxnSpPr>
            <p:cNvPr id="34" name="Straight Arrow Connector 33">
              <a:extLst>
                <a:ext uri="{FF2B5EF4-FFF2-40B4-BE49-F238E27FC236}">
                  <a16:creationId xmlns:a16="http://schemas.microsoft.com/office/drawing/2014/main" id="{0DED8743-9C41-4EEC-9536-038DA0517614}"/>
                </a:ext>
              </a:extLst>
            </p:cNvPr>
            <p:cNvCxnSpPr>
              <a:cxnSpLocks/>
            </p:cNvCxnSpPr>
            <p:nvPr/>
          </p:nvCxnSpPr>
          <p:spPr>
            <a:xfrm flipV="1">
              <a:off x="5198918" y="5585516"/>
              <a:ext cx="0" cy="222722"/>
            </a:xfrm>
            <a:prstGeom prst="straightConnector1">
              <a:avLst/>
            </a:prstGeom>
            <a:ln w="22225">
              <a:solidFill>
                <a:schemeClr val="tx1"/>
              </a:solidFill>
              <a:tailEnd type="triangle"/>
            </a:ln>
          </p:spPr>
          <p:style>
            <a:lnRef idx="1">
              <a:schemeClr val="dk1"/>
            </a:lnRef>
            <a:fillRef idx="0">
              <a:schemeClr val="dk1"/>
            </a:fillRef>
            <a:effectRef idx="0">
              <a:schemeClr val="dk1"/>
            </a:effectRef>
            <a:fontRef idx="minor">
              <a:schemeClr val="tx1"/>
            </a:fontRef>
          </p:style>
        </p:cxnSp>
        <p:sp>
          <p:nvSpPr>
            <p:cNvPr id="35" name="TextBox 34">
              <a:extLst>
                <a:ext uri="{FF2B5EF4-FFF2-40B4-BE49-F238E27FC236}">
                  <a16:creationId xmlns:a16="http://schemas.microsoft.com/office/drawing/2014/main" id="{8C9AA630-4A9E-4B80-B6AC-98590280E8E3}"/>
                </a:ext>
              </a:extLst>
            </p:cNvPr>
            <p:cNvSpPr txBox="1"/>
            <p:nvPr/>
          </p:nvSpPr>
          <p:spPr>
            <a:xfrm>
              <a:off x="6132280" y="5517592"/>
              <a:ext cx="1677813" cy="400110"/>
            </a:xfrm>
            <a:prstGeom prst="rect">
              <a:avLst/>
            </a:prstGeom>
            <a:solidFill>
              <a:schemeClr val="tx1"/>
            </a:solidFill>
            <a:ln>
              <a:solidFill>
                <a:schemeClr val="dk1"/>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Mass Density</a:t>
              </a:r>
            </a:p>
          </p:txBody>
        </p:sp>
        <mc:AlternateContent xmlns:mc="http://schemas.openxmlformats.org/markup-compatibility/2006">
          <mc:Choice xmlns:a14="http://schemas.microsoft.com/office/drawing/2010/main" Requires="a14">
            <p:sp>
              <p:nvSpPr>
                <p:cNvPr id="36" name="TextBox 35">
                  <a:extLst>
                    <a:ext uri="{FF2B5EF4-FFF2-40B4-BE49-F238E27FC236}">
                      <a16:creationId xmlns:a16="http://schemas.microsoft.com/office/drawing/2014/main" id="{145E6E6A-4320-493A-92B2-7E5D7863EF14}"/>
                    </a:ext>
                  </a:extLst>
                </p:cNvPr>
                <p:cNvSpPr txBox="1"/>
                <p:nvPr/>
              </p:nvSpPr>
              <p:spPr>
                <a:xfrm>
                  <a:off x="3990265" y="5250325"/>
                  <a:ext cx="1510703" cy="400110"/>
                </a:xfrm>
                <a:prstGeom prst="rect">
                  <a:avLst/>
                </a:prstGeom>
                <a:noFill/>
                <a:ln w="22225">
                  <a:solidFill>
                    <a:schemeClr val="tx1"/>
                  </a:solidFill>
                </a:ln>
              </p:spPr>
              <p:txBody>
                <a:bodyPr wrap="square" rtlCol="0">
                  <a:spAutoFit/>
                </a:bodyPr>
                <a:lstStyle/>
                <a:p>
                  <a:pPr lvl="0" defTabSz="457200">
                    <a:defRPr/>
                  </a:pPr>
                  <a14:m>
                    <m:oMathPara xmlns:m="http://schemas.openxmlformats.org/officeDocument/2006/math">
                      <m:oMathParaPr>
                        <m:jc m:val="centerGroup"/>
                      </m:oMathParaPr>
                      <m:oMath xmlns:m="http://schemas.openxmlformats.org/officeDocument/2006/math">
                        <m:r>
                          <a:rPr lang="en-CA" sz="2000" i="1">
                            <a:solidFill>
                              <a:prstClr val="white"/>
                            </a:solidFill>
                            <a:latin typeface="Cambria Math" panose="02040503050406030204" pitchFamily="18" charset="0"/>
                            <a:ea typeface="Calibri" panose="020F0502020204030204" pitchFamily="34" charset="0"/>
                            <a:cs typeface="Times New Roman" panose="02020603050405020304" pitchFamily="18" charset="0"/>
                          </a:rPr>
                          <m:t>𝑝</m:t>
                        </m:r>
                        <m:r>
                          <a:rPr lang="en-CA" sz="2000" i="1">
                            <a:solidFill>
                              <a:prstClr val="white"/>
                            </a:solidFill>
                            <a:latin typeface="Cambria Math" panose="02040503050406030204" pitchFamily="18" charset="0"/>
                            <a:ea typeface="Calibri" panose="020F0502020204030204" pitchFamily="34" charset="0"/>
                            <a:cs typeface="Times New Roman" panose="02020603050405020304" pitchFamily="18" charset="0"/>
                          </a:rPr>
                          <m:t>(</m:t>
                        </m:r>
                        <m:r>
                          <a:rPr lang="en-CA" sz="2000" i="1">
                            <a:solidFill>
                              <a:prstClr val="white"/>
                            </a:solidFill>
                            <a:latin typeface="Cambria Math" panose="02040503050406030204" pitchFamily="18" charset="0"/>
                            <a:ea typeface="Calibri" panose="020F0502020204030204" pitchFamily="34" charset="0"/>
                            <a:cs typeface="Times New Roman" panose="02020603050405020304" pitchFamily="18" charset="0"/>
                          </a:rPr>
                          <m:t>𝜎</m:t>
                        </m:r>
                        <m:r>
                          <a:rPr lang="en-CA" sz="2000" i="1">
                            <a:solidFill>
                              <a:prstClr val="white"/>
                            </a:solidFill>
                            <a:latin typeface="Cambria Math" panose="02040503050406030204" pitchFamily="18" charset="0"/>
                            <a:ea typeface="Calibri" panose="020F0502020204030204" pitchFamily="34" charset="0"/>
                            <a:cs typeface="Times New Roman" panose="02020603050405020304" pitchFamily="18" charset="0"/>
                          </a:rPr>
                          <m:t>)=</m:t>
                        </m:r>
                        <m:r>
                          <a:rPr lang="en-CA" sz="2000" i="1">
                            <a:solidFill>
                              <a:prstClr val="white"/>
                            </a:solidFill>
                            <a:latin typeface="Cambria Math" panose="02040503050406030204" pitchFamily="18" charset="0"/>
                            <a:ea typeface="Calibri" panose="020F0502020204030204" pitchFamily="34" charset="0"/>
                            <a:cs typeface="Times New Roman" panose="02020603050405020304" pitchFamily="18" charset="0"/>
                          </a:rPr>
                          <m:t>𝐾</m:t>
                        </m:r>
                        <m:sSup>
                          <m:sSupPr>
                            <m:ctrlPr>
                              <a:rPr lang="en-CA" sz="2000" i="1">
                                <a:solidFill>
                                  <a:prstClr val="white"/>
                                </a:solidFill>
                                <a:latin typeface="Cambria Math" panose="02040503050406030204" pitchFamily="18" charset="0"/>
                                <a:ea typeface="Calibri" panose="020F0502020204030204" pitchFamily="34" charset="0"/>
                                <a:cs typeface="Times New Roman" panose="02020603050405020304" pitchFamily="18" charset="0"/>
                              </a:rPr>
                            </m:ctrlPr>
                          </m:sSupPr>
                          <m:e>
                            <m:r>
                              <a:rPr lang="en-CA" sz="2000" i="1">
                                <a:solidFill>
                                  <a:prstClr val="white"/>
                                </a:solidFill>
                                <a:latin typeface="Cambria Math" panose="02040503050406030204" pitchFamily="18" charset="0"/>
                                <a:ea typeface="Calibri" panose="020F0502020204030204" pitchFamily="34" charset="0"/>
                                <a:cs typeface="Times New Roman" panose="02020603050405020304" pitchFamily="18" charset="0"/>
                              </a:rPr>
                              <m:t>𝜎</m:t>
                            </m:r>
                          </m:e>
                          <m:sup>
                            <m:r>
                              <a:rPr lang="en-CA" sz="2000" i="1">
                                <a:solidFill>
                                  <a:prstClr val="white"/>
                                </a:solidFill>
                                <a:latin typeface="Cambria Math" panose="02040503050406030204" pitchFamily="18" charset="0"/>
                                <a:ea typeface="Calibri" panose="020F0502020204030204" pitchFamily="34" charset="0"/>
                                <a:cs typeface="Times New Roman" panose="02020603050405020304" pitchFamily="18" charset="0"/>
                              </a:rPr>
                              <m:t>𝛾</m:t>
                            </m:r>
                          </m:sup>
                        </m:sSup>
                      </m:oMath>
                    </m:oMathPara>
                  </a14:m>
                  <a:endParaRPr kumimoji="0" lang="en-CA" sz="2000" b="0" i="0" u="none" strike="noStrike" kern="1200" cap="none" spc="0" normalizeH="0" baseline="0" noProof="0" dirty="0">
                    <a:ln>
                      <a:noFill/>
                    </a:ln>
                    <a:solidFill>
                      <a:prstClr val="white"/>
                    </a:solidFill>
                    <a:effectLst/>
                    <a:uLnTx/>
                    <a:uFillTx/>
                    <a:latin typeface="Calibri" panose="020F0502020204030204"/>
                  </a:endParaRPr>
                </a:p>
              </p:txBody>
            </p:sp>
          </mc:Choice>
          <mc:Fallback>
            <p:sp>
              <p:nvSpPr>
                <p:cNvPr id="36" name="TextBox 35">
                  <a:extLst>
                    <a:ext uri="{FF2B5EF4-FFF2-40B4-BE49-F238E27FC236}">
                      <a16:creationId xmlns:a16="http://schemas.microsoft.com/office/drawing/2014/main" id="{145E6E6A-4320-493A-92B2-7E5D7863EF14}"/>
                    </a:ext>
                  </a:extLst>
                </p:cNvPr>
                <p:cNvSpPr txBox="1">
                  <a:spLocks noRot="1" noChangeAspect="1" noMove="1" noResize="1" noEditPoints="1" noAdjustHandles="1" noChangeArrowheads="1" noChangeShapeType="1" noTextEdit="1"/>
                </p:cNvSpPr>
                <p:nvPr/>
              </p:nvSpPr>
              <p:spPr>
                <a:xfrm>
                  <a:off x="3990265" y="5250325"/>
                  <a:ext cx="1510703" cy="400110"/>
                </a:xfrm>
                <a:prstGeom prst="rect">
                  <a:avLst/>
                </a:prstGeom>
                <a:blipFill>
                  <a:blip r:embed="rId6"/>
                  <a:stretch>
                    <a:fillRect b="-11429"/>
                  </a:stretch>
                </a:blipFill>
                <a:ln w="22225">
                  <a:solidFill>
                    <a:schemeClr val="tx1"/>
                  </a:solidFill>
                </a:ln>
              </p:spPr>
              <p:txBody>
                <a:bodyPr/>
                <a:lstStyle/>
                <a:p>
                  <a:r>
                    <a:rPr lang="en-CA">
                      <a:noFill/>
                    </a:rPr>
                    <a:t> </a:t>
                  </a:r>
                </a:p>
              </p:txBody>
            </p:sp>
          </mc:Fallback>
        </mc:AlternateContent>
        <p:cxnSp>
          <p:nvCxnSpPr>
            <p:cNvPr id="37" name="Straight Connector 36">
              <a:extLst>
                <a:ext uri="{FF2B5EF4-FFF2-40B4-BE49-F238E27FC236}">
                  <a16:creationId xmlns:a16="http://schemas.microsoft.com/office/drawing/2014/main" id="{50A3E96E-09A8-4BFF-AA37-D69AF5E95DC8}"/>
                </a:ext>
              </a:extLst>
            </p:cNvPr>
            <p:cNvCxnSpPr>
              <a:cxnSpLocks/>
            </p:cNvCxnSpPr>
            <p:nvPr/>
          </p:nvCxnSpPr>
          <p:spPr>
            <a:xfrm>
              <a:off x="5336091" y="5086296"/>
              <a:ext cx="796188"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E58A94E0-2842-43F2-A6E3-55C4171DFB92}"/>
                </a:ext>
              </a:extLst>
            </p:cNvPr>
            <p:cNvCxnSpPr>
              <a:cxnSpLocks/>
            </p:cNvCxnSpPr>
            <p:nvPr/>
          </p:nvCxnSpPr>
          <p:spPr>
            <a:xfrm>
              <a:off x="5198918" y="5808238"/>
              <a:ext cx="933361"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8FD1FFE8-919B-44E1-AA28-0867503CCDF4}"/>
                </a:ext>
              </a:extLst>
            </p:cNvPr>
            <p:cNvCxnSpPr>
              <a:cxnSpLocks/>
            </p:cNvCxnSpPr>
            <p:nvPr/>
          </p:nvCxnSpPr>
          <p:spPr>
            <a:xfrm flipH="1">
              <a:off x="3841666" y="5796423"/>
              <a:ext cx="1151883"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A60B893D-D9E6-4B58-BF69-99C42B269348}"/>
              </a:ext>
            </a:extLst>
          </p:cNvPr>
          <p:cNvSpPr txBox="1"/>
          <p:nvPr/>
        </p:nvSpPr>
        <p:spPr>
          <a:xfrm>
            <a:off x="91548" y="5484563"/>
            <a:ext cx="3430342" cy="400110"/>
          </a:xfrm>
          <a:prstGeom prst="rect">
            <a:avLst/>
          </a:prstGeom>
          <a:noFill/>
        </p:spPr>
        <p:txBody>
          <a:bodyPr wrap="square" rtlCol="0">
            <a:spAutoFit/>
          </a:bodyPr>
          <a:lstStyle/>
          <a:p>
            <a:r>
              <a:rPr lang="en-CA" sz="2000" dirty="0">
                <a:latin typeface="Arial" panose="020B0604020202020204" pitchFamily="34" charset="0"/>
                <a:cs typeface="Arial" panose="020B0604020202020204" pitchFamily="34" charset="0"/>
              </a:rPr>
              <a:t>Polytropic Equation of State:</a:t>
            </a:r>
          </a:p>
        </p:txBody>
      </p:sp>
      <p:grpSp>
        <p:nvGrpSpPr>
          <p:cNvPr id="72" name="Group 71">
            <a:extLst>
              <a:ext uri="{FF2B5EF4-FFF2-40B4-BE49-F238E27FC236}">
                <a16:creationId xmlns:a16="http://schemas.microsoft.com/office/drawing/2014/main" id="{D36C7070-B05A-4C70-A278-00E3445A1A3B}"/>
              </a:ext>
            </a:extLst>
          </p:cNvPr>
          <p:cNvGrpSpPr/>
          <p:nvPr/>
        </p:nvGrpSpPr>
        <p:grpSpPr>
          <a:xfrm>
            <a:off x="91548" y="991407"/>
            <a:ext cx="6809754" cy="4398590"/>
            <a:chOff x="4838699" y="1469141"/>
            <a:chExt cx="6809754" cy="4398590"/>
          </a:xfrm>
        </p:grpSpPr>
        <p:pic>
          <p:nvPicPr>
            <p:cNvPr id="67" name="Picture 66">
              <a:extLst>
                <a:ext uri="{FF2B5EF4-FFF2-40B4-BE49-F238E27FC236}">
                  <a16:creationId xmlns:a16="http://schemas.microsoft.com/office/drawing/2014/main" id="{1EF08AA3-85D2-41D0-AEC1-5AB3FE55EA72}"/>
                </a:ext>
              </a:extLst>
            </p:cNvPr>
            <p:cNvPicPr>
              <a:picLocks noChangeAspect="1"/>
            </p:cNvPicPr>
            <p:nvPr/>
          </p:nvPicPr>
          <p:blipFill rotWithShape="1">
            <a:blip r:embed="rId7">
              <a:extLst>
                <a:ext uri="{28A0092B-C50C-407E-A947-70E740481C1C}">
                  <a14:useLocalDpi xmlns:a14="http://schemas.microsoft.com/office/drawing/2010/main" val="0"/>
                </a:ext>
              </a:extLst>
            </a:blip>
            <a:srcRect l="2336" r="6434"/>
            <a:stretch/>
          </p:blipFill>
          <p:spPr>
            <a:xfrm>
              <a:off x="4838699" y="1469141"/>
              <a:ext cx="6809754" cy="4398590"/>
            </a:xfrm>
            <a:prstGeom prst="rect">
              <a:avLst/>
            </a:prstGeom>
          </p:spPr>
        </p:pic>
        <p:sp>
          <p:nvSpPr>
            <p:cNvPr id="73" name="TextBox 72">
              <a:extLst>
                <a:ext uri="{FF2B5EF4-FFF2-40B4-BE49-F238E27FC236}">
                  <a16:creationId xmlns:a16="http://schemas.microsoft.com/office/drawing/2014/main" id="{AFDAE308-5452-4B74-AA20-1FCF0292E575}"/>
                </a:ext>
              </a:extLst>
            </p:cNvPr>
            <p:cNvSpPr txBox="1"/>
            <p:nvPr/>
          </p:nvSpPr>
          <p:spPr>
            <a:xfrm>
              <a:off x="5927049" y="2209945"/>
              <a:ext cx="2055265" cy="707886"/>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Maximum Mass</a:t>
              </a:r>
            </a:p>
            <a:p>
              <a:pPr lvl="0" algn="ctr" defTabSz="457200">
                <a:defRPr/>
              </a:pP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2.45 </a:t>
              </a:r>
              <a:r>
                <a:rPr lang="en-CA" sz="2000" i="1" dirty="0">
                  <a:solidFill>
                    <a:schemeClr val="bg1"/>
                  </a:solidFill>
                  <a:latin typeface="Arial" panose="020B0604020202020204" pitchFamily="34" charset="0"/>
                  <a:cs typeface="Arial" panose="020B0604020202020204" pitchFamily="34" charset="0"/>
                </a:rPr>
                <a:t>M</a:t>
              </a:r>
              <a:r>
                <a:rPr lang="en-CA" sz="2000" baseline="-25000" dirty="0">
                  <a:solidFill>
                    <a:schemeClr val="bg1"/>
                  </a:solidFill>
                  <a:latin typeface="Arial" panose="020B0604020202020204" pitchFamily="34" charset="0"/>
                  <a:cs typeface="Arial" panose="020B0604020202020204" pitchFamily="34" charset="0"/>
                </a:rPr>
                <a:t>☉</a:t>
              </a:r>
              <a:endParaRPr kumimoji="0" lang="en-CA" sz="20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p:txBody>
        </p:sp>
        <p:cxnSp>
          <p:nvCxnSpPr>
            <p:cNvPr id="74" name="Straight Arrow Connector 73">
              <a:extLst>
                <a:ext uri="{FF2B5EF4-FFF2-40B4-BE49-F238E27FC236}">
                  <a16:creationId xmlns:a16="http://schemas.microsoft.com/office/drawing/2014/main" id="{394BED36-8C16-4DA6-A36B-A4784F82FCEB}"/>
                </a:ext>
              </a:extLst>
            </p:cNvPr>
            <p:cNvCxnSpPr>
              <a:cxnSpLocks/>
            </p:cNvCxnSpPr>
            <p:nvPr/>
          </p:nvCxnSpPr>
          <p:spPr>
            <a:xfrm flipV="1">
              <a:off x="7975439" y="2139017"/>
              <a:ext cx="1839944" cy="281783"/>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sp>
          <p:nvSpPr>
            <p:cNvPr id="76" name="TextBox 75">
              <a:extLst>
                <a:ext uri="{FF2B5EF4-FFF2-40B4-BE49-F238E27FC236}">
                  <a16:creationId xmlns:a16="http://schemas.microsoft.com/office/drawing/2014/main" id="{981C705C-F129-4719-BD41-5D40724CD0FE}"/>
                </a:ext>
              </a:extLst>
            </p:cNvPr>
            <p:cNvSpPr txBox="1"/>
            <p:nvPr/>
          </p:nvSpPr>
          <p:spPr>
            <a:xfrm>
              <a:off x="7786894" y="4172406"/>
              <a:ext cx="2769316" cy="1015663"/>
            </a:xfrm>
            <a:prstGeom prst="rect">
              <a:avLst/>
            </a:prstGeom>
            <a:noFill/>
          </p:spPr>
          <p:txBody>
            <a:bodyPr wrap="square" rtlCol="0">
              <a:spAutoFit/>
            </a:bodyPr>
            <a:lstStyle/>
            <a:p>
              <a:pPr lvl="0" defTabSz="457200">
                <a:defRPr/>
              </a:pPr>
              <a:r>
                <a:rPr lang="en-CA" sz="2000" dirty="0">
                  <a:solidFill>
                    <a:prstClr val="black"/>
                  </a:solidFill>
                  <a:latin typeface="Arial" panose="020B0604020202020204" pitchFamily="34" charset="0"/>
                  <a:cs typeface="Arial" panose="020B0604020202020204" pitchFamily="34" charset="0"/>
                </a:rPr>
                <a:t>Maximum mass corresponds to onset of dynamic instability</a:t>
              </a:r>
            </a:p>
          </p:txBody>
        </p:sp>
      </p:grpSp>
    </p:spTree>
    <p:extLst>
      <p:ext uri="{BB962C8B-B14F-4D97-AF65-F5344CB8AC3E}">
        <p14:creationId xmlns:p14="http://schemas.microsoft.com/office/powerpoint/2010/main" val="37749528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AFEE0730-B245-4486-9C00-5F6328D002A8}"/>
              </a:ext>
            </a:extLst>
          </p:cNvPr>
          <p:cNvSpPr txBox="1"/>
          <p:nvPr/>
        </p:nvSpPr>
        <p:spPr>
          <a:xfrm>
            <a:off x="494950" y="1073791"/>
            <a:ext cx="11073468" cy="467820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2000" dirty="0">
                <a:solidFill>
                  <a:prstClr val="white"/>
                </a:solidFill>
                <a:latin typeface="Arial" panose="020B0604020202020204" pitchFamily="34" charset="0"/>
                <a:cs typeface="Arial" panose="020B0604020202020204" pitchFamily="34" charset="0"/>
              </a:rPr>
              <a:t>Governing equations and equilibrium configurations are relatively simple</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2000" dirty="0">
              <a:solidFill>
                <a:prstClr val="white"/>
              </a:solidFill>
              <a:latin typeface="Arial" panose="020B0604020202020204" pitchFamily="34" charset="0"/>
              <a:cs typeface="Arial" panose="020B0604020202020204" pitchFamily="34" charset="0"/>
            </a:endParaRPr>
          </a:p>
          <a:p>
            <a:pPr marL="1200150" lvl="2" indent="-285750" defTabSz="457200">
              <a:buFont typeface="Wingdings" panose="05000000000000000000" pitchFamily="2" charset="2"/>
              <a:buChar char="Ø"/>
              <a:defRPr/>
            </a:pPr>
            <a:r>
              <a:rPr lang="en-CA" sz="2000" dirty="0">
                <a:solidFill>
                  <a:prstClr val="white"/>
                </a:solidFill>
                <a:latin typeface="Arial" panose="020B0604020202020204" pitchFamily="34" charset="0"/>
                <a:cs typeface="Arial" panose="020B0604020202020204" pitchFamily="34" charset="0"/>
              </a:rPr>
              <a:t>Fluid sphere equilibrium sequences require numerical integration of 2 parametrized equations of motion and several series expansions about the origin</a:t>
            </a:r>
            <a:endParaRPr kumimoji="0" lang="en-CA" sz="2000" b="0" i="0" u="none" strike="noStrike" kern="1200" cap="none" spc="0" normalizeH="0" baseline="0" noProof="0" dirty="0">
              <a:ln>
                <a:noFill/>
              </a:ln>
              <a:solidFill>
                <a:prstClr val="white"/>
              </a:solidFill>
              <a:effectLst/>
              <a:uLnTx/>
              <a:uFillTx/>
              <a:latin typeface="Arial" panose="020B0604020202020204" pitchFamily="34" charset="0"/>
              <a:cs typeface="Arial" panose="020B0604020202020204" pitchFamily="34" charset="0"/>
            </a:endParaRPr>
          </a:p>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2000" dirty="0">
                <a:solidFill>
                  <a:prstClr val="white"/>
                </a:solidFill>
                <a:latin typeface="Arial" panose="020B0604020202020204" pitchFamily="34" charset="0"/>
                <a:cs typeface="Arial" panose="020B0604020202020204" pitchFamily="34" charset="0"/>
              </a:rPr>
              <a:t>Maximum mass link to onset of stellar instability is demonstrated easily using only undergraduate algebra and calculus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2000" dirty="0">
              <a:solidFill>
                <a:prstClr val="white"/>
              </a:solidFill>
              <a:latin typeface="Arial" panose="020B0604020202020204" pitchFamily="34" charset="0"/>
              <a:cs typeface="Arial" panose="020B0604020202020204" pitchFamily="34" charset="0"/>
            </a:endParaRPr>
          </a:p>
          <a:p>
            <a:pPr marL="1257300" lvl="2" indent="-342900" defTabSz="457200">
              <a:buFont typeface="Wingdings" panose="05000000000000000000" pitchFamily="2" charset="2"/>
              <a:buChar char="Ø"/>
              <a:defRPr/>
            </a:pPr>
            <a:r>
              <a:rPr lang="en-CA" sz="2000" dirty="0">
                <a:solidFill>
                  <a:prstClr val="white"/>
                </a:solidFill>
                <a:latin typeface="Arial" panose="020B0604020202020204" pitchFamily="34" charset="0"/>
                <a:cs typeface="Arial" panose="020B0604020202020204" pitchFamily="34" charset="0"/>
              </a:rPr>
              <a:t>Fluid sphere model requires relativistic fluid perturbation theory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2000" dirty="0">
                <a:solidFill>
                  <a:prstClr val="white"/>
                </a:solidFill>
                <a:latin typeface="Arial" panose="020B0604020202020204" pitchFamily="34" charset="0"/>
                <a:cs typeface="Arial" panose="020B0604020202020204" pitchFamily="34" charset="0"/>
              </a:rPr>
              <a:t>More accessible to introductory relativity students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1257300" lvl="2" indent="-342900" defTabSz="457200">
              <a:buFont typeface="Wingdings" panose="05000000000000000000" pitchFamily="2" charset="2"/>
              <a:buChar char="Ø"/>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Almost all results can be expressed analytically </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grpSp>
        <p:nvGrpSpPr>
          <p:cNvPr id="15" name="Group 14">
            <a:extLst>
              <a:ext uri="{FF2B5EF4-FFF2-40B4-BE49-F238E27FC236}">
                <a16:creationId xmlns:a16="http://schemas.microsoft.com/office/drawing/2014/main" id="{EA585D45-454B-42E5-8BEA-8B002A65EF23}"/>
              </a:ext>
            </a:extLst>
          </p:cNvPr>
          <p:cNvGrpSpPr/>
          <p:nvPr/>
        </p:nvGrpSpPr>
        <p:grpSpPr>
          <a:xfrm>
            <a:off x="-32079" y="0"/>
            <a:ext cx="12219806" cy="936000"/>
            <a:chOff x="-27806" y="1"/>
            <a:chExt cx="12219806" cy="1026366"/>
          </a:xfrm>
        </p:grpSpPr>
        <p:sp>
          <p:nvSpPr>
            <p:cNvPr id="12" name="Rectangle 11">
              <a:extLst>
                <a:ext uri="{FF2B5EF4-FFF2-40B4-BE49-F238E27FC236}">
                  <a16:creationId xmlns:a16="http://schemas.microsoft.com/office/drawing/2014/main" id="{7FB04DA1-A394-4930-88E3-A26B2B059D36}"/>
                </a:ext>
              </a:extLst>
            </p:cNvPr>
            <p:cNvSpPr/>
            <p:nvPr/>
          </p:nvSpPr>
          <p:spPr>
            <a:xfrm>
              <a:off x="0" y="1"/>
              <a:ext cx="12192000" cy="10263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4" name="Picture 2" descr="Related image">
              <a:extLst>
                <a:ext uri="{FF2B5EF4-FFF2-40B4-BE49-F238E27FC236}">
                  <a16:creationId xmlns:a16="http://schemas.microsoft.com/office/drawing/2014/main" id="{1FC96069-B6A5-4D3F-BAFB-97F6D5879F5B}"/>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357" t="33734" r="11492" b="33338"/>
            <a:stretch/>
          </p:blipFill>
          <p:spPr bwMode="auto">
            <a:xfrm>
              <a:off x="-27806" y="6113"/>
              <a:ext cx="1567544" cy="620809"/>
            </a:xfrm>
            <a:prstGeom prst="rect">
              <a:avLst/>
            </a:prstGeom>
            <a:noFill/>
          </p:spPr>
        </p:pic>
      </p:grpSp>
      <p:sp>
        <p:nvSpPr>
          <p:cNvPr id="16" name="Footer Placeholder 1">
            <a:extLst>
              <a:ext uri="{FF2B5EF4-FFF2-40B4-BE49-F238E27FC236}">
                <a16:creationId xmlns:a16="http://schemas.microsoft.com/office/drawing/2014/main" id="{D16C3C09-91B3-4865-8083-25A0D49707B0}"/>
              </a:ext>
            </a:extLst>
          </p:cNvPr>
          <p:cNvSpPr txBox="1">
            <a:spLocks/>
          </p:cNvSpPr>
          <p:nvPr/>
        </p:nvSpPr>
        <p:spPr>
          <a:xfrm>
            <a:off x="2182170" y="6413063"/>
            <a:ext cx="7827659" cy="377825"/>
          </a:xfrm>
          <a:prstGeom prst="rect">
            <a:avLst/>
          </a:prstGeom>
        </p:spPr>
        <p:txBody>
          <a:bodyPr vert="horz" lIns="91440" tIns="45720" rIns="91440" bIns="45720" rtlCol="0" anchor="ctr"/>
          <a:lstStyle>
            <a:defPPr>
              <a:defRPr lang="en-US"/>
            </a:defPPr>
            <a:lvl1pPr marL="0" algn="l"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atin typeface="Arial" panose="020B0604020202020204" pitchFamily="34" charset="0"/>
                <a:cs typeface="Arial" panose="020B0604020202020204" pitchFamily="34" charset="0"/>
              </a:rPr>
              <a:t>Canadian Undergraduate Physics Conference</a:t>
            </a:r>
            <a:endParaRPr lang="en-US" dirty="0">
              <a:latin typeface="Arial" panose="020B0604020202020204" pitchFamily="34" charset="0"/>
              <a:cs typeface="Arial" panose="020B0604020202020204" pitchFamily="34" charset="0"/>
            </a:endParaRPr>
          </a:p>
        </p:txBody>
      </p:sp>
      <p:sp>
        <p:nvSpPr>
          <p:cNvPr id="17" name="Slide Number Placeholder 2">
            <a:extLst>
              <a:ext uri="{FF2B5EF4-FFF2-40B4-BE49-F238E27FC236}">
                <a16:creationId xmlns:a16="http://schemas.microsoft.com/office/drawing/2014/main" id="{AFF1A961-CB47-40A4-9408-F64EF8005BCF}"/>
              </a:ext>
            </a:extLst>
          </p:cNvPr>
          <p:cNvSpPr txBox="1">
            <a:spLocks/>
          </p:cNvSpPr>
          <p:nvPr/>
        </p:nvSpPr>
        <p:spPr>
          <a:xfrm>
            <a:off x="10284775" y="6413063"/>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57F1E4F-1CFF-5643-939E-217C01CDF565}" type="slidenum">
              <a:rPr lang="en-US" smtClean="0">
                <a:latin typeface="Arial" panose="020B0604020202020204" pitchFamily="34" charset="0"/>
                <a:cs typeface="Arial" panose="020B0604020202020204" pitchFamily="34" charset="0"/>
              </a:rPr>
              <a:pPr algn="ctr"/>
              <a:t>4</a:t>
            </a:fld>
            <a:endParaRPr lang="en-US" dirty="0">
              <a:latin typeface="Arial" panose="020B0604020202020204" pitchFamily="34" charset="0"/>
              <a:cs typeface="Arial" panose="020B0604020202020204" pitchFamily="34" charset="0"/>
            </a:endParaRPr>
          </a:p>
        </p:txBody>
      </p:sp>
      <p:sp>
        <p:nvSpPr>
          <p:cNvPr id="18" name="Date Placeholder 5">
            <a:extLst>
              <a:ext uri="{FF2B5EF4-FFF2-40B4-BE49-F238E27FC236}">
                <a16:creationId xmlns:a16="http://schemas.microsoft.com/office/drawing/2014/main" id="{D2052219-5A28-46E4-94ED-9D82D3520F5C}"/>
              </a:ext>
            </a:extLst>
          </p:cNvPr>
          <p:cNvSpPr txBox="1">
            <a:spLocks/>
          </p:cNvSpPr>
          <p:nvPr/>
        </p:nvSpPr>
        <p:spPr>
          <a:xfrm>
            <a:off x="831541" y="6413063"/>
            <a:ext cx="1600200"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1A6D2-BD25-476B-8695-9DF6C2E37C50}" type="datetime1">
              <a:rPr lang="en-US" smtClean="0">
                <a:latin typeface="Arial" panose="020B0604020202020204" pitchFamily="34" charset="0"/>
                <a:cs typeface="Arial" panose="020B0604020202020204" pitchFamily="34" charset="0"/>
              </a:rPr>
              <a:pPr algn="ctr"/>
              <a:t>10/28/2019</a:t>
            </a:fld>
            <a:endParaRPr lang="en-US"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8B9C185C-9AB5-4AD4-B20D-ECE1D684F12A}"/>
              </a:ext>
            </a:extLst>
          </p:cNvPr>
          <p:cNvSpPr txBox="1"/>
          <p:nvPr/>
        </p:nvSpPr>
        <p:spPr>
          <a:xfrm>
            <a:off x="125835" y="268448"/>
            <a:ext cx="11903978" cy="584775"/>
          </a:xfrm>
          <a:prstGeom prst="rect">
            <a:avLst/>
          </a:prstGeom>
          <a:noFill/>
        </p:spPr>
        <p:txBody>
          <a:bodyPr wrap="square" rtlCol="0">
            <a:spAutoFit/>
          </a:bodyPr>
          <a:lstStyle/>
          <a:p>
            <a:pPr lvl="0" algn="ctr" defTabSz="457200">
              <a:defRPr/>
            </a:pPr>
            <a:r>
              <a:rPr lang="en-CA" sz="3200">
                <a:solidFill>
                  <a:schemeClr val="bg1"/>
                </a:solidFill>
                <a:latin typeface="Arial" panose="020B0604020202020204" pitchFamily="34" charset="0"/>
                <a:cs typeface="Arial" panose="020B0604020202020204" pitchFamily="34" charset="0"/>
              </a:rPr>
              <a:t>Why Thin Shells?</a:t>
            </a:r>
            <a:endParaRPr lang="en-CA" sz="3200" dirty="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8640213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A82B4715-52CB-4DC9-AF64-967E1C8327ED}"/>
              </a:ext>
            </a:extLst>
          </p:cNvPr>
          <p:cNvSpPr/>
          <p:nvPr/>
        </p:nvSpPr>
        <p:spPr>
          <a:xfrm>
            <a:off x="137376" y="917110"/>
            <a:ext cx="6662408" cy="5047536"/>
          </a:xfrm>
          <a:prstGeom prst="rect">
            <a:avLst/>
          </a:prstGeom>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CA" sz="1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Interior Minkowski Geometry: Flat spacetime </a:t>
            </a:r>
          </a:p>
          <a:p>
            <a:pPr marR="0" lvl="0" algn="l" defTabSz="457200" rtl="0" eaLnBrk="1" fontAlgn="auto" latinLnBrk="0" hangingPunct="1">
              <a:lnSpc>
                <a:spcPct val="100000"/>
              </a:lnSpc>
              <a:spcBef>
                <a:spcPts val="0"/>
              </a:spcBef>
              <a:spcAft>
                <a:spcPts val="0"/>
              </a:spcAft>
              <a:buClrTx/>
              <a:buSzTx/>
              <a:tabLst/>
              <a:defRPr/>
            </a:pPr>
            <a:endParaRPr kumimoji="0" lang="en-CA" sz="1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Exterior Schwarzschild Geometry: Vacuum spacetime outside of a spherically-symmetric, uncharged, and static mass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2000" dirty="0">
              <a:solidFill>
                <a:prstClr val="white"/>
              </a:solidFill>
              <a:latin typeface="Arial" panose="020B0604020202020204" pitchFamily="34" charset="0"/>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Perfect-fluid (i.e. no heat conduction, shear stress, or viscosity) matter content of surface smoothly joins both geometries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2000" dirty="0">
              <a:solidFill>
                <a:prstClr val="white"/>
              </a:solidFill>
              <a:latin typeface="Arial" panose="020B0604020202020204" pitchFamily="34" charset="0"/>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We use the reference frame co-moving with the shell surface</a:t>
            </a:r>
          </a:p>
          <a:p>
            <a:pPr marR="0" lvl="0" algn="l" defTabSz="457200" rtl="0" eaLnBrk="1" fontAlgn="auto" latinLnBrk="0" hangingPunct="1">
              <a:lnSpc>
                <a:spcPct val="100000"/>
              </a:lnSpc>
              <a:spcBef>
                <a:spcPts val="0"/>
              </a:spcBef>
              <a:spcAft>
                <a:spcPts val="0"/>
              </a:spcAft>
              <a:buClrTx/>
              <a:buSzTx/>
              <a:tabLst/>
              <a:defRPr/>
            </a:pPr>
            <a:endParaRPr kumimoji="0" lang="en-CA" sz="1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shell is macroscopically described by it’s compactness: </a:t>
            </a:r>
            <a:b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endPar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grpSp>
        <p:nvGrpSpPr>
          <p:cNvPr id="48" name="Group 47">
            <a:extLst>
              <a:ext uri="{FF2B5EF4-FFF2-40B4-BE49-F238E27FC236}">
                <a16:creationId xmlns:a16="http://schemas.microsoft.com/office/drawing/2014/main" id="{B0855699-1B34-4489-A9A8-29C946282658}"/>
              </a:ext>
            </a:extLst>
          </p:cNvPr>
          <p:cNvGrpSpPr/>
          <p:nvPr/>
        </p:nvGrpSpPr>
        <p:grpSpPr>
          <a:xfrm>
            <a:off x="6936138" y="1191011"/>
            <a:ext cx="4670884" cy="4397801"/>
            <a:chOff x="8398016" y="3191830"/>
            <a:chExt cx="3591357" cy="3543472"/>
          </a:xfrm>
        </p:grpSpPr>
        <p:grpSp>
          <p:nvGrpSpPr>
            <p:cNvPr id="43" name="Group 42">
              <a:extLst>
                <a:ext uri="{FF2B5EF4-FFF2-40B4-BE49-F238E27FC236}">
                  <a16:creationId xmlns:a16="http://schemas.microsoft.com/office/drawing/2014/main" id="{40E2BD40-CDA4-414E-9CD5-910406B44AFA}"/>
                </a:ext>
              </a:extLst>
            </p:cNvPr>
            <p:cNvGrpSpPr/>
            <p:nvPr/>
          </p:nvGrpSpPr>
          <p:grpSpPr>
            <a:xfrm>
              <a:off x="8398016" y="3191830"/>
              <a:ext cx="3591357" cy="3543472"/>
              <a:chOff x="7618073" y="2960437"/>
              <a:chExt cx="3591357" cy="3543472"/>
            </a:xfrm>
          </p:grpSpPr>
          <p:pic>
            <p:nvPicPr>
              <p:cNvPr id="32" name="Picture 31">
                <a:extLst>
                  <a:ext uri="{FF2B5EF4-FFF2-40B4-BE49-F238E27FC236}">
                    <a16:creationId xmlns:a16="http://schemas.microsoft.com/office/drawing/2014/main" id="{BFA50400-05C1-4959-80D7-D81E68C843ED}"/>
                  </a:ext>
                </a:extLst>
              </p:cNvPr>
              <p:cNvPicPr>
                <a:picLocks noChangeAspect="1"/>
              </p:cNvPicPr>
              <p:nvPr/>
            </p:nvPicPr>
            <p:blipFill rotWithShape="1">
              <a:blip r:embed="rId2"/>
              <a:srcRect l="2380" t="5422" r="8334" b="5422"/>
              <a:stretch/>
            </p:blipFill>
            <p:spPr>
              <a:xfrm>
                <a:off x="7618073" y="2960437"/>
                <a:ext cx="3591357" cy="3543472"/>
              </a:xfrm>
              <a:prstGeom prst="rect">
                <a:avLst/>
              </a:prstGeom>
              <a:ln>
                <a:noFill/>
              </a:ln>
            </p:spPr>
          </p:pic>
          <p:cxnSp>
            <p:nvCxnSpPr>
              <p:cNvPr id="34" name="Straight Arrow Connector 33">
                <a:extLst>
                  <a:ext uri="{FF2B5EF4-FFF2-40B4-BE49-F238E27FC236}">
                    <a16:creationId xmlns:a16="http://schemas.microsoft.com/office/drawing/2014/main" id="{EAEE1E6D-02AA-41E9-91E0-36DA13DFDBFD}"/>
                  </a:ext>
                </a:extLst>
              </p:cNvPr>
              <p:cNvCxnSpPr>
                <a:cxnSpLocks/>
              </p:cNvCxnSpPr>
              <p:nvPr/>
            </p:nvCxnSpPr>
            <p:spPr>
              <a:xfrm>
                <a:off x="10405838" y="4960479"/>
                <a:ext cx="130603" cy="36029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sp>
            <p:nvSpPr>
              <p:cNvPr id="37" name="TextBox 36">
                <a:extLst>
                  <a:ext uri="{FF2B5EF4-FFF2-40B4-BE49-F238E27FC236}">
                    <a16:creationId xmlns:a16="http://schemas.microsoft.com/office/drawing/2014/main" id="{AC1C450C-00FC-4888-B2A5-D1437BEE788C}"/>
                  </a:ext>
                </a:extLst>
              </p:cNvPr>
              <p:cNvSpPr txBox="1"/>
              <p:nvPr/>
            </p:nvSpPr>
            <p:spPr>
              <a:xfrm>
                <a:off x="7917782" y="3064400"/>
                <a:ext cx="2245365" cy="752734"/>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Schwarzschild Geometry </a:t>
                </a:r>
              </a:p>
            </p:txBody>
          </p:sp>
          <p:sp>
            <p:nvSpPr>
              <p:cNvPr id="38" name="TextBox 37">
                <a:extLst>
                  <a:ext uri="{FF2B5EF4-FFF2-40B4-BE49-F238E27FC236}">
                    <a16:creationId xmlns:a16="http://schemas.microsoft.com/office/drawing/2014/main" id="{3D17B479-FA84-434F-98AF-DC71DD7B7A1C}"/>
                  </a:ext>
                </a:extLst>
              </p:cNvPr>
              <p:cNvSpPr txBox="1"/>
              <p:nvPr/>
            </p:nvSpPr>
            <p:spPr>
              <a:xfrm>
                <a:off x="9900681" y="4396627"/>
                <a:ext cx="1143345" cy="57037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Minkowski Geometry</a:t>
                </a:r>
              </a:p>
            </p:txBody>
          </p:sp>
          <p:cxnSp>
            <p:nvCxnSpPr>
              <p:cNvPr id="41" name="Straight Arrow Connector 40">
                <a:extLst>
                  <a:ext uri="{FF2B5EF4-FFF2-40B4-BE49-F238E27FC236}">
                    <a16:creationId xmlns:a16="http://schemas.microsoft.com/office/drawing/2014/main" id="{58025DB6-F5E0-4DCB-A3BD-BDA175A24288}"/>
                  </a:ext>
                </a:extLst>
              </p:cNvPr>
              <p:cNvCxnSpPr>
                <a:cxnSpLocks/>
              </p:cNvCxnSpPr>
              <p:nvPr/>
            </p:nvCxnSpPr>
            <p:spPr>
              <a:xfrm flipH="1">
                <a:off x="7678637" y="3581772"/>
                <a:ext cx="265838" cy="181867"/>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a14="http://schemas.microsoft.com/office/drawing/2010/main">
          <mc:Choice Requires="a14">
            <p:sp>
              <p:nvSpPr>
                <p:cNvPr id="47" name="TextBox 46">
                  <a:extLst>
                    <a:ext uri="{FF2B5EF4-FFF2-40B4-BE49-F238E27FC236}">
                      <a16:creationId xmlns:a16="http://schemas.microsoft.com/office/drawing/2014/main" id="{781E554A-1311-4D65-82A5-9D089B94EFE5}"/>
                    </a:ext>
                  </a:extLst>
                </p:cNvPr>
                <p:cNvSpPr txBox="1"/>
                <p:nvPr/>
              </p:nvSpPr>
              <p:spPr>
                <a:xfrm>
                  <a:off x="8724418" y="4643772"/>
                  <a:ext cx="1632477" cy="10800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Thin Matter Shell</a:t>
                  </a:r>
                </a:p>
                <a:p>
                  <a:pPr marL="0" marR="0" lvl="0" indent="0" algn="ctr"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Arial" panose="020B0604020202020204" pitchFamily="34" charset="0"/>
                          </a:rPr>
                          <m:t>(</m:t>
                        </m:r>
                        <m: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Arial" panose="020B0604020202020204" pitchFamily="34" charset="0"/>
                          </a:rPr>
                          <m:t>𝜏</m:t>
                        </m:r>
                        <m: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Arial" panose="020B0604020202020204" pitchFamily="34" charset="0"/>
                          </a:rPr>
                          <m:t>𝜃</m:t>
                        </m:r>
                        <m: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Arial" panose="020B0604020202020204" pitchFamily="34" charset="0"/>
                          </a:rPr>
                          <m:t>𝜑</m:t>
                        </m:r>
                        <m: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Arial" panose="020B0604020202020204" pitchFamily="34" charset="0"/>
                          </a:rPr>
                          <m:t>)</m:t>
                        </m:r>
                      </m:oMath>
                    </m:oMathPara>
                  </a14:m>
                  <a:endPar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mc:Choice>
          <mc:Fallback xmlns="">
            <p:sp>
              <p:nvSpPr>
                <p:cNvPr id="47" name="TextBox 46">
                  <a:extLst>
                    <a:ext uri="{FF2B5EF4-FFF2-40B4-BE49-F238E27FC236}">
                      <a16:creationId xmlns:a16="http://schemas.microsoft.com/office/drawing/2014/main" id="{781E554A-1311-4D65-82A5-9D089B94EFE5}"/>
                    </a:ext>
                  </a:extLst>
                </p:cNvPr>
                <p:cNvSpPr txBox="1">
                  <a:spLocks noRot="1" noChangeAspect="1" noMove="1" noResize="1" noEditPoints="1" noAdjustHandles="1" noChangeArrowheads="1" noChangeShapeType="1" noTextEdit="1"/>
                </p:cNvSpPr>
                <p:nvPr/>
              </p:nvSpPr>
              <p:spPr>
                <a:xfrm>
                  <a:off x="8724418" y="4643772"/>
                  <a:ext cx="1632477" cy="1080010"/>
                </a:xfrm>
                <a:prstGeom prst="rect">
                  <a:avLst/>
                </a:prstGeom>
                <a:blipFill>
                  <a:blip r:embed="rId6"/>
                  <a:stretch>
                    <a:fillRect l="-4382" t="-2395" r="-4382" b="-6587"/>
                  </a:stretch>
                </a:blipFill>
              </p:spPr>
              <p:txBody>
                <a:bodyPr/>
                <a:lstStyle/>
                <a:p>
                  <a:r>
                    <a:rPr lang="en-CA">
                      <a:noFill/>
                    </a:rPr>
                    <a:t> </a:t>
                  </a:r>
                </a:p>
              </p:txBody>
            </p:sp>
          </mc:Fallback>
        </mc:AlternateContent>
      </p:grpSp>
      <p:grpSp>
        <p:nvGrpSpPr>
          <p:cNvPr id="6" name="Group 5">
            <a:extLst>
              <a:ext uri="{FF2B5EF4-FFF2-40B4-BE49-F238E27FC236}">
                <a16:creationId xmlns:a16="http://schemas.microsoft.com/office/drawing/2014/main" id="{CFF93D47-BEC3-4AC7-B91B-FEBC446317E3}"/>
              </a:ext>
            </a:extLst>
          </p:cNvPr>
          <p:cNvGrpSpPr/>
          <p:nvPr/>
        </p:nvGrpSpPr>
        <p:grpSpPr>
          <a:xfrm>
            <a:off x="2431741" y="5403270"/>
            <a:ext cx="3401500" cy="973141"/>
            <a:chOff x="3071581" y="4370045"/>
            <a:chExt cx="3401500" cy="973141"/>
          </a:xfrm>
        </p:grpSpPr>
        <p:cxnSp>
          <p:nvCxnSpPr>
            <p:cNvPr id="63" name="Straight Arrow Connector 62">
              <a:extLst>
                <a:ext uri="{FF2B5EF4-FFF2-40B4-BE49-F238E27FC236}">
                  <a16:creationId xmlns:a16="http://schemas.microsoft.com/office/drawing/2014/main" id="{23F0CD3E-9927-4CCC-9267-81E04235E96C}"/>
                </a:ext>
              </a:extLst>
            </p:cNvPr>
            <p:cNvCxnSpPr>
              <a:cxnSpLocks/>
            </p:cNvCxnSpPr>
            <p:nvPr/>
          </p:nvCxnSpPr>
          <p:spPr>
            <a:xfrm flipH="1">
              <a:off x="4001603" y="4680383"/>
              <a:ext cx="287678" cy="7183"/>
            </a:xfrm>
            <a:prstGeom prst="straightConnector1">
              <a:avLst/>
            </a:prstGeom>
            <a:ln w="22225">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65" name="Straight Arrow Connector 64">
              <a:extLst>
                <a:ext uri="{FF2B5EF4-FFF2-40B4-BE49-F238E27FC236}">
                  <a16:creationId xmlns:a16="http://schemas.microsoft.com/office/drawing/2014/main" id="{E5A66B58-E051-4F19-AF45-BEFDECB68A1A}"/>
                </a:ext>
              </a:extLst>
            </p:cNvPr>
            <p:cNvCxnSpPr>
              <a:cxnSpLocks/>
            </p:cNvCxnSpPr>
            <p:nvPr/>
          </p:nvCxnSpPr>
          <p:spPr>
            <a:xfrm flipH="1">
              <a:off x="3999000" y="5013904"/>
              <a:ext cx="263971" cy="0"/>
            </a:xfrm>
            <a:prstGeom prst="straightConnector1">
              <a:avLst/>
            </a:prstGeom>
            <a:ln w="22225">
              <a:solidFill>
                <a:schemeClr val="tx1"/>
              </a:solidFill>
              <a:tailEnd type="triangle"/>
            </a:ln>
          </p:spPr>
          <p:style>
            <a:lnRef idx="1">
              <a:schemeClr val="dk1"/>
            </a:lnRef>
            <a:fillRef idx="0">
              <a:schemeClr val="dk1"/>
            </a:fillRef>
            <a:effectRef idx="0">
              <a:schemeClr val="dk1"/>
            </a:effectRef>
            <a:fontRef idx="minor">
              <a:schemeClr val="tx1"/>
            </a:fontRef>
          </p:style>
        </p:cxnSp>
        <p:grpSp>
          <p:nvGrpSpPr>
            <p:cNvPr id="3" name="Group 2">
              <a:extLst>
                <a:ext uri="{FF2B5EF4-FFF2-40B4-BE49-F238E27FC236}">
                  <a16:creationId xmlns:a16="http://schemas.microsoft.com/office/drawing/2014/main" id="{EB50B5AF-E468-40A8-A006-945E067651B6}"/>
                </a:ext>
              </a:extLst>
            </p:cNvPr>
            <p:cNvGrpSpPr/>
            <p:nvPr/>
          </p:nvGrpSpPr>
          <p:grpSpPr>
            <a:xfrm>
              <a:off x="3071581" y="4370045"/>
              <a:ext cx="3401500" cy="973141"/>
              <a:chOff x="3071581" y="4370045"/>
              <a:chExt cx="3401500" cy="973141"/>
            </a:xfrm>
          </p:grpSpPr>
          <p:sp>
            <p:nvSpPr>
              <p:cNvPr id="59" name="TextBox 58">
                <a:extLst>
                  <a:ext uri="{FF2B5EF4-FFF2-40B4-BE49-F238E27FC236}">
                    <a16:creationId xmlns:a16="http://schemas.microsoft.com/office/drawing/2014/main" id="{2ADF034F-924E-4B54-8270-FFEF245F472E}"/>
                  </a:ext>
                </a:extLst>
              </p:cNvPr>
              <p:cNvSpPr txBox="1"/>
              <p:nvPr/>
            </p:nvSpPr>
            <p:spPr>
              <a:xfrm>
                <a:off x="4643940" y="4370045"/>
                <a:ext cx="1829141" cy="400110"/>
              </a:xfrm>
              <a:prstGeom prst="rect">
                <a:avLst/>
              </a:prstGeom>
              <a:solidFill>
                <a:schemeClr val="tx1"/>
              </a:solidFill>
              <a:ln>
                <a:solidFill>
                  <a:schemeClr val="bg1"/>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CA" sz="2000" dirty="0">
                    <a:solidFill>
                      <a:prstClr val="black"/>
                    </a:solidFill>
                    <a:latin typeface="Arial" panose="020B0604020202020204" pitchFamily="34" charset="0"/>
                    <a:cs typeface="Arial" panose="020B0604020202020204" pitchFamily="34" charset="0"/>
                  </a:rPr>
                  <a:t>Material</a:t>
                </a: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Mass</a:t>
                </a:r>
              </a:p>
            </p:txBody>
          </p:sp>
          <p:sp>
            <p:nvSpPr>
              <p:cNvPr id="62" name="TextBox 61">
                <a:extLst>
                  <a:ext uri="{FF2B5EF4-FFF2-40B4-BE49-F238E27FC236}">
                    <a16:creationId xmlns:a16="http://schemas.microsoft.com/office/drawing/2014/main" id="{0EE1406E-ACF8-4A63-A13C-472D6CB821F3}"/>
                  </a:ext>
                </a:extLst>
              </p:cNvPr>
              <p:cNvSpPr txBox="1"/>
              <p:nvPr/>
            </p:nvSpPr>
            <p:spPr>
              <a:xfrm>
                <a:off x="4722789" y="4943076"/>
                <a:ext cx="1661749" cy="400110"/>
              </a:xfrm>
              <a:prstGeom prst="rect">
                <a:avLst/>
              </a:prstGeom>
              <a:solidFill>
                <a:schemeClr val="tx1"/>
              </a:solidFill>
              <a:ln>
                <a:solidFill>
                  <a:schemeClr val="bg1"/>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Shell Radius</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57598349-0E04-4A1F-8D07-F1FBD069E4CC}"/>
                      </a:ext>
                    </a:extLst>
                  </p:cNvPr>
                  <p:cNvSpPr txBox="1"/>
                  <p:nvPr/>
                </p:nvSpPr>
                <p:spPr>
                  <a:xfrm>
                    <a:off x="3071581" y="4536583"/>
                    <a:ext cx="1020759" cy="617413"/>
                  </a:xfrm>
                  <a:prstGeom prst="rect">
                    <a:avLst/>
                  </a:prstGeom>
                  <a:noFill/>
                  <a:ln w="22225">
                    <a:solidFill>
                      <a:schemeClr val="tx1"/>
                    </a:solidFill>
                  </a:ln>
                </p:spPr>
                <p:txBody>
                  <a:bodyPr wrap="square" rtlCol="0">
                    <a:spAutoFit/>
                  </a:bodyPr>
                  <a:lstStyle/>
                  <a:p>
                    <a:pPr lvl="0" defTabSz="457200">
                      <a:defRPr/>
                    </a:pPr>
                    <a14:m>
                      <m:oMathPara xmlns:m="http://schemas.openxmlformats.org/officeDocument/2006/math">
                        <m:oMathParaPr>
                          <m:jc m:val="centerGroup"/>
                        </m:oMathParaPr>
                        <m:oMath xmlns:m="http://schemas.openxmlformats.org/officeDocument/2006/math">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𝐶</m:t>
                          </m:r>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𝑚</m:t>
                              </m:r>
                            </m:num>
                            <m:den>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𝑅</m:t>
                              </m:r>
                            </m:den>
                          </m:f>
                        </m:oMath>
                      </m:oMathPara>
                    </a14:m>
                    <a:endParaRPr kumimoji="0" lang="en-CA" sz="2000" b="0" i="0" u="none" strike="noStrike" kern="1200" cap="none" spc="0" normalizeH="0" baseline="0" noProof="0" dirty="0">
                      <a:ln>
                        <a:noFill/>
                      </a:ln>
                      <a:solidFill>
                        <a:prstClr val="white"/>
                      </a:solidFill>
                      <a:effectLst/>
                      <a:uLnTx/>
                      <a:uFillTx/>
                      <a:latin typeface="Calibri" panose="020F0502020204030204"/>
                    </a:endParaRPr>
                  </a:p>
                </p:txBody>
              </p:sp>
            </mc:Choice>
            <mc:Fallback>
              <p:sp>
                <p:nvSpPr>
                  <p:cNvPr id="10" name="TextBox 9">
                    <a:extLst>
                      <a:ext uri="{FF2B5EF4-FFF2-40B4-BE49-F238E27FC236}">
                        <a16:creationId xmlns:a16="http://schemas.microsoft.com/office/drawing/2014/main" id="{57598349-0E04-4A1F-8D07-F1FBD069E4CC}"/>
                      </a:ext>
                    </a:extLst>
                  </p:cNvPr>
                  <p:cNvSpPr txBox="1">
                    <a:spLocks noRot="1" noChangeAspect="1" noMove="1" noResize="1" noEditPoints="1" noAdjustHandles="1" noChangeArrowheads="1" noChangeShapeType="1" noTextEdit="1"/>
                  </p:cNvSpPr>
                  <p:nvPr/>
                </p:nvSpPr>
                <p:spPr>
                  <a:xfrm>
                    <a:off x="3071581" y="4536583"/>
                    <a:ext cx="1020759" cy="617413"/>
                  </a:xfrm>
                  <a:prstGeom prst="rect">
                    <a:avLst/>
                  </a:prstGeom>
                  <a:blipFill>
                    <a:blip r:embed="rId7"/>
                    <a:stretch>
                      <a:fillRect/>
                    </a:stretch>
                  </a:blipFill>
                  <a:ln w="22225">
                    <a:solidFill>
                      <a:schemeClr val="tx1"/>
                    </a:solidFill>
                  </a:ln>
                </p:spPr>
                <p:txBody>
                  <a:bodyPr/>
                  <a:lstStyle/>
                  <a:p>
                    <a:r>
                      <a:rPr lang="en-CA">
                        <a:noFill/>
                      </a:rPr>
                      <a:t> </a:t>
                    </a:r>
                  </a:p>
                </p:txBody>
              </p:sp>
            </mc:Fallback>
          </mc:AlternateContent>
          <p:cxnSp>
            <p:nvCxnSpPr>
              <p:cNvPr id="42" name="Connector: Elbow 41">
                <a:extLst>
                  <a:ext uri="{FF2B5EF4-FFF2-40B4-BE49-F238E27FC236}">
                    <a16:creationId xmlns:a16="http://schemas.microsoft.com/office/drawing/2014/main" id="{7BEC888E-F57D-45D8-97F2-17472C19E2A8}"/>
                  </a:ext>
                </a:extLst>
              </p:cNvPr>
              <p:cNvCxnSpPr>
                <a:cxnSpLocks/>
              </p:cNvCxnSpPr>
              <p:nvPr/>
            </p:nvCxnSpPr>
            <p:spPr>
              <a:xfrm>
                <a:off x="4254293" y="5013904"/>
                <a:ext cx="468496" cy="129227"/>
              </a:xfrm>
              <a:prstGeom prst="bentConnector3">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 name="Connector: Elbow 49">
                <a:extLst>
                  <a:ext uri="{FF2B5EF4-FFF2-40B4-BE49-F238E27FC236}">
                    <a16:creationId xmlns:a16="http://schemas.microsoft.com/office/drawing/2014/main" id="{690FC168-C208-4DB8-BCD4-BED468653813}"/>
                  </a:ext>
                </a:extLst>
              </p:cNvPr>
              <p:cNvCxnSpPr>
                <a:cxnSpLocks/>
              </p:cNvCxnSpPr>
              <p:nvPr/>
            </p:nvCxnSpPr>
            <p:spPr>
              <a:xfrm flipV="1">
                <a:off x="4282809" y="4570100"/>
                <a:ext cx="361131" cy="108384"/>
              </a:xfrm>
              <a:prstGeom prst="bentConnector3">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30" name="Rectangle 29">
            <a:extLst>
              <a:ext uri="{FF2B5EF4-FFF2-40B4-BE49-F238E27FC236}">
                <a16:creationId xmlns:a16="http://schemas.microsoft.com/office/drawing/2014/main" id="{EBA17FE4-848F-41D8-9A1C-05E7F521B25F}"/>
              </a:ext>
            </a:extLst>
          </p:cNvPr>
          <p:cNvSpPr/>
          <p:nvPr/>
        </p:nvSpPr>
        <p:spPr>
          <a:xfrm>
            <a:off x="-1" y="-18890"/>
            <a:ext cx="12192000" cy="936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sp>
        <p:nvSpPr>
          <p:cNvPr id="33" name="Footer Placeholder 1">
            <a:extLst>
              <a:ext uri="{FF2B5EF4-FFF2-40B4-BE49-F238E27FC236}">
                <a16:creationId xmlns:a16="http://schemas.microsoft.com/office/drawing/2014/main" id="{29EA8ABC-DE3B-4F09-B12C-B904DB0ABCE1}"/>
              </a:ext>
            </a:extLst>
          </p:cNvPr>
          <p:cNvSpPr txBox="1">
            <a:spLocks/>
          </p:cNvSpPr>
          <p:nvPr/>
        </p:nvSpPr>
        <p:spPr>
          <a:xfrm>
            <a:off x="2182170" y="6413063"/>
            <a:ext cx="7827659" cy="377825"/>
          </a:xfrm>
          <a:prstGeom prst="rect">
            <a:avLst/>
          </a:prstGeom>
        </p:spPr>
        <p:txBody>
          <a:bodyPr vert="horz" lIns="91440" tIns="45720" rIns="91440" bIns="45720" rtlCol="0" anchor="ctr"/>
          <a:lstStyle>
            <a:defPPr>
              <a:defRPr lang="en-US"/>
            </a:defPPr>
            <a:lvl1pPr marL="0" algn="l"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atin typeface="Arial" panose="020B0604020202020204" pitchFamily="34" charset="0"/>
                <a:cs typeface="Arial" panose="020B0604020202020204" pitchFamily="34" charset="0"/>
              </a:rPr>
              <a:t>Canadian Undergraduate Physics Conference</a:t>
            </a:r>
            <a:endParaRPr lang="en-US" dirty="0">
              <a:latin typeface="Arial" panose="020B0604020202020204" pitchFamily="34" charset="0"/>
              <a:cs typeface="Arial" panose="020B0604020202020204" pitchFamily="34" charset="0"/>
            </a:endParaRPr>
          </a:p>
        </p:txBody>
      </p:sp>
      <p:sp>
        <p:nvSpPr>
          <p:cNvPr id="35" name="Slide Number Placeholder 2">
            <a:extLst>
              <a:ext uri="{FF2B5EF4-FFF2-40B4-BE49-F238E27FC236}">
                <a16:creationId xmlns:a16="http://schemas.microsoft.com/office/drawing/2014/main" id="{84B02C26-91EE-4366-BFD3-52F1446AF3E4}"/>
              </a:ext>
            </a:extLst>
          </p:cNvPr>
          <p:cNvSpPr txBox="1">
            <a:spLocks/>
          </p:cNvSpPr>
          <p:nvPr/>
        </p:nvSpPr>
        <p:spPr>
          <a:xfrm>
            <a:off x="10284775" y="6413063"/>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57F1E4F-1CFF-5643-939E-217C01CDF565}" type="slidenum">
              <a:rPr lang="en-US" smtClean="0">
                <a:latin typeface="Arial" panose="020B0604020202020204" pitchFamily="34" charset="0"/>
                <a:cs typeface="Arial" panose="020B0604020202020204" pitchFamily="34" charset="0"/>
              </a:rPr>
              <a:pPr algn="ctr"/>
              <a:t>5</a:t>
            </a:fld>
            <a:endParaRPr lang="en-US" dirty="0">
              <a:latin typeface="Arial" panose="020B0604020202020204" pitchFamily="34" charset="0"/>
              <a:cs typeface="Arial" panose="020B0604020202020204" pitchFamily="34" charset="0"/>
            </a:endParaRPr>
          </a:p>
        </p:txBody>
      </p:sp>
      <p:sp>
        <p:nvSpPr>
          <p:cNvPr id="36" name="Date Placeholder 5">
            <a:extLst>
              <a:ext uri="{FF2B5EF4-FFF2-40B4-BE49-F238E27FC236}">
                <a16:creationId xmlns:a16="http://schemas.microsoft.com/office/drawing/2014/main" id="{33F0C06F-4DFF-400D-A1A9-3147C0380CFF}"/>
              </a:ext>
            </a:extLst>
          </p:cNvPr>
          <p:cNvSpPr txBox="1">
            <a:spLocks/>
          </p:cNvSpPr>
          <p:nvPr/>
        </p:nvSpPr>
        <p:spPr>
          <a:xfrm>
            <a:off x="831541" y="6413063"/>
            <a:ext cx="1600200"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1A6D2-BD25-476B-8695-9DF6C2E37C50}" type="datetime1">
              <a:rPr lang="en-US" smtClean="0">
                <a:latin typeface="Arial" panose="020B0604020202020204" pitchFamily="34" charset="0"/>
                <a:cs typeface="Arial" panose="020B0604020202020204" pitchFamily="34" charset="0"/>
              </a:rPr>
              <a:pPr algn="ctr"/>
              <a:t>10/26/2019</a:t>
            </a:fld>
            <a:endParaRPr lang="en-US"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B8A6C59A-09E4-4EFF-86F8-D6C20A01AB2B}"/>
              </a:ext>
            </a:extLst>
          </p:cNvPr>
          <p:cNvSpPr txBox="1"/>
          <p:nvPr/>
        </p:nvSpPr>
        <p:spPr>
          <a:xfrm>
            <a:off x="2299853" y="126408"/>
            <a:ext cx="7592291"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3200" dirty="0">
                <a:solidFill>
                  <a:schemeClr val="bg1"/>
                </a:solidFill>
                <a:latin typeface="Arial" panose="020B0604020202020204" pitchFamily="34" charset="0"/>
                <a:cs typeface="Arial" panose="020B0604020202020204" pitchFamily="34" charset="0"/>
              </a:rPr>
              <a:t>Thin-Shells</a:t>
            </a:r>
            <a:endParaRPr kumimoji="0" lang="en-CA" sz="32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pic>
        <p:nvPicPr>
          <p:cNvPr id="25" name="Picture 2" descr="Related image">
            <a:extLst>
              <a:ext uri="{FF2B5EF4-FFF2-40B4-BE49-F238E27FC236}">
                <a16:creationId xmlns:a16="http://schemas.microsoft.com/office/drawing/2014/main" id="{45629C06-5A50-47A4-9620-3AD9B87A231A}"/>
              </a:ext>
            </a:extLst>
          </p:cNvPr>
          <p:cNvPicPr>
            <a:picLocks noChangeAspect="1" noChangeArrowheads="1"/>
          </p:cNvPicPr>
          <p:nvPr/>
        </p:nvPicPr>
        <p:blipFill rotWithShape="1">
          <a:blip r:embed="rId8">
            <a:extLst>
              <a:ext uri="{28A0092B-C50C-407E-A947-70E740481C1C}">
                <a14:useLocalDpi xmlns:a14="http://schemas.microsoft.com/office/drawing/2010/main" val="0"/>
              </a:ext>
            </a:extLst>
          </a:blip>
          <a:srcRect l="9357" t="33734" r="11492" b="33338"/>
          <a:stretch/>
        </p:blipFill>
        <p:spPr bwMode="auto">
          <a:xfrm>
            <a:off x="-27806" y="-10041"/>
            <a:ext cx="1567544" cy="566150"/>
          </a:xfrm>
          <a:prstGeom prst="rect">
            <a:avLst/>
          </a:prstGeom>
          <a:noFill/>
        </p:spPr>
      </p:pic>
    </p:spTree>
    <p:extLst>
      <p:ext uri="{BB962C8B-B14F-4D97-AF65-F5344CB8AC3E}">
        <p14:creationId xmlns:p14="http://schemas.microsoft.com/office/powerpoint/2010/main" val="34225026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B65DF3F2-A337-47BC-8AD1-D23D799EEE60}"/>
                  </a:ext>
                </a:extLst>
              </p:cNvPr>
              <p:cNvSpPr/>
              <p:nvPr/>
            </p:nvSpPr>
            <p:spPr>
              <a:xfrm>
                <a:off x="115546" y="5326329"/>
                <a:ext cx="5881040" cy="843436"/>
              </a:xfrm>
              <a:prstGeom prst="rect">
                <a:avLst/>
              </a:prstGeom>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f>
                      <m:fPr>
                        <m:ctrlP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Times New Roman" panose="02020603050405020304" pitchFamily="18" charset="0"/>
                          </a:rPr>
                        </m:ctrlPr>
                      </m:fPr>
                      <m:num>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mn-ea"/>
                            <a:cs typeface="Times New Roman" panose="02020603050405020304" pitchFamily="18" charset="0"/>
                          </a:rPr>
                          <m:t>𝑑𝑀</m:t>
                        </m:r>
                      </m:num>
                      <m:den>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mn-ea"/>
                            <a:cs typeface="Times New Roman" panose="02020603050405020304" pitchFamily="18" charset="0"/>
                          </a:rPr>
                          <m:t>𝑑</m:t>
                        </m:r>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den>
                    </m:f>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=0</m:t>
                    </m:r>
                  </m:oMath>
                </a14:m>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corresponds to a variable turning point:</a:t>
                </a:r>
                <a:r>
                  <a:rPr kumimoji="0" lang="en-CA" sz="20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a:t>	</a:t>
                </a: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p:sp>
            <p:nvSpPr>
              <p:cNvPr id="12" name="Rectangle 11">
                <a:extLst>
                  <a:ext uri="{FF2B5EF4-FFF2-40B4-BE49-F238E27FC236}">
                    <a16:creationId xmlns:a16="http://schemas.microsoft.com/office/drawing/2014/main" id="{B65DF3F2-A337-47BC-8AD1-D23D799EEE60}"/>
                  </a:ext>
                </a:extLst>
              </p:cNvPr>
              <p:cNvSpPr>
                <a:spLocks noRot="1" noChangeAspect="1" noMove="1" noResize="1" noEditPoints="1" noAdjustHandles="1" noChangeArrowheads="1" noChangeShapeType="1" noTextEdit="1"/>
              </p:cNvSpPr>
              <p:nvPr/>
            </p:nvSpPr>
            <p:spPr>
              <a:xfrm>
                <a:off x="115546" y="5326329"/>
                <a:ext cx="5881040" cy="843436"/>
              </a:xfrm>
              <a:prstGeom prst="rect">
                <a:avLst/>
              </a:prstGeom>
              <a:blipFill>
                <a:blip r:embed="rId2"/>
                <a:stretch>
                  <a:fillRect/>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65" name="Rectangle 64">
                <a:extLst>
                  <a:ext uri="{FF2B5EF4-FFF2-40B4-BE49-F238E27FC236}">
                    <a16:creationId xmlns:a16="http://schemas.microsoft.com/office/drawing/2014/main" id="{D52954CF-81F6-445F-82E4-E5C16820E85E}"/>
                  </a:ext>
                </a:extLst>
              </p:cNvPr>
              <p:cNvSpPr/>
              <p:nvPr/>
            </p:nvSpPr>
            <p:spPr>
              <a:xfrm>
                <a:off x="6195416" y="5326329"/>
                <a:ext cx="5860459" cy="535659"/>
              </a:xfrm>
              <a:prstGeom prst="rect">
                <a:avLst/>
              </a:prstGeom>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14:m>
                  <m:oMath xmlns:m="http://schemas.openxmlformats.org/officeDocument/2006/math">
                    <m:f>
                      <m:fPr>
                        <m:ctrlP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Times New Roman" panose="02020603050405020304" pitchFamily="18" charset="0"/>
                          </a:rPr>
                        </m:ctrlPr>
                      </m:fPr>
                      <m:num>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mn-ea"/>
                            <a:cs typeface="Times New Roman" panose="02020603050405020304" pitchFamily="18" charset="0"/>
                          </a:rPr>
                          <m:t>𝑑𝑀</m:t>
                        </m:r>
                      </m:num>
                      <m:den>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mn-ea"/>
                            <a:cs typeface="Times New Roman" panose="02020603050405020304" pitchFamily="18" charset="0"/>
                          </a:rPr>
                          <m:t>𝑑</m:t>
                        </m:r>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den>
                    </m:f>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=0</m:t>
                    </m:r>
                  </m:oMath>
                </a14:m>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corresponds to a constant turning point:</a:t>
                </a:r>
              </a:p>
            </p:txBody>
          </p:sp>
        </mc:Choice>
        <mc:Fallback>
          <p:sp>
            <p:nvSpPr>
              <p:cNvPr id="65" name="Rectangle 64">
                <a:extLst>
                  <a:ext uri="{FF2B5EF4-FFF2-40B4-BE49-F238E27FC236}">
                    <a16:creationId xmlns:a16="http://schemas.microsoft.com/office/drawing/2014/main" id="{D52954CF-81F6-445F-82E4-E5C16820E85E}"/>
                  </a:ext>
                </a:extLst>
              </p:cNvPr>
              <p:cNvSpPr>
                <a:spLocks noRot="1" noChangeAspect="1" noMove="1" noResize="1" noEditPoints="1" noAdjustHandles="1" noChangeArrowheads="1" noChangeShapeType="1" noTextEdit="1"/>
              </p:cNvSpPr>
              <p:nvPr/>
            </p:nvSpPr>
            <p:spPr>
              <a:xfrm>
                <a:off x="6195416" y="5326329"/>
                <a:ext cx="5860459" cy="535659"/>
              </a:xfrm>
              <a:prstGeom prst="rect">
                <a:avLst/>
              </a:prstGeom>
              <a:blipFill>
                <a:blip r:embed="rId3"/>
                <a:stretch>
                  <a:fillRect b="-6818"/>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21050F90-1C64-4031-8292-54971CE4BCE3}"/>
                  </a:ext>
                </a:extLst>
              </p:cNvPr>
              <p:cNvSpPr txBox="1"/>
              <p:nvPr/>
            </p:nvSpPr>
            <p:spPr>
              <a:xfrm>
                <a:off x="2431741" y="5863687"/>
                <a:ext cx="1813000" cy="612155"/>
              </a:xfrm>
              <a:prstGeom prst="rect">
                <a:avLst/>
              </a:prstGeom>
              <a:noFill/>
              <a:ln w="22225">
                <a:solidFill>
                  <a:schemeClr val="tx1"/>
                </a:solidFill>
              </a:ln>
            </p:spPr>
            <p:txBody>
              <a:bodyPr wrap="square" rtlCol="0">
                <a:spAutoFit/>
              </a:bodyPr>
              <a:lstStyle/>
              <a:p>
                <a:pPr lvl="0" defTabSz="457200">
                  <a:defRPr/>
                </a:pPr>
                <a14:m>
                  <m:oMath xmlns:m="http://schemas.openxmlformats.org/officeDocument/2006/math">
                    <m:r>
                      <a:rPr lang="en-CA" sz="200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𝛾</m:t>
                    </m:r>
                    <m:r>
                      <a:rPr lang="en-CA" sz="200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CA" sz="2000" b="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3</m:t>
                        </m:r>
                        <m:sSup>
                          <m:sSupPr>
                            <m:ctrlP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𝐶</m:t>
                            </m:r>
                          </m:e>
                          <m:sup>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2</m:t>
                            </m:r>
                          </m:sup>
                        </m:sSup>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m:t>
                        </m:r>
                        <m:r>
                          <a:rPr lang="en-CA" sz="2000" b="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8</m:t>
                        </m:r>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𝐶</m:t>
                        </m:r>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+6</m:t>
                        </m:r>
                      </m:num>
                      <m:den>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m:t>
                        </m:r>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𝐶</m:t>
                        </m:r>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−1)(3</m:t>
                        </m:r>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𝐶</m:t>
                        </m:r>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−4)</m:t>
                        </m:r>
                      </m:den>
                    </m:f>
                  </m:oMath>
                </a14:m>
                <a:r>
                  <a:rPr lang="en-CA" sz="2000" dirty="0">
                    <a:solidFill>
                      <a:prstClr val="white"/>
                    </a:solidFill>
                    <a:latin typeface="Arial" panose="020B0604020202020204" pitchFamily="34" charset="0"/>
                    <a:cs typeface="Arial" panose="020B0604020202020204" pitchFamily="34" charset="0"/>
                  </a:rPr>
                  <a:t> </a:t>
                </a:r>
              </a:p>
            </p:txBody>
          </p:sp>
        </mc:Choice>
        <mc:Fallback>
          <p:sp>
            <p:nvSpPr>
              <p:cNvPr id="2" name="TextBox 1">
                <a:extLst>
                  <a:ext uri="{FF2B5EF4-FFF2-40B4-BE49-F238E27FC236}">
                    <a16:creationId xmlns:a16="http://schemas.microsoft.com/office/drawing/2014/main" id="{21050F90-1C64-4031-8292-54971CE4BCE3}"/>
                  </a:ext>
                </a:extLst>
              </p:cNvPr>
              <p:cNvSpPr txBox="1">
                <a:spLocks noRot="1" noChangeAspect="1" noMove="1" noResize="1" noEditPoints="1" noAdjustHandles="1" noChangeArrowheads="1" noChangeShapeType="1" noTextEdit="1"/>
              </p:cNvSpPr>
              <p:nvPr/>
            </p:nvSpPr>
            <p:spPr>
              <a:xfrm>
                <a:off x="2431741" y="5863687"/>
                <a:ext cx="1813000" cy="612155"/>
              </a:xfrm>
              <a:prstGeom prst="rect">
                <a:avLst/>
              </a:prstGeom>
              <a:blipFill>
                <a:blip r:embed="rId4"/>
                <a:stretch>
                  <a:fillRect/>
                </a:stretch>
              </a:blipFill>
              <a:ln w="22225">
                <a:solidFill>
                  <a:schemeClr val="tx1"/>
                </a:solidFill>
              </a:ln>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7F7A748-05C6-45B6-983A-5A33EA29D4EE}"/>
                  </a:ext>
                </a:extLst>
              </p:cNvPr>
              <p:cNvSpPr txBox="1"/>
              <p:nvPr/>
            </p:nvSpPr>
            <p:spPr>
              <a:xfrm>
                <a:off x="8889812" y="5807326"/>
                <a:ext cx="985708" cy="668516"/>
              </a:xfrm>
              <a:prstGeom prst="rect">
                <a:avLst/>
              </a:prstGeom>
              <a:noFill/>
              <a:ln w="22225">
                <a:solidFill>
                  <a:schemeClr val="tx1"/>
                </a:solidFill>
              </a:ln>
            </p:spPr>
            <p:txBody>
              <a:bodyPr wrap="square" rtlCol="0">
                <a:spAutoFit/>
              </a:bodyPr>
              <a:lstStyle/>
              <a:p>
                <a:pPr lvl="0" defTabSz="457200">
                  <a:defRPr/>
                </a:pPr>
                <a14:m>
                  <m:oMathPara xmlns:m="http://schemas.openxmlformats.org/officeDocument/2006/math">
                    <m:oMathParaPr>
                      <m:jc m:val="centerGroup"/>
                    </m:oMathParaPr>
                    <m:oMath xmlns:m="http://schemas.openxmlformats.org/officeDocument/2006/math">
                      <m:r>
                        <a:rPr lang="en-CA" sz="200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𝛾</m:t>
                      </m:r>
                      <m:r>
                        <a:rPr lang="en-CA" sz="200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CA" sz="2000" b="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3</m:t>
                          </m:r>
                        </m:num>
                        <m:den>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2</m:t>
                          </m:r>
                        </m:den>
                      </m:f>
                    </m:oMath>
                  </m:oMathPara>
                </a14:m>
                <a:endParaRPr kumimoji="0" lang="en-CA" sz="2000" b="0" i="0" u="none" strike="noStrike" kern="1200" cap="none" spc="0" normalizeH="0" baseline="0" noProof="0" dirty="0">
                  <a:ln>
                    <a:noFill/>
                  </a:ln>
                  <a:solidFill>
                    <a:prstClr val="white"/>
                  </a:solidFill>
                  <a:effectLst/>
                  <a:uLnTx/>
                  <a:uFillTx/>
                  <a:latin typeface="Calibri" panose="020F0502020204030204"/>
                </a:endParaRPr>
              </a:p>
            </p:txBody>
          </p:sp>
        </mc:Choice>
        <mc:Fallback>
          <p:sp>
            <p:nvSpPr>
              <p:cNvPr id="3" name="TextBox 2">
                <a:extLst>
                  <a:ext uri="{FF2B5EF4-FFF2-40B4-BE49-F238E27FC236}">
                    <a16:creationId xmlns:a16="http://schemas.microsoft.com/office/drawing/2014/main" id="{F7F7A748-05C6-45B6-983A-5A33EA29D4EE}"/>
                  </a:ext>
                </a:extLst>
              </p:cNvPr>
              <p:cNvSpPr txBox="1">
                <a:spLocks noRot="1" noChangeAspect="1" noMove="1" noResize="1" noEditPoints="1" noAdjustHandles="1" noChangeArrowheads="1" noChangeShapeType="1" noTextEdit="1"/>
              </p:cNvSpPr>
              <p:nvPr/>
            </p:nvSpPr>
            <p:spPr>
              <a:xfrm>
                <a:off x="8889812" y="5807326"/>
                <a:ext cx="985708" cy="668516"/>
              </a:xfrm>
              <a:prstGeom prst="rect">
                <a:avLst/>
              </a:prstGeom>
              <a:blipFill>
                <a:blip r:embed="rId5"/>
                <a:stretch>
                  <a:fillRect/>
                </a:stretch>
              </a:blipFill>
              <a:ln w="22225">
                <a:solidFill>
                  <a:schemeClr val="tx1"/>
                </a:solidFill>
              </a:ln>
            </p:spPr>
            <p:txBody>
              <a:bodyPr/>
              <a:lstStyle/>
              <a:p>
                <a:r>
                  <a:rPr lang="en-CA">
                    <a:noFill/>
                  </a:rPr>
                  <a:t> </a:t>
                </a:r>
              </a:p>
            </p:txBody>
          </p:sp>
        </mc:Fallback>
      </mc:AlternateContent>
      <p:sp>
        <p:nvSpPr>
          <p:cNvPr id="31" name="Footer Placeholder 1">
            <a:extLst>
              <a:ext uri="{FF2B5EF4-FFF2-40B4-BE49-F238E27FC236}">
                <a16:creationId xmlns:a16="http://schemas.microsoft.com/office/drawing/2014/main" id="{211D9769-3691-4D9B-A598-A08C5CA0BD06}"/>
              </a:ext>
            </a:extLst>
          </p:cNvPr>
          <p:cNvSpPr txBox="1">
            <a:spLocks/>
          </p:cNvSpPr>
          <p:nvPr/>
        </p:nvSpPr>
        <p:spPr>
          <a:xfrm>
            <a:off x="2182170" y="6413063"/>
            <a:ext cx="7827659" cy="377825"/>
          </a:xfrm>
          <a:prstGeom prst="rect">
            <a:avLst/>
          </a:prstGeom>
        </p:spPr>
        <p:txBody>
          <a:bodyPr vert="horz" lIns="91440" tIns="45720" rIns="91440" bIns="45720" rtlCol="0" anchor="ctr"/>
          <a:lstStyle>
            <a:defPPr>
              <a:defRPr lang="en-US"/>
            </a:defPPr>
            <a:lvl1pPr marL="0" algn="l"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latin typeface="Arial" panose="020B0604020202020204" pitchFamily="34" charset="0"/>
                <a:cs typeface="Arial" panose="020B0604020202020204" pitchFamily="34" charset="0"/>
              </a:rPr>
              <a:t>Canadian Undergraduate Physics Conference</a:t>
            </a:r>
          </a:p>
        </p:txBody>
      </p:sp>
      <p:sp>
        <p:nvSpPr>
          <p:cNvPr id="32" name="Slide Number Placeholder 2">
            <a:extLst>
              <a:ext uri="{FF2B5EF4-FFF2-40B4-BE49-F238E27FC236}">
                <a16:creationId xmlns:a16="http://schemas.microsoft.com/office/drawing/2014/main" id="{7E4E284F-455A-404D-AF8B-D0752A30DE7B}"/>
              </a:ext>
            </a:extLst>
          </p:cNvPr>
          <p:cNvSpPr txBox="1">
            <a:spLocks/>
          </p:cNvSpPr>
          <p:nvPr/>
        </p:nvSpPr>
        <p:spPr>
          <a:xfrm>
            <a:off x="10284775" y="6413063"/>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57F1E4F-1CFF-5643-939E-217C01CDF565}" type="slidenum">
              <a:rPr lang="en-US" smtClean="0">
                <a:latin typeface="Arial" panose="020B0604020202020204" pitchFamily="34" charset="0"/>
                <a:cs typeface="Arial" panose="020B0604020202020204" pitchFamily="34" charset="0"/>
              </a:rPr>
              <a:pPr algn="ctr"/>
              <a:t>6</a:t>
            </a:fld>
            <a:endParaRPr lang="en-US" dirty="0">
              <a:latin typeface="Arial" panose="020B0604020202020204" pitchFamily="34" charset="0"/>
              <a:cs typeface="Arial" panose="020B0604020202020204" pitchFamily="34" charset="0"/>
            </a:endParaRPr>
          </a:p>
        </p:txBody>
      </p:sp>
      <p:sp>
        <p:nvSpPr>
          <p:cNvPr id="33" name="Date Placeholder 5">
            <a:extLst>
              <a:ext uri="{FF2B5EF4-FFF2-40B4-BE49-F238E27FC236}">
                <a16:creationId xmlns:a16="http://schemas.microsoft.com/office/drawing/2014/main" id="{FDD1B80F-936F-4B2F-BF3F-D11FCFD1038E}"/>
              </a:ext>
            </a:extLst>
          </p:cNvPr>
          <p:cNvSpPr txBox="1">
            <a:spLocks/>
          </p:cNvSpPr>
          <p:nvPr/>
        </p:nvSpPr>
        <p:spPr>
          <a:xfrm>
            <a:off x="831541" y="6413063"/>
            <a:ext cx="1600200"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1A6D2-BD25-476B-8695-9DF6C2E37C50}" type="datetime1">
              <a:rPr lang="en-US" smtClean="0">
                <a:latin typeface="Arial" panose="020B0604020202020204" pitchFamily="34" charset="0"/>
                <a:cs typeface="Arial" panose="020B0604020202020204" pitchFamily="34" charset="0"/>
              </a:rPr>
              <a:pPr algn="ctr"/>
              <a:t>10/26/2019</a:t>
            </a:fld>
            <a:endParaRPr lang="en-US" dirty="0">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B6A83CDB-C8C3-4022-92FF-B5A6C7ADA70E}"/>
              </a:ext>
            </a:extLst>
          </p:cNvPr>
          <p:cNvGrpSpPr/>
          <p:nvPr/>
        </p:nvGrpSpPr>
        <p:grpSpPr>
          <a:xfrm>
            <a:off x="-27806" y="-9503"/>
            <a:ext cx="12219806" cy="936000"/>
            <a:chOff x="-27806" y="-9503"/>
            <a:chExt cx="12219806" cy="1035870"/>
          </a:xfrm>
        </p:grpSpPr>
        <p:sp>
          <p:nvSpPr>
            <p:cNvPr id="29" name="Rectangle 28">
              <a:extLst>
                <a:ext uri="{FF2B5EF4-FFF2-40B4-BE49-F238E27FC236}">
                  <a16:creationId xmlns:a16="http://schemas.microsoft.com/office/drawing/2014/main" id="{48C1B2BC-6172-4CEA-ACEF-3349484A965E}"/>
                </a:ext>
              </a:extLst>
            </p:cNvPr>
            <p:cNvSpPr/>
            <p:nvPr/>
          </p:nvSpPr>
          <p:spPr>
            <a:xfrm>
              <a:off x="0" y="1"/>
              <a:ext cx="12192000" cy="10263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4" name="Picture 2" descr="Related image">
              <a:extLst>
                <a:ext uri="{FF2B5EF4-FFF2-40B4-BE49-F238E27FC236}">
                  <a16:creationId xmlns:a16="http://schemas.microsoft.com/office/drawing/2014/main" id="{5594F144-CF16-4390-882C-0FA7F8E1A17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357" t="33734" r="11492" b="33338"/>
            <a:stretch/>
          </p:blipFill>
          <p:spPr bwMode="auto">
            <a:xfrm>
              <a:off x="-27806" y="-9503"/>
              <a:ext cx="1567544" cy="620809"/>
            </a:xfrm>
            <a:prstGeom prst="rect">
              <a:avLst/>
            </a:prstGeom>
            <a:noFill/>
          </p:spPr>
        </p:pic>
      </p:grpSp>
      <p:sp>
        <p:nvSpPr>
          <p:cNvPr id="11" name="TextBox 10">
            <a:extLst>
              <a:ext uri="{FF2B5EF4-FFF2-40B4-BE49-F238E27FC236}">
                <a16:creationId xmlns:a16="http://schemas.microsoft.com/office/drawing/2014/main" id="{7C089779-E552-43A4-8E4B-3CBB027251F3}"/>
              </a:ext>
            </a:extLst>
          </p:cNvPr>
          <p:cNvSpPr txBox="1"/>
          <p:nvPr/>
        </p:nvSpPr>
        <p:spPr>
          <a:xfrm>
            <a:off x="1437380" y="-80149"/>
            <a:ext cx="9479716" cy="107721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32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Hydrostatic Equilibrium for the Relativistic and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32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Newtonian Thin Matter Shells</a:t>
            </a:r>
          </a:p>
        </p:txBody>
      </p:sp>
      <p:grpSp>
        <p:nvGrpSpPr>
          <p:cNvPr id="9" name="Group 8">
            <a:extLst>
              <a:ext uri="{FF2B5EF4-FFF2-40B4-BE49-F238E27FC236}">
                <a16:creationId xmlns:a16="http://schemas.microsoft.com/office/drawing/2014/main" id="{C67F95E8-1AB7-4FB7-8E5A-572A8B1847D9}"/>
              </a:ext>
            </a:extLst>
          </p:cNvPr>
          <p:cNvGrpSpPr/>
          <p:nvPr/>
        </p:nvGrpSpPr>
        <p:grpSpPr>
          <a:xfrm>
            <a:off x="6175004" y="1093445"/>
            <a:ext cx="5881040" cy="4236968"/>
            <a:chOff x="955588" y="1524628"/>
            <a:chExt cx="6022119" cy="4555438"/>
          </a:xfrm>
        </p:grpSpPr>
        <p:pic>
          <p:nvPicPr>
            <p:cNvPr id="6" name="Picture 5">
              <a:extLst>
                <a:ext uri="{FF2B5EF4-FFF2-40B4-BE49-F238E27FC236}">
                  <a16:creationId xmlns:a16="http://schemas.microsoft.com/office/drawing/2014/main" id="{B7ED8250-9DCF-45F3-B5FC-CDA5A9068993}"/>
                </a:ext>
              </a:extLst>
            </p:cNvPr>
            <p:cNvPicPr>
              <a:picLocks noChangeAspect="1"/>
            </p:cNvPicPr>
            <p:nvPr/>
          </p:nvPicPr>
          <p:blipFill rotWithShape="1">
            <a:blip r:embed="rId7">
              <a:extLst>
                <a:ext uri="{28A0092B-C50C-407E-A947-70E740481C1C}">
                  <a14:useLocalDpi xmlns:a14="http://schemas.microsoft.com/office/drawing/2010/main" val="0"/>
                </a:ext>
              </a:extLst>
            </a:blip>
            <a:srcRect l="2386" r="5606"/>
            <a:stretch/>
          </p:blipFill>
          <p:spPr>
            <a:xfrm>
              <a:off x="955588" y="1524628"/>
              <a:ext cx="6022119" cy="4555438"/>
            </a:xfrm>
            <a:prstGeom prst="rect">
              <a:avLst/>
            </a:prstGeom>
          </p:spPr>
        </p:pic>
        <mc:AlternateContent xmlns:mc="http://schemas.openxmlformats.org/markup-compatibility/2006" xmlns:a14="http://schemas.microsoft.com/office/drawing/2010/main">
          <mc:Choice Requires="a14">
            <p:sp>
              <p:nvSpPr>
                <p:cNvPr id="30" name="Rectangle 29">
                  <a:extLst>
                    <a:ext uri="{FF2B5EF4-FFF2-40B4-BE49-F238E27FC236}">
                      <a16:creationId xmlns:a16="http://schemas.microsoft.com/office/drawing/2014/main" id="{16566F02-EDE9-4E9E-A04C-4C8E47EA73AA}"/>
                    </a:ext>
                  </a:extLst>
                </p:cNvPr>
                <p:cNvSpPr/>
                <p:nvPr/>
              </p:nvSpPr>
              <p:spPr>
                <a:xfrm>
                  <a:off x="3868661" y="4610149"/>
                  <a:ext cx="1117370" cy="676660"/>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ctrlPr>
                          </m:fPr>
                          <m:num>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𝑑𝑀</m:t>
                            </m:r>
                          </m:num>
                          <m:den>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𝑑</m:t>
                            </m:r>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m:t>𝜎</m:t>
                            </m:r>
                          </m:den>
                        </m:f>
                        <m:r>
                          <a:rPr kumimoji="0" lang="en-CA" sz="2000" b="0" i="1" u="none" strike="noStrike" kern="1200" cap="none" spc="0" normalizeH="0" baseline="0" noProof="0">
                            <a:ln>
                              <a:noFill/>
                            </a:ln>
                            <a:solidFill>
                              <a:prstClr val="black"/>
                            </a:solidFill>
                            <a:effectLst/>
                            <a:uLnTx/>
                            <a:uFillTx/>
                            <a:latin typeface="Cambria Math" panose="02040503050406030204" pitchFamily="18" charset="0"/>
                            <a:ea typeface="+mn-ea"/>
                            <a:cs typeface="Arial" panose="020B0604020202020204" pitchFamily="34" charset="0"/>
                          </a:rPr>
                          <m:t>=0</m:t>
                        </m:r>
                      </m:oMath>
                    </m:oMathPara>
                  </a14:m>
                  <a:endPar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mc:Choice>
          <mc:Fallback xmlns="">
            <p:sp>
              <p:nvSpPr>
                <p:cNvPr id="30" name="Rectangle 29">
                  <a:extLst>
                    <a:ext uri="{FF2B5EF4-FFF2-40B4-BE49-F238E27FC236}">
                      <a16:creationId xmlns:a16="http://schemas.microsoft.com/office/drawing/2014/main" id="{16566F02-EDE9-4E9E-A04C-4C8E47EA73AA}"/>
                    </a:ext>
                  </a:extLst>
                </p:cNvPr>
                <p:cNvSpPr>
                  <a:spLocks noRot="1" noChangeAspect="1" noMove="1" noResize="1" noEditPoints="1" noAdjustHandles="1" noChangeArrowheads="1" noChangeShapeType="1" noTextEdit="1"/>
                </p:cNvSpPr>
                <p:nvPr/>
              </p:nvSpPr>
              <p:spPr>
                <a:xfrm>
                  <a:off x="3868661" y="4610149"/>
                  <a:ext cx="1117370" cy="676660"/>
                </a:xfrm>
                <a:prstGeom prst="rect">
                  <a:avLst/>
                </a:prstGeom>
                <a:blipFill>
                  <a:blip r:embed="rId8"/>
                  <a:stretch>
                    <a:fillRect/>
                  </a:stretch>
                </a:blipFill>
              </p:spPr>
              <p:txBody>
                <a:bodyPr/>
                <a:lstStyle/>
                <a:p>
                  <a:r>
                    <a:rPr lang="en-CA">
                      <a:noFill/>
                    </a:rPr>
                    <a:t> </a:t>
                  </a:r>
                </a:p>
              </p:txBody>
            </p:sp>
          </mc:Fallback>
        </mc:AlternateContent>
        <p:cxnSp>
          <p:nvCxnSpPr>
            <p:cNvPr id="35" name="Straight Arrow Connector 34">
              <a:extLst>
                <a:ext uri="{FF2B5EF4-FFF2-40B4-BE49-F238E27FC236}">
                  <a16:creationId xmlns:a16="http://schemas.microsoft.com/office/drawing/2014/main" id="{B74069BF-C844-4F41-BDFB-56F05CE06B0F}"/>
                </a:ext>
              </a:extLst>
            </p:cNvPr>
            <p:cNvCxnSpPr>
              <a:cxnSpLocks/>
            </p:cNvCxnSpPr>
            <p:nvPr/>
          </p:nvCxnSpPr>
          <p:spPr>
            <a:xfrm flipH="1" flipV="1">
              <a:off x="3735521" y="4101319"/>
              <a:ext cx="231126" cy="50883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grpSp>
        <p:nvGrpSpPr>
          <p:cNvPr id="23" name="Group 22">
            <a:extLst>
              <a:ext uri="{FF2B5EF4-FFF2-40B4-BE49-F238E27FC236}">
                <a16:creationId xmlns:a16="http://schemas.microsoft.com/office/drawing/2014/main" id="{CAC6770E-33AF-469A-8AB6-5BACB4C8EF99}"/>
              </a:ext>
            </a:extLst>
          </p:cNvPr>
          <p:cNvGrpSpPr/>
          <p:nvPr/>
        </p:nvGrpSpPr>
        <p:grpSpPr>
          <a:xfrm>
            <a:off x="115546" y="1089607"/>
            <a:ext cx="5881040" cy="4240806"/>
            <a:chOff x="4714669" y="1155557"/>
            <a:chExt cx="5881040" cy="4240806"/>
          </a:xfrm>
        </p:grpSpPr>
        <p:pic>
          <p:nvPicPr>
            <p:cNvPr id="13" name="Picture 12">
              <a:extLst>
                <a:ext uri="{FF2B5EF4-FFF2-40B4-BE49-F238E27FC236}">
                  <a16:creationId xmlns:a16="http://schemas.microsoft.com/office/drawing/2014/main" id="{292380AC-1FD6-4D95-A29A-943227A7856B}"/>
                </a:ext>
              </a:extLst>
            </p:cNvPr>
            <p:cNvPicPr>
              <a:picLocks noChangeAspect="1"/>
            </p:cNvPicPr>
            <p:nvPr/>
          </p:nvPicPr>
          <p:blipFill rotWithShape="1">
            <a:blip r:embed="rId9">
              <a:extLst>
                <a:ext uri="{28A0092B-C50C-407E-A947-70E740481C1C}">
                  <a14:useLocalDpi xmlns:a14="http://schemas.microsoft.com/office/drawing/2010/main" val="0"/>
                </a:ext>
              </a:extLst>
            </a:blip>
            <a:srcRect l="4024" r="5195"/>
            <a:stretch/>
          </p:blipFill>
          <p:spPr>
            <a:xfrm>
              <a:off x="4714669" y="1155557"/>
              <a:ext cx="5881040" cy="4240806"/>
            </a:xfrm>
            <a:prstGeom prst="rect">
              <a:avLst/>
            </a:prstGeom>
          </p:spPr>
        </p:pic>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69B14044-FB34-4035-BF11-C1ABFEAF574D}"/>
                    </a:ext>
                  </a:extLst>
                </p:cNvPr>
                <p:cNvSpPr/>
                <p:nvPr/>
              </p:nvSpPr>
              <p:spPr>
                <a:xfrm>
                  <a:off x="8461149" y="3860870"/>
                  <a:ext cx="1117370" cy="676660"/>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
                          <m:fPr>
                            <m:ctrlP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ctrlPr>
                          </m:fPr>
                          <m:num>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𝑑𝑀</m:t>
                            </m:r>
                          </m:num>
                          <m:den>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mn-ea"/>
                                <a:cs typeface="Arial" panose="020B0604020202020204" pitchFamily="34" charset="0"/>
                              </a:rPr>
                              <m:t>𝑑</m:t>
                            </m:r>
                            <m:r>
                              <a:rPr kumimoji="0" lang="en-CA"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Arial" panose="020B0604020202020204" pitchFamily="34" charset="0"/>
                              </a:rPr>
                              <m:t>𝜎</m:t>
                            </m:r>
                          </m:den>
                        </m:f>
                        <m:r>
                          <a:rPr kumimoji="0" lang="en-CA" sz="2000" b="0" i="1" u="none" strike="noStrike" kern="1200" cap="none" spc="0" normalizeH="0" baseline="0" noProof="0">
                            <a:ln>
                              <a:noFill/>
                            </a:ln>
                            <a:solidFill>
                              <a:prstClr val="black"/>
                            </a:solidFill>
                            <a:effectLst/>
                            <a:uLnTx/>
                            <a:uFillTx/>
                            <a:latin typeface="Cambria Math" panose="02040503050406030204" pitchFamily="18" charset="0"/>
                            <a:ea typeface="+mn-ea"/>
                            <a:cs typeface="Arial" panose="020B0604020202020204" pitchFamily="34" charset="0"/>
                          </a:rPr>
                          <m:t>=0</m:t>
                        </m:r>
                      </m:oMath>
                    </m:oMathPara>
                  </a14:m>
                  <a:endPar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mc:Choice>
          <mc:Fallback xmlns="">
            <p:sp>
              <p:nvSpPr>
                <p:cNvPr id="36" name="Rectangle 35">
                  <a:extLst>
                    <a:ext uri="{FF2B5EF4-FFF2-40B4-BE49-F238E27FC236}">
                      <a16:creationId xmlns:a16="http://schemas.microsoft.com/office/drawing/2014/main" id="{69B14044-FB34-4035-BF11-C1ABFEAF574D}"/>
                    </a:ext>
                  </a:extLst>
                </p:cNvPr>
                <p:cNvSpPr>
                  <a:spLocks noRot="1" noChangeAspect="1" noMove="1" noResize="1" noEditPoints="1" noAdjustHandles="1" noChangeArrowheads="1" noChangeShapeType="1" noTextEdit="1"/>
                </p:cNvSpPr>
                <p:nvPr/>
              </p:nvSpPr>
              <p:spPr>
                <a:xfrm>
                  <a:off x="8461149" y="3860870"/>
                  <a:ext cx="1117370" cy="676660"/>
                </a:xfrm>
                <a:prstGeom prst="rect">
                  <a:avLst/>
                </a:prstGeom>
                <a:blipFill>
                  <a:blip r:embed="rId10"/>
                  <a:stretch>
                    <a:fillRect/>
                  </a:stretch>
                </a:blipFill>
              </p:spPr>
              <p:txBody>
                <a:bodyPr/>
                <a:lstStyle/>
                <a:p>
                  <a:r>
                    <a:rPr lang="en-CA">
                      <a:noFill/>
                    </a:rPr>
                    <a:t> </a:t>
                  </a:r>
                </a:p>
              </p:txBody>
            </p:sp>
          </mc:Fallback>
        </mc:AlternateContent>
        <p:sp>
          <p:nvSpPr>
            <p:cNvPr id="37" name="TextBox 36">
              <a:extLst>
                <a:ext uri="{FF2B5EF4-FFF2-40B4-BE49-F238E27FC236}">
                  <a16:creationId xmlns:a16="http://schemas.microsoft.com/office/drawing/2014/main" id="{39895AA7-AF53-4269-B017-66EFA588457D}"/>
                </a:ext>
              </a:extLst>
            </p:cNvPr>
            <p:cNvSpPr txBox="1"/>
            <p:nvPr/>
          </p:nvSpPr>
          <p:spPr>
            <a:xfrm>
              <a:off x="6975126" y="3997755"/>
              <a:ext cx="1703695" cy="4001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Mass peaks,</a:t>
              </a:r>
            </a:p>
          </p:txBody>
        </p:sp>
        <p:cxnSp>
          <p:nvCxnSpPr>
            <p:cNvPr id="38" name="Straight Arrow Connector 37">
              <a:extLst>
                <a:ext uri="{FF2B5EF4-FFF2-40B4-BE49-F238E27FC236}">
                  <a16:creationId xmlns:a16="http://schemas.microsoft.com/office/drawing/2014/main" id="{D17A45EA-F56A-4C1A-AF03-23DF3EB3F6BA}"/>
                </a:ext>
              </a:extLst>
            </p:cNvPr>
            <p:cNvCxnSpPr>
              <a:cxnSpLocks/>
            </p:cNvCxnSpPr>
            <p:nvPr/>
          </p:nvCxnSpPr>
          <p:spPr>
            <a:xfrm flipV="1">
              <a:off x="7724617" y="3398842"/>
              <a:ext cx="52153" cy="61016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40" name="Straight Arrow Connector 39">
              <a:extLst>
                <a:ext uri="{FF2B5EF4-FFF2-40B4-BE49-F238E27FC236}">
                  <a16:creationId xmlns:a16="http://schemas.microsoft.com/office/drawing/2014/main" id="{B0B94B76-0725-4090-8D99-A1AB00D9D77E}"/>
                </a:ext>
              </a:extLst>
            </p:cNvPr>
            <p:cNvCxnSpPr>
              <a:cxnSpLocks/>
            </p:cNvCxnSpPr>
            <p:nvPr/>
          </p:nvCxnSpPr>
          <p:spPr>
            <a:xfrm flipH="1" flipV="1">
              <a:off x="6276407" y="3275960"/>
              <a:ext cx="775188" cy="673064"/>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cxnSp>
          <p:nvCxnSpPr>
            <p:cNvPr id="43" name="Straight Arrow Connector 42">
              <a:extLst>
                <a:ext uri="{FF2B5EF4-FFF2-40B4-BE49-F238E27FC236}">
                  <a16:creationId xmlns:a16="http://schemas.microsoft.com/office/drawing/2014/main" id="{E56272E1-B763-431D-A92C-8F9D83D37BC5}"/>
                </a:ext>
              </a:extLst>
            </p:cNvPr>
            <p:cNvCxnSpPr>
              <a:cxnSpLocks/>
              <a:stCxn id="37" idx="1"/>
            </p:cNvCxnSpPr>
            <p:nvPr/>
          </p:nvCxnSpPr>
          <p:spPr>
            <a:xfrm flipH="1" flipV="1">
              <a:off x="5514792" y="3113430"/>
              <a:ext cx="1460334" cy="1084380"/>
            </a:xfrm>
            <a:prstGeom prst="straightConnector1">
              <a:avLst/>
            </a:prstGeom>
            <a:ln w="22225">
              <a:tailEnd type="triangle"/>
            </a:ln>
          </p:spPr>
          <p:style>
            <a:lnRef idx="1">
              <a:schemeClr val="dk1"/>
            </a:lnRef>
            <a:fillRef idx="0">
              <a:schemeClr val="dk1"/>
            </a:fillRef>
            <a:effectRef idx="0">
              <a:schemeClr val="dk1"/>
            </a:effectRef>
            <a:fontRef idx="minor">
              <a:schemeClr val="tx1"/>
            </a:fontRef>
          </p:style>
        </p:cxnSp>
      </p:grpSp>
    </p:spTree>
    <p:extLst>
      <p:ext uri="{BB962C8B-B14F-4D97-AF65-F5344CB8AC3E}">
        <p14:creationId xmlns:p14="http://schemas.microsoft.com/office/powerpoint/2010/main" val="3727847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graphicFrame>
            <p:nvGraphicFramePr>
              <p:cNvPr id="9" name="Table 8">
                <a:extLst>
                  <a:ext uri="{FF2B5EF4-FFF2-40B4-BE49-F238E27FC236}">
                    <a16:creationId xmlns:a16="http://schemas.microsoft.com/office/drawing/2014/main" id="{E5E62F26-C752-4673-A3C8-09C2B4EFB12D}"/>
                  </a:ext>
                </a:extLst>
              </p:cNvPr>
              <p:cNvGraphicFramePr>
                <a:graphicFrameLocks noGrp="1"/>
              </p:cNvGraphicFramePr>
              <p:nvPr>
                <p:extLst>
                  <p:ext uri="{D42A27DB-BD31-4B8C-83A1-F6EECF244321}">
                    <p14:modId xmlns:p14="http://schemas.microsoft.com/office/powerpoint/2010/main" val="2658393145"/>
                  </p:ext>
                </p:extLst>
              </p:nvPr>
            </p:nvGraphicFramePr>
            <p:xfrm>
              <a:off x="284494" y="2096989"/>
              <a:ext cx="10296144" cy="1107948"/>
            </p:xfrm>
            <a:graphic>
              <a:graphicData uri="http://schemas.openxmlformats.org/drawingml/2006/table">
                <a:tbl>
                  <a:tblPr firstRow="1" bandRow="1">
                    <a:tableStyleId>{5C22544A-7EE6-4342-B048-85BDC9FD1C3A}</a:tableStyleId>
                  </a:tblPr>
                  <a:tblGrid>
                    <a:gridCol w="2666577">
                      <a:extLst>
                        <a:ext uri="{9D8B030D-6E8A-4147-A177-3AD203B41FA5}">
                          <a16:colId xmlns:a16="http://schemas.microsoft.com/office/drawing/2014/main" val="3667205164"/>
                        </a:ext>
                      </a:extLst>
                    </a:gridCol>
                    <a:gridCol w="2322576">
                      <a:extLst>
                        <a:ext uri="{9D8B030D-6E8A-4147-A177-3AD203B41FA5}">
                          <a16:colId xmlns:a16="http://schemas.microsoft.com/office/drawing/2014/main" val="2691840928"/>
                        </a:ext>
                      </a:extLst>
                    </a:gridCol>
                    <a:gridCol w="5306991">
                      <a:extLst>
                        <a:ext uri="{9D8B030D-6E8A-4147-A177-3AD203B41FA5}">
                          <a16:colId xmlns:a16="http://schemas.microsoft.com/office/drawing/2014/main" val="323363471"/>
                        </a:ext>
                      </a:extLst>
                    </a:gridCol>
                  </a:tblGrid>
                  <a:tr h="370840">
                    <a:tc>
                      <a:txBody>
                        <a:bodyPr/>
                        <a:lstStyle/>
                        <a:p>
                          <a:endParaRPr lang="en-CA" dirty="0"/>
                        </a:p>
                      </a:txBody>
                      <a:tcPr/>
                    </a:tc>
                    <a:tc>
                      <a:txBody>
                        <a:bodyPr/>
                        <a:lstStyle/>
                        <a:p>
                          <a:pPr algn="ctr"/>
                          <a:r>
                            <a:rPr lang="en-CA" sz="2000" dirty="0">
                              <a:solidFill>
                                <a:schemeClr val="tx1"/>
                              </a:solidFill>
                              <a:latin typeface="Arial" panose="020B0604020202020204" pitchFamily="34" charset="0"/>
                              <a:cs typeface="Arial" panose="020B0604020202020204" pitchFamily="34" charset="0"/>
                            </a:rPr>
                            <a:t>Newtonian Shell</a:t>
                          </a:r>
                        </a:p>
                      </a:txBody>
                      <a:tcPr/>
                    </a:tc>
                    <a:tc>
                      <a:txBody>
                        <a:bodyPr/>
                        <a:lstStyle/>
                        <a:p>
                          <a:pPr algn="ctr"/>
                          <a:r>
                            <a:rPr lang="en-CA" sz="2000" dirty="0">
                              <a:latin typeface="Arial" panose="020B0604020202020204" pitchFamily="34" charset="0"/>
                              <a:cs typeface="Arial" panose="020B0604020202020204" pitchFamily="34" charset="0"/>
                            </a:rPr>
                            <a:t>Relativistic Shell</a:t>
                          </a:r>
                        </a:p>
                      </a:txBody>
                      <a:tcPr/>
                    </a:tc>
                    <a:extLst>
                      <a:ext uri="{0D108BD9-81ED-4DB2-BD59-A6C34878D82A}">
                        <a16:rowId xmlns:a16="http://schemas.microsoft.com/office/drawing/2014/main" val="1303989864"/>
                      </a:ext>
                    </a:extLst>
                  </a:tr>
                  <a:tr h="370840">
                    <a:tc>
                      <a:txBody>
                        <a:bodyPr/>
                        <a:lstStyle/>
                        <a:p>
                          <a:pPr algn="ctr"/>
                          <a:r>
                            <a:rPr lang="en-CA" sz="2000" dirty="0">
                              <a:solidFill>
                                <a:schemeClr val="bg1"/>
                              </a:solidFill>
                              <a:latin typeface="Arial" panose="020B0604020202020204" pitchFamily="34" charset="0"/>
                              <a:cs typeface="Arial" panose="020B0604020202020204" pitchFamily="34" charset="0"/>
                            </a:rPr>
                            <a:t>Harmonic Oscillator Frequency</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CA" sz="2000" i="1" smtClean="0">
                                  <a:latin typeface="Cambria Math" panose="02040503050406030204" pitchFamily="18" charset="0"/>
                                  <a:ea typeface="Cambria Math" panose="02040503050406030204" pitchFamily="18" charset="0"/>
                                  <a:cs typeface="Times New Roman" panose="02020603050405020304" pitchFamily="18" charset="0"/>
                                </a:rPr>
                                <m:t>𝜔</m:t>
                              </m:r>
                              <m:r>
                                <a:rPr lang="en-CA" sz="2000" i="1" smtClean="0">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n-CA" sz="2000" i="1">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en-CA" sz="2000" i="1">
                                          <a:latin typeface="Cambria Math" panose="02040503050406030204" pitchFamily="18" charset="0"/>
                                          <a:ea typeface="Cambria Math" panose="02040503050406030204" pitchFamily="18" charset="0"/>
                                          <a:cs typeface="Times New Roman" panose="02020603050405020304" pitchFamily="18" charset="0"/>
                                        </a:rPr>
                                      </m:ctrlPr>
                                    </m:fPr>
                                    <m:num>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𝐺</m:t>
                                      </m:r>
                                      <m:sSub>
                                        <m:sSubPr>
                                          <m:ctrlPr>
                                            <a:rPr lang="en-CA" sz="2000" b="0" i="1" smtClean="0">
                                              <a:latin typeface="Cambria Math" panose="02040503050406030204" pitchFamily="18" charset="0"/>
                                              <a:ea typeface="Cambria Math" panose="02040503050406030204" pitchFamily="18" charset="0"/>
                                              <a:cs typeface="Times New Roman" panose="02020603050405020304" pitchFamily="18" charset="0"/>
                                            </a:rPr>
                                          </m:ctrlPr>
                                        </m:sSubPr>
                                        <m:e>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𝑀</m:t>
                                          </m:r>
                                        </m:e>
                                        <m:sub>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𝑜</m:t>
                                          </m:r>
                                        </m:sub>
                                      </m:sSub>
                                    </m:num>
                                    <m:den>
                                      <m:sSubSup>
                                        <m:sSubSupPr>
                                          <m:ctrlPr>
                                            <a:rPr lang="en-CA" sz="2000" b="0" i="1"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CA" sz="2000" i="1">
                                              <a:latin typeface="Cambria Math" panose="02040503050406030204" pitchFamily="18" charset="0"/>
                                              <a:ea typeface="Cambria Math" panose="02040503050406030204" pitchFamily="18" charset="0"/>
                                              <a:cs typeface="Times New Roman" panose="02020603050405020304" pitchFamily="18" charset="0"/>
                                            </a:rPr>
                                            <m:t>𝑅</m:t>
                                          </m:r>
                                        </m:e>
                                        <m:sub>
                                          <m:r>
                                            <a:rPr lang="en-CA" sz="2000" i="1">
                                              <a:latin typeface="Cambria Math" panose="02040503050406030204" pitchFamily="18" charset="0"/>
                                              <a:ea typeface="Cambria Math" panose="02040503050406030204" pitchFamily="18" charset="0"/>
                                              <a:cs typeface="Times New Roman" panose="02020603050405020304" pitchFamily="18" charset="0"/>
                                            </a:rPr>
                                            <m:t>𝑜</m:t>
                                          </m:r>
                                        </m:sub>
                                        <m:sup>
                                          <m:r>
                                            <a:rPr lang="en-CA" sz="2000" b="0" i="1" smtClean="0">
                                              <a:latin typeface="Cambria Math" panose="02040503050406030204" pitchFamily="18" charset="0"/>
                                              <a:ea typeface="Cambria Math" panose="02040503050406030204" pitchFamily="18" charset="0"/>
                                              <a:cs typeface="Times New Roman" panose="02020603050405020304" pitchFamily="18" charset="0"/>
                                            </a:rPr>
                                            <m:t>3</m:t>
                                          </m:r>
                                        </m:sup>
                                      </m:sSubSup>
                                    </m:den>
                                  </m:f>
                                  <m:d>
                                    <m:dPr>
                                      <m:ctrlPr>
                                        <a:rPr lang="en-CA" sz="2000" i="1">
                                          <a:latin typeface="Cambria Math" panose="02040503050406030204" pitchFamily="18" charset="0"/>
                                          <a:ea typeface="Cambria Math" panose="02040503050406030204" pitchFamily="18" charset="0"/>
                                          <a:cs typeface="Times New Roman" panose="02020603050405020304" pitchFamily="18" charset="0"/>
                                        </a:rPr>
                                      </m:ctrlPr>
                                    </m:dPr>
                                    <m:e>
                                      <m:r>
                                        <a:rPr lang="en-CA" sz="2000" i="1">
                                          <a:latin typeface="Cambria Math" panose="02040503050406030204" pitchFamily="18" charset="0"/>
                                          <a:ea typeface="Cambria Math" panose="02040503050406030204" pitchFamily="18" charset="0"/>
                                          <a:cs typeface="Times New Roman" panose="02020603050405020304" pitchFamily="18" charset="0"/>
                                        </a:rPr>
                                        <m:t>𝛾</m:t>
                                      </m:r>
                                      <m:r>
                                        <a:rPr lang="en-CA" sz="2000" i="1">
                                          <a:latin typeface="Cambria Math" panose="02040503050406030204" pitchFamily="18" charset="0"/>
                                          <a:ea typeface="Cambria Math" panose="02040503050406030204" pitchFamily="18" charset="0"/>
                                          <a:cs typeface="Times New Roman" panose="02020603050405020304" pitchFamily="18" charset="0"/>
                                        </a:rPr>
                                        <m:t>−</m:t>
                                      </m:r>
                                      <m:f>
                                        <m:fPr>
                                          <m:ctrlPr>
                                            <a:rPr lang="en-CA" sz="2000" i="1">
                                              <a:latin typeface="Cambria Math" panose="02040503050406030204" pitchFamily="18" charset="0"/>
                                              <a:ea typeface="Cambria Math" panose="02040503050406030204" pitchFamily="18" charset="0"/>
                                              <a:cs typeface="Times New Roman" panose="02020603050405020304" pitchFamily="18" charset="0"/>
                                            </a:rPr>
                                          </m:ctrlPr>
                                        </m:fPr>
                                        <m:num>
                                          <m:r>
                                            <a:rPr lang="en-CA" sz="2000" i="1">
                                              <a:latin typeface="Cambria Math" panose="02040503050406030204" pitchFamily="18" charset="0"/>
                                              <a:ea typeface="Cambria Math" panose="02040503050406030204" pitchFamily="18" charset="0"/>
                                              <a:cs typeface="Times New Roman" panose="02020603050405020304" pitchFamily="18" charset="0"/>
                                            </a:rPr>
                                            <m:t>3</m:t>
                                          </m:r>
                                        </m:num>
                                        <m:den>
                                          <m:r>
                                            <a:rPr lang="en-CA" sz="2000" i="1">
                                              <a:latin typeface="Cambria Math" panose="02040503050406030204" pitchFamily="18" charset="0"/>
                                              <a:ea typeface="Cambria Math" panose="02040503050406030204" pitchFamily="18" charset="0"/>
                                              <a:cs typeface="Times New Roman" panose="02020603050405020304" pitchFamily="18" charset="0"/>
                                            </a:rPr>
                                            <m:t>2</m:t>
                                          </m:r>
                                        </m:den>
                                      </m:f>
                                    </m:e>
                                  </m:d>
                                </m:e>
                              </m:rad>
                            </m:oMath>
                          </a14:m>
                          <a:r>
                            <a:rPr lang="en-CA" sz="2000" dirty="0">
                              <a:latin typeface="Arial" panose="020B0604020202020204" pitchFamily="34" charset="0"/>
                              <a:ea typeface="Cambria Math" panose="02040503050406030204" pitchFamily="18" charset="0"/>
                              <a:cs typeface="Arial" panose="020B0604020202020204" pitchFamily="34" charset="0"/>
                            </a:rPr>
                            <a:t> </a:t>
                          </a:r>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CA" sz="2000" i="1" smtClean="0">
                                  <a:latin typeface="Cambria Math" panose="02040503050406030204" pitchFamily="18" charset="0"/>
                                  <a:ea typeface="Cambria Math" panose="02040503050406030204" pitchFamily="18" charset="0"/>
                                  <a:cs typeface="Times New Roman" panose="02020603050405020304" pitchFamily="18" charset="0"/>
                                </a:rPr>
                                <m:t>𝜔</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m:t>
                              </m:r>
                              <m:rad>
                                <m:radPr>
                                  <m:degHide m:val="on"/>
                                  <m:ctrlPr>
                                    <a:rPr lang="en-CA" sz="2000" b="0" i="1" smtClean="0">
                                      <a:latin typeface="Cambria Math" panose="02040503050406030204" pitchFamily="18" charset="0"/>
                                      <a:ea typeface="Cambria Math" panose="02040503050406030204" pitchFamily="18" charset="0"/>
                                      <a:cs typeface="Times New Roman" panose="02020603050405020304" pitchFamily="18" charset="0"/>
                                    </a:rPr>
                                  </m:ctrlPr>
                                </m:radPr>
                                <m:deg/>
                                <m:e>
                                  <m:f>
                                    <m:fPr>
                                      <m:ctrlPr>
                                        <a:rPr lang="en-CA" sz="2000" b="0" i="1" smtClean="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CA" sz="20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𝐶</m:t>
                                          </m:r>
                                        </m:e>
                                        <m:sup>
                                          <m:r>
                                            <a:rPr lang="en-CA" sz="2000" b="0" i="1" smtClean="0">
                                              <a:latin typeface="Cambria Math" panose="02040503050406030204" pitchFamily="18" charset="0"/>
                                              <a:ea typeface="Cambria Math" panose="02040503050406030204" pitchFamily="18" charset="0"/>
                                              <a:cs typeface="Times New Roman" panose="02020603050405020304" pitchFamily="18" charset="0"/>
                                            </a:rPr>
                                            <m:t>3</m:t>
                                          </m:r>
                                        </m:sup>
                                      </m:sSup>
                                    </m:num>
                                    <m:den>
                                      <m:r>
                                        <a:rPr lang="en-CA" sz="2000" b="0" i="1" smtClean="0">
                                          <a:latin typeface="Cambria Math" panose="02040503050406030204" pitchFamily="18" charset="0"/>
                                          <a:ea typeface="Cambria Math" panose="02040503050406030204" pitchFamily="18" charset="0"/>
                                          <a:cs typeface="Times New Roman" panose="02020603050405020304" pitchFamily="18" charset="0"/>
                                        </a:rPr>
                                        <m:t>4</m:t>
                                      </m:r>
                                      <m:sSubSup>
                                        <m:sSubSupPr>
                                          <m:ctrlPr>
                                            <a:rPr lang="en-CA" sz="2000" b="0" i="1" smtClean="0">
                                              <a:latin typeface="Cambria Math" panose="02040503050406030204" pitchFamily="18" charset="0"/>
                                              <a:ea typeface="Cambria Math" panose="02040503050406030204" pitchFamily="18" charset="0"/>
                                              <a:cs typeface="Times New Roman" panose="02020603050405020304" pitchFamily="18" charset="0"/>
                                            </a:rPr>
                                          </m:ctrlPr>
                                        </m:sSubSupPr>
                                        <m:e>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𝑚</m:t>
                                          </m:r>
                                        </m:e>
                                        <m:sub>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𝑜</m:t>
                                          </m:r>
                                        </m:sub>
                                        <m:sup>
                                          <m:r>
                                            <a:rPr lang="en-CA" sz="2000" b="0" i="1" smtClean="0">
                                              <a:latin typeface="Cambria Math" panose="02040503050406030204" pitchFamily="18" charset="0"/>
                                              <a:ea typeface="Cambria Math" panose="02040503050406030204" pitchFamily="18" charset="0"/>
                                              <a:cs typeface="Times New Roman" panose="02020603050405020304" pitchFamily="18" charset="0"/>
                                            </a:rPr>
                                            <m:t>2</m:t>
                                          </m:r>
                                        </m:sup>
                                      </m:sSubSup>
                                      <m:sSup>
                                        <m:sSupPr>
                                          <m:ctrlPr>
                                            <a:rPr lang="en-CA" sz="2000" b="0" i="1" smtClean="0">
                                              <a:latin typeface="Cambria Math" panose="02040503050406030204" pitchFamily="18" charset="0"/>
                                              <a:ea typeface="Cambria Math" panose="02040503050406030204" pitchFamily="18" charset="0"/>
                                              <a:cs typeface="Times New Roman" panose="02020603050405020304" pitchFamily="18" charset="0"/>
                                            </a:rPr>
                                          </m:ctrlPr>
                                        </m:sSupPr>
                                        <m:e>
                                          <m:d>
                                            <m:dPr>
                                              <m:ctrlPr>
                                                <a:rPr lang="en-CA" sz="20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ea typeface="Cambria Math" panose="02040503050406030204" pitchFamily="18" charset="0"/>
                                                  <a:cs typeface="Times New Roman" panose="02020603050405020304" pitchFamily="18" charset="0"/>
                                                </a:rPr>
                                                <m:t>1−</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𝐶</m:t>
                                              </m:r>
                                            </m:e>
                                          </m:d>
                                        </m:e>
                                        <m:sup>
                                          <m:r>
                                            <a:rPr lang="en-CA" sz="2000" b="0" i="1" smtClean="0">
                                              <a:latin typeface="Cambria Math" panose="02040503050406030204" pitchFamily="18" charset="0"/>
                                              <a:ea typeface="Cambria Math" panose="02040503050406030204" pitchFamily="18" charset="0"/>
                                              <a:cs typeface="Times New Roman" panose="02020603050405020304" pitchFamily="18" charset="0"/>
                                            </a:rPr>
                                            <m:t>2</m:t>
                                          </m:r>
                                        </m:sup>
                                      </m:sSup>
                                    </m:den>
                                  </m:f>
                                  <m:d>
                                    <m:dPr>
                                      <m:ctrlPr>
                                        <a:rPr lang="en-CA" sz="2000" b="0" i="1" smtClean="0">
                                          <a:latin typeface="Cambria Math" panose="02040503050406030204" pitchFamily="18" charset="0"/>
                                          <a:ea typeface="Cambria Math" panose="02040503050406030204" pitchFamily="18" charset="0"/>
                                          <a:cs typeface="Times New Roman" panose="02020603050405020304" pitchFamily="18" charset="0"/>
                                        </a:rPr>
                                      </m:ctrlPr>
                                    </m:dPr>
                                    <m:e>
                                      <m:d>
                                        <m:dPr>
                                          <m:ctrlPr>
                                            <a:rPr lang="en-CA" sz="20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𝛾</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−3</m:t>
                                          </m:r>
                                        </m:e>
                                      </m:d>
                                      <m:d>
                                        <m:dPr>
                                          <m:ctrlPr>
                                            <a:rPr lang="en-CA" sz="20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𝐶</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−1</m:t>
                                          </m:r>
                                        </m:e>
                                      </m:d>
                                      <m:d>
                                        <m:dPr>
                                          <m:ctrlPr>
                                            <a:rPr lang="en-CA" sz="2000" b="0" i="1" smtClean="0">
                                              <a:latin typeface="Cambria Math" panose="02040503050406030204" pitchFamily="18" charset="0"/>
                                              <a:ea typeface="Cambria Math" panose="02040503050406030204" pitchFamily="18" charset="0"/>
                                              <a:cs typeface="Times New Roman" panose="02020603050405020304" pitchFamily="18" charset="0"/>
                                            </a:rPr>
                                          </m:ctrlPr>
                                        </m:dPr>
                                        <m:e>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𝐶</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CA" sz="2000" b="0" i="1" smtClean="0">
                                                  <a:latin typeface="Cambria Math" panose="02040503050406030204" pitchFamily="18" charset="0"/>
                                                  <a:ea typeface="Cambria Math" panose="02040503050406030204" pitchFamily="18" charset="0"/>
                                                  <a:cs typeface="Times New Roman" panose="02020603050405020304" pitchFamily="18" charset="0"/>
                                                </a:rPr>
                                              </m:ctrlPr>
                                            </m:fPr>
                                            <m:num>
                                              <m:r>
                                                <a:rPr lang="en-CA" sz="2000" b="0" i="1" smtClean="0">
                                                  <a:latin typeface="Cambria Math" panose="02040503050406030204" pitchFamily="18" charset="0"/>
                                                  <a:ea typeface="Cambria Math" panose="02040503050406030204" pitchFamily="18" charset="0"/>
                                                  <a:cs typeface="Times New Roman" panose="02020603050405020304" pitchFamily="18" charset="0"/>
                                                </a:rPr>
                                                <m:t>4</m:t>
                                              </m:r>
                                            </m:num>
                                            <m:den>
                                              <m:r>
                                                <a:rPr lang="en-CA" sz="2000" b="0" i="1" smtClean="0">
                                                  <a:latin typeface="Cambria Math" panose="02040503050406030204" pitchFamily="18" charset="0"/>
                                                  <a:ea typeface="Cambria Math" panose="02040503050406030204" pitchFamily="18" charset="0"/>
                                                  <a:cs typeface="Times New Roman" panose="02020603050405020304" pitchFamily="18" charset="0"/>
                                                </a:rPr>
                                                <m:t>3</m:t>
                                              </m:r>
                                            </m:den>
                                          </m:f>
                                        </m:e>
                                      </m:d>
                                      <m:r>
                                        <a:rPr lang="en-CA"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𝐶</m:t>
                                      </m:r>
                                    </m:e>
                                  </m:d>
                                </m:e>
                              </m:rad>
                            </m:oMath>
                          </a14:m>
                          <a:r>
                            <a:rPr lang="en-CA" sz="1800" dirty="0">
                              <a:latin typeface="Arial" panose="020B0604020202020204" pitchFamily="34" charset="0"/>
                              <a:ea typeface="Cambria Math" panose="02040503050406030204" pitchFamily="18" charset="0"/>
                              <a:cs typeface="Arial" panose="020B0604020202020204" pitchFamily="34" charset="0"/>
                            </a:rPr>
                            <a:t> </a:t>
                          </a:r>
                        </a:p>
                      </a:txBody>
                      <a:tcPr/>
                    </a:tc>
                    <a:extLst>
                      <a:ext uri="{0D108BD9-81ED-4DB2-BD59-A6C34878D82A}">
                        <a16:rowId xmlns:a16="http://schemas.microsoft.com/office/drawing/2014/main" val="2106707087"/>
                      </a:ext>
                    </a:extLst>
                  </a:tr>
                </a:tbl>
              </a:graphicData>
            </a:graphic>
          </p:graphicFrame>
        </mc:Choice>
        <mc:Fallback xmlns="">
          <p:graphicFrame>
            <p:nvGraphicFramePr>
              <p:cNvPr id="9" name="Table 8">
                <a:extLst>
                  <a:ext uri="{FF2B5EF4-FFF2-40B4-BE49-F238E27FC236}">
                    <a16:creationId xmlns:a16="http://schemas.microsoft.com/office/drawing/2014/main" id="{E5E62F26-C752-4673-A3C8-09C2B4EFB12D}"/>
                  </a:ext>
                </a:extLst>
              </p:cNvPr>
              <p:cNvGraphicFramePr>
                <a:graphicFrameLocks noGrp="1"/>
              </p:cNvGraphicFramePr>
              <p:nvPr>
                <p:extLst>
                  <p:ext uri="{D42A27DB-BD31-4B8C-83A1-F6EECF244321}">
                    <p14:modId xmlns:p14="http://schemas.microsoft.com/office/powerpoint/2010/main" val="2658393145"/>
                  </p:ext>
                </p:extLst>
              </p:nvPr>
            </p:nvGraphicFramePr>
            <p:xfrm>
              <a:off x="284494" y="2096989"/>
              <a:ext cx="10296144" cy="1107948"/>
            </p:xfrm>
            <a:graphic>
              <a:graphicData uri="http://schemas.openxmlformats.org/drawingml/2006/table">
                <a:tbl>
                  <a:tblPr firstRow="1" bandRow="1">
                    <a:tableStyleId>{5C22544A-7EE6-4342-B048-85BDC9FD1C3A}</a:tableStyleId>
                  </a:tblPr>
                  <a:tblGrid>
                    <a:gridCol w="2666577">
                      <a:extLst>
                        <a:ext uri="{9D8B030D-6E8A-4147-A177-3AD203B41FA5}">
                          <a16:colId xmlns:a16="http://schemas.microsoft.com/office/drawing/2014/main" val="3667205164"/>
                        </a:ext>
                      </a:extLst>
                    </a:gridCol>
                    <a:gridCol w="2322576">
                      <a:extLst>
                        <a:ext uri="{9D8B030D-6E8A-4147-A177-3AD203B41FA5}">
                          <a16:colId xmlns:a16="http://schemas.microsoft.com/office/drawing/2014/main" val="2691840928"/>
                        </a:ext>
                      </a:extLst>
                    </a:gridCol>
                    <a:gridCol w="5306991">
                      <a:extLst>
                        <a:ext uri="{9D8B030D-6E8A-4147-A177-3AD203B41FA5}">
                          <a16:colId xmlns:a16="http://schemas.microsoft.com/office/drawing/2014/main" val="323363471"/>
                        </a:ext>
                      </a:extLst>
                    </a:gridCol>
                  </a:tblGrid>
                  <a:tr h="396240">
                    <a:tc>
                      <a:txBody>
                        <a:bodyPr/>
                        <a:lstStyle/>
                        <a:p>
                          <a:endParaRPr lang="en-CA" dirty="0"/>
                        </a:p>
                      </a:txBody>
                      <a:tcPr/>
                    </a:tc>
                    <a:tc>
                      <a:txBody>
                        <a:bodyPr/>
                        <a:lstStyle/>
                        <a:p>
                          <a:pPr algn="ctr"/>
                          <a:r>
                            <a:rPr lang="en-CA" sz="2000" dirty="0">
                              <a:solidFill>
                                <a:schemeClr val="tx1"/>
                              </a:solidFill>
                              <a:latin typeface="Arial" panose="020B0604020202020204" pitchFamily="34" charset="0"/>
                              <a:cs typeface="Arial" panose="020B0604020202020204" pitchFamily="34" charset="0"/>
                            </a:rPr>
                            <a:t>Newtonian Shell</a:t>
                          </a:r>
                        </a:p>
                      </a:txBody>
                      <a:tcPr/>
                    </a:tc>
                    <a:tc>
                      <a:txBody>
                        <a:bodyPr/>
                        <a:lstStyle/>
                        <a:p>
                          <a:pPr algn="ctr"/>
                          <a:r>
                            <a:rPr lang="en-CA" sz="2000" dirty="0">
                              <a:latin typeface="Arial" panose="020B0604020202020204" pitchFamily="34" charset="0"/>
                              <a:cs typeface="Arial" panose="020B0604020202020204" pitchFamily="34" charset="0"/>
                            </a:rPr>
                            <a:t>Relativistic Shell</a:t>
                          </a:r>
                        </a:p>
                      </a:txBody>
                      <a:tcPr/>
                    </a:tc>
                    <a:extLst>
                      <a:ext uri="{0D108BD9-81ED-4DB2-BD59-A6C34878D82A}">
                        <a16:rowId xmlns:a16="http://schemas.microsoft.com/office/drawing/2014/main" val="1303989864"/>
                      </a:ext>
                    </a:extLst>
                  </a:tr>
                  <a:tr h="711708">
                    <a:tc>
                      <a:txBody>
                        <a:bodyPr/>
                        <a:lstStyle/>
                        <a:p>
                          <a:pPr algn="ctr"/>
                          <a:r>
                            <a:rPr lang="en-CA" sz="2000" dirty="0">
                              <a:solidFill>
                                <a:schemeClr val="bg1"/>
                              </a:solidFill>
                              <a:latin typeface="Arial" panose="020B0604020202020204" pitchFamily="34" charset="0"/>
                              <a:cs typeface="Arial" panose="020B0604020202020204" pitchFamily="34" charset="0"/>
                            </a:rPr>
                            <a:t>Harmonic Oscillator Frequency</a:t>
                          </a:r>
                        </a:p>
                      </a:txBody>
                      <a:tcPr/>
                    </a:tc>
                    <a:tc>
                      <a:txBody>
                        <a:bodyPr/>
                        <a:lstStyle/>
                        <a:p>
                          <a:endParaRPr lang="en-US"/>
                        </a:p>
                      </a:txBody>
                      <a:tcPr>
                        <a:blipFill>
                          <a:blip r:embed="rId2"/>
                          <a:stretch>
                            <a:fillRect l="-115223" t="-58475" r="-229659" b="-14407"/>
                          </a:stretch>
                        </a:blipFill>
                      </a:tcPr>
                    </a:tc>
                    <a:tc>
                      <a:txBody>
                        <a:bodyPr/>
                        <a:lstStyle/>
                        <a:p>
                          <a:endParaRPr lang="en-US"/>
                        </a:p>
                      </a:txBody>
                      <a:tcPr>
                        <a:blipFill>
                          <a:blip r:embed="rId2"/>
                          <a:stretch>
                            <a:fillRect l="-94145" t="-58475" r="-459" b="-14407"/>
                          </a:stretch>
                        </a:blipFill>
                      </a:tcPr>
                    </a:tc>
                    <a:extLst>
                      <a:ext uri="{0D108BD9-81ED-4DB2-BD59-A6C34878D82A}">
                        <a16:rowId xmlns:a16="http://schemas.microsoft.com/office/drawing/2014/main" val="2106707087"/>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0" name="Table 9">
                <a:extLst>
                  <a:ext uri="{FF2B5EF4-FFF2-40B4-BE49-F238E27FC236}">
                    <a16:creationId xmlns:a16="http://schemas.microsoft.com/office/drawing/2014/main" id="{915D5536-0C70-47D9-A39F-A278712F449A}"/>
                  </a:ext>
                </a:extLst>
              </p:cNvPr>
              <p:cNvGraphicFramePr>
                <a:graphicFrameLocks noGrp="1"/>
              </p:cNvGraphicFramePr>
              <p:nvPr>
                <p:extLst>
                  <p:ext uri="{D42A27DB-BD31-4B8C-83A1-F6EECF244321}">
                    <p14:modId xmlns:p14="http://schemas.microsoft.com/office/powerpoint/2010/main" val="4259880623"/>
                  </p:ext>
                </p:extLst>
              </p:nvPr>
            </p:nvGraphicFramePr>
            <p:xfrm>
              <a:off x="284494" y="3305838"/>
              <a:ext cx="8619109" cy="3111972"/>
            </p:xfrm>
            <a:graphic>
              <a:graphicData uri="http://schemas.openxmlformats.org/drawingml/2006/table">
                <a:tbl>
                  <a:tblPr firstRow="1" bandRow="1">
                    <a:tableStyleId>{5C22544A-7EE6-4342-B048-85BDC9FD1C3A}</a:tableStyleId>
                  </a:tblPr>
                  <a:tblGrid>
                    <a:gridCol w="1767446">
                      <a:extLst>
                        <a:ext uri="{9D8B030D-6E8A-4147-A177-3AD203B41FA5}">
                          <a16:colId xmlns:a16="http://schemas.microsoft.com/office/drawing/2014/main" val="2961142067"/>
                        </a:ext>
                      </a:extLst>
                    </a:gridCol>
                    <a:gridCol w="1767446">
                      <a:extLst>
                        <a:ext uri="{9D8B030D-6E8A-4147-A177-3AD203B41FA5}">
                          <a16:colId xmlns:a16="http://schemas.microsoft.com/office/drawing/2014/main" val="587569190"/>
                        </a:ext>
                      </a:extLst>
                    </a:gridCol>
                    <a:gridCol w="1233393">
                      <a:extLst>
                        <a:ext uri="{9D8B030D-6E8A-4147-A177-3AD203B41FA5}">
                          <a16:colId xmlns:a16="http://schemas.microsoft.com/office/drawing/2014/main" val="3630666221"/>
                        </a:ext>
                      </a:extLst>
                    </a:gridCol>
                    <a:gridCol w="979183">
                      <a:extLst>
                        <a:ext uri="{9D8B030D-6E8A-4147-A177-3AD203B41FA5}">
                          <a16:colId xmlns:a16="http://schemas.microsoft.com/office/drawing/2014/main" val="3511500316"/>
                        </a:ext>
                      </a:extLst>
                    </a:gridCol>
                    <a:gridCol w="2871641">
                      <a:extLst>
                        <a:ext uri="{9D8B030D-6E8A-4147-A177-3AD203B41FA5}">
                          <a16:colId xmlns:a16="http://schemas.microsoft.com/office/drawing/2014/main" val="1212171477"/>
                        </a:ext>
                      </a:extLst>
                    </a:gridCol>
                  </a:tblGrid>
                  <a:tr h="84281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2000" dirty="0">
                              <a:solidFill>
                                <a:schemeClr val="tx1"/>
                              </a:solidFill>
                              <a:latin typeface="Arial" panose="020B0604020202020204" pitchFamily="34" charset="0"/>
                              <a:cs typeface="Arial" panose="020B0604020202020204" pitchFamily="34" charset="0"/>
                            </a:rPr>
                            <a:t>Newtonian Gravity</a:t>
                          </a:r>
                        </a:p>
                      </a:txBody>
                      <a:tcPr marL="36000" marR="36000" anchor="ctr" anchorCtr="1"/>
                    </a:tc>
                    <a:tc>
                      <a:txBody>
                        <a:bodyPr/>
                        <a:lstStyle/>
                        <a:p>
                          <a:pPr algn="ctr"/>
                          <a:r>
                            <a:rPr lang="en-CA" sz="2000" dirty="0">
                              <a:solidFill>
                                <a:schemeClr val="tx1"/>
                              </a:solidFill>
                              <a:latin typeface="Arial" panose="020B0604020202020204" pitchFamily="34" charset="0"/>
                              <a:cs typeface="Arial" panose="020B0604020202020204" pitchFamily="34" charset="0"/>
                            </a:rPr>
                            <a:t>Relativistic Gravity</a:t>
                          </a:r>
                        </a:p>
                      </a:txBody>
                      <a:tcPr marL="36000" marR="36000" anchor="ctr" anchorCtr="1"/>
                    </a:tc>
                    <a:tc>
                      <a:txBody>
                        <a:bodyPr/>
                        <a:lstStyle/>
                        <a:p>
                          <a:pPr algn="ctr"/>
                          <a14:m>
                            <m:oMathPara xmlns:m="http://schemas.openxmlformats.org/officeDocument/2006/math">
                              <m:oMathParaPr>
                                <m:jc m:val="centerGroup"/>
                              </m:oMathParaPr>
                              <m:oMath xmlns:m="http://schemas.openxmlformats.org/officeDocument/2006/math">
                                <m:r>
                                  <a:rPr kumimoji="0" lang="en-CA" sz="2000" b="1" i="1" u="none" strike="noStrike" kern="1200" cap="none" spc="0" normalizeH="0" baseline="0" noProof="0" smtClean="0">
                                    <a:ln>
                                      <a:noFill/>
                                    </a:ln>
                                    <a:solidFill>
                                      <a:schemeClr val="tx1"/>
                                    </a:solidFill>
                                    <a:effectLst/>
                                    <a:uLnTx/>
                                    <a:uFillTx/>
                                    <a:latin typeface="Cambria Math" panose="02040503050406030204" pitchFamily="18" charset="0"/>
                                    <a:ea typeface="Cambria Math" panose="02040503050406030204" pitchFamily="18" charset="0"/>
                                    <a:cs typeface="Times New Roman" panose="02020603050405020304" pitchFamily="18" charset="0"/>
                                  </a:rPr>
                                  <m:t>𝝎</m:t>
                                </m:r>
                              </m:oMath>
                            </m:oMathPara>
                          </a14:m>
                          <a:endParaRPr lang="en-CA" sz="2000" b="1" dirty="0">
                            <a:solidFill>
                              <a:schemeClr val="tx1"/>
                            </a:solidFill>
                            <a:latin typeface="Arial" panose="020B0604020202020204" pitchFamily="34" charset="0"/>
                            <a:cs typeface="Arial" panose="020B0604020202020204" pitchFamily="34" charset="0"/>
                          </a:endParaRPr>
                        </a:p>
                      </a:txBody>
                      <a:tcPr marL="36000" marR="36000" anchor="ctr" anchorCtr="1"/>
                    </a:tc>
                    <a:tc>
                      <a:txBody>
                        <a:bodyPr/>
                        <a:lstStyle/>
                        <a:p>
                          <a:pPr algn="ctr"/>
                          <a14:m>
                            <m:oMathPara xmlns:m="http://schemas.openxmlformats.org/officeDocument/2006/math">
                              <m:oMathParaPr>
                                <m:jc m:val="centerGroup"/>
                              </m:oMathParaPr>
                              <m:oMath xmlns:m="http://schemas.openxmlformats.org/officeDocument/2006/math">
                                <m:r>
                                  <a:rPr kumimoji="0" lang="en-CA" sz="20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𝜹</m:t>
                                </m:r>
                                <m:r>
                                  <a:rPr kumimoji="0" lang="en-CA" sz="2000" b="1"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𝑹</m:t>
                                </m:r>
                              </m:oMath>
                            </m:oMathPara>
                          </a14:m>
                          <a:endParaRPr lang="en-CA" sz="2000" b="1" dirty="0">
                            <a:latin typeface="Arial" panose="020B0604020202020204" pitchFamily="34" charset="0"/>
                            <a:cs typeface="Arial" panose="020B0604020202020204" pitchFamily="34" charset="0"/>
                          </a:endParaRPr>
                        </a:p>
                      </a:txBody>
                      <a:tcPr marL="36000" marR="36000" anchor="ctr" anchorCtr="1"/>
                    </a:tc>
                    <a:tc>
                      <a:txBody>
                        <a:bodyPr/>
                        <a:lstStyle/>
                        <a:p>
                          <a:pPr algn="ctr"/>
                          <a:r>
                            <a:rPr lang="en-CA" sz="2000" dirty="0">
                              <a:latin typeface="Arial" panose="020B0604020202020204" pitchFamily="34" charset="0"/>
                              <a:cs typeface="Arial" panose="020B0604020202020204" pitchFamily="34" charset="0"/>
                            </a:rPr>
                            <a:t>Shell Behaviour</a:t>
                          </a:r>
                        </a:p>
                      </a:txBody>
                      <a:tcPr marL="36000" marR="36000" anchor="ctr" anchorCtr="1"/>
                    </a:tc>
                    <a:extLst>
                      <a:ext uri="{0D108BD9-81ED-4DB2-BD59-A6C34878D82A}">
                        <a16:rowId xmlns:a16="http://schemas.microsoft.com/office/drawing/2014/main" val="4273422894"/>
                      </a:ext>
                    </a:extLst>
                  </a:tr>
                  <a:tr h="75638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CA" sz="2000" i="1" smtClean="0">
                                  <a:latin typeface="Cambria Math" panose="02040503050406030204" pitchFamily="18" charset="0"/>
                                  <a:ea typeface="Cambria Math" panose="02040503050406030204" pitchFamily="18" charset="0"/>
                                  <a:cs typeface="Times New Roman" panose="02020603050405020304" pitchFamily="18" charset="0"/>
                                </a:rPr>
                                <m:t>𝛾</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&gt;</m:t>
                              </m:r>
                              <m:f>
                                <m:fPr>
                                  <m:ctrlPr>
                                    <a:rPr lang="en-CA" sz="2000" i="1">
                                      <a:latin typeface="Cambria Math" panose="02040503050406030204" pitchFamily="18" charset="0"/>
                                      <a:ea typeface="Cambria Math" panose="02040503050406030204" pitchFamily="18" charset="0"/>
                                      <a:cs typeface="Times New Roman" panose="02020603050405020304" pitchFamily="18" charset="0"/>
                                    </a:rPr>
                                  </m:ctrlPr>
                                </m:fPr>
                                <m:num>
                                  <m:r>
                                    <a:rPr lang="en-CA" sz="2000" i="1">
                                      <a:latin typeface="Cambria Math" panose="02040503050406030204" pitchFamily="18" charset="0"/>
                                      <a:ea typeface="Cambria Math" panose="02040503050406030204" pitchFamily="18" charset="0"/>
                                      <a:cs typeface="Times New Roman" panose="02020603050405020304" pitchFamily="18" charset="0"/>
                                    </a:rPr>
                                    <m:t>3</m:t>
                                  </m:r>
                                </m:num>
                                <m:den>
                                  <m:r>
                                    <a:rPr lang="en-CA" sz="2000" i="1">
                                      <a:latin typeface="Cambria Math" panose="02040503050406030204" pitchFamily="18" charset="0"/>
                                      <a:ea typeface="Cambria Math" panose="02040503050406030204" pitchFamily="18" charset="0"/>
                                      <a:cs typeface="Times New Roman" panose="02020603050405020304" pitchFamily="18" charset="0"/>
                                    </a:rPr>
                                    <m:t>2</m:t>
                                  </m:r>
                                </m:den>
                              </m:f>
                            </m:oMath>
                          </a14:m>
                          <a:r>
                            <a:rPr lang="en-CA" sz="2000" dirty="0">
                              <a:latin typeface="Arial" panose="020B0604020202020204" pitchFamily="34" charset="0"/>
                              <a:cs typeface="Arial" panose="020B0604020202020204" pitchFamily="34" charset="0"/>
                            </a:rPr>
                            <a:t> </a:t>
                          </a:r>
                          <a:endPar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anchor="ctr" anchorCtr="1"/>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CA" sz="2000" i="1" smtClean="0">
                                  <a:latin typeface="Cambria Math" panose="02040503050406030204" pitchFamily="18" charset="0"/>
                                  <a:ea typeface="Cambria Math" panose="02040503050406030204" pitchFamily="18" charset="0"/>
                                  <a:cs typeface="Times New Roman" panose="02020603050405020304" pitchFamily="18" charset="0"/>
                                </a:rPr>
                                <m:t>𝛾</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&gt;</m:t>
                              </m:r>
                              <m:f>
                                <m:fPr>
                                  <m:ctrlPr>
                                    <a:rPr lang="en-CA" sz="2000" i="1">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CA"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CA" sz="2000" b="0" i="1" smtClean="0">
                                          <a:latin typeface="Cambria Math" panose="02040503050406030204" pitchFamily="18" charset="0"/>
                                          <a:ea typeface="Cambria Math" panose="02040503050406030204" pitchFamily="18" charset="0"/>
                                          <a:cs typeface="Times New Roman" panose="02020603050405020304" pitchFamily="18" charset="0"/>
                                        </a:rPr>
                                        <m:t>3</m:t>
                                      </m:r>
                                      <m:r>
                                        <a:rPr lang="en-CA" sz="2000" i="1">
                                          <a:latin typeface="Cambria Math" panose="02040503050406030204" pitchFamily="18" charset="0"/>
                                          <a:ea typeface="Cambria Math" panose="02040503050406030204" pitchFamily="18" charset="0"/>
                                          <a:cs typeface="Times New Roman" panose="02020603050405020304" pitchFamily="18" charset="0"/>
                                        </a:rPr>
                                        <m:t>𝐶</m:t>
                                      </m:r>
                                    </m:e>
                                    <m:sup>
                                      <m:r>
                                        <a:rPr lang="en-CA" sz="2000" i="1">
                                          <a:latin typeface="Cambria Math" panose="02040503050406030204" pitchFamily="18" charset="0"/>
                                          <a:ea typeface="Cambria Math" panose="02040503050406030204" pitchFamily="18" charset="0"/>
                                          <a:cs typeface="Times New Roman" panose="02020603050405020304" pitchFamily="18" charset="0"/>
                                        </a:rPr>
                                        <m:t>2</m:t>
                                      </m:r>
                                    </m:sup>
                                  </m:sSup>
                                  <m:r>
                                    <a:rPr lang="en-CA" sz="2000" i="1">
                                      <a:latin typeface="Cambria Math" panose="02040503050406030204" pitchFamily="18" charset="0"/>
                                      <a:ea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8</m:t>
                                  </m:r>
                                  <m:r>
                                    <a:rPr lang="en-CA" sz="2000" i="1">
                                      <a:latin typeface="Cambria Math" panose="02040503050406030204" pitchFamily="18" charset="0"/>
                                      <a:ea typeface="Cambria Math" panose="02040503050406030204" pitchFamily="18" charset="0"/>
                                      <a:cs typeface="Times New Roman" panose="02020603050405020304" pitchFamily="18" charset="0"/>
                                    </a:rPr>
                                    <m:t>𝐶</m:t>
                                  </m:r>
                                  <m:r>
                                    <a:rPr lang="en-CA" sz="2000" i="1">
                                      <a:latin typeface="Cambria Math" panose="02040503050406030204" pitchFamily="18" charset="0"/>
                                      <a:ea typeface="Cambria Math" panose="02040503050406030204" pitchFamily="18" charset="0"/>
                                      <a:cs typeface="Times New Roman" panose="02020603050405020304" pitchFamily="18" charset="0"/>
                                    </a:rPr>
                                    <m:t>+6</m:t>
                                  </m:r>
                                </m:num>
                                <m:den>
                                  <m:r>
                                    <a:rPr lang="en-CA" sz="2000" i="1">
                                      <a:latin typeface="Cambria Math" panose="02040503050406030204" pitchFamily="18" charset="0"/>
                                      <a:ea typeface="Cambria Math" panose="02040503050406030204" pitchFamily="18" charset="0"/>
                                      <a:cs typeface="Times New Roman" panose="02020603050405020304" pitchFamily="18" charset="0"/>
                                    </a:rPr>
                                    <m:t>(</m:t>
                                  </m:r>
                                  <m:r>
                                    <a:rPr lang="en-CA" sz="2000" i="1">
                                      <a:latin typeface="Cambria Math" panose="02040503050406030204" pitchFamily="18" charset="0"/>
                                      <a:ea typeface="Cambria Math" panose="02040503050406030204" pitchFamily="18" charset="0"/>
                                      <a:cs typeface="Times New Roman" panose="02020603050405020304" pitchFamily="18" charset="0"/>
                                    </a:rPr>
                                    <m:t>𝐶</m:t>
                                  </m:r>
                                  <m:r>
                                    <a:rPr lang="en-CA" sz="2000" i="1">
                                      <a:latin typeface="Cambria Math" panose="02040503050406030204" pitchFamily="18" charset="0"/>
                                      <a:ea typeface="Cambria Math" panose="02040503050406030204" pitchFamily="18" charset="0"/>
                                      <a:cs typeface="Times New Roman" panose="02020603050405020304" pitchFamily="18" charset="0"/>
                                    </a:rPr>
                                    <m:t>−1)(3</m:t>
                                  </m:r>
                                  <m:r>
                                    <a:rPr lang="en-CA" sz="2000" i="1">
                                      <a:latin typeface="Cambria Math" panose="02040503050406030204" pitchFamily="18" charset="0"/>
                                      <a:ea typeface="Cambria Math" panose="02040503050406030204" pitchFamily="18" charset="0"/>
                                      <a:cs typeface="Times New Roman" panose="02020603050405020304" pitchFamily="18" charset="0"/>
                                    </a:rPr>
                                    <m:t>𝐶</m:t>
                                  </m:r>
                                  <m:r>
                                    <a:rPr lang="en-CA" sz="2000" i="1">
                                      <a:latin typeface="Cambria Math" panose="02040503050406030204" pitchFamily="18" charset="0"/>
                                      <a:ea typeface="Cambria Math" panose="02040503050406030204" pitchFamily="18" charset="0"/>
                                      <a:cs typeface="Times New Roman" panose="02020603050405020304" pitchFamily="18" charset="0"/>
                                    </a:rPr>
                                    <m:t>−4)</m:t>
                                  </m:r>
                                </m:den>
                              </m:f>
                            </m:oMath>
                          </a14:m>
                          <a:r>
                            <a:rPr lang="en-CA" sz="2000" dirty="0">
                              <a:latin typeface="Arial" panose="020B0604020202020204" pitchFamily="34" charset="0"/>
                              <a:cs typeface="Arial" panose="020B0604020202020204" pitchFamily="34" charset="0"/>
                            </a:rPr>
                            <a:t> </a:t>
                          </a:r>
                          <a:endPar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anchor="ctr" anchorCtr="1"/>
                    </a:tc>
                    <a:tc>
                      <a:txBody>
                        <a:bodyPr/>
                        <a:lstStyle/>
                        <a:p>
                          <a:pPr algn="ctr"/>
                          <a:r>
                            <a:rPr lang="en-CA" sz="2000" dirty="0">
                              <a:solidFill>
                                <a:schemeClr val="bg1"/>
                              </a:solidFill>
                              <a:latin typeface="Arial" panose="020B0604020202020204" pitchFamily="34" charset="0"/>
                              <a:cs typeface="Arial" panose="020B0604020202020204" pitchFamily="34" charset="0"/>
                            </a:rPr>
                            <a:t>Real</a:t>
                          </a:r>
                        </a:p>
                      </a:txBody>
                      <a:tcPr marL="36000" marR="36000" anchor="ctr" anchorCtr="1"/>
                    </a:tc>
                    <a:tc>
                      <a:txBody>
                        <a:bodyPr/>
                        <a:lstStyle/>
                        <a:p>
                          <a:pPr algn="ctr"/>
                          <a14:m>
                            <m:oMathPara xmlns:m="http://schemas.openxmlformats.org/officeDocument/2006/math">
                              <m:oMathParaPr>
                                <m:jc m:val="centerGroup"/>
                              </m:oMathParaPr>
                              <m:oMath xmlns:m="http://schemas.openxmlformats.org/officeDocument/2006/math">
                                <m:r>
                                  <a:rPr lang="en-CA" sz="2000" i="1" smtClean="0">
                                    <a:latin typeface="Cambria Math" panose="02040503050406030204" pitchFamily="18" charset="0"/>
                                    <a:ea typeface="Cambria Math" panose="02040503050406030204" pitchFamily="18" charset="0"/>
                                    <a:cs typeface="Times New Roman" panose="02020603050405020304" pitchFamily="18" charset="0"/>
                                  </a:rPr>
                                  <m:t>𝐴</m:t>
                                </m:r>
                                <m:sSup>
                                  <m:sSupPr>
                                    <m:ctrlPr>
                                      <a:rPr lang="en-CA"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CA" sz="2000" i="1">
                                        <a:latin typeface="Cambria Math" panose="02040503050406030204" pitchFamily="18" charset="0"/>
                                        <a:ea typeface="Cambria Math" panose="02040503050406030204" pitchFamily="18" charset="0"/>
                                        <a:cs typeface="Times New Roman" panose="02020603050405020304" pitchFamily="18" charset="0"/>
                                      </a:rPr>
                                      <m:t>𝑒</m:t>
                                    </m:r>
                                  </m:e>
                                  <m:sup>
                                    <m:r>
                                      <a:rPr lang="en-CA" sz="2000" i="1">
                                        <a:latin typeface="Cambria Math" panose="02040503050406030204" pitchFamily="18" charset="0"/>
                                        <a:ea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𝑖</m:t>
                                    </m:r>
                                    <m:r>
                                      <a:rPr lang="en-CA" sz="2000" i="1">
                                        <a:latin typeface="Cambria Math" panose="02040503050406030204" pitchFamily="18" charset="0"/>
                                        <a:ea typeface="Cambria Math" panose="02040503050406030204" pitchFamily="18" charset="0"/>
                                        <a:cs typeface="Times New Roman" panose="02020603050405020304" pitchFamily="18" charset="0"/>
                                      </a:rPr>
                                      <m:t>𝜔</m:t>
                                    </m:r>
                                    <m:r>
                                      <a:rPr lang="en-CA" sz="2000" i="1" smtClean="0">
                                        <a:latin typeface="Cambria Math" panose="02040503050406030204" pitchFamily="18" charset="0"/>
                                        <a:ea typeface="Cambria Math" panose="02040503050406030204" pitchFamily="18" charset="0"/>
                                        <a:cs typeface="Times New Roman" panose="02020603050405020304" pitchFamily="18" charset="0"/>
                                      </a:rPr>
                                      <m:t>𝜏</m:t>
                                    </m:r>
                                  </m:sup>
                                </m:sSup>
                                <m:r>
                                  <a:rPr lang="en-CA" sz="2000" i="1">
                                    <a:latin typeface="Cambria Math" panose="02040503050406030204" pitchFamily="18" charset="0"/>
                                    <a:ea typeface="Cambria Math" panose="02040503050406030204" pitchFamily="18" charset="0"/>
                                    <a:cs typeface="Times New Roman" panose="02020603050405020304" pitchFamily="18" charset="0"/>
                                  </a:rPr>
                                  <m:t> </m:t>
                                </m:r>
                              </m:oMath>
                            </m:oMathPara>
                          </a14:m>
                          <a:endParaRPr lang="en-CA" sz="2000" dirty="0">
                            <a:latin typeface="Arial" panose="020B0604020202020204" pitchFamily="34" charset="0"/>
                            <a:cs typeface="Arial" panose="020B0604020202020204" pitchFamily="34" charset="0"/>
                          </a:endParaRPr>
                        </a:p>
                      </a:txBody>
                      <a:tcPr marL="36000" marR="36000" anchor="ctr" anchorCtr="1"/>
                    </a:tc>
                    <a:tc>
                      <a:txBody>
                        <a:bodyPr/>
                        <a:lstStyle/>
                        <a:p>
                          <a:pPr algn="ctr"/>
                          <a:r>
                            <a:rPr lang="en-CA" sz="2000" dirty="0">
                              <a:latin typeface="Arial" panose="020B0604020202020204" pitchFamily="34" charset="0"/>
                              <a:cs typeface="Arial" panose="020B0604020202020204" pitchFamily="34" charset="0"/>
                            </a:rPr>
                            <a:t>Oscillating</a:t>
                          </a:r>
                        </a:p>
                      </a:txBody>
                      <a:tcPr marL="36000" marR="36000" anchor="ctr" anchorCtr="1"/>
                    </a:tc>
                    <a:extLst>
                      <a:ext uri="{0D108BD9-81ED-4DB2-BD59-A6C34878D82A}">
                        <a16:rowId xmlns:a16="http://schemas.microsoft.com/office/drawing/2014/main" val="44417074"/>
                      </a:ext>
                    </a:extLst>
                  </a:tr>
                  <a:tr h="75638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CA" sz="2000" i="1" smtClean="0">
                                  <a:latin typeface="Cambria Math" panose="02040503050406030204" pitchFamily="18" charset="0"/>
                                  <a:ea typeface="Cambria Math" panose="02040503050406030204" pitchFamily="18" charset="0"/>
                                  <a:cs typeface="Times New Roman" panose="02020603050405020304" pitchFamily="18" charset="0"/>
                                </a:rPr>
                                <m:t>𝛾</m:t>
                              </m:r>
                              <m:r>
                                <a:rPr lang="en-CA" sz="2000" i="1" smtClean="0">
                                  <a:latin typeface="Cambria Math" panose="02040503050406030204" pitchFamily="18" charset="0"/>
                                  <a:ea typeface="Cambria Math" panose="02040503050406030204" pitchFamily="18" charset="0"/>
                                  <a:cs typeface="Times New Roman" panose="02020603050405020304" pitchFamily="18" charset="0"/>
                                </a:rPr>
                                <m:t>&lt;</m:t>
                              </m:r>
                              <m:f>
                                <m:fPr>
                                  <m:ctrlPr>
                                    <a:rPr lang="en-CA" sz="2000" i="1">
                                      <a:latin typeface="Cambria Math" panose="02040503050406030204" pitchFamily="18" charset="0"/>
                                      <a:ea typeface="Cambria Math" panose="02040503050406030204" pitchFamily="18" charset="0"/>
                                      <a:cs typeface="Times New Roman" panose="02020603050405020304" pitchFamily="18" charset="0"/>
                                    </a:rPr>
                                  </m:ctrlPr>
                                </m:fPr>
                                <m:num>
                                  <m:r>
                                    <a:rPr lang="en-CA" sz="2000" i="1">
                                      <a:latin typeface="Cambria Math" panose="02040503050406030204" pitchFamily="18" charset="0"/>
                                      <a:ea typeface="Cambria Math" panose="02040503050406030204" pitchFamily="18" charset="0"/>
                                      <a:cs typeface="Times New Roman" panose="02020603050405020304" pitchFamily="18" charset="0"/>
                                    </a:rPr>
                                    <m:t>3</m:t>
                                  </m:r>
                                </m:num>
                                <m:den>
                                  <m:r>
                                    <a:rPr lang="en-CA" sz="2000" i="1">
                                      <a:latin typeface="Cambria Math" panose="02040503050406030204" pitchFamily="18" charset="0"/>
                                      <a:ea typeface="Cambria Math" panose="02040503050406030204" pitchFamily="18" charset="0"/>
                                      <a:cs typeface="Times New Roman" panose="02020603050405020304" pitchFamily="18" charset="0"/>
                                    </a:rPr>
                                    <m:t>2</m:t>
                                  </m:r>
                                </m:den>
                              </m:f>
                            </m:oMath>
                          </a14:m>
                          <a:r>
                            <a:rPr lang="en-CA" sz="2000" dirty="0">
                              <a:latin typeface="Arial" panose="020B0604020202020204" pitchFamily="34" charset="0"/>
                              <a:cs typeface="Arial" panose="020B0604020202020204" pitchFamily="34" charset="0"/>
                            </a:rPr>
                            <a:t> </a:t>
                          </a:r>
                          <a:endPar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anchor="ctr" anchorCtr="1"/>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CA" sz="2000" i="1" smtClean="0">
                                  <a:latin typeface="Cambria Math" panose="02040503050406030204" pitchFamily="18" charset="0"/>
                                  <a:ea typeface="Cambria Math" panose="02040503050406030204" pitchFamily="18" charset="0"/>
                                  <a:cs typeface="Times New Roman" panose="02020603050405020304" pitchFamily="18" charset="0"/>
                                </a:rPr>
                                <m:t>𝛾</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&lt;</m:t>
                              </m:r>
                              <m:f>
                                <m:fPr>
                                  <m:ctrlPr>
                                    <a:rPr lang="en-CA" sz="2000" i="1">
                                      <a:latin typeface="Cambria Math" panose="02040503050406030204" pitchFamily="18" charset="0"/>
                                      <a:ea typeface="Cambria Math" panose="02040503050406030204" pitchFamily="18" charset="0"/>
                                      <a:cs typeface="Times New Roman" panose="02020603050405020304" pitchFamily="18" charset="0"/>
                                    </a:rPr>
                                  </m:ctrlPr>
                                </m:fPr>
                                <m:num>
                                  <m:r>
                                    <a:rPr lang="en-CA" sz="2000" b="0" i="1" smtClean="0">
                                      <a:latin typeface="Cambria Math" panose="02040503050406030204" pitchFamily="18" charset="0"/>
                                      <a:ea typeface="Cambria Math" panose="02040503050406030204" pitchFamily="18" charset="0"/>
                                      <a:cs typeface="Times New Roman" panose="02020603050405020304" pitchFamily="18" charset="0"/>
                                    </a:rPr>
                                    <m:t>3</m:t>
                                  </m:r>
                                  <m:sSup>
                                    <m:sSupPr>
                                      <m:ctrlPr>
                                        <a:rPr lang="en-CA"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CA" sz="2000" i="1">
                                          <a:latin typeface="Cambria Math" panose="02040503050406030204" pitchFamily="18" charset="0"/>
                                          <a:ea typeface="Cambria Math" panose="02040503050406030204" pitchFamily="18" charset="0"/>
                                          <a:cs typeface="Times New Roman" panose="02020603050405020304" pitchFamily="18" charset="0"/>
                                        </a:rPr>
                                        <m:t>𝐶</m:t>
                                      </m:r>
                                    </m:e>
                                    <m:sup>
                                      <m:r>
                                        <a:rPr lang="en-CA" sz="2000" i="1">
                                          <a:latin typeface="Cambria Math" panose="02040503050406030204" pitchFamily="18" charset="0"/>
                                          <a:ea typeface="Cambria Math" panose="02040503050406030204" pitchFamily="18" charset="0"/>
                                          <a:cs typeface="Times New Roman" panose="02020603050405020304" pitchFamily="18" charset="0"/>
                                        </a:rPr>
                                        <m:t>2</m:t>
                                      </m:r>
                                    </m:sup>
                                  </m:sSup>
                                  <m:r>
                                    <a:rPr lang="en-CA" sz="2000" i="1">
                                      <a:latin typeface="Cambria Math" panose="02040503050406030204" pitchFamily="18" charset="0"/>
                                      <a:ea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8</m:t>
                                  </m:r>
                                  <m:r>
                                    <a:rPr lang="en-CA" sz="2000" i="1">
                                      <a:latin typeface="Cambria Math" panose="02040503050406030204" pitchFamily="18" charset="0"/>
                                      <a:ea typeface="Cambria Math" panose="02040503050406030204" pitchFamily="18" charset="0"/>
                                      <a:cs typeface="Times New Roman" panose="02020603050405020304" pitchFamily="18" charset="0"/>
                                    </a:rPr>
                                    <m:t>𝐶</m:t>
                                  </m:r>
                                  <m:r>
                                    <a:rPr lang="en-CA" sz="2000" i="1">
                                      <a:latin typeface="Cambria Math" panose="02040503050406030204" pitchFamily="18" charset="0"/>
                                      <a:ea typeface="Cambria Math" panose="02040503050406030204" pitchFamily="18" charset="0"/>
                                      <a:cs typeface="Times New Roman" panose="02020603050405020304" pitchFamily="18" charset="0"/>
                                    </a:rPr>
                                    <m:t>+6</m:t>
                                  </m:r>
                                </m:num>
                                <m:den>
                                  <m:r>
                                    <a:rPr lang="en-CA" sz="2000" i="1">
                                      <a:latin typeface="Cambria Math" panose="02040503050406030204" pitchFamily="18" charset="0"/>
                                      <a:ea typeface="Cambria Math" panose="02040503050406030204" pitchFamily="18" charset="0"/>
                                      <a:cs typeface="Times New Roman" panose="02020603050405020304" pitchFamily="18" charset="0"/>
                                    </a:rPr>
                                    <m:t>(</m:t>
                                  </m:r>
                                  <m:r>
                                    <a:rPr lang="en-CA" sz="2000" i="1">
                                      <a:latin typeface="Cambria Math" panose="02040503050406030204" pitchFamily="18" charset="0"/>
                                      <a:ea typeface="Cambria Math" panose="02040503050406030204" pitchFamily="18" charset="0"/>
                                      <a:cs typeface="Times New Roman" panose="02020603050405020304" pitchFamily="18" charset="0"/>
                                    </a:rPr>
                                    <m:t>𝐶</m:t>
                                  </m:r>
                                  <m:r>
                                    <a:rPr lang="en-CA" sz="2000" i="1">
                                      <a:latin typeface="Cambria Math" panose="02040503050406030204" pitchFamily="18" charset="0"/>
                                      <a:ea typeface="Cambria Math" panose="02040503050406030204" pitchFamily="18" charset="0"/>
                                      <a:cs typeface="Times New Roman" panose="02020603050405020304" pitchFamily="18" charset="0"/>
                                    </a:rPr>
                                    <m:t>−1)(3</m:t>
                                  </m:r>
                                  <m:r>
                                    <a:rPr lang="en-CA" sz="2000" i="1">
                                      <a:latin typeface="Cambria Math" panose="02040503050406030204" pitchFamily="18" charset="0"/>
                                      <a:ea typeface="Cambria Math" panose="02040503050406030204" pitchFamily="18" charset="0"/>
                                      <a:cs typeface="Times New Roman" panose="02020603050405020304" pitchFamily="18" charset="0"/>
                                    </a:rPr>
                                    <m:t>𝐶</m:t>
                                  </m:r>
                                  <m:r>
                                    <a:rPr lang="en-CA" sz="2000" i="1">
                                      <a:latin typeface="Cambria Math" panose="02040503050406030204" pitchFamily="18" charset="0"/>
                                      <a:ea typeface="Cambria Math" panose="02040503050406030204" pitchFamily="18" charset="0"/>
                                      <a:cs typeface="Times New Roman" panose="02020603050405020304" pitchFamily="18" charset="0"/>
                                    </a:rPr>
                                    <m:t>−4)</m:t>
                                  </m:r>
                                </m:den>
                              </m:f>
                            </m:oMath>
                          </a14:m>
                          <a:r>
                            <a:rPr lang="en-CA" sz="2000" dirty="0">
                              <a:latin typeface="Arial" panose="020B0604020202020204" pitchFamily="34" charset="0"/>
                              <a:cs typeface="Arial" panose="020B0604020202020204" pitchFamily="34" charset="0"/>
                            </a:rPr>
                            <a:t> </a:t>
                          </a:r>
                          <a:endPar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anchor="ctr" anchorCtr="1"/>
                    </a:tc>
                    <a:tc>
                      <a:txBody>
                        <a:bodyPr/>
                        <a:lstStyle/>
                        <a:p>
                          <a:pPr algn="ctr"/>
                          <a:r>
                            <a:rPr lang="en-CA" sz="2000" dirty="0">
                              <a:latin typeface="Arial" panose="020B0604020202020204" pitchFamily="34" charset="0"/>
                              <a:cs typeface="Arial" panose="020B0604020202020204" pitchFamily="34" charset="0"/>
                            </a:rPr>
                            <a:t>Complex</a:t>
                          </a:r>
                        </a:p>
                      </a:txBody>
                      <a:tcPr marL="36000" marR="36000" anchor="ctr" anchorCtr="1"/>
                    </a:tc>
                    <a:tc>
                      <a:txBody>
                        <a:bodyPr/>
                        <a:lstStyle/>
                        <a:p>
                          <a:pPr/>
                          <a14:m>
                            <m:oMathPara xmlns:m="http://schemas.openxmlformats.org/officeDocument/2006/math">
                              <m:oMathParaPr>
                                <m:jc m:val="centerGroup"/>
                              </m:oMathParaPr>
                              <m:oMath xmlns:m="http://schemas.openxmlformats.org/officeDocument/2006/math">
                                <m:r>
                                  <a:rPr lang="en-CA" sz="2000" i="1" smtClean="0">
                                    <a:latin typeface="Cambria Math" panose="02040503050406030204" pitchFamily="18" charset="0"/>
                                    <a:ea typeface="Cambria Math" panose="02040503050406030204" pitchFamily="18" charset="0"/>
                                    <a:cs typeface="Times New Roman" panose="02020603050405020304" pitchFamily="18" charset="0"/>
                                  </a:rPr>
                                  <m:t>𝐴</m:t>
                                </m:r>
                                <m:sSup>
                                  <m:sSupPr>
                                    <m:ctrlPr>
                                      <a:rPr lang="en-CA" sz="2000" i="1">
                                        <a:latin typeface="Cambria Math" panose="02040503050406030204" pitchFamily="18" charset="0"/>
                                        <a:ea typeface="Cambria Math" panose="02040503050406030204" pitchFamily="18" charset="0"/>
                                        <a:cs typeface="Times New Roman" panose="02020603050405020304" pitchFamily="18" charset="0"/>
                                      </a:rPr>
                                    </m:ctrlPr>
                                  </m:sSupPr>
                                  <m:e>
                                    <m:r>
                                      <a:rPr lang="en-CA" sz="2000" i="1">
                                        <a:latin typeface="Cambria Math" panose="02040503050406030204" pitchFamily="18" charset="0"/>
                                        <a:ea typeface="Cambria Math" panose="02040503050406030204" pitchFamily="18" charset="0"/>
                                        <a:cs typeface="Times New Roman" panose="02020603050405020304" pitchFamily="18" charset="0"/>
                                      </a:rPr>
                                      <m:t>𝑒</m:t>
                                    </m:r>
                                  </m:e>
                                  <m:sup>
                                    <m:r>
                                      <a:rPr lang="en-CA" sz="2000" i="1">
                                        <a:latin typeface="Cambria Math" panose="02040503050406030204" pitchFamily="18" charset="0"/>
                                        <a:ea typeface="Cambria Math" panose="02040503050406030204" pitchFamily="18" charset="0"/>
                                        <a:cs typeface="Times New Roman" panose="02020603050405020304" pitchFamily="18" charset="0"/>
                                      </a:rPr>
                                      <m:t>±</m:t>
                                    </m:r>
                                    <m:r>
                                      <a:rPr lang="en-CA" sz="2000" i="1">
                                        <a:latin typeface="Cambria Math" panose="02040503050406030204" pitchFamily="18" charset="0"/>
                                        <a:ea typeface="Cambria Math" panose="02040503050406030204" pitchFamily="18" charset="0"/>
                                        <a:cs typeface="Times New Roman" panose="02020603050405020304" pitchFamily="18" charset="0"/>
                                      </a:rPr>
                                      <m:t>𝜔𝜏</m:t>
                                    </m:r>
                                  </m:sup>
                                </m:sSup>
                                <m:r>
                                  <a:rPr lang="en-CA" sz="2000" i="1">
                                    <a:latin typeface="Cambria Math" panose="02040503050406030204" pitchFamily="18" charset="0"/>
                                    <a:ea typeface="Cambria Math" panose="02040503050406030204" pitchFamily="18" charset="0"/>
                                    <a:cs typeface="Times New Roman" panose="02020603050405020304" pitchFamily="18" charset="0"/>
                                  </a:rPr>
                                  <m:t> </m:t>
                                </m:r>
                              </m:oMath>
                            </m:oMathPara>
                          </a14:m>
                          <a:endParaRPr lang="en-CA" sz="2000" dirty="0"/>
                        </a:p>
                      </a:txBody>
                      <a:tcPr marL="36000" marR="36000" anchor="ctr" anchorCtr="1"/>
                    </a:tc>
                    <a:tc>
                      <a:txBody>
                        <a:bodyPr/>
                        <a:lstStyle/>
                        <a:p>
                          <a:pPr algn="ctr"/>
                          <a:r>
                            <a:rPr lang="en-CA" sz="2000" dirty="0">
                              <a:latin typeface="Arial" panose="020B0604020202020204" pitchFamily="34" charset="0"/>
                              <a:cs typeface="Arial" panose="020B0604020202020204" pitchFamily="34" charset="0"/>
                            </a:rPr>
                            <a:t>Expansion/Contraction</a:t>
                          </a:r>
                        </a:p>
                      </a:txBody>
                      <a:tcPr marL="36000" marR="36000" anchor="ctr" anchorCtr="1"/>
                    </a:tc>
                    <a:extLst>
                      <a:ext uri="{0D108BD9-81ED-4DB2-BD59-A6C34878D82A}">
                        <a16:rowId xmlns:a16="http://schemas.microsoft.com/office/drawing/2014/main" val="3595853866"/>
                      </a:ext>
                    </a:extLst>
                  </a:tr>
                  <a:tr h="756386">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CA" sz="2000" i="1" smtClean="0">
                                  <a:latin typeface="Cambria Math" panose="02040503050406030204" pitchFamily="18" charset="0"/>
                                  <a:ea typeface="Cambria Math" panose="02040503050406030204" pitchFamily="18" charset="0"/>
                                  <a:cs typeface="Times New Roman" panose="02020603050405020304" pitchFamily="18" charset="0"/>
                                </a:rPr>
                                <m:t>𝛾</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CA" sz="2000" i="1">
                                      <a:latin typeface="Cambria Math" panose="02040503050406030204" pitchFamily="18" charset="0"/>
                                      <a:ea typeface="Cambria Math" panose="02040503050406030204" pitchFamily="18" charset="0"/>
                                      <a:cs typeface="Times New Roman" panose="02020603050405020304" pitchFamily="18" charset="0"/>
                                    </a:rPr>
                                  </m:ctrlPr>
                                </m:fPr>
                                <m:num>
                                  <m:r>
                                    <a:rPr lang="en-CA" sz="2000" i="1">
                                      <a:latin typeface="Cambria Math" panose="02040503050406030204" pitchFamily="18" charset="0"/>
                                      <a:ea typeface="Cambria Math" panose="02040503050406030204" pitchFamily="18" charset="0"/>
                                      <a:cs typeface="Times New Roman" panose="02020603050405020304" pitchFamily="18" charset="0"/>
                                    </a:rPr>
                                    <m:t>3</m:t>
                                  </m:r>
                                </m:num>
                                <m:den>
                                  <m:r>
                                    <a:rPr lang="en-CA" sz="2000" i="1">
                                      <a:latin typeface="Cambria Math" panose="02040503050406030204" pitchFamily="18" charset="0"/>
                                      <a:ea typeface="Cambria Math" panose="02040503050406030204" pitchFamily="18" charset="0"/>
                                      <a:cs typeface="Times New Roman" panose="02020603050405020304" pitchFamily="18" charset="0"/>
                                    </a:rPr>
                                    <m:t>2</m:t>
                                  </m:r>
                                </m:den>
                              </m:f>
                            </m:oMath>
                          </a14:m>
                          <a:r>
                            <a:rPr lang="en-CA" sz="2000" dirty="0">
                              <a:latin typeface="Arial" panose="020B0604020202020204" pitchFamily="34" charset="0"/>
                              <a:cs typeface="Arial" panose="020B0604020202020204" pitchFamily="34" charset="0"/>
                            </a:rPr>
                            <a:t> </a:t>
                          </a:r>
                          <a:endPar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anchor="ctr" anchorCtr="1"/>
                    </a:tc>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14:m>
                            <m:oMath xmlns:m="http://schemas.openxmlformats.org/officeDocument/2006/math">
                              <m:r>
                                <a:rPr lang="en-CA" sz="2000" i="1" smtClean="0">
                                  <a:latin typeface="Cambria Math" panose="02040503050406030204" pitchFamily="18" charset="0"/>
                                  <a:ea typeface="Cambria Math" panose="02040503050406030204" pitchFamily="18" charset="0"/>
                                  <a:cs typeface="Times New Roman" panose="02020603050405020304" pitchFamily="18" charset="0"/>
                                </a:rPr>
                                <m:t>𝛾</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m:t>
                              </m:r>
                              <m:f>
                                <m:fPr>
                                  <m:ctrlPr>
                                    <a:rPr lang="en-CA" sz="2000" b="0" i="1" smtClean="0">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lang="en-CA" sz="2000" b="0" i="1" smtClean="0">
                                          <a:latin typeface="Cambria Math" panose="02040503050406030204" pitchFamily="18" charset="0"/>
                                          <a:ea typeface="Cambria Math" panose="02040503050406030204" pitchFamily="18" charset="0"/>
                                          <a:cs typeface="Times New Roman" panose="02020603050405020304" pitchFamily="18" charset="0"/>
                                        </a:rPr>
                                      </m:ctrlPr>
                                    </m:sSupPr>
                                    <m:e>
                                      <m:r>
                                        <a:rPr lang="en-CA" sz="2000" b="0" i="1" smtClean="0">
                                          <a:latin typeface="Cambria Math" panose="02040503050406030204" pitchFamily="18" charset="0"/>
                                          <a:ea typeface="Cambria Math" panose="02040503050406030204" pitchFamily="18" charset="0"/>
                                          <a:cs typeface="Times New Roman" panose="02020603050405020304" pitchFamily="18" charset="0"/>
                                        </a:rPr>
                                        <m:t>3</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𝐶</m:t>
                                      </m:r>
                                    </m:e>
                                    <m:sup>
                                      <m:r>
                                        <a:rPr lang="en-CA" sz="2000" b="0" i="1" smtClean="0">
                                          <a:latin typeface="Cambria Math" panose="02040503050406030204" pitchFamily="18" charset="0"/>
                                          <a:ea typeface="Cambria Math" panose="02040503050406030204" pitchFamily="18" charset="0"/>
                                          <a:cs typeface="Times New Roman" panose="02020603050405020304" pitchFamily="18" charset="0"/>
                                        </a:rPr>
                                        <m:t>2</m:t>
                                      </m:r>
                                    </m:sup>
                                  </m:sSup>
                                  <m:r>
                                    <a:rPr lang="en-CA"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8</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𝐶</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+6</m:t>
                                  </m:r>
                                </m:num>
                                <m:den>
                                  <m:r>
                                    <a:rPr lang="en-CA" sz="2000" b="0" i="1" smtClean="0">
                                      <a:latin typeface="Cambria Math" panose="02040503050406030204" pitchFamily="18" charset="0"/>
                                      <a:ea typeface="Cambria Math" panose="02040503050406030204" pitchFamily="18" charset="0"/>
                                      <a:cs typeface="Times New Roman" panose="02020603050405020304" pitchFamily="18" charset="0"/>
                                    </a:rPr>
                                    <m:t>(</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𝐶</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−1)(3</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𝐶</m:t>
                                  </m:r>
                                  <m:r>
                                    <a:rPr lang="en-CA" sz="2000" b="0" i="1" smtClean="0">
                                      <a:latin typeface="Cambria Math" panose="02040503050406030204" pitchFamily="18" charset="0"/>
                                      <a:ea typeface="Cambria Math" panose="02040503050406030204" pitchFamily="18" charset="0"/>
                                      <a:cs typeface="Times New Roman" panose="02020603050405020304" pitchFamily="18" charset="0"/>
                                    </a:rPr>
                                    <m:t>−4)</m:t>
                                  </m:r>
                                </m:den>
                              </m:f>
                            </m:oMath>
                          </a14:m>
                          <a:r>
                            <a:rPr lang="en-CA" sz="2000" dirty="0">
                              <a:latin typeface="Arial" panose="020B0604020202020204" pitchFamily="34" charset="0"/>
                              <a:cs typeface="Arial" panose="020B0604020202020204" pitchFamily="34" charset="0"/>
                            </a:rPr>
                            <a:t> </a:t>
                          </a:r>
                          <a:endParaRPr kumimoji="0" lang="en-CA" sz="20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a:txBody>
                      <a:tcPr marL="36000" marR="36000" anchor="ctr" anchorCtr="1"/>
                    </a:tc>
                    <a:tc>
                      <a:txBody>
                        <a:bodyPr/>
                        <a:lstStyle/>
                        <a:p>
                          <a:pPr algn="ctr"/>
                          <a:r>
                            <a:rPr lang="en-CA" sz="2000" dirty="0">
                              <a:latin typeface="Arial" panose="020B0604020202020204" pitchFamily="34" charset="0"/>
                              <a:cs typeface="Arial" panose="020B0604020202020204" pitchFamily="34" charset="0"/>
                            </a:rPr>
                            <a:t>0</a:t>
                          </a:r>
                        </a:p>
                      </a:txBody>
                      <a:tcPr marL="36000" marR="36000" anchor="ctr" anchorCtr="1"/>
                    </a:tc>
                    <a:tc>
                      <a:txBody>
                        <a:bodyPr/>
                        <a:lstStyle/>
                        <a:p>
                          <a:pPr algn="ctr"/>
                          <a14:m>
                            <m:oMathPara xmlns:m="http://schemas.openxmlformats.org/officeDocument/2006/math">
                              <m:oMathParaPr>
                                <m:jc m:val="centerGroup"/>
                              </m:oMathParaPr>
                              <m:oMath xmlns:m="http://schemas.openxmlformats.org/officeDocument/2006/math">
                                <m:r>
                                  <a:rPr lang="en-CA" sz="2000" b="0" i="1" smtClean="0">
                                    <a:latin typeface="Cambria Math" panose="02040503050406030204" pitchFamily="18" charset="0"/>
                                    <a:cs typeface="Arial" panose="020B0604020202020204" pitchFamily="34" charset="0"/>
                                  </a:rPr>
                                  <m:t>𝐴</m:t>
                                </m:r>
                              </m:oMath>
                            </m:oMathPara>
                          </a14:m>
                          <a:endParaRPr lang="en-CA" sz="2000" dirty="0">
                            <a:latin typeface="Arial" panose="020B0604020202020204" pitchFamily="34" charset="0"/>
                            <a:cs typeface="Arial" panose="020B0604020202020204" pitchFamily="34" charset="0"/>
                          </a:endParaRPr>
                        </a:p>
                      </a:txBody>
                      <a:tcPr marL="36000" marR="36000" anchor="ctr" anchorCtr="1"/>
                    </a:tc>
                    <a:tc>
                      <a:txBody>
                        <a:bodyPr/>
                        <a:lstStyle/>
                        <a:p>
                          <a:pPr algn="ctr"/>
                          <a:r>
                            <a:rPr lang="en-CA" sz="2000" dirty="0">
                              <a:latin typeface="Arial" panose="020B0604020202020204" pitchFamily="34" charset="0"/>
                              <a:cs typeface="Arial" panose="020B0604020202020204" pitchFamily="34" charset="0"/>
                            </a:rPr>
                            <a:t>Constant</a:t>
                          </a:r>
                        </a:p>
                      </a:txBody>
                      <a:tcPr marL="36000" marR="36000" anchor="ctr" anchorCtr="1"/>
                    </a:tc>
                    <a:extLst>
                      <a:ext uri="{0D108BD9-81ED-4DB2-BD59-A6C34878D82A}">
                        <a16:rowId xmlns:a16="http://schemas.microsoft.com/office/drawing/2014/main" val="1586204402"/>
                      </a:ext>
                    </a:extLst>
                  </a:tr>
                </a:tbl>
              </a:graphicData>
            </a:graphic>
          </p:graphicFrame>
        </mc:Choice>
        <mc:Fallback>
          <p:graphicFrame>
            <p:nvGraphicFramePr>
              <p:cNvPr id="10" name="Table 9">
                <a:extLst>
                  <a:ext uri="{FF2B5EF4-FFF2-40B4-BE49-F238E27FC236}">
                    <a16:creationId xmlns:a16="http://schemas.microsoft.com/office/drawing/2014/main" id="{915D5536-0C70-47D9-A39F-A278712F449A}"/>
                  </a:ext>
                </a:extLst>
              </p:cNvPr>
              <p:cNvGraphicFramePr>
                <a:graphicFrameLocks noGrp="1"/>
              </p:cNvGraphicFramePr>
              <p:nvPr>
                <p:extLst>
                  <p:ext uri="{D42A27DB-BD31-4B8C-83A1-F6EECF244321}">
                    <p14:modId xmlns:p14="http://schemas.microsoft.com/office/powerpoint/2010/main" val="4259880623"/>
                  </p:ext>
                </p:extLst>
              </p:nvPr>
            </p:nvGraphicFramePr>
            <p:xfrm>
              <a:off x="284494" y="3305838"/>
              <a:ext cx="8619109" cy="3111972"/>
            </p:xfrm>
            <a:graphic>
              <a:graphicData uri="http://schemas.openxmlformats.org/drawingml/2006/table">
                <a:tbl>
                  <a:tblPr firstRow="1" bandRow="1">
                    <a:tableStyleId>{5C22544A-7EE6-4342-B048-85BDC9FD1C3A}</a:tableStyleId>
                  </a:tblPr>
                  <a:tblGrid>
                    <a:gridCol w="1767446">
                      <a:extLst>
                        <a:ext uri="{9D8B030D-6E8A-4147-A177-3AD203B41FA5}">
                          <a16:colId xmlns:a16="http://schemas.microsoft.com/office/drawing/2014/main" val="2961142067"/>
                        </a:ext>
                      </a:extLst>
                    </a:gridCol>
                    <a:gridCol w="1767446">
                      <a:extLst>
                        <a:ext uri="{9D8B030D-6E8A-4147-A177-3AD203B41FA5}">
                          <a16:colId xmlns:a16="http://schemas.microsoft.com/office/drawing/2014/main" val="587569190"/>
                        </a:ext>
                      </a:extLst>
                    </a:gridCol>
                    <a:gridCol w="1233393">
                      <a:extLst>
                        <a:ext uri="{9D8B030D-6E8A-4147-A177-3AD203B41FA5}">
                          <a16:colId xmlns:a16="http://schemas.microsoft.com/office/drawing/2014/main" val="3630666221"/>
                        </a:ext>
                      </a:extLst>
                    </a:gridCol>
                    <a:gridCol w="979183">
                      <a:extLst>
                        <a:ext uri="{9D8B030D-6E8A-4147-A177-3AD203B41FA5}">
                          <a16:colId xmlns:a16="http://schemas.microsoft.com/office/drawing/2014/main" val="3511500316"/>
                        </a:ext>
                      </a:extLst>
                    </a:gridCol>
                    <a:gridCol w="2871641">
                      <a:extLst>
                        <a:ext uri="{9D8B030D-6E8A-4147-A177-3AD203B41FA5}">
                          <a16:colId xmlns:a16="http://schemas.microsoft.com/office/drawing/2014/main" val="1212171477"/>
                        </a:ext>
                      </a:extLst>
                    </a:gridCol>
                  </a:tblGrid>
                  <a:tr h="842814">
                    <a:tc>
                      <a:txBody>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CA" sz="2000" dirty="0">
                              <a:solidFill>
                                <a:schemeClr val="tx1"/>
                              </a:solidFill>
                              <a:latin typeface="Arial" panose="020B0604020202020204" pitchFamily="34" charset="0"/>
                              <a:cs typeface="Arial" panose="020B0604020202020204" pitchFamily="34" charset="0"/>
                            </a:rPr>
                            <a:t>Newtonian Gravity</a:t>
                          </a:r>
                        </a:p>
                      </a:txBody>
                      <a:tcPr marL="36000" marR="36000" anchor="ctr" anchorCtr="1"/>
                    </a:tc>
                    <a:tc>
                      <a:txBody>
                        <a:bodyPr/>
                        <a:lstStyle/>
                        <a:p>
                          <a:pPr algn="ctr"/>
                          <a:r>
                            <a:rPr lang="en-CA" sz="2000" dirty="0">
                              <a:solidFill>
                                <a:schemeClr val="tx1"/>
                              </a:solidFill>
                              <a:latin typeface="Arial" panose="020B0604020202020204" pitchFamily="34" charset="0"/>
                              <a:cs typeface="Arial" panose="020B0604020202020204" pitchFamily="34" charset="0"/>
                            </a:rPr>
                            <a:t>Relativistic Gravity</a:t>
                          </a:r>
                        </a:p>
                      </a:txBody>
                      <a:tcPr marL="36000" marR="36000" anchor="ctr" anchorCtr="1"/>
                    </a:tc>
                    <a:tc>
                      <a:txBody>
                        <a:bodyPr/>
                        <a:lstStyle/>
                        <a:p>
                          <a:endParaRPr lang="en-US"/>
                        </a:p>
                      </a:txBody>
                      <a:tcPr marL="36000" marR="36000" anchor="ctr" anchorCtr="1">
                        <a:blipFill>
                          <a:blip r:embed="rId3"/>
                          <a:stretch>
                            <a:fillRect l="-286207" t="-725" r="-313300" b="-271739"/>
                          </a:stretch>
                        </a:blipFill>
                      </a:tcPr>
                    </a:tc>
                    <a:tc>
                      <a:txBody>
                        <a:bodyPr/>
                        <a:lstStyle/>
                        <a:p>
                          <a:endParaRPr lang="en-US"/>
                        </a:p>
                      </a:txBody>
                      <a:tcPr marL="36000" marR="36000" anchor="ctr" anchorCtr="1">
                        <a:blipFill>
                          <a:blip r:embed="rId3"/>
                          <a:stretch>
                            <a:fillRect l="-486957" t="-725" r="-295031" b="-271739"/>
                          </a:stretch>
                        </a:blipFill>
                      </a:tcPr>
                    </a:tc>
                    <a:tc>
                      <a:txBody>
                        <a:bodyPr/>
                        <a:lstStyle/>
                        <a:p>
                          <a:pPr algn="ctr"/>
                          <a:r>
                            <a:rPr lang="en-CA" sz="2000" dirty="0">
                              <a:latin typeface="Arial" panose="020B0604020202020204" pitchFamily="34" charset="0"/>
                              <a:cs typeface="Arial" panose="020B0604020202020204" pitchFamily="34" charset="0"/>
                            </a:rPr>
                            <a:t>Shell Behaviour</a:t>
                          </a:r>
                        </a:p>
                      </a:txBody>
                      <a:tcPr marL="36000" marR="36000" anchor="ctr" anchorCtr="1"/>
                    </a:tc>
                    <a:extLst>
                      <a:ext uri="{0D108BD9-81ED-4DB2-BD59-A6C34878D82A}">
                        <a16:rowId xmlns:a16="http://schemas.microsoft.com/office/drawing/2014/main" val="4273422894"/>
                      </a:ext>
                    </a:extLst>
                  </a:tr>
                  <a:tr h="756386">
                    <a:tc>
                      <a:txBody>
                        <a:bodyPr/>
                        <a:lstStyle/>
                        <a:p>
                          <a:endParaRPr lang="en-US"/>
                        </a:p>
                      </a:txBody>
                      <a:tcPr marL="36000" marR="36000" anchor="ctr" anchorCtr="1">
                        <a:blipFill>
                          <a:blip r:embed="rId3"/>
                          <a:stretch>
                            <a:fillRect l="-345" t="-111200" r="-389310" b="-200000"/>
                          </a:stretch>
                        </a:blipFill>
                      </a:tcPr>
                    </a:tc>
                    <a:tc>
                      <a:txBody>
                        <a:bodyPr/>
                        <a:lstStyle/>
                        <a:p>
                          <a:endParaRPr lang="en-US"/>
                        </a:p>
                      </a:txBody>
                      <a:tcPr marL="36000" marR="36000" anchor="ctr" anchorCtr="1">
                        <a:blipFill>
                          <a:blip r:embed="rId3"/>
                          <a:stretch>
                            <a:fillRect l="-100345" t="-111200" r="-289310" b="-200000"/>
                          </a:stretch>
                        </a:blipFill>
                      </a:tcPr>
                    </a:tc>
                    <a:tc>
                      <a:txBody>
                        <a:bodyPr/>
                        <a:lstStyle/>
                        <a:p>
                          <a:pPr algn="ctr"/>
                          <a:r>
                            <a:rPr lang="en-CA" sz="2000" dirty="0">
                              <a:solidFill>
                                <a:schemeClr val="bg1"/>
                              </a:solidFill>
                              <a:latin typeface="Arial" panose="020B0604020202020204" pitchFamily="34" charset="0"/>
                              <a:cs typeface="Arial" panose="020B0604020202020204" pitchFamily="34" charset="0"/>
                            </a:rPr>
                            <a:t>Real</a:t>
                          </a:r>
                        </a:p>
                      </a:txBody>
                      <a:tcPr marL="36000" marR="36000" anchor="ctr" anchorCtr="1"/>
                    </a:tc>
                    <a:tc>
                      <a:txBody>
                        <a:bodyPr/>
                        <a:lstStyle/>
                        <a:p>
                          <a:endParaRPr lang="en-US"/>
                        </a:p>
                      </a:txBody>
                      <a:tcPr marL="36000" marR="36000" anchor="ctr" anchorCtr="1">
                        <a:blipFill>
                          <a:blip r:embed="rId3"/>
                          <a:stretch>
                            <a:fillRect l="-486957" t="-111200" r="-295031" b="-200000"/>
                          </a:stretch>
                        </a:blipFill>
                      </a:tcPr>
                    </a:tc>
                    <a:tc>
                      <a:txBody>
                        <a:bodyPr/>
                        <a:lstStyle/>
                        <a:p>
                          <a:pPr algn="ctr"/>
                          <a:r>
                            <a:rPr lang="en-CA" sz="2000" dirty="0">
                              <a:latin typeface="Arial" panose="020B0604020202020204" pitchFamily="34" charset="0"/>
                              <a:cs typeface="Arial" panose="020B0604020202020204" pitchFamily="34" charset="0"/>
                            </a:rPr>
                            <a:t>Oscillating</a:t>
                          </a:r>
                        </a:p>
                      </a:txBody>
                      <a:tcPr marL="36000" marR="36000" anchor="ctr" anchorCtr="1"/>
                    </a:tc>
                    <a:extLst>
                      <a:ext uri="{0D108BD9-81ED-4DB2-BD59-A6C34878D82A}">
                        <a16:rowId xmlns:a16="http://schemas.microsoft.com/office/drawing/2014/main" val="44417074"/>
                      </a:ext>
                    </a:extLst>
                  </a:tr>
                  <a:tr h="756386">
                    <a:tc>
                      <a:txBody>
                        <a:bodyPr/>
                        <a:lstStyle/>
                        <a:p>
                          <a:endParaRPr lang="en-US"/>
                        </a:p>
                      </a:txBody>
                      <a:tcPr marL="36000" marR="36000" anchor="ctr" anchorCtr="1">
                        <a:blipFill>
                          <a:blip r:embed="rId3"/>
                          <a:stretch>
                            <a:fillRect l="-345" t="-212903" r="-389310" b="-101613"/>
                          </a:stretch>
                        </a:blipFill>
                      </a:tcPr>
                    </a:tc>
                    <a:tc>
                      <a:txBody>
                        <a:bodyPr/>
                        <a:lstStyle/>
                        <a:p>
                          <a:endParaRPr lang="en-US"/>
                        </a:p>
                      </a:txBody>
                      <a:tcPr marL="36000" marR="36000" anchor="ctr" anchorCtr="1">
                        <a:blipFill>
                          <a:blip r:embed="rId3"/>
                          <a:stretch>
                            <a:fillRect l="-100345" t="-212903" r="-289310" b="-101613"/>
                          </a:stretch>
                        </a:blipFill>
                      </a:tcPr>
                    </a:tc>
                    <a:tc>
                      <a:txBody>
                        <a:bodyPr/>
                        <a:lstStyle/>
                        <a:p>
                          <a:pPr algn="ctr"/>
                          <a:r>
                            <a:rPr lang="en-CA" sz="2000" dirty="0">
                              <a:latin typeface="Arial" panose="020B0604020202020204" pitchFamily="34" charset="0"/>
                              <a:cs typeface="Arial" panose="020B0604020202020204" pitchFamily="34" charset="0"/>
                            </a:rPr>
                            <a:t>Complex</a:t>
                          </a:r>
                        </a:p>
                      </a:txBody>
                      <a:tcPr marL="36000" marR="36000" anchor="ctr" anchorCtr="1"/>
                    </a:tc>
                    <a:tc>
                      <a:txBody>
                        <a:bodyPr/>
                        <a:lstStyle/>
                        <a:p>
                          <a:endParaRPr lang="en-US"/>
                        </a:p>
                      </a:txBody>
                      <a:tcPr marL="36000" marR="36000" anchor="ctr" anchorCtr="1">
                        <a:blipFill>
                          <a:blip r:embed="rId3"/>
                          <a:stretch>
                            <a:fillRect l="-486957" t="-212903" r="-295031" b="-101613"/>
                          </a:stretch>
                        </a:blipFill>
                      </a:tcPr>
                    </a:tc>
                    <a:tc>
                      <a:txBody>
                        <a:bodyPr/>
                        <a:lstStyle/>
                        <a:p>
                          <a:pPr algn="ctr"/>
                          <a:r>
                            <a:rPr lang="en-CA" sz="2000" dirty="0">
                              <a:latin typeface="Arial" panose="020B0604020202020204" pitchFamily="34" charset="0"/>
                              <a:cs typeface="Arial" panose="020B0604020202020204" pitchFamily="34" charset="0"/>
                            </a:rPr>
                            <a:t>Expansion/Contraction</a:t>
                          </a:r>
                        </a:p>
                      </a:txBody>
                      <a:tcPr marL="36000" marR="36000" anchor="ctr" anchorCtr="1"/>
                    </a:tc>
                    <a:extLst>
                      <a:ext uri="{0D108BD9-81ED-4DB2-BD59-A6C34878D82A}">
                        <a16:rowId xmlns:a16="http://schemas.microsoft.com/office/drawing/2014/main" val="3595853866"/>
                      </a:ext>
                    </a:extLst>
                  </a:tr>
                  <a:tr h="756386">
                    <a:tc>
                      <a:txBody>
                        <a:bodyPr/>
                        <a:lstStyle/>
                        <a:p>
                          <a:endParaRPr lang="en-US"/>
                        </a:p>
                      </a:txBody>
                      <a:tcPr marL="36000" marR="36000" anchor="ctr" anchorCtr="1">
                        <a:blipFill>
                          <a:blip r:embed="rId3"/>
                          <a:stretch>
                            <a:fillRect l="-345" t="-312903" r="-389310" b="-1613"/>
                          </a:stretch>
                        </a:blipFill>
                      </a:tcPr>
                    </a:tc>
                    <a:tc>
                      <a:txBody>
                        <a:bodyPr/>
                        <a:lstStyle/>
                        <a:p>
                          <a:endParaRPr lang="en-US"/>
                        </a:p>
                      </a:txBody>
                      <a:tcPr marL="36000" marR="36000" anchor="ctr" anchorCtr="1">
                        <a:blipFill>
                          <a:blip r:embed="rId3"/>
                          <a:stretch>
                            <a:fillRect l="-100345" t="-312903" r="-289310" b="-1613"/>
                          </a:stretch>
                        </a:blipFill>
                      </a:tcPr>
                    </a:tc>
                    <a:tc>
                      <a:txBody>
                        <a:bodyPr/>
                        <a:lstStyle/>
                        <a:p>
                          <a:pPr algn="ctr"/>
                          <a:r>
                            <a:rPr lang="en-CA" sz="2000" dirty="0">
                              <a:latin typeface="Arial" panose="020B0604020202020204" pitchFamily="34" charset="0"/>
                              <a:cs typeface="Arial" panose="020B0604020202020204" pitchFamily="34" charset="0"/>
                            </a:rPr>
                            <a:t>0</a:t>
                          </a:r>
                        </a:p>
                      </a:txBody>
                      <a:tcPr marL="36000" marR="36000" anchor="ctr" anchorCtr="1"/>
                    </a:tc>
                    <a:tc>
                      <a:txBody>
                        <a:bodyPr/>
                        <a:lstStyle/>
                        <a:p>
                          <a:endParaRPr lang="en-US"/>
                        </a:p>
                      </a:txBody>
                      <a:tcPr marL="36000" marR="36000" anchor="ctr" anchorCtr="1">
                        <a:blipFill>
                          <a:blip r:embed="rId3"/>
                          <a:stretch>
                            <a:fillRect l="-486957" t="-312903" r="-295031" b="-1613"/>
                          </a:stretch>
                        </a:blipFill>
                      </a:tcPr>
                    </a:tc>
                    <a:tc>
                      <a:txBody>
                        <a:bodyPr/>
                        <a:lstStyle/>
                        <a:p>
                          <a:pPr algn="ctr"/>
                          <a:r>
                            <a:rPr lang="en-CA" sz="2000" dirty="0">
                              <a:latin typeface="Arial" panose="020B0604020202020204" pitchFamily="34" charset="0"/>
                              <a:cs typeface="Arial" panose="020B0604020202020204" pitchFamily="34" charset="0"/>
                            </a:rPr>
                            <a:t>Constant</a:t>
                          </a:r>
                        </a:p>
                      </a:txBody>
                      <a:tcPr marL="36000" marR="36000" anchor="ctr" anchorCtr="1"/>
                    </a:tc>
                    <a:extLst>
                      <a:ext uri="{0D108BD9-81ED-4DB2-BD59-A6C34878D82A}">
                        <a16:rowId xmlns:a16="http://schemas.microsoft.com/office/drawing/2014/main" val="1586204402"/>
                      </a:ext>
                    </a:extLst>
                  </a:tr>
                </a:tbl>
              </a:graphicData>
            </a:graphic>
          </p:graphicFrame>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1234AA50-D1D9-45A7-8F14-8E4EBB8C2EBD}"/>
                  </a:ext>
                </a:extLst>
              </p:cNvPr>
              <p:cNvSpPr txBox="1"/>
              <p:nvPr/>
            </p:nvSpPr>
            <p:spPr>
              <a:xfrm>
                <a:off x="8903603" y="3287297"/>
                <a:ext cx="3223294" cy="2989793"/>
              </a:xfrm>
              <a:prstGeom prst="rect">
                <a:avLst/>
              </a:prstGeom>
              <a:noFill/>
            </p:spPr>
            <p:txBody>
              <a:bodyPr wrap="square" rtlCol="0">
                <a:spAutoFit/>
              </a:bodyPr>
              <a:lstStyle/>
              <a:p>
                <a:pPr marL="342900" lvl="0" indent="-342900" defTabSz="457200">
                  <a:buFont typeface="Arial" panose="020B0604020202020204" pitchFamily="34" charset="0"/>
                  <a:buChar char="•"/>
                  <a:defRPr/>
                </a:pPr>
                <a14:m>
                  <m:oMath xmlns:m="http://schemas.openxmlformats.org/officeDocument/2006/math">
                    <m:sSub>
                      <m:sSubPr>
                        <m:ctrlPr>
                          <a:rPr lang="en-CA" sz="2000" b="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CA" sz="200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𝛾</m:t>
                        </m:r>
                      </m:e>
                      <m:sub>
                        <m:r>
                          <a:rPr lang="en-CA" sz="2000" b="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𝑅𝑒𝑙</m:t>
                        </m:r>
                      </m:sub>
                    </m:sSub>
                    <m:r>
                      <a:rPr lang="en-CA" sz="2000" b="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&gt;</m:t>
                    </m:r>
                    <m:sSub>
                      <m:sSubPr>
                        <m:ctrlPr>
                          <a:rPr lang="en-CA" sz="2000" b="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CA" sz="2000" b="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𝛾</m:t>
                        </m:r>
                      </m:e>
                      <m:sub>
                        <m:r>
                          <a:rPr lang="en-CA" sz="2000" b="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𝑁𝑒𝑤𝑡</m:t>
                        </m:r>
                      </m:sub>
                    </m:sSub>
                  </m:oMath>
                </a14:m>
                <a:r>
                  <a:rPr lang="en-CA" sz="2000" noProof="0" dirty="0">
                    <a:solidFill>
                      <a:prstClr val="white"/>
                    </a:solidFill>
                    <a:latin typeface="Arial" panose="020B0604020202020204" pitchFamily="34" charset="0"/>
                    <a:ea typeface="Cambria Math" panose="02040503050406030204" pitchFamily="18" charset="0"/>
                    <a:cs typeface="Times New Roman" panose="02020603050405020304" pitchFamily="18" charset="0"/>
                  </a:rPr>
                  <a:t> </a:t>
                </a:r>
                <a:r>
                  <a:rPr lang="en-CA" sz="2000" dirty="0">
                    <a:solidFill>
                      <a:prstClr val="white"/>
                    </a:solidFill>
                    <a:latin typeface="Arial" panose="020B0604020202020204" pitchFamily="34" charset="0"/>
                    <a:cs typeface="Arial" panose="020B0604020202020204" pitchFamily="34" charset="0"/>
                  </a:rPr>
                  <a:t>to maintain shell stability since relativistic gravity is stronger than Newtonian gravity</a:t>
                </a:r>
                <a:endPar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342900" marR="0" lvl="0" indent="-342900"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lang="en-CA" sz="2000" dirty="0">
                  <a:solidFill>
                    <a:prstClr val="white"/>
                  </a:solidFill>
                  <a:latin typeface="Arial" panose="020B0604020202020204" pitchFamily="34" charset="0"/>
                  <a:cs typeface="Arial" panose="020B0604020202020204" pitchFamily="34" charset="0"/>
                </a:endParaRPr>
              </a:p>
              <a:p>
                <a:pPr marL="342900" marR="0" lvl="0" indent="-342900"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2000" dirty="0">
                    <a:solidFill>
                      <a:prstClr val="white"/>
                    </a:solidFill>
                    <a:latin typeface="Arial" panose="020B0604020202020204" pitchFamily="34" charset="0"/>
                    <a:cs typeface="Arial" panose="020B0604020202020204" pitchFamily="34" charset="0"/>
                  </a:rPr>
                  <a:t>For</a:t>
                </a: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14:m>
                  <m:oMath xmlns:m="http://schemas.openxmlformats.org/officeDocument/2006/math">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mn-ea"/>
                        <a:cs typeface="Times New Roman" panose="02020603050405020304" pitchFamily="18" charset="0"/>
                      </a:rPr>
                      <m:t>𝐶</m:t>
                    </m:r>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≪1</m:t>
                    </m:r>
                    <m: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oMath>
                </a14:m>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14:m>
                  <m:oMath xmlns:m="http://schemas.openxmlformats.org/officeDocument/2006/math">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𝛾</m:t>
                    </m:r>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f>
                      <m:fPr>
                        <m:ctrlP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3</m:t>
                        </m:r>
                      </m:num>
                      <m:den>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2</m:t>
                        </m:r>
                      </m:den>
                    </m:f>
                  </m:oMath>
                </a14:m>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 Newtonian gravity is recovered!</a:t>
                </a:r>
                <a:endParaRPr lang="en-CA" sz="2000" dirty="0">
                  <a:solidFill>
                    <a:prstClr val="white"/>
                  </a:solidFill>
                  <a:latin typeface="Arial" panose="020B0604020202020204" pitchFamily="34" charset="0"/>
                  <a:cs typeface="Arial" panose="020B0604020202020204" pitchFamily="34" charset="0"/>
                </a:endParaRPr>
              </a:p>
            </p:txBody>
          </p:sp>
        </mc:Choice>
        <mc:Fallback>
          <p:sp>
            <p:nvSpPr>
              <p:cNvPr id="12" name="TextBox 11">
                <a:extLst>
                  <a:ext uri="{FF2B5EF4-FFF2-40B4-BE49-F238E27FC236}">
                    <a16:creationId xmlns:a16="http://schemas.microsoft.com/office/drawing/2014/main" id="{1234AA50-D1D9-45A7-8F14-8E4EBB8C2EBD}"/>
                  </a:ext>
                </a:extLst>
              </p:cNvPr>
              <p:cNvSpPr txBox="1">
                <a:spLocks noRot="1" noChangeAspect="1" noMove="1" noResize="1" noEditPoints="1" noAdjustHandles="1" noChangeArrowheads="1" noChangeShapeType="1" noTextEdit="1"/>
              </p:cNvSpPr>
              <p:nvPr/>
            </p:nvSpPr>
            <p:spPr>
              <a:xfrm>
                <a:off x="8903603" y="3287297"/>
                <a:ext cx="3223294" cy="2989793"/>
              </a:xfrm>
              <a:prstGeom prst="rect">
                <a:avLst/>
              </a:prstGeom>
              <a:blipFill>
                <a:blip r:embed="rId4"/>
                <a:stretch>
                  <a:fillRect l="-1705" t="-815" r="-3788" b="-2648"/>
                </a:stretch>
              </a:blipFill>
            </p:spPr>
            <p:txBody>
              <a:bodyPr/>
              <a:lstStyle/>
              <a:p>
                <a:r>
                  <a:rPr lang="en-CA">
                    <a:noFill/>
                  </a:rPr>
                  <a:t> </a:t>
                </a:r>
              </a:p>
            </p:txBody>
          </p:sp>
        </mc:Fallback>
      </mc:AlternateContent>
      <p:sp>
        <p:nvSpPr>
          <p:cNvPr id="19" name="Footer Placeholder 1">
            <a:extLst>
              <a:ext uri="{FF2B5EF4-FFF2-40B4-BE49-F238E27FC236}">
                <a16:creationId xmlns:a16="http://schemas.microsoft.com/office/drawing/2014/main" id="{D00278BF-F764-4182-9DC3-CEC2E3633B75}"/>
              </a:ext>
            </a:extLst>
          </p:cNvPr>
          <p:cNvSpPr txBox="1">
            <a:spLocks/>
          </p:cNvSpPr>
          <p:nvPr/>
        </p:nvSpPr>
        <p:spPr>
          <a:xfrm>
            <a:off x="2182170" y="6413063"/>
            <a:ext cx="7827659" cy="377825"/>
          </a:xfrm>
          <a:prstGeom prst="rect">
            <a:avLst/>
          </a:prstGeom>
        </p:spPr>
        <p:txBody>
          <a:bodyPr vert="horz" lIns="91440" tIns="45720" rIns="91440" bIns="45720" rtlCol="0" anchor="ctr"/>
          <a:lstStyle>
            <a:defPPr>
              <a:defRPr lang="en-US"/>
            </a:defPPr>
            <a:lvl1pPr marL="0" algn="l"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atin typeface="Arial" panose="020B0604020202020204" pitchFamily="34" charset="0"/>
                <a:cs typeface="Arial" panose="020B0604020202020204" pitchFamily="34" charset="0"/>
              </a:rPr>
              <a:t>Canadian Undergraduate Physics Conference</a:t>
            </a:r>
            <a:endParaRPr lang="en-US" dirty="0">
              <a:latin typeface="Arial" panose="020B0604020202020204" pitchFamily="34" charset="0"/>
              <a:cs typeface="Arial" panose="020B0604020202020204" pitchFamily="34" charset="0"/>
            </a:endParaRPr>
          </a:p>
        </p:txBody>
      </p:sp>
      <p:sp>
        <p:nvSpPr>
          <p:cNvPr id="20" name="Slide Number Placeholder 2">
            <a:extLst>
              <a:ext uri="{FF2B5EF4-FFF2-40B4-BE49-F238E27FC236}">
                <a16:creationId xmlns:a16="http://schemas.microsoft.com/office/drawing/2014/main" id="{263BACF5-3162-4B84-9652-ADF8B8E0CBB0}"/>
              </a:ext>
            </a:extLst>
          </p:cNvPr>
          <p:cNvSpPr txBox="1">
            <a:spLocks/>
          </p:cNvSpPr>
          <p:nvPr/>
        </p:nvSpPr>
        <p:spPr>
          <a:xfrm>
            <a:off x="10284775" y="6413063"/>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57F1E4F-1CFF-5643-939E-217C01CDF565}" type="slidenum">
              <a:rPr lang="en-US" smtClean="0">
                <a:latin typeface="Arial" panose="020B0604020202020204" pitchFamily="34" charset="0"/>
                <a:cs typeface="Arial" panose="020B0604020202020204" pitchFamily="34" charset="0"/>
              </a:rPr>
              <a:pPr algn="ctr"/>
              <a:t>7</a:t>
            </a:fld>
            <a:endParaRPr lang="en-US" dirty="0">
              <a:latin typeface="Arial" panose="020B0604020202020204" pitchFamily="34" charset="0"/>
              <a:cs typeface="Arial" panose="020B0604020202020204" pitchFamily="34" charset="0"/>
            </a:endParaRPr>
          </a:p>
        </p:txBody>
      </p:sp>
      <p:sp>
        <p:nvSpPr>
          <p:cNvPr id="21" name="Date Placeholder 5">
            <a:extLst>
              <a:ext uri="{FF2B5EF4-FFF2-40B4-BE49-F238E27FC236}">
                <a16:creationId xmlns:a16="http://schemas.microsoft.com/office/drawing/2014/main" id="{1F017FC2-FEDB-47E3-8CD4-BF04C5D63603}"/>
              </a:ext>
            </a:extLst>
          </p:cNvPr>
          <p:cNvSpPr txBox="1">
            <a:spLocks/>
          </p:cNvSpPr>
          <p:nvPr/>
        </p:nvSpPr>
        <p:spPr>
          <a:xfrm>
            <a:off x="831541" y="6413063"/>
            <a:ext cx="1600200"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1A6D2-BD25-476B-8695-9DF6C2E37C50}" type="datetime1">
              <a:rPr lang="en-US" smtClean="0">
                <a:latin typeface="Arial" panose="020B0604020202020204" pitchFamily="34" charset="0"/>
                <a:cs typeface="Arial" panose="020B0604020202020204" pitchFamily="34" charset="0"/>
              </a:rPr>
              <a:pPr algn="ctr"/>
              <a:t>10/26/2019</a:t>
            </a:fld>
            <a:endParaRPr lang="en-US" dirty="0">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8451E444-6C1B-4851-9455-36C15ECFD10F}"/>
              </a:ext>
            </a:extLst>
          </p:cNvPr>
          <p:cNvGrpSpPr/>
          <p:nvPr/>
        </p:nvGrpSpPr>
        <p:grpSpPr>
          <a:xfrm>
            <a:off x="-27806" y="-9503"/>
            <a:ext cx="12219806" cy="936000"/>
            <a:chOff x="-27806" y="-9503"/>
            <a:chExt cx="12219806" cy="1035869"/>
          </a:xfrm>
        </p:grpSpPr>
        <p:sp>
          <p:nvSpPr>
            <p:cNvPr id="17" name="Rectangle 16">
              <a:extLst>
                <a:ext uri="{FF2B5EF4-FFF2-40B4-BE49-F238E27FC236}">
                  <a16:creationId xmlns:a16="http://schemas.microsoft.com/office/drawing/2014/main" id="{D8134CFE-DCB2-4FDE-8CAF-ED5831B17553}"/>
                </a:ext>
              </a:extLst>
            </p:cNvPr>
            <p:cNvSpPr/>
            <p:nvPr/>
          </p:nvSpPr>
          <p:spPr>
            <a:xfrm>
              <a:off x="0" y="0"/>
              <a:ext cx="12192000" cy="10263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2" name="Picture 2" descr="Related image">
              <a:extLst>
                <a:ext uri="{FF2B5EF4-FFF2-40B4-BE49-F238E27FC236}">
                  <a16:creationId xmlns:a16="http://schemas.microsoft.com/office/drawing/2014/main" id="{E20F38E7-D44E-4486-80AA-AF871A57B195}"/>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9357" t="33734" r="11492" b="33338"/>
            <a:stretch/>
          </p:blipFill>
          <p:spPr bwMode="auto">
            <a:xfrm>
              <a:off x="-27806" y="-9503"/>
              <a:ext cx="1567544" cy="620809"/>
            </a:xfrm>
            <a:prstGeom prst="rect">
              <a:avLst/>
            </a:prstGeom>
            <a:noFill/>
          </p:spPr>
        </p:pic>
      </p:grpSp>
      <p:sp>
        <p:nvSpPr>
          <p:cNvPr id="6" name="TextBox 5">
            <a:extLst>
              <a:ext uri="{FF2B5EF4-FFF2-40B4-BE49-F238E27FC236}">
                <a16:creationId xmlns:a16="http://schemas.microsoft.com/office/drawing/2014/main" id="{91CBFD2A-3249-4B91-B825-A56ED384ED6D}"/>
              </a:ext>
            </a:extLst>
          </p:cNvPr>
          <p:cNvSpPr txBox="1"/>
          <p:nvPr/>
        </p:nvSpPr>
        <p:spPr>
          <a:xfrm>
            <a:off x="2798422" y="210577"/>
            <a:ext cx="5268287"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32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Stability Conditions</a:t>
            </a:r>
          </a:p>
        </p:txBody>
      </p:sp>
      <p:grpSp>
        <p:nvGrpSpPr>
          <p:cNvPr id="2" name="Group 1">
            <a:extLst>
              <a:ext uri="{FF2B5EF4-FFF2-40B4-BE49-F238E27FC236}">
                <a16:creationId xmlns:a16="http://schemas.microsoft.com/office/drawing/2014/main" id="{F916DCB4-4B8D-46B7-BDB8-DC80B102293B}"/>
              </a:ext>
            </a:extLst>
          </p:cNvPr>
          <p:cNvGrpSpPr/>
          <p:nvPr/>
        </p:nvGrpSpPr>
        <p:grpSpPr>
          <a:xfrm>
            <a:off x="-124164" y="896253"/>
            <a:ext cx="12155098" cy="1179554"/>
            <a:chOff x="18448" y="685380"/>
            <a:chExt cx="12155098" cy="1179554"/>
          </a:xfrm>
        </p:grpSpPr>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AA1F7D4-02D2-4DF7-B76F-149871F8ED80}"/>
                    </a:ext>
                  </a:extLst>
                </p:cNvPr>
                <p:cNvSpPr txBox="1"/>
                <p:nvPr/>
              </p:nvSpPr>
              <p:spPr>
                <a:xfrm>
                  <a:off x="18448" y="685380"/>
                  <a:ext cx="12155098" cy="1179554"/>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Cambria Math" panose="02040503050406030204" pitchFamily="18" charset="0"/>
                      <a:cs typeface="Arial" panose="020B0604020202020204" pitchFamily="34" charset="0"/>
                    </a:rPr>
                    <a:t>For small radial perturbations </a:t>
                  </a:r>
                  <a14:m>
                    <m:oMath xmlns:m="http://schemas.openxmlformats.org/officeDocument/2006/math">
                      <m:d>
                        <m:dPr>
                          <m:begChr m:val="|"/>
                          <m:endChr m:val="|"/>
                          <m:ctrlP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𝛿</m:t>
                          </m:r>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𝑅</m:t>
                          </m:r>
                        </m:e>
                      </m:d>
                      <m: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≪1</m:t>
                      </m:r>
                    </m:oMath>
                  </a14:m>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Cambria Math" panose="02040503050406030204" pitchFamily="18" charset="0"/>
                      <a:cs typeface="Arial" panose="020B0604020202020204" pitchFamily="34" charset="0"/>
                    </a:rPr>
                    <a:t> , the solution has the form of a harmonic oscillator: </a:t>
                  </a:r>
                </a:p>
                <a:p>
                  <a:pPr marL="0" marR="0" lvl="0" indent="0" algn="ctr" defTabSz="457200" rtl="0" eaLnBrk="1" fontAlgn="auto" latinLnBrk="0" hangingPunct="1">
                    <a:lnSpc>
                      <a:spcPct val="100000"/>
                    </a:lnSpc>
                    <a:spcBef>
                      <a:spcPts val="600"/>
                    </a:spcBef>
                    <a:spcAft>
                      <a:spcPts val="600"/>
                    </a:spcAft>
                    <a:buClrTx/>
                    <a:buSzTx/>
                    <a:buFontTx/>
                    <a:buNone/>
                    <a:tabLst/>
                    <a:defRPr/>
                  </a:pPr>
                  <a14:m>
                    <m:oMath xmlns:m="http://schemas.openxmlformats.org/officeDocument/2006/math">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𝛿</m:t>
                      </m:r>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𝑅</m:t>
                      </m:r>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𝐴</m:t>
                      </m:r>
                      <m:sSup>
                        <m:sSupPr>
                          <m:ctrlP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𝑒</m:t>
                          </m:r>
                        </m:e>
                        <m:sup>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𝑖</m:t>
                          </m:r>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𝜔𝜏</m:t>
                          </m:r>
                        </m:sup>
                      </m:sSup>
                    </m:oMath>
                  </a14:m>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Cambria Math" panose="02040503050406030204" pitchFamily="18" charset="0"/>
                      <a:cs typeface="Arial" panose="020B0604020202020204" pitchFamily="34" charset="0"/>
                    </a:rPr>
                    <a:t> ,</a:t>
                  </a:r>
                  <a:endParaRPr kumimoji="0" lang="en-CA" sz="20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Cambria Math" panose="02040503050406030204" pitchFamily="18" charset="0"/>
                      <a:cs typeface="Arial" panose="020B0604020202020204" pitchFamily="34" charset="0"/>
                    </a:rPr>
                    <a:t>where </a:t>
                  </a:r>
                  <a14:m>
                    <m:oMath xmlns:m="http://schemas.openxmlformats.org/officeDocument/2006/math">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𝐴</m:t>
                      </m:r>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oMath>
                  </a14:m>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Cambria Math" panose="02040503050406030204" pitchFamily="18" charset="0"/>
                      <a:cs typeface="Arial" panose="020B0604020202020204" pitchFamily="34" charset="0"/>
                    </a:rPr>
                    <a:t>is a constant determined by initial conditions (</a:t>
                  </a:r>
                  <a14:m>
                    <m:oMath xmlns:m="http://schemas.openxmlformats.org/officeDocument/2006/math">
                      <m: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Arial" panose="020B0604020202020204" pitchFamily="34" charset="0"/>
                        </a:rPr>
                        <m:t>𝜏</m:t>
                      </m:r>
                      <m: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Arial" panose="020B0604020202020204" pitchFamily="34" charset="0"/>
                        </a:rPr>
                        <m:t>=</m:t>
                      </m:r>
                      <m: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Arial" panose="020B0604020202020204" pitchFamily="34" charset="0"/>
                        </a:rPr>
                        <m:t>𝑡</m:t>
                      </m:r>
                    </m:oMath>
                  </a14:m>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Cambria Math" panose="02040503050406030204" pitchFamily="18" charset="0"/>
                      <a:cs typeface="Arial" panose="020B0604020202020204" pitchFamily="34" charset="0"/>
                    </a:rPr>
                    <a:t> in Newtonian regime).</a:t>
                  </a:r>
                </a:p>
              </p:txBody>
            </p:sp>
          </mc:Choice>
          <mc:Fallback xmlns="">
            <p:sp>
              <p:nvSpPr>
                <p:cNvPr id="7" name="TextBox 6">
                  <a:extLst>
                    <a:ext uri="{FF2B5EF4-FFF2-40B4-BE49-F238E27FC236}">
                      <a16:creationId xmlns:a16="http://schemas.microsoft.com/office/drawing/2014/main" id="{1AA1F7D4-02D2-4DF7-B76F-149871F8ED80}"/>
                    </a:ext>
                  </a:extLst>
                </p:cNvPr>
                <p:cNvSpPr txBox="1">
                  <a:spLocks noRot="1" noChangeAspect="1" noMove="1" noResize="1" noEditPoints="1" noAdjustHandles="1" noChangeArrowheads="1" noChangeShapeType="1" noTextEdit="1"/>
                </p:cNvSpPr>
                <p:nvPr/>
              </p:nvSpPr>
              <p:spPr>
                <a:xfrm>
                  <a:off x="18448" y="685380"/>
                  <a:ext cx="12155098" cy="1179554"/>
                </a:xfrm>
                <a:prstGeom prst="rect">
                  <a:avLst/>
                </a:prstGeom>
                <a:blipFill>
                  <a:blip r:embed="rId6"/>
                  <a:stretch>
                    <a:fillRect t="-2062" b="-8247"/>
                  </a:stretch>
                </a:blipFill>
              </p:spPr>
              <p:txBody>
                <a:bodyPr/>
                <a:lstStyle/>
                <a:p>
                  <a:r>
                    <a:rPr lang="en-CA">
                      <a:noFill/>
                    </a:rPr>
                    <a:t> </a:t>
                  </a:r>
                </a:p>
              </p:txBody>
            </p:sp>
          </mc:Fallback>
        </mc:AlternateContent>
        <p:sp>
          <p:nvSpPr>
            <p:cNvPr id="3" name="TextBox 2">
              <a:extLst>
                <a:ext uri="{FF2B5EF4-FFF2-40B4-BE49-F238E27FC236}">
                  <a16:creationId xmlns:a16="http://schemas.microsoft.com/office/drawing/2014/main" id="{022359C6-3343-41BA-9517-F2B9CB51EA2C}"/>
                </a:ext>
              </a:extLst>
            </p:cNvPr>
            <p:cNvSpPr txBox="1"/>
            <p:nvPr/>
          </p:nvSpPr>
          <p:spPr>
            <a:xfrm>
              <a:off x="5248274" y="1067123"/>
              <a:ext cx="1533525" cy="416068"/>
            </a:xfrm>
            <a:prstGeom prst="rect">
              <a:avLst/>
            </a:prstGeom>
            <a:noFill/>
            <a:ln w="22225">
              <a:solidFill>
                <a:schemeClr val="tx1"/>
              </a:solidFill>
            </a:ln>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grpSp>
    </p:spTree>
    <p:extLst>
      <p:ext uri="{BB962C8B-B14F-4D97-AF65-F5344CB8AC3E}">
        <p14:creationId xmlns:p14="http://schemas.microsoft.com/office/powerpoint/2010/main" val="37708388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B0A507F0-04B4-40D5-9182-9F14E154C8FD}"/>
                  </a:ext>
                </a:extLst>
              </p:cNvPr>
              <p:cNvSpPr txBox="1"/>
              <p:nvPr/>
            </p:nvSpPr>
            <p:spPr>
              <a:xfrm>
                <a:off x="144379" y="5428185"/>
                <a:ext cx="5746923" cy="707886"/>
              </a:xfrm>
              <a:prstGeom prst="rect">
                <a:avLst/>
              </a:prstGeom>
              <a:noFill/>
            </p:spPr>
            <p:txBody>
              <a:bodyPr wrap="square" rtlCol="0">
                <a:spAutoFit/>
              </a:bodyPr>
              <a:lstStyle/>
              <a:p>
                <a:pPr marL="342900" lvl="0" indent="-342900" defTabSz="457200">
                  <a:buFont typeface="Arial" panose="020B0604020202020204" pitchFamily="34" charset="0"/>
                  <a:buChar char="•"/>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For an unstable </a:t>
                </a:r>
                <a14:m>
                  <m:oMath xmlns:m="http://schemas.openxmlformats.org/officeDocument/2006/math">
                    <m: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Cambria Math" panose="02040503050406030204" pitchFamily="18" charset="0"/>
                        <a:cs typeface="Arial" panose="020B0604020202020204" pitchFamily="34" charset="0"/>
                      </a:rPr>
                      <m:t>𝛾</m:t>
                    </m:r>
                  </m:oMath>
                </a14:m>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thin-shell transitions to a black hole once the limiting radius is reached</a:t>
                </a:r>
              </a:p>
            </p:txBody>
          </p:sp>
        </mc:Choice>
        <mc:Fallback>
          <p:sp>
            <p:nvSpPr>
              <p:cNvPr id="37" name="TextBox 36">
                <a:extLst>
                  <a:ext uri="{FF2B5EF4-FFF2-40B4-BE49-F238E27FC236}">
                    <a16:creationId xmlns:a16="http://schemas.microsoft.com/office/drawing/2014/main" id="{B0A507F0-04B4-40D5-9182-9F14E154C8FD}"/>
                  </a:ext>
                </a:extLst>
              </p:cNvPr>
              <p:cNvSpPr txBox="1">
                <a:spLocks noRot="1" noChangeAspect="1" noMove="1" noResize="1" noEditPoints="1" noAdjustHandles="1" noChangeArrowheads="1" noChangeShapeType="1" noTextEdit="1"/>
              </p:cNvSpPr>
              <p:nvPr/>
            </p:nvSpPr>
            <p:spPr>
              <a:xfrm>
                <a:off x="144379" y="5428185"/>
                <a:ext cx="5746923" cy="707886"/>
              </a:xfrm>
              <a:prstGeom prst="rect">
                <a:avLst/>
              </a:prstGeom>
              <a:blipFill>
                <a:blip r:embed="rId2"/>
                <a:stretch>
                  <a:fillRect l="-955" t="-3419" b="-14530"/>
                </a:stretch>
              </a:blipFill>
            </p:spPr>
            <p:txBody>
              <a:bodyPr/>
              <a:lstStyle/>
              <a:p>
                <a:r>
                  <a:rPr lang="en-CA">
                    <a:noFill/>
                  </a:rPr>
                  <a:t> </a:t>
                </a:r>
              </a:p>
            </p:txBody>
          </p:sp>
        </mc:Fallback>
      </mc:AlternateContent>
      <p:grpSp>
        <p:nvGrpSpPr>
          <p:cNvPr id="14" name="Group 13">
            <a:extLst>
              <a:ext uri="{FF2B5EF4-FFF2-40B4-BE49-F238E27FC236}">
                <a16:creationId xmlns:a16="http://schemas.microsoft.com/office/drawing/2014/main" id="{A59E136A-45E2-4CBF-B063-5AF474EDC102}"/>
              </a:ext>
            </a:extLst>
          </p:cNvPr>
          <p:cNvGrpSpPr/>
          <p:nvPr/>
        </p:nvGrpSpPr>
        <p:grpSpPr>
          <a:xfrm>
            <a:off x="-27806" y="-9503"/>
            <a:ext cx="12219806" cy="936000"/>
            <a:chOff x="-27806" y="-9503"/>
            <a:chExt cx="12219806" cy="1037694"/>
          </a:xfrm>
        </p:grpSpPr>
        <p:sp>
          <p:nvSpPr>
            <p:cNvPr id="32" name="Rectangle 31">
              <a:extLst>
                <a:ext uri="{FF2B5EF4-FFF2-40B4-BE49-F238E27FC236}">
                  <a16:creationId xmlns:a16="http://schemas.microsoft.com/office/drawing/2014/main" id="{4FE08241-1694-4AA8-AFFF-1F332365BD55}"/>
                </a:ext>
              </a:extLst>
            </p:cNvPr>
            <p:cNvSpPr/>
            <p:nvPr/>
          </p:nvSpPr>
          <p:spPr>
            <a:xfrm>
              <a:off x="0" y="1825"/>
              <a:ext cx="12192000" cy="10263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4" name="Picture 2" descr="Related image">
              <a:extLst>
                <a:ext uri="{FF2B5EF4-FFF2-40B4-BE49-F238E27FC236}">
                  <a16:creationId xmlns:a16="http://schemas.microsoft.com/office/drawing/2014/main" id="{8B310AB6-134D-4DB8-BA04-D3C962D90E36}"/>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357" t="33734" r="11492" b="33338"/>
            <a:stretch/>
          </p:blipFill>
          <p:spPr bwMode="auto">
            <a:xfrm>
              <a:off x="-27806" y="-9503"/>
              <a:ext cx="1567544" cy="620809"/>
            </a:xfrm>
            <a:prstGeom prst="rect">
              <a:avLst/>
            </a:prstGeom>
            <a:noFill/>
          </p:spPr>
        </p:pic>
      </p:grpSp>
      <p:sp>
        <p:nvSpPr>
          <p:cNvPr id="4" name="TextBox 3">
            <a:extLst>
              <a:ext uri="{FF2B5EF4-FFF2-40B4-BE49-F238E27FC236}">
                <a16:creationId xmlns:a16="http://schemas.microsoft.com/office/drawing/2014/main" id="{7C0ACE61-E8AD-4316-86F9-763B61179FE3}"/>
              </a:ext>
            </a:extLst>
          </p:cNvPr>
          <p:cNvSpPr txBox="1"/>
          <p:nvPr/>
        </p:nvSpPr>
        <p:spPr>
          <a:xfrm>
            <a:off x="1962732" y="219932"/>
            <a:ext cx="8665827"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32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Thin-Shell Perturbations From Equilibrium</a:t>
            </a:r>
          </a:p>
        </p:txBody>
      </p:sp>
      <p:sp>
        <p:nvSpPr>
          <p:cNvPr id="38" name="Footer Placeholder 1">
            <a:extLst>
              <a:ext uri="{FF2B5EF4-FFF2-40B4-BE49-F238E27FC236}">
                <a16:creationId xmlns:a16="http://schemas.microsoft.com/office/drawing/2014/main" id="{531BD4D9-9579-403F-B4D7-604945B7C551}"/>
              </a:ext>
            </a:extLst>
          </p:cNvPr>
          <p:cNvSpPr txBox="1">
            <a:spLocks/>
          </p:cNvSpPr>
          <p:nvPr/>
        </p:nvSpPr>
        <p:spPr>
          <a:xfrm>
            <a:off x="2182170" y="6413063"/>
            <a:ext cx="7827659" cy="377825"/>
          </a:xfrm>
          <a:prstGeom prst="rect">
            <a:avLst/>
          </a:prstGeom>
        </p:spPr>
        <p:txBody>
          <a:bodyPr vert="horz" lIns="91440" tIns="45720" rIns="91440" bIns="45720" rtlCol="0" anchor="ctr"/>
          <a:lstStyle>
            <a:defPPr>
              <a:defRPr lang="en-US"/>
            </a:defPPr>
            <a:lvl1pPr marL="0" algn="l"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atin typeface="Arial" panose="020B0604020202020204" pitchFamily="34" charset="0"/>
                <a:cs typeface="Arial" panose="020B0604020202020204" pitchFamily="34" charset="0"/>
              </a:rPr>
              <a:t>Canadian Undergraduate Physics Conference</a:t>
            </a:r>
            <a:endParaRPr lang="en-US" dirty="0">
              <a:latin typeface="Arial" panose="020B0604020202020204" pitchFamily="34" charset="0"/>
              <a:cs typeface="Arial" panose="020B0604020202020204" pitchFamily="34" charset="0"/>
            </a:endParaRPr>
          </a:p>
        </p:txBody>
      </p:sp>
      <p:sp>
        <p:nvSpPr>
          <p:cNvPr id="39" name="Slide Number Placeholder 2">
            <a:extLst>
              <a:ext uri="{FF2B5EF4-FFF2-40B4-BE49-F238E27FC236}">
                <a16:creationId xmlns:a16="http://schemas.microsoft.com/office/drawing/2014/main" id="{607653E8-D55D-477C-B349-1BA14C3FA65C}"/>
              </a:ext>
            </a:extLst>
          </p:cNvPr>
          <p:cNvSpPr txBox="1">
            <a:spLocks/>
          </p:cNvSpPr>
          <p:nvPr/>
        </p:nvSpPr>
        <p:spPr>
          <a:xfrm>
            <a:off x="10284775" y="6413063"/>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57F1E4F-1CFF-5643-939E-217C01CDF565}" type="slidenum">
              <a:rPr lang="en-US" smtClean="0">
                <a:latin typeface="Arial" panose="020B0604020202020204" pitchFamily="34" charset="0"/>
                <a:cs typeface="Arial" panose="020B0604020202020204" pitchFamily="34" charset="0"/>
              </a:rPr>
              <a:pPr algn="ctr"/>
              <a:t>8</a:t>
            </a:fld>
            <a:endParaRPr lang="en-US" dirty="0">
              <a:latin typeface="Arial" panose="020B0604020202020204" pitchFamily="34" charset="0"/>
              <a:cs typeface="Arial" panose="020B0604020202020204" pitchFamily="34" charset="0"/>
            </a:endParaRPr>
          </a:p>
        </p:txBody>
      </p:sp>
      <p:sp>
        <p:nvSpPr>
          <p:cNvPr id="40" name="Date Placeholder 5">
            <a:extLst>
              <a:ext uri="{FF2B5EF4-FFF2-40B4-BE49-F238E27FC236}">
                <a16:creationId xmlns:a16="http://schemas.microsoft.com/office/drawing/2014/main" id="{9B500810-5A9B-4E12-A85B-A320C18C8525}"/>
              </a:ext>
            </a:extLst>
          </p:cNvPr>
          <p:cNvSpPr txBox="1">
            <a:spLocks/>
          </p:cNvSpPr>
          <p:nvPr/>
        </p:nvSpPr>
        <p:spPr>
          <a:xfrm>
            <a:off x="831541" y="6413063"/>
            <a:ext cx="1600200"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1A6D2-BD25-476B-8695-9DF6C2E37C50}" type="datetime1">
              <a:rPr lang="en-US" smtClean="0">
                <a:latin typeface="Arial" panose="020B0604020202020204" pitchFamily="34" charset="0"/>
                <a:cs typeface="Arial" panose="020B0604020202020204" pitchFamily="34" charset="0"/>
              </a:rPr>
              <a:pPr algn="ctr"/>
              <a:t>10/28/2019</a:t>
            </a:fld>
            <a:endParaRPr lang="en-US" dirty="0">
              <a:latin typeface="Arial" panose="020B0604020202020204" pitchFamily="34" charset="0"/>
              <a:cs typeface="Arial" panose="020B0604020202020204" pitchFamily="34" charset="0"/>
            </a:endParaRPr>
          </a:p>
        </p:txBody>
      </p:sp>
      <mc:AlternateContent xmlns:mc="http://schemas.openxmlformats.org/markup-compatibility/2006">
        <mc:Choice xmlns:a14="http://schemas.microsoft.com/office/drawing/2010/main" Requires="a14">
          <p:sp>
            <p:nvSpPr>
              <p:cNvPr id="28" name="TextBox 27">
                <a:extLst>
                  <a:ext uri="{FF2B5EF4-FFF2-40B4-BE49-F238E27FC236}">
                    <a16:creationId xmlns:a16="http://schemas.microsoft.com/office/drawing/2014/main" id="{743FC11B-34EA-4AEF-8899-0183472E5BBE}"/>
                  </a:ext>
                </a:extLst>
              </p:cNvPr>
              <p:cNvSpPr txBox="1"/>
              <p:nvPr/>
            </p:nvSpPr>
            <p:spPr>
              <a:xfrm>
                <a:off x="6143348" y="5428185"/>
                <a:ext cx="5904273" cy="1015663"/>
              </a:xfrm>
              <a:prstGeom prst="rect">
                <a:avLst/>
              </a:prstGeom>
              <a:noFill/>
            </p:spPr>
            <p:txBody>
              <a:bodyPr wrap="square" rtlCol="0">
                <a:spAutoFit/>
              </a:bodyPr>
              <a:lstStyle/>
              <a:p>
                <a:pPr marL="342900" lvl="0" indent="-342900" defTabSz="457200">
                  <a:buFont typeface="Arial" panose="020B0604020202020204" pitchFamily="34" charset="0"/>
                  <a:buChar char="•"/>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For a stable </a:t>
                </a:r>
                <a14:m>
                  <m:oMath xmlns:m="http://schemas.openxmlformats.org/officeDocument/2006/math">
                    <m:r>
                      <a:rPr lang="en-CA" sz="2000" i="1">
                        <a:solidFill>
                          <a:prstClr val="white"/>
                        </a:solidFill>
                        <a:latin typeface="Cambria Math" panose="02040503050406030204" pitchFamily="18" charset="0"/>
                        <a:ea typeface="Cambria Math" panose="02040503050406030204" pitchFamily="18" charset="0"/>
                        <a:cs typeface="Arial" panose="020B0604020202020204" pitchFamily="34" charset="0"/>
                      </a:rPr>
                      <m:t>𝛾</m:t>
                    </m:r>
                  </m:oMath>
                </a14:m>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thin-shell oscillates </a:t>
                </a:r>
                <a:r>
                  <a:rPr lang="en-CA" sz="2000" dirty="0">
                    <a:solidFill>
                      <a:prstClr val="white"/>
                    </a:solidFill>
                    <a:latin typeface="Arial" panose="020B0604020202020204" pitchFamily="34" charset="0"/>
                    <a:cs typeface="Arial" panose="020B0604020202020204" pitchFamily="34" charset="0"/>
                  </a:rPr>
                  <a:t>until perturbed again</a:t>
                </a:r>
                <a:r>
                  <a:rPr kumimoji="0" lang="en-CA" sz="2000" b="0" i="0" u="none" strike="noStrike" kern="1200" cap="none" spc="0" normalizeH="0" noProof="0" dirty="0">
                    <a:ln>
                      <a:noFill/>
                    </a:ln>
                    <a:solidFill>
                      <a:prstClr val="white"/>
                    </a:solidFill>
                    <a:effectLst/>
                    <a:uLnTx/>
                    <a:uFillTx/>
                    <a:latin typeface="Arial" panose="020B0604020202020204" pitchFamily="34" charset="0"/>
                    <a:ea typeface="+mn-ea"/>
                    <a:cs typeface="Arial" panose="020B0604020202020204" pitchFamily="34" charset="0"/>
                  </a:rPr>
                  <a:t> </a:t>
                </a: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a:t>
                </a:r>
                <a:b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br>
                <a:endPar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mc:Choice>
        <mc:Fallback>
          <p:sp>
            <p:nvSpPr>
              <p:cNvPr id="28" name="TextBox 27">
                <a:extLst>
                  <a:ext uri="{FF2B5EF4-FFF2-40B4-BE49-F238E27FC236}">
                    <a16:creationId xmlns:a16="http://schemas.microsoft.com/office/drawing/2014/main" id="{743FC11B-34EA-4AEF-8899-0183472E5BBE}"/>
                  </a:ext>
                </a:extLst>
              </p:cNvPr>
              <p:cNvSpPr txBox="1">
                <a:spLocks noRot="1" noChangeAspect="1" noMove="1" noResize="1" noEditPoints="1" noAdjustHandles="1" noChangeArrowheads="1" noChangeShapeType="1" noTextEdit="1"/>
              </p:cNvSpPr>
              <p:nvPr/>
            </p:nvSpPr>
            <p:spPr>
              <a:xfrm>
                <a:off x="6143348" y="5428185"/>
                <a:ext cx="5904273" cy="1015663"/>
              </a:xfrm>
              <a:prstGeom prst="rect">
                <a:avLst/>
              </a:prstGeom>
              <a:blipFill>
                <a:blip r:embed="rId4"/>
                <a:stretch>
                  <a:fillRect l="-930" t="-2395"/>
                </a:stretch>
              </a:blipFill>
            </p:spPr>
            <p:txBody>
              <a:bodyPr/>
              <a:lstStyle/>
              <a:p>
                <a:r>
                  <a:rPr lang="en-CA">
                    <a:noFill/>
                  </a:rPr>
                  <a:t> </a:t>
                </a:r>
              </a:p>
            </p:txBody>
          </p:sp>
        </mc:Fallback>
      </mc:AlternateContent>
      <p:pic>
        <p:nvPicPr>
          <p:cNvPr id="7" name="Picture 6">
            <a:extLst>
              <a:ext uri="{FF2B5EF4-FFF2-40B4-BE49-F238E27FC236}">
                <a16:creationId xmlns:a16="http://schemas.microsoft.com/office/drawing/2014/main" id="{B94B7DFC-06F1-4AD1-A9CD-D2F2E2489542}"/>
              </a:ext>
            </a:extLst>
          </p:cNvPr>
          <p:cNvPicPr>
            <a:picLocks noChangeAspect="1"/>
          </p:cNvPicPr>
          <p:nvPr/>
        </p:nvPicPr>
        <p:blipFill rotWithShape="1">
          <a:blip r:embed="rId5">
            <a:extLst>
              <a:ext uri="{28A0092B-C50C-407E-A947-70E740481C1C}">
                <a14:useLocalDpi xmlns:a14="http://schemas.microsoft.com/office/drawing/2010/main" val="0"/>
              </a:ext>
            </a:extLst>
          </a:blip>
          <a:srcRect l="1667" r="5807"/>
          <a:stretch/>
        </p:blipFill>
        <p:spPr>
          <a:xfrm>
            <a:off x="6095999" y="1159314"/>
            <a:ext cx="5904273" cy="4268871"/>
          </a:xfrm>
          <a:prstGeom prst="rect">
            <a:avLst/>
          </a:prstGeom>
        </p:spPr>
      </p:pic>
      <p:grpSp>
        <p:nvGrpSpPr>
          <p:cNvPr id="16" name="Group 15">
            <a:extLst>
              <a:ext uri="{FF2B5EF4-FFF2-40B4-BE49-F238E27FC236}">
                <a16:creationId xmlns:a16="http://schemas.microsoft.com/office/drawing/2014/main" id="{867926AA-889C-412B-B327-5128028ADA9A}"/>
              </a:ext>
            </a:extLst>
          </p:cNvPr>
          <p:cNvGrpSpPr/>
          <p:nvPr/>
        </p:nvGrpSpPr>
        <p:grpSpPr>
          <a:xfrm>
            <a:off x="168053" y="1159313"/>
            <a:ext cx="5746923" cy="4268871"/>
            <a:chOff x="5222987" y="2005696"/>
            <a:chExt cx="5746923" cy="4268871"/>
          </a:xfrm>
        </p:grpSpPr>
        <p:pic>
          <p:nvPicPr>
            <p:cNvPr id="15" name="Picture 14">
              <a:extLst>
                <a:ext uri="{FF2B5EF4-FFF2-40B4-BE49-F238E27FC236}">
                  <a16:creationId xmlns:a16="http://schemas.microsoft.com/office/drawing/2014/main" id="{2E460342-D18A-404F-9149-6A3CDECC8E6A}"/>
                </a:ext>
              </a:extLst>
            </p:cNvPr>
            <p:cNvPicPr>
              <a:picLocks noChangeAspect="1"/>
            </p:cNvPicPr>
            <p:nvPr/>
          </p:nvPicPr>
          <p:blipFill rotWithShape="1">
            <a:blip r:embed="rId6">
              <a:extLst>
                <a:ext uri="{28A0092B-C50C-407E-A947-70E740481C1C}">
                  <a14:useLocalDpi xmlns:a14="http://schemas.microsoft.com/office/drawing/2010/main" val="0"/>
                </a:ext>
              </a:extLst>
            </a:blip>
            <a:srcRect l="2620" r="6033"/>
            <a:stretch/>
          </p:blipFill>
          <p:spPr>
            <a:xfrm>
              <a:off x="5222987" y="2005696"/>
              <a:ext cx="5746923" cy="4268871"/>
            </a:xfrm>
            <a:prstGeom prst="rect">
              <a:avLst/>
            </a:prstGeom>
          </p:spPr>
        </p:pic>
        <mc:AlternateContent xmlns:mc="http://schemas.openxmlformats.org/markup-compatibility/2006">
          <mc:Choice xmlns:a14="http://schemas.microsoft.com/office/drawing/2010/main" Requires="a14">
            <p:sp>
              <p:nvSpPr>
                <p:cNvPr id="23" name="TextBox 22">
                  <a:extLst>
                    <a:ext uri="{FF2B5EF4-FFF2-40B4-BE49-F238E27FC236}">
                      <a16:creationId xmlns:a16="http://schemas.microsoft.com/office/drawing/2014/main" id="{82A91B5D-4027-494D-9509-94EDE453A0BC}"/>
                    </a:ext>
                  </a:extLst>
                </p:cNvPr>
                <p:cNvSpPr txBox="1"/>
                <p:nvPr/>
              </p:nvSpPr>
              <p:spPr>
                <a:xfrm>
                  <a:off x="6559375" y="3873917"/>
                  <a:ext cx="1963554" cy="707886"/>
                </a:xfrm>
                <a:prstGeom prst="rect">
                  <a:avLst/>
                </a:prstGeom>
                <a:noFill/>
              </p:spPr>
              <p:txBody>
                <a:bodyPr wrap="square" rtlCol="0">
                  <a:spAutoFit/>
                </a:bodyPr>
                <a:lstStyle/>
                <a:p>
                  <a:r>
                    <a:rPr lang="en-CA" sz="2000" dirty="0">
                      <a:solidFill>
                        <a:schemeClr val="bg1"/>
                      </a:solidFill>
                      <a:latin typeface="Arial" panose="020B0604020202020204" pitchFamily="34" charset="0"/>
                      <a:cs typeface="Arial" panose="020B0604020202020204" pitchFamily="34" charset="0"/>
                    </a:rPr>
                    <a:t>Limiting Radius</a:t>
                  </a:r>
                </a:p>
                <a:p>
                  <a14:m>
                    <m:oMathPara xmlns:m="http://schemas.openxmlformats.org/officeDocument/2006/math">
                      <m:oMathParaPr>
                        <m:jc m:val="centerGroup"/>
                      </m:oMathParaPr>
                      <m:oMath xmlns:m="http://schemas.openxmlformats.org/officeDocument/2006/math">
                        <m:sSub>
                          <m:sSubPr>
                            <m:ctrlPr>
                              <a:rPr lang="en-CA" sz="2000" i="1" smtClean="0">
                                <a:solidFill>
                                  <a:schemeClr val="bg1"/>
                                </a:solidFill>
                                <a:latin typeface="Cambria Math" panose="02040503050406030204" pitchFamily="18" charset="0"/>
                                <a:cs typeface="Arial" panose="020B0604020202020204" pitchFamily="34" charset="0"/>
                              </a:rPr>
                            </m:ctrlPr>
                          </m:sSubPr>
                          <m:e>
                            <m:r>
                              <a:rPr lang="en-CA" sz="2000" i="1">
                                <a:solidFill>
                                  <a:schemeClr val="bg1"/>
                                </a:solidFill>
                                <a:latin typeface="Cambria Math" panose="02040503050406030204" pitchFamily="18" charset="0"/>
                                <a:cs typeface="Arial" panose="020B0604020202020204" pitchFamily="34" charset="0"/>
                              </a:rPr>
                              <m:t>𝑅</m:t>
                            </m:r>
                          </m:e>
                          <m:sub>
                            <m:r>
                              <a:rPr lang="en-CA" sz="2000" i="1">
                                <a:solidFill>
                                  <a:schemeClr val="bg1"/>
                                </a:solidFill>
                                <a:latin typeface="Cambria Math" panose="02040503050406030204" pitchFamily="18" charset="0"/>
                                <a:cs typeface="Arial" panose="020B0604020202020204" pitchFamily="34" charset="0"/>
                              </a:rPr>
                              <m:t>𝑠</m:t>
                            </m:r>
                          </m:sub>
                        </m:sSub>
                        <m:r>
                          <a:rPr lang="en-CA" sz="2000" i="1">
                            <a:solidFill>
                              <a:schemeClr val="bg1"/>
                            </a:solidFill>
                            <a:latin typeface="Cambria Math" panose="02040503050406030204" pitchFamily="18" charset="0"/>
                            <a:cs typeface="Arial" panose="020B0604020202020204" pitchFamily="34" charset="0"/>
                          </a:rPr>
                          <m:t>=2</m:t>
                        </m:r>
                        <m:r>
                          <a:rPr lang="en-CA" sz="2000" i="1">
                            <a:solidFill>
                              <a:schemeClr val="bg1"/>
                            </a:solidFill>
                            <a:latin typeface="Cambria Math" panose="02040503050406030204" pitchFamily="18" charset="0"/>
                            <a:cs typeface="Arial" panose="020B0604020202020204" pitchFamily="34" charset="0"/>
                          </a:rPr>
                          <m:t>𝑀</m:t>
                        </m:r>
                      </m:oMath>
                    </m:oMathPara>
                  </a14:m>
                  <a:endParaRPr lang="en-CA" sz="2000" dirty="0">
                    <a:solidFill>
                      <a:schemeClr val="bg1"/>
                    </a:solidFill>
                  </a:endParaRPr>
                </a:p>
              </p:txBody>
            </p:sp>
          </mc:Choice>
          <mc:Fallback>
            <p:sp>
              <p:nvSpPr>
                <p:cNvPr id="23" name="TextBox 22">
                  <a:extLst>
                    <a:ext uri="{FF2B5EF4-FFF2-40B4-BE49-F238E27FC236}">
                      <a16:creationId xmlns:a16="http://schemas.microsoft.com/office/drawing/2014/main" id="{82A91B5D-4027-494D-9509-94EDE453A0BC}"/>
                    </a:ext>
                  </a:extLst>
                </p:cNvPr>
                <p:cNvSpPr txBox="1">
                  <a:spLocks noRot="1" noChangeAspect="1" noMove="1" noResize="1" noEditPoints="1" noAdjustHandles="1" noChangeArrowheads="1" noChangeShapeType="1" noTextEdit="1"/>
                </p:cNvSpPr>
                <p:nvPr/>
              </p:nvSpPr>
              <p:spPr>
                <a:xfrm>
                  <a:off x="6559375" y="3873917"/>
                  <a:ext cx="1963554" cy="707886"/>
                </a:xfrm>
                <a:prstGeom prst="rect">
                  <a:avLst/>
                </a:prstGeom>
                <a:blipFill>
                  <a:blip r:embed="rId7"/>
                  <a:stretch>
                    <a:fillRect l="-3416" t="-4310" r="-621"/>
                  </a:stretch>
                </a:blipFill>
              </p:spPr>
              <p:txBody>
                <a:bodyPr/>
                <a:lstStyle/>
                <a:p>
                  <a:r>
                    <a:rPr lang="en-CA">
                      <a:noFill/>
                    </a:rPr>
                    <a:t> </a:t>
                  </a:r>
                </a:p>
              </p:txBody>
            </p:sp>
          </mc:Fallback>
        </mc:AlternateContent>
      </p:grpSp>
    </p:spTree>
    <p:extLst>
      <p:ext uri="{BB962C8B-B14F-4D97-AF65-F5344CB8AC3E}">
        <p14:creationId xmlns:p14="http://schemas.microsoft.com/office/powerpoint/2010/main" val="29637338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DC78628B-AF3A-4581-AA34-FFE7D8015C52}"/>
              </a:ext>
            </a:extLst>
          </p:cNvPr>
          <p:cNvSpPr txBox="1"/>
          <p:nvPr/>
        </p:nvSpPr>
        <p:spPr>
          <a:xfrm>
            <a:off x="404762" y="1242452"/>
            <a:ext cx="6689058" cy="4062651"/>
          </a:xfrm>
          <a:prstGeom prst="rect">
            <a:avLst/>
          </a:prstGeom>
          <a:noFill/>
        </p:spPr>
        <p:txBody>
          <a:bodyPr wrap="square" rtlCol="0">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Apply the methodology to a non-perfect fluid thin-shell</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Explore the behaviour of concentric thin-shells and thin-shell crossings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Apply the methodology to a thin-shell connecting different geometries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Investigate different equations of state</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Extend the research to higher and lower spacetime dimensions</a:t>
            </a:r>
          </a:p>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p:pic>
        <p:nvPicPr>
          <p:cNvPr id="10" name="Picture 9">
            <a:extLst>
              <a:ext uri="{FF2B5EF4-FFF2-40B4-BE49-F238E27FC236}">
                <a16:creationId xmlns:a16="http://schemas.microsoft.com/office/drawing/2014/main" id="{B5CDC97D-71AA-4E5A-9B06-6D2691CDA085}"/>
              </a:ext>
            </a:extLst>
          </p:cNvPr>
          <p:cNvPicPr>
            <a:picLocks noChangeAspect="1"/>
          </p:cNvPicPr>
          <p:nvPr/>
        </p:nvPicPr>
        <p:blipFill rotWithShape="1">
          <a:blip r:embed="rId2"/>
          <a:srcRect t="1961" r="1066" b="955"/>
          <a:stretch/>
        </p:blipFill>
        <p:spPr>
          <a:xfrm>
            <a:off x="7449241" y="1494523"/>
            <a:ext cx="4428333" cy="3187212"/>
          </a:xfrm>
          <a:prstGeom prst="rect">
            <a:avLst/>
          </a:prstGeom>
        </p:spPr>
      </p:pic>
      <p:sp>
        <p:nvSpPr>
          <p:cNvPr id="23" name="Footer Placeholder 1">
            <a:extLst>
              <a:ext uri="{FF2B5EF4-FFF2-40B4-BE49-F238E27FC236}">
                <a16:creationId xmlns:a16="http://schemas.microsoft.com/office/drawing/2014/main" id="{6B91226D-BD06-4D6E-B30B-8A09FD908F51}"/>
              </a:ext>
            </a:extLst>
          </p:cNvPr>
          <p:cNvSpPr txBox="1">
            <a:spLocks/>
          </p:cNvSpPr>
          <p:nvPr/>
        </p:nvSpPr>
        <p:spPr>
          <a:xfrm>
            <a:off x="2182170" y="6413063"/>
            <a:ext cx="7827659" cy="377825"/>
          </a:xfrm>
          <a:prstGeom prst="rect">
            <a:avLst/>
          </a:prstGeom>
        </p:spPr>
        <p:txBody>
          <a:bodyPr vert="horz" lIns="91440" tIns="45720" rIns="91440" bIns="45720" rtlCol="0" anchor="ctr"/>
          <a:lstStyle>
            <a:defPPr>
              <a:defRPr lang="en-US"/>
            </a:defPPr>
            <a:lvl1pPr marL="0" algn="l"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atin typeface="Arial" panose="020B0604020202020204" pitchFamily="34" charset="0"/>
                <a:cs typeface="Arial" panose="020B0604020202020204" pitchFamily="34" charset="0"/>
              </a:rPr>
              <a:t>Canadian Undergraduate Physics Conference</a:t>
            </a:r>
            <a:endParaRPr lang="en-US" dirty="0">
              <a:latin typeface="Arial" panose="020B0604020202020204" pitchFamily="34" charset="0"/>
              <a:cs typeface="Arial" panose="020B0604020202020204" pitchFamily="34" charset="0"/>
            </a:endParaRPr>
          </a:p>
        </p:txBody>
      </p:sp>
      <p:sp>
        <p:nvSpPr>
          <p:cNvPr id="24" name="Slide Number Placeholder 2">
            <a:extLst>
              <a:ext uri="{FF2B5EF4-FFF2-40B4-BE49-F238E27FC236}">
                <a16:creationId xmlns:a16="http://schemas.microsoft.com/office/drawing/2014/main" id="{8A1FAED6-6EBD-4359-8AF1-08737E0764B1}"/>
              </a:ext>
            </a:extLst>
          </p:cNvPr>
          <p:cNvSpPr txBox="1">
            <a:spLocks/>
          </p:cNvSpPr>
          <p:nvPr/>
        </p:nvSpPr>
        <p:spPr>
          <a:xfrm>
            <a:off x="10284775" y="6413063"/>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57F1E4F-1CFF-5643-939E-217C01CDF565}" type="slidenum">
              <a:rPr lang="en-US" smtClean="0">
                <a:latin typeface="Arial" panose="020B0604020202020204" pitchFamily="34" charset="0"/>
                <a:cs typeface="Arial" panose="020B0604020202020204" pitchFamily="34" charset="0"/>
              </a:rPr>
              <a:pPr algn="ctr"/>
              <a:t>9</a:t>
            </a:fld>
            <a:endParaRPr lang="en-US" dirty="0">
              <a:latin typeface="Arial" panose="020B0604020202020204" pitchFamily="34" charset="0"/>
              <a:cs typeface="Arial" panose="020B0604020202020204" pitchFamily="34" charset="0"/>
            </a:endParaRPr>
          </a:p>
        </p:txBody>
      </p:sp>
      <p:sp>
        <p:nvSpPr>
          <p:cNvPr id="25" name="Date Placeholder 5">
            <a:extLst>
              <a:ext uri="{FF2B5EF4-FFF2-40B4-BE49-F238E27FC236}">
                <a16:creationId xmlns:a16="http://schemas.microsoft.com/office/drawing/2014/main" id="{8D1DC5C0-A4E3-4A56-97C2-52482190723F}"/>
              </a:ext>
            </a:extLst>
          </p:cNvPr>
          <p:cNvSpPr txBox="1">
            <a:spLocks/>
          </p:cNvSpPr>
          <p:nvPr/>
        </p:nvSpPr>
        <p:spPr>
          <a:xfrm>
            <a:off x="831541" y="6413063"/>
            <a:ext cx="1600200"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1A6D2-BD25-476B-8695-9DF6C2E37C50}" type="datetime1">
              <a:rPr lang="en-US" smtClean="0">
                <a:latin typeface="Arial" panose="020B0604020202020204" pitchFamily="34" charset="0"/>
                <a:cs typeface="Arial" panose="020B0604020202020204" pitchFamily="34" charset="0"/>
              </a:rPr>
              <a:pPr algn="ctr"/>
              <a:t>10/26/2019</a:t>
            </a:fld>
            <a:endParaRPr lang="en-US" dirty="0">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1C31D81A-C04B-4055-847A-9DFBE926631B}"/>
              </a:ext>
            </a:extLst>
          </p:cNvPr>
          <p:cNvGrpSpPr/>
          <p:nvPr/>
        </p:nvGrpSpPr>
        <p:grpSpPr>
          <a:xfrm>
            <a:off x="-27806" y="-9503"/>
            <a:ext cx="12219806" cy="936000"/>
            <a:chOff x="-27806" y="-9503"/>
            <a:chExt cx="12219806" cy="1035870"/>
          </a:xfrm>
        </p:grpSpPr>
        <p:grpSp>
          <p:nvGrpSpPr>
            <p:cNvPr id="5" name="Group 4">
              <a:extLst>
                <a:ext uri="{FF2B5EF4-FFF2-40B4-BE49-F238E27FC236}">
                  <a16:creationId xmlns:a16="http://schemas.microsoft.com/office/drawing/2014/main" id="{83D7CBD9-41BE-4F0B-BC33-BDEFC54D2903}"/>
                </a:ext>
              </a:extLst>
            </p:cNvPr>
            <p:cNvGrpSpPr/>
            <p:nvPr/>
          </p:nvGrpSpPr>
          <p:grpSpPr>
            <a:xfrm>
              <a:off x="-27806" y="-9503"/>
              <a:ext cx="12219806" cy="1035870"/>
              <a:chOff x="-27806" y="-9503"/>
              <a:chExt cx="12219806" cy="1035870"/>
            </a:xfrm>
          </p:grpSpPr>
          <p:sp>
            <p:nvSpPr>
              <p:cNvPr id="20" name="Rectangle 19">
                <a:extLst>
                  <a:ext uri="{FF2B5EF4-FFF2-40B4-BE49-F238E27FC236}">
                    <a16:creationId xmlns:a16="http://schemas.microsoft.com/office/drawing/2014/main" id="{6F6BDFF5-9C8C-41DF-8972-CDE46BC0E12C}"/>
                  </a:ext>
                </a:extLst>
              </p:cNvPr>
              <p:cNvSpPr/>
              <p:nvPr/>
            </p:nvSpPr>
            <p:spPr>
              <a:xfrm>
                <a:off x="0" y="1"/>
                <a:ext cx="12192000" cy="10263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22" name="Picture 2" descr="Related image">
                <a:extLst>
                  <a:ext uri="{FF2B5EF4-FFF2-40B4-BE49-F238E27FC236}">
                    <a16:creationId xmlns:a16="http://schemas.microsoft.com/office/drawing/2014/main" id="{FC2D027F-1650-4B5E-BB39-D4E863E4A1A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357" t="33734" r="11492" b="33338"/>
              <a:stretch/>
            </p:blipFill>
            <p:spPr bwMode="auto">
              <a:xfrm>
                <a:off x="-27806" y="-9503"/>
                <a:ext cx="1567544" cy="620809"/>
              </a:xfrm>
              <a:prstGeom prst="rect">
                <a:avLst/>
              </a:prstGeom>
              <a:noFill/>
            </p:spPr>
          </p:pic>
        </p:grpSp>
        <p:sp>
          <p:nvSpPr>
            <p:cNvPr id="6" name="TextBox 5">
              <a:extLst>
                <a:ext uri="{FF2B5EF4-FFF2-40B4-BE49-F238E27FC236}">
                  <a16:creationId xmlns:a16="http://schemas.microsoft.com/office/drawing/2014/main" id="{3F105BC4-0800-49C3-9891-97FF48646B42}"/>
                </a:ext>
              </a:extLst>
            </p:cNvPr>
            <p:cNvSpPr txBox="1"/>
            <p:nvPr/>
          </p:nvSpPr>
          <p:spPr>
            <a:xfrm>
              <a:off x="1842780" y="215284"/>
              <a:ext cx="8506437" cy="647170"/>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32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Further Analysis</a:t>
              </a:r>
            </a:p>
          </p:txBody>
        </p:sp>
      </p:grpSp>
    </p:spTree>
    <p:extLst>
      <p:ext uri="{BB962C8B-B14F-4D97-AF65-F5344CB8AC3E}">
        <p14:creationId xmlns:p14="http://schemas.microsoft.com/office/powerpoint/2010/main" val="13166088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A38FDF7-8C6E-4D39-AE92-75106D6A0722}"/>
              </a:ext>
            </a:extLst>
          </p:cNvPr>
          <p:cNvSpPr txBox="1"/>
          <p:nvPr/>
        </p:nvSpPr>
        <p:spPr>
          <a:xfrm>
            <a:off x="1631641" y="2551837"/>
            <a:ext cx="8928718" cy="1754326"/>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5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Thank you for </a:t>
            </a:r>
            <a:r>
              <a:rPr lang="en-CA" sz="5400" dirty="0">
                <a:solidFill>
                  <a:prstClr val="white"/>
                </a:solidFill>
                <a:latin typeface="Arial" panose="020B0604020202020204" pitchFamily="34" charset="0"/>
                <a:cs typeface="Arial" panose="020B0604020202020204" pitchFamily="34" charset="0"/>
              </a:rPr>
              <a:t>Listening</a:t>
            </a:r>
            <a:r>
              <a:rPr kumimoji="0" lang="en-CA" sz="5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a:t>
            </a:r>
          </a:p>
          <a:p>
            <a:pPr marL="0" marR="0" lvl="0" indent="0" algn="ctr" defTabSz="457200" rtl="0" eaLnBrk="1" fontAlgn="auto" latinLnBrk="0" hangingPunct="1">
              <a:lnSpc>
                <a:spcPct val="100000"/>
              </a:lnSpc>
              <a:spcBef>
                <a:spcPts val="0"/>
              </a:spcBef>
              <a:spcAft>
                <a:spcPts val="0"/>
              </a:spcAft>
              <a:buClrTx/>
              <a:buSzTx/>
              <a:buFontTx/>
              <a:buNone/>
              <a:tabLst/>
              <a:defRPr/>
            </a:pPr>
            <a:r>
              <a:rPr lang="en-CA" sz="5400" dirty="0">
                <a:solidFill>
                  <a:prstClr val="white"/>
                </a:solidFill>
                <a:latin typeface="Arial" panose="020B0604020202020204" pitchFamily="34" charset="0"/>
                <a:cs typeface="Arial" panose="020B0604020202020204" pitchFamily="34" charset="0"/>
              </a:rPr>
              <a:t>Merci de </a:t>
            </a:r>
            <a:r>
              <a:rPr lang="en-CA" sz="5400" dirty="0" err="1">
                <a:solidFill>
                  <a:prstClr val="white"/>
                </a:solidFill>
                <a:latin typeface="Arial" panose="020B0604020202020204" pitchFamily="34" charset="0"/>
                <a:cs typeface="Arial" panose="020B0604020202020204" pitchFamily="34" charset="0"/>
              </a:rPr>
              <a:t>Votre</a:t>
            </a:r>
            <a:r>
              <a:rPr lang="en-CA" sz="5400" dirty="0">
                <a:solidFill>
                  <a:prstClr val="white"/>
                </a:solidFill>
                <a:latin typeface="Arial" panose="020B0604020202020204" pitchFamily="34" charset="0"/>
                <a:cs typeface="Arial" panose="020B0604020202020204" pitchFamily="34" charset="0"/>
              </a:rPr>
              <a:t> Attention!</a:t>
            </a:r>
            <a:endParaRPr kumimoji="0" lang="en-CA" sz="54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endParaRPr>
          </a:p>
        </p:txBody>
      </p:sp>
      <p:sp>
        <p:nvSpPr>
          <p:cNvPr id="2" name="Footer Placeholder 1">
            <a:extLst>
              <a:ext uri="{FF2B5EF4-FFF2-40B4-BE49-F238E27FC236}">
                <a16:creationId xmlns:a16="http://schemas.microsoft.com/office/drawing/2014/main" id="{03E9AABA-2562-4490-81AA-06602337E95A}"/>
              </a:ext>
            </a:extLst>
          </p:cNvPr>
          <p:cNvSpPr>
            <a:spLocks noGrp="1"/>
          </p:cNvSpPr>
          <p:nvPr>
            <p:ph type="ftr" sz="quarter" idx="11"/>
          </p:nvPr>
        </p:nvSpPr>
        <p:spPr>
          <a:xfrm>
            <a:off x="2182170" y="6413063"/>
            <a:ext cx="7827659" cy="377825"/>
          </a:xfrm>
        </p:spPr>
        <p:txBody>
          <a:bodyPr/>
          <a:lstStyle/>
          <a:p>
            <a:pPr algn="ctr"/>
            <a:r>
              <a:rPr lang="en-US" dirty="0">
                <a:latin typeface="Arial" panose="020B0604020202020204" pitchFamily="34" charset="0"/>
                <a:cs typeface="Arial" panose="020B0604020202020204" pitchFamily="34" charset="0"/>
              </a:rPr>
              <a:t>Canadian Undergraduate Physics Conference</a:t>
            </a:r>
          </a:p>
        </p:txBody>
      </p:sp>
      <p:sp>
        <p:nvSpPr>
          <p:cNvPr id="3" name="Slide Number Placeholder 2">
            <a:extLst>
              <a:ext uri="{FF2B5EF4-FFF2-40B4-BE49-F238E27FC236}">
                <a16:creationId xmlns:a16="http://schemas.microsoft.com/office/drawing/2014/main" id="{BF63E49F-3551-4C7F-84B8-A4ED29286B76}"/>
              </a:ext>
            </a:extLst>
          </p:cNvPr>
          <p:cNvSpPr>
            <a:spLocks noGrp="1"/>
          </p:cNvSpPr>
          <p:nvPr>
            <p:ph type="sldNum" sz="quarter" idx="12"/>
          </p:nvPr>
        </p:nvSpPr>
        <p:spPr>
          <a:xfrm>
            <a:off x="10284775" y="6413063"/>
            <a:ext cx="551167" cy="377825"/>
          </a:xfrm>
        </p:spPr>
        <p:txBody>
          <a:bodyPr/>
          <a:lstStyle/>
          <a:p>
            <a:pPr algn="ctr"/>
            <a:fld id="{D57F1E4F-1CFF-5643-939E-217C01CDF565}" type="slidenum">
              <a:rPr lang="en-US" smtClean="0">
                <a:latin typeface="Arial" panose="020B0604020202020204" pitchFamily="34" charset="0"/>
                <a:cs typeface="Arial" panose="020B0604020202020204" pitchFamily="34" charset="0"/>
              </a:rPr>
              <a:pPr algn="ctr"/>
              <a:t>10</a:t>
            </a:fld>
            <a:endParaRPr lang="en-US" dirty="0">
              <a:latin typeface="Arial" panose="020B0604020202020204" pitchFamily="34" charset="0"/>
              <a:cs typeface="Arial" panose="020B0604020202020204" pitchFamily="34" charset="0"/>
            </a:endParaRPr>
          </a:p>
        </p:txBody>
      </p:sp>
      <p:sp>
        <p:nvSpPr>
          <p:cNvPr id="6" name="Date Placeholder 5">
            <a:extLst>
              <a:ext uri="{FF2B5EF4-FFF2-40B4-BE49-F238E27FC236}">
                <a16:creationId xmlns:a16="http://schemas.microsoft.com/office/drawing/2014/main" id="{FF6C81B1-7CF8-4B16-A79A-C18C3ACE34D1}"/>
              </a:ext>
            </a:extLst>
          </p:cNvPr>
          <p:cNvSpPr>
            <a:spLocks noGrp="1"/>
          </p:cNvSpPr>
          <p:nvPr>
            <p:ph type="dt" sz="half" idx="10"/>
          </p:nvPr>
        </p:nvSpPr>
        <p:spPr>
          <a:xfrm>
            <a:off x="831541" y="6413063"/>
            <a:ext cx="1600200" cy="377825"/>
          </a:xfrm>
        </p:spPr>
        <p:txBody>
          <a:bodyPr/>
          <a:lstStyle/>
          <a:p>
            <a:pPr algn="ctr"/>
            <a:fld id="{48F1A6D2-BD25-476B-8695-9DF6C2E37C50}" type="datetime1">
              <a:rPr lang="en-US" smtClean="0">
                <a:latin typeface="Arial" panose="020B0604020202020204" pitchFamily="34" charset="0"/>
                <a:cs typeface="Arial" panose="020B0604020202020204" pitchFamily="34" charset="0"/>
              </a:rPr>
              <a:t>10/26/2019</a:t>
            </a:fld>
            <a:endParaRPr lang="en-US" dirty="0">
              <a:latin typeface="Arial" panose="020B0604020202020204" pitchFamily="34" charset="0"/>
              <a:cs typeface="Arial" panose="020B0604020202020204" pitchFamily="34" charset="0"/>
            </a:endParaRPr>
          </a:p>
        </p:txBody>
      </p:sp>
      <p:grpSp>
        <p:nvGrpSpPr>
          <p:cNvPr id="11" name="Group 10">
            <a:extLst>
              <a:ext uri="{FF2B5EF4-FFF2-40B4-BE49-F238E27FC236}">
                <a16:creationId xmlns:a16="http://schemas.microsoft.com/office/drawing/2014/main" id="{86A5C45D-521E-4FC2-97B0-466CC95B482B}"/>
              </a:ext>
            </a:extLst>
          </p:cNvPr>
          <p:cNvGrpSpPr/>
          <p:nvPr/>
        </p:nvGrpSpPr>
        <p:grpSpPr>
          <a:xfrm>
            <a:off x="0" y="1"/>
            <a:ext cx="12192000" cy="936000"/>
            <a:chOff x="0" y="1"/>
            <a:chExt cx="12192000" cy="1026366"/>
          </a:xfrm>
        </p:grpSpPr>
        <p:sp>
          <p:nvSpPr>
            <p:cNvPr id="12" name="Rectangle 11">
              <a:extLst>
                <a:ext uri="{FF2B5EF4-FFF2-40B4-BE49-F238E27FC236}">
                  <a16:creationId xmlns:a16="http://schemas.microsoft.com/office/drawing/2014/main" id="{971E0EFA-7400-41C8-AFE3-2A7A321C23F4}"/>
                </a:ext>
              </a:extLst>
            </p:cNvPr>
            <p:cNvSpPr/>
            <p:nvPr/>
          </p:nvSpPr>
          <p:spPr>
            <a:xfrm>
              <a:off x="0" y="1"/>
              <a:ext cx="12192000" cy="10263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13" name="Picture 2" descr="Related image">
              <a:extLst>
                <a:ext uri="{FF2B5EF4-FFF2-40B4-BE49-F238E27FC236}">
                  <a16:creationId xmlns:a16="http://schemas.microsoft.com/office/drawing/2014/main" id="{85083EE4-B21B-4D7D-8E8A-268ABAB690EC}"/>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9357" t="33734" r="11492" b="33338"/>
            <a:stretch/>
          </p:blipFill>
          <p:spPr bwMode="auto">
            <a:xfrm>
              <a:off x="102636" y="37835"/>
              <a:ext cx="2496044" cy="988532"/>
            </a:xfrm>
            <a:prstGeom prst="rect">
              <a:avLst/>
            </a:prstGeom>
            <a:noFill/>
          </p:spPr>
        </p:pic>
      </p:grpSp>
    </p:spTree>
    <p:extLst>
      <p:ext uri="{BB962C8B-B14F-4D97-AF65-F5344CB8AC3E}">
        <p14:creationId xmlns:p14="http://schemas.microsoft.com/office/powerpoint/2010/main" val="12068856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2" name="Rectangle 11">
                <a:extLst>
                  <a:ext uri="{FF2B5EF4-FFF2-40B4-BE49-F238E27FC236}">
                    <a16:creationId xmlns:a16="http://schemas.microsoft.com/office/drawing/2014/main" id="{B65DF3F2-A337-47BC-8AD1-D23D799EEE60}"/>
                  </a:ext>
                </a:extLst>
              </p:cNvPr>
              <p:cNvSpPr/>
              <p:nvPr/>
            </p:nvSpPr>
            <p:spPr>
              <a:xfrm>
                <a:off x="214958" y="1278615"/>
                <a:ext cx="7966515" cy="535659"/>
              </a:xfrm>
              <a:prstGeom prst="rect">
                <a:avLst/>
              </a:prstGeom>
            </p:spPr>
            <p:txBody>
              <a:bodyPr wrap="square">
                <a:spAutoFit/>
              </a:bodyPr>
              <a:lstStyle/>
              <a:p>
                <a:pPr marL="285750" lvl="0" indent="-285750" defTabSz="457200">
                  <a:buFont typeface="Arial" panose="020B0604020202020204" pitchFamily="34" charset="0"/>
                  <a:buChar char="•"/>
                  <a:defRPr/>
                </a:pPr>
                <a:r>
                  <a:rPr lang="en-CA" sz="2000" dirty="0">
                    <a:solidFill>
                      <a:prstClr val="white"/>
                    </a:solidFill>
                    <a:latin typeface="Arial" panose="020B0604020202020204" pitchFamily="34" charset="0"/>
                    <a:cs typeface="Arial" panose="020B0604020202020204" pitchFamily="34" charset="0"/>
                  </a:rPr>
                  <a:t>In relativistic gravity </a:t>
                </a:r>
                <a14:m>
                  <m:oMath xmlns:m="http://schemas.openxmlformats.org/officeDocument/2006/math">
                    <m:f>
                      <m:fPr>
                        <m:ctrlP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Times New Roman" panose="02020603050405020304" pitchFamily="18" charset="0"/>
                          </a:rPr>
                        </m:ctrlPr>
                      </m:fPr>
                      <m:num>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mn-ea"/>
                            <a:cs typeface="Times New Roman" panose="02020603050405020304" pitchFamily="18" charset="0"/>
                          </a:rPr>
                          <m:t>𝑑</m:t>
                        </m:r>
                        <m: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Times New Roman" panose="02020603050405020304" pitchFamily="18" charset="0"/>
                          </a:rPr>
                          <m:t>𝑅</m:t>
                        </m:r>
                      </m:num>
                      <m:den>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mn-ea"/>
                            <a:cs typeface="Times New Roman" panose="02020603050405020304" pitchFamily="18" charset="0"/>
                          </a:rPr>
                          <m:t>𝑑</m:t>
                        </m:r>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den>
                    </m:f>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=0</m:t>
                    </m:r>
                  </m:oMath>
                </a14:m>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corresponds to a variable turning point:</a:t>
                </a:r>
                <a:r>
                  <a:rPr kumimoji="0" lang="en-CA" sz="2000" b="0" i="1" u="none" strike="noStrike" kern="1200" cap="none" spc="0" normalizeH="0" baseline="0" noProof="0" dirty="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a:t>	</a:t>
                </a:r>
                <a:endParaRPr kumimoji="0" lang="en-CA" sz="1800" b="0" i="0" u="none" strike="noStrike" kern="1200" cap="none" spc="0" normalizeH="0" baseline="0" noProof="0" dirty="0">
                  <a:ln>
                    <a:noFill/>
                  </a:ln>
                  <a:solidFill>
                    <a:prstClr val="white"/>
                  </a:solidFill>
                  <a:effectLst/>
                  <a:uLnTx/>
                  <a:uFillTx/>
                  <a:latin typeface="Calibri" panose="020F0502020204030204"/>
                  <a:ea typeface="+mn-ea"/>
                  <a:cs typeface="+mn-cs"/>
                </a:endParaRPr>
              </a:p>
            </p:txBody>
          </p:sp>
        </mc:Choice>
        <mc:Fallback>
          <p:sp>
            <p:nvSpPr>
              <p:cNvPr id="12" name="Rectangle 11">
                <a:extLst>
                  <a:ext uri="{FF2B5EF4-FFF2-40B4-BE49-F238E27FC236}">
                    <a16:creationId xmlns:a16="http://schemas.microsoft.com/office/drawing/2014/main" id="{B65DF3F2-A337-47BC-8AD1-D23D799EEE60}"/>
                  </a:ext>
                </a:extLst>
              </p:cNvPr>
              <p:cNvSpPr>
                <a:spLocks noRot="1" noChangeAspect="1" noMove="1" noResize="1" noEditPoints="1" noAdjustHandles="1" noChangeArrowheads="1" noChangeShapeType="1" noTextEdit="1"/>
              </p:cNvSpPr>
              <p:nvPr/>
            </p:nvSpPr>
            <p:spPr>
              <a:xfrm>
                <a:off x="214958" y="1278615"/>
                <a:ext cx="7966515" cy="535659"/>
              </a:xfrm>
              <a:prstGeom prst="rect">
                <a:avLst/>
              </a:prstGeom>
              <a:blipFill>
                <a:blip r:embed="rId2"/>
                <a:stretch>
                  <a:fillRect l="-689" r="-459" b="-6818"/>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65" name="Rectangle 64">
                <a:extLst>
                  <a:ext uri="{FF2B5EF4-FFF2-40B4-BE49-F238E27FC236}">
                    <a16:creationId xmlns:a16="http://schemas.microsoft.com/office/drawing/2014/main" id="{D52954CF-81F6-445F-82E4-E5C16820E85E}"/>
                  </a:ext>
                </a:extLst>
              </p:cNvPr>
              <p:cNvSpPr/>
              <p:nvPr/>
            </p:nvSpPr>
            <p:spPr>
              <a:xfrm>
                <a:off x="214958" y="3763526"/>
                <a:ext cx="8120520" cy="535659"/>
              </a:xfrm>
              <a:prstGeom prst="rect">
                <a:avLst/>
              </a:prstGeom>
            </p:spPr>
            <p:txBody>
              <a:bodyPr wrap="square">
                <a:spAutoFit/>
              </a:bodyPr>
              <a:lstStyle/>
              <a:p>
                <a:pPr marL="285750" marR="0" lvl="0" indent="-28575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CA" sz="2000" dirty="0">
                    <a:solidFill>
                      <a:prstClr val="white"/>
                    </a:solidFill>
                    <a:latin typeface="Arial" panose="020B0604020202020204" pitchFamily="34" charset="0"/>
                    <a:cs typeface="Arial" panose="020B0604020202020204" pitchFamily="34" charset="0"/>
                  </a:rPr>
                  <a:t>In Newtonian gravity </a:t>
                </a:r>
                <a14:m>
                  <m:oMath xmlns:m="http://schemas.openxmlformats.org/officeDocument/2006/math">
                    <m:f>
                      <m:fPr>
                        <m:ctrlP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Times New Roman" panose="02020603050405020304" pitchFamily="18" charset="0"/>
                          </a:rPr>
                        </m:ctrlPr>
                      </m:fPr>
                      <m:num>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mn-ea"/>
                            <a:cs typeface="Times New Roman" panose="02020603050405020304" pitchFamily="18" charset="0"/>
                          </a:rPr>
                          <m:t>𝑑</m:t>
                        </m:r>
                        <m:r>
                          <a:rPr kumimoji="0" lang="en-CA" sz="2000" b="0" i="1" u="none" strike="noStrike" kern="1200" cap="none" spc="0" normalizeH="0" baseline="0" noProof="0" smtClean="0">
                            <a:ln>
                              <a:noFill/>
                            </a:ln>
                            <a:solidFill>
                              <a:prstClr val="white"/>
                            </a:solidFill>
                            <a:effectLst/>
                            <a:uLnTx/>
                            <a:uFillTx/>
                            <a:latin typeface="Cambria Math" panose="02040503050406030204" pitchFamily="18" charset="0"/>
                            <a:ea typeface="+mn-ea"/>
                            <a:cs typeface="Times New Roman" panose="02020603050405020304" pitchFamily="18" charset="0"/>
                          </a:rPr>
                          <m:t>𝑅</m:t>
                        </m:r>
                      </m:num>
                      <m:den>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mn-ea"/>
                            <a:cs typeface="Times New Roman" panose="02020603050405020304" pitchFamily="18" charset="0"/>
                          </a:rPr>
                          <m:t>𝑑</m:t>
                        </m:r>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𝜎</m:t>
                        </m:r>
                      </m:den>
                    </m:f>
                    <m:r>
                      <a:rPr kumimoji="0" lang="en-CA" sz="2000" b="0" i="1" u="none" strike="noStrike" kern="1200" cap="none" spc="0" normalizeH="0" baseline="0" noProof="0">
                        <a:ln>
                          <a:noFill/>
                        </a:ln>
                        <a:solidFill>
                          <a:prstClr val="white"/>
                        </a:solidFill>
                        <a:effectLst/>
                        <a:uLnTx/>
                        <a:uFillTx/>
                        <a:latin typeface="Cambria Math" panose="02040503050406030204" pitchFamily="18" charset="0"/>
                        <a:ea typeface="Cambria Math" panose="02040503050406030204" pitchFamily="18" charset="0"/>
                        <a:cs typeface="Times New Roman" panose="02020603050405020304" pitchFamily="18" charset="0"/>
                      </a:rPr>
                      <m:t>=0</m:t>
                    </m:r>
                  </m:oMath>
                </a14:m>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 corresponds to a constant turning point:</a:t>
                </a:r>
              </a:p>
            </p:txBody>
          </p:sp>
        </mc:Choice>
        <mc:Fallback>
          <p:sp>
            <p:nvSpPr>
              <p:cNvPr id="65" name="Rectangle 64">
                <a:extLst>
                  <a:ext uri="{FF2B5EF4-FFF2-40B4-BE49-F238E27FC236}">
                    <a16:creationId xmlns:a16="http://schemas.microsoft.com/office/drawing/2014/main" id="{D52954CF-81F6-445F-82E4-E5C16820E85E}"/>
                  </a:ext>
                </a:extLst>
              </p:cNvPr>
              <p:cNvSpPr>
                <a:spLocks noRot="1" noChangeAspect="1" noMove="1" noResize="1" noEditPoints="1" noAdjustHandles="1" noChangeArrowheads="1" noChangeShapeType="1" noTextEdit="1"/>
              </p:cNvSpPr>
              <p:nvPr/>
            </p:nvSpPr>
            <p:spPr>
              <a:xfrm>
                <a:off x="214958" y="3763526"/>
                <a:ext cx="8120520" cy="535659"/>
              </a:xfrm>
              <a:prstGeom prst="rect">
                <a:avLst/>
              </a:prstGeom>
              <a:blipFill>
                <a:blip r:embed="rId3"/>
                <a:stretch>
                  <a:fillRect l="-676" r="-450" b="-6818"/>
                </a:stretch>
              </a:blipFill>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21050F90-1C64-4031-8292-54971CE4BCE3}"/>
                  </a:ext>
                </a:extLst>
              </p:cNvPr>
              <p:cNvSpPr txBox="1"/>
              <p:nvPr/>
            </p:nvSpPr>
            <p:spPr>
              <a:xfrm>
                <a:off x="8845685" y="1282718"/>
                <a:ext cx="1073959" cy="531556"/>
              </a:xfrm>
              <a:prstGeom prst="rect">
                <a:avLst/>
              </a:prstGeom>
              <a:noFill/>
              <a:ln w="22225">
                <a:solidFill>
                  <a:schemeClr val="tx1"/>
                </a:solidFill>
              </a:ln>
            </p:spPr>
            <p:txBody>
              <a:bodyPr wrap="square" rtlCol="0">
                <a:spAutoFit/>
              </a:bodyPr>
              <a:lstStyle/>
              <a:p>
                <a:pPr lvl="0" defTabSz="457200">
                  <a:defRPr/>
                </a:pPr>
                <a14:m>
                  <m:oMath xmlns:m="http://schemas.openxmlformats.org/officeDocument/2006/math">
                    <m:r>
                      <a:rPr lang="en-CA" sz="200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𝛾</m:t>
                    </m:r>
                    <m:r>
                      <a:rPr lang="en-CA" sz="200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m:t>
                    </m:r>
                    <m:f>
                      <m:fPr>
                        <m:ctrlP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ctrlPr>
                      </m:fPr>
                      <m:num>
                        <m:r>
                          <a:rPr lang="en-CA" sz="2000" b="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2</m:t>
                        </m:r>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m:t>
                        </m:r>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𝐶</m:t>
                        </m:r>
                      </m:num>
                      <m:den>
                        <m:r>
                          <a:rPr lang="en-CA" sz="2000" b="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1</m:t>
                        </m:r>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m:t>
                        </m:r>
                        <m:r>
                          <a:rPr lang="en-CA" sz="2000" b="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𝐶</m:t>
                        </m:r>
                      </m:den>
                    </m:f>
                  </m:oMath>
                </a14:m>
                <a:r>
                  <a:rPr lang="en-CA" sz="2000" dirty="0">
                    <a:solidFill>
                      <a:prstClr val="white"/>
                    </a:solidFill>
                    <a:latin typeface="Arial" panose="020B0604020202020204" pitchFamily="34" charset="0"/>
                    <a:cs typeface="Arial" panose="020B0604020202020204" pitchFamily="34" charset="0"/>
                  </a:rPr>
                  <a:t> </a:t>
                </a:r>
              </a:p>
            </p:txBody>
          </p:sp>
        </mc:Choice>
        <mc:Fallback>
          <p:sp>
            <p:nvSpPr>
              <p:cNvPr id="2" name="TextBox 1">
                <a:extLst>
                  <a:ext uri="{FF2B5EF4-FFF2-40B4-BE49-F238E27FC236}">
                    <a16:creationId xmlns:a16="http://schemas.microsoft.com/office/drawing/2014/main" id="{21050F90-1C64-4031-8292-54971CE4BCE3}"/>
                  </a:ext>
                </a:extLst>
              </p:cNvPr>
              <p:cNvSpPr txBox="1">
                <a:spLocks noRot="1" noChangeAspect="1" noMove="1" noResize="1" noEditPoints="1" noAdjustHandles="1" noChangeArrowheads="1" noChangeShapeType="1" noTextEdit="1"/>
              </p:cNvSpPr>
              <p:nvPr/>
            </p:nvSpPr>
            <p:spPr>
              <a:xfrm>
                <a:off x="8845685" y="1282718"/>
                <a:ext cx="1073959" cy="531556"/>
              </a:xfrm>
              <a:prstGeom prst="rect">
                <a:avLst/>
              </a:prstGeom>
              <a:blipFill>
                <a:blip r:embed="rId4"/>
                <a:stretch>
                  <a:fillRect/>
                </a:stretch>
              </a:blipFill>
              <a:ln w="22225">
                <a:solidFill>
                  <a:schemeClr val="tx1"/>
                </a:solidFill>
              </a:ln>
            </p:spPr>
            <p:txBody>
              <a:bodyPr/>
              <a:lstStyle/>
              <a:p>
                <a:r>
                  <a:rPr lang="en-CA">
                    <a:noFill/>
                  </a:rPr>
                  <a:t> </a:t>
                </a:r>
              </a:p>
            </p:txBody>
          </p:sp>
        </mc:Fallback>
      </mc:AlternateContent>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F7F7A748-05C6-45B6-983A-5A33EA29D4EE}"/>
                  </a:ext>
                </a:extLst>
              </p:cNvPr>
              <p:cNvSpPr txBox="1"/>
              <p:nvPr/>
            </p:nvSpPr>
            <p:spPr>
              <a:xfrm>
                <a:off x="8889810" y="3831300"/>
                <a:ext cx="985708" cy="400110"/>
              </a:xfrm>
              <a:prstGeom prst="rect">
                <a:avLst/>
              </a:prstGeom>
              <a:noFill/>
              <a:ln w="22225">
                <a:solidFill>
                  <a:schemeClr val="tx1"/>
                </a:solidFill>
              </a:ln>
            </p:spPr>
            <p:txBody>
              <a:bodyPr wrap="square" rtlCol="0">
                <a:spAutoFit/>
              </a:bodyPr>
              <a:lstStyle/>
              <a:p>
                <a:pPr lvl="0" defTabSz="457200">
                  <a:defRPr/>
                </a:pPr>
                <a14:m>
                  <m:oMathPara xmlns:m="http://schemas.openxmlformats.org/officeDocument/2006/math">
                    <m:oMathParaPr>
                      <m:jc m:val="centerGroup"/>
                    </m:oMathParaPr>
                    <m:oMath xmlns:m="http://schemas.openxmlformats.org/officeDocument/2006/math">
                      <m:r>
                        <a:rPr lang="en-CA" sz="200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𝛾</m:t>
                      </m:r>
                      <m:r>
                        <a:rPr lang="en-CA" sz="2000" i="1" smtClean="0">
                          <a:solidFill>
                            <a:prstClr val="white"/>
                          </a:solidFill>
                          <a:latin typeface="Cambria Math" panose="02040503050406030204" pitchFamily="18" charset="0"/>
                          <a:ea typeface="Cambria Math" panose="02040503050406030204" pitchFamily="18" charset="0"/>
                          <a:cs typeface="Times New Roman" panose="02020603050405020304" pitchFamily="18" charset="0"/>
                        </a:rPr>
                        <m:t>=2</m:t>
                      </m:r>
                    </m:oMath>
                  </m:oMathPara>
                </a14:m>
                <a:endParaRPr kumimoji="0" lang="en-CA" sz="2000" b="0" i="0" u="none" strike="noStrike" kern="1200" cap="none" spc="0" normalizeH="0" baseline="0" noProof="0" dirty="0">
                  <a:ln>
                    <a:noFill/>
                  </a:ln>
                  <a:solidFill>
                    <a:prstClr val="white"/>
                  </a:solidFill>
                  <a:effectLst/>
                  <a:uLnTx/>
                  <a:uFillTx/>
                  <a:latin typeface="Calibri" panose="020F0502020204030204"/>
                </a:endParaRPr>
              </a:p>
            </p:txBody>
          </p:sp>
        </mc:Choice>
        <mc:Fallback>
          <p:sp>
            <p:nvSpPr>
              <p:cNvPr id="3" name="TextBox 2">
                <a:extLst>
                  <a:ext uri="{FF2B5EF4-FFF2-40B4-BE49-F238E27FC236}">
                    <a16:creationId xmlns:a16="http://schemas.microsoft.com/office/drawing/2014/main" id="{F7F7A748-05C6-45B6-983A-5A33EA29D4EE}"/>
                  </a:ext>
                </a:extLst>
              </p:cNvPr>
              <p:cNvSpPr txBox="1">
                <a:spLocks noRot="1" noChangeAspect="1" noMove="1" noResize="1" noEditPoints="1" noAdjustHandles="1" noChangeArrowheads="1" noChangeShapeType="1" noTextEdit="1"/>
              </p:cNvSpPr>
              <p:nvPr/>
            </p:nvSpPr>
            <p:spPr>
              <a:xfrm>
                <a:off x="8889810" y="3831300"/>
                <a:ext cx="985708" cy="400110"/>
              </a:xfrm>
              <a:prstGeom prst="rect">
                <a:avLst/>
              </a:prstGeom>
              <a:blipFill>
                <a:blip r:embed="rId5"/>
                <a:stretch>
                  <a:fillRect b="-1429"/>
                </a:stretch>
              </a:blipFill>
              <a:ln w="22225">
                <a:solidFill>
                  <a:schemeClr val="tx1"/>
                </a:solidFill>
              </a:ln>
            </p:spPr>
            <p:txBody>
              <a:bodyPr/>
              <a:lstStyle/>
              <a:p>
                <a:r>
                  <a:rPr lang="en-CA">
                    <a:noFill/>
                  </a:rPr>
                  <a:t> </a:t>
                </a:r>
              </a:p>
            </p:txBody>
          </p:sp>
        </mc:Fallback>
      </mc:AlternateContent>
      <p:sp>
        <p:nvSpPr>
          <p:cNvPr id="31" name="Footer Placeholder 1">
            <a:extLst>
              <a:ext uri="{FF2B5EF4-FFF2-40B4-BE49-F238E27FC236}">
                <a16:creationId xmlns:a16="http://schemas.microsoft.com/office/drawing/2014/main" id="{211D9769-3691-4D9B-A598-A08C5CA0BD06}"/>
              </a:ext>
            </a:extLst>
          </p:cNvPr>
          <p:cNvSpPr txBox="1">
            <a:spLocks/>
          </p:cNvSpPr>
          <p:nvPr/>
        </p:nvSpPr>
        <p:spPr>
          <a:xfrm>
            <a:off x="2182170" y="6413063"/>
            <a:ext cx="7827659" cy="377825"/>
          </a:xfrm>
          <a:prstGeom prst="rect">
            <a:avLst/>
          </a:prstGeom>
        </p:spPr>
        <p:txBody>
          <a:bodyPr vert="horz" lIns="91440" tIns="45720" rIns="91440" bIns="45720" rtlCol="0" anchor="ctr"/>
          <a:lstStyle>
            <a:defPPr>
              <a:defRPr lang="en-US"/>
            </a:defPPr>
            <a:lvl1pPr marL="0" algn="l"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dirty="0">
                <a:latin typeface="Arial" panose="020B0604020202020204" pitchFamily="34" charset="0"/>
                <a:cs typeface="Arial" panose="020B0604020202020204" pitchFamily="34" charset="0"/>
              </a:rPr>
              <a:t>Canadian Undergraduate Physics Conference</a:t>
            </a:r>
          </a:p>
        </p:txBody>
      </p:sp>
      <p:sp>
        <p:nvSpPr>
          <p:cNvPr id="32" name="Slide Number Placeholder 2">
            <a:extLst>
              <a:ext uri="{FF2B5EF4-FFF2-40B4-BE49-F238E27FC236}">
                <a16:creationId xmlns:a16="http://schemas.microsoft.com/office/drawing/2014/main" id="{7E4E284F-455A-404D-AF8B-D0752A30DE7B}"/>
              </a:ext>
            </a:extLst>
          </p:cNvPr>
          <p:cNvSpPr txBox="1">
            <a:spLocks/>
          </p:cNvSpPr>
          <p:nvPr/>
        </p:nvSpPr>
        <p:spPr>
          <a:xfrm>
            <a:off x="10284775" y="6413063"/>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57F1E4F-1CFF-5643-939E-217C01CDF565}" type="slidenum">
              <a:rPr lang="en-US" smtClean="0">
                <a:latin typeface="Arial" panose="020B0604020202020204" pitchFamily="34" charset="0"/>
                <a:cs typeface="Arial" panose="020B0604020202020204" pitchFamily="34" charset="0"/>
              </a:rPr>
              <a:pPr algn="ctr"/>
              <a:t>11</a:t>
            </a:fld>
            <a:endParaRPr lang="en-US" dirty="0">
              <a:latin typeface="Arial" panose="020B0604020202020204" pitchFamily="34" charset="0"/>
              <a:cs typeface="Arial" panose="020B0604020202020204" pitchFamily="34" charset="0"/>
            </a:endParaRPr>
          </a:p>
        </p:txBody>
      </p:sp>
      <p:sp>
        <p:nvSpPr>
          <p:cNvPr id="33" name="Date Placeholder 5">
            <a:extLst>
              <a:ext uri="{FF2B5EF4-FFF2-40B4-BE49-F238E27FC236}">
                <a16:creationId xmlns:a16="http://schemas.microsoft.com/office/drawing/2014/main" id="{FDD1B80F-936F-4B2F-BF3F-D11FCFD1038E}"/>
              </a:ext>
            </a:extLst>
          </p:cNvPr>
          <p:cNvSpPr txBox="1">
            <a:spLocks/>
          </p:cNvSpPr>
          <p:nvPr/>
        </p:nvSpPr>
        <p:spPr>
          <a:xfrm>
            <a:off x="831541" y="6413063"/>
            <a:ext cx="1600200"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1A6D2-BD25-476B-8695-9DF6C2E37C50}" type="datetime1">
              <a:rPr lang="en-US" smtClean="0">
                <a:latin typeface="Arial" panose="020B0604020202020204" pitchFamily="34" charset="0"/>
                <a:cs typeface="Arial" panose="020B0604020202020204" pitchFamily="34" charset="0"/>
              </a:rPr>
              <a:pPr algn="ctr"/>
              <a:t>11/3/2019</a:t>
            </a:fld>
            <a:endParaRPr lang="en-US" dirty="0">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B6A83CDB-C8C3-4022-92FF-B5A6C7ADA70E}"/>
              </a:ext>
            </a:extLst>
          </p:cNvPr>
          <p:cNvGrpSpPr/>
          <p:nvPr/>
        </p:nvGrpSpPr>
        <p:grpSpPr>
          <a:xfrm>
            <a:off x="-27806" y="-9503"/>
            <a:ext cx="12219806" cy="936000"/>
            <a:chOff x="-27806" y="-9503"/>
            <a:chExt cx="12219806" cy="1035870"/>
          </a:xfrm>
        </p:grpSpPr>
        <p:sp>
          <p:nvSpPr>
            <p:cNvPr id="29" name="Rectangle 28">
              <a:extLst>
                <a:ext uri="{FF2B5EF4-FFF2-40B4-BE49-F238E27FC236}">
                  <a16:creationId xmlns:a16="http://schemas.microsoft.com/office/drawing/2014/main" id="{48C1B2BC-6172-4CEA-ACEF-3349484A965E}"/>
                </a:ext>
              </a:extLst>
            </p:cNvPr>
            <p:cNvSpPr/>
            <p:nvPr/>
          </p:nvSpPr>
          <p:spPr>
            <a:xfrm>
              <a:off x="0" y="1"/>
              <a:ext cx="12192000" cy="10263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4" name="Picture 2" descr="Related image">
              <a:extLst>
                <a:ext uri="{FF2B5EF4-FFF2-40B4-BE49-F238E27FC236}">
                  <a16:creationId xmlns:a16="http://schemas.microsoft.com/office/drawing/2014/main" id="{5594F144-CF16-4390-882C-0FA7F8E1A17F}"/>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9357" t="33734" r="11492" b="33338"/>
            <a:stretch/>
          </p:blipFill>
          <p:spPr bwMode="auto">
            <a:xfrm>
              <a:off x="-27806" y="-9503"/>
              <a:ext cx="1567544" cy="620809"/>
            </a:xfrm>
            <a:prstGeom prst="rect">
              <a:avLst/>
            </a:prstGeom>
            <a:noFill/>
          </p:spPr>
        </p:pic>
      </p:grpSp>
      <p:sp>
        <p:nvSpPr>
          <p:cNvPr id="11" name="TextBox 10">
            <a:extLst>
              <a:ext uri="{FF2B5EF4-FFF2-40B4-BE49-F238E27FC236}">
                <a16:creationId xmlns:a16="http://schemas.microsoft.com/office/drawing/2014/main" id="{7C089779-E552-43A4-8E4B-3CBB027251F3}"/>
              </a:ext>
            </a:extLst>
          </p:cNvPr>
          <p:cNvSpPr txBox="1"/>
          <p:nvPr/>
        </p:nvSpPr>
        <p:spPr>
          <a:xfrm>
            <a:off x="1437380" y="-80149"/>
            <a:ext cx="9479716" cy="1077218"/>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32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Hydrostatic Equilibrium for the Relativistic and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32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Newtonian Thin Matter Shells</a:t>
            </a:r>
          </a:p>
        </p:txBody>
      </p:sp>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1CAC0AA-E0C0-465D-A68A-C8F35F6EB005}"/>
                  </a:ext>
                </a:extLst>
              </p:cNvPr>
              <p:cNvSpPr txBox="1"/>
              <p:nvPr/>
            </p:nvSpPr>
            <p:spPr>
              <a:xfrm>
                <a:off x="1001027" y="2119795"/>
                <a:ext cx="7180446" cy="707886"/>
              </a:xfrm>
              <a:prstGeom prst="rect">
                <a:avLst/>
              </a:prstGeom>
              <a:noFill/>
            </p:spPr>
            <p:txBody>
              <a:bodyPr wrap="square" rtlCol="0">
                <a:spAutoFit/>
              </a:bodyPr>
              <a:lstStyle/>
              <a:p>
                <a:pPr marL="342900" indent="-342900">
                  <a:buFont typeface="Arial" panose="020B0604020202020204" pitchFamily="34" charset="0"/>
                  <a:buChar char="•"/>
                </a:pPr>
                <a:r>
                  <a:rPr lang="en-CA" sz="2000" dirty="0">
                    <a:latin typeface="Arial" panose="020B0604020202020204" pitchFamily="34" charset="0"/>
                    <a:cs typeface="Arial" panose="020B0604020202020204" pitchFamily="34" charset="0"/>
                  </a:rPr>
                  <a:t>Since we assume that </a:t>
                </a:r>
                <a14:m>
                  <m:oMath xmlns:m="http://schemas.openxmlformats.org/officeDocument/2006/math">
                    <m:r>
                      <a:rPr lang="en-CA" sz="2000" b="0" i="1" smtClean="0">
                        <a:latin typeface="Cambria Math" panose="02040503050406030204" pitchFamily="18" charset="0"/>
                        <a:cs typeface="Arial" panose="020B0604020202020204" pitchFamily="34" charset="0"/>
                      </a:rPr>
                      <m:t>𝑅</m:t>
                    </m:r>
                  </m:oMath>
                </a14:m>
                <a:r>
                  <a:rPr lang="en-CA" sz="2000" dirty="0">
                    <a:latin typeface="Arial" panose="020B0604020202020204" pitchFamily="34" charset="0"/>
                    <a:cs typeface="Arial" panose="020B0604020202020204" pitchFamily="34" charset="0"/>
                  </a:rPr>
                  <a:t> should decrease for increasing </a:t>
                </a:r>
                <a14:m>
                  <m:oMath xmlns:m="http://schemas.openxmlformats.org/officeDocument/2006/math">
                    <m:r>
                      <a:rPr lang="en-CA" sz="2000" i="1" smtClean="0">
                        <a:latin typeface="Cambria Math" panose="02040503050406030204" pitchFamily="18" charset="0"/>
                        <a:ea typeface="Cambria Math" panose="02040503050406030204" pitchFamily="18" charset="0"/>
                        <a:cs typeface="Arial" panose="020B0604020202020204" pitchFamily="34" charset="0"/>
                      </a:rPr>
                      <m:t>𝜎</m:t>
                    </m:r>
                  </m:oMath>
                </a14:m>
                <a:r>
                  <a:rPr lang="en-CA" sz="2000" dirty="0">
                    <a:latin typeface="Arial" panose="020B0604020202020204" pitchFamily="34" charset="0"/>
                    <a:cs typeface="Arial" panose="020B0604020202020204" pitchFamily="34" charset="0"/>
                  </a:rPr>
                  <a:t>, an upper bound for </a:t>
                </a:r>
                <a14:m>
                  <m:oMath xmlns:m="http://schemas.openxmlformats.org/officeDocument/2006/math">
                    <m:r>
                      <a:rPr lang="en-CA" sz="2000" i="1">
                        <a:solidFill>
                          <a:prstClr val="white"/>
                        </a:solidFill>
                        <a:latin typeface="Cambria Math" panose="02040503050406030204" pitchFamily="18" charset="0"/>
                        <a:ea typeface="Cambria Math" panose="02040503050406030204" pitchFamily="18" charset="0"/>
                        <a:cs typeface="Times New Roman" panose="02020603050405020304" pitchFamily="18" charset="0"/>
                      </a:rPr>
                      <m:t>𝛾</m:t>
                    </m:r>
                  </m:oMath>
                </a14:m>
                <a:r>
                  <a:rPr lang="en-CA" sz="2000" dirty="0">
                    <a:latin typeface="Arial" panose="020B0604020202020204" pitchFamily="34" charset="0"/>
                    <a:cs typeface="Arial" panose="020B0604020202020204" pitchFamily="34" charset="0"/>
                  </a:rPr>
                  <a:t> is this turning point</a:t>
                </a:r>
              </a:p>
            </p:txBody>
          </p:sp>
        </mc:Choice>
        <mc:Fallback>
          <p:sp>
            <p:nvSpPr>
              <p:cNvPr id="4" name="TextBox 3">
                <a:extLst>
                  <a:ext uri="{FF2B5EF4-FFF2-40B4-BE49-F238E27FC236}">
                    <a16:creationId xmlns:a16="http://schemas.microsoft.com/office/drawing/2014/main" id="{A1CAC0AA-E0C0-465D-A68A-C8F35F6EB005}"/>
                  </a:ext>
                </a:extLst>
              </p:cNvPr>
              <p:cNvSpPr txBox="1">
                <a:spLocks noRot="1" noChangeAspect="1" noMove="1" noResize="1" noEditPoints="1" noAdjustHandles="1" noChangeArrowheads="1" noChangeShapeType="1" noTextEdit="1"/>
              </p:cNvSpPr>
              <p:nvPr/>
            </p:nvSpPr>
            <p:spPr>
              <a:xfrm>
                <a:off x="1001027" y="2119795"/>
                <a:ext cx="7180446" cy="707886"/>
              </a:xfrm>
              <a:prstGeom prst="rect">
                <a:avLst/>
              </a:prstGeom>
              <a:blipFill>
                <a:blip r:embed="rId7"/>
                <a:stretch>
                  <a:fillRect l="-764" t="-4310" r="-424" b="-15517"/>
                </a:stretch>
              </a:blipFill>
            </p:spPr>
            <p:txBody>
              <a:bodyPr/>
              <a:lstStyle/>
              <a:p>
                <a:r>
                  <a:rPr lang="en-CA">
                    <a:noFill/>
                  </a:rPr>
                  <a:t> </a:t>
                </a:r>
              </a:p>
            </p:txBody>
          </p:sp>
        </mc:Fallback>
      </mc:AlternateContent>
    </p:spTree>
    <p:extLst>
      <p:ext uri="{BB962C8B-B14F-4D97-AF65-F5344CB8AC3E}">
        <p14:creationId xmlns:p14="http://schemas.microsoft.com/office/powerpoint/2010/main" val="28524581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TextBox 36">
            <a:extLst>
              <a:ext uri="{FF2B5EF4-FFF2-40B4-BE49-F238E27FC236}">
                <a16:creationId xmlns:a16="http://schemas.microsoft.com/office/drawing/2014/main" id="{B0A507F0-04B4-40D5-9182-9F14E154C8FD}"/>
              </a:ext>
            </a:extLst>
          </p:cNvPr>
          <p:cNvSpPr txBox="1"/>
          <p:nvPr/>
        </p:nvSpPr>
        <p:spPr>
          <a:xfrm>
            <a:off x="6898107" y="3075057"/>
            <a:ext cx="5373000" cy="707886"/>
          </a:xfrm>
          <a:prstGeom prst="rect">
            <a:avLst/>
          </a:prstGeom>
          <a:noFill/>
        </p:spPr>
        <p:txBody>
          <a:bodyPr wrap="square" rtlCol="0">
            <a:spAutoFit/>
          </a:bodyPr>
          <a:lstStyle/>
          <a:p>
            <a:pPr marL="342900" lvl="0" indent="-342900" defTabSz="457200">
              <a:buFont typeface="Arial" panose="020B0604020202020204" pitchFamily="34" charset="0"/>
              <a:buChar char="•"/>
              <a:defRPr/>
            </a:pPr>
            <a:r>
              <a:rPr kumimoji="0" lang="en-CA" sz="2000" b="0" i="0" u="none" strike="noStrike" kern="1200" cap="none" spc="0" normalizeH="0" baseline="0" noProof="0" dirty="0">
                <a:ln>
                  <a:noFill/>
                </a:ln>
                <a:solidFill>
                  <a:prstClr val="white"/>
                </a:solidFill>
                <a:effectLst/>
                <a:uLnTx/>
                <a:uFillTx/>
                <a:latin typeface="Arial" panose="020B0604020202020204" pitchFamily="34" charset="0"/>
                <a:ea typeface="+mn-ea"/>
                <a:cs typeface="Arial" panose="020B0604020202020204" pitchFamily="34" charset="0"/>
              </a:rPr>
              <a:t>The ‘constant’ solution curve is unstable for larger perturbations </a:t>
            </a:r>
          </a:p>
        </p:txBody>
      </p:sp>
      <p:grpSp>
        <p:nvGrpSpPr>
          <p:cNvPr id="14" name="Group 13">
            <a:extLst>
              <a:ext uri="{FF2B5EF4-FFF2-40B4-BE49-F238E27FC236}">
                <a16:creationId xmlns:a16="http://schemas.microsoft.com/office/drawing/2014/main" id="{A59E136A-45E2-4CBF-B063-5AF474EDC102}"/>
              </a:ext>
            </a:extLst>
          </p:cNvPr>
          <p:cNvGrpSpPr/>
          <p:nvPr/>
        </p:nvGrpSpPr>
        <p:grpSpPr>
          <a:xfrm>
            <a:off x="-27806" y="-9503"/>
            <a:ext cx="12219806" cy="936000"/>
            <a:chOff x="-27806" y="-9503"/>
            <a:chExt cx="12219806" cy="1037694"/>
          </a:xfrm>
        </p:grpSpPr>
        <p:sp>
          <p:nvSpPr>
            <p:cNvPr id="32" name="Rectangle 31">
              <a:extLst>
                <a:ext uri="{FF2B5EF4-FFF2-40B4-BE49-F238E27FC236}">
                  <a16:creationId xmlns:a16="http://schemas.microsoft.com/office/drawing/2014/main" id="{4FE08241-1694-4AA8-AFFF-1F332365BD55}"/>
                </a:ext>
              </a:extLst>
            </p:cNvPr>
            <p:cNvSpPr/>
            <p:nvPr/>
          </p:nvSpPr>
          <p:spPr>
            <a:xfrm>
              <a:off x="0" y="1825"/>
              <a:ext cx="12192000" cy="1026366"/>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CA"/>
            </a:p>
          </p:txBody>
        </p:sp>
        <p:pic>
          <p:nvPicPr>
            <p:cNvPr id="34" name="Picture 2" descr="Related image">
              <a:extLst>
                <a:ext uri="{FF2B5EF4-FFF2-40B4-BE49-F238E27FC236}">
                  <a16:creationId xmlns:a16="http://schemas.microsoft.com/office/drawing/2014/main" id="{8B310AB6-134D-4DB8-BA04-D3C962D90E3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9357" t="33734" r="11492" b="33338"/>
            <a:stretch/>
          </p:blipFill>
          <p:spPr bwMode="auto">
            <a:xfrm>
              <a:off x="-27806" y="-9503"/>
              <a:ext cx="1567544" cy="620809"/>
            </a:xfrm>
            <a:prstGeom prst="rect">
              <a:avLst/>
            </a:prstGeom>
            <a:noFill/>
          </p:spPr>
        </p:pic>
      </p:grpSp>
      <p:sp>
        <p:nvSpPr>
          <p:cNvPr id="4" name="TextBox 3">
            <a:extLst>
              <a:ext uri="{FF2B5EF4-FFF2-40B4-BE49-F238E27FC236}">
                <a16:creationId xmlns:a16="http://schemas.microsoft.com/office/drawing/2014/main" id="{7C0ACE61-E8AD-4316-86F9-763B61179FE3}"/>
              </a:ext>
            </a:extLst>
          </p:cNvPr>
          <p:cNvSpPr txBox="1"/>
          <p:nvPr/>
        </p:nvSpPr>
        <p:spPr>
          <a:xfrm>
            <a:off x="1962732" y="219932"/>
            <a:ext cx="8665827" cy="58477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CA" sz="3200" b="0"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rPr>
              <a:t>Thin-Shell Perturbations From Equilibrium</a:t>
            </a:r>
          </a:p>
        </p:txBody>
      </p:sp>
      <p:sp>
        <p:nvSpPr>
          <p:cNvPr id="38" name="Footer Placeholder 1">
            <a:extLst>
              <a:ext uri="{FF2B5EF4-FFF2-40B4-BE49-F238E27FC236}">
                <a16:creationId xmlns:a16="http://schemas.microsoft.com/office/drawing/2014/main" id="{531BD4D9-9579-403F-B4D7-604945B7C551}"/>
              </a:ext>
            </a:extLst>
          </p:cNvPr>
          <p:cNvSpPr txBox="1">
            <a:spLocks/>
          </p:cNvSpPr>
          <p:nvPr/>
        </p:nvSpPr>
        <p:spPr>
          <a:xfrm>
            <a:off x="2182170" y="6413063"/>
            <a:ext cx="7827659" cy="377825"/>
          </a:xfrm>
          <a:prstGeom prst="rect">
            <a:avLst/>
          </a:prstGeom>
        </p:spPr>
        <p:txBody>
          <a:bodyPr vert="horz" lIns="91440" tIns="45720" rIns="91440" bIns="45720" rtlCol="0" anchor="ctr"/>
          <a:lstStyle>
            <a:defPPr>
              <a:defRPr lang="en-US"/>
            </a:defPPr>
            <a:lvl1pPr marL="0" algn="l"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a:latin typeface="Arial" panose="020B0604020202020204" pitchFamily="34" charset="0"/>
                <a:cs typeface="Arial" panose="020B0604020202020204" pitchFamily="34" charset="0"/>
              </a:rPr>
              <a:t>Canadian Undergraduate Physics Conference</a:t>
            </a:r>
            <a:endParaRPr lang="en-US" dirty="0">
              <a:latin typeface="Arial" panose="020B0604020202020204" pitchFamily="34" charset="0"/>
              <a:cs typeface="Arial" panose="020B0604020202020204" pitchFamily="34" charset="0"/>
            </a:endParaRPr>
          </a:p>
        </p:txBody>
      </p:sp>
      <p:sp>
        <p:nvSpPr>
          <p:cNvPr id="39" name="Slide Number Placeholder 2">
            <a:extLst>
              <a:ext uri="{FF2B5EF4-FFF2-40B4-BE49-F238E27FC236}">
                <a16:creationId xmlns:a16="http://schemas.microsoft.com/office/drawing/2014/main" id="{607653E8-D55D-477C-B349-1BA14C3FA65C}"/>
              </a:ext>
            </a:extLst>
          </p:cNvPr>
          <p:cNvSpPr txBox="1">
            <a:spLocks/>
          </p:cNvSpPr>
          <p:nvPr/>
        </p:nvSpPr>
        <p:spPr>
          <a:xfrm>
            <a:off x="10284775" y="6413063"/>
            <a:ext cx="551167"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D57F1E4F-1CFF-5643-939E-217C01CDF565}" type="slidenum">
              <a:rPr lang="en-US" smtClean="0">
                <a:latin typeface="Arial" panose="020B0604020202020204" pitchFamily="34" charset="0"/>
                <a:cs typeface="Arial" panose="020B0604020202020204" pitchFamily="34" charset="0"/>
              </a:rPr>
              <a:pPr algn="ctr"/>
              <a:t>12</a:t>
            </a:fld>
            <a:endParaRPr lang="en-US" dirty="0">
              <a:latin typeface="Arial" panose="020B0604020202020204" pitchFamily="34" charset="0"/>
              <a:cs typeface="Arial" panose="020B0604020202020204" pitchFamily="34" charset="0"/>
            </a:endParaRPr>
          </a:p>
        </p:txBody>
      </p:sp>
      <p:sp>
        <p:nvSpPr>
          <p:cNvPr id="40" name="Date Placeholder 5">
            <a:extLst>
              <a:ext uri="{FF2B5EF4-FFF2-40B4-BE49-F238E27FC236}">
                <a16:creationId xmlns:a16="http://schemas.microsoft.com/office/drawing/2014/main" id="{9B500810-5A9B-4E12-A85B-A320C18C8525}"/>
              </a:ext>
            </a:extLst>
          </p:cNvPr>
          <p:cNvSpPr txBox="1">
            <a:spLocks/>
          </p:cNvSpPr>
          <p:nvPr/>
        </p:nvSpPr>
        <p:spPr>
          <a:xfrm>
            <a:off x="831541" y="6413063"/>
            <a:ext cx="1600200" cy="377825"/>
          </a:xfrm>
          <a:prstGeom prst="rect">
            <a:avLst/>
          </a:prstGeom>
        </p:spPr>
        <p:txBody>
          <a:bodyPr vert="horz" lIns="91440" tIns="45720" rIns="91440" bIns="45720" rtlCol="0" anchor="ctr"/>
          <a:lstStyle>
            <a:defPPr>
              <a:defRPr lang="en-US"/>
            </a:defPPr>
            <a:lvl1pPr marL="0" algn="r" defTabSz="914400" rtl="0" eaLnBrk="1" latinLnBrk="0" hangingPunct="1">
              <a:defRPr sz="1000" b="0" i="0" kern="1200">
                <a:solidFill>
                  <a:schemeClr val="tx1"/>
                </a:solidFill>
                <a:effectLst/>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fld id="{48F1A6D2-BD25-476B-8695-9DF6C2E37C50}" type="datetime1">
              <a:rPr lang="en-US" smtClean="0">
                <a:latin typeface="Arial" panose="020B0604020202020204" pitchFamily="34" charset="0"/>
                <a:cs typeface="Arial" panose="020B0604020202020204" pitchFamily="34" charset="0"/>
              </a:rPr>
              <a:pPr algn="ctr"/>
              <a:t>11/3/2019</a:t>
            </a:fld>
            <a:endParaRPr lang="en-US" dirty="0">
              <a:latin typeface="Arial" panose="020B0604020202020204" pitchFamily="34" charset="0"/>
              <a:cs typeface="Arial" panose="020B0604020202020204" pitchFamily="34" charset="0"/>
            </a:endParaRPr>
          </a:p>
        </p:txBody>
      </p:sp>
      <p:grpSp>
        <p:nvGrpSpPr>
          <p:cNvPr id="8" name="Group 7">
            <a:extLst>
              <a:ext uri="{FF2B5EF4-FFF2-40B4-BE49-F238E27FC236}">
                <a16:creationId xmlns:a16="http://schemas.microsoft.com/office/drawing/2014/main" id="{6A6DBA09-C7D8-4A58-B680-4CB6FE2DC635}"/>
              </a:ext>
            </a:extLst>
          </p:cNvPr>
          <p:cNvGrpSpPr/>
          <p:nvPr/>
        </p:nvGrpSpPr>
        <p:grpSpPr>
          <a:xfrm>
            <a:off x="227798" y="1519514"/>
            <a:ext cx="6468178" cy="4300531"/>
            <a:chOff x="123024" y="1023924"/>
            <a:chExt cx="6468178" cy="4300531"/>
          </a:xfrm>
        </p:grpSpPr>
        <p:pic>
          <p:nvPicPr>
            <p:cNvPr id="6" name="Picture 5">
              <a:extLst>
                <a:ext uri="{FF2B5EF4-FFF2-40B4-BE49-F238E27FC236}">
                  <a16:creationId xmlns:a16="http://schemas.microsoft.com/office/drawing/2014/main" id="{0B274955-DEC2-49DA-8BE9-6CE67AA18F81}"/>
                </a:ext>
              </a:extLst>
            </p:cNvPr>
            <p:cNvPicPr>
              <a:picLocks noChangeAspect="1"/>
            </p:cNvPicPr>
            <p:nvPr/>
          </p:nvPicPr>
          <p:blipFill rotWithShape="1">
            <a:blip r:embed="rId3">
              <a:extLst>
                <a:ext uri="{28A0092B-C50C-407E-A947-70E740481C1C}">
                  <a14:useLocalDpi xmlns:a14="http://schemas.microsoft.com/office/drawing/2010/main" val="0"/>
                </a:ext>
              </a:extLst>
            </a:blip>
            <a:srcRect l="2827" r="6170"/>
            <a:stretch/>
          </p:blipFill>
          <p:spPr>
            <a:xfrm>
              <a:off x="123024" y="1023924"/>
              <a:ext cx="6468178" cy="4300531"/>
            </a:xfrm>
            <a:prstGeom prst="rect">
              <a:avLst/>
            </a:prstGeom>
          </p:spPr>
        </p:pic>
        <mc:AlternateContent xmlns:mc="http://schemas.openxmlformats.org/markup-compatibility/2006">
          <mc:Choice xmlns:a14="http://schemas.microsoft.com/office/drawing/2010/main" Requires="a14">
            <p:sp>
              <p:nvSpPr>
                <p:cNvPr id="20" name="TextBox 19">
                  <a:extLst>
                    <a:ext uri="{FF2B5EF4-FFF2-40B4-BE49-F238E27FC236}">
                      <a16:creationId xmlns:a16="http://schemas.microsoft.com/office/drawing/2014/main" id="{848E0947-4E8A-4A11-9CFB-6ED341A731D1}"/>
                    </a:ext>
                  </a:extLst>
                </p:cNvPr>
                <p:cNvSpPr txBox="1"/>
                <p:nvPr/>
              </p:nvSpPr>
              <p:spPr>
                <a:xfrm>
                  <a:off x="1725512" y="3075057"/>
                  <a:ext cx="1963554" cy="707886"/>
                </a:xfrm>
                <a:prstGeom prst="rect">
                  <a:avLst/>
                </a:prstGeom>
                <a:noFill/>
              </p:spPr>
              <p:txBody>
                <a:bodyPr wrap="square" rtlCol="0">
                  <a:spAutoFit/>
                </a:bodyPr>
                <a:lstStyle/>
                <a:p>
                  <a:r>
                    <a:rPr lang="en-CA" sz="2000" dirty="0">
                      <a:solidFill>
                        <a:schemeClr val="bg1"/>
                      </a:solidFill>
                      <a:latin typeface="Arial" panose="020B0604020202020204" pitchFamily="34" charset="0"/>
                      <a:cs typeface="Arial" panose="020B0604020202020204" pitchFamily="34" charset="0"/>
                    </a:rPr>
                    <a:t>Limiting Radius</a:t>
                  </a:r>
                </a:p>
                <a:p>
                  <a14:m>
                    <m:oMathPara xmlns:m="http://schemas.openxmlformats.org/officeDocument/2006/math">
                      <m:oMathParaPr>
                        <m:jc m:val="centerGroup"/>
                      </m:oMathParaPr>
                      <m:oMath xmlns:m="http://schemas.openxmlformats.org/officeDocument/2006/math">
                        <m:sSub>
                          <m:sSubPr>
                            <m:ctrlPr>
                              <a:rPr lang="en-CA" sz="2000" i="1" smtClean="0">
                                <a:solidFill>
                                  <a:schemeClr val="bg1"/>
                                </a:solidFill>
                                <a:latin typeface="Cambria Math" panose="02040503050406030204" pitchFamily="18" charset="0"/>
                                <a:cs typeface="Arial" panose="020B0604020202020204" pitchFamily="34" charset="0"/>
                              </a:rPr>
                            </m:ctrlPr>
                          </m:sSubPr>
                          <m:e>
                            <m:r>
                              <a:rPr lang="en-CA" sz="2000" i="1">
                                <a:solidFill>
                                  <a:schemeClr val="bg1"/>
                                </a:solidFill>
                                <a:latin typeface="Cambria Math" panose="02040503050406030204" pitchFamily="18" charset="0"/>
                                <a:cs typeface="Arial" panose="020B0604020202020204" pitchFamily="34" charset="0"/>
                              </a:rPr>
                              <m:t>𝑅</m:t>
                            </m:r>
                          </m:e>
                          <m:sub>
                            <m:r>
                              <a:rPr lang="en-CA" sz="2000" i="1">
                                <a:solidFill>
                                  <a:schemeClr val="bg1"/>
                                </a:solidFill>
                                <a:latin typeface="Cambria Math" panose="02040503050406030204" pitchFamily="18" charset="0"/>
                                <a:cs typeface="Arial" panose="020B0604020202020204" pitchFamily="34" charset="0"/>
                              </a:rPr>
                              <m:t>𝑠</m:t>
                            </m:r>
                          </m:sub>
                        </m:sSub>
                        <m:r>
                          <a:rPr lang="en-CA" sz="2000" i="1">
                            <a:solidFill>
                              <a:schemeClr val="bg1"/>
                            </a:solidFill>
                            <a:latin typeface="Cambria Math" panose="02040503050406030204" pitchFamily="18" charset="0"/>
                            <a:cs typeface="Arial" panose="020B0604020202020204" pitchFamily="34" charset="0"/>
                          </a:rPr>
                          <m:t>=2</m:t>
                        </m:r>
                        <m:r>
                          <a:rPr lang="en-CA" sz="2000" i="1">
                            <a:solidFill>
                              <a:schemeClr val="bg1"/>
                            </a:solidFill>
                            <a:latin typeface="Cambria Math" panose="02040503050406030204" pitchFamily="18" charset="0"/>
                            <a:cs typeface="Arial" panose="020B0604020202020204" pitchFamily="34" charset="0"/>
                          </a:rPr>
                          <m:t>𝑀</m:t>
                        </m:r>
                      </m:oMath>
                    </m:oMathPara>
                  </a14:m>
                  <a:endParaRPr lang="en-CA" sz="2000" dirty="0">
                    <a:solidFill>
                      <a:schemeClr val="bg1"/>
                    </a:solidFill>
                  </a:endParaRPr>
                </a:p>
              </p:txBody>
            </p:sp>
          </mc:Choice>
          <mc:Fallback>
            <p:sp>
              <p:nvSpPr>
                <p:cNvPr id="20" name="TextBox 19">
                  <a:extLst>
                    <a:ext uri="{FF2B5EF4-FFF2-40B4-BE49-F238E27FC236}">
                      <a16:creationId xmlns:a16="http://schemas.microsoft.com/office/drawing/2014/main" id="{848E0947-4E8A-4A11-9CFB-6ED341A731D1}"/>
                    </a:ext>
                  </a:extLst>
                </p:cNvPr>
                <p:cNvSpPr txBox="1">
                  <a:spLocks noRot="1" noChangeAspect="1" noMove="1" noResize="1" noEditPoints="1" noAdjustHandles="1" noChangeArrowheads="1" noChangeShapeType="1" noTextEdit="1"/>
                </p:cNvSpPr>
                <p:nvPr/>
              </p:nvSpPr>
              <p:spPr>
                <a:xfrm>
                  <a:off x="1725512" y="3075057"/>
                  <a:ext cx="1963554" cy="707886"/>
                </a:xfrm>
                <a:prstGeom prst="rect">
                  <a:avLst/>
                </a:prstGeom>
                <a:blipFill>
                  <a:blip r:embed="rId4"/>
                  <a:stretch>
                    <a:fillRect l="-3106" t="-4310" r="-932"/>
                  </a:stretch>
                </a:blipFill>
              </p:spPr>
              <p:txBody>
                <a:bodyPr/>
                <a:lstStyle/>
                <a:p>
                  <a:r>
                    <a:rPr lang="en-CA">
                      <a:noFill/>
                    </a:rPr>
                    <a:t> </a:t>
                  </a:r>
                </a:p>
              </p:txBody>
            </p:sp>
          </mc:Fallback>
        </mc:AlternateContent>
      </p:grpSp>
    </p:spTree>
    <p:extLst>
      <p:ext uri="{BB962C8B-B14F-4D97-AF65-F5344CB8AC3E}">
        <p14:creationId xmlns:p14="http://schemas.microsoft.com/office/powerpoint/2010/main" val="356252485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6476F"/>
      </a:dk2>
      <a:lt2>
        <a:srgbClr val="EBEBEB"/>
      </a:lt2>
      <a:accent1>
        <a:srgbClr val="E5B458"/>
      </a:accent1>
      <a:accent2>
        <a:srgbClr val="F77754"/>
      </a:accent2>
      <a:accent3>
        <a:srgbClr val="D8507E"/>
      </a:accent3>
      <a:accent4>
        <a:srgbClr val="BC70EE"/>
      </a:accent4>
      <a:accent5>
        <a:srgbClr val="3CA2E2"/>
      </a:accent5>
      <a:accent6>
        <a:srgbClr val="91BF77"/>
      </a:accent6>
      <a:hlink>
        <a:srgbClr val="71DDAB"/>
      </a:hlink>
      <a:folHlink>
        <a:srgbClr val="A6E4C7"/>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B36E0D05-787B-4C61-8268-2D6C1FBEDA3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28329</TotalTime>
  <Words>781</Words>
  <Application>Microsoft Office PowerPoint</Application>
  <PresentationFormat>Widescreen</PresentationFormat>
  <Paragraphs>170</Paragraphs>
  <Slides>12</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12</vt:i4>
      </vt:variant>
    </vt:vector>
  </HeadingPairs>
  <TitlesOfParts>
    <vt:vector size="19" baseType="lpstr">
      <vt:lpstr>Arial</vt:lpstr>
      <vt:lpstr>Arial</vt:lpstr>
      <vt:lpstr>Calibri</vt:lpstr>
      <vt:lpstr>Calibri Light</vt:lpstr>
      <vt:lpstr>Cambria Math</vt:lpstr>
      <vt:lpstr>Wingdings</vt:lpstr>
      <vt:lpstr>Celestial</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Phil Lemaitre</dc:creator>
  <cp:lastModifiedBy>Phil Lemaitre</cp:lastModifiedBy>
  <cp:revision>118</cp:revision>
  <dcterms:created xsi:type="dcterms:W3CDTF">2019-10-05T23:00:39Z</dcterms:created>
  <dcterms:modified xsi:type="dcterms:W3CDTF">2019-11-04T05:55:01Z</dcterms:modified>
</cp:coreProperties>
</file>