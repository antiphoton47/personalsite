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30.xml" ContentType="application/vnd.openxmlformats-officedocument.presentationml.tags+xml"/>
  <Override PartName="/ppt/notesSlides/notesSlide32.xml" ContentType="application/vnd.openxmlformats-officedocument.presentationml.notesSlide+xml"/>
  <Override PartName="/ppt/tags/tag31.xml" ContentType="application/vnd.openxmlformats-officedocument.presentationml.tags+xml"/>
  <Override PartName="/ppt/notesSlides/notesSlide33.xml" ContentType="application/vnd.openxmlformats-officedocument.presentationml.notesSlide+xml"/>
  <Override PartName="/ppt/tags/tag32.xml" ContentType="application/vnd.openxmlformats-officedocument.presentationml.tags+xml"/>
  <Override PartName="/ppt/notesSlides/notesSlide34.xml" ContentType="application/vnd.openxmlformats-officedocument.presentationml.notesSlide+xml"/>
  <Override PartName="/ppt/tags/tag33.xml" ContentType="application/vnd.openxmlformats-officedocument.presentationml.tags+xml"/>
  <Override PartName="/ppt/notesSlides/notesSlide35.xml" ContentType="application/vnd.openxmlformats-officedocument.presentationml.notesSlide+xml"/>
  <Override PartName="/ppt/tags/tag34.xml" ContentType="application/vnd.openxmlformats-officedocument.presentationml.tags+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8"/>
  </p:notesMasterIdLst>
  <p:sldIdLst>
    <p:sldId id="260" r:id="rId2"/>
    <p:sldId id="331" r:id="rId3"/>
    <p:sldId id="306" r:id="rId4"/>
    <p:sldId id="305" r:id="rId5"/>
    <p:sldId id="349" r:id="rId6"/>
    <p:sldId id="309" r:id="rId7"/>
    <p:sldId id="329" r:id="rId8"/>
    <p:sldId id="337" r:id="rId9"/>
    <p:sldId id="308" r:id="rId10"/>
    <p:sldId id="328" r:id="rId11"/>
    <p:sldId id="310" r:id="rId12"/>
    <p:sldId id="350" r:id="rId13"/>
    <p:sldId id="333" r:id="rId14"/>
    <p:sldId id="314" r:id="rId15"/>
    <p:sldId id="334" r:id="rId16"/>
    <p:sldId id="351" r:id="rId17"/>
    <p:sldId id="326" r:id="rId18"/>
    <p:sldId id="315" r:id="rId19"/>
    <p:sldId id="330" r:id="rId20"/>
    <p:sldId id="352" r:id="rId21"/>
    <p:sldId id="317" r:id="rId22"/>
    <p:sldId id="339" r:id="rId23"/>
    <p:sldId id="342" r:id="rId24"/>
    <p:sldId id="343" r:id="rId25"/>
    <p:sldId id="321" r:id="rId26"/>
    <p:sldId id="346" r:id="rId27"/>
    <p:sldId id="347" r:id="rId28"/>
    <p:sldId id="348" r:id="rId29"/>
    <p:sldId id="287" r:id="rId30"/>
    <p:sldId id="325" r:id="rId31"/>
    <p:sldId id="270" r:id="rId32"/>
    <p:sldId id="288" r:id="rId33"/>
    <p:sldId id="291" r:id="rId34"/>
    <p:sldId id="290" r:id="rId35"/>
    <p:sldId id="294"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AFF"/>
    <a:srgbClr val="FCFAC1"/>
    <a:srgbClr val="FF524D"/>
    <a:srgbClr val="FF7972"/>
    <a:srgbClr val="FF9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01"/>
    <p:restoredTop sz="87857"/>
  </p:normalViewPr>
  <p:slideViewPr>
    <p:cSldViewPr snapToGrid="0">
      <p:cViewPr varScale="1">
        <p:scale>
          <a:sx n="106" d="100"/>
          <a:sy n="106" d="100"/>
        </p:scale>
        <p:origin x="1552" y="176"/>
      </p:cViewPr>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6D1FF0-3E54-6E47-B0C8-5E62699D42EE}" type="datetimeFigureOut">
              <a:rPr lang="en-CA" smtClean="0"/>
              <a:t>2026-05-18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720B4-AB10-0342-9541-2DF5352E8B38}" type="slidenum">
              <a:rPr lang="en-CA" smtClean="0"/>
              <a:t>‹#›</a:t>
            </a:fld>
            <a:endParaRPr lang="en-CA"/>
          </a:p>
        </p:txBody>
      </p:sp>
    </p:spTree>
    <p:extLst>
      <p:ext uri="{BB962C8B-B14F-4D97-AF65-F5344CB8AC3E}">
        <p14:creationId xmlns:p14="http://schemas.microsoft.com/office/powerpoint/2010/main" val="3643010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Hi everyone, thanks for coming to my presentation. My name is Phil and I am a PhD student from the University of Innsbruck in the group of Hans </a:t>
            </a:r>
            <a:r>
              <a:rPr lang="en-CA" dirty="0" err="1"/>
              <a:t>Briegel</a:t>
            </a:r>
            <a:r>
              <a:rPr lang="en-CA" dirty="0"/>
              <a:t>. Today I will be talking about Multi-Excitation Projective Simulation.</a:t>
            </a:r>
          </a:p>
        </p:txBody>
      </p:sp>
      <p:sp>
        <p:nvSpPr>
          <p:cNvPr id="4" name="Slide Number Placeholder 3"/>
          <p:cNvSpPr>
            <a:spLocks noGrp="1"/>
          </p:cNvSpPr>
          <p:nvPr>
            <p:ph type="sldNum" sz="quarter" idx="5"/>
          </p:nvPr>
        </p:nvSpPr>
        <p:spPr/>
        <p:txBody>
          <a:bodyPr/>
          <a:lstStyle/>
          <a:p>
            <a:fld id="{E40720B4-AB10-0342-9541-2DF5352E8B38}" type="slidenum">
              <a:rPr lang="en-CA" smtClean="0"/>
              <a:t>1</a:t>
            </a:fld>
            <a:endParaRPr lang="en-CA"/>
          </a:p>
        </p:txBody>
      </p:sp>
    </p:spTree>
    <p:extLst>
      <p:ext uri="{BB962C8B-B14F-4D97-AF65-F5344CB8AC3E}">
        <p14:creationId xmlns:p14="http://schemas.microsoft.com/office/powerpoint/2010/main" val="1747424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B37B4-49E6-60FE-F512-C01CBE8D6A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18870-59D0-8934-259E-106362E11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36F40-2761-AA8E-2539-DE08227B952A}"/>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B7C037A2-0294-0966-FB26-410B5864EB41}"/>
              </a:ext>
            </a:extLst>
          </p:cNvPr>
          <p:cNvSpPr>
            <a:spLocks noGrp="1"/>
          </p:cNvSpPr>
          <p:nvPr>
            <p:ph type="sldNum" sz="quarter" idx="5"/>
          </p:nvPr>
        </p:nvSpPr>
        <p:spPr/>
        <p:txBody>
          <a:bodyPr/>
          <a:lstStyle/>
          <a:p>
            <a:fld id="{E40720B4-AB10-0342-9541-2DF5352E8B38}" type="slidenum">
              <a:rPr lang="en-CA" smtClean="0"/>
              <a:t>2</a:t>
            </a:fld>
            <a:endParaRPr lang="en-CA"/>
          </a:p>
        </p:txBody>
      </p:sp>
    </p:spTree>
    <p:extLst>
      <p:ext uri="{BB962C8B-B14F-4D97-AF65-F5344CB8AC3E}">
        <p14:creationId xmlns:p14="http://schemas.microsoft.com/office/powerpoint/2010/main" val="4222871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77B2-3C89-9933-D532-CD69B55AE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D50A6-B193-3461-414B-E9F51AF82F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8AF0D-D87C-014E-EA5C-4717CE91A7D5}"/>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5002084B-3C5D-BDD8-D314-F4D579A0D107}"/>
              </a:ext>
            </a:extLst>
          </p:cNvPr>
          <p:cNvSpPr>
            <a:spLocks noGrp="1"/>
          </p:cNvSpPr>
          <p:nvPr>
            <p:ph type="sldNum" sz="quarter" idx="5"/>
          </p:nvPr>
        </p:nvSpPr>
        <p:spPr/>
        <p:txBody>
          <a:bodyPr/>
          <a:lstStyle/>
          <a:p>
            <a:fld id="{E40720B4-AB10-0342-9541-2DF5352E8B38}" type="slidenum">
              <a:rPr lang="en-CA" smtClean="0"/>
              <a:t>3</a:t>
            </a:fld>
            <a:endParaRPr lang="en-CA"/>
          </a:p>
        </p:txBody>
      </p:sp>
    </p:spTree>
    <p:extLst>
      <p:ext uri="{BB962C8B-B14F-4D97-AF65-F5344CB8AC3E}">
        <p14:creationId xmlns:p14="http://schemas.microsoft.com/office/powerpoint/2010/main" val="2716158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81B35-59A9-8C4A-F044-57200359ED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C3320-2960-87EF-DCC7-B66279E25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61B38-F47D-C1A5-215B-6C16D350FAC3}"/>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F5821E02-1463-A5D6-CEBE-81D0DD2738C5}"/>
              </a:ext>
            </a:extLst>
          </p:cNvPr>
          <p:cNvSpPr>
            <a:spLocks noGrp="1"/>
          </p:cNvSpPr>
          <p:nvPr>
            <p:ph type="sldNum" sz="quarter" idx="5"/>
          </p:nvPr>
        </p:nvSpPr>
        <p:spPr/>
        <p:txBody>
          <a:bodyPr/>
          <a:lstStyle/>
          <a:p>
            <a:fld id="{E40720B4-AB10-0342-9541-2DF5352E8B38}" type="slidenum">
              <a:rPr lang="en-CA" smtClean="0"/>
              <a:t>4</a:t>
            </a:fld>
            <a:endParaRPr lang="en-CA"/>
          </a:p>
        </p:txBody>
      </p:sp>
    </p:spTree>
    <p:extLst>
      <p:ext uri="{BB962C8B-B14F-4D97-AF65-F5344CB8AC3E}">
        <p14:creationId xmlns:p14="http://schemas.microsoft.com/office/powerpoint/2010/main" val="2506567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6BC0E-D7D5-0B03-F5DE-B01931A69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A2AF0-DCBB-28B9-7822-21F83B732B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99553-B711-6E73-5E6E-C1744A45B069}"/>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E935810D-A900-9B06-3828-93EB7B5D1CC4}"/>
              </a:ext>
            </a:extLst>
          </p:cNvPr>
          <p:cNvSpPr>
            <a:spLocks noGrp="1"/>
          </p:cNvSpPr>
          <p:nvPr>
            <p:ph type="sldNum" sz="quarter" idx="5"/>
          </p:nvPr>
        </p:nvSpPr>
        <p:spPr/>
        <p:txBody>
          <a:bodyPr/>
          <a:lstStyle/>
          <a:p>
            <a:fld id="{E40720B4-AB10-0342-9541-2DF5352E8B38}" type="slidenum">
              <a:rPr lang="en-CA" smtClean="0"/>
              <a:t>5</a:t>
            </a:fld>
            <a:endParaRPr lang="en-CA"/>
          </a:p>
        </p:txBody>
      </p:sp>
    </p:spTree>
    <p:extLst>
      <p:ext uri="{BB962C8B-B14F-4D97-AF65-F5344CB8AC3E}">
        <p14:creationId xmlns:p14="http://schemas.microsoft.com/office/powerpoint/2010/main" val="3309657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2F88E-F135-502B-9E3F-5DD5303CB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F8295-ED38-BE69-21A3-B6032CB30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691EA-23DD-9014-58CD-5CD29F6B111C}"/>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D42DB024-C336-4CD6-5F6E-A0B336DBA52E}"/>
              </a:ext>
            </a:extLst>
          </p:cNvPr>
          <p:cNvSpPr>
            <a:spLocks noGrp="1"/>
          </p:cNvSpPr>
          <p:nvPr>
            <p:ph type="sldNum" sz="quarter" idx="5"/>
          </p:nvPr>
        </p:nvSpPr>
        <p:spPr/>
        <p:txBody>
          <a:bodyPr/>
          <a:lstStyle/>
          <a:p>
            <a:fld id="{E40720B4-AB10-0342-9541-2DF5352E8B38}" type="slidenum">
              <a:rPr lang="en-CA" smtClean="0"/>
              <a:t>6</a:t>
            </a:fld>
            <a:endParaRPr lang="en-CA"/>
          </a:p>
        </p:txBody>
      </p:sp>
    </p:spTree>
    <p:extLst>
      <p:ext uri="{BB962C8B-B14F-4D97-AF65-F5344CB8AC3E}">
        <p14:creationId xmlns:p14="http://schemas.microsoft.com/office/powerpoint/2010/main" val="4104110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9CB41-2439-D6DA-340A-4A9AF7E7D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34F42-F357-B598-C39B-34B20594D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7A2D7-AFA8-6298-B504-087493288355}"/>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3E69E396-E4F7-BBE5-EA0C-275190638952}"/>
              </a:ext>
            </a:extLst>
          </p:cNvPr>
          <p:cNvSpPr>
            <a:spLocks noGrp="1"/>
          </p:cNvSpPr>
          <p:nvPr>
            <p:ph type="sldNum" sz="quarter" idx="5"/>
          </p:nvPr>
        </p:nvSpPr>
        <p:spPr/>
        <p:txBody>
          <a:bodyPr/>
          <a:lstStyle/>
          <a:p>
            <a:fld id="{E40720B4-AB10-0342-9541-2DF5352E8B38}" type="slidenum">
              <a:rPr lang="en-CA" smtClean="0"/>
              <a:t>7</a:t>
            </a:fld>
            <a:endParaRPr lang="en-CA"/>
          </a:p>
        </p:txBody>
      </p:sp>
    </p:spTree>
    <p:extLst>
      <p:ext uri="{BB962C8B-B14F-4D97-AF65-F5344CB8AC3E}">
        <p14:creationId xmlns:p14="http://schemas.microsoft.com/office/powerpoint/2010/main" val="1345745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D39C-4C90-E093-25C7-DCEE55B42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BBB4D-BDF0-8177-1934-FD87B2D9B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AFC91-E2DA-19DE-15F6-DB381FA27904}"/>
              </a:ext>
            </a:extLst>
          </p:cNvPr>
          <p:cNvSpPr>
            <a:spLocks noGrp="1"/>
          </p:cNvSpPr>
          <p:nvPr>
            <p:ph type="body" idx="1"/>
          </p:nvPr>
        </p:nvSpPr>
        <p:spPr/>
        <p:txBody>
          <a:bodyPr/>
          <a:lstStyle/>
          <a:p>
            <a:pPr marL="171450" indent="-171450">
              <a:buFont typeface="Arial" panose="020B0604020202020204" pitchFamily="34" charset="0"/>
              <a:buChar char="•"/>
            </a:pPr>
            <a:r>
              <a:rPr lang="en-CA" dirty="0"/>
              <a:t>Since we have only two possible values and the -1,-1 outcome cant happen, the graph of the projectors associated to -1 should have max independence number equal to 2</a:t>
            </a:r>
          </a:p>
          <a:p>
            <a:pPr marL="171450" indent="-171450">
              <a:buFont typeface="Arial" panose="020B0604020202020204" pitchFamily="34" charset="0"/>
              <a:buChar char="•"/>
            </a:pPr>
            <a:r>
              <a:rPr lang="en-CA" dirty="0"/>
              <a:t>Then the expected value of the -1 outcomes with respect to a global distribution should just be the sum of the -1 marginals</a:t>
            </a:r>
          </a:p>
          <a:p>
            <a:endParaRPr lang="en-CA" dirty="0"/>
          </a:p>
        </p:txBody>
      </p:sp>
      <p:sp>
        <p:nvSpPr>
          <p:cNvPr id="4" name="Slide Number Placeholder 3">
            <a:extLst>
              <a:ext uri="{FF2B5EF4-FFF2-40B4-BE49-F238E27FC236}">
                <a16:creationId xmlns:a16="http://schemas.microsoft.com/office/drawing/2014/main" id="{9F4B5FAE-2035-AE7D-27ED-BEDF5F2499EE}"/>
              </a:ext>
            </a:extLst>
          </p:cNvPr>
          <p:cNvSpPr>
            <a:spLocks noGrp="1"/>
          </p:cNvSpPr>
          <p:nvPr>
            <p:ph type="sldNum" sz="quarter" idx="5"/>
          </p:nvPr>
        </p:nvSpPr>
        <p:spPr/>
        <p:txBody>
          <a:bodyPr/>
          <a:lstStyle/>
          <a:p>
            <a:fld id="{E40720B4-AB10-0342-9541-2DF5352E8B38}" type="slidenum">
              <a:rPr lang="en-CA" smtClean="0"/>
              <a:t>8</a:t>
            </a:fld>
            <a:endParaRPr lang="en-CA"/>
          </a:p>
        </p:txBody>
      </p:sp>
    </p:spTree>
    <p:extLst>
      <p:ext uri="{BB962C8B-B14F-4D97-AF65-F5344CB8AC3E}">
        <p14:creationId xmlns:p14="http://schemas.microsoft.com/office/powerpoint/2010/main" val="2739999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B550-868C-82D5-158D-C2578EC6E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08073-2F21-C70A-8F83-BDCBE732F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F4494-49B5-356E-C3B8-A030C0227560}"/>
              </a:ext>
            </a:extLst>
          </p:cNvPr>
          <p:cNvSpPr>
            <a:spLocks noGrp="1"/>
          </p:cNvSpPr>
          <p:nvPr>
            <p:ph type="body" idx="1"/>
          </p:nvPr>
        </p:nvSpPr>
        <p:spPr/>
        <p:txBody>
          <a:bodyPr/>
          <a:lstStyle/>
          <a:p>
            <a:pPr marL="171450" indent="-171450">
              <a:buFont typeface="Arial" panose="020B0604020202020204" pitchFamily="34" charset="0"/>
              <a:buChar char="•"/>
            </a:pPr>
            <a:r>
              <a:rPr lang="en-CA" dirty="0"/>
              <a:t>Knowledge balance principle: If one has maximal knowledge, then for every system, at every time, the amount of knowledge one possesses about the ontic state of the system at that time must equal the amount of knowledge one lacks.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Contextuality/nonlocality resist a classical explanation, so I will take them to be the defining feature of what makes quantum theory non-classical.</a:t>
            </a:r>
          </a:p>
          <a:p>
            <a:pPr marL="171450" indent="-171450">
              <a:buFont typeface="Arial" panose="020B0604020202020204" pitchFamily="34" charset="0"/>
              <a:buChar char="•"/>
            </a:pPr>
            <a:endParaRPr lang="en-CA" dirty="0"/>
          </a:p>
          <a:p>
            <a:endParaRPr lang="en-CA" dirty="0"/>
          </a:p>
        </p:txBody>
      </p:sp>
      <p:sp>
        <p:nvSpPr>
          <p:cNvPr id="4" name="Slide Number Placeholder 3">
            <a:extLst>
              <a:ext uri="{FF2B5EF4-FFF2-40B4-BE49-F238E27FC236}">
                <a16:creationId xmlns:a16="http://schemas.microsoft.com/office/drawing/2014/main" id="{C3C83ED6-076B-E47F-123D-74EF0BA7376C}"/>
              </a:ext>
            </a:extLst>
          </p:cNvPr>
          <p:cNvSpPr>
            <a:spLocks noGrp="1"/>
          </p:cNvSpPr>
          <p:nvPr>
            <p:ph type="sldNum" sz="quarter" idx="5"/>
          </p:nvPr>
        </p:nvSpPr>
        <p:spPr/>
        <p:txBody>
          <a:bodyPr/>
          <a:lstStyle/>
          <a:p>
            <a:fld id="{E40720B4-AB10-0342-9541-2DF5352E8B38}" type="slidenum">
              <a:rPr lang="en-CA" smtClean="0"/>
              <a:t>9</a:t>
            </a:fld>
            <a:endParaRPr lang="en-CA"/>
          </a:p>
        </p:txBody>
      </p:sp>
    </p:spTree>
    <p:extLst>
      <p:ext uri="{BB962C8B-B14F-4D97-AF65-F5344CB8AC3E}">
        <p14:creationId xmlns:p14="http://schemas.microsoft.com/office/powerpoint/2010/main" val="3781602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9F8F1-B448-24BD-7CBE-E9C685911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93DC7-EEB8-A58A-05D5-EE579C26E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AFD8F-9AC1-A81D-C9A4-74D59B2231B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Contextuality generalizes familiar nonclassical resources such as magic and nonlocal entanglement, and is equivalent to Wigner negativity as a measure of non-classicality</a:t>
            </a:r>
            <a:endParaRPr lang="en-CA" dirty="0"/>
          </a:p>
          <a:p>
            <a:r>
              <a:rPr lang="en-CA" dirty="0"/>
              <a:t>Just say which contextuality in particular relates them</a:t>
            </a:r>
          </a:p>
          <a:p>
            <a:pPr marL="171450" indent="-171450">
              <a:buFont typeface="Arial" panose="020B0604020202020204" pitchFamily="34" charset="0"/>
              <a:buChar char="•"/>
            </a:pPr>
            <a:r>
              <a:rPr lang="en-CA" dirty="0"/>
              <a:t>Bell non-locality is just contextuality of spatially-separated subsystems via Fine’s theorem</a:t>
            </a:r>
          </a:p>
          <a:p>
            <a:pPr marL="171450" indent="-171450">
              <a:buFont typeface="Arial" panose="020B0604020202020204" pitchFamily="34" charset="0"/>
              <a:buChar char="•"/>
            </a:pPr>
            <a:r>
              <a:rPr lang="en-CA" dirty="0"/>
              <a:t>Magic is the contextual non-stabilizer resource (for specific kinds of systems, like qutrits)</a:t>
            </a:r>
          </a:p>
          <a:p>
            <a:pPr marL="171450" indent="-171450">
              <a:buFont typeface="Arial" panose="020B0604020202020204" pitchFamily="34" charset="0"/>
              <a:buChar char="•"/>
            </a:pPr>
            <a:r>
              <a:rPr lang="en-CA" dirty="0"/>
              <a:t>Wigner negativity is the same as generalized contextuality since one can either change the basis for the ontological model or allow negative values for the measure</a:t>
            </a:r>
          </a:p>
        </p:txBody>
      </p:sp>
      <p:sp>
        <p:nvSpPr>
          <p:cNvPr id="4" name="Slide Number Placeholder 3">
            <a:extLst>
              <a:ext uri="{FF2B5EF4-FFF2-40B4-BE49-F238E27FC236}">
                <a16:creationId xmlns:a16="http://schemas.microsoft.com/office/drawing/2014/main" id="{7EBD97E3-FE8A-C0C9-E834-E8A1A696B134}"/>
              </a:ext>
            </a:extLst>
          </p:cNvPr>
          <p:cNvSpPr>
            <a:spLocks noGrp="1"/>
          </p:cNvSpPr>
          <p:nvPr>
            <p:ph type="sldNum" sz="quarter" idx="5"/>
          </p:nvPr>
        </p:nvSpPr>
        <p:spPr/>
        <p:txBody>
          <a:bodyPr/>
          <a:lstStyle/>
          <a:p>
            <a:fld id="{E40720B4-AB10-0342-9541-2DF5352E8B38}" type="slidenum">
              <a:rPr lang="en-CA" smtClean="0"/>
              <a:t>10</a:t>
            </a:fld>
            <a:endParaRPr lang="en-CA"/>
          </a:p>
        </p:txBody>
      </p:sp>
    </p:spTree>
    <p:extLst>
      <p:ext uri="{BB962C8B-B14F-4D97-AF65-F5344CB8AC3E}">
        <p14:creationId xmlns:p14="http://schemas.microsoft.com/office/powerpoint/2010/main" val="1949764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B9B5C-0E5C-C3DF-C3ED-D42E26A7E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B6358-9D89-70DD-7004-8EBFEEF75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D9EB5C-F26A-D7DD-8E72-3E7C01044F9C}"/>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66BA56F7-D554-A5AE-418B-85F08B193267}"/>
              </a:ext>
            </a:extLst>
          </p:cNvPr>
          <p:cNvSpPr>
            <a:spLocks noGrp="1"/>
          </p:cNvSpPr>
          <p:nvPr>
            <p:ph type="sldNum" sz="quarter" idx="5"/>
          </p:nvPr>
        </p:nvSpPr>
        <p:spPr/>
        <p:txBody>
          <a:bodyPr/>
          <a:lstStyle/>
          <a:p>
            <a:fld id="{E40720B4-AB10-0342-9541-2DF5352E8B38}" type="slidenum">
              <a:rPr lang="en-CA" smtClean="0"/>
              <a:t>11</a:t>
            </a:fld>
            <a:endParaRPr lang="en-CA"/>
          </a:p>
        </p:txBody>
      </p:sp>
    </p:spTree>
    <p:extLst>
      <p:ext uri="{BB962C8B-B14F-4D97-AF65-F5344CB8AC3E}">
        <p14:creationId xmlns:p14="http://schemas.microsoft.com/office/powerpoint/2010/main" val="1808116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6B511-750D-FC9C-1C01-352C23A74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E873B-FECD-11A2-B41A-9265FBF172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B8E1F2-FC1D-6700-9870-BF9AF98D0452}"/>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A4F2F074-CA66-04EF-5CB2-12B672C5AF47}"/>
              </a:ext>
            </a:extLst>
          </p:cNvPr>
          <p:cNvSpPr>
            <a:spLocks noGrp="1"/>
          </p:cNvSpPr>
          <p:nvPr>
            <p:ph type="sldNum" sz="quarter" idx="5"/>
          </p:nvPr>
        </p:nvSpPr>
        <p:spPr/>
        <p:txBody>
          <a:bodyPr/>
          <a:lstStyle/>
          <a:p>
            <a:fld id="{E40720B4-AB10-0342-9541-2DF5352E8B38}" type="slidenum">
              <a:rPr lang="en-CA" smtClean="0"/>
              <a:t>12</a:t>
            </a:fld>
            <a:endParaRPr lang="en-CA"/>
          </a:p>
        </p:txBody>
      </p:sp>
    </p:spTree>
    <p:extLst>
      <p:ext uri="{BB962C8B-B14F-4D97-AF65-F5344CB8AC3E}">
        <p14:creationId xmlns:p14="http://schemas.microsoft.com/office/powerpoint/2010/main" val="1418984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908A6-C0CA-BA61-91B5-05BD141B5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E36BE-7BE9-6602-4560-D6553F320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BCD1C-80A3-5BDF-F8B9-F84C287208A9}"/>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C63A2A3C-1B89-9109-F62E-38B04F4BCF58}"/>
              </a:ext>
            </a:extLst>
          </p:cNvPr>
          <p:cNvSpPr>
            <a:spLocks noGrp="1"/>
          </p:cNvSpPr>
          <p:nvPr>
            <p:ph type="sldNum" sz="quarter" idx="5"/>
          </p:nvPr>
        </p:nvSpPr>
        <p:spPr/>
        <p:txBody>
          <a:bodyPr/>
          <a:lstStyle/>
          <a:p>
            <a:fld id="{E40720B4-AB10-0342-9541-2DF5352E8B38}" type="slidenum">
              <a:rPr lang="en-CA" smtClean="0"/>
              <a:t>13</a:t>
            </a:fld>
            <a:endParaRPr lang="en-CA"/>
          </a:p>
        </p:txBody>
      </p:sp>
    </p:spTree>
    <p:extLst>
      <p:ext uri="{BB962C8B-B14F-4D97-AF65-F5344CB8AC3E}">
        <p14:creationId xmlns:p14="http://schemas.microsoft.com/office/powerpoint/2010/main" val="3257527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2E637-7921-98FB-497C-36AEB1877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90CB1-0943-B44A-D0F5-9C993B36E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24807-E38B-E4FD-DFE4-8C4ADE72921F}"/>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AA94D81C-523D-B9AE-F209-53C8162E9361}"/>
              </a:ext>
            </a:extLst>
          </p:cNvPr>
          <p:cNvSpPr>
            <a:spLocks noGrp="1"/>
          </p:cNvSpPr>
          <p:nvPr>
            <p:ph type="sldNum" sz="quarter" idx="5"/>
          </p:nvPr>
        </p:nvSpPr>
        <p:spPr/>
        <p:txBody>
          <a:bodyPr/>
          <a:lstStyle/>
          <a:p>
            <a:fld id="{E40720B4-AB10-0342-9541-2DF5352E8B38}" type="slidenum">
              <a:rPr lang="en-CA" smtClean="0"/>
              <a:t>14</a:t>
            </a:fld>
            <a:endParaRPr lang="en-CA"/>
          </a:p>
        </p:txBody>
      </p:sp>
    </p:spTree>
    <p:extLst>
      <p:ext uri="{BB962C8B-B14F-4D97-AF65-F5344CB8AC3E}">
        <p14:creationId xmlns:p14="http://schemas.microsoft.com/office/powerpoint/2010/main" val="2418087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AAF6D-FC4D-E0D9-EAB1-20C544D39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58A9C-3CDF-89B9-9732-51CBA0390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E941F-2640-CA07-1F4B-932045AC8E8E}"/>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F5E01BD8-E24E-2556-5F0B-073E3E08E042}"/>
              </a:ext>
            </a:extLst>
          </p:cNvPr>
          <p:cNvSpPr>
            <a:spLocks noGrp="1"/>
          </p:cNvSpPr>
          <p:nvPr>
            <p:ph type="sldNum" sz="quarter" idx="5"/>
          </p:nvPr>
        </p:nvSpPr>
        <p:spPr/>
        <p:txBody>
          <a:bodyPr/>
          <a:lstStyle/>
          <a:p>
            <a:fld id="{E40720B4-AB10-0342-9541-2DF5352E8B38}" type="slidenum">
              <a:rPr lang="en-CA" smtClean="0"/>
              <a:t>15</a:t>
            </a:fld>
            <a:endParaRPr lang="en-CA"/>
          </a:p>
        </p:txBody>
      </p:sp>
    </p:spTree>
    <p:extLst>
      <p:ext uri="{BB962C8B-B14F-4D97-AF65-F5344CB8AC3E}">
        <p14:creationId xmlns:p14="http://schemas.microsoft.com/office/powerpoint/2010/main" val="29948593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E99E0-ED5E-B016-91A1-FE625B2DC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447DA-C855-9D22-6DEB-64AD63A216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47DF3-D44A-299E-DBD1-D8AAF27A80D7}"/>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4040ECDA-D86B-EADB-6BAE-3DBFD4D2210C}"/>
              </a:ext>
            </a:extLst>
          </p:cNvPr>
          <p:cNvSpPr>
            <a:spLocks noGrp="1"/>
          </p:cNvSpPr>
          <p:nvPr>
            <p:ph type="sldNum" sz="quarter" idx="5"/>
          </p:nvPr>
        </p:nvSpPr>
        <p:spPr/>
        <p:txBody>
          <a:bodyPr/>
          <a:lstStyle/>
          <a:p>
            <a:fld id="{E40720B4-AB10-0342-9541-2DF5352E8B38}" type="slidenum">
              <a:rPr lang="en-CA" smtClean="0"/>
              <a:t>16</a:t>
            </a:fld>
            <a:endParaRPr lang="en-CA"/>
          </a:p>
        </p:txBody>
      </p:sp>
    </p:spTree>
    <p:extLst>
      <p:ext uri="{BB962C8B-B14F-4D97-AF65-F5344CB8AC3E}">
        <p14:creationId xmlns:p14="http://schemas.microsoft.com/office/powerpoint/2010/main" val="2923716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B8D15-A926-BD1F-6E44-60AA0F648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76CDE-17B3-2973-F96C-DD6598E82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83B68-E96C-2E52-A417-B802DEA3B635}"/>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65A19035-89DE-CD49-3A41-B6B744C23231}"/>
              </a:ext>
            </a:extLst>
          </p:cNvPr>
          <p:cNvSpPr>
            <a:spLocks noGrp="1"/>
          </p:cNvSpPr>
          <p:nvPr>
            <p:ph type="sldNum" sz="quarter" idx="5"/>
          </p:nvPr>
        </p:nvSpPr>
        <p:spPr/>
        <p:txBody>
          <a:bodyPr/>
          <a:lstStyle/>
          <a:p>
            <a:fld id="{E40720B4-AB10-0342-9541-2DF5352E8B38}" type="slidenum">
              <a:rPr lang="en-CA" smtClean="0"/>
              <a:t>17</a:t>
            </a:fld>
            <a:endParaRPr lang="en-CA"/>
          </a:p>
        </p:txBody>
      </p:sp>
    </p:spTree>
    <p:extLst>
      <p:ext uri="{BB962C8B-B14F-4D97-AF65-F5344CB8AC3E}">
        <p14:creationId xmlns:p14="http://schemas.microsoft.com/office/powerpoint/2010/main" val="27782547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CBDCF-4329-FC4D-600D-A54E9CC92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2E9F9-8350-9FCC-23CC-273BA8642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816F2-65BB-07DB-A8AA-06B2B85E1ED2}"/>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2AC0B818-37A4-88D9-BD83-4F412D50E32A}"/>
              </a:ext>
            </a:extLst>
          </p:cNvPr>
          <p:cNvSpPr>
            <a:spLocks noGrp="1"/>
          </p:cNvSpPr>
          <p:nvPr>
            <p:ph type="sldNum" sz="quarter" idx="5"/>
          </p:nvPr>
        </p:nvSpPr>
        <p:spPr/>
        <p:txBody>
          <a:bodyPr/>
          <a:lstStyle/>
          <a:p>
            <a:fld id="{E40720B4-AB10-0342-9541-2DF5352E8B38}" type="slidenum">
              <a:rPr lang="en-CA" smtClean="0"/>
              <a:t>18</a:t>
            </a:fld>
            <a:endParaRPr lang="en-CA"/>
          </a:p>
        </p:txBody>
      </p:sp>
    </p:spTree>
    <p:extLst>
      <p:ext uri="{BB962C8B-B14F-4D97-AF65-F5344CB8AC3E}">
        <p14:creationId xmlns:p14="http://schemas.microsoft.com/office/powerpoint/2010/main" val="1589818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A434-49EB-E4A0-7140-9B984A460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BA95F-41AC-A5A9-8F34-57BDCF569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38EC8-BC17-AF0E-327F-CAF372628375}"/>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F4C6680A-9D22-2033-957D-EC5FFA5D3CBE}"/>
              </a:ext>
            </a:extLst>
          </p:cNvPr>
          <p:cNvSpPr>
            <a:spLocks noGrp="1"/>
          </p:cNvSpPr>
          <p:nvPr>
            <p:ph type="sldNum" sz="quarter" idx="5"/>
          </p:nvPr>
        </p:nvSpPr>
        <p:spPr/>
        <p:txBody>
          <a:bodyPr/>
          <a:lstStyle/>
          <a:p>
            <a:fld id="{E40720B4-AB10-0342-9541-2DF5352E8B38}" type="slidenum">
              <a:rPr lang="en-CA" smtClean="0"/>
              <a:t>19</a:t>
            </a:fld>
            <a:endParaRPr lang="en-CA"/>
          </a:p>
        </p:txBody>
      </p:sp>
    </p:spTree>
    <p:extLst>
      <p:ext uri="{BB962C8B-B14F-4D97-AF65-F5344CB8AC3E}">
        <p14:creationId xmlns:p14="http://schemas.microsoft.com/office/powerpoint/2010/main" val="1260188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49970-681D-3AFF-63A2-D49821217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787BF-E288-0B3D-7047-519B3D642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F5288C-41AA-E1A2-CC3C-E932BC6C3C2B}"/>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39C23884-5DF9-51C5-B417-BDDD156272BC}"/>
              </a:ext>
            </a:extLst>
          </p:cNvPr>
          <p:cNvSpPr>
            <a:spLocks noGrp="1"/>
          </p:cNvSpPr>
          <p:nvPr>
            <p:ph type="sldNum" sz="quarter" idx="5"/>
          </p:nvPr>
        </p:nvSpPr>
        <p:spPr/>
        <p:txBody>
          <a:bodyPr/>
          <a:lstStyle/>
          <a:p>
            <a:fld id="{E40720B4-AB10-0342-9541-2DF5352E8B38}" type="slidenum">
              <a:rPr lang="en-CA" smtClean="0"/>
              <a:t>20</a:t>
            </a:fld>
            <a:endParaRPr lang="en-CA"/>
          </a:p>
        </p:txBody>
      </p:sp>
    </p:spTree>
    <p:extLst>
      <p:ext uri="{BB962C8B-B14F-4D97-AF65-F5344CB8AC3E}">
        <p14:creationId xmlns:p14="http://schemas.microsoft.com/office/powerpoint/2010/main" val="2621893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B207D-CA1B-1897-4F5D-40A6CDBB1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913E-136A-1DCD-E5FD-D64E31831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35AE6-BF8A-1B1E-63CB-3799E0ADA3B8}"/>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429BE435-5941-3391-FA1E-576E2797DF4B}"/>
              </a:ext>
            </a:extLst>
          </p:cNvPr>
          <p:cNvSpPr>
            <a:spLocks noGrp="1"/>
          </p:cNvSpPr>
          <p:nvPr>
            <p:ph type="sldNum" sz="quarter" idx="5"/>
          </p:nvPr>
        </p:nvSpPr>
        <p:spPr/>
        <p:txBody>
          <a:bodyPr/>
          <a:lstStyle/>
          <a:p>
            <a:fld id="{E40720B4-AB10-0342-9541-2DF5352E8B38}" type="slidenum">
              <a:rPr lang="en-CA" smtClean="0"/>
              <a:t>21</a:t>
            </a:fld>
            <a:endParaRPr lang="en-CA"/>
          </a:p>
        </p:txBody>
      </p:sp>
    </p:spTree>
    <p:extLst>
      <p:ext uri="{BB962C8B-B14F-4D97-AF65-F5344CB8AC3E}">
        <p14:creationId xmlns:p14="http://schemas.microsoft.com/office/powerpoint/2010/main" val="1906161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14A4-5C6E-06E3-9CAA-27979C695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365C4-F2D7-DE4F-329C-B1102B5A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FCF67-31A1-6B0D-4740-69AC840E54A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5D61C70-DEB9-57D9-18D3-1AFDA330A619}"/>
              </a:ext>
            </a:extLst>
          </p:cNvPr>
          <p:cNvSpPr>
            <a:spLocks noGrp="1"/>
          </p:cNvSpPr>
          <p:nvPr>
            <p:ph type="sldNum" sz="quarter" idx="5"/>
          </p:nvPr>
        </p:nvSpPr>
        <p:spPr/>
        <p:txBody>
          <a:bodyPr/>
          <a:lstStyle/>
          <a:p>
            <a:fld id="{E40720B4-AB10-0342-9541-2DF5352E8B38}" type="slidenum">
              <a:rPr lang="en-CA" smtClean="0"/>
              <a:t>22</a:t>
            </a:fld>
            <a:endParaRPr lang="en-CA"/>
          </a:p>
        </p:txBody>
      </p:sp>
    </p:spTree>
    <p:extLst>
      <p:ext uri="{BB962C8B-B14F-4D97-AF65-F5344CB8AC3E}">
        <p14:creationId xmlns:p14="http://schemas.microsoft.com/office/powerpoint/2010/main" val="32210842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0E226-29DB-0881-C9A4-904E8D140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8847E-350E-3870-52B5-BED79C176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617C7-A460-B3DA-EA08-538EE45CDB90}"/>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83830554-4C90-CCE6-81BB-122032EFB752}"/>
              </a:ext>
            </a:extLst>
          </p:cNvPr>
          <p:cNvSpPr>
            <a:spLocks noGrp="1"/>
          </p:cNvSpPr>
          <p:nvPr>
            <p:ph type="sldNum" sz="quarter" idx="5"/>
          </p:nvPr>
        </p:nvSpPr>
        <p:spPr/>
        <p:txBody>
          <a:bodyPr/>
          <a:lstStyle/>
          <a:p>
            <a:fld id="{E40720B4-AB10-0342-9541-2DF5352E8B38}" type="slidenum">
              <a:rPr lang="en-CA" smtClean="0"/>
              <a:t>23</a:t>
            </a:fld>
            <a:endParaRPr lang="en-CA"/>
          </a:p>
        </p:txBody>
      </p:sp>
    </p:spTree>
    <p:extLst>
      <p:ext uri="{BB962C8B-B14F-4D97-AF65-F5344CB8AC3E}">
        <p14:creationId xmlns:p14="http://schemas.microsoft.com/office/powerpoint/2010/main" val="1794250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87430-3EE1-4430-40C1-C39679FEF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D07B5-1C23-8E0E-1494-2E6300879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3526E5-90AF-6F18-B38E-C0DD5755C84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rgbClr val="000000"/>
                </a:solidFill>
              </a:rPr>
              <a:t>Can tune measurements to alter harvested amount at zero gap, contextuality can persist after harvested magic has already vanished, showing they have different state boundaries</a:t>
            </a:r>
          </a:p>
          <a:p>
            <a:pPr marL="171450" indent="-171450">
              <a:buFont typeface="Arial" panose="020B0604020202020204" pitchFamily="34" charset="0"/>
              <a:buChar char="•"/>
            </a:pPr>
            <a:endParaRPr lang="en-CA" dirty="0"/>
          </a:p>
        </p:txBody>
      </p:sp>
      <p:sp>
        <p:nvSpPr>
          <p:cNvPr id="4" name="Slide Number Placeholder 3">
            <a:extLst>
              <a:ext uri="{FF2B5EF4-FFF2-40B4-BE49-F238E27FC236}">
                <a16:creationId xmlns:a16="http://schemas.microsoft.com/office/drawing/2014/main" id="{8CFC86B1-640C-A44F-79BF-5C8B05B2C7B9}"/>
              </a:ext>
            </a:extLst>
          </p:cNvPr>
          <p:cNvSpPr>
            <a:spLocks noGrp="1"/>
          </p:cNvSpPr>
          <p:nvPr>
            <p:ph type="sldNum" sz="quarter" idx="5"/>
          </p:nvPr>
        </p:nvSpPr>
        <p:spPr/>
        <p:txBody>
          <a:bodyPr/>
          <a:lstStyle/>
          <a:p>
            <a:fld id="{E40720B4-AB10-0342-9541-2DF5352E8B38}" type="slidenum">
              <a:rPr lang="en-CA" smtClean="0"/>
              <a:t>24</a:t>
            </a:fld>
            <a:endParaRPr lang="en-CA"/>
          </a:p>
        </p:txBody>
      </p:sp>
    </p:spTree>
    <p:extLst>
      <p:ext uri="{BB962C8B-B14F-4D97-AF65-F5344CB8AC3E}">
        <p14:creationId xmlns:p14="http://schemas.microsoft.com/office/powerpoint/2010/main" val="2777634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C69E3-C179-CBA3-3DA8-194ABA308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03184-F2A7-6442-1E8E-A9041589F1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50852-B3CF-7EBC-CE16-3B120F8545CB}"/>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06C99300-2565-3BA3-38A6-EBC192409F83}"/>
              </a:ext>
            </a:extLst>
          </p:cNvPr>
          <p:cNvSpPr>
            <a:spLocks noGrp="1"/>
          </p:cNvSpPr>
          <p:nvPr>
            <p:ph type="sldNum" sz="quarter" idx="5"/>
          </p:nvPr>
        </p:nvSpPr>
        <p:spPr/>
        <p:txBody>
          <a:bodyPr/>
          <a:lstStyle/>
          <a:p>
            <a:fld id="{E40720B4-AB10-0342-9541-2DF5352E8B38}" type="slidenum">
              <a:rPr lang="en-CA" smtClean="0"/>
              <a:t>25</a:t>
            </a:fld>
            <a:endParaRPr lang="en-CA"/>
          </a:p>
        </p:txBody>
      </p:sp>
    </p:spTree>
    <p:extLst>
      <p:ext uri="{BB962C8B-B14F-4D97-AF65-F5344CB8AC3E}">
        <p14:creationId xmlns:p14="http://schemas.microsoft.com/office/powerpoint/2010/main" val="20844223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70EFE-1DF7-A26D-7B46-4F1613B89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F01DF-D3D1-44A1-EEB4-8F254E6B8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C2BFB-D87C-B295-E3D4-603C980A13F7}"/>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000C9D8E-20DC-D6F0-C838-27121A17DB1F}"/>
              </a:ext>
            </a:extLst>
          </p:cNvPr>
          <p:cNvSpPr>
            <a:spLocks noGrp="1"/>
          </p:cNvSpPr>
          <p:nvPr>
            <p:ph type="sldNum" sz="quarter" idx="5"/>
          </p:nvPr>
        </p:nvSpPr>
        <p:spPr/>
        <p:txBody>
          <a:bodyPr/>
          <a:lstStyle/>
          <a:p>
            <a:fld id="{E40720B4-AB10-0342-9541-2DF5352E8B38}" type="slidenum">
              <a:rPr lang="en-CA" smtClean="0"/>
              <a:t>26</a:t>
            </a:fld>
            <a:endParaRPr lang="en-CA"/>
          </a:p>
        </p:txBody>
      </p:sp>
    </p:spTree>
    <p:extLst>
      <p:ext uri="{BB962C8B-B14F-4D97-AF65-F5344CB8AC3E}">
        <p14:creationId xmlns:p14="http://schemas.microsoft.com/office/powerpoint/2010/main" val="3949877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5F296-96D8-9625-6373-8F8C0C2A6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E8E849-255E-B15D-3FA1-0412F2E221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9630F-A629-3B63-FC2A-D2A40CB90809}"/>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8E0E4101-F44D-BA7A-0DBC-4787EF061595}"/>
              </a:ext>
            </a:extLst>
          </p:cNvPr>
          <p:cNvSpPr>
            <a:spLocks noGrp="1"/>
          </p:cNvSpPr>
          <p:nvPr>
            <p:ph type="sldNum" sz="quarter" idx="5"/>
          </p:nvPr>
        </p:nvSpPr>
        <p:spPr/>
        <p:txBody>
          <a:bodyPr/>
          <a:lstStyle/>
          <a:p>
            <a:fld id="{E40720B4-AB10-0342-9541-2DF5352E8B38}" type="slidenum">
              <a:rPr lang="en-CA" smtClean="0"/>
              <a:t>27</a:t>
            </a:fld>
            <a:endParaRPr lang="en-CA"/>
          </a:p>
        </p:txBody>
      </p:sp>
    </p:spTree>
    <p:extLst>
      <p:ext uri="{BB962C8B-B14F-4D97-AF65-F5344CB8AC3E}">
        <p14:creationId xmlns:p14="http://schemas.microsoft.com/office/powerpoint/2010/main" val="15808132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3688-CC29-4350-BBF1-C5CB80E76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49EB2-3421-B56A-FE99-5F4C4FC70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4C072-6B7F-EDDF-4EF2-A9B0E0CADEA6}"/>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8C967199-3917-4779-564B-CFC6F41B4B1B}"/>
              </a:ext>
            </a:extLst>
          </p:cNvPr>
          <p:cNvSpPr>
            <a:spLocks noGrp="1"/>
          </p:cNvSpPr>
          <p:nvPr>
            <p:ph type="sldNum" sz="quarter" idx="5"/>
          </p:nvPr>
        </p:nvSpPr>
        <p:spPr/>
        <p:txBody>
          <a:bodyPr/>
          <a:lstStyle/>
          <a:p>
            <a:fld id="{E40720B4-AB10-0342-9541-2DF5352E8B38}" type="slidenum">
              <a:rPr lang="en-CA" smtClean="0"/>
              <a:t>28</a:t>
            </a:fld>
            <a:endParaRPr lang="en-CA"/>
          </a:p>
        </p:txBody>
      </p:sp>
    </p:spTree>
    <p:extLst>
      <p:ext uri="{BB962C8B-B14F-4D97-AF65-F5344CB8AC3E}">
        <p14:creationId xmlns:p14="http://schemas.microsoft.com/office/powerpoint/2010/main" val="8570942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Gates are derived in a spacetime independent way so we aren’t just limited to </a:t>
            </a:r>
            <a:r>
              <a:rPr lang="en-CA" dirty="0" err="1"/>
              <a:t>Minkowski</a:t>
            </a:r>
            <a:r>
              <a:rPr lang="en-CA" dirty="0"/>
              <a:t>; we just use it because we know what the expressions for the Wightman function and propagators look like</a:t>
            </a:r>
          </a:p>
          <a:p>
            <a:pPr marL="171450" lvl="0" indent="-171450">
              <a:buFont typeface="Arial" panose="020B0604020202020204" pitchFamily="34" charset="0"/>
              <a:buChar char="•"/>
            </a:pPr>
            <a:endParaRPr lang="en-CA" dirty="0"/>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29</a:t>
            </a:fld>
            <a:endParaRPr lang="en-CA"/>
          </a:p>
        </p:txBody>
      </p:sp>
    </p:spTree>
    <p:extLst>
      <p:ext uri="{BB962C8B-B14F-4D97-AF65-F5344CB8AC3E}">
        <p14:creationId xmlns:p14="http://schemas.microsoft.com/office/powerpoint/2010/main" val="3451778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76286-050A-4831-BD2E-360D4C136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D3AD1-0EB8-B48C-9EC8-391152F4D5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F2976-F076-7DD2-58F5-DBC2F153BE2C}"/>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9E41EE11-0BC0-230D-7CDD-A8753213A327}"/>
              </a:ext>
            </a:extLst>
          </p:cNvPr>
          <p:cNvSpPr>
            <a:spLocks noGrp="1"/>
          </p:cNvSpPr>
          <p:nvPr>
            <p:ph type="sldNum" sz="quarter" idx="5"/>
          </p:nvPr>
        </p:nvSpPr>
        <p:spPr/>
        <p:txBody>
          <a:bodyPr/>
          <a:lstStyle/>
          <a:p>
            <a:fld id="{E40720B4-AB10-0342-9541-2DF5352E8B38}" type="slidenum">
              <a:rPr lang="en-CA" smtClean="0"/>
              <a:t>30</a:t>
            </a:fld>
            <a:endParaRPr lang="en-CA"/>
          </a:p>
        </p:txBody>
      </p:sp>
    </p:spTree>
    <p:extLst>
      <p:ext uri="{BB962C8B-B14F-4D97-AF65-F5344CB8AC3E}">
        <p14:creationId xmlns:p14="http://schemas.microsoft.com/office/powerpoint/2010/main" val="12517013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31</a:t>
            </a:fld>
            <a:endParaRPr lang="en-CA"/>
          </a:p>
        </p:txBody>
      </p:sp>
    </p:spTree>
    <p:extLst>
      <p:ext uri="{BB962C8B-B14F-4D97-AF65-F5344CB8AC3E}">
        <p14:creationId xmlns:p14="http://schemas.microsoft.com/office/powerpoint/2010/main" val="3976849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VQCs have a structure that accommodates UDW time-evolution operators and has the flexibility to allow manipulation of detector trajectories to feature in algorithms; also allows for generalization to QML setting (which we have in mind)</a:t>
            </a:r>
          </a:p>
          <a:p>
            <a:pPr marL="171450" indent="-171450">
              <a:buFont typeface="Arial" panose="020B0604020202020204" pitchFamily="34" charset="0"/>
              <a:buChar char="•"/>
            </a:pPr>
            <a:r>
              <a:rPr lang="en-CA" dirty="0"/>
              <a:t>Very clear here how manipulating detector trajectories could be implemented into the computation: as the rotation angles for spacetime rotations of qubits (the rotation part of each VQC layer)</a:t>
            </a:r>
          </a:p>
          <a:p>
            <a:pPr marL="171450" indent="-171450">
              <a:buFont typeface="Arial" panose="020B0604020202020204" pitchFamily="34" charset="0"/>
              <a:buChar char="•"/>
            </a:pPr>
            <a:r>
              <a:rPr lang="en-CA" dirty="0"/>
              <a:t>Measure the output of computation with respect to some observable (could just be a Pauli measurement) to get function ansatz (these are called ANN’s in deep learning for example), then input to loss function and optimize; then update parameters and repeat</a:t>
            </a:r>
          </a:p>
        </p:txBody>
      </p:sp>
      <p:sp>
        <p:nvSpPr>
          <p:cNvPr id="4" name="Slide Number Placeholder 3"/>
          <p:cNvSpPr>
            <a:spLocks noGrp="1"/>
          </p:cNvSpPr>
          <p:nvPr>
            <p:ph type="sldNum" sz="quarter" idx="5"/>
          </p:nvPr>
        </p:nvSpPr>
        <p:spPr/>
        <p:txBody>
          <a:bodyPr/>
          <a:lstStyle/>
          <a:p>
            <a:fld id="{E40720B4-AB10-0342-9541-2DF5352E8B38}" type="slidenum">
              <a:rPr lang="en-CA" smtClean="0"/>
              <a:t>32</a:t>
            </a:fld>
            <a:endParaRPr lang="en-CA"/>
          </a:p>
        </p:txBody>
      </p:sp>
    </p:spTree>
    <p:extLst>
      <p:ext uri="{BB962C8B-B14F-4D97-AF65-F5344CB8AC3E}">
        <p14:creationId xmlns:p14="http://schemas.microsoft.com/office/powerpoint/2010/main" val="37999101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Over a proper time interval $\Delta \</a:t>
                </a:r>
                <a:r>
                  <a:rPr lang="en-CA" dirty="0" err="1"/>
                  <a:t>tau_i</a:t>
                </a:r>
                <a:r>
                  <a:rPr lang="en-CA" dirty="0"/>
                  <a:t>$, the local unitary implemented by the internal dynamics of each qubit is simply a Bloch rotation around the $\bm </a:t>
                </a:r>
                <a:r>
                  <a:rPr lang="en-CA" dirty="0" err="1"/>
                  <a:t>n_i</a:t>
                </a:r>
                <a:r>
                  <a:rPr lang="en-CA" dirty="0"/>
                  <a:t>$ axis, which takes the form of each factor in Eq. \ref{</a:t>
                </a:r>
                <a:r>
                  <a:rPr lang="en-CA" dirty="0" err="1"/>
                  <a:t>Equation:UDWRotate</a:t>
                </a:r>
                <a:r>
                  <a:rPr lang="en-CA" dirty="0"/>
                  <a:t>} with parameters $\</a:t>
                </a:r>
                <a:r>
                  <a:rPr lang="en-CA" dirty="0" err="1"/>
                  <a:t>theta_i</a:t>
                </a:r>
                <a:r>
                  <a:rPr lang="en-CA" dirty="0"/>
                  <a:t> = \</a:t>
                </a:r>
                <a:r>
                  <a:rPr lang="en-CA" dirty="0" err="1"/>
                  <a:t>Omega_i</a:t>
                </a:r>
                <a:r>
                  <a:rPr lang="en-CA" dirty="0"/>
                  <a:t>\Delta\</a:t>
                </a:r>
                <a:r>
                  <a:rPr lang="en-CA" dirty="0" err="1"/>
                  <a:t>tau_i</a:t>
                </a:r>
                <a:r>
                  <a:rPr lang="en-CA" dirty="0"/>
                  <a:t>/2$. If we now identify the set $\bm \theta = \{\</a:t>
                </a:r>
                <a:r>
                  <a:rPr lang="en-CA" dirty="0" err="1"/>
                  <a:t>theta_i</a:t>
                </a:r>
                <a:r>
                  <a:rPr lang="en-CA" dirty="0"/>
                  <a:t>, \</a:t>
                </a:r>
                <a:r>
                  <a:rPr lang="en-CA" dirty="0" err="1"/>
                  <a:t>vartheta_i</a:t>
                </a:r>
                <a:r>
                  <a:rPr lang="en-CA" dirty="0"/>
                  <a:t>, \</a:t>
                </a:r>
                <a:r>
                  <a:rPr lang="en-CA" dirty="0" err="1"/>
                  <a:t>varphi_i</a:t>
                </a:r>
                <a:r>
                  <a:rPr lang="en-CA" dirty="0"/>
                  <a:t>\}_</a:t>
                </a:r>
                <a:r>
                  <a:rPr lang="en-CA" dirty="0" err="1"/>
                  <a:t>i</a:t>
                </a:r>
                <a:r>
                  <a:rPr lang="en-CA" dirty="0"/>
                  <a:t>$ as our trainable parameters and define the product of these local </a:t>
                </a:r>
                <a:r>
                  <a:rPr lang="en-CA" dirty="0" err="1"/>
                  <a:t>unitaries</a:t>
                </a:r>
                <a:r>
                  <a:rPr lang="en-CA" dirty="0"/>
                  <a:t> as a trainable layer, we get the first part of a VQC Eq. \ref{</a:t>
                </a:r>
                <a:r>
                  <a:rPr lang="en-CA" dirty="0" err="1"/>
                  <a:t>Equation:UDWRotate</a:t>
                </a:r>
                <a:r>
                  <a:rPr lang="en-CA" dirty="0"/>
                  <a:t>}. Importantly, the $\bm \theta$ depend not only on the internal energy gap of the qubits $\</a:t>
                </a:r>
                <a:r>
                  <a:rPr lang="en-CA" dirty="0" err="1"/>
                  <a:t>Omega_i</a:t>
                </a:r>
                <a:r>
                  <a:rPr lang="en-CA" dirty="0"/>
                  <a:t>$, but also on the proper time difference experienced by each qubit while undergoing its respective trajectory.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Mention that ability to choose Pauli rotation direction is a novel resource that allows us to achieve universality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e.g. circular trajectories in Minkowski </a:t>
                </a:r>
                <a14:m>
                  <m:oMath xmlns:m="http://schemas.openxmlformats.org/officeDocument/2006/math">
                    <m:r>
                      <m:rPr>
                        <m:sty m:val="p"/>
                      </m:rPr>
                      <a:rPr lang="en-US" sz="1200" b="0" i="0" smtClean="0">
                        <a:latin typeface="Cambria Math" panose="02040503050406030204" pitchFamily="18" charset="0"/>
                      </a:rPr>
                      <m:t>Δ</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𝜏</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r>
                      <m:rPr>
                        <m:sty m:val="p"/>
                      </m:rPr>
                      <a:rPr lang="en-US" sz="1200" b="0" i="0" smtClean="0">
                        <a:latin typeface="Cambria Math" panose="02040503050406030204" pitchFamily="18" charset="0"/>
                      </a:rPr>
                      <m:t>Δ</m:t>
                    </m:r>
                    <m:r>
                      <a:rPr lang="en-US" sz="1200" b="0" i="1" smtClean="0">
                        <a:latin typeface="Cambria Math" panose="02040503050406030204" pitchFamily="18" charset="0"/>
                      </a:rPr>
                      <m:t>𝑡</m:t>
                    </m:r>
                    <m:rad>
                      <m:radPr>
                        <m:degHide m:val="on"/>
                        <m:ctrlPr>
                          <a:rPr lang="en-US" sz="1200" b="0" i="1" smtClean="0">
                            <a:latin typeface="Cambria Math" panose="02040503050406030204" pitchFamily="18" charset="0"/>
                          </a:rPr>
                        </m:ctrlPr>
                      </m:radPr>
                      <m:deg/>
                      <m:e>
                        <m:r>
                          <a:rPr lang="en-US" sz="1200" b="0" i="1" smtClean="0">
                            <a:latin typeface="Cambria Math" panose="02040503050406030204" pitchFamily="18" charset="0"/>
                          </a:rPr>
                          <m:t>1−</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𝜔</m:t>
                            </m:r>
                          </m:e>
                          <m:sub>
                            <m:r>
                              <a:rPr lang="en-US" sz="1200" b="0" i="1" smtClean="0">
                                <a:latin typeface="Cambria Math" panose="02040503050406030204" pitchFamily="18" charset="0"/>
                              </a:rPr>
                              <m:t>𝑖</m:t>
                            </m:r>
                          </m:sub>
                          <m:sup>
                            <m:r>
                              <a:rPr lang="en-US" sz="1200" b="0" i="1" smtClean="0">
                                <a:latin typeface="Cambria Math" panose="02040503050406030204" pitchFamily="18" charset="0"/>
                              </a:rPr>
                              <m:t>2</m:t>
                            </m:r>
                          </m:sup>
                        </m:sSubSup>
                      </m:e>
                    </m:rad>
                  </m:oMath>
                </a14:m>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Choice>
        <mc:Fallback xmlns="">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Over a proper time interval $\Delta \</a:t>
                </a:r>
                <a:r>
                  <a:rPr lang="en-CA" dirty="0" err="1"/>
                  <a:t>tau_i</a:t>
                </a:r>
                <a:r>
                  <a:rPr lang="en-CA" dirty="0"/>
                  <a:t>$, the local unitary implemented by the internal dynamics of each qubit is simply a Bloch rotation around the $\bm </a:t>
                </a:r>
                <a:r>
                  <a:rPr lang="en-CA" dirty="0" err="1"/>
                  <a:t>n_i</a:t>
                </a:r>
                <a:r>
                  <a:rPr lang="en-CA" dirty="0"/>
                  <a:t>$ axis, which takes the form of each factor in Eq. \ref{</a:t>
                </a:r>
                <a:r>
                  <a:rPr lang="en-CA" dirty="0" err="1"/>
                  <a:t>Equation:UDWRotate</a:t>
                </a:r>
                <a:r>
                  <a:rPr lang="en-CA" dirty="0"/>
                  <a:t>} with parameters $\</a:t>
                </a:r>
                <a:r>
                  <a:rPr lang="en-CA" dirty="0" err="1"/>
                  <a:t>theta_i</a:t>
                </a:r>
                <a:r>
                  <a:rPr lang="en-CA" dirty="0"/>
                  <a:t> = \</a:t>
                </a:r>
                <a:r>
                  <a:rPr lang="en-CA" dirty="0" err="1"/>
                  <a:t>Omega_i</a:t>
                </a:r>
                <a:r>
                  <a:rPr lang="en-CA" dirty="0"/>
                  <a:t>\Delta\</a:t>
                </a:r>
                <a:r>
                  <a:rPr lang="en-CA" dirty="0" err="1"/>
                  <a:t>tau_i</a:t>
                </a:r>
                <a:r>
                  <a:rPr lang="en-CA" dirty="0"/>
                  <a:t>/2$. If we now identify the set $\bm \theta = \{\</a:t>
                </a:r>
                <a:r>
                  <a:rPr lang="en-CA" dirty="0" err="1"/>
                  <a:t>theta_i</a:t>
                </a:r>
                <a:r>
                  <a:rPr lang="en-CA" dirty="0"/>
                  <a:t>, \</a:t>
                </a:r>
                <a:r>
                  <a:rPr lang="en-CA" dirty="0" err="1"/>
                  <a:t>vartheta_i</a:t>
                </a:r>
                <a:r>
                  <a:rPr lang="en-CA" dirty="0"/>
                  <a:t>, \</a:t>
                </a:r>
                <a:r>
                  <a:rPr lang="en-CA" dirty="0" err="1"/>
                  <a:t>varphi_i</a:t>
                </a:r>
                <a:r>
                  <a:rPr lang="en-CA" dirty="0"/>
                  <a:t>\}_</a:t>
                </a:r>
                <a:r>
                  <a:rPr lang="en-CA" dirty="0" err="1"/>
                  <a:t>i</a:t>
                </a:r>
                <a:r>
                  <a:rPr lang="en-CA" dirty="0"/>
                  <a:t>$ as our trainable parameters and define the product of these local </a:t>
                </a:r>
                <a:r>
                  <a:rPr lang="en-CA" dirty="0" err="1"/>
                  <a:t>unitaries</a:t>
                </a:r>
                <a:r>
                  <a:rPr lang="en-CA" dirty="0"/>
                  <a:t> as a trainable layer, we get the first part of a VQC Eq. \ref{</a:t>
                </a:r>
                <a:r>
                  <a:rPr lang="en-CA" dirty="0" err="1"/>
                  <a:t>Equation:UDWRotate</a:t>
                </a:r>
                <a:r>
                  <a:rPr lang="en-CA" dirty="0"/>
                  <a:t>}. Importantly, the $\bm \theta$ depend not only on the internal energy gap of the qubits $\</a:t>
                </a:r>
                <a:r>
                  <a:rPr lang="en-CA" dirty="0" err="1"/>
                  <a:t>Omega_i</a:t>
                </a:r>
                <a:r>
                  <a:rPr lang="en-CA" dirty="0"/>
                  <a:t>$, but also on the proper time difference experienced by each qubit while undergoing its respective trajectory.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Mention that ability to choose Pauli rotation direction is a novel resource that allows us to achieve universality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e.g. circular trajectories in Minkowski </a:t>
                </a:r>
                <a:r>
                  <a:rPr lang="en-US" sz="1200" b="0" i="0">
                    <a:latin typeface="Cambria Math" panose="02040503050406030204" pitchFamily="18" charset="0"/>
                  </a:rPr>
                  <a:t>Δ𝜏_𝑖=Δ𝑡√(1−𝑅^2 𝜔_𝑖^2 )</a:t>
                </a:r>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33</a:t>
            </a:fld>
            <a:endParaRPr lang="en-CA"/>
          </a:p>
        </p:txBody>
      </p:sp>
    </p:spTree>
    <p:extLst>
      <p:ext uri="{BB962C8B-B14F-4D97-AF65-F5344CB8AC3E}">
        <p14:creationId xmlns:p14="http://schemas.microsoft.com/office/powerpoint/2010/main" val="4901798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The entangling channel $\</a:t>
            </a:r>
            <a:r>
              <a:rPr lang="en-CA" dirty="0" err="1"/>
              <a:t>mathcal</a:t>
            </a:r>
            <a:r>
              <a:rPr lang="en-CA" dirty="0"/>
              <a:t>{E}$ is implemented by allowing the qubits to interact with a quantum field via the UDW detector model. The interaction of a two-level UDW detector with a scalar quantum field $\hat{\phi}(\mf x)$ is often prescribed by the interaction Hamiltonian density~\cite{us,us2,Landulfo,analytical}</a:t>
            </a:r>
          </a:p>
          <a:p>
            <a:r>
              <a:rPr lang="en-CA" dirty="0"/>
              <a:t>\begin{equation}</a:t>
            </a:r>
          </a:p>
          <a:p>
            <a:r>
              <a:rPr lang="en-CA" dirty="0"/>
              <a:t>    \hat{h}_</a:t>
            </a:r>
            <a:r>
              <a:rPr lang="en-CA" dirty="0" err="1"/>
              <a:t>i</a:t>
            </a:r>
            <a:r>
              <a:rPr lang="en-CA" dirty="0"/>
              <a:t>(\mf x)  = \lambda \</a:t>
            </a:r>
            <a:r>
              <a:rPr lang="en-CA" dirty="0" err="1"/>
              <a:t>Lambda_i</a:t>
            </a:r>
            <a:r>
              <a:rPr lang="en-CA" dirty="0"/>
              <a:t>(\mf x) \hat{\mu}_</a:t>
            </a:r>
            <a:r>
              <a:rPr lang="en-CA" dirty="0" err="1"/>
              <a:t>i</a:t>
            </a:r>
            <a:r>
              <a:rPr lang="en-CA" dirty="0"/>
              <a:t> \hat{\phi}(\mf x),</a:t>
            </a:r>
          </a:p>
          <a:p>
            <a:r>
              <a:rPr lang="en-CA" dirty="0"/>
              <a:t>\end{equation}</a:t>
            </a:r>
          </a:p>
          <a:p>
            <a:r>
              <a:rPr lang="en-CA" dirty="0"/>
              <a:t>where the $\lambda$ are coupling constants, $\hat{\mu}_</a:t>
            </a:r>
            <a:r>
              <a:rPr lang="en-CA" dirty="0" err="1"/>
              <a:t>i</a:t>
            </a:r>
            <a:r>
              <a:rPr lang="en-CA" dirty="0"/>
              <a:t>$ is an operator acting in the Hilbert space of detector $</a:t>
            </a:r>
            <a:r>
              <a:rPr lang="en-CA" dirty="0" err="1"/>
              <a:t>i</a:t>
            </a:r>
            <a:r>
              <a:rPr lang="en-CA" dirty="0"/>
              <a:t>$ and $\</a:t>
            </a:r>
            <a:r>
              <a:rPr lang="en-CA" dirty="0" err="1"/>
              <a:t>Lambda_i</a:t>
            </a:r>
            <a:r>
              <a:rPr lang="en-CA" dirty="0"/>
              <a:t>(\mf x)$ is a spacetime smearing function, which defines the shape of the interaction in spacetime. The idea is that the function $\</a:t>
            </a:r>
            <a:r>
              <a:rPr lang="en-CA" dirty="0" err="1"/>
              <a:t>Lambda_i</a:t>
            </a:r>
            <a:r>
              <a:rPr lang="en-CA" dirty="0"/>
              <a:t>(\mf x)$ is strongly supported around the detector's trajectory, $\mf </a:t>
            </a:r>
            <a:r>
              <a:rPr lang="en-CA" dirty="0" err="1"/>
              <a:t>z_i</a:t>
            </a:r>
            <a:r>
              <a:rPr lang="en-CA" dirty="0"/>
              <a:t>(\</a:t>
            </a:r>
            <a:r>
              <a:rPr lang="en-CA" dirty="0" err="1"/>
              <a:t>tau_i</a:t>
            </a:r>
            <a:r>
              <a:rPr lang="en-CA" dirty="0"/>
              <a:t>)$ and that its spatial extent corresponds to the detector's shape in its own rest space. In our setup, we consider that the support of $\</a:t>
            </a:r>
            <a:r>
              <a:rPr lang="en-CA" dirty="0" err="1"/>
              <a:t>Lambda_i</a:t>
            </a:r>
            <a:r>
              <a:rPr lang="en-CA" dirty="0"/>
              <a:t>(\mf x)$ is contained in the region $t_1 &lt; t &lt; t_2$, so that the interaction takes place after the local </a:t>
            </a:r>
            <a:r>
              <a:rPr lang="en-CA" dirty="0" err="1"/>
              <a:t>unitaries</a:t>
            </a:r>
            <a:r>
              <a:rPr lang="en-CA" dirty="0"/>
              <a:t> Eq.~\</a:t>
            </a:r>
            <a:r>
              <a:rPr lang="en-CA" dirty="0" err="1"/>
              <a:t>eqref</a:t>
            </a:r>
            <a:r>
              <a:rPr lang="en-CA" dirty="0"/>
              <a:t>{</a:t>
            </a:r>
            <a:r>
              <a:rPr lang="en-CA" dirty="0" err="1"/>
              <a:t>Equation:UDWRotate</a:t>
            </a:r>
            <a:r>
              <a:rPr lang="en-CA" dirty="0"/>
              <a:t>} are applied to the qubits. We assume that while the interactions with the field take place, the detector's internal dynamics are switched off (i.e. $\</a:t>
            </a:r>
            <a:r>
              <a:rPr lang="en-CA" dirty="0" err="1"/>
              <a:t>Omega_i</a:t>
            </a:r>
            <a:r>
              <a:rPr lang="en-CA" dirty="0"/>
              <a:t> = 0$), so that their evolution is entirely determined by their interaction with the field. </a:t>
            </a:r>
          </a:p>
          <a:p>
            <a:endParaRPr lang="en-CA" dirty="0"/>
          </a:p>
          <a:p>
            <a:r>
              <a:rPr lang="en-CA" dirty="0"/>
              <a:t>The dynamics of the detectors can be computed by applying the time evolution operator associated with the total interaction Hamiltonian density, $\sum_{</a:t>
            </a:r>
            <a:r>
              <a:rPr lang="en-CA" dirty="0" err="1"/>
              <a:t>i</a:t>
            </a:r>
            <a:r>
              <a:rPr lang="en-CA" dirty="0"/>
              <a:t>=1}^N \hat{h}_</a:t>
            </a:r>
            <a:r>
              <a:rPr lang="en-CA" dirty="0" err="1"/>
              <a:t>i</a:t>
            </a:r>
            <a:r>
              <a:rPr lang="en-CA" dirty="0"/>
              <a:t>(\mf x)$ and tracing over the field state. This gives rise to a quantum channel $\</a:t>
            </a:r>
            <a:r>
              <a:rPr lang="en-CA" dirty="0" err="1"/>
              <a:t>mathcal</a:t>
            </a:r>
            <a:r>
              <a:rPr lang="en-CA" dirty="0"/>
              <a:t>{E}$, which can entangle the qubits with each other (for $\hat{\mu}_</a:t>
            </a:r>
            <a:r>
              <a:rPr lang="en-CA" dirty="0" err="1"/>
              <a:t>i</a:t>
            </a:r>
            <a:r>
              <a:rPr lang="en-CA" dirty="0"/>
              <a:t> \</a:t>
            </a:r>
            <a:r>
              <a:rPr lang="en-CA" dirty="0" err="1"/>
              <a:t>neq</a:t>
            </a:r>
            <a:r>
              <a:rPr lang="en-CA" dirty="0"/>
              <a:t> \</a:t>
            </a:r>
            <a:r>
              <a:rPr lang="en-CA" dirty="0" err="1"/>
              <a:t>openone</a:t>
            </a:r>
            <a:r>
              <a:rPr lang="en-CA" dirty="0"/>
              <a:t>$), but also with the field. For simplicity, we assume the field to be in a quasi-free state\footnote{A quasi-free state is a zero mean Gaussian state. Typical states that satisfy this condition are thermal states and most choices of </a:t>
            </a:r>
            <a:r>
              <a:rPr lang="en-CA" dirty="0" err="1"/>
              <a:t>vacua</a:t>
            </a:r>
            <a:r>
              <a:rPr lang="en-CA" dirty="0"/>
              <a:t>.} and we compute the channel $\</a:t>
            </a:r>
            <a:r>
              <a:rPr lang="en-CA" dirty="0" err="1"/>
              <a:t>mathcal</a:t>
            </a:r>
            <a:r>
              <a:rPr lang="en-CA" dirty="0"/>
              <a:t>{E}$ explicitly in Appendix~\ref{</a:t>
            </a:r>
            <a:r>
              <a:rPr lang="en-CA" dirty="0" err="1"/>
              <a:t>Appendix:Calculations</a:t>
            </a:r>
            <a:r>
              <a:rPr lang="en-CA" dirty="0"/>
              <a:t>}. There we show that it can be decomposed as</a:t>
            </a:r>
          </a:p>
          <a:p>
            <a:r>
              <a:rPr lang="en-CA" dirty="0"/>
              <a:t>\begin{equation}</a:t>
            </a:r>
          </a:p>
          <a:p>
            <a:r>
              <a:rPr lang="en-CA" dirty="0"/>
              <a:t>    \E(\hat{\rho}_0) = \hat{U}_\</a:t>
            </a:r>
            <a:r>
              <a:rPr lang="en-CA" dirty="0" err="1"/>
              <a:t>tc</a:t>
            </a:r>
            <a:r>
              <a:rPr lang="en-CA" dirty="0"/>
              <a:t>{c} \E_\phi(\hat{\rho}_0) \hat{U}_\</a:t>
            </a:r>
            <a:r>
              <a:rPr lang="en-CA" dirty="0" err="1"/>
              <a:t>tc</a:t>
            </a:r>
            <a:r>
              <a:rPr lang="en-CA" dirty="0"/>
              <a:t>{c}^\dagger\,,</a:t>
            </a:r>
          </a:p>
          <a:p>
            <a:r>
              <a:rPr lang="en-CA" dirty="0"/>
              <a:t>\end{equation}</a:t>
            </a:r>
          </a:p>
          <a:p>
            <a:r>
              <a:rPr lang="en-CA" dirty="0"/>
              <a:t>where $\E_\phi$ is a quantum channel that introduces decoherence due to entanglement between the qubits and the field and $\hat{U}_\</a:t>
            </a:r>
            <a:r>
              <a:rPr lang="en-CA" dirty="0" err="1"/>
              <a:t>tc</a:t>
            </a:r>
            <a:r>
              <a:rPr lang="en-CA" dirty="0"/>
              <a:t>{c}$ is an entangling unitary that can be written in the form</a:t>
            </a:r>
          </a:p>
          <a:p>
            <a:r>
              <a:rPr lang="en-CA" dirty="0"/>
              <a:t>\begin{equation} \label{</a:t>
            </a:r>
            <a:r>
              <a:rPr lang="en-CA" dirty="0" err="1"/>
              <a:t>Equation:UDWEntangle</a:t>
            </a:r>
            <a:r>
              <a:rPr lang="en-CA" dirty="0"/>
              <a:t>}</a:t>
            </a:r>
          </a:p>
          <a:p>
            <a:r>
              <a:rPr lang="en-CA" dirty="0"/>
              <a:t>    \hat{U}_\</a:t>
            </a:r>
            <a:r>
              <a:rPr lang="en-CA" dirty="0" err="1"/>
              <a:t>tc</a:t>
            </a:r>
            <a:r>
              <a:rPr lang="en-CA" dirty="0"/>
              <a:t>{c} = e^{- \frac{\ii\lambda^2}{2}\sum_{{</a:t>
            </a:r>
            <a:r>
              <a:rPr lang="en-CA" dirty="0" err="1"/>
              <a:t>i</a:t>
            </a:r>
            <a:r>
              <a:rPr lang="en-CA" dirty="0"/>
              <a:t>&lt;j}} \Delta_{</a:t>
            </a:r>
            <a:r>
              <a:rPr lang="en-CA" dirty="0" err="1"/>
              <a:t>ij</a:t>
            </a:r>
            <a:r>
              <a:rPr lang="en-CA" dirty="0"/>
              <a:t>} \hat{\mu}_</a:t>
            </a:r>
            <a:r>
              <a:rPr lang="en-CA" dirty="0" err="1"/>
              <a:t>i</a:t>
            </a:r>
            <a:r>
              <a:rPr lang="en-CA" dirty="0"/>
              <a:t> \hat{\mu}_j}\,,</a:t>
            </a:r>
          </a:p>
          <a:p>
            <a:r>
              <a:rPr lang="en-CA" dirty="0"/>
              <a:t>\end{equation}</a:t>
            </a:r>
          </a:p>
          <a:p>
            <a:r>
              <a:rPr lang="en-CA" dirty="0"/>
              <a:t>where $\Delta_{</a:t>
            </a:r>
            <a:r>
              <a:rPr lang="en-CA" dirty="0" err="1"/>
              <a:t>ij</a:t>
            </a:r>
            <a:r>
              <a:rPr lang="en-CA" dirty="0"/>
              <a:t>}$ are parameters that depend on retarded propagation of the qubit interaction regions through the field and usually behave proportionately to the ratio of the interaction time of the qubits with the field and their proper separation. A key assumption for the entangling unitary to act meaningfully between the qubit pairs is that $|\lambda^2 \Delta_{</a:t>
            </a:r>
            <a:r>
              <a:rPr lang="en-CA" dirty="0" err="1"/>
              <a:t>ij</a:t>
            </a:r>
            <a:r>
              <a:rPr lang="en-CA" dirty="0"/>
              <a:t>}| \sim 1$. This can be accomplished whenever the qubits' interaction regions are in causal contact for enough time, which allows for the field to mediate a sufficient amount of entanglement between the qubits. We emphasize that our calculations allow us to couple detectors simultaneously to the field, meaning that we can get a globally entangling unitary on all detectors. In a way, the unitary $\hat{U}_\</a:t>
            </a:r>
            <a:r>
              <a:rPr lang="en-CA" dirty="0" err="1"/>
              <a:t>tc</a:t>
            </a:r>
            <a:r>
              <a:rPr lang="en-CA" dirty="0"/>
              <a:t>{c}$ is a weighted version of the M\o </a:t>
            </a:r>
            <a:r>
              <a:rPr lang="en-CA" dirty="0" err="1"/>
              <a:t>lmer</a:t>
            </a:r>
            <a:r>
              <a:rPr lang="en-CA" dirty="0"/>
              <a:t>-S\o </a:t>
            </a:r>
            <a:r>
              <a:rPr lang="en-CA" dirty="0" err="1"/>
              <a:t>rensen</a:t>
            </a:r>
            <a:r>
              <a:rPr lang="en-CA" dirty="0"/>
              <a:t> gate in quantum optics.</a:t>
            </a:r>
          </a:p>
          <a:p>
            <a:pPr marL="171450" indent="-171450">
              <a:buFont typeface="Arial" panose="020B0604020202020204" pitchFamily="34" charset="0"/>
              <a:buChar char="•"/>
            </a:pPr>
            <a:r>
              <a:rPr lang="en-CA" dirty="0"/>
              <a:t>Detectors are in causal contact for a long time compared to their separation so the notion of simultaneous is somewhat well-defined.</a:t>
            </a:r>
          </a:p>
          <a:p>
            <a:pPr marL="171450" indent="-171450">
              <a:buFont typeface="Arial" panose="020B0604020202020204" pitchFamily="34" charset="0"/>
              <a:buChar char="•"/>
            </a:pPr>
            <a:r>
              <a:rPr lang="en-CA" dirty="0"/>
              <a:t>Using a time-independent monopole operator is similar to using gapless detectors, which we assume anyway during the field interaction.</a:t>
            </a:r>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34</a:t>
            </a:fld>
            <a:endParaRPr lang="en-CA"/>
          </a:p>
        </p:txBody>
      </p:sp>
    </p:spTree>
    <p:extLst>
      <p:ext uri="{BB962C8B-B14F-4D97-AF65-F5344CB8AC3E}">
        <p14:creationId xmlns:p14="http://schemas.microsoft.com/office/powerpoint/2010/main" val="39742262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14:m>
                  <m:oMath xmlns:m="http://schemas.openxmlformats.org/officeDocument/2006/math">
                    <m:r>
                      <a:rPr lang="en-CA" i="1" smtClean="0">
                        <a:latin typeface="Cambria Math" panose="02040503050406030204" pitchFamily="18" charset="0"/>
                        <a:ea typeface="Cambria Math" panose="02040503050406030204" pitchFamily="18" charset="0"/>
                      </a:rPr>
                      <m:t>𝒲</m:t>
                    </m:r>
                  </m:oMath>
                </a14:m>
                <a:r>
                  <a:rPr lang="en-CA" dirty="0"/>
                  <a:t> is often of order unity when the field is in a state that has a low particle number, as perceived by the detectors (This would not be the case if the field was in a highly excited state, or if the detectors were in extreme states of motion while interacting with the field (such as accelerations high enough so that Unruh-like effects would take place)</a:t>
                </a:r>
              </a:p>
              <a:p>
                <a:pPr marL="171450" indent="-171450">
                  <a:buFont typeface="Arial" panose="020B0604020202020204" pitchFamily="34" charset="0"/>
                  <a:buChar char="•"/>
                </a:pPr>
                <a:r>
                  <a:rPr lang="en-CA" dirty="0"/>
                  <a:t>Notice that having $N\</a:t>
                </a:r>
                <a:r>
                  <a:rPr lang="en-CA" dirty="0" err="1"/>
                  <a:t>ll</a:t>
                </a:r>
                <a:r>
                  <a:rPr lang="en-CA" dirty="0"/>
                  <a:t> \lambda^{-2} $ does not prevent us from having meaningful entanglement generated by the unitary $\hat{U}_\</a:t>
                </a:r>
                <a:r>
                  <a:rPr lang="en-CA" dirty="0" err="1"/>
                  <a:t>tc</a:t>
                </a:r>
                <a:r>
                  <a:rPr lang="en-CA" dirty="0"/>
                  <a:t>{c}$, provided that $|\lambda^2\Delta_{</a:t>
                </a:r>
                <a:r>
                  <a:rPr lang="en-CA" dirty="0" err="1"/>
                  <a:t>ij</a:t>
                </a:r>
                <a:r>
                  <a:rPr lang="en-CA" dirty="0"/>
                  <a:t>}|\sim 1$. This is a reasonable assumption provided that $T\sim \lambda^{-2} L$, where $T$ is the time duration of the interaction with the field and $L$ is the minimal detector separation between detectors in the setup.}. </a:t>
                </a:r>
              </a:p>
              <a:p>
                <a:pPr marL="171450" indent="-171450">
                  <a:buFont typeface="Arial" panose="020B0604020202020204" pitchFamily="34" charset="0"/>
                  <a:buChar char="•"/>
                </a:pPr>
                <a:r>
                  <a:rPr lang="en-CA" dirty="0"/>
                  <a:t>Under this assumption, the channel $\</a:t>
                </a:r>
                <a:r>
                  <a:rPr lang="en-CA" dirty="0" err="1"/>
                  <a:t>mathcal</a:t>
                </a:r>
                <a:r>
                  <a:rPr lang="en-CA" dirty="0"/>
                  <a:t>{E}_\phi$ acts as a weakly decohering channel. While the effect may be relatively small, the noise introduced from the interaction with the quantum field is always present regardless of the specifics of the interaction, since the noise terms are present even when the field is in its vacuum state. However, the noise terms are typically negligible in many realistic and experimental scenarios. </a:t>
                </a:r>
              </a:p>
              <a:p>
                <a:pPr marL="171450" indent="-171450">
                  <a:buFont typeface="Arial" panose="020B0604020202020204" pitchFamily="34" charset="0"/>
                  <a:buChar char="•"/>
                </a:pPr>
                <a:r>
                  <a:rPr lang="en-CA" dirty="0"/>
                  <a:t>where $T$ controls the interaction duration, $\sigma$ is the effective size of the detectors, and $t_\</a:t>
                </a:r>
                <a:r>
                  <a:rPr lang="en-CA" dirty="0" err="1"/>
                  <a:t>tc</a:t>
                </a:r>
                <a:r>
                  <a:rPr lang="en-CA" dirty="0"/>
                  <a:t>{c}$ is the center of the interaction duration in time.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where $\Delta_{</a:t>
                </a:r>
                <a:r>
                  <a:rPr lang="en-CA" dirty="0" err="1"/>
                  <a:t>ij</a:t>
                </a:r>
                <a:r>
                  <a:rPr lang="en-CA" dirty="0"/>
                  <a:t>}$ are parameters that depend on retarded propagation of the qubit interaction regions through the field and usually behave proportionately to the ratio of the interaction time of the qubits with the field and their proper separation. A key assumption for the entangling unitary to act meaningfully between the qubit pairs is that $|\lambda^2 \Delta_{</a:t>
                </a:r>
                <a:r>
                  <a:rPr lang="en-CA" dirty="0" err="1"/>
                  <a:t>ij</a:t>
                </a:r>
                <a:r>
                  <a:rPr lang="en-CA" dirty="0"/>
                  <a:t>}| \sim 1$. This can be accomplished whenever the qubits' interaction regions are in causal contact for enough time, which allows for the field to mediate a sufficient amount of entanglement between the qubits. We emphasize that our calculations allow us to couple detectors simultaneously to the field, meaning that we can get a globally entangling unitary on all detectors.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Pure initial states are very common in typical RQI setups, so this lower bound should be useful</a:t>
                </a:r>
              </a:p>
              <a:p>
                <a:pPr marL="171450" indent="-171450">
                  <a:buFont typeface="Arial" panose="020B0604020202020204" pitchFamily="34" charset="0"/>
                  <a:buChar char="•"/>
                </a:pPr>
                <a:endParaRPr lang="en-CA"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i="0">
                    <a:latin typeface="Cambria Math" panose="02040503050406030204" pitchFamily="18" charset="0"/>
                    <a:ea typeface="Cambria Math" panose="02040503050406030204" pitchFamily="18" charset="0"/>
                  </a:rPr>
                  <a:t>𝒲</a:t>
                </a:r>
                <a:r>
                  <a:rPr lang="en-CA" dirty="0"/>
                  <a:t> is often of order unity when the field is in a state that has a low particle number, as perceived by the detectors (This would not be the case if the field was in a highly excited state, or if the detectors were in extreme states of motion while interacting with the field (such as accelerations high enough so that Unruh-like effects would take place)</a:t>
                </a:r>
              </a:p>
              <a:p>
                <a:pPr marL="171450" indent="-171450">
                  <a:buFont typeface="Arial" panose="020B0604020202020204" pitchFamily="34" charset="0"/>
                  <a:buChar char="•"/>
                </a:pPr>
                <a:r>
                  <a:rPr lang="en-CA" dirty="0"/>
                  <a:t>Notice that having $N\</a:t>
                </a:r>
                <a:r>
                  <a:rPr lang="en-CA" dirty="0" err="1"/>
                  <a:t>ll</a:t>
                </a:r>
                <a:r>
                  <a:rPr lang="en-CA" dirty="0"/>
                  <a:t> \lambda^{-2} $ does not prevent us from having meaningful entanglement generated by the unitary $\hat{U}_\</a:t>
                </a:r>
                <a:r>
                  <a:rPr lang="en-CA" dirty="0" err="1"/>
                  <a:t>tc</a:t>
                </a:r>
                <a:r>
                  <a:rPr lang="en-CA" dirty="0"/>
                  <a:t>{c}$, provided that $|\lambda^2\Delta_{</a:t>
                </a:r>
                <a:r>
                  <a:rPr lang="en-CA" dirty="0" err="1"/>
                  <a:t>ij</a:t>
                </a:r>
                <a:r>
                  <a:rPr lang="en-CA" dirty="0"/>
                  <a:t>}|\sim 1$. This is a reasonable assumption provided that $T\sim \lambda^{-2} L$, where $T$ is the time duration of the interaction with the field and $L$ is the minimal detector separation between detectors in the setup.}. </a:t>
                </a:r>
              </a:p>
              <a:p>
                <a:pPr marL="171450" indent="-171450">
                  <a:buFont typeface="Arial" panose="020B0604020202020204" pitchFamily="34" charset="0"/>
                  <a:buChar char="•"/>
                </a:pPr>
                <a:r>
                  <a:rPr lang="en-CA" dirty="0"/>
                  <a:t>Under this assumption, the channel $\</a:t>
                </a:r>
                <a:r>
                  <a:rPr lang="en-CA" dirty="0" err="1"/>
                  <a:t>mathcal</a:t>
                </a:r>
                <a:r>
                  <a:rPr lang="en-CA" dirty="0"/>
                  <a:t>{E}_\phi$ acts as a weakly decohering channel. While the effect may be relatively small, the noise introduced from the interaction with the quantum field is always present regardless of the specifics of the interaction, since the noise terms are present even when the field is in its vacuum state. However, the noise terms are typically negligible in many realistic and experimental scenarios. </a:t>
                </a:r>
              </a:p>
              <a:p>
                <a:pPr marL="171450" indent="-171450">
                  <a:buFont typeface="Arial" panose="020B0604020202020204" pitchFamily="34" charset="0"/>
                  <a:buChar char="•"/>
                </a:pPr>
                <a:r>
                  <a:rPr lang="en-CA" dirty="0"/>
                  <a:t>where $T$ controls the interaction duration, $\sigma$ is the effective size of the detectors, and $t_\</a:t>
                </a:r>
                <a:r>
                  <a:rPr lang="en-CA" dirty="0" err="1"/>
                  <a:t>tc</a:t>
                </a:r>
                <a:r>
                  <a:rPr lang="en-CA" dirty="0"/>
                  <a:t>{c}$ is the center of the interaction duration in time.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where $\Delta_{</a:t>
                </a:r>
                <a:r>
                  <a:rPr lang="en-CA" dirty="0" err="1"/>
                  <a:t>ij</a:t>
                </a:r>
                <a:r>
                  <a:rPr lang="en-CA" dirty="0"/>
                  <a:t>}$ are parameters that depend on retarded propagation of the qubit interaction regions through the field and usually behave proportionately to the ratio of the interaction time of the qubits with the field and their proper separation. A key assumption for the entangling unitary to act meaningfully between the qubit pairs is that $|\lambda^2 \Delta_{</a:t>
                </a:r>
                <a:r>
                  <a:rPr lang="en-CA" dirty="0" err="1"/>
                  <a:t>ij</a:t>
                </a:r>
                <a:r>
                  <a:rPr lang="en-CA" dirty="0"/>
                  <a:t>}| \sim 1$. This can be accomplished whenever the qubits' interaction regions are in causal contact for enough time, which allows for the field to mediate a sufficient amount of entanglement between the qubits. We emphasize that our calculations allow us to couple detectors simultaneously to the field, meaning that we can get a globally entangling unitary on all detectors.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Pure initial states are very common in typical RQI setups, so this lower bound should be useful</a:t>
                </a:r>
              </a:p>
              <a:p>
                <a:pPr marL="171450" indent="-171450">
                  <a:buFont typeface="Arial" panose="020B0604020202020204" pitchFamily="34" charset="0"/>
                  <a:buChar char="•"/>
                </a:pPr>
                <a:endParaRPr lang="en-CA" dirty="0"/>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35</a:t>
            </a:fld>
            <a:endParaRPr lang="en-CA"/>
          </a:p>
        </p:txBody>
      </p:sp>
    </p:spTree>
    <p:extLst>
      <p:ext uri="{BB962C8B-B14F-4D97-AF65-F5344CB8AC3E}">
        <p14:creationId xmlns:p14="http://schemas.microsoft.com/office/powerpoint/2010/main" val="39716994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We technically don’t need to do the variational update of the trainable parameters to execute a particular quantum algorithm if we already know what rotation angles will work, but if there is some noise (e.g. externally, detector positions get perturbed, measurements are not performed perfectly, etc. ) preventing us from getting them precisely or measurement is involved in the middle of the algorithm, then the variational scheme is useful. Also, if we want to program the detectors to execute certain trajectories then this is basically like updating the parameters. </a:t>
            </a:r>
          </a:p>
          <a:p>
            <a:pPr marL="171450" indent="-171450">
              <a:buFont typeface="Arial" panose="020B0604020202020204" pitchFamily="34" charset="0"/>
              <a:buChar char="•"/>
            </a:pPr>
            <a:r>
              <a:rPr lang="en-CA" dirty="0"/>
              <a:t>When successive applications of the entangling channel $\</a:t>
            </a:r>
            <a:r>
              <a:rPr lang="en-CA" dirty="0" err="1"/>
              <a:t>mathcal</a:t>
            </a:r>
            <a:r>
              <a:rPr lang="en-CA" dirty="0"/>
              <a:t> E$ are considered, one requires an extra assumption regarding the initial state of the field being quasi-free. After one application of the channel $\</a:t>
            </a:r>
            <a:r>
              <a:rPr lang="en-CA" dirty="0" err="1"/>
              <a:t>mathcal</a:t>
            </a:r>
            <a:r>
              <a:rPr lang="en-CA" dirty="0"/>
              <a:t>{E}$, the state of the field also evolves due to the interaction with the detectors, and in general the field's final state will not be quasi-free. On the other hand, any effect that the detectors have on the field quickly dissipates away. That is, under the assumption that the time required to implement the free </a:t>
            </a:r>
            <a:r>
              <a:rPr lang="en-CA" dirty="0" err="1"/>
              <a:t>unitaries</a:t>
            </a:r>
            <a:r>
              <a:rPr lang="en-CA" dirty="0"/>
              <a:t> (when the detectors are not coupled to the field) is large compared to the detector's separation, one can effectively treat the local state of the field probed by the qubits as its previous initial state.</a:t>
            </a:r>
          </a:p>
          <a:p>
            <a:pPr marL="171450" indent="-171450">
              <a:buFont typeface="Arial" panose="020B0604020202020204" pitchFamily="34" charset="0"/>
              <a:buChar char="•"/>
            </a:pPr>
            <a:r>
              <a:rPr lang="en-CA" dirty="0"/>
              <a:t>We can just use the </a:t>
            </a:r>
            <a:r>
              <a:rPr lang="en-CA" dirty="0" err="1"/>
              <a:t>U_c</a:t>
            </a:r>
            <a:r>
              <a:rPr lang="en-CA" dirty="0"/>
              <a:t> entangling gate from now on because we can effectively make the noise zero</a:t>
            </a:r>
          </a:p>
        </p:txBody>
      </p:sp>
      <p:sp>
        <p:nvSpPr>
          <p:cNvPr id="4" name="Slide Number Placeholder 3"/>
          <p:cNvSpPr>
            <a:spLocks noGrp="1"/>
          </p:cNvSpPr>
          <p:nvPr>
            <p:ph type="sldNum" sz="quarter" idx="5"/>
          </p:nvPr>
        </p:nvSpPr>
        <p:spPr/>
        <p:txBody>
          <a:bodyPr/>
          <a:lstStyle/>
          <a:p>
            <a:fld id="{E40720B4-AB10-0342-9541-2DF5352E8B38}" type="slidenum">
              <a:rPr lang="en-CA" smtClean="0"/>
              <a:t>36</a:t>
            </a:fld>
            <a:endParaRPr lang="en-CA"/>
          </a:p>
        </p:txBody>
      </p:sp>
    </p:spTree>
    <p:extLst>
      <p:ext uri="{BB962C8B-B14F-4D97-AF65-F5344CB8AC3E}">
        <p14:creationId xmlns:p14="http://schemas.microsoft.com/office/powerpoint/2010/main" val="918401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F24CEA-727C-42BA-9AB0-2A391237A795}"/>
              </a:ext>
            </a:extLst>
          </p:cNvPr>
          <p:cNvSpPr>
            <a:spLocks noGrp="1"/>
          </p:cNvSpPr>
          <p:nvPr>
            <p:ph type="ctrTitle"/>
          </p:nvPr>
        </p:nvSpPr>
        <p:spPr>
          <a:xfrm>
            <a:off x="695399" y="5459104"/>
            <a:ext cx="10801201" cy="485302"/>
          </a:xfrm>
          <a:prstGeom prst="rect">
            <a:avLst/>
          </a:prstGeom>
        </p:spPr>
        <p:txBody>
          <a:bodyPr anchor="b">
            <a:normAutofit/>
          </a:bodyPr>
          <a:lstStyle>
            <a:lvl1pPr algn="l">
              <a:defRPr sz="2800" b="1"/>
            </a:lvl1pPr>
          </a:lstStyle>
          <a:p>
            <a:r>
              <a:rPr lang="en-US"/>
              <a:t>Click to edit Master title style</a:t>
            </a:r>
            <a:endParaRPr lang="de-AT" dirty="0"/>
          </a:p>
        </p:txBody>
      </p:sp>
      <p:sp>
        <p:nvSpPr>
          <p:cNvPr id="4" name="Textplatzhalter 2">
            <a:extLst>
              <a:ext uri="{FF2B5EF4-FFF2-40B4-BE49-F238E27FC236}">
                <a16:creationId xmlns:a16="http://schemas.microsoft.com/office/drawing/2014/main" id="{0441614C-8250-4D7B-A116-94B79E1492AA}"/>
              </a:ext>
            </a:extLst>
          </p:cNvPr>
          <p:cNvSpPr>
            <a:spLocks noGrp="1"/>
          </p:cNvSpPr>
          <p:nvPr>
            <p:ph type="body" idx="1"/>
          </p:nvPr>
        </p:nvSpPr>
        <p:spPr>
          <a:xfrm>
            <a:off x="695325" y="6021288"/>
            <a:ext cx="10801275" cy="485302"/>
          </a:xfrm>
        </p:spPr>
        <p:txBody>
          <a:bodyPr>
            <a:normAutofit/>
          </a:bodyPr>
          <a:lstStyle>
            <a:lvl1pPr marL="0" indent="0">
              <a:buNone/>
              <a:defRPr sz="15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711976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1E7A02D9-28AC-4102-8D50-0161B6E6FF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BFF02FDD-BF21-49A1-A6A4-CEE1B425A938}"/>
              </a:ext>
            </a:extLst>
          </p:cNvPr>
          <p:cNvSpPr>
            <a:spLocks noGrp="1"/>
          </p:cNvSpPr>
          <p:nvPr>
            <p:ph type="dt" sz="half" idx="10"/>
          </p:nvPr>
        </p:nvSpPr>
        <p:spPr/>
        <p:txBody>
          <a:bodyPr/>
          <a:lstStyle/>
          <a:p>
            <a:fld id="{D4432D89-32A0-8641-AE09-76EA2FBBD9A6}" type="datetime1">
              <a:rPr lang="en-US" smtClean="0"/>
              <a:t>5/18/26</a:t>
            </a:fld>
            <a:endParaRPr lang="de-AT"/>
          </a:p>
        </p:txBody>
      </p:sp>
      <p:sp>
        <p:nvSpPr>
          <p:cNvPr id="5" name="Fußzeilenplatzhalter 4">
            <a:extLst>
              <a:ext uri="{FF2B5EF4-FFF2-40B4-BE49-F238E27FC236}">
                <a16:creationId xmlns:a16="http://schemas.microsoft.com/office/drawing/2014/main" id="{83ACD104-2273-476A-B4D8-E834260F2594}"/>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6" name="Foliennummernplatzhalter 5">
            <a:extLst>
              <a:ext uri="{FF2B5EF4-FFF2-40B4-BE49-F238E27FC236}">
                <a16:creationId xmlns:a16="http://schemas.microsoft.com/office/drawing/2014/main" id="{91AA336B-2E26-42E0-A00D-8E65CA4E7AE4}"/>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7" name="Titel 6">
            <a:extLst>
              <a:ext uri="{FF2B5EF4-FFF2-40B4-BE49-F238E27FC236}">
                <a16:creationId xmlns:a16="http://schemas.microsoft.com/office/drawing/2014/main" id="{1CDC1238-C893-4835-85CC-6C255E9F560B}"/>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51623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B8FDBD-31B4-4D04-8B83-083656EE5FCF}"/>
              </a:ext>
            </a:extLst>
          </p:cNvPr>
          <p:cNvSpPr>
            <a:spLocks noGrp="1"/>
          </p:cNvSpPr>
          <p:nvPr>
            <p:ph type="title"/>
          </p:nvPr>
        </p:nvSpPr>
        <p:spPr>
          <a:xfrm>
            <a:off x="695325" y="1709738"/>
            <a:ext cx="10801275" cy="2852737"/>
          </a:xfrm>
          <a:prstGeom prst="rect">
            <a:avLst/>
          </a:prstGeom>
        </p:spPr>
        <p:txBody>
          <a:bodyPr anchor="b">
            <a:normAutofit/>
          </a:bodyPr>
          <a:lstStyle>
            <a:lvl1pPr>
              <a:defRPr sz="3000"/>
            </a:lvl1pPr>
          </a:lstStyle>
          <a:p>
            <a:r>
              <a:rPr lang="en-US"/>
              <a:t>Click to edit Master title style</a:t>
            </a:r>
            <a:endParaRPr lang="de-AT"/>
          </a:p>
        </p:txBody>
      </p:sp>
      <p:sp>
        <p:nvSpPr>
          <p:cNvPr id="3" name="Textplatzhalter 2">
            <a:extLst>
              <a:ext uri="{FF2B5EF4-FFF2-40B4-BE49-F238E27FC236}">
                <a16:creationId xmlns:a16="http://schemas.microsoft.com/office/drawing/2014/main" id="{38CAB8A3-9F60-49BC-B437-6B4E2253C6F3}"/>
              </a:ext>
            </a:extLst>
          </p:cNvPr>
          <p:cNvSpPr>
            <a:spLocks noGrp="1"/>
          </p:cNvSpPr>
          <p:nvPr>
            <p:ph type="body" idx="1"/>
          </p:nvPr>
        </p:nvSpPr>
        <p:spPr>
          <a:xfrm>
            <a:off x="695325" y="4589463"/>
            <a:ext cx="10801275" cy="135981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umsplatzhalter 3">
            <a:extLst>
              <a:ext uri="{FF2B5EF4-FFF2-40B4-BE49-F238E27FC236}">
                <a16:creationId xmlns:a16="http://schemas.microsoft.com/office/drawing/2014/main" id="{EDF1D4AB-3EEA-4B02-82C9-F6BB9E0123C6}"/>
              </a:ext>
            </a:extLst>
          </p:cNvPr>
          <p:cNvSpPr>
            <a:spLocks noGrp="1"/>
          </p:cNvSpPr>
          <p:nvPr>
            <p:ph type="dt" sz="half" idx="10"/>
          </p:nvPr>
        </p:nvSpPr>
        <p:spPr/>
        <p:txBody>
          <a:bodyPr/>
          <a:lstStyle/>
          <a:p>
            <a:fld id="{52D04F5C-AC84-F545-BC8D-B22A14DB0987}" type="datetime1">
              <a:rPr lang="en-US" smtClean="0"/>
              <a:t>5/18/26</a:t>
            </a:fld>
            <a:endParaRPr lang="de-AT"/>
          </a:p>
        </p:txBody>
      </p:sp>
      <p:sp>
        <p:nvSpPr>
          <p:cNvPr id="5" name="Fußzeilenplatzhalter 4">
            <a:extLst>
              <a:ext uri="{FF2B5EF4-FFF2-40B4-BE49-F238E27FC236}">
                <a16:creationId xmlns:a16="http://schemas.microsoft.com/office/drawing/2014/main" id="{0233F298-7A96-4AF6-A2A2-1B8CCC54674A}"/>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6" name="Foliennummernplatzhalter 5">
            <a:extLst>
              <a:ext uri="{FF2B5EF4-FFF2-40B4-BE49-F238E27FC236}">
                <a16:creationId xmlns:a16="http://schemas.microsoft.com/office/drawing/2014/main" id="{DEF18B5A-DEA1-4D52-885C-6807D3E0ABEB}"/>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44792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60BB3F39-69C5-491A-B23E-3EC5DFC98E34}"/>
              </a:ext>
            </a:extLst>
          </p:cNvPr>
          <p:cNvSpPr>
            <a:spLocks noGrp="1"/>
          </p:cNvSpPr>
          <p:nvPr>
            <p:ph sz="half" idx="1"/>
          </p:nvPr>
        </p:nvSpPr>
        <p:spPr>
          <a:xfrm>
            <a:off x="695399" y="1124744"/>
            <a:ext cx="5256585"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Inhaltsplatzhalter 3">
            <a:extLst>
              <a:ext uri="{FF2B5EF4-FFF2-40B4-BE49-F238E27FC236}">
                <a16:creationId xmlns:a16="http://schemas.microsoft.com/office/drawing/2014/main" id="{37030C33-F186-4007-B1CD-D018983D95EB}"/>
              </a:ext>
            </a:extLst>
          </p:cNvPr>
          <p:cNvSpPr>
            <a:spLocks noGrp="1"/>
          </p:cNvSpPr>
          <p:nvPr>
            <p:ph sz="half" idx="2"/>
          </p:nvPr>
        </p:nvSpPr>
        <p:spPr>
          <a:xfrm>
            <a:off x="6240014" y="1124744"/>
            <a:ext cx="5256585"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5" name="Datumsplatzhalter 4">
            <a:extLst>
              <a:ext uri="{FF2B5EF4-FFF2-40B4-BE49-F238E27FC236}">
                <a16:creationId xmlns:a16="http://schemas.microsoft.com/office/drawing/2014/main" id="{F6B61046-E478-4C18-A7A7-989009BBDB96}"/>
              </a:ext>
            </a:extLst>
          </p:cNvPr>
          <p:cNvSpPr>
            <a:spLocks noGrp="1"/>
          </p:cNvSpPr>
          <p:nvPr>
            <p:ph type="dt" sz="half" idx="10"/>
          </p:nvPr>
        </p:nvSpPr>
        <p:spPr/>
        <p:txBody>
          <a:bodyPr/>
          <a:lstStyle/>
          <a:p>
            <a:fld id="{47B80965-D308-684E-835F-734AE91B59AD}" type="datetime1">
              <a:rPr lang="en-US" smtClean="0"/>
              <a:t>5/18/26</a:t>
            </a:fld>
            <a:endParaRPr lang="de-AT"/>
          </a:p>
        </p:txBody>
      </p:sp>
      <p:sp>
        <p:nvSpPr>
          <p:cNvPr id="6" name="Fußzeilenplatzhalter 5">
            <a:extLst>
              <a:ext uri="{FF2B5EF4-FFF2-40B4-BE49-F238E27FC236}">
                <a16:creationId xmlns:a16="http://schemas.microsoft.com/office/drawing/2014/main" id="{6C0022B3-6375-4B24-A37E-9B4CFB067757}"/>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7" name="Foliennummernplatzhalter 6">
            <a:extLst>
              <a:ext uri="{FF2B5EF4-FFF2-40B4-BE49-F238E27FC236}">
                <a16:creationId xmlns:a16="http://schemas.microsoft.com/office/drawing/2014/main" id="{A1F0E2EA-826C-45D2-ACC0-C9C5FEDF5657}"/>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8" name="Titel 7">
            <a:extLst>
              <a:ext uri="{FF2B5EF4-FFF2-40B4-BE49-F238E27FC236}">
                <a16:creationId xmlns:a16="http://schemas.microsoft.com/office/drawing/2014/main" id="{0B57E19A-F4B8-4DC2-8BFF-E77129F06D93}"/>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28957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0EBAB14F-6F2B-46CB-AB06-768840028F78}"/>
              </a:ext>
            </a:extLst>
          </p:cNvPr>
          <p:cNvSpPr>
            <a:spLocks noGrp="1"/>
          </p:cNvSpPr>
          <p:nvPr>
            <p:ph type="body" idx="1"/>
          </p:nvPr>
        </p:nvSpPr>
        <p:spPr>
          <a:xfrm>
            <a:off x="695325" y="1124744"/>
            <a:ext cx="5256659" cy="576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Inhaltsplatzhalter 3">
            <a:extLst>
              <a:ext uri="{FF2B5EF4-FFF2-40B4-BE49-F238E27FC236}">
                <a16:creationId xmlns:a16="http://schemas.microsoft.com/office/drawing/2014/main" id="{642ADAC9-3884-480C-BE29-94657F38DBCA}"/>
              </a:ext>
            </a:extLst>
          </p:cNvPr>
          <p:cNvSpPr>
            <a:spLocks noGrp="1"/>
          </p:cNvSpPr>
          <p:nvPr>
            <p:ph sz="half" idx="2"/>
          </p:nvPr>
        </p:nvSpPr>
        <p:spPr>
          <a:xfrm>
            <a:off x="695325" y="1772816"/>
            <a:ext cx="5256659" cy="4176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5" name="Textplatzhalter 4">
            <a:extLst>
              <a:ext uri="{FF2B5EF4-FFF2-40B4-BE49-F238E27FC236}">
                <a16:creationId xmlns:a16="http://schemas.microsoft.com/office/drawing/2014/main" id="{F56FDCD5-B563-4FC7-988F-9947EA2BD9B8}"/>
              </a:ext>
            </a:extLst>
          </p:cNvPr>
          <p:cNvSpPr>
            <a:spLocks noGrp="1"/>
          </p:cNvSpPr>
          <p:nvPr>
            <p:ph type="body" sz="quarter" idx="3"/>
          </p:nvPr>
        </p:nvSpPr>
        <p:spPr>
          <a:xfrm>
            <a:off x="6240014" y="1120296"/>
            <a:ext cx="5256585" cy="576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Inhaltsplatzhalter 5">
            <a:extLst>
              <a:ext uri="{FF2B5EF4-FFF2-40B4-BE49-F238E27FC236}">
                <a16:creationId xmlns:a16="http://schemas.microsoft.com/office/drawing/2014/main" id="{659056A8-5F21-41F4-939D-6F8675D31C2E}"/>
              </a:ext>
            </a:extLst>
          </p:cNvPr>
          <p:cNvSpPr>
            <a:spLocks noGrp="1"/>
          </p:cNvSpPr>
          <p:nvPr>
            <p:ph sz="quarter" idx="4"/>
          </p:nvPr>
        </p:nvSpPr>
        <p:spPr>
          <a:xfrm>
            <a:off x="6240013" y="1769400"/>
            <a:ext cx="5256585" cy="4176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7" name="Datumsplatzhalter 6">
            <a:extLst>
              <a:ext uri="{FF2B5EF4-FFF2-40B4-BE49-F238E27FC236}">
                <a16:creationId xmlns:a16="http://schemas.microsoft.com/office/drawing/2014/main" id="{9A263CFE-F881-4D85-86D9-85FA5842F427}"/>
              </a:ext>
            </a:extLst>
          </p:cNvPr>
          <p:cNvSpPr>
            <a:spLocks noGrp="1"/>
          </p:cNvSpPr>
          <p:nvPr>
            <p:ph type="dt" sz="half" idx="10"/>
          </p:nvPr>
        </p:nvSpPr>
        <p:spPr/>
        <p:txBody>
          <a:bodyPr/>
          <a:lstStyle/>
          <a:p>
            <a:fld id="{942D9BB4-02E6-0041-B582-F6ACFEEC122C}" type="datetime1">
              <a:rPr lang="en-US" smtClean="0"/>
              <a:t>5/18/26</a:t>
            </a:fld>
            <a:endParaRPr lang="de-AT"/>
          </a:p>
        </p:txBody>
      </p:sp>
      <p:sp>
        <p:nvSpPr>
          <p:cNvPr id="8" name="Fußzeilenplatzhalter 7">
            <a:extLst>
              <a:ext uri="{FF2B5EF4-FFF2-40B4-BE49-F238E27FC236}">
                <a16:creationId xmlns:a16="http://schemas.microsoft.com/office/drawing/2014/main" id="{FCC2BBAD-3480-48CA-A529-35992336D4A3}"/>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9" name="Foliennummernplatzhalter 8">
            <a:extLst>
              <a:ext uri="{FF2B5EF4-FFF2-40B4-BE49-F238E27FC236}">
                <a16:creationId xmlns:a16="http://schemas.microsoft.com/office/drawing/2014/main" id="{31237708-2F44-402D-A07E-1A1D355A025C}"/>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10" name="Titel 9">
            <a:extLst>
              <a:ext uri="{FF2B5EF4-FFF2-40B4-BE49-F238E27FC236}">
                <a16:creationId xmlns:a16="http://schemas.microsoft.com/office/drawing/2014/main" id="{8184191F-B93B-44AA-8611-17F5295610ED}"/>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18850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1B10E69-4ECC-4600-9446-E89CD97F2F4A}"/>
              </a:ext>
            </a:extLst>
          </p:cNvPr>
          <p:cNvSpPr>
            <a:spLocks noGrp="1"/>
          </p:cNvSpPr>
          <p:nvPr>
            <p:ph type="dt" sz="half" idx="10"/>
          </p:nvPr>
        </p:nvSpPr>
        <p:spPr/>
        <p:txBody>
          <a:bodyPr/>
          <a:lstStyle/>
          <a:p>
            <a:fld id="{CB865FE2-8343-B74C-B8F2-311B1A80E46D}" type="datetime1">
              <a:rPr lang="en-US" smtClean="0"/>
              <a:t>5/18/26</a:t>
            </a:fld>
            <a:endParaRPr lang="de-AT"/>
          </a:p>
        </p:txBody>
      </p:sp>
      <p:sp>
        <p:nvSpPr>
          <p:cNvPr id="4" name="Fußzeilenplatzhalter 3">
            <a:extLst>
              <a:ext uri="{FF2B5EF4-FFF2-40B4-BE49-F238E27FC236}">
                <a16:creationId xmlns:a16="http://schemas.microsoft.com/office/drawing/2014/main" id="{E6038B8C-7CF4-4BA9-96EA-E297A5DA88AE}"/>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5" name="Foliennummernplatzhalter 4">
            <a:extLst>
              <a:ext uri="{FF2B5EF4-FFF2-40B4-BE49-F238E27FC236}">
                <a16:creationId xmlns:a16="http://schemas.microsoft.com/office/drawing/2014/main" id="{751118D6-5E56-4935-BA78-AF6BE9D12231}"/>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6" name="Titel 5">
            <a:extLst>
              <a:ext uri="{FF2B5EF4-FFF2-40B4-BE49-F238E27FC236}">
                <a16:creationId xmlns:a16="http://schemas.microsoft.com/office/drawing/2014/main" id="{DA2F99A1-CCA6-4863-8703-3807A8AD73B3}"/>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671367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33B1515-0EC6-4B84-92AF-159C2C422F36}"/>
              </a:ext>
            </a:extLst>
          </p:cNvPr>
          <p:cNvSpPr>
            <a:spLocks noGrp="1"/>
          </p:cNvSpPr>
          <p:nvPr>
            <p:ph type="dt" sz="half" idx="10"/>
          </p:nvPr>
        </p:nvSpPr>
        <p:spPr/>
        <p:txBody>
          <a:bodyPr/>
          <a:lstStyle/>
          <a:p>
            <a:fld id="{622114FE-F76E-DB4C-840A-E777552E6602}" type="datetime1">
              <a:rPr lang="en-US" smtClean="0"/>
              <a:t>5/18/26</a:t>
            </a:fld>
            <a:endParaRPr lang="de-AT"/>
          </a:p>
        </p:txBody>
      </p:sp>
      <p:sp>
        <p:nvSpPr>
          <p:cNvPr id="3" name="Fußzeilenplatzhalter 2">
            <a:extLst>
              <a:ext uri="{FF2B5EF4-FFF2-40B4-BE49-F238E27FC236}">
                <a16:creationId xmlns:a16="http://schemas.microsoft.com/office/drawing/2014/main" id="{4F6B6A2B-A4C8-4BCD-BFAF-2FF68AEAD7E0}"/>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4" name="Foliennummernplatzhalter 3">
            <a:extLst>
              <a:ext uri="{FF2B5EF4-FFF2-40B4-BE49-F238E27FC236}">
                <a16:creationId xmlns:a16="http://schemas.microsoft.com/office/drawing/2014/main" id="{99138A11-1CD8-4E58-A751-07DAE449FD96}"/>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389917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B835DC-1E16-4EDD-8F21-6C9F708B6161}"/>
              </a:ext>
            </a:extLst>
          </p:cNvPr>
          <p:cNvSpPr>
            <a:spLocks noGrp="1"/>
          </p:cNvSpPr>
          <p:nvPr>
            <p:ph type="title"/>
          </p:nvPr>
        </p:nvSpPr>
        <p:spPr>
          <a:xfrm>
            <a:off x="695326" y="333375"/>
            <a:ext cx="4104530" cy="1151409"/>
          </a:xfrm>
          <a:prstGeom prst="rect">
            <a:avLst/>
          </a:prstGeom>
        </p:spPr>
        <p:txBody>
          <a:bodyPr anchor="b">
            <a:normAutofit/>
          </a:bodyPr>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58C8C1CC-4F86-497F-9300-01063FC179DE}"/>
              </a:ext>
            </a:extLst>
          </p:cNvPr>
          <p:cNvSpPr>
            <a:spLocks noGrp="1"/>
          </p:cNvSpPr>
          <p:nvPr>
            <p:ph idx="1"/>
          </p:nvPr>
        </p:nvSpPr>
        <p:spPr>
          <a:xfrm>
            <a:off x="5087888" y="333375"/>
            <a:ext cx="6408712" cy="5615905"/>
          </a:xfrm>
        </p:spPr>
        <p:txBody>
          <a:bodyPr/>
          <a:lstStyle>
            <a:lvl1pPr>
              <a:defRPr sz="24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dirty="0"/>
          </a:p>
        </p:txBody>
      </p:sp>
      <p:sp>
        <p:nvSpPr>
          <p:cNvPr id="4" name="Textplatzhalter 3">
            <a:extLst>
              <a:ext uri="{FF2B5EF4-FFF2-40B4-BE49-F238E27FC236}">
                <a16:creationId xmlns:a16="http://schemas.microsoft.com/office/drawing/2014/main" id="{107D65E3-BA38-4663-80FD-629DAF4F96B8}"/>
              </a:ext>
            </a:extLst>
          </p:cNvPr>
          <p:cNvSpPr>
            <a:spLocks noGrp="1"/>
          </p:cNvSpPr>
          <p:nvPr>
            <p:ph type="body" sz="half" idx="2"/>
          </p:nvPr>
        </p:nvSpPr>
        <p:spPr>
          <a:xfrm>
            <a:off x="695326" y="1700808"/>
            <a:ext cx="4104530" cy="424847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umsplatzhalter 4">
            <a:extLst>
              <a:ext uri="{FF2B5EF4-FFF2-40B4-BE49-F238E27FC236}">
                <a16:creationId xmlns:a16="http://schemas.microsoft.com/office/drawing/2014/main" id="{DF117A17-1C4B-487E-812B-ACE0154104EB}"/>
              </a:ext>
            </a:extLst>
          </p:cNvPr>
          <p:cNvSpPr>
            <a:spLocks noGrp="1"/>
          </p:cNvSpPr>
          <p:nvPr>
            <p:ph type="dt" sz="half" idx="10"/>
          </p:nvPr>
        </p:nvSpPr>
        <p:spPr/>
        <p:txBody>
          <a:bodyPr/>
          <a:lstStyle/>
          <a:p>
            <a:fld id="{49A2AF54-F5CA-894D-BC6A-8B89EFFCDBF0}" type="datetime1">
              <a:rPr lang="en-US" smtClean="0"/>
              <a:t>5/18/26</a:t>
            </a:fld>
            <a:endParaRPr lang="de-AT"/>
          </a:p>
        </p:txBody>
      </p:sp>
      <p:sp>
        <p:nvSpPr>
          <p:cNvPr id="6" name="Fußzeilenplatzhalter 5">
            <a:extLst>
              <a:ext uri="{FF2B5EF4-FFF2-40B4-BE49-F238E27FC236}">
                <a16:creationId xmlns:a16="http://schemas.microsoft.com/office/drawing/2014/main" id="{08ECA08F-2904-4D77-A825-46BE30DE8E42}"/>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7" name="Foliennummernplatzhalter 6">
            <a:extLst>
              <a:ext uri="{FF2B5EF4-FFF2-40B4-BE49-F238E27FC236}">
                <a16:creationId xmlns:a16="http://schemas.microsoft.com/office/drawing/2014/main" id="{6EC7F59D-8933-4ED7-AA87-863803A8B989}"/>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245588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75EAE6-23BB-4FEA-852F-163D8E1669A3}"/>
              </a:ext>
            </a:extLst>
          </p:cNvPr>
          <p:cNvSpPr>
            <a:spLocks noGrp="1"/>
          </p:cNvSpPr>
          <p:nvPr>
            <p:ph type="title"/>
          </p:nvPr>
        </p:nvSpPr>
        <p:spPr>
          <a:xfrm>
            <a:off x="695324" y="333375"/>
            <a:ext cx="4104532" cy="1151409"/>
          </a:xfrm>
          <a:prstGeom prst="rect">
            <a:avLst/>
          </a:prstGeom>
        </p:spPr>
        <p:txBody>
          <a:bodyPr anchor="b">
            <a:normAutofit/>
          </a:bodyPr>
          <a:lstStyle>
            <a:lvl1pPr>
              <a:defRPr sz="2800"/>
            </a:lvl1pPr>
          </a:lstStyle>
          <a:p>
            <a:r>
              <a:rPr lang="en-US"/>
              <a:t>Click to edit Master title style</a:t>
            </a:r>
            <a:endParaRPr lang="de-AT"/>
          </a:p>
        </p:txBody>
      </p:sp>
      <p:sp>
        <p:nvSpPr>
          <p:cNvPr id="3" name="Bildplatzhalter 2">
            <a:extLst>
              <a:ext uri="{FF2B5EF4-FFF2-40B4-BE49-F238E27FC236}">
                <a16:creationId xmlns:a16="http://schemas.microsoft.com/office/drawing/2014/main" id="{D6586F6F-2E4F-4A36-96E3-6D497D84ECAE}"/>
              </a:ext>
            </a:extLst>
          </p:cNvPr>
          <p:cNvSpPr>
            <a:spLocks noGrp="1"/>
          </p:cNvSpPr>
          <p:nvPr>
            <p:ph type="pic" idx="1"/>
          </p:nvPr>
        </p:nvSpPr>
        <p:spPr>
          <a:xfrm>
            <a:off x="5087888" y="340226"/>
            <a:ext cx="6408712" cy="560905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e-AT"/>
          </a:p>
        </p:txBody>
      </p:sp>
      <p:sp>
        <p:nvSpPr>
          <p:cNvPr id="4" name="Textplatzhalter 3">
            <a:extLst>
              <a:ext uri="{FF2B5EF4-FFF2-40B4-BE49-F238E27FC236}">
                <a16:creationId xmlns:a16="http://schemas.microsoft.com/office/drawing/2014/main" id="{13D56DDB-FADF-49C5-9809-768422AD1492}"/>
              </a:ext>
            </a:extLst>
          </p:cNvPr>
          <p:cNvSpPr>
            <a:spLocks noGrp="1"/>
          </p:cNvSpPr>
          <p:nvPr>
            <p:ph type="body" sz="half" idx="2"/>
          </p:nvPr>
        </p:nvSpPr>
        <p:spPr>
          <a:xfrm>
            <a:off x="695325" y="1700808"/>
            <a:ext cx="4104531" cy="424847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umsplatzhalter 4">
            <a:extLst>
              <a:ext uri="{FF2B5EF4-FFF2-40B4-BE49-F238E27FC236}">
                <a16:creationId xmlns:a16="http://schemas.microsoft.com/office/drawing/2014/main" id="{12E4E76F-0F8F-4D3E-911C-356098EB7A01}"/>
              </a:ext>
            </a:extLst>
          </p:cNvPr>
          <p:cNvSpPr>
            <a:spLocks noGrp="1"/>
          </p:cNvSpPr>
          <p:nvPr>
            <p:ph type="dt" sz="half" idx="10"/>
          </p:nvPr>
        </p:nvSpPr>
        <p:spPr/>
        <p:txBody>
          <a:bodyPr/>
          <a:lstStyle/>
          <a:p>
            <a:fld id="{B1413564-D029-B942-BA62-B21D3FCC0442}" type="datetime1">
              <a:rPr lang="en-US" smtClean="0"/>
              <a:t>5/18/26</a:t>
            </a:fld>
            <a:endParaRPr lang="de-AT"/>
          </a:p>
        </p:txBody>
      </p:sp>
      <p:sp>
        <p:nvSpPr>
          <p:cNvPr id="6" name="Fußzeilenplatzhalter 5">
            <a:extLst>
              <a:ext uri="{FF2B5EF4-FFF2-40B4-BE49-F238E27FC236}">
                <a16:creationId xmlns:a16="http://schemas.microsoft.com/office/drawing/2014/main" id="{BF32B37C-0987-4DBE-8AE5-F6BE2589D6F0}"/>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7" name="Foliennummernplatzhalter 6">
            <a:extLst>
              <a:ext uri="{FF2B5EF4-FFF2-40B4-BE49-F238E27FC236}">
                <a16:creationId xmlns:a16="http://schemas.microsoft.com/office/drawing/2014/main" id="{2FE9802D-53D8-4ADF-A795-D77A3ED744FF}"/>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62848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und vertikaler Text">
    <p:spTree>
      <p:nvGrpSpPr>
        <p:cNvPr id="1" name=""/>
        <p:cNvGrpSpPr/>
        <p:nvPr/>
      </p:nvGrpSpPr>
      <p:grpSpPr>
        <a:xfrm>
          <a:off x="0" y="0"/>
          <a:ext cx="0" cy="0"/>
          <a:chOff x="0" y="0"/>
          <a:chExt cx="0" cy="0"/>
        </a:xfrm>
      </p:grpSpPr>
      <p:sp>
        <p:nvSpPr>
          <p:cNvPr id="3" name="Vertikaler Textplatzhalter 2">
            <a:extLst>
              <a:ext uri="{FF2B5EF4-FFF2-40B4-BE49-F238E27FC236}">
                <a16:creationId xmlns:a16="http://schemas.microsoft.com/office/drawing/2014/main" id="{4C5EAB1F-B43A-4658-9581-D76D14F85F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3389A0FB-EEC3-4EF0-9ADD-A25306DA90FE}"/>
              </a:ext>
            </a:extLst>
          </p:cNvPr>
          <p:cNvSpPr>
            <a:spLocks noGrp="1"/>
          </p:cNvSpPr>
          <p:nvPr>
            <p:ph type="dt" sz="half" idx="10"/>
          </p:nvPr>
        </p:nvSpPr>
        <p:spPr/>
        <p:txBody>
          <a:bodyPr/>
          <a:lstStyle/>
          <a:p>
            <a:fld id="{06169869-518F-9545-B891-766F764C5E23}" type="datetime1">
              <a:rPr lang="en-US" smtClean="0"/>
              <a:t>5/18/26</a:t>
            </a:fld>
            <a:endParaRPr lang="de-AT"/>
          </a:p>
        </p:txBody>
      </p:sp>
      <p:sp>
        <p:nvSpPr>
          <p:cNvPr id="5" name="Fußzeilenplatzhalter 4">
            <a:extLst>
              <a:ext uri="{FF2B5EF4-FFF2-40B4-BE49-F238E27FC236}">
                <a16:creationId xmlns:a16="http://schemas.microsoft.com/office/drawing/2014/main" id="{BA7103B7-551F-4B50-A5D4-7E57DED5CE0A}"/>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6" name="Foliennummernplatzhalter 5">
            <a:extLst>
              <a:ext uri="{FF2B5EF4-FFF2-40B4-BE49-F238E27FC236}">
                <a16:creationId xmlns:a16="http://schemas.microsoft.com/office/drawing/2014/main" id="{EA3FF2B3-2015-4796-82BE-B3575BED550E}"/>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7" name="Titel 6">
            <a:extLst>
              <a:ext uri="{FF2B5EF4-FFF2-40B4-BE49-F238E27FC236}">
                <a16:creationId xmlns:a16="http://schemas.microsoft.com/office/drawing/2014/main" id="{7B95CA12-F909-41D8-A784-E228C9072098}"/>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37591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6A27B21-E248-4667-B1A8-91247D8BB80C}"/>
              </a:ext>
            </a:extLst>
          </p:cNvPr>
          <p:cNvSpPr>
            <a:spLocks noGrp="1"/>
          </p:cNvSpPr>
          <p:nvPr>
            <p:ph type="title" orient="vert"/>
          </p:nvPr>
        </p:nvSpPr>
        <p:spPr>
          <a:xfrm>
            <a:off x="8724900" y="333375"/>
            <a:ext cx="2771700" cy="5615905"/>
          </a:xfrm>
          <a:prstGeom prst="rect">
            <a:avLst/>
          </a:prstGeom>
        </p:spPr>
        <p:txBody>
          <a:bodyPr vert="eaVert"/>
          <a:lstStyle/>
          <a:p>
            <a:r>
              <a:rPr lang="en-US"/>
              <a:t>Click to edit Master title style</a:t>
            </a:r>
            <a:endParaRPr lang="de-AT"/>
          </a:p>
        </p:txBody>
      </p:sp>
      <p:sp>
        <p:nvSpPr>
          <p:cNvPr id="3" name="Vertikaler Textplatzhalter 2">
            <a:extLst>
              <a:ext uri="{FF2B5EF4-FFF2-40B4-BE49-F238E27FC236}">
                <a16:creationId xmlns:a16="http://schemas.microsoft.com/office/drawing/2014/main" id="{9BAC2EE9-BFB6-4286-BD71-DDE7114176DC}"/>
              </a:ext>
            </a:extLst>
          </p:cNvPr>
          <p:cNvSpPr>
            <a:spLocks noGrp="1"/>
          </p:cNvSpPr>
          <p:nvPr>
            <p:ph type="body" orient="vert" idx="1"/>
          </p:nvPr>
        </p:nvSpPr>
        <p:spPr>
          <a:xfrm>
            <a:off x="695325" y="333375"/>
            <a:ext cx="7877175" cy="56159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77C7FD9C-CA6A-4C91-9817-8053D045C070}"/>
              </a:ext>
            </a:extLst>
          </p:cNvPr>
          <p:cNvSpPr>
            <a:spLocks noGrp="1"/>
          </p:cNvSpPr>
          <p:nvPr>
            <p:ph type="dt" sz="half" idx="10"/>
          </p:nvPr>
        </p:nvSpPr>
        <p:spPr/>
        <p:txBody>
          <a:bodyPr/>
          <a:lstStyle/>
          <a:p>
            <a:fld id="{3E12BDCC-9614-4540-90FF-E7C213F850A8}" type="datetime1">
              <a:rPr lang="en-US" smtClean="0"/>
              <a:t>5/18/26</a:t>
            </a:fld>
            <a:endParaRPr lang="de-AT"/>
          </a:p>
        </p:txBody>
      </p:sp>
      <p:sp>
        <p:nvSpPr>
          <p:cNvPr id="5" name="Fußzeilenplatzhalter 4">
            <a:extLst>
              <a:ext uri="{FF2B5EF4-FFF2-40B4-BE49-F238E27FC236}">
                <a16:creationId xmlns:a16="http://schemas.microsoft.com/office/drawing/2014/main" id="{43DCE2AE-61CC-4750-9C5D-FDF78A698002}"/>
              </a:ext>
            </a:extLst>
          </p:cNvPr>
          <p:cNvSpPr>
            <a:spLocks noGrp="1"/>
          </p:cNvSpPr>
          <p:nvPr>
            <p:ph type="ftr" sz="quarter" idx="11"/>
          </p:nvPr>
        </p:nvSpPr>
        <p:spPr/>
        <p:txBody>
          <a:bodyPr/>
          <a:lstStyle/>
          <a:p>
            <a:r>
              <a:rPr lang="de-AT"/>
              <a:t>Quantum Information Group Seminar, Leibniz University, Hannover I Phil LeMaitre I 19.05.2026</a:t>
            </a:r>
          </a:p>
        </p:txBody>
      </p:sp>
      <p:sp>
        <p:nvSpPr>
          <p:cNvPr id="6" name="Foliennummernplatzhalter 5">
            <a:extLst>
              <a:ext uri="{FF2B5EF4-FFF2-40B4-BE49-F238E27FC236}">
                <a16:creationId xmlns:a16="http://schemas.microsoft.com/office/drawing/2014/main" id="{27BAD0E1-6707-4963-A804-E3B7549D6B7A}"/>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59429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8F077A78-823C-4FB1-A554-48EEEDB5B2BC}"/>
              </a:ext>
            </a:extLst>
          </p:cNvPr>
          <p:cNvPicPr>
            <a:picLocks noChangeAspect="1"/>
          </p:cNvPicPr>
          <p:nvPr userDrawn="1"/>
        </p:nvPicPr>
        <p:blipFill>
          <a:blip r:embed="rId13"/>
          <a:srcRect/>
          <a:stretch/>
        </p:blipFill>
        <p:spPr>
          <a:xfrm>
            <a:off x="0" y="0"/>
            <a:ext cx="12250813" cy="6891082"/>
          </a:xfrm>
          <a:prstGeom prst="rect">
            <a:avLst/>
          </a:prstGeom>
        </p:spPr>
      </p:pic>
      <p:sp>
        <p:nvSpPr>
          <p:cNvPr id="2" name="Titelplatzhalter 1">
            <a:extLst>
              <a:ext uri="{FF2B5EF4-FFF2-40B4-BE49-F238E27FC236}">
                <a16:creationId xmlns:a16="http://schemas.microsoft.com/office/drawing/2014/main" id="{BB2EF590-3470-459C-9316-671ECA281F27}"/>
              </a:ext>
            </a:extLst>
          </p:cNvPr>
          <p:cNvSpPr>
            <a:spLocks noGrp="1"/>
          </p:cNvSpPr>
          <p:nvPr>
            <p:ph type="title"/>
          </p:nvPr>
        </p:nvSpPr>
        <p:spPr>
          <a:xfrm>
            <a:off x="695400" y="332656"/>
            <a:ext cx="10801200" cy="576064"/>
          </a:xfrm>
          <a:prstGeom prst="rect">
            <a:avLst/>
          </a:prstGeom>
        </p:spPr>
        <p:txBody>
          <a:bodyPr vert="horz" lIns="91440" tIns="45720" rIns="91440" bIns="45720" rtlCol="0" anchor="b">
            <a:normAutofit/>
          </a:bodyPr>
          <a:lstStyle/>
          <a:p>
            <a:r>
              <a:rPr lang="de-DE" dirty="0"/>
              <a:t>Mastertitelformat bearbeiten</a:t>
            </a:r>
            <a:endParaRPr lang="de-AT" dirty="0"/>
          </a:p>
        </p:txBody>
      </p:sp>
      <p:sp>
        <p:nvSpPr>
          <p:cNvPr id="3" name="Textplatzhalter 2">
            <a:extLst>
              <a:ext uri="{FF2B5EF4-FFF2-40B4-BE49-F238E27FC236}">
                <a16:creationId xmlns:a16="http://schemas.microsoft.com/office/drawing/2014/main" id="{A68C32D3-9180-48A2-9E47-8252F5399794}"/>
              </a:ext>
            </a:extLst>
          </p:cNvPr>
          <p:cNvSpPr>
            <a:spLocks noGrp="1"/>
          </p:cNvSpPr>
          <p:nvPr>
            <p:ph type="body" idx="1"/>
          </p:nvPr>
        </p:nvSpPr>
        <p:spPr>
          <a:xfrm>
            <a:off x="695400" y="1124743"/>
            <a:ext cx="10801200" cy="4824537"/>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AT" dirty="0"/>
          </a:p>
        </p:txBody>
      </p:sp>
      <p:sp>
        <p:nvSpPr>
          <p:cNvPr id="4" name="Datumsplatzhalter 3">
            <a:extLst>
              <a:ext uri="{FF2B5EF4-FFF2-40B4-BE49-F238E27FC236}">
                <a16:creationId xmlns:a16="http://schemas.microsoft.com/office/drawing/2014/main" id="{EC326DDF-8A21-4E62-B496-3854373C44F6}"/>
              </a:ext>
            </a:extLst>
          </p:cNvPr>
          <p:cNvSpPr>
            <a:spLocks noGrp="1"/>
          </p:cNvSpPr>
          <p:nvPr>
            <p:ph type="dt" sz="half" idx="2"/>
          </p:nvPr>
        </p:nvSpPr>
        <p:spPr>
          <a:xfrm>
            <a:off x="5159896" y="6310311"/>
            <a:ext cx="1080119" cy="365125"/>
          </a:xfrm>
          <a:prstGeom prst="rect">
            <a:avLst/>
          </a:prstGeom>
        </p:spPr>
        <p:txBody>
          <a:bodyPr vert="horz" lIns="91440" tIns="45720" rIns="91440" bIns="45720" rtlCol="0" anchor="ctr"/>
          <a:lstStyle>
            <a:lvl1pPr algn="l">
              <a:defRPr sz="900">
                <a:solidFill>
                  <a:schemeClr val="accent3"/>
                </a:solidFill>
              </a:defRPr>
            </a:lvl1pPr>
          </a:lstStyle>
          <a:p>
            <a:fld id="{4E7B76A2-728E-1045-B7E8-75CE091218F3}" type="datetime1">
              <a:rPr lang="en-US" smtClean="0"/>
              <a:t>5/18/26</a:t>
            </a:fld>
            <a:endParaRPr lang="de-AT" dirty="0"/>
          </a:p>
        </p:txBody>
      </p:sp>
      <p:sp>
        <p:nvSpPr>
          <p:cNvPr id="5" name="Fußzeilenplatzhalter 4">
            <a:extLst>
              <a:ext uri="{FF2B5EF4-FFF2-40B4-BE49-F238E27FC236}">
                <a16:creationId xmlns:a16="http://schemas.microsoft.com/office/drawing/2014/main" id="{0F6A1B67-E1AA-4B80-BE53-EEFBF856BAAC}"/>
              </a:ext>
            </a:extLst>
          </p:cNvPr>
          <p:cNvSpPr>
            <a:spLocks noGrp="1"/>
          </p:cNvSpPr>
          <p:nvPr>
            <p:ph type="ftr" sz="quarter" idx="3"/>
          </p:nvPr>
        </p:nvSpPr>
        <p:spPr>
          <a:xfrm>
            <a:off x="6456039" y="6310311"/>
            <a:ext cx="3744417" cy="365125"/>
          </a:xfrm>
          <a:prstGeom prst="rect">
            <a:avLst/>
          </a:prstGeom>
        </p:spPr>
        <p:txBody>
          <a:bodyPr vert="horz" lIns="91440" tIns="45720" rIns="91440" bIns="45720" rtlCol="0" anchor="ctr"/>
          <a:lstStyle>
            <a:lvl1pPr algn="ctr">
              <a:defRPr sz="900">
                <a:solidFill>
                  <a:schemeClr val="accent3"/>
                </a:solidFill>
              </a:defRPr>
            </a:lvl1pPr>
          </a:lstStyle>
          <a:p>
            <a:r>
              <a:rPr lang="de-AT"/>
              <a:t>Quantum Information Group Seminar, Leibniz University, Hannover I Phil LeMaitre I 19.05.2026</a:t>
            </a:r>
            <a:endParaRPr lang="de-AT" dirty="0"/>
          </a:p>
        </p:txBody>
      </p:sp>
      <p:sp>
        <p:nvSpPr>
          <p:cNvPr id="6" name="Foliennummernplatzhalter 5">
            <a:extLst>
              <a:ext uri="{FF2B5EF4-FFF2-40B4-BE49-F238E27FC236}">
                <a16:creationId xmlns:a16="http://schemas.microsoft.com/office/drawing/2014/main" id="{482BB844-BB3C-4946-8814-43B26C37D90B}"/>
              </a:ext>
            </a:extLst>
          </p:cNvPr>
          <p:cNvSpPr>
            <a:spLocks noGrp="1"/>
          </p:cNvSpPr>
          <p:nvPr>
            <p:ph type="sldNum" sz="quarter" idx="4"/>
          </p:nvPr>
        </p:nvSpPr>
        <p:spPr>
          <a:xfrm>
            <a:off x="10416480" y="6310311"/>
            <a:ext cx="1080120" cy="365125"/>
          </a:xfrm>
          <a:prstGeom prst="rect">
            <a:avLst/>
          </a:prstGeom>
        </p:spPr>
        <p:txBody>
          <a:bodyPr vert="horz" lIns="91440" tIns="45720" rIns="91440" bIns="45720" rtlCol="0" anchor="ctr"/>
          <a:lstStyle>
            <a:lvl1pPr algn="r">
              <a:defRPr sz="900">
                <a:solidFill>
                  <a:schemeClr val="accent3"/>
                </a:solidFill>
              </a:defRPr>
            </a:lvl1pPr>
          </a:lstStyle>
          <a:p>
            <a:r>
              <a:rPr lang="de-AT"/>
              <a:t>Seite </a:t>
            </a:r>
            <a:fld id="{D0617D14-1B55-43C0-819D-0D244AC23646}" type="slidenum">
              <a:rPr lang="de-AT" smtClean="0"/>
              <a:pPr/>
              <a:t>‹#›</a:t>
            </a:fld>
            <a:endParaRPr lang="de-AT" dirty="0"/>
          </a:p>
        </p:txBody>
      </p:sp>
    </p:spTree>
    <p:extLst>
      <p:ext uri="{BB962C8B-B14F-4D97-AF65-F5344CB8AC3E}">
        <p14:creationId xmlns:p14="http://schemas.microsoft.com/office/powerpoint/2010/main" val="151577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0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SzPct val="80000"/>
        <a:buFont typeface="Wingdings" panose="05000000000000000000" pitchFamily="2" charset="2"/>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8">
          <p15:clr>
            <a:srgbClr val="F26B43"/>
          </p15:clr>
        </p15:guide>
        <p15:guide id="4" orient="horz" pos="210">
          <p15:clr>
            <a:srgbClr val="F26B43"/>
          </p15:clr>
        </p15:guide>
        <p15:guide id="5" orient="horz" pos="5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2.xml"/><Relationship Id="rId7"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7.xml"/><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0.png"/><Relationship Id="rId3" Type="http://schemas.openxmlformats.org/officeDocument/2006/relationships/notesSlide" Target="../notesSlides/notesSlide8.xml"/><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24.png"/><Relationship Id="rId11" Type="http://schemas.openxmlformats.org/officeDocument/2006/relationships/image" Target="../media/image23.png"/><Relationship Id="rId15" Type="http://schemas.openxmlformats.org/officeDocument/2006/relationships/image" Target="../media/image32.png"/><Relationship Id="rId10" Type="http://schemas.openxmlformats.org/officeDocument/2006/relationships/image" Target="../media/image28.png"/><Relationship Id="rId9" Type="http://schemas.openxmlformats.org/officeDocument/2006/relationships/image" Target="../media/image27.png"/><Relationship Id="rId1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11.xml"/><Relationship Id="rId7"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notesSlide" Target="../notesSlides/notesSlide15.xml"/><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2.png"/><Relationship Id="rId9"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58.jp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58.jp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 Id="rId5" Type="http://schemas.openxmlformats.org/officeDocument/2006/relationships/hyperlink" Target="https://doi.org/10.1103/9ph7-cyzh" TargetMode="External"/><Relationship Id="rId4" Type="http://schemas.openxmlformats.org/officeDocument/2006/relationships/image" Target="../media/image58.jp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62.png"/><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63.jp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63.jp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200.png"/><Relationship Id="rId18" Type="http://schemas.openxmlformats.org/officeDocument/2006/relationships/image" Target="../media/image250.png"/><Relationship Id="rId72" Type="http://schemas.openxmlformats.org/officeDocument/2006/relationships/image" Target="../media/image68.png"/><Relationship Id="rId3" Type="http://schemas.openxmlformats.org/officeDocument/2006/relationships/notesSlide" Target="../notesSlides/notesSlide32.xml"/><Relationship Id="rId21" Type="http://schemas.openxmlformats.org/officeDocument/2006/relationships/image" Target="../media/image280.png"/><Relationship Id="rId68" Type="http://schemas.openxmlformats.org/officeDocument/2006/relationships/image" Target="../media/image640.png"/><Relationship Id="rId76" Type="http://schemas.openxmlformats.org/officeDocument/2006/relationships/image" Target="../media/image360.png"/><Relationship Id="rId7" Type="http://schemas.openxmlformats.org/officeDocument/2006/relationships/image" Target="../media/image140.png"/><Relationship Id="rId17" Type="http://schemas.openxmlformats.org/officeDocument/2006/relationships/image" Target="../media/image240.png"/><Relationship Id="rId71" Type="http://schemas.openxmlformats.org/officeDocument/2006/relationships/image" Target="../media/image68.png"/><Relationship Id="rId2" Type="http://schemas.openxmlformats.org/officeDocument/2006/relationships/slideLayout" Target="../slideLayouts/slideLayout2.xml"/><Relationship Id="rId16" Type="http://schemas.openxmlformats.org/officeDocument/2006/relationships/image" Target="../media/image230.png"/><Relationship Id="rId20" Type="http://schemas.openxmlformats.org/officeDocument/2006/relationships/image" Target="../media/image270.png"/><Relationship Id="rId70" Type="http://schemas.openxmlformats.org/officeDocument/2006/relationships/image" Target="../media/image66.png"/><Relationship Id="rId75" Type="http://schemas.openxmlformats.org/officeDocument/2006/relationships/image" Target="../media/image350.png"/><Relationship Id="rId1" Type="http://schemas.openxmlformats.org/officeDocument/2006/relationships/tags" Target="../tags/tag30.xml"/><Relationship Id="rId6" Type="http://schemas.openxmlformats.org/officeDocument/2006/relationships/image" Target="../media/image130.png"/><Relationship Id="rId11" Type="http://schemas.openxmlformats.org/officeDocument/2006/relationships/image" Target="../media/image65.svg"/><Relationship Id="rId24" Type="http://schemas.openxmlformats.org/officeDocument/2006/relationships/image" Target="../media/image67.png"/><Relationship Id="rId74" Type="http://schemas.openxmlformats.org/officeDocument/2006/relationships/image" Target="../media/image340.png"/><Relationship Id="rId5" Type="http://schemas.openxmlformats.org/officeDocument/2006/relationships/image" Target="../media/image120.png"/><Relationship Id="rId23" Type="http://schemas.openxmlformats.org/officeDocument/2006/relationships/image" Target="../media/image300.png"/><Relationship Id="rId10" Type="http://schemas.openxmlformats.org/officeDocument/2006/relationships/image" Target="../media/image170.png"/><Relationship Id="rId19" Type="http://schemas.openxmlformats.org/officeDocument/2006/relationships/image" Target="../media/image260.png"/><Relationship Id="rId73" Type="http://schemas.openxmlformats.org/officeDocument/2006/relationships/image" Target="../media/image331.png"/><Relationship Id="rId9" Type="http://schemas.openxmlformats.org/officeDocument/2006/relationships/image" Target="../media/image160.png"/><Relationship Id="rId14" Type="http://schemas.openxmlformats.org/officeDocument/2006/relationships/image" Target="../media/image66.svg"/><Relationship Id="rId22" Type="http://schemas.openxmlformats.org/officeDocument/2006/relationships/image" Target="../media/image290.png"/><Relationship Id="rId69" Type="http://schemas.openxmlformats.org/officeDocument/2006/relationships/image" Target="../media/image321.png"/></Relationships>
</file>

<file path=ppt/slides/_rels/slide33.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notesSlide" Target="../notesSlides/notesSlide33.xml"/><Relationship Id="rId7" Type="http://schemas.openxmlformats.org/officeDocument/2006/relationships/image" Target="../media/image320.png"/><Relationship Id="rId12" Type="http://schemas.openxmlformats.org/officeDocument/2006/relationships/image" Target="../media/image411.png"/><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310.png"/><Relationship Id="rId11" Type="http://schemas.openxmlformats.org/officeDocument/2006/relationships/image" Target="../media/image401.png"/><Relationship Id="rId10" Type="http://schemas.openxmlformats.org/officeDocument/2006/relationships/image" Target="../media/image390.png"/><Relationship Id="rId4" Type="http://schemas.openxmlformats.org/officeDocument/2006/relationships/image" Target="../media/image69.png"/><Relationship Id="rId9" Type="http://schemas.openxmlformats.org/officeDocument/2006/relationships/image" Target="../media/image380.png"/></Relationships>
</file>

<file path=ppt/slides/_rels/slide34.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60.png"/><Relationship Id="rId3" Type="http://schemas.openxmlformats.org/officeDocument/2006/relationships/notesSlide" Target="../notesSlides/notesSlide34.xml"/><Relationship Id="rId7" Type="http://schemas.openxmlformats.org/officeDocument/2006/relationships/image" Target="../media/image410.png"/><Relationship Id="rId12" Type="http://schemas.openxmlformats.org/officeDocument/2006/relationships/image" Target="../media/image450.png"/><Relationship Id="rId2" Type="http://schemas.openxmlformats.org/officeDocument/2006/relationships/slideLayout" Target="../slideLayouts/slideLayout2.xml"/><Relationship Id="rId1" Type="http://schemas.openxmlformats.org/officeDocument/2006/relationships/tags" Target="../tags/tag32.xml"/><Relationship Id="rId6" Type="http://schemas.openxmlformats.org/officeDocument/2006/relationships/image" Target="../media/image400.png"/><Relationship Id="rId11" Type="http://schemas.openxmlformats.org/officeDocument/2006/relationships/image" Target="../media/image440.png"/><Relationship Id="rId5" Type="http://schemas.openxmlformats.org/officeDocument/2006/relationships/image" Target="../media/image431.png"/><Relationship Id="rId15" Type="http://schemas.openxmlformats.org/officeDocument/2006/relationships/image" Target="../media/image480.png"/><Relationship Id="rId10" Type="http://schemas.openxmlformats.org/officeDocument/2006/relationships/image" Target="../media/image430.png"/><Relationship Id="rId4" Type="http://schemas.openxmlformats.org/officeDocument/2006/relationships/image" Target="../media/image70.png"/><Relationship Id="rId9" Type="http://schemas.openxmlformats.org/officeDocument/2006/relationships/image" Target="../media/image420.png"/><Relationship Id="rId14" Type="http://schemas.openxmlformats.org/officeDocument/2006/relationships/image" Target="../media/image470.png"/></Relationships>
</file>

<file path=ppt/slides/_rels/slide35.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image" Target="../media/image58.png"/><Relationship Id="rId3" Type="http://schemas.openxmlformats.org/officeDocument/2006/relationships/notesSlide" Target="../notesSlides/notesSlide35.xml"/><Relationship Id="rId7" Type="http://schemas.openxmlformats.org/officeDocument/2006/relationships/image" Target="../media/image520.png"/><Relationship Id="rId12" Type="http://schemas.openxmlformats.org/officeDocument/2006/relationships/image" Target="../media/image570.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510.png"/><Relationship Id="rId11" Type="http://schemas.openxmlformats.org/officeDocument/2006/relationships/image" Target="../media/image560.png"/><Relationship Id="rId5" Type="http://schemas.openxmlformats.org/officeDocument/2006/relationships/image" Target="../media/image500.png"/><Relationship Id="rId15" Type="http://schemas.openxmlformats.org/officeDocument/2006/relationships/image" Target="../media/image600.png"/><Relationship Id="rId10" Type="http://schemas.openxmlformats.org/officeDocument/2006/relationships/image" Target="../media/image550.png"/><Relationship Id="rId4" Type="http://schemas.openxmlformats.org/officeDocument/2006/relationships/image" Target="../media/image490.png"/><Relationship Id="rId9" Type="http://schemas.openxmlformats.org/officeDocument/2006/relationships/image" Target="../media/image540.png"/><Relationship Id="rId14" Type="http://schemas.openxmlformats.org/officeDocument/2006/relationships/image" Target="../media/image590.png"/></Relationships>
</file>

<file path=ppt/slides/_rels/slide36.xml.rels><?xml version="1.0" encoding="UTF-8" standalone="yes"?>
<Relationships xmlns="http://schemas.openxmlformats.org/package/2006/relationships"><Relationship Id="rId8" Type="http://schemas.openxmlformats.org/officeDocument/2006/relationships/image" Target="../media/image630.png"/><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image" Target="../media/image63.png"/><Relationship Id="rId5" Type="http://schemas.openxmlformats.org/officeDocument/2006/relationships/image" Target="../media/image620.png"/><Relationship Id="rId10" Type="http://schemas.openxmlformats.org/officeDocument/2006/relationships/image" Target="../media/image690.png"/><Relationship Id="rId4" Type="http://schemas.openxmlformats.org/officeDocument/2006/relationships/image" Target="../media/image71.png"/><Relationship Id="rId9" Type="http://schemas.openxmlformats.org/officeDocument/2006/relationships/image" Target="../media/image6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48A768A2-9AF2-4905-34CE-EF3C06C5FBDE}"/>
              </a:ext>
            </a:extLst>
          </p:cNvPr>
          <p:cNvSpPr txBox="1">
            <a:spLocks/>
          </p:cNvSpPr>
          <p:nvPr/>
        </p:nvSpPr>
        <p:spPr bwMode="auto">
          <a:xfrm>
            <a:off x="3162528" y="0"/>
            <a:ext cx="9029472" cy="84022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de-AT" sz="2800" kern="0" dirty="0">
              <a:solidFill>
                <a:schemeClr val="bg1"/>
              </a:solidFill>
              <a:latin typeface="Calibri Light" panose="020F0302020204030204" pitchFamily="34" charset="0"/>
              <a:cs typeface="Calibri Light" panose="020F0302020204030204" pitchFamily="34" charset="0"/>
            </a:endParaRPr>
          </a:p>
        </p:txBody>
      </p:sp>
      <p:sp>
        <p:nvSpPr>
          <p:cNvPr id="4" name="Titel 3">
            <a:extLst>
              <a:ext uri="{FF2B5EF4-FFF2-40B4-BE49-F238E27FC236}">
                <a16:creationId xmlns:a16="http://schemas.microsoft.com/office/drawing/2014/main" id="{7FC92962-78A1-41F8-8629-003DFB9D2A86}"/>
              </a:ext>
            </a:extLst>
          </p:cNvPr>
          <p:cNvSpPr>
            <a:spLocks noGrp="1"/>
          </p:cNvSpPr>
          <p:nvPr>
            <p:ph type="ctrTitle"/>
          </p:nvPr>
        </p:nvSpPr>
        <p:spPr>
          <a:xfrm>
            <a:off x="1968202" y="1737299"/>
            <a:ext cx="8232701" cy="1233251"/>
          </a:xfrm>
        </p:spPr>
        <p:txBody>
          <a:bodyPr>
            <a:noAutofit/>
          </a:bodyPr>
          <a:lstStyle/>
          <a:p>
            <a:pPr algn="ctr"/>
            <a:r>
              <a:rPr lang="en-US" sz="4400" dirty="0"/>
              <a:t>Harvesting Contextuality from the Vacuum</a:t>
            </a:r>
            <a:endParaRPr lang="de-AT" sz="4400" dirty="0"/>
          </a:p>
        </p:txBody>
      </p:sp>
      <p:sp>
        <p:nvSpPr>
          <p:cNvPr id="2" name="Textfeld 1">
            <a:extLst>
              <a:ext uri="{FF2B5EF4-FFF2-40B4-BE49-F238E27FC236}">
                <a16:creationId xmlns:a16="http://schemas.microsoft.com/office/drawing/2014/main" id="{12020C8E-D6C1-0DB1-CBA5-7EC3660E52C8}"/>
              </a:ext>
            </a:extLst>
          </p:cNvPr>
          <p:cNvSpPr txBox="1"/>
          <p:nvPr/>
        </p:nvSpPr>
        <p:spPr>
          <a:xfrm>
            <a:off x="6084553" y="-11447"/>
            <a:ext cx="184731" cy="584775"/>
          </a:xfrm>
          <a:prstGeom prst="rect">
            <a:avLst/>
          </a:prstGeom>
          <a:noFill/>
        </p:spPr>
        <p:txBody>
          <a:bodyPr wrap="none" rtlCol="0">
            <a:spAutoFit/>
          </a:bodyPr>
          <a:lstStyle/>
          <a:p>
            <a:endParaRPr lang="de-DE" sz="3200" dirty="0"/>
          </a:p>
        </p:txBody>
      </p:sp>
      <p:pic>
        <p:nvPicPr>
          <p:cNvPr id="3" name="Immagine 7">
            <a:extLst>
              <a:ext uri="{FF2B5EF4-FFF2-40B4-BE49-F238E27FC236}">
                <a16:creationId xmlns:a16="http://schemas.microsoft.com/office/drawing/2014/main" id="{A809EC6E-AA20-F3C3-5997-7FABF74C75D8}"/>
              </a:ext>
            </a:extLst>
          </p:cNvPr>
          <p:cNvPicPr>
            <a:picLocks noChangeAspect="1"/>
          </p:cNvPicPr>
          <p:nvPr/>
        </p:nvPicPr>
        <p:blipFill rotWithShape="1">
          <a:blip r:embed="rId3">
            <a:extLst>
              <a:ext uri="{28A0092B-C50C-407E-A947-70E740481C1C}">
                <a14:useLocalDpi xmlns:a14="http://schemas.microsoft.com/office/drawing/2010/main"/>
              </a:ext>
            </a:extLst>
          </a:blip>
          <a:srcRect t="4056"/>
          <a:stretch/>
        </p:blipFill>
        <p:spPr>
          <a:xfrm>
            <a:off x="0" y="0"/>
            <a:ext cx="3162528" cy="877310"/>
          </a:xfrm>
          <a:prstGeom prst="rect">
            <a:avLst/>
          </a:prstGeom>
        </p:spPr>
      </p:pic>
      <p:sp>
        <p:nvSpPr>
          <p:cNvPr id="8" name="Subtitle 2">
            <a:extLst>
              <a:ext uri="{FF2B5EF4-FFF2-40B4-BE49-F238E27FC236}">
                <a16:creationId xmlns:a16="http://schemas.microsoft.com/office/drawing/2014/main" id="{8E9D1A80-420D-81AB-B33D-F10A07A5B90F}"/>
              </a:ext>
            </a:extLst>
          </p:cNvPr>
          <p:cNvSpPr txBox="1">
            <a:spLocks/>
          </p:cNvSpPr>
          <p:nvPr/>
        </p:nvSpPr>
        <p:spPr>
          <a:xfrm>
            <a:off x="1524000" y="3429000"/>
            <a:ext cx="9144000" cy="101475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SzPct val="80000"/>
              <a:buFont typeface="Wingdings" panose="05000000000000000000" pitchFamily="2" charset="2"/>
              <a:buNone/>
              <a:defRPr sz="15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SzPct val="80000"/>
              <a:buFont typeface="Wingdings" panose="05000000000000000000" pitchFamily="2" charset="2"/>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SzPct val="80000"/>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SzPct val="80000"/>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SzPct val="80000"/>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400" dirty="0">
                <a:solidFill>
                  <a:schemeClr val="tx1"/>
                </a:solidFill>
              </a:rPr>
              <a:t>Philip A. </a:t>
            </a:r>
            <a:r>
              <a:rPr lang="en-US" sz="2400" dirty="0" err="1">
                <a:solidFill>
                  <a:schemeClr val="tx1"/>
                </a:solidFill>
              </a:rPr>
              <a:t>LeMaitre</a:t>
            </a:r>
            <a:endParaRPr lang="en-US" sz="2400" dirty="0">
              <a:solidFill>
                <a:schemeClr val="tx1"/>
              </a:solidFill>
            </a:endParaRPr>
          </a:p>
          <a:p>
            <a:pPr algn="ctr"/>
            <a:r>
              <a:rPr lang="en-US" sz="2400" dirty="0">
                <a:solidFill>
                  <a:schemeClr val="tx1"/>
                </a:solidFill>
              </a:rPr>
              <a:t>May 19, 2026</a:t>
            </a:r>
          </a:p>
        </p:txBody>
      </p:sp>
      <p:pic>
        <p:nvPicPr>
          <p:cNvPr id="5" name="Picture 4">
            <a:extLst>
              <a:ext uri="{FF2B5EF4-FFF2-40B4-BE49-F238E27FC236}">
                <a16:creationId xmlns:a16="http://schemas.microsoft.com/office/drawing/2014/main" id="{DCAA3EB6-5835-3FB8-1458-D6B61A75C48A}"/>
              </a:ext>
            </a:extLst>
          </p:cNvPr>
          <p:cNvPicPr>
            <a:picLocks noChangeAspect="1"/>
          </p:cNvPicPr>
          <p:nvPr/>
        </p:nvPicPr>
        <p:blipFill>
          <a:blip r:embed="rId4"/>
          <a:stretch>
            <a:fillRect/>
          </a:stretch>
        </p:blipFill>
        <p:spPr>
          <a:xfrm>
            <a:off x="3162528" y="5276096"/>
            <a:ext cx="1742839" cy="1307129"/>
          </a:xfrm>
          <a:prstGeom prst="rect">
            <a:avLst/>
          </a:prstGeom>
        </p:spPr>
      </p:pic>
      <p:pic>
        <p:nvPicPr>
          <p:cNvPr id="6" name="Picture 2">
            <a:extLst>
              <a:ext uri="{FF2B5EF4-FFF2-40B4-BE49-F238E27FC236}">
                <a16:creationId xmlns:a16="http://schemas.microsoft.com/office/drawing/2014/main" id="{116251D0-EE4D-38E4-A36F-772137F79AD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951464" y="5457479"/>
            <a:ext cx="2449178" cy="828849"/>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59" descr="Immagine che contiene screenshot&#10;&#10;Descrizione generata automaticamente">
            <a:extLst>
              <a:ext uri="{FF2B5EF4-FFF2-40B4-BE49-F238E27FC236}">
                <a16:creationId xmlns:a16="http://schemas.microsoft.com/office/drawing/2014/main" id="{22A443E8-F163-F98C-C097-26E5072C0867}"/>
              </a:ext>
            </a:extLst>
          </p:cNvPr>
          <p:cNvPicPr>
            <a:picLocks noChangeAspect="1"/>
          </p:cNvPicPr>
          <p:nvPr/>
        </p:nvPicPr>
        <p:blipFill rotWithShape="1">
          <a:blip r:embed="rId6">
            <a:extLst>
              <a:ext uri="{28A0092B-C50C-407E-A947-70E740481C1C}">
                <a14:useLocalDpi xmlns:a14="http://schemas.microsoft.com/office/drawing/2010/main"/>
              </a:ext>
            </a:extLst>
          </a:blip>
          <a:srcRect l="2427" t="13899" r="2389" b="23338"/>
          <a:stretch/>
        </p:blipFill>
        <p:spPr>
          <a:xfrm>
            <a:off x="4986228" y="5515235"/>
            <a:ext cx="1884375" cy="828849"/>
          </a:xfrm>
          <a:prstGeom prst="rect">
            <a:avLst/>
          </a:prstGeom>
        </p:spPr>
      </p:pic>
      <p:sp>
        <p:nvSpPr>
          <p:cNvPr id="17" name="TextBox 16">
            <a:extLst>
              <a:ext uri="{FF2B5EF4-FFF2-40B4-BE49-F238E27FC236}">
                <a16:creationId xmlns:a16="http://schemas.microsoft.com/office/drawing/2014/main" id="{12856B93-6D75-3573-EE40-320E889072E6}"/>
              </a:ext>
            </a:extLst>
          </p:cNvPr>
          <p:cNvSpPr txBox="1"/>
          <p:nvPr/>
        </p:nvSpPr>
        <p:spPr>
          <a:xfrm>
            <a:off x="900801" y="4791226"/>
            <a:ext cx="2180866" cy="646331"/>
          </a:xfrm>
          <a:prstGeom prst="rect">
            <a:avLst/>
          </a:prstGeom>
          <a:noFill/>
        </p:spPr>
        <p:txBody>
          <a:bodyPr wrap="square" rtlCol="0">
            <a:spAutoFit/>
          </a:bodyPr>
          <a:lstStyle/>
          <a:p>
            <a:r>
              <a:rPr lang="en-CA" i="1" dirty="0"/>
              <a:t>Phys. Rev. D. </a:t>
            </a:r>
            <a:r>
              <a:rPr lang="en-US" b="1" i="1" dirty="0"/>
              <a:t>113</a:t>
            </a:r>
            <a:r>
              <a:rPr lang="en-US" i="1" dirty="0"/>
              <a:t>, 045001 </a:t>
            </a:r>
            <a:r>
              <a:rPr lang="en-CA" dirty="0"/>
              <a:t>(2026)</a:t>
            </a:r>
          </a:p>
        </p:txBody>
      </p:sp>
      <p:pic>
        <p:nvPicPr>
          <p:cNvPr id="18" name="Picture 17">
            <a:extLst>
              <a:ext uri="{FF2B5EF4-FFF2-40B4-BE49-F238E27FC236}">
                <a16:creationId xmlns:a16="http://schemas.microsoft.com/office/drawing/2014/main" id="{2FA88726-2D49-92B1-F937-1C4AFC37337C}"/>
              </a:ext>
            </a:extLst>
          </p:cNvPr>
          <p:cNvPicPr>
            <a:picLocks noChangeAspect="1"/>
          </p:cNvPicPr>
          <p:nvPr/>
        </p:nvPicPr>
        <p:blipFill>
          <a:blip r:embed="rId7"/>
          <a:stretch>
            <a:fillRect/>
          </a:stretch>
        </p:blipFill>
        <p:spPr>
          <a:xfrm>
            <a:off x="730255" y="2784308"/>
            <a:ext cx="2092462" cy="2092462"/>
          </a:xfrm>
          <a:prstGeom prst="rect">
            <a:avLst/>
          </a:prstGeom>
        </p:spPr>
      </p:pic>
    </p:spTree>
    <p:extLst>
      <p:ext uri="{BB962C8B-B14F-4D97-AF65-F5344CB8AC3E}">
        <p14:creationId xmlns:p14="http://schemas.microsoft.com/office/powerpoint/2010/main" val="2451991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6E939-94E3-C093-145B-BCB949B359A0}"/>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3BB820FA-11CC-3613-1DEA-5066A8714FD4}"/>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1C22CA0-95AC-A7E4-9411-27F6ABC5C731}"/>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My Journey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2CDB2449-4117-7CBD-E6AC-3560E5B86858}"/>
              </a:ext>
            </a:extLst>
          </p:cNvPr>
          <p:cNvSpPr>
            <a:spLocks noGrp="1"/>
          </p:cNvSpPr>
          <p:nvPr>
            <p:ph type="sldNum" sz="quarter" idx="12"/>
          </p:nvPr>
        </p:nvSpPr>
        <p:spPr/>
        <p:txBody>
          <a:bodyPr/>
          <a:lstStyle/>
          <a:p>
            <a:fld id="{D0617D14-1B55-43C0-819D-0D244AC23646}" type="slidenum">
              <a:rPr lang="de-AT" smtClean="0"/>
              <a:t>2</a:t>
            </a:fld>
            <a:endParaRPr lang="de-AT"/>
          </a:p>
        </p:txBody>
      </p:sp>
      <p:pic>
        <p:nvPicPr>
          <p:cNvPr id="11" name="Picture 10">
            <a:extLst>
              <a:ext uri="{FF2B5EF4-FFF2-40B4-BE49-F238E27FC236}">
                <a16:creationId xmlns:a16="http://schemas.microsoft.com/office/drawing/2014/main" id="{262DFCA8-F6AA-7F3D-B097-0ED010BBDFAB}"/>
              </a:ext>
            </a:extLst>
          </p:cNvPr>
          <p:cNvPicPr>
            <a:picLocks noChangeAspect="1"/>
          </p:cNvPicPr>
          <p:nvPr/>
        </p:nvPicPr>
        <p:blipFill>
          <a:blip r:embed="rId4"/>
          <a:stretch>
            <a:fillRect/>
          </a:stretch>
        </p:blipFill>
        <p:spPr>
          <a:xfrm>
            <a:off x="7898924" y="3282605"/>
            <a:ext cx="4071486" cy="2703453"/>
          </a:xfrm>
          <a:prstGeom prst="rect">
            <a:avLst/>
          </a:prstGeom>
        </p:spPr>
      </p:pic>
      <p:pic>
        <p:nvPicPr>
          <p:cNvPr id="5" name="Graphic 4" descr="Airplane with solid fill">
            <a:extLst>
              <a:ext uri="{FF2B5EF4-FFF2-40B4-BE49-F238E27FC236}">
                <a16:creationId xmlns:a16="http://schemas.microsoft.com/office/drawing/2014/main" id="{090E8837-E508-956C-8D30-6C0394C2AB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3978173">
            <a:off x="4179235" y="1519954"/>
            <a:ext cx="914400" cy="914400"/>
          </a:xfrm>
          <a:prstGeom prst="rect">
            <a:avLst/>
          </a:prstGeom>
        </p:spPr>
      </p:pic>
      <p:pic>
        <p:nvPicPr>
          <p:cNvPr id="1026" name="Picture 2" descr="University of Guelph | Transition Resource Guide for Students with  Disabilities">
            <a:extLst>
              <a:ext uri="{FF2B5EF4-FFF2-40B4-BE49-F238E27FC236}">
                <a16:creationId xmlns:a16="http://schemas.microsoft.com/office/drawing/2014/main" id="{4211BF5A-DA51-CE34-890D-64D4959BB0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082" y="1093113"/>
            <a:ext cx="3274502" cy="18547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National Flag of Canada">
            <a:extLst>
              <a:ext uri="{FF2B5EF4-FFF2-40B4-BE49-F238E27FC236}">
                <a16:creationId xmlns:a16="http://schemas.microsoft.com/office/drawing/2014/main" id="{89399D3E-4C05-BECF-E67B-43B5C127E1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0610" y="3623091"/>
            <a:ext cx="1604579" cy="10697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Waterloo | Transition Resource Guide for Students with  Disabilities">
            <a:extLst>
              <a:ext uri="{FF2B5EF4-FFF2-40B4-BE49-F238E27FC236}">
                <a16:creationId xmlns:a16="http://schemas.microsoft.com/office/drawing/2014/main" id="{FFC5CFE5-3A2D-0943-9403-D3240FD41F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082" y="4126733"/>
            <a:ext cx="3392654" cy="175482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4 Reasons To Study In Innsbruck - #myinnsbruck">
            <a:extLst>
              <a:ext uri="{FF2B5EF4-FFF2-40B4-BE49-F238E27FC236}">
                <a16:creationId xmlns:a16="http://schemas.microsoft.com/office/drawing/2014/main" id="{EA6A638C-DF7D-4138-7E10-B47492D8BE8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97416" y="928699"/>
            <a:ext cx="3274502" cy="218300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ustria Flag - Hampshire Flag Company">
            <a:extLst>
              <a:ext uri="{FF2B5EF4-FFF2-40B4-BE49-F238E27FC236}">
                <a16:creationId xmlns:a16="http://schemas.microsoft.com/office/drawing/2014/main" id="{D377E884-C6C1-9D82-582A-844C5B66178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20923" y="1949048"/>
            <a:ext cx="1604579" cy="10698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D18B5A-08AD-51B1-8CA4-7007E61CFCC0}"/>
              </a:ext>
            </a:extLst>
          </p:cNvPr>
          <p:cNvSpPr txBox="1"/>
          <p:nvPr/>
        </p:nvSpPr>
        <p:spPr>
          <a:xfrm>
            <a:off x="5481557" y="1403153"/>
            <a:ext cx="2837601" cy="400110"/>
          </a:xfrm>
          <a:prstGeom prst="rect">
            <a:avLst/>
          </a:prstGeom>
          <a:noFill/>
        </p:spPr>
        <p:txBody>
          <a:bodyPr wrap="square" rtlCol="0">
            <a:spAutoFit/>
          </a:bodyPr>
          <a:lstStyle/>
          <a:p>
            <a:r>
              <a:rPr lang="en-CA" sz="2000" dirty="0"/>
              <a:t>Theoretical Physics Ph.D.</a:t>
            </a:r>
          </a:p>
        </p:txBody>
      </p:sp>
      <p:sp>
        <p:nvSpPr>
          <p:cNvPr id="8" name="TextBox 7">
            <a:extLst>
              <a:ext uri="{FF2B5EF4-FFF2-40B4-BE49-F238E27FC236}">
                <a16:creationId xmlns:a16="http://schemas.microsoft.com/office/drawing/2014/main" id="{46976111-E6DB-787D-20CC-D35F7D8B6CF8}"/>
              </a:ext>
            </a:extLst>
          </p:cNvPr>
          <p:cNvSpPr txBox="1"/>
          <p:nvPr/>
        </p:nvSpPr>
        <p:spPr>
          <a:xfrm>
            <a:off x="5750122" y="1032861"/>
            <a:ext cx="2719449" cy="400110"/>
          </a:xfrm>
          <a:prstGeom prst="rect">
            <a:avLst/>
          </a:prstGeom>
          <a:noFill/>
        </p:spPr>
        <p:txBody>
          <a:bodyPr wrap="square" rtlCol="0">
            <a:spAutoFit/>
          </a:bodyPr>
          <a:lstStyle/>
          <a:p>
            <a:r>
              <a:rPr lang="en-CA" sz="2000" dirty="0"/>
              <a:t>Hans Briegel Group</a:t>
            </a:r>
          </a:p>
        </p:txBody>
      </p:sp>
      <p:sp>
        <p:nvSpPr>
          <p:cNvPr id="9" name="TextBox 8">
            <a:extLst>
              <a:ext uri="{FF2B5EF4-FFF2-40B4-BE49-F238E27FC236}">
                <a16:creationId xmlns:a16="http://schemas.microsoft.com/office/drawing/2014/main" id="{7E8D781D-3AAC-9A99-8305-1DCBDF49A663}"/>
              </a:ext>
            </a:extLst>
          </p:cNvPr>
          <p:cNvSpPr txBox="1"/>
          <p:nvPr/>
        </p:nvSpPr>
        <p:spPr>
          <a:xfrm>
            <a:off x="3879110" y="5291037"/>
            <a:ext cx="2854199" cy="400110"/>
          </a:xfrm>
          <a:prstGeom prst="rect">
            <a:avLst/>
          </a:prstGeom>
          <a:noFill/>
        </p:spPr>
        <p:txBody>
          <a:bodyPr wrap="square" rtlCol="0">
            <a:spAutoFit/>
          </a:bodyPr>
          <a:lstStyle/>
          <a:p>
            <a:r>
              <a:rPr lang="en-CA" sz="2000" dirty="0"/>
              <a:t>Theoretical Physics M. Sc.</a:t>
            </a:r>
          </a:p>
        </p:txBody>
      </p:sp>
      <p:sp>
        <p:nvSpPr>
          <p:cNvPr id="10" name="TextBox 9">
            <a:extLst>
              <a:ext uri="{FF2B5EF4-FFF2-40B4-BE49-F238E27FC236}">
                <a16:creationId xmlns:a16="http://schemas.microsoft.com/office/drawing/2014/main" id="{03A545F2-C7BA-47D5-9CF1-16DD7A660FF2}"/>
              </a:ext>
            </a:extLst>
          </p:cNvPr>
          <p:cNvSpPr txBox="1"/>
          <p:nvPr/>
        </p:nvSpPr>
        <p:spPr>
          <a:xfrm>
            <a:off x="663684" y="3000596"/>
            <a:ext cx="2937900" cy="400110"/>
          </a:xfrm>
          <a:prstGeom prst="rect">
            <a:avLst/>
          </a:prstGeom>
          <a:noFill/>
        </p:spPr>
        <p:txBody>
          <a:bodyPr wrap="square" rtlCol="0">
            <a:spAutoFit/>
          </a:bodyPr>
          <a:lstStyle/>
          <a:p>
            <a:r>
              <a:rPr lang="en-CA" sz="2000" dirty="0"/>
              <a:t>Theoretical Physics B. Sc.</a:t>
            </a:r>
          </a:p>
        </p:txBody>
      </p:sp>
      <p:sp>
        <p:nvSpPr>
          <p:cNvPr id="12" name="TextBox 11">
            <a:extLst>
              <a:ext uri="{FF2B5EF4-FFF2-40B4-BE49-F238E27FC236}">
                <a16:creationId xmlns:a16="http://schemas.microsoft.com/office/drawing/2014/main" id="{2B40B2E0-205C-A82E-85FD-9E3E85BA9FDF}"/>
              </a:ext>
            </a:extLst>
          </p:cNvPr>
          <p:cNvSpPr txBox="1"/>
          <p:nvPr/>
        </p:nvSpPr>
        <p:spPr>
          <a:xfrm>
            <a:off x="3879110" y="4982941"/>
            <a:ext cx="2854199" cy="400110"/>
          </a:xfrm>
          <a:prstGeom prst="rect">
            <a:avLst/>
          </a:prstGeom>
          <a:noFill/>
        </p:spPr>
        <p:txBody>
          <a:bodyPr wrap="square" rtlCol="0">
            <a:spAutoFit/>
          </a:bodyPr>
          <a:lstStyle/>
          <a:p>
            <a:r>
              <a:rPr lang="en-CA" sz="2000" dirty="0"/>
              <a:t>Russell Thompson Group</a:t>
            </a:r>
          </a:p>
        </p:txBody>
      </p:sp>
      <p:sp>
        <p:nvSpPr>
          <p:cNvPr id="13" name="TextBox 12">
            <a:extLst>
              <a:ext uri="{FF2B5EF4-FFF2-40B4-BE49-F238E27FC236}">
                <a16:creationId xmlns:a16="http://schemas.microsoft.com/office/drawing/2014/main" id="{6D10D073-79FA-B998-C73B-99E13A09F765}"/>
              </a:ext>
            </a:extLst>
          </p:cNvPr>
          <p:cNvSpPr txBox="1"/>
          <p:nvPr/>
        </p:nvSpPr>
        <p:spPr>
          <a:xfrm>
            <a:off x="645664" y="3282605"/>
            <a:ext cx="2955920" cy="400110"/>
          </a:xfrm>
          <a:prstGeom prst="rect">
            <a:avLst/>
          </a:prstGeom>
          <a:noFill/>
        </p:spPr>
        <p:txBody>
          <a:bodyPr wrap="square" rtlCol="0">
            <a:spAutoFit/>
          </a:bodyPr>
          <a:lstStyle/>
          <a:p>
            <a:r>
              <a:rPr lang="en-CA" sz="2000" dirty="0"/>
              <a:t>Supervised by Eric Poisson</a:t>
            </a:r>
          </a:p>
        </p:txBody>
      </p:sp>
      <p:sp>
        <p:nvSpPr>
          <p:cNvPr id="15" name="Arc 14">
            <a:extLst>
              <a:ext uri="{FF2B5EF4-FFF2-40B4-BE49-F238E27FC236}">
                <a16:creationId xmlns:a16="http://schemas.microsoft.com/office/drawing/2014/main" id="{9D6E5F80-E12E-6579-4A53-E5460683993E}"/>
              </a:ext>
            </a:extLst>
          </p:cNvPr>
          <p:cNvSpPr/>
          <p:nvPr/>
        </p:nvSpPr>
        <p:spPr>
          <a:xfrm rot="2517079">
            <a:off x="1582066" y="3601631"/>
            <a:ext cx="517218" cy="575411"/>
          </a:xfrm>
          <a:prstGeom prst="arc">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6" name="Arc 15">
            <a:extLst>
              <a:ext uri="{FF2B5EF4-FFF2-40B4-BE49-F238E27FC236}">
                <a16:creationId xmlns:a16="http://schemas.microsoft.com/office/drawing/2014/main" id="{E7EB8BF8-201D-4510-F3E1-B85AEF553E38}"/>
              </a:ext>
            </a:extLst>
          </p:cNvPr>
          <p:cNvSpPr/>
          <p:nvPr/>
        </p:nvSpPr>
        <p:spPr>
          <a:xfrm rot="15875258">
            <a:off x="5280266" y="1144763"/>
            <a:ext cx="2076118" cy="4133507"/>
          </a:xfrm>
          <a:prstGeom prst="arc">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2558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3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2" grpId="0"/>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00225-99C7-E203-4001-6DEBB872A03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9D0D2D19-6882-F540-07E4-4262D8EC3A00}"/>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E3B73CBB-56E3-7A9E-C547-88453938856A}"/>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Introduction and Motivation</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F4C54DD4-0FB2-DEB5-E3F3-06CFEB530F67}"/>
              </a:ext>
            </a:extLst>
          </p:cNvPr>
          <p:cNvSpPr>
            <a:spLocks noGrp="1"/>
          </p:cNvSpPr>
          <p:nvPr>
            <p:ph type="sldNum" sz="quarter" idx="12"/>
          </p:nvPr>
        </p:nvSpPr>
        <p:spPr/>
        <p:txBody>
          <a:bodyPr/>
          <a:lstStyle/>
          <a:p>
            <a:fld id="{D0617D14-1B55-43C0-819D-0D244AC23646}" type="slidenum">
              <a:rPr lang="de-AT" smtClean="0"/>
              <a:t>3</a:t>
            </a:fld>
            <a:endParaRPr lang="de-AT"/>
          </a:p>
        </p:txBody>
      </p:sp>
      <p:sp>
        <p:nvSpPr>
          <p:cNvPr id="4" name="TextBox 3">
            <a:extLst>
              <a:ext uri="{FF2B5EF4-FFF2-40B4-BE49-F238E27FC236}">
                <a16:creationId xmlns:a16="http://schemas.microsoft.com/office/drawing/2014/main" id="{F7D9947D-A5DB-46CE-C7C3-5E2A724B5282}"/>
              </a:ext>
            </a:extLst>
          </p:cNvPr>
          <p:cNvSpPr txBox="1"/>
          <p:nvPr/>
        </p:nvSpPr>
        <p:spPr>
          <a:xfrm>
            <a:off x="459509" y="4063760"/>
            <a:ext cx="11272981" cy="800000"/>
          </a:xfrm>
          <a:prstGeom prst="rect">
            <a:avLst/>
          </a:prstGeom>
          <a:noFill/>
        </p:spPr>
        <p:txBody>
          <a:bodyPr wrap="square">
            <a:noAutofit/>
          </a:bodyPr>
          <a:lstStyle/>
          <a:p>
            <a:pPr algn="ctr"/>
            <a:r>
              <a:rPr sz="2800" b="1" u="sng" dirty="0">
                <a:solidFill>
                  <a:srgbClr val="000000"/>
                </a:solidFill>
              </a:rPr>
              <a:t>Key question</a:t>
            </a:r>
            <a:r>
              <a:rPr sz="2800" b="1" dirty="0">
                <a:solidFill>
                  <a:srgbClr val="000000"/>
                </a:solidFill>
              </a:rPr>
              <a:t>: </a:t>
            </a:r>
            <a:r>
              <a:rPr sz="2600" b="1" dirty="0">
                <a:solidFill>
                  <a:srgbClr val="000000"/>
                </a:solidFill>
              </a:rPr>
              <a:t>can an initially non</a:t>
            </a:r>
            <a:r>
              <a:rPr lang="en-US" sz="2600" b="1" dirty="0">
                <a:solidFill>
                  <a:srgbClr val="000000"/>
                </a:solidFill>
              </a:rPr>
              <a:t>-</a:t>
            </a:r>
            <a:r>
              <a:rPr sz="2600" b="1" dirty="0">
                <a:solidFill>
                  <a:srgbClr val="000000"/>
                </a:solidFill>
              </a:rPr>
              <a:t>contextual </a:t>
            </a:r>
            <a:r>
              <a:rPr lang="en-US" sz="2600" b="1" dirty="0">
                <a:solidFill>
                  <a:srgbClr val="000000"/>
                </a:solidFill>
              </a:rPr>
              <a:t>Unruh-DeWitt (UDW) system</a:t>
            </a:r>
            <a:r>
              <a:rPr sz="2600" b="1" dirty="0">
                <a:solidFill>
                  <a:srgbClr val="000000"/>
                </a:solidFill>
              </a:rPr>
              <a:t> state become contextual after a local interaction with the vacuum?</a:t>
            </a:r>
          </a:p>
        </p:txBody>
      </p:sp>
      <p:sp>
        <p:nvSpPr>
          <p:cNvPr id="8" name="TextBox 7">
            <a:extLst>
              <a:ext uri="{FF2B5EF4-FFF2-40B4-BE49-F238E27FC236}">
                <a16:creationId xmlns:a16="http://schemas.microsoft.com/office/drawing/2014/main" id="{A615DFDE-B85C-0445-5DFC-AFAB30D98925}"/>
              </a:ext>
            </a:extLst>
          </p:cNvPr>
          <p:cNvSpPr txBox="1"/>
          <p:nvPr/>
        </p:nvSpPr>
        <p:spPr>
          <a:xfrm>
            <a:off x="810312" y="1394601"/>
            <a:ext cx="11018273" cy="592942"/>
          </a:xfrm>
          <a:prstGeom prst="rect">
            <a:avLst/>
          </a:prstGeom>
          <a:noFill/>
        </p:spPr>
        <p:txBody>
          <a:bodyPr wrap="square">
            <a:noAutofit/>
          </a:bodyPr>
          <a:lstStyle/>
          <a:p>
            <a:pPr algn="ctr"/>
            <a:r>
              <a:rPr lang="en-US" sz="2800" b="1" u="sng" dirty="0">
                <a:solidFill>
                  <a:srgbClr val="000000"/>
                </a:solidFill>
              </a:rPr>
              <a:t>Motivating</a:t>
            </a:r>
            <a:r>
              <a:rPr sz="2800" b="1" u="sng" dirty="0">
                <a:solidFill>
                  <a:srgbClr val="000000"/>
                </a:solidFill>
              </a:rPr>
              <a:t> question</a:t>
            </a:r>
            <a:r>
              <a:rPr sz="2600" b="1" dirty="0">
                <a:solidFill>
                  <a:srgbClr val="000000"/>
                </a:solidFill>
              </a:rPr>
              <a:t>: </a:t>
            </a:r>
            <a:r>
              <a:rPr lang="en-US" sz="2600" b="1" dirty="0">
                <a:solidFill>
                  <a:srgbClr val="000000"/>
                </a:solidFill>
              </a:rPr>
              <a:t>are there other resources besides entanglement we can extract from quantum fields?</a:t>
            </a:r>
            <a:endParaRPr sz="2600" b="1" dirty="0">
              <a:solidFill>
                <a:srgbClr val="000000"/>
              </a:solidFill>
            </a:endParaRPr>
          </a:p>
        </p:txBody>
      </p:sp>
      <p:sp>
        <p:nvSpPr>
          <p:cNvPr id="10" name="TextBox 9">
            <a:extLst>
              <a:ext uri="{FF2B5EF4-FFF2-40B4-BE49-F238E27FC236}">
                <a16:creationId xmlns:a16="http://schemas.microsoft.com/office/drawing/2014/main" id="{ACE60E41-D21D-DD11-EA82-73A950FBE97C}"/>
              </a:ext>
            </a:extLst>
          </p:cNvPr>
          <p:cNvSpPr txBox="1"/>
          <p:nvPr/>
        </p:nvSpPr>
        <p:spPr>
          <a:xfrm>
            <a:off x="4874902" y="2836058"/>
            <a:ext cx="3624329" cy="592942"/>
          </a:xfrm>
          <a:prstGeom prst="rect">
            <a:avLst/>
          </a:prstGeom>
          <a:noFill/>
        </p:spPr>
        <p:txBody>
          <a:bodyPr wrap="square">
            <a:noAutofit/>
          </a:bodyPr>
          <a:lstStyle/>
          <a:p>
            <a:pPr algn="ctr"/>
            <a:r>
              <a:rPr lang="en-US" sz="2600" b="1" dirty="0">
                <a:solidFill>
                  <a:srgbClr val="000000"/>
                </a:solidFill>
              </a:rPr>
              <a:t>Yes, (measurement) contextuality!</a:t>
            </a:r>
            <a:endParaRPr sz="2600" b="1" dirty="0">
              <a:solidFill>
                <a:srgbClr val="000000"/>
              </a:solidFill>
            </a:endParaRPr>
          </a:p>
        </p:txBody>
      </p:sp>
      <p:sp>
        <p:nvSpPr>
          <p:cNvPr id="11" name="Right Arrow 10">
            <a:extLst>
              <a:ext uri="{FF2B5EF4-FFF2-40B4-BE49-F238E27FC236}">
                <a16:creationId xmlns:a16="http://schemas.microsoft.com/office/drawing/2014/main" id="{C3CE757A-3C93-4AA1-FA9B-6C60D6D1AA37}"/>
              </a:ext>
            </a:extLst>
          </p:cNvPr>
          <p:cNvSpPr/>
          <p:nvPr/>
        </p:nvSpPr>
        <p:spPr>
          <a:xfrm>
            <a:off x="4027042" y="2933948"/>
            <a:ext cx="751569" cy="39156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600"/>
          </a:p>
        </p:txBody>
      </p:sp>
    </p:spTree>
    <p:custDataLst>
      <p:tags r:id="rId1"/>
    </p:custDataLst>
    <p:extLst>
      <p:ext uri="{BB962C8B-B14F-4D97-AF65-F5344CB8AC3E}">
        <p14:creationId xmlns:p14="http://schemas.microsoft.com/office/powerpoint/2010/main" val="425434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A0C09-EDEE-E77B-EED4-06B1F0242FD1}"/>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216352A5-BCD0-FD76-839C-733A510751FF}"/>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35778216-3D9C-4866-9226-24C5B90DDDCC}"/>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Outline</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0DAC418F-054B-5B96-1541-944C533329BE}"/>
              </a:ext>
            </a:extLst>
          </p:cNvPr>
          <p:cNvSpPr>
            <a:spLocks noGrp="1"/>
          </p:cNvSpPr>
          <p:nvPr>
            <p:ph type="sldNum" sz="quarter" idx="12"/>
          </p:nvPr>
        </p:nvSpPr>
        <p:spPr/>
        <p:txBody>
          <a:bodyPr/>
          <a:lstStyle/>
          <a:p>
            <a:fld id="{D0617D14-1B55-43C0-819D-0D244AC23646}" type="slidenum">
              <a:rPr lang="de-AT" smtClean="0"/>
              <a:t>4</a:t>
            </a:fld>
            <a:endParaRPr lang="de-AT"/>
          </a:p>
        </p:txBody>
      </p:sp>
      <p:sp>
        <p:nvSpPr>
          <p:cNvPr id="5" name="TextBox 4">
            <a:extLst>
              <a:ext uri="{FF2B5EF4-FFF2-40B4-BE49-F238E27FC236}">
                <a16:creationId xmlns:a16="http://schemas.microsoft.com/office/drawing/2014/main" id="{6AFF3BBA-33BA-1D11-2DAC-91948EE81C11}"/>
              </a:ext>
            </a:extLst>
          </p:cNvPr>
          <p:cNvSpPr txBox="1"/>
          <p:nvPr/>
        </p:nvSpPr>
        <p:spPr>
          <a:xfrm>
            <a:off x="554182" y="1385455"/>
            <a:ext cx="8035636" cy="3170099"/>
          </a:xfrm>
          <a:prstGeom prst="rect">
            <a:avLst/>
          </a:prstGeom>
          <a:noFill/>
        </p:spPr>
        <p:txBody>
          <a:bodyPr wrap="square" rtlCol="0">
            <a:spAutoFit/>
          </a:bodyPr>
          <a:lstStyle/>
          <a:p>
            <a:pPr marL="514350" indent="-514350">
              <a:spcAft>
                <a:spcPts val="1200"/>
              </a:spcAft>
              <a:buFont typeface="+mj-lt"/>
              <a:buAutoNum type="arabicParenR"/>
            </a:pPr>
            <a:r>
              <a:rPr lang="en-CA" sz="3200" dirty="0"/>
              <a:t>Contextuality</a:t>
            </a:r>
          </a:p>
          <a:p>
            <a:pPr marL="514350" indent="-514350">
              <a:spcAft>
                <a:spcPts val="1200"/>
              </a:spcAft>
              <a:buFont typeface="+mj-lt"/>
              <a:buAutoNum type="arabicParenR"/>
            </a:pPr>
            <a:r>
              <a:rPr lang="en-CA" sz="3200" dirty="0"/>
              <a:t>Unruh-DeWitt </a:t>
            </a:r>
            <a:r>
              <a:rPr lang="en-CA" sz="3200" dirty="0" err="1"/>
              <a:t>Qudits</a:t>
            </a:r>
            <a:endParaRPr lang="en-CA" sz="3200" dirty="0"/>
          </a:p>
          <a:p>
            <a:pPr marL="514350" indent="-514350">
              <a:spcAft>
                <a:spcPts val="1200"/>
              </a:spcAft>
              <a:buFont typeface="+mj-lt"/>
              <a:buAutoNum type="arabicParenR"/>
            </a:pPr>
            <a:r>
              <a:rPr lang="en-CA" sz="3200" dirty="0"/>
              <a:t>Contextuality Harvesting</a:t>
            </a:r>
          </a:p>
          <a:p>
            <a:pPr marL="514350" indent="-514350">
              <a:spcAft>
                <a:spcPts val="1200"/>
              </a:spcAft>
              <a:buFont typeface="+mj-lt"/>
              <a:buAutoNum type="arabicParenR"/>
            </a:pPr>
            <a:r>
              <a:rPr lang="en-CA" sz="3200" dirty="0"/>
              <a:t>Qutrit and Qubit-Qutrit Harvesting</a:t>
            </a:r>
          </a:p>
          <a:p>
            <a:pPr marL="514350" indent="-514350">
              <a:spcAft>
                <a:spcPts val="1200"/>
              </a:spcAft>
              <a:buFont typeface="+mj-lt"/>
              <a:buAutoNum type="arabicParenR"/>
            </a:pPr>
            <a:r>
              <a:rPr lang="en-CA" sz="3200" dirty="0"/>
              <a:t>Summary and Outlook</a:t>
            </a:r>
          </a:p>
        </p:txBody>
      </p:sp>
    </p:spTree>
    <p:custDataLst>
      <p:tags r:id="rId1"/>
    </p:custDataLst>
    <p:extLst>
      <p:ext uri="{BB962C8B-B14F-4D97-AF65-F5344CB8AC3E}">
        <p14:creationId xmlns:p14="http://schemas.microsoft.com/office/powerpoint/2010/main" val="265240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69F7A-41AB-736D-0B2D-BF56271D1039}"/>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55A49E97-2BCA-29C0-FA49-FB231148FDDF}"/>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E6FE312C-EDCD-2F04-B7F3-56637FA0808D}"/>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9FFFDD5-1F22-3AD1-A829-112BEBFCD4FA}"/>
              </a:ext>
            </a:extLst>
          </p:cNvPr>
          <p:cNvSpPr>
            <a:spLocks noGrp="1"/>
          </p:cNvSpPr>
          <p:nvPr>
            <p:ph type="sldNum" sz="quarter" idx="12"/>
          </p:nvPr>
        </p:nvSpPr>
        <p:spPr/>
        <p:txBody>
          <a:bodyPr/>
          <a:lstStyle/>
          <a:p>
            <a:fld id="{D0617D14-1B55-43C0-819D-0D244AC23646}" type="slidenum">
              <a:rPr lang="de-AT" smtClean="0"/>
              <a:t>5</a:t>
            </a:fld>
            <a:endParaRPr lang="de-AT"/>
          </a:p>
        </p:txBody>
      </p:sp>
      <p:sp>
        <p:nvSpPr>
          <p:cNvPr id="5" name="TextBox 4">
            <a:extLst>
              <a:ext uri="{FF2B5EF4-FFF2-40B4-BE49-F238E27FC236}">
                <a16:creationId xmlns:a16="http://schemas.microsoft.com/office/drawing/2014/main" id="{418B60CF-9236-BBF7-701D-9392A3DA2B27}"/>
              </a:ext>
            </a:extLst>
          </p:cNvPr>
          <p:cNvSpPr txBox="1"/>
          <p:nvPr/>
        </p:nvSpPr>
        <p:spPr>
          <a:xfrm>
            <a:off x="3911074" y="3013501"/>
            <a:ext cx="4195004" cy="830997"/>
          </a:xfrm>
          <a:prstGeom prst="rect">
            <a:avLst/>
          </a:prstGeom>
          <a:noFill/>
        </p:spPr>
        <p:txBody>
          <a:bodyPr wrap="square" rtlCol="0">
            <a:spAutoFit/>
          </a:bodyPr>
          <a:lstStyle/>
          <a:p>
            <a:pPr>
              <a:spcAft>
                <a:spcPts val="1200"/>
              </a:spcAft>
            </a:pPr>
            <a:r>
              <a:rPr lang="en-CA" sz="4800" dirty="0"/>
              <a:t>I. Contextuality</a:t>
            </a:r>
          </a:p>
        </p:txBody>
      </p:sp>
    </p:spTree>
    <p:custDataLst>
      <p:tags r:id="rId1"/>
    </p:custDataLst>
    <p:extLst>
      <p:ext uri="{BB962C8B-B14F-4D97-AF65-F5344CB8AC3E}">
        <p14:creationId xmlns:p14="http://schemas.microsoft.com/office/powerpoint/2010/main" val="513091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01BF6-44C0-2959-18A0-4D76C1046350}"/>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4518BAF-5050-597C-0EF9-3EC81517F7F3}"/>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BB69A0AA-4E3C-849E-86E0-E5EE48B2E863}"/>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a:solidFill>
                  <a:schemeClr val="bg1"/>
                </a:solidFill>
                <a:latin typeface="Calibri Light" panose="020F0302020204030204" pitchFamily="34" charset="0"/>
                <a:cs typeface="Calibri Light" panose="020F0302020204030204" pitchFamily="34" charset="0"/>
              </a:rPr>
              <a:t>Contextuality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060EFDE-F17E-A52C-F767-44B6A6887125}"/>
              </a:ext>
            </a:extLst>
          </p:cNvPr>
          <p:cNvSpPr>
            <a:spLocks noGrp="1"/>
          </p:cNvSpPr>
          <p:nvPr>
            <p:ph type="sldNum" sz="quarter" idx="12"/>
          </p:nvPr>
        </p:nvSpPr>
        <p:spPr/>
        <p:txBody>
          <a:bodyPr/>
          <a:lstStyle/>
          <a:p>
            <a:fld id="{D0617D14-1B55-43C0-819D-0D244AC23646}" type="slidenum">
              <a:rPr lang="de-AT" smtClean="0"/>
              <a:t>6</a:t>
            </a:fld>
            <a:endParaRPr lang="de-AT"/>
          </a:p>
        </p:txBody>
      </p:sp>
      <p:sp>
        <p:nvSpPr>
          <p:cNvPr id="4" name="TextBox 3">
            <a:extLst>
              <a:ext uri="{FF2B5EF4-FFF2-40B4-BE49-F238E27FC236}">
                <a16:creationId xmlns:a16="http://schemas.microsoft.com/office/drawing/2014/main" id="{D2010456-51D8-02EF-FA4C-9C62FA1D3E19}"/>
              </a:ext>
            </a:extLst>
          </p:cNvPr>
          <p:cNvSpPr txBox="1"/>
          <p:nvPr/>
        </p:nvSpPr>
        <p:spPr>
          <a:xfrm>
            <a:off x="6291945" y="2587738"/>
            <a:ext cx="5146040" cy="1134253"/>
          </a:xfrm>
          <a:prstGeom prst="rect">
            <a:avLst/>
          </a:prstGeom>
          <a:noFill/>
        </p:spPr>
        <p:txBody>
          <a:bodyPr wrap="square">
            <a:noAutofit/>
          </a:bodyPr>
          <a:lstStyle/>
          <a:p>
            <a:r>
              <a:rPr lang="en-US" sz="2600" dirty="0">
                <a:solidFill>
                  <a:srgbClr val="000000"/>
                </a:solidFill>
              </a:rPr>
              <a:t>Contextuality asks whether a family of compatible local measurement data admit a single global model independent of context.</a:t>
            </a:r>
          </a:p>
        </p:txBody>
      </p:sp>
      <p:pic>
        <p:nvPicPr>
          <p:cNvPr id="18" name="Picture 17" descr="Wooden ball with wooden cube">
            <a:extLst>
              <a:ext uri="{FF2B5EF4-FFF2-40B4-BE49-F238E27FC236}">
                <a16:creationId xmlns:a16="http://schemas.microsoft.com/office/drawing/2014/main" id="{2F4202E7-74D4-A2ED-365D-849CFA483CBD}"/>
              </a:ext>
            </a:extLst>
          </p:cNvPr>
          <p:cNvPicPr>
            <a:picLocks noChangeAspect="1"/>
          </p:cNvPicPr>
          <p:nvPr/>
        </p:nvPicPr>
        <p:blipFill>
          <a:blip r:embed="rId4"/>
          <a:stretch>
            <a:fillRect/>
          </a:stretch>
        </p:blipFill>
        <p:spPr>
          <a:xfrm>
            <a:off x="1013538" y="1765460"/>
            <a:ext cx="4560391" cy="34202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1"/>
    </p:custDataLst>
    <p:extLst>
      <p:ext uri="{BB962C8B-B14F-4D97-AF65-F5344CB8AC3E}">
        <p14:creationId xmlns:p14="http://schemas.microsoft.com/office/powerpoint/2010/main" val="551656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698B6D-B395-402A-8ADA-229982495F1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34DE9C6-E180-914B-9D4C-34FF5BCBB8A3}"/>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7691B43D-159D-5F04-B28B-6BDB80A603EE}"/>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C6783E69-3A71-4139-7C79-646F9D60F1C3}"/>
              </a:ext>
            </a:extLst>
          </p:cNvPr>
          <p:cNvSpPr>
            <a:spLocks noGrp="1"/>
          </p:cNvSpPr>
          <p:nvPr>
            <p:ph type="sldNum" sz="quarter" idx="12"/>
          </p:nvPr>
        </p:nvSpPr>
        <p:spPr/>
        <p:txBody>
          <a:bodyPr/>
          <a:lstStyle/>
          <a:p>
            <a:fld id="{D0617D14-1B55-43C0-819D-0D244AC23646}" type="slidenum">
              <a:rPr lang="de-AT" smtClean="0"/>
              <a:t>7</a:t>
            </a:fld>
            <a:endParaRPr lang="de-AT"/>
          </a:p>
        </p:txBody>
      </p:sp>
      <p:sp>
        <p:nvSpPr>
          <p:cNvPr id="5" name="TextBox 4">
            <a:extLst>
              <a:ext uri="{FF2B5EF4-FFF2-40B4-BE49-F238E27FC236}">
                <a16:creationId xmlns:a16="http://schemas.microsoft.com/office/drawing/2014/main" id="{3B0102CD-B311-9FB0-2916-D1FBDB1487A7}"/>
              </a:ext>
            </a:extLst>
          </p:cNvPr>
          <p:cNvSpPr txBox="1"/>
          <p:nvPr/>
        </p:nvSpPr>
        <p:spPr>
          <a:xfrm>
            <a:off x="1277856" y="1123731"/>
            <a:ext cx="3224602" cy="461665"/>
          </a:xfrm>
          <a:prstGeom prst="rect">
            <a:avLst/>
          </a:prstGeom>
          <a:noFill/>
        </p:spPr>
        <p:txBody>
          <a:bodyPr wrap="square" rtlCol="0">
            <a:spAutoFit/>
          </a:bodyPr>
          <a:lstStyle/>
          <a:p>
            <a:r>
              <a:rPr lang="en-CA" sz="2400" dirty="0"/>
              <a:t>KCBS 5-Cycle Inequality</a:t>
            </a:r>
          </a:p>
        </p:txBody>
      </p:sp>
      <p:sp>
        <p:nvSpPr>
          <p:cNvPr id="8" name="Oval 7">
            <a:extLst>
              <a:ext uri="{FF2B5EF4-FFF2-40B4-BE49-F238E27FC236}">
                <a16:creationId xmlns:a16="http://schemas.microsoft.com/office/drawing/2014/main" id="{9C43B85D-5052-18B7-3336-96425A0FE09D}"/>
              </a:ext>
            </a:extLst>
          </p:cNvPr>
          <p:cNvSpPr/>
          <p:nvPr/>
        </p:nvSpPr>
        <p:spPr>
          <a:xfrm>
            <a:off x="1004652" y="3139661"/>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400"/>
          </a:p>
        </p:txBody>
      </p:sp>
      <p:sp>
        <p:nvSpPr>
          <p:cNvPr id="9" name="Oval 8">
            <a:extLst>
              <a:ext uri="{FF2B5EF4-FFF2-40B4-BE49-F238E27FC236}">
                <a16:creationId xmlns:a16="http://schemas.microsoft.com/office/drawing/2014/main" id="{B3F4CCF0-BCDB-2A4E-9C5E-34E16923114B}"/>
              </a:ext>
            </a:extLst>
          </p:cNvPr>
          <p:cNvSpPr/>
          <p:nvPr/>
        </p:nvSpPr>
        <p:spPr>
          <a:xfrm>
            <a:off x="2646218" y="2170070"/>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400"/>
          </a:p>
        </p:txBody>
      </p:sp>
      <p:sp>
        <p:nvSpPr>
          <p:cNvPr id="10" name="Oval 9">
            <a:extLst>
              <a:ext uri="{FF2B5EF4-FFF2-40B4-BE49-F238E27FC236}">
                <a16:creationId xmlns:a16="http://schemas.microsoft.com/office/drawing/2014/main" id="{67BC46EA-693E-C87A-32CB-ED2D950E0FAC}"/>
              </a:ext>
            </a:extLst>
          </p:cNvPr>
          <p:cNvSpPr/>
          <p:nvPr/>
        </p:nvSpPr>
        <p:spPr>
          <a:xfrm>
            <a:off x="3843378" y="4928068"/>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400"/>
          </a:p>
        </p:txBody>
      </p:sp>
      <p:sp>
        <p:nvSpPr>
          <p:cNvPr id="13" name="Oval 12">
            <a:extLst>
              <a:ext uri="{FF2B5EF4-FFF2-40B4-BE49-F238E27FC236}">
                <a16:creationId xmlns:a16="http://schemas.microsoft.com/office/drawing/2014/main" id="{A510DA1A-04EB-910B-5B33-511655F0A447}"/>
              </a:ext>
            </a:extLst>
          </p:cNvPr>
          <p:cNvSpPr/>
          <p:nvPr/>
        </p:nvSpPr>
        <p:spPr>
          <a:xfrm>
            <a:off x="1444039" y="4928069"/>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400"/>
          </a:p>
        </p:txBody>
      </p:sp>
      <p:sp>
        <p:nvSpPr>
          <p:cNvPr id="14" name="Oval 13">
            <a:extLst>
              <a:ext uri="{FF2B5EF4-FFF2-40B4-BE49-F238E27FC236}">
                <a16:creationId xmlns:a16="http://schemas.microsoft.com/office/drawing/2014/main" id="{B2867BB1-D2D8-7FB6-43A4-9290B5C6AA97}"/>
              </a:ext>
            </a:extLst>
          </p:cNvPr>
          <p:cNvSpPr/>
          <p:nvPr/>
        </p:nvSpPr>
        <p:spPr>
          <a:xfrm>
            <a:off x="4282765" y="3139661"/>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400"/>
          </a:p>
        </p:txBody>
      </p:sp>
      <p:cxnSp>
        <p:nvCxnSpPr>
          <p:cNvPr id="16" name="Straight Connector 15">
            <a:extLst>
              <a:ext uri="{FF2B5EF4-FFF2-40B4-BE49-F238E27FC236}">
                <a16:creationId xmlns:a16="http://schemas.microsoft.com/office/drawing/2014/main" id="{B3816CB3-E31A-2F29-D4DA-7438C0BAFCE6}"/>
              </a:ext>
            </a:extLst>
          </p:cNvPr>
          <p:cNvCxnSpPr>
            <a:stCxn id="8" idx="7"/>
            <a:endCxn id="9" idx="3"/>
          </p:cNvCxnSpPr>
          <p:nvPr/>
        </p:nvCxnSpPr>
        <p:spPr>
          <a:xfrm flipV="1">
            <a:off x="1379692" y="2543261"/>
            <a:ext cx="1330873" cy="660429"/>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4385AEAB-2E13-83AC-E018-39E35F9AD17F}"/>
              </a:ext>
            </a:extLst>
          </p:cNvPr>
          <p:cNvCxnSpPr>
            <a:cxnSpLocks/>
            <a:stCxn id="8" idx="4"/>
            <a:endCxn id="13" idx="0"/>
          </p:cNvCxnSpPr>
          <p:nvPr/>
        </p:nvCxnSpPr>
        <p:spPr>
          <a:xfrm>
            <a:off x="1224346" y="3576881"/>
            <a:ext cx="439387" cy="1351188"/>
          </a:xfrm>
          <a:prstGeom prst="line">
            <a:avLst/>
          </a:prstGeom>
          <a:ln w="2540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E8898321-D1CE-4094-8BF6-B8F366018400}"/>
              </a:ext>
            </a:extLst>
          </p:cNvPr>
          <p:cNvCxnSpPr>
            <a:cxnSpLocks/>
            <a:stCxn id="13" idx="6"/>
            <a:endCxn id="10" idx="2"/>
          </p:cNvCxnSpPr>
          <p:nvPr/>
        </p:nvCxnSpPr>
        <p:spPr>
          <a:xfrm flipV="1">
            <a:off x="1883426" y="5146678"/>
            <a:ext cx="1959952" cy="1"/>
          </a:xfrm>
          <a:prstGeom prst="line">
            <a:avLst/>
          </a:prstGeom>
          <a:ln w="2540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EDC9766-E591-1E49-23CD-840B4C190217}"/>
              </a:ext>
            </a:extLst>
          </p:cNvPr>
          <p:cNvCxnSpPr>
            <a:cxnSpLocks/>
            <a:stCxn id="10" idx="0"/>
            <a:endCxn id="14" idx="4"/>
          </p:cNvCxnSpPr>
          <p:nvPr/>
        </p:nvCxnSpPr>
        <p:spPr>
          <a:xfrm flipV="1">
            <a:off x="4063072" y="3576881"/>
            <a:ext cx="439387" cy="1351187"/>
          </a:xfrm>
          <a:prstGeom prst="line">
            <a:avLst/>
          </a:prstGeom>
          <a:ln w="25400"/>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BBC1CF25-BAFE-F4E1-FA4A-C0598AA0F99C}"/>
              </a:ext>
            </a:extLst>
          </p:cNvPr>
          <p:cNvCxnSpPr>
            <a:cxnSpLocks/>
            <a:stCxn id="14" idx="1"/>
            <a:endCxn id="9" idx="5"/>
          </p:cNvCxnSpPr>
          <p:nvPr/>
        </p:nvCxnSpPr>
        <p:spPr>
          <a:xfrm flipH="1" flipV="1">
            <a:off x="3021258" y="2543261"/>
            <a:ext cx="1325854" cy="660429"/>
          </a:xfrm>
          <a:prstGeom prst="line">
            <a:avLst/>
          </a:prstGeom>
          <a:ln w="25400"/>
        </p:spPr>
        <p:style>
          <a:lnRef idx="1">
            <a:schemeClr val="dk1"/>
          </a:lnRef>
          <a:fillRef idx="0">
            <a:schemeClr val="dk1"/>
          </a:fillRef>
          <a:effectRef idx="0">
            <a:schemeClr val="dk1"/>
          </a:effectRef>
          <a:fontRef idx="minor">
            <a:schemeClr val="tx1"/>
          </a:fontRef>
        </p:style>
      </p:cxnSp>
      <p:pic>
        <p:nvPicPr>
          <p:cNvPr id="29" name="Picture 28">
            <a:extLst>
              <a:ext uri="{FF2B5EF4-FFF2-40B4-BE49-F238E27FC236}">
                <a16:creationId xmlns:a16="http://schemas.microsoft.com/office/drawing/2014/main" id="{06B13788-9F74-C592-1CF6-E1AE5114DA32}"/>
              </a:ext>
            </a:extLst>
          </p:cNvPr>
          <p:cNvPicPr>
            <a:picLocks noChangeAspect="1"/>
          </p:cNvPicPr>
          <p:nvPr/>
        </p:nvPicPr>
        <p:blipFill>
          <a:blip r:embed="rId4"/>
          <a:stretch>
            <a:fillRect/>
          </a:stretch>
        </p:blipFill>
        <p:spPr>
          <a:xfrm>
            <a:off x="5477392" y="1107826"/>
            <a:ext cx="6330308" cy="981637"/>
          </a:xfrm>
          <a:prstGeom prst="rect">
            <a:avLst/>
          </a:prstGeom>
        </p:spPr>
      </p:pic>
      <p:sp>
        <p:nvSpPr>
          <p:cNvPr id="30" name="TextBox 29">
            <a:extLst>
              <a:ext uri="{FF2B5EF4-FFF2-40B4-BE49-F238E27FC236}">
                <a16:creationId xmlns:a16="http://schemas.microsoft.com/office/drawing/2014/main" id="{D150F34F-D76F-5590-E80F-3EF3DCFE999B}"/>
              </a:ext>
            </a:extLst>
          </p:cNvPr>
          <p:cNvSpPr txBox="1"/>
          <p:nvPr/>
        </p:nvSpPr>
        <p:spPr>
          <a:xfrm>
            <a:off x="5670467" y="2992582"/>
            <a:ext cx="65" cy="553998"/>
          </a:xfrm>
          <a:prstGeom prst="rect">
            <a:avLst/>
          </a:prstGeom>
          <a:noFill/>
        </p:spPr>
        <p:txBody>
          <a:bodyPr wrap="none" lIns="0" tIns="0" rIns="0" bIns="0" rtlCol="0">
            <a:spAutoFit/>
          </a:bodyPr>
          <a:lstStyle/>
          <a:p>
            <a:endParaRPr lang="en-US" b="0" dirty="0"/>
          </a:p>
          <a:p>
            <a:endParaRPr lang="en-CA"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EAA7E87-C901-1FE2-101B-117E3F8E86E7}"/>
                  </a:ext>
                </a:extLst>
              </p:cNvPr>
              <p:cNvSpPr txBox="1"/>
              <p:nvPr/>
            </p:nvSpPr>
            <p:spPr>
              <a:xfrm>
                <a:off x="2642922" y="1720131"/>
                <a:ext cx="492892"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0</m:t>
                          </m:r>
                        </m:sub>
                      </m:sSub>
                    </m:oMath>
                  </m:oMathPara>
                </a14:m>
                <a:endParaRPr lang="en-US" sz="2400" b="0" dirty="0"/>
              </a:p>
              <a:p>
                <a:endParaRPr lang="en-CA" sz="2400" dirty="0"/>
              </a:p>
            </p:txBody>
          </p:sp>
        </mc:Choice>
        <mc:Fallback xmlns="">
          <p:sp>
            <p:nvSpPr>
              <p:cNvPr id="31" name="TextBox 30">
                <a:extLst>
                  <a:ext uri="{FF2B5EF4-FFF2-40B4-BE49-F238E27FC236}">
                    <a16:creationId xmlns:a16="http://schemas.microsoft.com/office/drawing/2014/main" id="{AEAA7E87-C901-1FE2-101B-117E3F8E86E7}"/>
                  </a:ext>
                </a:extLst>
              </p:cNvPr>
              <p:cNvSpPr txBox="1">
                <a:spLocks noRot="1" noChangeAspect="1" noMove="1" noResize="1" noEditPoints="1" noAdjustHandles="1" noChangeArrowheads="1" noChangeShapeType="1" noTextEdit="1"/>
              </p:cNvSpPr>
              <p:nvPr/>
            </p:nvSpPr>
            <p:spPr>
              <a:xfrm>
                <a:off x="2642922" y="1720131"/>
                <a:ext cx="492892" cy="738664"/>
              </a:xfrm>
              <a:prstGeom prst="rect">
                <a:avLst/>
              </a:prstGeom>
              <a:blipFill>
                <a:blip r:embed="rId5"/>
                <a:stretch>
                  <a:fillRect l="-7692" r="-256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BA5AB14-9091-3407-8014-096B1004989E}"/>
                  </a:ext>
                </a:extLst>
              </p:cNvPr>
              <p:cNvSpPr txBox="1"/>
              <p:nvPr/>
            </p:nvSpPr>
            <p:spPr>
              <a:xfrm>
                <a:off x="4680995" y="2889926"/>
                <a:ext cx="486095"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1</m:t>
                          </m:r>
                        </m:sub>
                      </m:sSub>
                    </m:oMath>
                  </m:oMathPara>
                </a14:m>
                <a:endParaRPr lang="en-US" sz="2400" b="0" dirty="0"/>
              </a:p>
              <a:p>
                <a:endParaRPr lang="en-CA" sz="2400" dirty="0"/>
              </a:p>
            </p:txBody>
          </p:sp>
        </mc:Choice>
        <mc:Fallback xmlns="">
          <p:sp>
            <p:nvSpPr>
              <p:cNvPr id="32" name="TextBox 31">
                <a:extLst>
                  <a:ext uri="{FF2B5EF4-FFF2-40B4-BE49-F238E27FC236}">
                    <a16:creationId xmlns:a16="http://schemas.microsoft.com/office/drawing/2014/main" id="{4BA5AB14-9091-3407-8014-096B1004989E}"/>
                  </a:ext>
                </a:extLst>
              </p:cNvPr>
              <p:cNvSpPr txBox="1">
                <a:spLocks noRot="1" noChangeAspect="1" noMove="1" noResize="1" noEditPoints="1" noAdjustHandles="1" noChangeArrowheads="1" noChangeShapeType="1" noTextEdit="1"/>
              </p:cNvSpPr>
              <p:nvPr/>
            </p:nvSpPr>
            <p:spPr>
              <a:xfrm>
                <a:off x="4680995" y="2889926"/>
                <a:ext cx="486095" cy="738664"/>
              </a:xfrm>
              <a:prstGeom prst="rect">
                <a:avLst/>
              </a:prstGeom>
              <a:blipFill>
                <a:blip r:embed="rId6"/>
                <a:stretch>
                  <a:fillRect l="-5000" r="-2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69EC70E-4D98-7E66-1D13-9DBA1BFEDF70}"/>
                  </a:ext>
                </a:extLst>
              </p:cNvPr>
              <p:cNvSpPr txBox="1"/>
              <p:nvPr/>
            </p:nvSpPr>
            <p:spPr>
              <a:xfrm>
                <a:off x="559508" y="2838217"/>
                <a:ext cx="492058"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4</m:t>
                          </m:r>
                        </m:sub>
                      </m:sSub>
                    </m:oMath>
                  </m:oMathPara>
                </a14:m>
                <a:endParaRPr lang="en-US" sz="2400" b="0" dirty="0"/>
              </a:p>
              <a:p>
                <a:endParaRPr lang="en-CA" sz="2400" dirty="0"/>
              </a:p>
            </p:txBody>
          </p:sp>
        </mc:Choice>
        <mc:Fallback xmlns="">
          <p:sp>
            <p:nvSpPr>
              <p:cNvPr id="33" name="TextBox 32">
                <a:extLst>
                  <a:ext uri="{FF2B5EF4-FFF2-40B4-BE49-F238E27FC236}">
                    <a16:creationId xmlns:a16="http://schemas.microsoft.com/office/drawing/2014/main" id="{169EC70E-4D98-7E66-1D13-9DBA1BFEDF70}"/>
                  </a:ext>
                </a:extLst>
              </p:cNvPr>
              <p:cNvSpPr txBox="1">
                <a:spLocks noRot="1" noChangeAspect="1" noMove="1" noResize="1" noEditPoints="1" noAdjustHandles="1" noChangeArrowheads="1" noChangeShapeType="1" noTextEdit="1"/>
              </p:cNvSpPr>
              <p:nvPr/>
            </p:nvSpPr>
            <p:spPr>
              <a:xfrm>
                <a:off x="559508" y="2838217"/>
                <a:ext cx="492058" cy="738664"/>
              </a:xfrm>
              <a:prstGeom prst="rect">
                <a:avLst/>
              </a:prstGeom>
              <a:blipFill>
                <a:blip r:embed="rId7"/>
                <a:stretch>
                  <a:fillRect l="-5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A8F5FE6-63EE-E243-9ACE-074E7152C5DE}"/>
                  </a:ext>
                </a:extLst>
              </p:cNvPr>
              <p:cNvSpPr txBox="1"/>
              <p:nvPr/>
            </p:nvSpPr>
            <p:spPr>
              <a:xfrm>
                <a:off x="4176832" y="5365132"/>
                <a:ext cx="492058"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2</m:t>
                          </m:r>
                        </m:sub>
                      </m:sSub>
                    </m:oMath>
                  </m:oMathPara>
                </a14:m>
                <a:endParaRPr lang="en-US" sz="2400" b="0" dirty="0"/>
              </a:p>
              <a:p>
                <a:endParaRPr lang="en-CA" sz="2400" dirty="0"/>
              </a:p>
            </p:txBody>
          </p:sp>
        </mc:Choice>
        <mc:Fallback xmlns="">
          <p:sp>
            <p:nvSpPr>
              <p:cNvPr id="34" name="TextBox 33">
                <a:extLst>
                  <a:ext uri="{FF2B5EF4-FFF2-40B4-BE49-F238E27FC236}">
                    <a16:creationId xmlns:a16="http://schemas.microsoft.com/office/drawing/2014/main" id="{5A8F5FE6-63EE-E243-9ACE-074E7152C5DE}"/>
                  </a:ext>
                </a:extLst>
              </p:cNvPr>
              <p:cNvSpPr txBox="1">
                <a:spLocks noRot="1" noChangeAspect="1" noMove="1" noResize="1" noEditPoints="1" noAdjustHandles="1" noChangeArrowheads="1" noChangeShapeType="1" noTextEdit="1"/>
              </p:cNvSpPr>
              <p:nvPr/>
            </p:nvSpPr>
            <p:spPr>
              <a:xfrm>
                <a:off x="4176832" y="5365132"/>
                <a:ext cx="492058" cy="738664"/>
              </a:xfrm>
              <a:prstGeom prst="rect">
                <a:avLst/>
              </a:prstGeom>
              <a:blipFill>
                <a:blip r:embed="rId8"/>
                <a:stretch>
                  <a:fillRect l="-5000" r="-2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3A92CA7-4549-BD73-2C01-A3CBD1A1BA27}"/>
                  </a:ext>
                </a:extLst>
              </p:cNvPr>
              <p:cNvSpPr txBox="1"/>
              <p:nvPr/>
            </p:nvSpPr>
            <p:spPr>
              <a:xfrm>
                <a:off x="1060137" y="5365132"/>
                <a:ext cx="492058"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3</m:t>
                          </m:r>
                        </m:sub>
                      </m:sSub>
                    </m:oMath>
                  </m:oMathPara>
                </a14:m>
                <a:endParaRPr lang="en-US" sz="2400" b="0" dirty="0"/>
              </a:p>
              <a:p>
                <a:endParaRPr lang="en-CA" sz="2400" dirty="0"/>
              </a:p>
            </p:txBody>
          </p:sp>
        </mc:Choice>
        <mc:Fallback xmlns="">
          <p:sp>
            <p:nvSpPr>
              <p:cNvPr id="35" name="TextBox 34">
                <a:extLst>
                  <a:ext uri="{FF2B5EF4-FFF2-40B4-BE49-F238E27FC236}">
                    <a16:creationId xmlns:a16="http://schemas.microsoft.com/office/drawing/2014/main" id="{73A92CA7-4549-BD73-2C01-A3CBD1A1BA27}"/>
                  </a:ext>
                </a:extLst>
              </p:cNvPr>
              <p:cNvSpPr txBox="1">
                <a:spLocks noRot="1" noChangeAspect="1" noMove="1" noResize="1" noEditPoints="1" noAdjustHandles="1" noChangeArrowheads="1" noChangeShapeType="1" noTextEdit="1"/>
              </p:cNvSpPr>
              <p:nvPr/>
            </p:nvSpPr>
            <p:spPr>
              <a:xfrm>
                <a:off x="1060137" y="5365132"/>
                <a:ext cx="492058" cy="738664"/>
              </a:xfrm>
              <a:prstGeom prst="rect">
                <a:avLst/>
              </a:prstGeom>
              <a:blipFill>
                <a:blip r:embed="rId9"/>
                <a:stretch>
                  <a:fillRect l="-5000" r="-2500"/>
                </a:stretch>
              </a:blipFill>
            </p:spPr>
            <p:txBody>
              <a:bodyPr/>
              <a:lstStyle/>
              <a:p>
                <a:r>
                  <a:rPr lang="en-CA">
                    <a:noFill/>
                  </a:rPr>
                  <a:t> </a:t>
                </a:r>
              </a:p>
            </p:txBody>
          </p:sp>
        </mc:Fallback>
      </mc:AlternateContent>
      <p:pic>
        <p:nvPicPr>
          <p:cNvPr id="37" name="Picture 36">
            <a:extLst>
              <a:ext uri="{FF2B5EF4-FFF2-40B4-BE49-F238E27FC236}">
                <a16:creationId xmlns:a16="http://schemas.microsoft.com/office/drawing/2014/main" id="{4D718136-58CA-80BA-BE95-36D5CBFA15AC}"/>
              </a:ext>
            </a:extLst>
          </p:cNvPr>
          <p:cNvPicPr>
            <a:picLocks noChangeAspect="1"/>
          </p:cNvPicPr>
          <p:nvPr/>
        </p:nvPicPr>
        <p:blipFill>
          <a:blip r:embed="rId10"/>
          <a:stretch>
            <a:fillRect/>
          </a:stretch>
        </p:blipFill>
        <p:spPr>
          <a:xfrm>
            <a:off x="5389546" y="2578388"/>
            <a:ext cx="6505999" cy="2321749"/>
          </a:xfrm>
          <a:prstGeom prst="rect">
            <a:avLst/>
          </a:prstGeom>
        </p:spPr>
      </p:pic>
      <p:pic>
        <p:nvPicPr>
          <p:cNvPr id="38" name="Picture 37">
            <a:extLst>
              <a:ext uri="{FF2B5EF4-FFF2-40B4-BE49-F238E27FC236}">
                <a16:creationId xmlns:a16="http://schemas.microsoft.com/office/drawing/2014/main" id="{4553E538-6DA5-771B-8E4B-1F7B41AD4C89}"/>
              </a:ext>
            </a:extLst>
          </p:cNvPr>
          <p:cNvPicPr>
            <a:picLocks noChangeAspect="1"/>
          </p:cNvPicPr>
          <p:nvPr/>
        </p:nvPicPr>
        <p:blipFill>
          <a:blip r:embed="rId11"/>
          <a:stretch>
            <a:fillRect/>
          </a:stretch>
        </p:blipFill>
        <p:spPr>
          <a:xfrm>
            <a:off x="6370670" y="5001889"/>
            <a:ext cx="4205296" cy="1036763"/>
          </a:xfrm>
          <a:prstGeom prst="rect">
            <a:avLst/>
          </a:prstGeom>
        </p:spPr>
      </p:pic>
    </p:spTree>
    <p:custDataLst>
      <p:tags r:id="rId1"/>
    </p:custDataLst>
    <p:extLst>
      <p:ext uri="{BB962C8B-B14F-4D97-AF65-F5344CB8AC3E}">
        <p14:creationId xmlns:p14="http://schemas.microsoft.com/office/powerpoint/2010/main" val="2647452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08F53-E03C-CB18-0A43-5A1025D68AF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77DF908-D3B4-F8FD-B155-8FBAADD4EFA8}"/>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75A5482-88A6-0590-8376-BA8BA92CBF8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A4BA240-E9FA-3314-8518-79E7CA5D13A0}"/>
              </a:ext>
            </a:extLst>
          </p:cNvPr>
          <p:cNvSpPr>
            <a:spLocks noGrp="1"/>
          </p:cNvSpPr>
          <p:nvPr>
            <p:ph type="sldNum" sz="quarter" idx="12"/>
          </p:nvPr>
        </p:nvSpPr>
        <p:spPr/>
        <p:txBody>
          <a:bodyPr/>
          <a:lstStyle/>
          <a:p>
            <a:fld id="{D0617D14-1B55-43C0-819D-0D244AC23646}" type="slidenum">
              <a:rPr lang="de-AT" smtClean="0"/>
              <a:t>8</a:t>
            </a:fld>
            <a:endParaRPr lang="de-AT"/>
          </a:p>
        </p:txBody>
      </p:sp>
      <p:sp>
        <p:nvSpPr>
          <p:cNvPr id="30" name="TextBox 29">
            <a:extLst>
              <a:ext uri="{FF2B5EF4-FFF2-40B4-BE49-F238E27FC236}">
                <a16:creationId xmlns:a16="http://schemas.microsoft.com/office/drawing/2014/main" id="{13D7B2CF-3DE9-C63A-E294-819EEF56755E}"/>
              </a:ext>
            </a:extLst>
          </p:cNvPr>
          <p:cNvSpPr txBox="1"/>
          <p:nvPr/>
        </p:nvSpPr>
        <p:spPr>
          <a:xfrm>
            <a:off x="5670467" y="2992582"/>
            <a:ext cx="65" cy="553998"/>
          </a:xfrm>
          <a:prstGeom prst="rect">
            <a:avLst/>
          </a:prstGeom>
          <a:noFill/>
        </p:spPr>
        <p:txBody>
          <a:bodyPr wrap="none" lIns="0" tIns="0" rIns="0" bIns="0" rtlCol="0">
            <a:spAutoFit/>
          </a:bodyPr>
          <a:lstStyle/>
          <a:p>
            <a:endParaRPr lang="en-US" b="0" dirty="0"/>
          </a:p>
          <a:p>
            <a:endParaRPr lang="en-CA" dirty="0"/>
          </a:p>
        </p:txBody>
      </p:sp>
      <p:sp>
        <p:nvSpPr>
          <p:cNvPr id="4" name="Slide Number Placeholder 6">
            <a:extLst>
              <a:ext uri="{FF2B5EF4-FFF2-40B4-BE49-F238E27FC236}">
                <a16:creationId xmlns:a16="http://schemas.microsoft.com/office/drawing/2014/main" id="{BB7680D9-95A2-100C-EA47-B78A8064C160}"/>
              </a:ext>
            </a:extLst>
          </p:cNvPr>
          <p:cNvSpPr txBox="1">
            <a:spLocks/>
          </p:cNvSpPr>
          <p:nvPr/>
        </p:nvSpPr>
        <p:spPr>
          <a:xfrm>
            <a:off x="10416480" y="6310311"/>
            <a:ext cx="108012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617D14-1B55-43C0-819D-0D244AC23646}" type="slidenum">
              <a:rPr lang="de-AT" smtClean="0"/>
              <a:pPr/>
              <a:t>8</a:t>
            </a:fld>
            <a:endParaRPr lang="de-AT"/>
          </a:p>
        </p:txBody>
      </p:sp>
      <p:grpSp>
        <p:nvGrpSpPr>
          <p:cNvPr id="6" name="Group 5">
            <a:extLst>
              <a:ext uri="{FF2B5EF4-FFF2-40B4-BE49-F238E27FC236}">
                <a16:creationId xmlns:a16="http://schemas.microsoft.com/office/drawing/2014/main" id="{10A7CC4E-E76F-A689-F2C3-7BF811A04AB3}"/>
              </a:ext>
            </a:extLst>
          </p:cNvPr>
          <p:cNvGrpSpPr/>
          <p:nvPr/>
        </p:nvGrpSpPr>
        <p:grpSpPr>
          <a:xfrm>
            <a:off x="266593" y="1595025"/>
            <a:ext cx="4820192" cy="4331348"/>
            <a:chOff x="8920193" y="13186785"/>
            <a:chExt cx="4820192" cy="4331348"/>
          </a:xfrm>
        </p:grpSpPr>
        <p:sp>
          <p:nvSpPr>
            <p:cNvPr id="11" name="Oval 10">
              <a:extLst>
                <a:ext uri="{FF2B5EF4-FFF2-40B4-BE49-F238E27FC236}">
                  <a16:creationId xmlns:a16="http://schemas.microsoft.com/office/drawing/2014/main" id="{C2834275-4FA2-9970-6B21-FD805BEA7F2B}"/>
                </a:ext>
              </a:extLst>
            </p:cNvPr>
            <p:cNvSpPr/>
            <p:nvPr/>
          </p:nvSpPr>
          <p:spPr>
            <a:xfrm>
              <a:off x="9476528" y="14615554"/>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102FD612-4CE9-8FDE-F0F4-3E6D733B11DA}"/>
                </a:ext>
              </a:extLst>
            </p:cNvPr>
            <p:cNvSpPr/>
            <p:nvPr/>
          </p:nvSpPr>
          <p:spPr>
            <a:xfrm>
              <a:off x="11118094" y="13645963"/>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71160CF7-8F6D-EC52-FA4B-04967DD3F219}"/>
                </a:ext>
              </a:extLst>
            </p:cNvPr>
            <p:cNvSpPr/>
            <p:nvPr/>
          </p:nvSpPr>
          <p:spPr>
            <a:xfrm>
              <a:off x="12315254" y="16403961"/>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839EB380-2C57-9D25-F485-96D8C3684492}"/>
                </a:ext>
              </a:extLst>
            </p:cNvPr>
            <p:cNvSpPr/>
            <p:nvPr/>
          </p:nvSpPr>
          <p:spPr>
            <a:xfrm>
              <a:off x="9915915" y="16403962"/>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19103DD4-43AB-8A49-FC04-FF4C159B89EE}"/>
                </a:ext>
              </a:extLst>
            </p:cNvPr>
            <p:cNvSpPr/>
            <p:nvPr/>
          </p:nvSpPr>
          <p:spPr>
            <a:xfrm>
              <a:off x="12754641" y="14615554"/>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1" name="Straight Connector 20">
              <a:extLst>
                <a:ext uri="{FF2B5EF4-FFF2-40B4-BE49-F238E27FC236}">
                  <a16:creationId xmlns:a16="http://schemas.microsoft.com/office/drawing/2014/main" id="{F0BFA4A8-4668-5810-2E81-B86DFF1BA9B7}"/>
                </a:ext>
              </a:extLst>
            </p:cNvPr>
            <p:cNvCxnSpPr>
              <a:cxnSpLocks/>
              <a:stCxn id="18" idx="7"/>
              <a:endCxn id="12" idx="4"/>
            </p:cNvCxnSpPr>
            <p:nvPr/>
          </p:nvCxnSpPr>
          <p:spPr>
            <a:xfrm flipV="1">
              <a:off x="10290955" y="14083183"/>
              <a:ext cx="1046833" cy="2384808"/>
            </a:xfrm>
            <a:prstGeom prst="line">
              <a:avLst/>
            </a:prstGeom>
            <a:ln w="2540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1269DB3-7665-F239-6D14-19B21E0A16A8}"/>
                </a:ext>
              </a:extLst>
            </p:cNvPr>
            <p:cNvCxnSpPr>
              <a:cxnSpLocks/>
              <a:stCxn id="11" idx="6"/>
              <a:endCxn id="19" idx="2"/>
            </p:cNvCxnSpPr>
            <p:nvPr/>
          </p:nvCxnSpPr>
          <p:spPr>
            <a:xfrm>
              <a:off x="9915915" y="14834164"/>
              <a:ext cx="2838726"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AEBE241E-08A8-155F-1A7B-BC9183D897A5}"/>
                </a:ext>
              </a:extLst>
            </p:cNvPr>
            <p:cNvCxnSpPr>
              <a:cxnSpLocks/>
              <a:stCxn id="11" idx="6"/>
              <a:endCxn id="15" idx="1"/>
            </p:cNvCxnSpPr>
            <p:nvPr/>
          </p:nvCxnSpPr>
          <p:spPr>
            <a:xfrm>
              <a:off x="9915915" y="14834164"/>
              <a:ext cx="2463686" cy="1633826"/>
            </a:xfrm>
            <a:prstGeom prst="line">
              <a:avLst/>
            </a:prstGeom>
            <a:ln w="2540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460B76A4-AB4D-246B-22F2-DEB3CD266551}"/>
                </a:ext>
              </a:extLst>
            </p:cNvPr>
            <p:cNvCxnSpPr>
              <a:cxnSpLocks/>
              <a:stCxn id="18" idx="7"/>
              <a:endCxn id="19" idx="2"/>
            </p:cNvCxnSpPr>
            <p:nvPr/>
          </p:nvCxnSpPr>
          <p:spPr>
            <a:xfrm flipV="1">
              <a:off x="10290955" y="14834164"/>
              <a:ext cx="2463686" cy="1633827"/>
            </a:xfrm>
            <a:prstGeom prst="line">
              <a:avLst/>
            </a:prstGeom>
            <a:ln w="2540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A98D0AA-CDE3-6A08-83B2-71C5E9F0A0CB}"/>
                </a:ext>
              </a:extLst>
            </p:cNvPr>
            <p:cNvCxnSpPr>
              <a:cxnSpLocks/>
              <a:stCxn id="15" idx="1"/>
              <a:endCxn id="12" idx="4"/>
            </p:cNvCxnSpPr>
            <p:nvPr/>
          </p:nvCxnSpPr>
          <p:spPr>
            <a:xfrm flipH="1" flipV="1">
              <a:off x="11337788" y="14083183"/>
              <a:ext cx="1041813" cy="2384807"/>
            </a:xfrm>
            <a:prstGeom prst="line">
              <a:avLst/>
            </a:prstGeom>
            <a:ln w="254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F0034AE-8B14-E005-74BC-85B721152102}"/>
                    </a:ext>
                  </a:extLst>
                </p:cNvPr>
                <p:cNvSpPr txBox="1"/>
                <p:nvPr/>
              </p:nvSpPr>
              <p:spPr>
                <a:xfrm>
                  <a:off x="11090734" y="13186785"/>
                  <a:ext cx="540725"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0</m:t>
                            </m:r>
                          </m:sub>
                        </m:sSub>
                      </m:oMath>
                    </m:oMathPara>
                  </a14:m>
                  <a:endParaRPr lang="en-US" sz="2600" b="0" dirty="0"/>
                </a:p>
                <a:p>
                  <a:endParaRPr lang="en-CA" dirty="0"/>
                </a:p>
              </p:txBody>
            </p:sp>
          </mc:Choice>
          <mc:Fallback xmlns="">
            <p:sp>
              <p:nvSpPr>
                <p:cNvPr id="28" name="TextBox 27">
                  <a:extLst>
                    <a:ext uri="{FF2B5EF4-FFF2-40B4-BE49-F238E27FC236}">
                      <a16:creationId xmlns:a16="http://schemas.microsoft.com/office/drawing/2014/main" id="{7F0034AE-8B14-E005-74BC-85B721152102}"/>
                    </a:ext>
                  </a:extLst>
                </p:cNvPr>
                <p:cNvSpPr txBox="1">
                  <a:spLocks noRot="1" noChangeAspect="1" noMove="1" noResize="1" noEditPoints="1" noAdjustHandles="1" noChangeArrowheads="1" noChangeShapeType="1" noTextEdit="1"/>
                </p:cNvSpPr>
                <p:nvPr/>
              </p:nvSpPr>
              <p:spPr>
                <a:xfrm>
                  <a:off x="11090734" y="13186785"/>
                  <a:ext cx="540725" cy="677108"/>
                </a:xfrm>
                <a:prstGeom prst="rect">
                  <a:avLst/>
                </a:prstGeom>
                <a:blipFill>
                  <a:blip r:embed="rId6"/>
                  <a:stretch>
                    <a:fillRect l="-4651" r="-23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CF22773-7BB6-B2EC-71FB-122947DA16FB}"/>
                    </a:ext>
                  </a:extLst>
                </p:cNvPr>
                <p:cNvSpPr txBox="1"/>
                <p:nvPr/>
              </p:nvSpPr>
              <p:spPr>
                <a:xfrm>
                  <a:off x="13206713" y="14436705"/>
                  <a:ext cx="533672"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1</m:t>
                            </m:r>
                          </m:sub>
                        </m:sSub>
                      </m:oMath>
                    </m:oMathPara>
                  </a14:m>
                  <a:endParaRPr lang="en-US" sz="2600" b="0" dirty="0"/>
                </a:p>
                <a:p>
                  <a:endParaRPr lang="en-CA" dirty="0"/>
                </a:p>
              </p:txBody>
            </p:sp>
          </mc:Choice>
          <mc:Fallback xmlns="">
            <p:sp>
              <p:nvSpPr>
                <p:cNvPr id="36" name="TextBox 35">
                  <a:extLst>
                    <a:ext uri="{FF2B5EF4-FFF2-40B4-BE49-F238E27FC236}">
                      <a16:creationId xmlns:a16="http://schemas.microsoft.com/office/drawing/2014/main" id="{FCF22773-7BB6-B2EC-71FB-122947DA16FB}"/>
                    </a:ext>
                  </a:extLst>
                </p:cNvPr>
                <p:cNvSpPr txBox="1">
                  <a:spLocks noRot="1" noChangeAspect="1" noMove="1" noResize="1" noEditPoints="1" noAdjustHandles="1" noChangeArrowheads="1" noChangeShapeType="1" noTextEdit="1"/>
                </p:cNvSpPr>
                <p:nvPr/>
              </p:nvSpPr>
              <p:spPr>
                <a:xfrm>
                  <a:off x="13206713" y="14436705"/>
                  <a:ext cx="533672" cy="677108"/>
                </a:xfrm>
                <a:prstGeom prst="rect">
                  <a:avLst/>
                </a:prstGeom>
                <a:blipFill>
                  <a:blip r:embed="rId7"/>
                  <a:stretch>
                    <a:fillRect l="-4651" r="-23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82EE086-8F86-AAF2-12D1-E9794F5CF0F0}"/>
                    </a:ext>
                  </a:extLst>
                </p:cNvPr>
                <p:cNvSpPr txBox="1"/>
                <p:nvPr/>
              </p:nvSpPr>
              <p:spPr>
                <a:xfrm>
                  <a:off x="8920193" y="14363767"/>
                  <a:ext cx="539891"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4</m:t>
                            </m:r>
                          </m:sub>
                        </m:sSub>
                      </m:oMath>
                    </m:oMathPara>
                  </a14:m>
                  <a:endParaRPr lang="en-US" sz="2600" b="0" dirty="0"/>
                </a:p>
                <a:p>
                  <a:endParaRPr lang="en-CA" dirty="0"/>
                </a:p>
              </p:txBody>
            </p:sp>
          </mc:Choice>
          <mc:Fallback xmlns="">
            <p:sp>
              <p:nvSpPr>
                <p:cNvPr id="39" name="TextBox 38">
                  <a:extLst>
                    <a:ext uri="{FF2B5EF4-FFF2-40B4-BE49-F238E27FC236}">
                      <a16:creationId xmlns:a16="http://schemas.microsoft.com/office/drawing/2014/main" id="{782EE086-8F86-AAF2-12D1-E9794F5CF0F0}"/>
                    </a:ext>
                  </a:extLst>
                </p:cNvPr>
                <p:cNvSpPr txBox="1">
                  <a:spLocks noRot="1" noChangeAspect="1" noMove="1" noResize="1" noEditPoints="1" noAdjustHandles="1" noChangeArrowheads="1" noChangeShapeType="1" noTextEdit="1"/>
                </p:cNvSpPr>
                <p:nvPr/>
              </p:nvSpPr>
              <p:spPr>
                <a:xfrm>
                  <a:off x="8920193" y="14363767"/>
                  <a:ext cx="539891" cy="677108"/>
                </a:xfrm>
                <a:prstGeom prst="rect">
                  <a:avLst/>
                </a:prstGeom>
                <a:blipFill>
                  <a:blip r:embed="rId8"/>
                  <a:stretch>
                    <a:fillRect l="-4651" r="-23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17820BA-20D4-BB56-0A29-2D2E6DA14AC1}"/>
                    </a:ext>
                  </a:extLst>
                </p:cNvPr>
                <p:cNvSpPr txBox="1"/>
                <p:nvPr/>
              </p:nvSpPr>
              <p:spPr>
                <a:xfrm>
                  <a:off x="12648708" y="16841025"/>
                  <a:ext cx="515077"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2</m:t>
                            </m:r>
                          </m:sub>
                        </m:sSub>
                      </m:oMath>
                    </m:oMathPara>
                  </a14:m>
                  <a:endParaRPr lang="en-US" sz="2600" b="0" dirty="0"/>
                </a:p>
                <a:p>
                  <a:endParaRPr lang="en-CA" dirty="0"/>
                </a:p>
              </p:txBody>
            </p:sp>
          </mc:Choice>
          <mc:Fallback xmlns="">
            <p:sp>
              <p:nvSpPr>
                <p:cNvPr id="40" name="TextBox 39">
                  <a:extLst>
                    <a:ext uri="{FF2B5EF4-FFF2-40B4-BE49-F238E27FC236}">
                      <a16:creationId xmlns:a16="http://schemas.microsoft.com/office/drawing/2014/main" id="{217820BA-20D4-BB56-0A29-2D2E6DA14AC1}"/>
                    </a:ext>
                  </a:extLst>
                </p:cNvPr>
                <p:cNvSpPr txBox="1">
                  <a:spLocks noRot="1" noChangeAspect="1" noMove="1" noResize="1" noEditPoints="1" noAdjustHandles="1" noChangeArrowheads="1" noChangeShapeType="1" noTextEdit="1"/>
                </p:cNvSpPr>
                <p:nvPr/>
              </p:nvSpPr>
              <p:spPr>
                <a:xfrm>
                  <a:off x="12648708" y="16841025"/>
                  <a:ext cx="515077" cy="677108"/>
                </a:xfrm>
                <a:prstGeom prst="rect">
                  <a:avLst/>
                </a:prstGeom>
                <a:blipFill>
                  <a:blip r:embed="rId9"/>
                  <a:stretch>
                    <a:fillRect l="-7143" r="-476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DD1AC57-20CB-1BE8-CE0E-71CEED9B46BD}"/>
                    </a:ext>
                  </a:extLst>
                </p:cNvPr>
                <p:cNvSpPr txBox="1"/>
                <p:nvPr/>
              </p:nvSpPr>
              <p:spPr>
                <a:xfrm>
                  <a:off x="9532013" y="16841025"/>
                  <a:ext cx="515077"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𝑚</m:t>
                            </m:r>
                          </m:e>
                          <m:sub>
                            <m:r>
                              <a:rPr lang="en-US" sz="2600" b="0" i="1" smtClean="0">
                                <a:latin typeface="Cambria Math" panose="02040503050406030204" pitchFamily="18" charset="0"/>
                              </a:rPr>
                              <m:t>3</m:t>
                            </m:r>
                          </m:sub>
                        </m:sSub>
                      </m:oMath>
                    </m:oMathPara>
                  </a14:m>
                  <a:endParaRPr lang="en-US" sz="2600" b="0" dirty="0"/>
                </a:p>
                <a:p>
                  <a:endParaRPr lang="en-CA" dirty="0"/>
                </a:p>
              </p:txBody>
            </p:sp>
          </mc:Choice>
          <mc:Fallback xmlns="">
            <p:sp>
              <p:nvSpPr>
                <p:cNvPr id="41" name="TextBox 40">
                  <a:extLst>
                    <a:ext uri="{FF2B5EF4-FFF2-40B4-BE49-F238E27FC236}">
                      <a16:creationId xmlns:a16="http://schemas.microsoft.com/office/drawing/2014/main" id="{DDD1AC57-20CB-1BE8-CE0E-71CEED9B46BD}"/>
                    </a:ext>
                  </a:extLst>
                </p:cNvPr>
                <p:cNvSpPr txBox="1">
                  <a:spLocks noRot="1" noChangeAspect="1" noMove="1" noResize="1" noEditPoints="1" noAdjustHandles="1" noChangeArrowheads="1" noChangeShapeType="1" noTextEdit="1"/>
                </p:cNvSpPr>
                <p:nvPr/>
              </p:nvSpPr>
              <p:spPr>
                <a:xfrm>
                  <a:off x="9532013" y="16841025"/>
                  <a:ext cx="515077" cy="677108"/>
                </a:xfrm>
                <a:prstGeom prst="rect">
                  <a:avLst/>
                </a:prstGeom>
                <a:blipFill>
                  <a:blip r:embed="rId10"/>
                  <a:stretch>
                    <a:fillRect l="-7317" r="-4878"/>
                  </a:stretch>
                </a:blipFill>
              </p:spPr>
              <p:txBody>
                <a:bodyPr/>
                <a:lstStyle/>
                <a:p>
                  <a:r>
                    <a:rPr lang="en-CA">
                      <a:noFill/>
                    </a:rPr>
                    <a:t> </a:t>
                  </a:r>
                </a:p>
              </p:txBody>
            </p:sp>
          </mc:Fallback>
        </mc:AlternateContent>
      </p:gr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9F567092-091F-8985-41B9-7F1F63F840B4}"/>
                  </a:ext>
                </a:extLst>
              </p:cNvPr>
              <p:cNvSpPr txBox="1"/>
              <p:nvPr/>
            </p:nvSpPr>
            <p:spPr>
              <a:xfrm>
                <a:off x="5086785" y="1709781"/>
                <a:ext cx="710521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𝒞</m:t>
                      </m:r>
                      <m:r>
                        <a:rPr lang="en-US" sz="2400" b="0" i="1" smtClean="0">
                          <a:latin typeface="Cambria Math" panose="02040503050406030204" pitchFamily="18" charset="0"/>
                        </a:rPr>
                        <m:t>=</m:t>
                      </m:r>
                      <m:r>
                        <m:rPr>
                          <m:lit/>
                        </m:rP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2</m:t>
                          </m:r>
                        </m:sub>
                      </m:sSub>
                      <m:r>
                        <m:rPr>
                          <m:lit/>
                        </m:rPr>
                        <a:rPr lang="en-US" sz="2400" b="0" i="1" smtClean="0">
                          <a:latin typeface="Cambria Math" panose="02040503050406030204" pitchFamily="18" charset="0"/>
                        </a:rPr>
                        <m:t>}</m:t>
                      </m:r>
                      <m:r>
                        <a:rPr lang="en-US" sz="2400" b="0" i="1" smtClean="0">
                          <a:latin typeface="Cambria Math" panose="02040503050406030204" pitchFamily="18" charset="0"/>
                        </a:rPr>
                        <m:t>,</m:t>
                      </m:r>
                      <m:r>
                        <m:rPr>
                          <m:lit/>
                        </m:rP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3</m:t>
                          </m:r>
                        </m:sub>
                      </m:sSub>
                      <m:r>
                        <m:rPr>
                          <m:lit/>
                        </m:rPr>
                        <a:rPr lang="en-US" sz="2400" b="0" i="1" smtClean="0">
                          <a:latin typeface="Cambria Math" panose="02040503050406030204" pitchFamily="18" charset="0"/>
                        </a:rPr>
                        <m:t>}</m:t>
                      </m:r>
                      <m:r>
                        <a:rPr lang="en-US" sz="2400" b="0" i="1" smtClean="0">
                          <a:latin typeface="Cambria Math" panose="02040503050406030204" pitchFamily="18" charset="0"/>
                        </a:rPr>
                        <m:t>,</m:t>
                      </m:r>
                      <m:r>
                        <m:rPr>
                          <m:lit/>
                        </m:rP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3</m:t>
                          </m:r>
                        </m:sub>
                      </m:sSub>
                      <m:r>
                        <m:rPr>
                          <m:lit/>
                        </m:rPr>
                        <a:rPr lang="en-US" sz="2400" b="0" i="1" smtClean="0">
                          <a:latin typeface="Cambria Math" panose="02040503050406030204" pitchFamily="18" charset="0"/>
                        </a:rPr>
                        <m:t>}</m:t>
                      </m:r>
                      <m:r>
                        <a:rPr lang="en-US" sz="2400" b="0" i="1" smtClean="0">
                          <a:latin typeface="Cambria Math" panose="02040503050406030204" pitchFamily="18" charset="0"/>
                        </a:rPr>
                        <m:t>,</m:t>
                      </m:r>
                      <m:r>
                        <m:rPr>
                          <m:lit/>
                        </m:rP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4</m:t>
                          </m:r>
                        </m:sub>
                      </m:sSub>
                      <m:r>
                        <m:rPr>
                          <m:lit/>
                        </m:rPr>
                        <a:rPr lang="en-US" sz="2400" b="0" i="1" smtClean="0">
                          <a:latin typeface="Cambria Math" panose="02040503050406030204" pitchFamily="18" charset="0"/>
                        </a:rPr>
                        <m:t>}</m:t>
                      </m:r>
                      <m:r>
                        <a:rPr lang="en-US" sz="2400" b="0" i="1" smtClean="0">
                          <a:latin typeface="Cambria Math" panose="02040503050406030204" pitchFamily="18" charset="0"/>
                        </a:rPr>
                        <m:t>,</m:t>
                      </m:r>
                      <m:r>
                        <m:rPr>
                          <m:lit/>
                        </m:rP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4</m:t>
                          </m:r>
                        </m:sub>
                      </m:sSub>
                      <m:r>
                        <m:rPr>
                          <m:lit/>
                        </m:rPr>
                        <a:rPr lang="en-US" sz="2400" b="0" i="1" smtClean="0">
                          <a:latin typeface="Cambria Math" panose="02040503050406030204" pitchFamily="18" charset="0"/>
                        </a:rPr>
                        <m:t>}}</m:t>
                      </m:r>
                    </m:oMath>
                  </m:oMathPara>
                </a14:m>
                <a:endParaRPr lang="en-CA" sz="2400" dirty="0"/>
              </a:p>
            </p:txBody>
          </p:sp>
        </mc:Choice>
        <mc:Fallback>
          <p:sp>
            <p:nvSpPr>
              <p:cNvPr id="43" name="TextBox 42">
                <a:extLst>
                  <a:ext uri="{FF2B5EF4-FFF2-40B4-BE49-F238E27FC236}">
                    <a16:creationId xmlns:a16="http://schemas.microsoft.com/office/drawing/2014/main" id="{9F567092-091F-8985-41B9-7F1F63F840B4}"/>
                  </a:ext>
                </a:extLst>
              </p:cNvPr>
              <p:cNvSpPr txBox="1">
                <a:spLocks noRot="1" noChangeAspect="1" noMove="1" noResize="1" noEditPoints="1" noAdjustHandles="1" noChangeArrowheads="1" noChangeShapeType="1" noTextEdit="1"/>
              </p:cNvSpPr>
              <p:nvPr/>
            </p:nvSpPr>
            <p:spPr>
              <a:xfrm>
                <a:off x="5086785" y="1709781"/>
                <a:ext cx="7105215" cy="369332"/>
              </a:xfrm>
              <a:prstGeom prst="rect">
                <a:avLst/>
              </a:prstGeom>
              <a:blipFill>
                <a:blip r:embed="rId11"/>
                <a:stretch>
                  <a:fillRect l="-535" r="-891" b="-33333"/>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4886B24F-486E-AFE3-9A87-D5808B4C88A2}"/>
                  </a:ext>
                </a:extLst>
              </p:cNvPr>
              <p:cNvSpPr txBox="1"/>
              <p:nvPr/>
            </p:nvSpPr>
            <p:spPr>
              <a:xfrm>
                <a:off x="5141479" y="1208467"/>
                <a:ext cx="342670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𝑋</m:t>
                      </m:r>
                      <m:r>
                        <a:rPr lang="en-US" sz="2400" b="0" i="1" smtClean="0">
                          <a:latin typeface="Cambria Math" panose="02040503050406030204" pitchFamily="18" charset="0"/>
                        </a:rPr>
                        <m:t>=</m:t>
                      </m:r>
                      <m:r>
                        <m:rPr>
                          <m:lit/>
                        </m:rP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3</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4</m:t>
                          </m:r>
                        </m:sub>
                      </m:sSub>
                      <m:r>
                        <m:rPr>
                          <m:lit/>
                        </m:rPr>
                        <a:rPr lang="en-US" sz="2400" b="0" i="1" smtClean="0">
                          <a:latin typeface="Cambria Math" panose="02040503050406030204" pitchFamily="18" charset="0"/>
                        </a:rPr>
                        <m:t>},</m:t>
                      </m:r>
                    </m:oMath>
                  </m:oMathPara>
                </a14:m>
                <a:endParaRPr lang="en-CA" sz="2400" dirty="0"/>
              </a:p>
            </p:txBody>
          </p:sp>
        </mc:Choice>
        <mc:Fallback>
          <p:sp>
            <p:nvSpPr>
              <p:cNvPr id="44" name="TextBox 43">
                <a:extLst>
                  <a:ext uri="{FF2B5EF4-FFF2-40B4-BE49-F238E27FC236}">
                    <a16:creationId xmlns:a16="http://schemas.microsoft.com/office/drawing/2014/main" id="{4886B24F-486E-AFE3-9A87-D5808B4C88A2}"/>
                  </a:ext>
                </a:extLst>
              </p:cNvPr>
              <p:cNvSpPr txBox="1">
                <a:spLocks noRot="1" noChangeAspect="1" noMove="1" noResize="1" noEditPoints="1" noAdjustHandles="1" noChangeArrowheads="1" noChangeShapeType="1" noTextEdit="1"/>
              </p:cNvSpPr>
              <p:nvPr/>
            </p:nvSpPr>
            <p:spPr>
              <a:xfrm>
                <a:off x="5141479" y="1208467"/>
                <a:ext cx="3426707" cy="369332"/>
              </a:xfrm>
              <a:prstGeom prst="rect">
                <a:avLst/>
              </a:prstGeom>
              <a:blipFill>
                <a:blip r:embed="rId12"/>
                <a:stretch>
                  <a:fillRect l="-1476" r="-738" b="-33333"/>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2913A896-08DC-12A5-1C43-7BAAA978002F}"/>
                  </a:ext>
                </a:extLst>
              </p:cNvPr>
              <p:cNvSpPr txBox="1"/>
              <p:nvPr/>
            </p:nvSpPr>
            <p:spPr>
              <a:xfrm>
                <a:off x="8849565" y="1225693"/>
                <a:ext cx="16163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𝑂</m:t>
                      </m:r>
                      <m:r>
                        <a:rPr lang="en-US" sz="2400" b="0" i="1" smtClean="0">
                          <a:latin typeface="Cambria Math" panose="02040503050406030204" pitchFamily="18" charset="0"/>
                        </a:rPr>
                        <m:t>=</m:t>
                      </m:r>
                      <m:r>
                        <m:rPr>
                          <m:lit/>
                        </m:rPr>
                        <a:rPr lang="en-US" sz="2400" b="0" i="1" smtClean="0">
                          <a:latin typeface="Cambria Math" panose="02040503050406030204" pitchFamily="18" charset="0"/>
                        </a:rPr>
                        <m:t>{</m:t>
                      </m:r>
                      <m:r>
                        <a:rPr lang="en-US" sz="2400" b="0" i="1" smtClean="0">
                          <a:latin typeface="Cambria Math" panose="02040503050406030204" pitchFamily="18" charset="0"/>
                        </a:rPr>
                        <m:t>−1,1</m:t>
                      </m:r>
                      <m:r>
                        <m:rPr>
                          <m:lit/>
                        </m:rPr>
                        <a:rPr lang="en-US" sz="2400" b="0" i="1" smtClean="0">
                          <a:latin typeface="Cambria Math" panose="02040503050406030204" pitchFamily="18" charset="0"/>
                        </a:rPr>
                        <m:t>},</m:t>
                      </m:r>
                    </m:oMath>
                  </m:oMathPara>
                </a14:m>
                <a:endParaRPr lang="en-CA" sz="2400" dirty="0"/>
              </a:p>
            </p:txBody>
          </p:sp>
        </mc:Choice>
        <mc:Fallback>
          <p:sp>
            <p:nvSpPr>
              <p:cNvPr id="45" name="TextBox 44">
                <a:extLst>
                  <a:ext uri="{FF2B5EF4-FFF2-40B4-BE49-F238E27FC236}">
                    <a16:creationId xmlns:a16="http://schemas.microsoft.com/office/drawing/2014/main" id="{2913A896-08DC-12A5-1C43-7BAAA978002F}"/>
                  </a:ext>
                </a:extLst>
              </p:cNvPr>
              <p:cNvSpPr txBox="1">
                <a:spLocks noRot="1" noChangeAspect="1" noMove="1" noResize="1" noEditPoints="1" noAdjustHandles="1" noChangeArrowheads="1" noChangeShapeType="1" noTextEdit="1"/>
              </p:cNvSpPr>
              <p:nvPr/>
            </p:nvSpPr>
            <p:spPr>
              <a:xfrm>
                <a:off x="8849565" y="1225693"/>
                <a:ext cx="1616340" cy="369332"/>
              </a:xfrm>
              <a:prstGeom prst="rect">
                <a:avLst/>
              </a:prstGeom>
              <a:blipFill>
                <a:blip r:embed="rId13"/>
                <a:stretch>
                  <a:fillRect l="-3876" r="-2326" b="-33333"/>
                </a:stretch>
              </a:blipFill>
            </p:spPr>
            <p:txBody>
              <a:bodyPr/>
              <a:lstStyle/>
              <a:p>
                <a:r>
                  <a:rPr lang="en-CA">
                    <a:noFill/>
                  </a:rPr>
                  <a:t> </a:t>
                </a:r>
              </a:p>
            </p:txBody>
          </p:sp>
        </mc:Fallback>
      </mc:AlternateContent>
      <p:sp>
        <p:nvSpPr>
          <p:cNvPr id="48" name="TextBox 47">
            <a:extLst>
              <a:ext uri="{FF2B5EF4-FFF2-40B4-BE49-F238E27FC236}">
                <a16:creationId xmlns:a16="http://schemas.microsoft.com/office/drawing/2014/main" id="{780089B1-8EEB-E46A-C874-3658BD4A3090}"/>
              </a:ext>
            </a:extLst>
          </p:cNvPr>
          <p:cNvSpPr txBox="1"/>
          <p:nvPr/>
        </p:nvSpPr>
        <p:spPr>
          <a:xfrm>
            <a:off x="1259752" y="1087190"/>
            <a:ext cx="3055563" cy="492443"/>
          </a:xfrm>
          <a:prstGeom prst="rect">
            <a:avLst/>
          </a:prstGeom>
          <a:noFill/>
        </p:spPr>
        <p:txBody>
          <a:bodyPr wrap="square" rtlCol="0">
            <a:spAutoFit/>
          </a:bodyPr>
          <a:lstStyle/>
          <a:p>
            <a:r>
              <a:rPr lang="en-CA" sz="2600" dirty="0"/>
              <a:t>Pentagram Scenario</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7924F52-7830-9C92-05D2-89A0316024F6}"/>
                  </a:ext>
                </a:extLst>
              </p:cNvPr>
              <p:cNvSpPr txBox="1"/>
              <p:nvPr/>
            </p:nvSpPr>
            <p:spPr>
              <a:xfrm>
                <a:off x="5310045" y="5179437"/>
                <a:ext cx="6763326" cy="74693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𝑖</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=−1</m:t>
                              </m:r>
                            </m:e>
                          </m:d>
                        </m:e>
                      </m:nary>
                      <m:r>
                        <a:rPr lang="en-US" sz="2000" b="0" i="1" smtClean="0">
                          <a:latin typeface="Cambria Math" panose="02040503050406030204" pitchFamily="18" charset="0"/>
                        </a:rPr>
                        <m:t>=2</m:t>
                      </m:r>
                      <m:r>
                        <m:rPr>
                          <m:lit/>
                        </m:rPr>
                        <a:rPr lang="en-US" sz="2000" b="0" i="1" smtClean="0">
                          <a:latin typeface="Cambria Math" panose="02040503050406030204" pitchFamily="18" charset="0"/>
                        </a:rPr>
                        <m:t>/</m:t>
                      </m:r>
                      <m:r>
                        <a:rPr lang="en-US" sz="2000" b="0" i="1" smtClean="0">
                          <a:latin typeface="Cambria Math" panose="02040503050406030204" pitchFamily="18" charset="0"/>
                        </a:rPr>
                        <m:t>3+2</m:t>
                      </m:r>
                      <m:r>
                        <m:rPr>
                          <m:lit/>
                        </m:rPr>
                        <a:rPr lang="en-US" sz="2000" b="0" i="1" smtClean="0">
                          <a:latin typeface="Cambria Math" panose="02040503050406030204" pitchFamily="18" charset="0"/>
                        </a:rPr>
                        <m:t>/</m:t>
                      </m:r>
                      <m:r>
                        <a:rPr lang="en-US" sz="2000" b="0" i="1" smtClean="0">
                          <a:latin typeface="Cambria Math" panose="02040503050406030204" pitchFamily="18" charset="0"/>
                        </a:rPr>
                        <m:t>3+1</m:t>
                      </m:r>
                      <m:r>
                        <m:rPr>
                          <m:lit/>
                        </m:rPr>
                        <a:rPr lang="en-US" sz="2000" b="0" i="1" smtClean="0">
                          <a:latin typeface="Cambria Math" panose="02040503050406030204" pitchFamily="18" charset="0"/>
                        </a:rPr>
                        <m:t>/</m:t>
                      </m:r>
                      <m:r>
                        <a:rPr lang="en-US" sz="2000" b="0" i="1" smtClean="0">
                          <a:latin typeface="Cambria Math" panose="02040503050406030204" pitchFamily="18" charset="0"/>
                        </a:rPr>
                        <m:t>3+1</m:t>
                      </m:r>
                      <m:r>
                        <m:rPr>
                          <m:lit/>
                        </m:rPr>
                        <a:rPr lang="en-US" sz="2000" b="0" i="1" smtClean="0">
                          <a:latin typeface="Cambria Math" panose="02040503050406030204" pitchFamily="18" charset="0"/>
                        </a:rPr>
                        <m:t>/</m:t>
                      </m:r>
                      <m:r>
                        <a:rPr lang="en-US" sz="2000" b="0" i="1" smtClean="0">
                          <a:latin typeface="Cambria Math" panose="02040503050406030204" pitchFamily="18" charset="0"/>
                        </a:rPr>
                        <m:t>3+1</m:t>
                      </m:r>
                      <m:r>
                        <m:rPr>
                          <m:lit/>
                        </m:rPr>
                        <a:rPr lang="en-US" sz="2000" b="0" i="1" smtClean="0">
                          <a:latin typeface="Cambria Math" panose="02040503050406030204" pitchFamily="18" charset="0"/>
                        </a:rPr>
                        <m:t>/</m:t>
                      </m:r>
                      <m:r>
                        <a:rPr lang="en-US" sz="2000" b="0" i="1" smtClean="0">
                          <a:latin typeface="Cambria Math" panose="02040503050406030204" pitchFamily="18" charset="0"/>
                        </a:rPr>
                        <m:t>9=19</m:t>
                      </m:r>
                      <m:r>
                        <m:rPr>
                          <m:lit/>
                        </m:rPr>
                        <a:rPr lang="en-US" sz="2000" b="0" i="1" smtClean="0">
                          <a:latin typeface="Cambria Math" panose="02040503050406030204" pitchFamily="18" charset="0"/>
                        </a:rPr>
                        <m:t>/</m:t>
                      </m:r>
                      <m:r>
                        <a:rPr lang="en-US" sz="2000" b="0" i="1" smtClean="0">
                          <a:latin typeface="Cambria Math" panose="02040503050406030204" pitchFamily="18" charset="0"/>
                        </a:rPr>
                        <m:t>9&gt;2</m:t>
                      </m:r>
                    </m:oMath>
                  </m:oMathPara>
                </a14:m>
                <a:endParaRPr lang="en-CA" sz="2000" dirty="0"/>
              </a:p>
            </p:txBody>
          </p:sp>
        </mc:Choice>
        <mc:Fallback>
          <p:sp>
            <p:nvSpPr>
              <p:cNvPr id="9" name="TextBox 8">
                <a:extLst>
                  <a:ext uri="{FF2B5EF4-FFF2-40B4-BE49-F238E27FC236}">
                    <a16:creationId xmlns:a16="http://schemas.microsoft.com/office/drawing/2014/main" id="{47924F52-7830-9C92-05D2-89A0316024F6}"/>
                  </a:ext>
                </a:extLst>
              </p:cNvPr>
              <p:cNvSpPr txBox="1">
                <a:spLocks noRot="1" noChangeAspect="1" noMove="1" noResize="1" noEditPoints="1" noAdjustHandles="1" noChangeArrowheads="1" noChangeShapeType="1" noTextEdit="1"/>
              </p:cNvSpPr>
              <p:nvPr/>
            </p:nvSpPr>
            <p:spPr>
              <a:xfrm>
                <a:off x="5310045" y="5179437"/>
                <a:ext cx="6763326" cy="746936"/>
              </a:xfrm>
              <a:prstGeom prst="rect">
                <a:avLst/>
              </a:prstGeom>
              <a:blipFill>
                <a:blip r:embed="rId14"/>
                <a:stretch>
                  <a:fillRect l="-13508" t="-149153" r="-375" b="-205085"/>
                </a:stretch>
              </a:blipFill>
            </p:spPr>
            <p:txBody>
              <a:bodyPr/>
              <a:lstStyle/>
              <a:p>
                <a:r>
                  <a:rPr lang="en-CA">
                    <a:noFill/>
                  </a:rPr>
                  <a:t> </a:t>
                </a:r>
              </a:p>
            </p:txBody>
          </p:sp>
        </mc:Fallback>
      </mc:AlternateContent>
      <p:pic>
        <p:nvPicPr>
          <p:cNvPr id="10" name="Picture 9">
            <a:extLst>
              <a:ext uri="{FF2B5EF4-FFF2-40B4-BE49-F238E27FC236}">
                <a16:creationId xmlns:a16="http://schemas.microsoft.com/office/drawing/2014/main" id="{9B61AE56-9402-C76A-74A1-BDF7C15ACF12}"/>
              </a:ext>
            </a:extLst>
          </p:cNvPr>
          <p:cNvPicPr>
            <a:picLocks noChangeAspect="1"/>
          </p:cNvPicPr>
          <p:nvPr/>
        </p:nvPicPr>
        <p:blipFill>
          <a:blip r:embed="rId15"/>
          <a:stretch>
            <a:fillRect/>
          </a:stretch>
        </p:blipFill>
        <p:spPr>
          <a:xfrm>
            <a:off x="5685953" y="2178715"/>
            <a:ext cx="6011510" cy="2939770"/>
          </a:xfrm>
          <a:prstGeom prst="rect">
            <a:avLst/>
          </a:prstGeom>
        </p:spPr>
      </p:pic>
    </p:spTree>
    <p:custDataLst>
      <p:tags r:id="rId1"/>
    </p:custDataLst>
    <p:extLst>
      <p:ext uri="{BB962C8B-B14F-4D97-AF65-F5344CB8AC3E}">
        <p14:creationId xmlns:p14="http://schemas.microsoft.com/office/powerpoint/2010/main" val="388916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C2294-8916-54BA-B9F3-B356720343F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F025CC35-68A5-4BEA-A3AF-87255D3C6DD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D508CAC5-13F1-36FE-6469-F8482D8CEE7D}"/>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and Non-Classicality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C291D21-CC50-9919-0827-BCB2D8C6381C}"/>
              </a:ext>
            </a:extLst>
          </p:cNvPr>
          <p:cNvSpPr>
            <a:spLocks noGrp="1"/>
          </p:cNvSpPr>
          <p:nvPr>
            <p:ph type="sldNum" sz="quarter" idx="12"/>
          </p:nvPr>
        </p:nvSpPr>
        <p:spPr/>
        <p:txBody>
          <a:bodyPr/>
          <a:lstStyle/>
          <a:p>
            <a:fld id="{D0617D14-1B55-43C0-819D-0D244AC23646}" type="slidenum">
              <a:rPr lang="de-AT" smtClean="0"/>
              <a:t>9</a:t>
            </a:fld>
            <a:endParaRPr lang="de-AT"/>
          </a:p>
        </p:txBody>
      </p:sp>
      <p:sp>
        <p:nvSpPr>
          <p:cNvPr id="4" name="Rounded Rectangle 3">
            <a:extLst>
              <a:ext uri="{FF2B5EF4-FFF2-40B4-BE49-F238E27FC236}">
                <a16:creationId xmlns:a16="http://schemas.microsoft.com/office/drawing/2014/main" id="{92DD6599-3671-2F42-2BD9-1BE57B52F236}"/>
              </a:ext>
            </a:extLst>
          </p:cNvPr>
          <p:cNvSpPr/>
          <p:nvPr/>
        </p:nvSpPr>
        <p:spPr>
          <a:xfrm>
            <a:off x="1559169" y="4680488"/>
            <a:ext cx="9488052" cy="841248"/>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C348898C-3C27-E1C3-C44E-42CEBAED957F}"/>
              </a:ext>
            </a:extLst>
          </p:cNvPr>
          <p:cNvSpPr txBox="1"/>
          <p:nvPr/>
        </p:nvSpPr>
        <p:spPr>
          <a:xfrm>
            <a:off x="2797995" y="4845894"/>
            <a:ext cx="7010400" cy="461665"/>
          </a:xfrm>
          <a:prstGeom prst="rect">
            <a:avLst/>
          </a:prstGeom>
          <a:noFill/>
        </p:spPr>
        <p:txBody>
          <a:bodyPr wrap="square" rtlCol="0">
            <a:spAutoFit/>
          </a:bodyPr>
          <a:lstStyle/>
          <a:p>
            <a:r>
              <a:rPr lang="en-CA" sz="2400" dirty="0"/>
              <a:t>Contextuality/nonlocality resist a classical explanation</a:t>
            </a:r>
          </a:p>
        </p:txBody>
      </p:sp>
      <p:sp>
        <p:nvSpPr>
          <p:cNvPr id="5" name="TextBox 4">
            <a:extLst>
              <a:ext uri="{FF2B5EF4-FFF2-40B4-BE49-F238E27FC236}">
                <a16:creationId xmlns:a16="http://schemas.microsoft.com/office/drawing/2014/main" id="{B16929CF-3270-88A8-9564-F5D6CB438EB5}"/>
              </a:ext>
            </a:extLst>
          </p:cNvPr>
          <p:cNvSpPr txBox="1"/>
          <p:nvPr/>
        </p:nvSpPr>
        <p:spPr>
          <a:xfrm>
            <a:off x="393884" y="1173327"/>
            <a:ext cx="9605901" cy="461665"/>
          </a:xfrm>
          <a:prstGeom prst="rect">
            <a:avLst/>
          </a:prstGeom>
          <a:noFill/>
        </p:spPr>
        <p:txBody>
          <a:bodyPr wrap="square" rtlCol="0">
            <a:spAutoFit/>
          </a:bodyPr>
          <a:lstStyle/>
          <a:p>
            <a:r>
              <a:rPr lang="en-CA" sz="2400" dirty="0"/>
              <a:t>Many features of quantum theory can be explained with classical models…</a:t>
            </a:r>
          </a:p>
        </p:txBody>
      </p:sp>
      <p:sp>
        <p:nvSpPr>
          <p:cNvPr id="8" name="TextBox 7">
            <a:extLst>
              <a:ext uri="{FF2B5EF4-FFF2-40B4-BE49-F238E27FC236}">
                <a16:creationId xmlns:a16="http://schemas.microsoft.com/office/drawing/2014/main" id="{16F0B797-543D-56FE-D0F0-179C10F9995E}"/>
              </a:ext>
            </a:extLst>
          </p:cNvPr>
          <p:cNvSpPr txBox="1"/>
          <p:nvPr/>
        </p:nvSpPr>
        <p:spPr>
          <a:xfrm>
            <a:off x="783123" y="1691356"/>
            <a:ext cx="8538483" cy="2616101"/>
          </a:xfrm>
          <a:prstGeom prst="rect">
            <a:avLst/>
          </a:prstGeom>
          <a:noFill/>
        </p:spPr>
        <p:txBody>
          <a:bodyPr wrap="square" rtlCol="0">
            <a:spAutoFit/>
          </a:bodyPr>
          <a:lstStyle/>
          <a:p>
            <a:pPr marL="342900" indent="-342900">
              <a:buFont typeface="Arial" panose="020B0604020202020204" pitchFamily="34" charset="0"/>
              <a:buChar char="•"/>
            </a:pPr>
            <a:r>
              <a:rPr lang="en-CA" sz="2400" dirty="0"/>
              <a:t>Entanglement</a:t>
            </a:r>
          </a:p>
          <a:p>
            <a:pPr marL="342900" indent="-342900">
              <a:buFont typeface="Arial" panose="020B0604020202020204" pitchFamily="34" charset="0"/>
              <a:buChar char="•"/>
            </a:pPr>
            <a:r>
              <a:rPr lang="en-CA" sz="2400" dirty="0"/>
              <a:t>Steering</a:t>
            </a:r>
          </a:p>
          <a:p>
            <a:pPr marL="342900" indent="-342900">
              <a:buFont typeface="Arial" panose="020B0604020202020204" pitchFamily="34" charset="0"/>
              <a:buChar char="•"/>
            </a:pPr>
            <a:r>
              <a:rPr lang="en-CA" sz="2400" dirty="0"/>
              <a:t>Teleportation</a:t>
            </a:r>
          </a:p>
          <a:p>
            <a:pPr marL="342900" indent="-342900">
              <a:buFont typeface="Arial" panose="020B0604020202020204" pitchFamily="34" charset="0"/>
              <a:buChar char="•"/>
            </a:pPr>
            <a:r>
              <a:rPr lang="en-CA" sz="2400" dirty="0"/>
              <a:t>Dense Coding</a:t>
            </a:r>
          </a:p>
          <a:p>
            <a:pPr marL="342900" indent="-342900">
              <a:buFont typeface="Arial" panose="020B0604020202020204" pitchFamily="34" charset="0"/>
              <a:buChar char="•"/>
            </a:pPr>
            <a:r>
              <a:rPr lang="en-CA" sz="2400" dirty="0"/>
              <a:t>Interference</a:t>
            </a:r>
          </a:p>
          <a:p>
            <a:pPr marL="342900" indent="-342900">
              <a:buFont typeface="Arial" panose="020B0604020202020204" pitchFamily="34" charset="0"/>
              <a:buChar char="•"/>
            </a:pPr>
            <a:r>
              <a:rPr lang="en-CA" sz="2400" dirty="0"/>
              <a:t>… and more!</a:t>
            </a:r>
          </a:p>
          <a:p>
            <a:pPr marL="342900" indent="-342900">
              <a:buFont typeface="Arial" panose="020B0604020202020204" pitchFamily="34" charset="0"/>
              <a:buChar char="•"/>
            </a:pPr>
            <a:endParaRPr lang="en-CA" sz="2000" dirty="0"/>
          </a:p>
        </p:txBody>
      </p:sp>
      <p:sp>
        <p:nvSpPr>
          <p:cNvPr id="9" name="TextBox 8">
            <a:extLst>
              <a:ext uri="{FF2B5EF4-FFF2-40B4-BE49-F238E27FC236}">
                <a16:creationId xmlns:a16="http://schemas.microsoft.com/office/drawing/2014/main" id="{056E41BF-5456-6C3C-8F4E-42EFA8A86E00}"/>
              </a:ext>
            </a:extLst>
          </p:cNvPr>
          <p:cNvSpPr txBox="1"/>
          <p:nvPr/>
        </p:nvSpPr>
        <p:spPr>
          <a:xfrm>
            <a:off x="393884" y="3959548"/>
            <a:ext cx="8538483" cy="461665"/>
          </a:xfrm>
          <a:prstGeom prst="rect">
            <a:avLst/>
          </a:prstGeom>
          <a:noFill/>
        </p:spPr>
        <p:txBody>
          <a:bodyPr wrap="square" rtlCol="0">
            <a:spAutoFit/>
          </a:bodyPr>
          <a:lstStyle/>
          <a:p>
            <a:r>
              <a:rPr lang="en-CA" sz="2400" dirty="0"/>
              <a:t>So what about quantum theory is not classical?</a:t>
            </a:r>
          </a:p>
        </p:txBody>
      </p:sp>
      <p:sp>
        <p:nvSpPr>
          <p:cNvPr id="10" name="TextBox 9">
            <a:extLst>
              <a:ext uri="{FF2B5EF4-FFF2-40B4-BE49-F238E27FC236}">
                <a16:creationId xmlns:a16="http://schemas.microsoft.com/office/drawing/2014/main" id="{DC6B07D2-AE10-69E3-58F7-680219F6080C}"/>
              </a:ext>
            </a:extLst>
          </p:cNvPr>
          <p:cNvSpPr txBox="1"/>
          <p:nvPr/>
        </p:nvSpPr>
        <p:spPr>
          <a:xfrm rot="20625338">
            <a:off x="3592228" y="2417688"/>
            <a:ext cx="2920270" cy="461665"/>
          </a:xfrm>
          <a:prstGeom prst="rect">
            <a:avLst/>
          </a:prstGeom>
          <a:noFill/>
        </p:spPr>
        <p:txBody>
          <a:bodyPr wrap="square" rtlCol="0">
            <a:spAutoFit/>
          </a:bodyPr>
          <a:lstStyle/>
          <a:p>
            <a:r>
              <a:rPr lang="en-CA" sz="2400" dirty="0" err="1"/>
              <a:t>Spekkens</a:t>
            </a:r>
            <a:r>
              <a:rPr lang="en-CA" sz="2400" dirty="0"/>
              <a:t>’ toy model!</a:t>
            </a:r>
          </a:p>
        </p:txBody>
      </p:sp>
      <p:sp>
        <p:nvSpPr>
          <p:cNvPr id="12" name="TextBox 11">
            <a:extLst>
              <a:ext uri="{FF2B5EF4-FFF2-40B4-BE49-F238E27FC236}">
                <a16:creationId xmlns:a16="http://schemas.microsoft.com/office/drawing/2014/main" id="{187EC39A-01A1-9A0F-14F8-553E23BCCE19}"/>
              </a:ext>
            </a:extLst>
          </p:cNvPr>
          <p:cNvSpPr txBox="1"/>
          <p:nvPr/>
        </p:nvSpPr>
        <p:spPr>
          <a:xfrm>
            <a:off x="197687" y="5732240"/>
            <a:ext cx="10758853" cy="307777"/>
          </a:xfrm>
          <a:prstGeom prst="rect">
            <a:avLst/>
          </a:prstGeom>
          <a:noFill/>
        </p:spPr>
        <p:txBody>
          <a:bodyPr wrap="square">
            <a:spAutoFit/>
          </a:bodyPr>
          <a:lstStyle/>
          <a:p>
            <a:r>
              <a:rPr lang="en-CA" sz="1400" dirty="0">
                <a:solidFill>
                  <a:schemeClr val="bg1">
                    <a:lumMod val="75000"/>
                  </a:schemeClr>
                </a:solidFill>
              </a:rPr>
              <a:t>R. W. </a:t>
            </a:r>
            <a:r>
              <a:rPr lang="en-CA" sz="1400" dirty="0" err="1">
                <a:solidFill>
                  <a:schemeClr val="bg1">
                    <a:lumMod val="75000"/>
                  </a:schemeClr>
                </a:solidFill>
              </a:rPr>
              <a:t>Spekkens</a:t>
            </a:r>
            <a:r>
              <a:rPr lang="en-CA" sz="1400" dirty="0">
                <a:solidFill>
                  <a:schemeClr val="bg1">
                    <a:lumMod val="75000"/>
                  </a:schemeClr>
                </a:solidFill>
              </a:rPr>
              <a:t>, In defense of the epistemic view of  quantum states: A toy theory, Phys. Rev. A 75, 032110 (2007).</a:t>
            </a:r>
          </a:p>
        </p:txBody>
      </p:sp>
    </p:spTree>
    <p:custDataLst>
      <p:tags r:id="rId1"/>
    </p:custDataLst>
    <p:extLst>
      <p:ext uri="{BB962C8B-B14F-4D97-AF65-F5344CB8AC3E}">
        <p14:creationId xmlns:p14="http://schemas.microsoft.com/office/powerpoint/2010/main" val="141006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655D8-BC48-822A-1029-90E2D088A33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544E446-5235-97B9-D56A-29491139DC7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3B7D538D-D776-C8BB-DACB-48693D209A38}"/>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vs. Magic vs. Wigner Negativity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2047C28-7583-F28B-29A7-EB087BF62FDF}"/>
              </a:ext>
            </a:extLst>
          </p:cNvPr>
          <p:cNvSpPr>
            <a:spLocks noGrp="1"/>
          </p:cNvSpPr>
          <p:nvPr>
            <p:ph type="sldNum" sz="quarter" idx="12"/>
          </p:nvPr>
        </p:nvSpPr>
        <p:spPr/>
        <p:txBody>
          <a:bodyPr/>
          <a:lstStyle/>
          <a:p>
            <a:fld id="{D0617D14-1B55-43C0-819D-0D244AC23646}" type="slidenum">
              <a:rPr lang="de-AT" smtClean="0"/>
              <a:t>10</a:t>
            </a:fld>
            <a:endParaRPr lang="de-AT"/>
          </a:p>
        </p:txBody>
      </p:sp>
      <p:sp>
        <p:nvSpPr>
          <p:cNvPr id="9" name="TextBox 8">
            <a:extLst>
              <a:ext uri="{FF2B5EF4-FFF2-40B4-BE49-F238E27FC236}">
                <a16:creationId xmlns:a16="http://schemas.microsoft.com/office/drawing/2014/main" id="{1D9AA438-ADCB-8695-53E7-76810C710B5F}"/>
              </a:ext>
            </a:extLst>
          </p:cNvPr>
          <p:cNvSpPr txBox="1"/>
          <p:nvPr/>
        </p:nvSpPr>
        <p:spPr>
          <a:xfrm>
            <a:off x="96715" y="5797648"/>
            <a:ext cx="11040208" cy="307777"/>
          </a:xfrm>
          <a:prstGeom prst="rect">
            <a:avLst/>
          </a:prstGeom>
          <a:noFill/>
        </p:spPr>
        <p:txBody>
          <a:bodyPr wrap="square">
            <a:spAutoFit/>
          </a:bodyPr>
          <a:lstStyle/>
          <a:p>
            <a:r>
              <a:rPr lang="en-US" sz="1400" dirty="0">
                <a:solidFill>
                  <a:schemeClr val="bg1">
                    <a:lumMod val="75000"/>
                  </a:schemeClr>
                </a:solidFill>
              </a:rPr>
              <a:t>M. Howard, J. J. Wallman, V. Veitch, and J. Emerson, Contextuality supplies the magic for quantum computation, Nature (London) 510, 351 (2014).</a:t>
            </a:r>
          </a:p>
        </p:txBody>
      </p:sp>
      <p:sp>
        <p:nvSpPr>
          <p:cNvPr id="4" name="Oval 3">
            <a:extLst>
              <a:ext uri="{FF2B5EF4-FFF2-40B4-BE49-F238E27FC236}">
                <a16:creationId xmlns:a16="http://schemas.microsoft.com/office/drawing/2014/main" id="{687B7E11-448C-48A7-2C43-651CBE71CE77}"/>
              </a:ext>
            </a:extLst>
          </p:cNvPr>
          <p:cNvSpPr/>
          <p:nvPr/>
        </p:nvSpPr>
        <p:spPr>
          <a:xfrm>
            <a:off x="4664028" y="2046147"/>
            <a:ext cx="2863944" cy="2855983"/>
          </a:xfrm>
          <a:prstGeom prst="ellipse">
            <a:avLst/>
          </a:prstGeom>
          <a:solidFill>
            <a:srgbClr val="F2F7FC"/>
          </a:solidFill>
          <a:ln w="17780">
            <a:solidFill>
              <a:srgbClr val="002E5F"/>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2600" b="1" dirty="0">
                <a:solidFill>
                  <a:srgbClr val="002E5F"/>
                </a:solidFill>
                <a:latin typeface="Calibri Light"/>
              </a:rPr>
              <a:t>Contextuality</a:t>
            </a:r>
          </a:p>
        </p:txBody>
      </p:sp>
      <p:sp>
        <p:nvSpPr>
          <p:cNvPr id="6" name="Oval 5">
            <a:extLst>
              <a:ext uri="{FF2B5EF4-FFF2-40B4-BE49-F238E27FC236}">
                <a16:creationId xmlns:a16="http://schemas.microsoft.com/office/drawing/2014/main" id="{389DC463-0245-8597-164A-D0B5D60645CA}"/>
              </a:ext>
            </a:extLst>
          </p:cNvPr>
          <p:cNvSpPr/>
          <p:nvPr/>
        </p:nvSpPr>
        <p:spPr>
          <a:xfrm>
            <a:off x="2400233" y="2760833"/>
            <a:ext cx="1696866" cy="1545579"/>
          </a:xfrm>
          <a:prstGeom prst="ellipse">
            <a:avLst/>
          </a:prstGeom>
          <a:solidFill>
            <a:srgbClr val="FFFFFF"/>
          </a:solidFill>
          <a:ln w="17780">
            <a:solidFill>
              <a:srgbClr val="2C8465"/>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2000" b="1" dirty="0">
                <a:solidFill>
                  <a:srgbClr val="2C8465"/>
                </a:solidFill>
                <a:latin typeface="Calibri Light"/>
              </a:rPr>
              <a:t>Bell</a:t>
            </a:r>
          </a:p>
          <a:p>
            <a:pPr algn="ctr"/>
            <a:r>
              <a:rPr sz="2000" b="1" dirty="0">
                <a:solidFill>
                  <a:srgbClr val="2C8465"/>
                </a:solidFill>
                <a:latin typeface="Calibri Light"/>
              </a:rPr>
              <a:t>nonlocality</a:t>
            </a:r>
          </a:p>
        </p:txBody>
      </p:sp>
      <p:sp>
        <p:nvSpPr>
          <p:cNvPr id="8" name="Oval 7">
            <a:extLst>
              <a:ext uri="{FF2B5EF4-FFF2-40B4-BE49-F238E27FC236}">
                <a16:creationId xmlns:a16="http://schemas.microsoft.com/office/drawing/2014/main" id="{8AC73C5E-2A44-70A2-ABFB-F79802C8A826}"/>
              </a:ext>
            </a:extLst>
          </p:cNvPr>
          <p:cNvSpPr/>
          <p:nvPr/>
        </p:nvSpPr>
        <p:spPr>
          <a:xfrm>
            <a:off x="7782591" y="1534554"/>
            <a:ext cx="1379480" cy="1389887"/>
          </a:xfrm>
          <a:prstGeom prst="ellipse">
            <a:avLst/>
          </a:prstGeom>
          <a:solidFill>
            <a:srgbClr val="FFFFFF"/>
          </a:solidFill>
          <a:ln w="17780">
            <a:solidFill>
              <a:srgbClr val="F6B335"/>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2000" b="1" dirty="0">
                <a:solidFill>
                  <a:srgbClr val="FFC000"/>
                </a:solidFill>
                <a:latin typeface="Calibri Light"/>
              </a:rPr>
              <a:t>Magic</a:t>
            </a:r>
          </a:p>
        </p:txBody>
      </p:sp>
      <p:sp>
        <p:nvSpPr>
          <p:cNvPr id="10" name="Oval 9">
            <a:extLst>
              <a:ext uri="{FF2B5EF4-FFF2-40B4-BE49-F238E27FC236}">
                <a16:creationId xmlns:a16="http://schemas.microsoft.com/office/drawing/2014/main" id="{8652259B-AD29-A915-6D5F-051B19BC60FC}"/>
              </a:ext>
            </a:extLst>
          </p:cNvPr>
          <p:cNvSpPr/>
          <p:nvPr/>
        </p:nvSpPr>
        <p:spPr>
          <a:xfrm>
            <a:off x="7943863" y="3615470"/>
            <a:ext cx="1516166" cy="1488872"/>
          </a:xfrm>
          <a:prstGeom prst="ellipse">
            <a:avLst/>
          </a:prstGeom>
          <a:solidFill>
            <a:srgbClr val="FFFFFF"/>
          </a:solidFill>
          <a:ln w="17780">
            <a:solidFill>
              <a:srgbClr val="E47128"/>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2000" b="1" dirty="0">
                <a:solidFill>
                  <a:srgbClr val="E47128"/>
                </a:solidFill>
                <a:latin typeface="Calibri Light"/>
              </a:rPr>
              <a:t>Wigner</a:t>
            </a:r>
          </a:p>
          <a:p>
            <a:pPr algn="ctr"/>
            <a:r>
              <a:rPr sz="2000" b="1" dirty="0">
                <a:solidFill>
                  <a:srgbClr val="E47128"/>
                </a:solidFill>
                <a:latin typeface="Calibri Light"/>
              </a:rPr>
              <a:t>negativity</a:t>
            </a:r>
          </a:p>
        </p:txBody>
      </p:sp>
      <p:sp>
        <p:nvSpPr>
          <p:cNvPr id="11" name="Left-Right Arrow 10">
            <a:extLst>
              <a:ext uri="{FF2B5EF4-FFF2-40B4-BE49-F238E27FC236}">
                <a16:creationId xmlns:a16="http://schemas.microsoft.com/office/drawing/2014/main" id="{629DF88A-9A5F-1768-67D0-E9956B712F85}"/>
              </a:ext>
            </a:extLst>
          </p:cNvPr>
          <p:cNvSpPr/>
          <p:nvPr/>
        </p:nvSpPr>
        <p:spPr>
          <a:xfrm rot="10800000">
            <a:off x="4097100" y="3386762"/>
            <a:ext cx="566928" cy="301752"/>
          </a:xfrm>
          <a:prstGeom prst="leftRightArrow">
            <a:avLst/>
          </a:prstGeom>
          <a:solidFill>
            <a:srgbClr val="2C8465"/>
          </a:solidFill>
          <a:ln>
            <a:solidFill>
              <a:srgbClr val="2C84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Left-Right Arrow 11">
            <a:extLst>
              <a:ext uri="{FF2B5EF4-FFF2-40B4-BE49-F238E27FC236}">
                <a16:creationId xmlns:a16="http://schemas.microsoft.com/office/drawing/2014/main" id="{C5819514-FB92-4D6D-4D91-08980C96E837}"/>
              </a:ext>
            </a:extLst>
          </p:cNvPr>
          <p:cNvSpPr/>
          <p:nvPr/>
        </p:nvSpPr>
        <p:spPr>
          <a:xfrm rot="19980417">
            <a:off x="7339335" y="2525071"/>
            <a:ext cx="566928" cy="301752"/>
          </a:xfrm>
          <a:prstGeom prst="leftRightArrow">
            <a:avLst/>
          </a:prstGeom>
          <a:solidFill>
            <a:srgbClr val="F6B335"/>
          </a:solidFill>
          <a:ln>
            <a:solidFill>
              <a:srgbClr val="F6B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Left-Right Arrow 12">
            <a:extLst>
              <a:ext uri="{FF2B5EF4-FFF2-40B4-BE49-F238E27FC236}">
                <a16:creationId xmlns:a16="http://schemas.microsoft.com/office/drawing/2014/main" id="{F095EBD4-3D45-B332-BAF1-6B02070DACEA}"/>
              </a:ext>
            </a:extLst>
          </p:cNvPr>
          <p:cNvSpPr/>
          <p:nvPr/>
        </p:nvSpPr>
        <p:spPr>
          <a:xfrm rot="1171074">
            <a:off x="7414099" y="3947040"/>
            <a:ext cx="576003" cy="274320"/>
          </a:xfrm>
          <a:prstGeom prst="leftRightArrow">
            <a:avLst/>
          </a:prstGeom>
          <a:solidFill>
            <a:srgbClr val="E47128"/>
          </a:solidFill>
          <a:ln>
            <a:solidFill>
              <a:srgbClr val="E471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ustDataLst>
      <p:tags r:id="rId1"/>
    </p:custDataLst>
    <p:extLst>
      <p:ext uri="{BB962C8B-B14F-4D97-AF65-F5344CB8AC3E}">
        <p14:creationId xmlns:p14="http://schemas.microsoft.com/office/powerpoint/2010/main" val="76827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CAB4-B256-900C-85C3-5B5277CC77D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1ACE955D-EE14-A569-317C-20CA08331B8A}"/>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A59D590A-FB6E-AFB8-A63E-F3DF0FAA838C}"/>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 Fraction</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ECACE5B1-3A5B-664F-E750-123FC7C41E08}"/>
              </a:ext>
            </a:extLst>
          </p:cNvPr>
          <p:cNvSpPr>
            <a:spLocks noGrp="1"/>
          </p:cNvSpPr>
          <p:nvPr>
            <p:ph type="sldNum" sz="quarter" idx="12"/>
          </p:nvPr>
        </p:nvSpPr>
        <p:spPr/>
        <p:txBody>
          <a:bodyPr/>
          <a:lstStyle/>
          <a:p>
            <a:fld id="{D0617D14-1B55-43C0-819D-0D244AC23646}" type="slidenum">
              <a:rPr lang="de-AT" smtClean="0"/>
              <a:t>11</a:t>
            </a:fld>
            <a:endParaRPr lang="de-AT"/>
          </a:p>
        </p:txBody>
      </p:sp>
      <p:pic>
        <p:nvPicPr>
          <p:cNvPr id="4" name="Picture 3">
            <a:extLst>
              <a:ext uri="{FF2B5EF4-FFF2-40B4-BE49-F238E27FC236}">
                <a16:creationId xmlns:a16="http://schemas.microsoft.com/office/drawing/2014/main" id="{5993566E-4245-86DD-9E6A-CF277B46CC5F}"/>
              </a:ext>
            </a:extLst>
          </p:cNvPr>
          <p:cNvPicPr>
            <a:picLocks noChangeAspect="1"/>
          </p:cNvPicPr>
          <p:nvPr/>
        </p:nvPicPr>
        <p:blipFill>
          <a:blip r:embed="rId4"/>
          <a:stretch>
            <a:fillRect/>
          </a:stretch>
        </p:blipFill>
        <p:spPr>
          <a:xfrm>
            <a:off x="7730975" y="5162716"/>
            <a:ext cx="3893644" cy="934987"/>
          </a:xfrm>
          <a:prstGeom prst="rect">
            <a:avLst/>
          </a:prstGeom>
        </p:spPr>
      </p:pic>
      <p:pic>
        <p:nvPicPr>
          <p:cNvPr id="5" name="Picture 4">
            <a:extLst>
              <a:ext uri="{FF2B5EF4-FFF2-40B4-BE49-F238E27FC236}">
                <a16:creationId xmlns:a16="http://schemas.microsoft.com/office/drawing/2014/main" id="{C0B92A8A-B794-B667-7C2A-6726BE664036}"/>
              </a:ext>
            </a:extLst>
          </p:cNvPr>
          <p:cNvPicPr>
            <a:picLocks noChangeAspect="1"/>
          </p:cNvPicPr>
          <p:nvPr/>
        </p:nvPicPr>
        <p:blipFill>
          <a:blip r:embed="rId5"/>
          <a:srcRect l="26390" r="6405"/>
          <a:stretch>
            <a:fillRect/>
          </a:stretch>
        </p:blipFill>
        <p:spPr>
          <a:xfrm>
            <a:off x="674490" y="2120147"/>
            <a:ext cx="4449622" cy="980885"/>
          </a:xfrm>
          <a:prstGeom prst="rect">
            <a:avLst/>
          </a:prstGeom>
        </p:spPr>
      </p:pic>
      <p:pic>
        <p:nvPicPr>
          <p:cNvPr id="6" name="Picture 5">
            <a:extLst>
              <a:ext uri="{FF2B5EF4-FFF2-40B4-BE49-F238E27FC236}">
                <a16:creationId xmlns:a16="http://schemas.microsoft.com/office/drawing/2014/main" id="{58287DFC-91B5-538A-C06D-98E44E5D2C70}"/>
              </a:ext>
            </a:extLst>
          </p:cNvPr>
          <p:cNvPicPr>
            <a:picLocks noChangeAspect="1"/>
          </p:cNvPicPr>
          <p:nvPr/>
        </p:nvPicPr>
        <p:blipFill>
          <a:blip r:embed="rId6"/>
          <a:stretch>
            <a:fillRect/>
          </a:stretch>
        </p:blipFill>
        <p:spPr>
          <a:xfrm>
            <a:off x="9395552" y="4364419"/>
            <a:ext cx="1979056" cy="381675"/>
          </a:xfrm>
          <a:prstGeom prst="rect">
            <a:avLst/>
          </a:prstGeom>
        </p:spPr>
      </p:pic>
      <p:sp>
        <p:nvSpPr>
          <p:cNvPr id="11" name="TextBox 10">
            <a:extLst>
              <a:ext uri="{FF2B5EF4-FFF2-40B4-BE49-F238E27FC236}">
                <a16:creationId xmlns:a16="http://schemas.microsoft.com/office/drawing/2014/main" id="{4D0EB0D9-A0F8-BE65-23C4-5CE3EEAB817E}"/>
              </a:ext>
            </a:extLst>
          </p:cNvPr>
          <p:cNvSpPr txBox="1"/>
          <p:nvPr/>
        </p:nvSpPr>
        <p:spPr>
          <a:xfrm>
            <a:off x="242040" y="1194712"/>
            <a:ext cx="5763755"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Previous probability table is called an empirical model and can be written as</a:t>
            </a:r>
            <a:endPar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449A775-B0CE-E601-07A6-74710371B401}"/>
                  </a:ext>
                </a:extLst>
              </p:cNvPr>
              <p:cNvSpPr txBox="1"/>
              <p:nvPr/>
            </p:nvSpPr>
            <p:spPr>
              <a:xfrm>
                <a:off x="7211909" y="4284429"/>
                <a:ext cx="2465888"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400" i="1" dirty="0" smtClean="0">
                        <a:solidFill>
                          <a:srgbClr val="000000"/>
                        </a:solidFill>
                        <a:latin typeface="Cambria Math" panose="02040503050406030204" pitchFamily="18" charset="0"/>
                      </a:rPr>
                      <m:t>𝑒</m:t>
                    </m:r>
                  </m:oMath>
                </a14:m>
                <a:r>
                  <a:rPr lang="en-US" sz="2400" dirty="0">
                    <a:solidFill>
                      <a:srgbClr val="000000"/>
                    </a:solidFill>
                    <a:latin typeface="Calibri" panose="020F0502020204030204"/>
                  </a:rPr>
                  <a:t> as a vector:</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mc:Choice>
        <mc:Fallback>
          <p:sp>
            <p:nvSpPr>
              <p:cNvPr id="12" name="TextBox 11">
                <a:extLst>
                  <a:ext uri="{FF2B5EF4-FFF2-40B4-BE49-F238E27FC236}">
                    <a16:creationId xmlns:a16="http://schemas.microsoft.com/office/drawing/2014/main" id="{B449A775-B0CE-E601-07A6-74710371B401}"/>
                  </a:ext>
                </a:extLst>
              </p:cNvPr>
              <p:cNvSpPr txBox="1">
                <a:spLocks noRot="1" noChangeAspect="1" noMove="1" noResize="1" noEditPoints="1" noAdjustHandles="1" noChangeArrowheads="1" noChangeShapeType="1" noTextEdit="1"/>
              </p:cNvSpPr>
              <p:nvPr/>
            </p:nvSpPr>
            <p:spPr>
              <a:xfrm>
                <a:off x="7211909" y="4284429"/>
                <a:ext cx="2465888" cy="461665"/>
              </a:xfrm>
              <a:prstGeom prst="rect">
                <a:avLst/>
              </a:prstGeom>
              <a:blipFill>
                <a:blip r:embed="rId7"/>
                <a:stretch>
                  <a:fillRect t="-8108" b="-29730"/>
                </a:stretch>
              </a:blipFill>
            </p:spPr>
            <p:txBody>
              <a:bodyPr/>
              <a:lstStyle/>
              <a:p>
                <a:r>
                  <a:rPr lang="en-CA">
                    <a:noFill/>
                  </a:rPr>
                  <a:t> </a:t>
                </a:r>
              </a:p>
            </p:txBody>
          </p:sp>
        </mc:Fallback>
      </mc:AlternateContent>
      <p:sp>
        <p:nvSpPr>
          <p:cNvPr id="15" name="TextBox 14">
            <a:extLst>
              <a:ext uri="{FF2B5EF4-FFF2-40B4-BE49-F238E27FC236}">
                <a16:creationId xmlns:a16="http://schemas.microsoft.com/office/drawing/2014/main" id="{05F871D2-D948-A776-7EFB-C56C731D3139}"/>
              </a:ext>
            </a:extLst>
          </p:cNvPr>
          <p:cNvSpPr txBox="1"/>
          <p:nvPr/>
        </p:nvSpPr>
        <p:spPr>
          <a:xfrm>
            <a:off x="5876921" y="4836353"/>
            <a:ext cx="3430562"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Global assignment matrix:</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16" name="TextBox 15">
            <a:extLst>
              <a:ext uri="{FF2B5EF4-FFF2-40B4-BE49-F238E27FC236}">
                <a16:creationId xmlns:a16="http://schemas.microsoft.com/office/drawing/2014/main" id="{86451622-E6E8-D4A9-EB33-1B34A5A89377}"/>
              </a:ext>
            </a:extLst>
          </p:cNvPr>
          <p:cNvSpPr txBox="1"/>
          <p:nvPr/>
        </p:nvSpPr>
        <p:spPr>
          <a:xfrm>
            <a:off x="7720189" y="1194712"/>
            <a:ext cx="3893643"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Can phrase as linear program:</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17" name="Rectangle 16">
            <a:extLst>
              <a:ext uri="{FF2B5EF4-FFF2-40B4-BE49-F238E27FC236}">
                <a16:creationId xmlns:a16="http://schemas.microsoft.com/office/drawing/2014/main" id="{7FA98221-24B6-9425-3D23-BEA15F1DF8B7}"/>
              </a:ext>
            </a:extLst>
          </p:cNvPr>
          <p:cNvSpPr/>
          <p:nvPr/>
        </p:nvSpPr>
        <p:spPr>
          <a:xfrm>
            <a:off x="7480965" y="1798924"/>
            <a:ext cx="3893643" cy="2339622"/>
          </a:xfrm>
          <a:prstGeom prst="rect">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en-CA" sz="2000"/>
          </a:p>
        </p:txBody>
      </p:sp>
      <p:pic>
        <p:nvPicPr>
          <p:cNvPr id="18" name="Picture 17">
            <a:extLst>
              <a:ext uri="{FF2B5EF4-FFF2-40B4-BE49-F238E27FC236}">
                <a16:creationId xmlns:a16="http://schemas.microsoft.com/office/drawing/2014/main" id="{2F8FFC3C-7729-7A8D-54CB-14A92873E814}"/>
              </a:ext>
            </a:extLst>
          </p:cNvPr>
          <p:cNvPicPr>
            <a:picLocks noChangeAspect="1"/>
          </p:cNvPicPr>
          <p:nvPr/>
        </p:nvPicPr>
        <p:blipFill>
          <a:blip r:embed="rId8"/>
          <a:stretch>
            <a:fillRect/>
          </a:stretch>
        </p:blipFill>
        <p:spPr>
          <a:xfrm>
            <a:off x="7592202" y="1917255"/>
            <a:ext cx="3630166" cy="2148738"/>
          </a:xfrm>
          <a:prstGeom prst="rect">
            <a:avLst/>
          </a:prstGeom>
        </p:spPr>
      </p:pic>
      <p:sp>
        <p:nvSpPr>
          <p:cNvPr id="19" name="TextBox 18">
            <a:extLst>
              <a:ext uri="{FF2B5EF4-FFF2-40B4-BE49-F238E27FC236}">
                <a16:creationId xmlns:a16="http://schemas.microsoft.com/office/drawing/2014/main" id="{FCBAF20D-9F30-FA6B-0139-56430405E52A}"/>
              </a:ext>
            </a:extLst>
          </p:cNvPr>
          <p:cNvSpPr txBox="1"/>
          <p:nvPr/>
        </p:nvSpPr>
        <p:spPr>
          <a:xfrm>
            <a:off x="525429" y="3387155"/>
            <a:ext cx="2357669"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Contextual part</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20" name="TextBox 19">
            <a:extLst>
              <a:ext uri="{FF2B5EF4-FFF2-40B4-BE49-F238E27FC236}">
                <a16:creationId xmlns:a16="http://schemas.microsoft.com/office/drawing/2014/main" id="{356CBF16-7141-B4E8-5026-4C15DC6B120B}"/>
              </a:ext>
            </a:extLst>
          </p:cNvPr>
          <p:cNvSpPr txBox="1"/>
          <p:nvPr/>
        </p:nvSpPr>
        <p:spPr>
          <a:xfrm>
            <a:off x="3028943" y="3389430"/>
            <a:ext cx="2961534"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Non-contextual part</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21" name="Right Brace 20">
            <a:extLst>
              <a:ext uri="{FF2B5EF4-FFF2-40B4-BE49-F238E27FC236}">
                <a16:creationId xmlns:a16="http://schemas.microsoft.com/office/drawing/2014/main" id="{C1C2D319-C34E-52B8-E888-EB7EB267E816}"/>
              </a:ext>
            </a:extLst>
          </p:cNvPr>
          <p:cNvSpPr/>
          <p:nvPr/>
        </p:nvSpPr>
        <p:spPr>
          <a:xfrm rot="5400000">
            <a:off x="1972308" y="2415478"/>
            <a:ext cx="286524" cy="1356222"/>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sz="2000"/>
          </a:p>
        </p:txBody>
      </p:sp>
      <p:sp>
        <p:nvSpPr>
          <p:cNvPr id="22" name="Right Brace 21">
            <a:extLst>
              <a:ext uri="{FF2B5EF4-FFF2-40B4-BE49-F238E27FC236}">
                <a16:creationId xmlns:a16="http://schemas.microsoft.com/office/drawing/2014/main" id="{53906C22-7E3D-9766-5078-74D38C655825}"/>
              </a:ext>
            </a:extLst>
          </p:cNvPr>
          <p:cNvSpPr/>
          <p:nvPr/>
        </p:nvSpPr>
        <p:spPr>
          <a:xfrm rot="5400000">
            <a:off x="3934767" y="2252620"/>
            <a:ext cx="308060" cy="1663717"/>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sz="2000"/>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F77E34D9-7022-B6C4-04F0-9503FB40AD43}"/>
                  </a:ext>
                </a:extLst>
              </p:cNvPr>
              <p:cNvSpPr txBox="1"/>
              <p:nvPr/>
            </p:nvSpPr>
            <p:spPr>
              <a:xfrm>
                <a:off x="1194277" y="4285579"/>
                <a:ext cx="4365083"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srgbClr val="000000"/>
                    </a:solidFill>
                    <a:latin typeface="Calibri" panose="020F0502020204030204"/>
                  </a:rPr>
                  <a:t>Measure contextuality with t</a:t>
                </a:r>
                <a:r>
                  <a:rPr kumimoji="0" lang="en-US" sz="2400" b="0" i="0" u="none" strike="noStrike" kern="1200" cap="none" spc="0" normalizeH="0" baseline="0" noProof="0" dirty="0">
                    <a:ln>
                      <a:noFill/>
                    </a:ln>
                    <a:solidFill>
                      <a:srgbClr val="000000"/>
                    </a:solidFill>
                    <a:effectLst/>
                    <a:uLnTx/>
                    <a:uFillTx/>
                    <a:latin typeface="Calibri" panose="020F0502020204030204"/>
                  </a:rPr>
                  <a:t>he contextual fraction </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𝐶𝐹</m:t>
                    </m:r>
                    <m:d>
                      <m:d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𝑒</m:t>
                        </m:r>
                      </m:e>
                    </m:d>
                  </m:oMath>
                </a14:m>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mc:Choice>
        <mc:Fallback>
          <p:sp>
            <p:nvSpPr>
              <p:cNvPr id="23" name="TextBox 22">
                <a:extLst>
                  <a:ext uri="{FF2B5EF4-FFF2-40B4-BE49-F238E27FC236}">
                    <a16:creationId xmlns:a16="http://schemas.microsoft.com/office/drawing/2014/main" id="{F77E34D9-7022-B6C4-04F0-9503FB40AD43}"/>
                  </a:ext>
                </a:extLst>
              </p:cNvPr>
              <p:cNvSpPr txBox="1">
                <a:spLocks noRot="1" noChangeAspect="1" noMove="1" noResize="1" noEditPoints="1" noAdjustHandles="1" noChangeArrowheads="1" noChangeShapeType="1" noTextEdit="1"/>
              </p:cNvSpPr>
              <p:nvPr/>
            </p:nvSpPr>
            <p:spPr>
              <a:xfrm>
                <a:off x="1194277" y="4285579"/>
                <a:ext cx="4365083" cy="830997"/>
              </a:xfrm>
              <a:prstGeom prst="rect">
                <a:avLst/>
              </a:prstGeom>
              <a:blipFill>
                <a:blip r:embed="rId9"/>
                <a:stretch>
                  <a:fillRect l="-2326" t="-6061" b="-15152"/>
                </a:stretch>
              </a:blipFill>
            </p:spPr>
            <p:txBody>
              <a:bodyPr/>
              <a:lstStyle/>
              <a:p>
                <a:r>
                  <a:rPr lang="en-CA">
                    <a:noFill/>
                  </a:rPr>
                  <a:t> </a:t>
                </a:r>
              </a:p>
            </p:txBody>
          </p:sp>
        </mc:Fallback>
      </mc:AlternateContent>
      <p:sp>
        <p:nvSpPr>
          <p:cNvPr id="24" name="Right Arrow 23">
            <a:extLst>
              <a:ext uri="{FF2B5EF4-FFF2-40B4-BE49-F238E27FC236}">
                <a16:creationId xmlns:a16="http://schemas.microsoft.com/office/drawing/2014/main" id="{8504C33B-2B9A-22FB-BFFD-68B8BB3BDB00}"/>
              </a:ext>
            </a:extLst>
          </p:cNvPr>
          <p:cNvSpPr/>
          <p:nvPr/>
        </p:nvSpPr>
        <p:spPr>
          <a:xfrm>
            <a:off x="298705" y="4527107"/>
            <a:ext cx="751569" cy="292296"/>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a:extLst>
              <a:ext uri="{FF2B5EF4-FFF2-40B4-BE49-F238E27FC236}">
                <a16:creationId xmlns:a16="http://schemas.microsoft.com/office/drawing/2014/main" id="{6D4C550C-AEFF-557B-9128-8724FE2EA929}"/>
              </a:ext>
            </a:extLst>
          </p:cNvPr>
          <p:cNvSpPr txBox="1"/>
          <p:nvPr/>
        </p:nvSpPr>
        <p:spPr>
          <a:xfrm>
            <a:off x="61264" y="5541158"/>
            <a:ext cx="6125306" cy="523220"/>
          </a:xfrm>
          <a:prstGeom prst="rect">
            <a:avLst/>
          </a:prstGeom>
          <a:noFill/>
        </p:spPr>
        <p:txBody>
          <a:bodyPr wrap="square">
            <a:spAutoFit/>
          </a:bodyPr>
          <a:lstStyle/>
          <a:p>
            <a:r>
              <a:rPr lang="en-US" sz="1400" dirty="0">
                <a:solidFill>
                  <a:schemeClr val="bg1">
                    <a:lumMod val="75000"/>
                  </a:schemeClr>
                </a:solidFill>
              </a:rPr>
              <a:t>S. Abramsky, R. S. Barbosa, and S. Mansfield, The contextual fraction as a measure of contextuality, Phys. Rev. Lett. 119, 050504 (2017).</a:t>
            </a:r>
          </a:p>
        </p:txBody>
      </p:sp>
    </p:spTree>
    <p:custDataLst>
      <p:tags r:id="rId1"/>
    </p:custDataLst>
    <p:extLst>
      <p:ext uri="{BB962C8B-B14F-4D97-AF65-F5344CB8AC3E}">
        <p14:creationId xmlns:p14="http://schemas.microsoft.com/office/powerpoint/2010/main" val="131307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17" grpId="0" animBg="1"/>
      <p:bldP spid="19" grpId="0"/>
      <p:bldP spid="20" grpId="0"/>
      <p:bldP spid="21" grpId="0" animBg="1"/>
      <p:bldP spid="22" grpId="0" animBg="1"/>
      <p:bldP spid="23" grpId="0"/>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1FE83-5E06-6464-63F8-D45BB0BCD322}"/>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B805156-2488-039B-5929-AEB605FC7107}"/>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D58AC7EF-50E6-86FF-C5FB-FC837CB110AA}"/>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E6CEB4D1-5B6C-B58E-DFC0-CC530B4459BA}"/>
              </a:ext>
            </a:extLst>
          </p:cNvPr>
          <p:cNvSpPr>
            <a:spLocks noGrp="1"/>
          </p:cNvSpPr>
          <p:nvPr>
            <p:ph type="sldNum" sz="quarter" idx="12"/>
          </p:nvPr>
        </p:nvSpPr>
        <p:spPr/>
        <p:txBody>
          <a:bodyPr/>
          <a:lstStyle/>
          <a:p>
            <a:fld id="{D0617D14-1B55-43C0-819D-0D244AC23646}" type="slidenum">
              <a:rPr lang="de-AT" smtClean="0"/>
              <a:t>12</a:t>
            </a:fld>
            <a:endParaRPr lang="de-AT"/>
          </a:p>
        </p:txBody>
      </p:sp>
      <p:sp>
        <p:nvSpPr>
          <p:cNvPr id="5" name="TextBox 4">
            <a:extLst>
              <a:ext uri="{FF2B5EF4-FFF2-40B4-BE49-F238E27FC236}">
                <a16:creationId xmlns:a16="http://schemas.microsoft.com/office/drawing/2014/main" id="{C4711C0E-B89F-BD6C-69D5-13E210AE7D03}"/>
              </a:ext>
            </a:extLst>
          </p:cNvPr>
          <p:cNvSpPr txBox="1"/>
          <p:nvPr/>
        </p:nvSpPr>
        <p:spPr>
          <a:xfrm>
            <a:off x="2882159" y="3013501"/>
            <a:ext cx="6252834" cy="830997"/>
          </a:xfrm>
          <a:prstGeom prst="rect">
            <a:avLst/>
          </a:prstGeom>
          <a:noFill/>
        </p:spPr>
        <p:txBody>
          <a:bodyPr wrap="square" rtlCol="0">
            <a:spAutoFit/>
          </a:bodyPr>
          <a:lstStyle/>
          <a:p>
            <a:pPr>
              <a:spcAft>
                <a:spcPts val="1200"/>
              </a:spcAft>
            </a:pPr>
            <a:r>
              <a:rPr lang="en-CA" sz="4800" dirty="0"/>
              <a:t>II. Unruh-DeWitt </a:t>
            </a:r>
            <a:r>
              <a:rPr lang="en-CA" sz="4800" dirty="0" err="1"/>
              <a:t>Qudits</a:t>
            </a:r>
            <a:endParaRPr lang="en-CA" sz="4800" dirty="0"/>
          </a:p>
        </p:txBody>
      </p:sp>
    </p:spTree>
    <p:custDataLst>
      <p:tags r:id="rId1"/>
    </p:custDataLst>
    <p:extLst>
      <p:ext uri="{BB962C8B-B14F-4D97-AF65-F5344CB8AC3E}">
        <p14:creationId xmlns:p14="http://schemas.microsoft.com/office/powerpoint/2010/main" val="1729279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19383-4624-EF2C-FCA1-9C644CB6A12F}"/>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46E578E-6C46-4173-905A-7ED3AFC3E5EE}"/>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2C0DD7CD-EE32-1D8A-44CB-CEDD98D90D83}"/>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Quantum Fields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CD572ED7-B522-6BAF-7A26-DE229A118353}"/>
              </a:ext>
            </a:extLst>
          </p:cNvPr>
          <p:cNvSpPr>
            <a:spLocks noGrp="1"/>
          </p:cNvSpPr>
          <p:nvPr>
            <p:ph type="sldNum" sz="quarter" idx="12"/>
          </p:nvPr>
        </p:nvSpPr>
        <p:spPr/>
        <p:txBody>
          <a:bodyPr/>
          <a:lstStyle/>
          <a:p>
            <a:fld id="{D0617D14-1B55-43C0-819D-0D244AC23646}" type="slidenum">
              <a:rPr lang="de-AT" smtClean="0"/>
              <a:t>13</a:t>
            </a:fld>
            <a:endParaRPr lang="de-AT"/>
          </a:p>
        </p:txBody>
      </p:sp>
      <p:pic>
        <p:nvPicPr>
          <p:cNvPr id="4" name="Picture 6" descr="Mechanical analog of the harmonic lattice model. Oscillators of... |  Download Scientific Diagram">
            <a:extLst>
              <a:ext uri="{FF2B5EF4-FFF2-40B4-BE49-F238E27FC236}">
                <a16:creationId xmlns:a16="http://schemas.microsoft.com/office/drawing/2014/main" id="{8CC19C70-C260-A059-1F64-E0489D7807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0139" y="1365575"/>
            <a:ext cx="8366900" cy="41444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5CB7974-6BD2-948A-F127-E96B02680F78}"/>
              </a:ext>
            </a:extLst>
          </p:cNvPr>
          <p:cNvSpPr txBox="1"/>
          <p:nvPr/>
        </p:nvSpPr>
        <p:spPr>
          <a:xfrm>
            <a:off x="95282" y="5768718"/>
            <a:ext cx="10519226" cy="307777"/>
          </a:xfrm>
          <a:prstGeom prst="rect">
            <a:avLst/>
          </a:prstGeom>
          <a:noFill/>
        </p:spPr>
        <p:txBody>
          <a:bodyPr wrap="square">
            <a:spAutoFit/>
          </a:bodyPr>
          <a:lstStyle/>
          <a:p>
            <a:r>
              <a:rPr lang="en-CA" sz="1400" dirty="0">
                <a:solidFill>
                  <a:schemeClr val="bg1">
                    <a:lumMod val="75000"/>
                  </a:schemeClr>
                </a:solidFill>
              </a:rPr>
              <a:t>Thomas Barthel and Qiang Miao, Scaling functions for eigenstate entanglement crossovers in harmonic lattices. arXiv.1912.10045 (2019).</a:t>
            </a:r>
          </a:p>
        </p:txBody>
      </p:sp>
    </p:spTree>
    <p:custDataLst>
      <p:tags r:id="rId1"/>
    </p:custDataLst>
    <p:extLst>
      <p:ext uri="{BB962C8B-B14F-4D97-AF65-F5344CB8AC3E}">
        <p14:creationId xmlns:p14="http://schemas.microsoft.com/office/powerpoint/2010/main" val="1360853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B931A-09A3-0E48-0084-A115ECE5515C}"/>
            </a:ext>
          </a:extLst>
        </p:cNvPr>
        <p:cNvGrpSpPr/>
        <p:nvPr/>
      </p:nvGrpSpPr>
      <p:grpSpPr>
        <a:xfrm>
          <a:off x="0" y="0"/>
          <a:ext cx="0" cy="0"/>
          <a:chOff x="0" y="0"/>
          <a:chExt cx="0" cy="0"/>
        </a:xfrm>
      </p:grpSpPr>
      <p:sp>
        <p:nvSpPr>
          <p:cNvPr id="3" name="Titel 1">
            <a:extLst>
              <a:ext uri="{FF2B5EF4-FFF2-40B4-BE49-F238E27FC236}">
                <a16:creationId xmlns:a16="http://schemas.microsoft.com/office/drawing/2014/main" id="{4A5B058A-8704-6920-BEE5-18E55CAF199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err="1">
                <a:solidFill>
                  <a:schemeClr val="bg1"/>
                </a:solidFill>
                <a:latin typeface="Calibri Light" panose="020F0302020204030204" pitchFamily="34" charset="0"/>
                <a:cs typeface="Calibri Light" panose="020F0302020204030204" pitchFamily="34" charset="0"/>
              </a:rPr>
              <a:t>Nonclassicality</a:t>
            </a:r>
            <a:r>
              <a:rPr lang="en-CA" sz="3200" kern="0" dirty="0">
                <a:solidFill>
                  <a:schemeClr val="bg1"/>
                </a:solidFill>
                <a:latin typeface="Calibri Light" panose="020F0302020204030204" pitchFamily="34" charset="0"/>
                <a:cs typeface="Calibri Light" panose="020F0302020204030204" pitchFamily="34" charset="0"/>
              </a:rPr>
              <a:t> in Quantum Fields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FAC721A6-05AD-0821-7162-995C1365DFD5}"/>
              </a:ext>
            </a:extLst>
          </p:cNvPr>
          <p:cNvSpPr txBox="1"/>
          <p:nvPr/>
        </p:nvSpPr>
        <p:spPr>
          <a:xfrm>
            <a:off x="526049" y="1301563"/>
            <a:ext cx="9122043" cy="461665"/>
          </a:xfrm>
          <a:prstGeom prst="rect">
            <a:avLst/>
          </a:prstGeom>
          <a:noFill/>
        </p:spPr>
        <p:txBody>
          <a:bodyPr wrap="square" rtlCol="0">
            <a:spAutoFit/>
          </a:bodyPr>
          <a:lstStyle/>
          <a:p>
            <a:r>
              <a:rPr lang="en-CA" sz="2400" dirty="0"/>
              <a:t>Summers and Werner showed most field states violate Bell inequalities:</a:t>
            </a:r>
          </a:p>
        </p:txBody>
      </p:sp>
      <p:pic>
        <p:nvPicPr>
          <p:cNvPr id="24" name="Picture 23">
            <a:extLst>
              <a:ext uri="{FF2B5EF4-FFF2-40B4-BE49-F238E27FC236}">
                <a16:creationId xmlns:a16="http://schemas.microsoft.com/office/drawing/2014/main" id="{56528918-1DFC-19C3-ED5A-1BCD69117F98}"/>
              </a:ext>
            </a:extLst>
          </p:cNvPr>
          <p:cNvPicPr>
            <a:picLocks noChangeAspect="1"/>
          </p:cNvPicPr>
          <p:nvPr/>
        </p:nvPicPr>
        <p:blipFill>
          <a:blip r:embed="rId4"/>
          <a:stretch>
            <a:fillRect/>
          </a:stretch>
        </p:blipFill>
        <p:spPr>
          <a:xfrm>
            <a:off x="2884854" y="2032000"/>
            <a:ext cx="6070600" cy="1397000"/>
          </a:xfrm>
          <a:prstGeom prst="rect">
            <a:avLst/>
          </a:prstGeom>
        </p:spPr>
      </p:pic>
      <p:sp>
        <p:nvSpPr>
          <p:cNvPr id="26" name="TextBox 25">
            <a:extLst>
              <a:ext uri="{FF2B5EF4-FFF2-40B4-BE49-F238E27FC236}">
                <a16:creationId xmlns:a16="http://schemas.microsoft.com/office/drawing/2014/main" id="{7D140A2E-C0A7-3E3E-F928-C8C5AEEE8B65}"/>
              </a:ext>
            </a:extLst>
          </p:cNvPr>
          <p:cNvSpPr txBox="1"/>
          <p:nvPr/>
        </p:nvSpPr>
        <p:spPr>
          <a:xfrm>
            <a:off x="52754" y="5556437"/>
            <a:ext cx="12086492" cy="523220"/>
          </a:xfrm>
          <a:prstGeom prst="rect">
            <a:avLst/>
          </a:prstGeom>
          <a:noFill/>
        </p:spPr>
        <p:txBody>
          <a:bodyPr wrap="square">
            <a:spAutoFit/>
          </a:bodyPr>
          <a:lstStyle/>
          <a:p>
            <a:r>
              <a:rPr lang="en-CA" sz="1400" dirty="0">
                <a:solidFill>
                  <a:schemeClr val="bg1">
                    <a:lumMod val="75000"/>
                  </a:schemeClr>
                </a:solidFill>
              </a:rPr>
              <a:t>S. J. Summers and R. Werner, Bell’s inequalities and  quantum field theory. II. Bell’s inequalities are maximally violated in the vacuum, J. Math. Phys. (N.Y.) 28, 2448 (1987).</a:t>
            </a:r>
          </a:p>
        </p:txBody>
      </p:sp>
      <p:sp>
        <p:nvSpPr>
          <p:cNvPr id="27" name="Right Arrow 26">
            <a:extLst>
              <a:ext uri="{FF2B5EF4-FFF2-40B4-BE49-F238E27FC236}">
                <a16:creationId xmlns:a16="http://schemas.microsoft.com/office/drawing/2014/main" id="{6A1BF934-E47C-5DA1-F69D-D6A93CDF74B5}"/>
              </a:ext>
            </a:extLst>
          </p:cNvPr>
          <p:cNvSpPr/>
          <p:nvPr/>
        </p:nvSpPr>
        <p:spPr>
          <a:xfrm>
            <a:off x="1606062" y="4038243"/>
            <a:ext cx="539261" cy="293077"/>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rgbClr val="FF0000"/>
              </a:solidFill>
              <a:highlight>
                <a:srgbClr val="FF0000"/>
              </a:highlight>
            </a:endParaRPr>
          </a:p>
        </p:txBody>
      </p:sp>
      <p:sp>
        <p:nvSpPr>
          <p:cNvPr id="28" name="TextBox 27">
            <a:extLst>
              <a:ext uri="{FF2B5EF4-FFF2-40B4-BE49-F238E27FC236}">
                <a16:creationId xmlns:a16="http://schemas.microsoft.com/office/drawing/2014/main" id="{7D89A485-70A4-C421-D472-C4E540160E0C}"/>
              </a:ext>
            </a:extLst>
          </p:cNvPr>
          <p:cNvSpPr txBox="1"/>
          <p:nvPr/>
        </p:nvSpPr>
        <p:spPr>
          <a:xfrm>
            <a:off x="2268415" y="4000115"/>
            <a:ext cx="8059615" cy="461665"/>
          </a:xfrm>
          <a:prstGeom prst="rect">
            <a:avLst/>
          </a:prstGeom>
          <a:noFill/>
        </p:spPr>
        <p:txBody>
          <a:bodyPr wrap="square" rtlCol="0">
            <a:spAutoFit/>
          </a:bodyPr>
          <a:lstStyle/>
          <a:p>
            <a:r>
              <a:rPr lang="en-CA" sz="2400" dirty="0"/>
              <a:t>Not dependent on certain types of interactions or preparations</a:t>
            </a:r>
          </a:p>
        </p:txBody>
      </p:sp>
      <p:sp>
        <p:nvSpPr>
          <p:cNvPr id="29" name="TextBox 28">
            <a:extLst>
              <a:ext uri="{FF2B5EF4-FFF2-40B4-BE49-F238E27FC236}">
                <a16:creationId xmlns:a16="http://schemas.microsoft.com/office/drawing/2014/main" id="{E4C59544-C296-CE96-EEC7-E5C5F766ACC5}"/>
              </a:ext>
            </a:extLst>
          </p:cNvPr>
          <p:cNvSpPr txBox="1"/>
          <p:nvPr/>
        </p:nvSpPr>
        <p:spPr>
          <a:xfrm>
            <a:off x="3733802" y="4802062"/>
            <a:ext cx="3511060" cy="461665"/>
          </a:xfrm>
          <a:prstGeom prst="rect">
            <a:avLst/>
          </a:prstGeom>
          <a:noFill/>
        </p:spPr>
        <p:txBody>
          <a:bodyPr wrap="square" rtlCol="0">
            <a:spAutoFit/>
          </a:bodyPr>
          <a:lstStyle/>
          <a:p>
            <a:r>
              <a:rPr lang="en-CA" sz="2400" dirty="0"/>
              <a:t>Generic property of fields!</a:t>
            </a:r>
          </a:p>
        </p:txBody>
      </p:sp>
    </p:spTree>
    <p:custDataLst>
      <p:tags r:id="rId1"/>
    </p:custDataLst>
    <p:extLst>
      <p:ext uri="{BB962C8B-B14F-4D97-AF65-F5344CB8AC3E}">
        <p14:creationId xmlns:p14="http://schemas.microsoft.com/office/powerpoint/2010/main" val="191308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A6FC5-49C1-6383-453A-231138B8150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B4059F78-0E3B-9A6C-9D19-8DBBAFD412B2}"/>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A683038-46BC-7528-18B1-0D6AA9C25D72}"/>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Unruh-DeWitt (UDW) Systems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80583399-E73A-DEE6-8812-180F150B34EC}"/>
              </a:ext>
            </a:extLst>
          </p:cNvPr>
          <p:cNvSpPr>
            <a:spLocks noGrp="1"/>
          </p:cNvSpPr>
          <p:nvPr>
            <p:ph type="sldNum" sz="quarter" idx="12"/>
          </p:nvPr>
        </p:nvSpPr>
        <p:spPr/>
        <p:txBody>
          <a:bodyPr/>
          <a:lstStyle/>
          <a:p>
            <a:fld id="{D0617D14-1B55-43C0-819D-0D244AC23646}" type="slidenum">
              <a:rPr lang="de-AT" smtClean="0"/>
              <a:t>15</a:t>
            </a:fld>
            <a:endParaRPr lang="de-AT"/>
          </a:p>
        </p:txBody>
      </p:sp>
      <p:sp>
        <p:nvSpPr>
          <p:cNvPr id="8" name="TextBox 7">
            <a:extLst>
              <a:ext uri="{FF2B5EF4-FFF2-40B4-BE49-F238E27FC236}">
                <a16:creationId xmlns:a16="http://schemas.microsoft.com/office/drawing/2014/main" id="{81B3E5B1-2E42-1B5E-F159-7F7C2E721712}"/>
              </a:ext>
            </a:extLst>
          </p:cNvPr>
          <p:cNvSpPr txBox="1"/>
          <p:nvPr/>
        </p:nvSpPr>
        <p:spPr>
          <a:xfrm>
            <a:off x="6732203" y="1020879"/>
            <a:ext cx="5326616" cy="400110"/>
          </a:xfrm>
          <a:prstGeom prst="rect">
            <a:avLst/>
          </a:prstGeom>
          <a:noFill/>
        </p:spPr>
        <p:txBody>
          <a:bodyPr wrap="square" rtlCol="0">
            <a:spAutoFit/>
          </a:bodyPr>
          <a:lstStyle/>
          <a:p>
            <a:r>
              <a:rPr lang="en-CA" sz="2000" dirty="0"/>
              <a:t>Internal dynamics prescribed by free Hamiltonian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CCD0250-C03F-19AA-06C0-381EBF23651A}"/>
                  </a:ext>
                </a:extLst>
              </p:cNvPr>
              <p:cNvSpPr txBox="1"/>
              <p:nvPr/>
            </p:nvSpPr>
            <p:spPr>
              <a:xfrm>
                <a:off x="429086" y="5157349"/>
                <a:ext cx="259839"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oMath>
                  </m:oMathPara>
                </a14:m>
                <a:endParaRPr lang="en-CA" sz="2000" dirty="0"/>
              </a:p>
            </p:txBody>
          </p:sp>
        </mc:Choice>
        <mc:Fallback xmlns="">
          <p:sp>
            <p:nvSpPr>
              <p:cNvPr id="9" name="TextBox 8">
                <a:extLst>
                  <a:ext uri="{FF2B5EF4-FFF2-40B4-BE49-F238E27FC236}">
                    <a16:creationId xmlns:a16="http://schemas.microsoft.com/office/drawing/2014/main" id="{DCCD0250-C03F-19AA-06C0-381EBF23651A}"/>
                  </a:ext>
                </a:extLst>
              </p:cNvPr>
              <p:cNvSpPr txBox="1">
                <a:spLocks noRot="1" noChangeAspect="1" noMove="1" noResize="1" noEditPoints="1" noAdjustHandles="1" noChangeArrowheads="1" noChangeShapeType="1" noTextEdit="1"/>
              </p:cNvSpPr>
              <p:nvPr/>
            </p:nvSpPr>
            <p:spPr>
              <a:xfrm>
                <a:off x="429086" y="5157349"/>
                <a:ext cx="259839" cy="307777"/>
              </a:xfrm>
              <a:prstGeom prst="rect">
                <a:avLst/>
              </a:prstGeom>
              <a:blipFill>
                <a:blip r:embed="rId4"/>
                <a:stretch>
                  <a:fillRect b="-4000"/>
                </a:stretch>
              </a:blipFill>
            </p:spPr>
            <p:txBody>
              <a:bodyPr/>
              <a:lstStyle/>
              <a:p>
                <a:r>
                  <a:rPr lang="en-CA">
                    <a:noFill/>
                  </a:rPr>
                  <a:t> </a:t>
                </a:r>
              </a:p>
            </p:txBody>
          </p:sp>
        </mc:Fallback>
      </mc:AlternateContent>
      <p:cxnSp>
        <p:nvCxnSpPr>
          <p:cNvPr id="10" name="Straight Arrow Connector 9">
            <a:extLst>
              <a:ext uri="{FF2B5EF4-FFF2-40B4-BE49-F238E27FC236}">
                <a16:creationId xmlns:a16="http://schemas.microsoft.com/office/drawing/2014/main" id="{90D643D1-08A2-704E-B55E-5D1D808B3FC2}"/>
              </a:ext>
            </a:extLst>
          </p:cNvPr>
          <p:cNvCxnSpPr>
            <a:cxnSpLocks/>
          </p:cNvCxnSpPr>
          <p:nvPr/>
        </p:nvCxnSpPr>
        <p:spPr>
          <a:xfrm flipH="1" flipV="1">
            <a:off x="709200" y="4960615"/>
            <a:ext cx="8728" cy="605736"/>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141A74-184A-5ACF-56AC-0A60AB0BFC1C}"/>
                  </a:ext>
                </a:extLst>
              </p:cNvPr>
              <p:cNvSpPr txBox="1"/>
              <p:nvPr/>
            </p:nvSpPr>
            <p:spPr>
              <a:xfrm>
                <a:off x="770754" y="5670525"/>
                <a:ext cx="20172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CA" dirty="0"/>
              </a:p>
            </p:txBody>
          </p:sp>
        </mc:Choice>
        <mc:Fallback xmlns="">
          <p:sp>
            <p:nvSpPr>
              <p:cNvPr id="11" name="TextBox 10">
                <a:extLst>
                  <a:ext uri="{FF2B5EF4-FFF2-40B4-BE49-F238E27FC236}">
                    <a16:creationId xmlns:a16="http://schemas.microsoft.com/office/drawing/2014/main" id="{38141A74-184A-5ACF-56AC-0A60AB0BFC1C}"/>
                  </a:ext>
                </a:extLst>
              </p:cNvPr>
              <p:cNvSpPr txBox="1">
                <a:spLocks noRot="1" noChangeAspect="1" noMove="1" noResize="1" noEditPoints="1" noAdjustHandles="1" noChangeArrowheads="1" noChangeShapeType="1" noTextEdit="1"/>
              </p:cNvSpPr>
              <p:nvPr/>
            </p:nvSpPr>
            <p:spPr>
              <a:xfrm>
                <a:off x="770754" y="5670525"/>
                <a:ext cx="201722" cy="307777"/>
              </a:xfrm>
              <a:prstGeom prst="rect">
                <a:avLst/>
              </a:prstGeom>
              <a:blipFill>
                <a:blip r:embed="rId5"/>
                <a:stretch>
                  <a:fillRect l="-17647" r="-11765"/>
                </a:stretch>
              </a:blipFill>
            </p:spPr>
            <p:txBody>
              <a:bodyPr/>
              <a:lstStyle/>
              <a:p>
                <a:r>
                  <a:rPr lang="en-CA">
                    <a:noFill/>
                  </a:rPr>
                  <a:t> </a:t>
                </a:r>
              </a:p>
            </p:txBody>
          </p:sp>
        </mc:Fallback>
      </mc:AlternateContent>
      <p:cxnSp>
        <p:nvCxnSpPr>
          <p:cNvPr id="12" name="Straight Arrow Connector 11">
            <a:extLst>
              <a:ext uri="{FF2B5EF4-FFF2-40B4-BE49-F238E27FC236}">
                <a16:creationId xmlns:a16="http://schemas.microsoft.com/office/drawing/2014/main" id="{4CE8A414-8F76-816E-E13D-EEA6C020AC8C}"/>
              </a:ext>
            </a:extLst>
          </p:cNvPr>
          <p:cNvCxnSpPr>
            <a:cxnSpLocks/>
          </p:cNvCxnSpPr>
          <p:nvPr/>
        </p:nvCxnSpPr>
        <p:spPr>
          <a:xfrm>
            <a:off x="722091" y="5568325"/>
            <a:ext cx="477385" cy="24319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6946B5D-F6D8-7D18-782C-3B7DB7C37EED}"/>
                  </a:ext>
                </a:extLst>
              </p:cNvPr>
              <p:cNvSpPr txBox="1"/>
              <p:nvPr/>
            </p:nvSpPr>
            <p:spPr>
              <a:xfrm>
                <a:off x="39863" y="2311912"/>
                <a:ext cx="2696708" cy="4397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CA" sz="2000" i="1" dirty="0">
                              <a:solidFill>
                                <a:srgbClr val="FF0000"/>
                              </a:solidFill>
                              <a:latin typeface="Cambria Math" panose="02040503050406030204" pitchFamily="18" charset="0"/>
                            </a:rPr>
                          </m:ctrlPr>
                        </m:sSupPr>
                        <m:e>
                          <m:r>
                            <a:rPr lang="en-CA" sz="2000" i="1" dirty="0">
                              <a:solidFill>
                                <a:srgbClr val="FF0000"/>
                              </a:solidFill>
                              <a:latin typeface="Cambria Math" panose="02040503050406030204" pitchFamily="18" charset="0"/>
                            </a:rPr>
                            <m:t>𝑧</m:t>
                          </m:r>
                        </m:e>
                        <m:sup>
                          <m:r>
                            <a:rPr lang="en-CA" sz="2000" i="1" dirty="0">
                              <a:solidFill>
                                <a:srgbClr val="FF0000"/>
                              </a:solidFill>
                              <a:latin typeface="Cambria Math" panose="02040503050406030204" pitchFamily="18" charset="0"/>
                            </a:rPr>
                            <m:t>𝜇</m:t>
                          </m:r>
                        </m:sup>
                      </m:sSup>
                      <m:d>
                        <m:dPr>
                          <m:ctrlPr>
                            <a:rPr lang="en-CA" sz="2000" i="1" dirty="0">
                              <a:solidFill>
                                <a:srgbClr val="FF0000"/>
                              </a:solidFill>
                              <a:latin typeface="Cambria Math" panose="02040503050406030204" pitchFamily="18" charset="0"/>
                            </a:rPr>
                          </m:ctrlPr>
                        </m:dPr>
                        <m:e>
                          <m:r>
                            <a:rPr lang="en-US" sz="2000" i="1" dirty="0">
                              <a:solidFill>
                                <a:srgbClr val="FF0000"/>
                              </a:solidFill>
                              <a:latin typeface="Cambria Math" panose="02040503050406030204" pitchFamily="18" charset="0"/>
                            </a:rPr>
                            <m:t>𝜏</m:t>
                          </m:r>
                        </m:e>
                      </m:d>
                      <m:r>
                        <a:rPr lang="en-US" sz="2000" i="1" dirty="0">
                          <a:latin typeface="Cambria Math" panose="02040503050406030204" pitchFamily="18" charset="0"/>
                        </a:rPr>
                        <m:t>=</m:t>
                      </m:r>
                      <m:d>
                        <m:dPr>
                          <m:ctrlPr>
                            <a:rPr lang="en-US" sz="2000" i="1" dirty="0">
                              <a:latin typeface="Cambria Math" panose="02040503050406030204" pitchFamily="18" charset="0"/>
                            </a:rPr>
                          </m:ctrlPr>
                        </m:dPr>
                        <m:e>
                          <m:r>
                            <a:rPr lang="en-US" sz="2000" i="1" dirty="0">
                              <a:latin typeface="Cambria Math" panose="02040503050406030204" pitchFamily="18" charset="0"/>
                            </a:rPr>
                            <m:t>𝑡</m:t>
                          </m:r>
                          <m:d>
                            <m:dPr>
                              <m:ctrlPr>
                                <a:rPr lang="en-US" sz="2000" i="1" dirty="0">
                                  <a:latin typeface="Cambria Math" panose="02040503050406030204" pitchFamily="18" charset="0"/>
                                </a:rPr>
                              </m:ctrlPr>
                            </m:dPr>
                            <m:e>
                              <m:r>
                                <a:rPr lang="en-US" sz="2000" i="1" dirty="0">
                                  <a:latin typeface="Cambria Math" panose="02040503050406030204" pitchFamily="18" charset="0"/>
                                </a:rPr>
                                <m:t>𝜏</m:t>
                              </m:r>
                            </m:e>
                          </m:d>
                          <m:r>
                            <a:rPr lang="en-US" sz="2000" i="1" dirty="0">
                              <a:latin typeface="Cambria Math" panose="02040503050406030204" pitchFamily="18" charset="0"/>
                            </a:rPr>
                            <m:t>,</m:t>
                          </m:r>
                          <m:r>
                            <a:rPr lang="en-US" sz="2000" i="1" dirty="0">
                              <a:latin typeface="Cambria Math" panose="02040503050406030204" pitchFamily="18" charset="0"/>
                            </a:rPr>
                            <m:t>𝑥</m:t>
                          </m:r>
                          <m:d>
                            <m:dPr>
                              <m:ctrlPr>
                                <a:rPr lang="en-US" sz="2000" i="1" dirty="0">
                                  <a:latin typeface="Cambria Math" panose="02040503050406030204" pitchFamily="18" charset="0"/>
                                </a:rPr>
                              </m:ctrlPr>
                            </m:dPr>
                            <m:e>
                              <m:r>
                                <a:rPr lang="en-US" sz="2000" i="1" dirty="0">
                                  <a:latin typeface="Cambria Math" panose="02040503050406030204" pitchFamily="18" charset="0"/>
                                </a:rPr>
                                <m:t>𝜏</m:t>
                              </m:r>
                            </m:e>
                          </m:d>
                        </m:e>
                      </m:d>
                      <m:r>
                        <a:rPr lang="en-CA" sz="2000" i="1" dirty="0">
                          <a:latin typeface="Cambria Math" panose="02040503050406030204" pitchFamily="18" charset="0"/>
                        </a:rPr>
                        <m:t> </m:t>
                      </m:r>
                    </m:oMath>
                  </m:oMathPara>
                </a14:m>
                <a:endParaRPr lang="en-CA" sz="2000" dirty="0"/>
              </a:p>
            </p:txBody>
          </p:sp>
        </mc:Choice>
        <mc:Fallback xmlns="">
          <p:sp>
            <p:nvSpPr>
              <p:cNvPr id="13" name="TextBox 12">
                <a:extLst>
                  <a:ext uri="{FF2B5EF4-FFF2-40B4-BE49-F238E27FC236}">
                    <a16:creationId xmlns:a16="http://schemas.microsoft.com/office/drawing/2014/main" id="{46946B5D-F6D8-7D18-782C-3B7DB7C37EED}"/>
                  </a:ext>
                </a:extLst>
              </p:cNvPr>
              <p:cNvSpPr txBox="1">
                <a:spLocks noRot="1" noChangeAspect="1" noMove="1" noResize="1" noEditPoints="1" noAdjustHandles="1" noChangeArrowheads="1" noChangeShapeType="1" noTextEdit="1"/>
              </p:cNvSpPr>
              <p:nvPr/>
            </p:nvSpPr>
            <p:spPr>
              <a:xfrm>
                <a:off x="39863" y="2311912"/>
                <a:ext cx="2696708" cy="439736"/>
              </a:xfrm>
              <a:prstGeom prst="rect">
                <a:avLst/>
              </a:prstGeom>
              <a:blipFill>
                <a:blip r:embed="rId6"/>
                <a:stretch>
                  <a:fillRect b="-13889"/>
                </a:stretch>
              </a:blipFill>
            </p:spPr>
            <p:txBody>
              <a:bodyPr/>
              <a:lstStyle/>
              <a:p>
                <a:r>
                  <a:rPr lang="en-CA">
                    <a:noFill/>
                  </a:rPr>
                  <a:t> </a:t>
                </a:r>
              </a:p>
            </p:txBody>
          </p:sp>
        </mc:Fallback>
      </mc:AlternateContent>
      <p:sp>
        <p:nvSpPr>
          <p:cNvPr id="14" name="TextBox 13">
            <a:extLst>
              <a:ext uri="{FF2B5EF4-FFF2-40B4-BE49-F238E27FC236}">
                <a16:creationId xmlns:a16="http://schemas.microsoft.com/office/drawing/2014/main" id="{D15757E1-F01C-A1CD-9327-96E0503F828A}"/>
              </a:ext>
            </a:extLst>
          </p:cNvPr>
          <p:cNvSpPr txBox="1"/>
          <p:nvPr/>
        </p:nvSpPr>
        <p:spPr>
          <a:xfrm>
            <a:off x="559005" y="1208529"/>
            <a:ext cx="5326616" cy="400110"/>
          </a:xfrm>
          <a:prstGeom prst="rect">
            <a:avLst/>
          </a:prstGeom>
          <a:noFill/>
        </p:spPr>
        <p:txBody>
          <a:bodyPr wrap="square" rtlCol="0">
            <a:spAutoFit/>
          </a:bodyPr>
          <a:lstStyle/>
          <a:p>
            <a:r>
              <a:rPr lang="en-CA" sz="2000" dirty="0" err="1"/>
              <a:t>Qudit</a:t>
            </a:r>
            <a:r>
              <a:rPr lang="en-CA" sz="2000" dirty="0"/>
              <a:t> following trajectory through spacetime </a:t>
            </a:r>
          </a:p>
        </p:txBody>
      </p:sp>
      <p:pic>
        <p:nvPicPr>
          <p:cNvPr id="15" name="Picture 14">
            <a:extLst>
              <a:ext uri="{FF2B5EF4-FFF2-40B4-BE49-F238E27FC236}">
                <a16:creationId xmlns:a16="http://schemas.microsoft.com/office/drawing/2014/main" id="{5BD18B33-1A36-B792-33A2-E96622544C61}"/>
              </a:ext>
            </a:extLst>
          </p:cNvPr>
          <p:cNvPicPr>
            <a:picLocks noChangeAspect="1"/>
          </p:cNvPicPr>
          <p:nvPr/>
        </p:nvPicPr>
        <p:blipFill>
          <a:blip r:embed="rId7"/>
          <a:srcRect r="4575" b="1778"/>
          <a:stretch>
            <a:fillRect/>
          </a:stretch>
        </p:blipFill>
        <p:spPr>
          <a:xfrm>
            <a:off x="2795042" y="1830381"/>
            <a:ext cx="1546099" cy="4041008"/>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EF4D92E-F633-55A3-F238-CFA0F8A57369}"/>
                  </a:ext>
                </a:extLst>
              </p:cNvPr>
              <p:cNvSpPr txBox="1"/>
              <p:nvPr/>
            </p:nvSpPr>
            <p:spPr>
              <a:xfrm>
                <a:off x="6790676" y="2585156"/>
                <a:ext cx="5144025" cy="720838"/>
              </a:xfrm>
              <a:prstGeom prst="rect">
                <a:avLst/>
              </a:prstGeom>
              <a:noFill/>
            </p:spPr>
            <p:txBody>
              <a:bodyPr wrap="square" rtlCol="0">
                <a:spAutoFit/>
              </a:bodyPr>
              <a:lstStyle/>
              <a:p>
                <a:r>
                  <a:rPr lang="en-CA" sz="2000" dirty="0"/>
                  <a:t>Interacts with quantum field </a:t>
                </a:r>
                <a14:m>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i="1">
                            <a:latin typeface="Cambria Math" panose="02040503050406030204" pitchFamily="18" charset="0"/>
                          </a:rPr>
                        </m:ctrlPr>
                      </m:dPr>
                      <m:e>
                        <m:r>
                          <m:rPr>
                            <m:sty m:val="p"/>
                          </m:rPr>
                          <a:rPr lang="en-US" sz="2000">
                            <a:latin typeface="Cambria Math" panose="02040503050406030204" pitchFamily="18" charset="0"/>
                          </a:rPr>
                          <m:t>x</m:t>
                        </m:r>
                      </m:e>
                    </m:d>
                  </m:oMath>
                </a14:m>
                <a:r>
                  <a:rPr lang="en-CA" sz="2000" dirty="0"/>
                  <a:t> via Hamiltonian density  </a:t>
                </a:r>
              </a:p>
            </p:txBody>
          </p:sp>
        </mc:Choice>
        <mc:Fallback xmlns="">
          <p:sp>
            <p:nvSpPr>
              <p:cNvPr id="16" name="TextBox 15">
                <a:extLst>
                  <a:ext uri="{FF2B5EF4-FFF2-40B4-BE49-F238E27FC236}">
                    <a16:creationId xmlns:a16="http://schemas.microsoft.com/office/drawing/2014/main" id="{5EF4D92E-F633-55A3-F238-CFA0F8A57369}"/>
                  </a:ext>
                </a:extLst>
              </p:cNvPr>
              <p:cNvSpPr txBox="1">
                <a:spLocks noRot="1" noChangeAspect="1" noMove="1" noResize="1" noEditPoints="1" noAdjustHandles="1" noChangeArrowheads="1" noChangeShapeType="1" noTextEdit="1"/>
              </p:cNvSpPr>
              <p:nvPr/>
            </p:nvSpPr>
            <p:spPr>
              <a:xfrm>
                <a:off x="6790676" y="2585156"/>
                <a:ext cx="5144025" cy="720838"/>
              </a:xfrm>
              <a:prstGeom prst="rect">
                <a:avLst/>
              </a:prstGeom>
              <a:blipFill>
                <a:blip r:embed="rId8"/>
                <a:stretch>
                  <a:fillRect l="-1232" t="-1724" b="-13793"/>
                </a:stretch>
              </a:blipFill>
            </p:spPr>
            <p:txBody>
              <a:bodyPr/>
              <a:lstStyle/>
              <a:p>
                <a:r>
                  <a:rPr lang="en-CA">
                    <a:noFill/>
                  </a:rPr>
                  <a:t> </a:t>
                </a:r>
              </a:p>
            </p:txBody>
          </p:sp>
        </mc:Fallback>
      </mc:AlternateContent>
      <p:pic>
        <p:nvPicPr>
          <p:cNvPr id="18" name="Picture 17">
            <a:extLst>
              <a:ext uri="{FF2B5EF4-FFF2-40B4-BE49-F238E27FC236}">
                <a16:creationId xmlns:a16="http://schemas.microsoft.com/office/drawing/2014/main" id="{74370A43-B30C-057F-A692-A0A81D23F6A4}"/>
              </a:ext>
            </a:extLst>
          </p:cNvPr>
          <p:cNvPicPr>
            <a:picLocks noChangeAspect="1"/>
          </p:cNvPicPr>
          <p:nvPr/>
        </p:nvPicPr>
        <p:blipFill>
          <a:blip r:embed="rId9">
            <a:alphaModFix amt="60000"/>
          </a:blip>
          <a:stretch>
            <a:fillRect/>
          </a:stretch>
        </p:blipFill>
        <p:spPr>
          <a:xfrm rot="21259358">
            <a:off x="312053" y="2335899"/>
            <a:ext cx="6249993" cy="3749995"/>
          </a:xfrm>
          <a:prstGeom prst="rect">
            <a:avLst/>
          </a:prstGeom>
          <a:effectLst/>
          <a:scene3d>
            <a:camera prst="orthographicFront">
              <a:rot lat="2400000" lon="0" rev="0"/>
            </a:camera>
            <a:lightRig rig="threePt" dir="t"/>
          </a:scene3d>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3329D05-CBCA-C6B0-91DC-2F2C5AF40C8C}"/>
                  </a:ext>
                </a:extLst>
              </p:cNvPr>
              <p:cNvSpPr txBox="1"/>
              <p:nvPr/>
            </p:nvSpPr>
            <p:spPr>
              <a:xfrm>
                <a:off x="1596629" y="3999622"/>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19" name="TextBox 18">
                <a:extLst>
                  <a:ext uri="{FF2B5EF4-FFF2-40B4-BE49-F238E27FC236}">
                    <a16:creationId xmlns:a16="http://schemas.microsoft.com/office/drawing/2014/main" id="{D3329D05-CBCA-C6B0-91DC-2F2C5AF40C8C}"/>
                  </a:ext>
                </a:extLst>
              </p:cNvPr>
              <p:cNvSpPr txBox="1">
                <a:spLocks noRot="1" noChangeAspect="1" noMove="1" noResize="1" noEditPoints="1" noAdjustHandles="1" noChangeArrowheads="1" noChangeShapeType="1" noTextEdit="1"/>
              </p:cNvSpPr>
              <p:nvPr/>
            </p:nvSpPr>
            <p:spPr>
              <a:xfrm>
                <a:off x="1596629" y="3999622"/>
                <a:ext cx="574260" cy="320729"/>
              </a:xfrm>
              <a:prstGeom prst="rect">
                <a:avLst/>
              </a:prstGeom>
              <a:blipFill>
                <a:blip r:embed="rId10"/>
                <a:stretch>
                  <a:fillRect l="-13043" t="-14815" b="-259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468EFFB-31F3-A3D0-760F-C11E0319BCEA}"/>
                  </a:ext>
                </a:extLst>
              </p:cNvPr>
              <p:cNvSpPr txBox="1"/>
              <p:nvPr/>
            </p:nvSpPr>
            <p:spPr>
              <a:xfrm>
                <a:off x="6799265" y="4350841"/>
                <a:ext cx="4697335" cy="1015663"/>
              </a:xfrm>
              <a:prstGeom prst="rect">
                <a:avLst/>
              </a:prstGeom>
              <a:noFill/>
            </p:spPr>
            <p:txBody>
              <a:bodyPr wrap="square" rtlCol="0">
                <a:spAutoFit/>
              </a:bodyPr>
              <a:lstStyle/>
              <a:p>
                <a:r>
                  <a:rPr lang="en-US" sz="2000" dirty="0"/>
                  <a:t>Interaction is smeared out over some spacetime region via smearing function </a:t>
                </a:r>
                <a14:m>
                  <m:oMath xmlns:m="http://schemas.openxmlformats.org/officeDocument/2006/math">
                    <m:sSub>
                      <m:sSubPr>
                        <m:ctrlPr>
                          <a:rPr lang="en-US" sz="2000" i="1">
                            <a:solidFill>
                              <a:srgbClr val="02B9F3"/>
                            </a:solidFill>
                            <a:latin typeface="Cambria Math" panose="02040503050406030204" pitchFamily="18" charset="0"/>
                          </a:rPr>
                        </m:ctrlPr>
                      </m:sSubPr>
                      <m:e>
                        <m:r>
                          <m:rPr>
                            <m:sty m:val="p"/>
                          </m:rPr>
                          <a:rPr lang="en-US" sz="2000">
                            <a:solidFill>
                              <a:srgbClr val="02B9F3"/>
                            </a:solidFill>
                            <a:latin typeface="Cambria Math" panose="02040503050406030204" pitchFamily="18" charset="0"/>
                          </a:rPr>
                          <m:t>Λ</m:t>
                        </m:r>
                      </m:e>
                      <m:sub>
                        <m:r>
                          <a:rPr lang="en-US" sz="2000">
                            <a:solidFill>
                              <a:srgbClr val="02B9F3"/>
                            </a:solidFill>
                            <a:latin typeface="Cambria Math" panose="02040503050406030204" pitchFamily="18" charset="0"/>
                          </a:rPr>
                          <m:t>𝑑</m:t>
                        </m:r>
                      </m:sub>
                    </m:sSub>
                    <m:d>
                      <m:dPr>
                        <m:ctrlPr>
                          <a:rPr lang="en-US" sz="2000" i="1">
                            <a:solidFill>
                              <a:srgbClr val="02B9F3"/>
                            </a:solidFill>
                            <a:latin typeface="Cambria Math" panose="02040503050406030204" pitchFamily="18" charset="0"/>
                          </a:rPr>
                        </m:ctrlPr>
                      </m:dPr>
                      <m:e>
                        <m:r>
                          <m:rPr>
                            <m:sty m:val="p"/>
                          </m:rPr>
                          <a:rPr lang="en-US" sz="2000">
                            <a:solidFill>
                              <a:srgbClr val="02B9F3"/>
                            </a:solidFill>
                            <a:latin typeface="Cambria Math" panose="02040503050406030204" pitchFamily="18" charset="0"/>
                          </a:rPr>
                          <m:t>x</m:t>
                        </m:r>
                      </m:e>
                    </m:d>
                  </m:oMath>
                </a14:m>
                <a:endParaRPr lang="en-CA" sz="2000" dirty="0"/>
              </a:p>
            </p:txBody>
          </p:sp>
        </mc:Choice>
        <mc:Fallback xmlns="">
          <p:sp>
            <p:nvSpPr>
              <p:cNvPr id="20" name="TextBox 19">
                <a:extLst>
                  <a:ext uri="{FF2B5EF4-FFF2-40B4-BE49-F238E27FC236}">
                    <a16:creationId xmlns:a16="http://schemas.microsoft.com/office/drawing/2014/main" id="{2468EFFB-31F3-A3D0-760F-C11E0319BCEA}"/>
                  </a:ext>
                </a:extLst>
              </p:cNvPr>
              <p:cNvSpPr txBox="1">
                <a:spLocks noRot="1" noChangeAspect="1" noMove="1" noResize="1" noEditPoints="1" noAdjustHandles="1" noChangeArrowheads="1" noChangeShapeType="1" noTextEdit="1"/>
              </p:cNvSpPr>
              <p:nvPr/>
            </p:nvSpPr>
            <p:spPr>
              <a:xfrm>
                <a:off x="6799265" y="4350841"/>
                <a:ext cx="4697335" cy="1015663"/>
              </a:xfrm>
              <a:prstGeom prst="rect">
                <a:avLst/>
              </a:prstGeom>
              <a:blipFill>
                <a:blip r:embed="rId11"/>
                <a:stretch>
                  <a:fillRect l="-1348" t="-3704"/>
                </a:stretch>
              </a:blipFill>
            </p:spPr>
            <p:txBody>
              <a:bodyPr/>
              <a:lstStyle/>
              <a:p>
                <a:r>
                  <a:rPr lang="en-CA">
                    <a:noFill/>
                  </a:rPr>
                  <a:t> </a:t>
                </a:r>
              </a:p>
            </p:txBody>
          </p:sp>
        </mc:Fallback>
      </mc:AlternateContent>
      <p:cxnSp>
        <p:nvCxnSpPr>
          <p:cNvPr id="21" name="Straight Connector 20">
            <a:extLst>
              <a:ext uri="{FF2B5EF4-FFF2-40B4-BE49-F238E27FC236}">
                <a16:creationId xmlns:a16="http://schemas.microsoft.com/office/drawing/2014/main" id="{37F7B08B-B7C3-159C-C7DF-D037E3CFBC9A}"/>
              </a:ext>
            </a:extLst>
          </p:cNvPr>
          <p:cNvCxnSpPr>
            <a:cxnSpLocks/>
          </p:cNvCxnSpPr>
          <p:nvPr/>
        </p:nvCxnSpPr>
        <p:spPr>
          <a:xfrm>
            <a:off x="4250810" y="4099619"/>
            <a:ext cx="2510631" cy="542148"/>
          </a:xfrm>
          <a:prstGeom prst="line">
            <a:avLst/>
          </a:prstGeom>
          <a:ln w="25400">
            <a:headEnd type="stealth"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FF53075-8BB1-548F-4BBB-E6CE05031A53}"/>
                  </a:ext>
                </a:extLst>
              </p:cNvPr>
              <p:cNvSpPr txBox="1"/>
              <p:nvPr/>
            </p:nvSpPr>
            <p:spPr>
              <a:xfrm>
                <a:off x="7580936" y="3628827"/>
                <a:ext cx="3375604" cy="3242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A" sz="2000" i="1" smtClean="0">
                              <a:latin typeface="Cambria Math" panose="02040503050406030204" pitchFamily="18" charset="0"/>
                            </a:rPr>
                          </m:ctrlPr>
                        </m:sSubPr>
                        <m:e>
                          <m:acc>
                            <m:accPr>
                              <m:chr m:val="̂"/>
                              <m:ctrlPr>
                                <a:rPr lang="en-CA" sz="2000" i="1">
                                  <a:latin typeface="Cambria Math" panose="02040503050406030204" pitchFamily="18" charset="0"/>
                                </a:rPr>
                              </m:ctrlPr>
                            </m:accPr>
                            <m:e>
                              <m:r>
                                <a:rPr lang="en-US" sz="2000" i="1">
                                  <a:latin typeface="Cambria Math" panose="02040503050406030204" pitchFamily="18" charset="0"/>
                                </a:rPr>
                                <m:t>h</m:t>
                              </m:r>
                            </m:e>
                          </m:acc>
                        </m:e>
                        <m:sub>
                          <m:r>
                            <m:rPr>
                              <m:sty m:val="p"/>
                            </m:rPr>
                            <a:rPr lang="en-US" sz="2000" b="0" i="1" smtClean="0">
                              <a:latin typeface="Cambria Math" panose="02040503050406030204" pitchFamily="18" charset="0"/>
                            </a:rPr>
                            <m:t>d</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1" smtClean="0">
                              <a:latin typeface="Cambria Math" panose="02040503050406030204" pitchFamily="18" charset="0"/>
                            </a:rPr>
                            <m:t>λ</m:t>
                          </m:r>
                        </m:e>
                        <m:sub>
                          <m:r>
                            <m:rPr>
                              <m:sty m:val="p"/>
                            </m:rPr>
                            <a:rPr lang="en-US" sz="2000" b="0" i="1" smtClean="0">
                              <a:latin typeface="Cambria Math" panose="02040503050406030204" pitchFamily="18" charset="0"/>
                            </a:rPr>
                            <m:t>d</m:t>
                          </m:r>
                        </m:sub>
                      </m:sSub>
                      <m:sSub>
                        <m:sSubPr>
                          <m:ctrlPr>
                            <a:rPr lang="en-US" sz="2000" b="0" i="1" smtClean="0">
                              <a:solidFill>
                                <a:srgbClr val="02B9F3"/>
                              </a:solidFill>
                              <a:latin typeface="Cambria Math" panose="02040503050406030204" pitchFamily="18" charset="0"/>
                            </a:rPr>
                          </m:ctrlPr>
                        </m:sSubPr>
                        <m:e>
                          <m:r>
                            <m:rPr>
                              <m:sty m:val="p"/>
                            </m:rPr>
                            <a:rPr lang="en-US" sz="2000" b="0" i="1" smtClean="0">
                              <a:solidFill>
                                <a:srgbClr val="02B9F3"/>
                              </a:solidFill>
                              <a:latin typeface="Cambria Math" panose="02040503050406030204" pitchFamily="18" charset="0"/>
                            </a:rPr>
                            <m:t>Λ</m:t>
                          </m:r>
                        </m:e>
                        <m:sub>
                          <m:r>
                            <m:rPr>
                              <m:sty m:val="p"/>
                            </m:rPr>
                            <a:rPr lang="en-US" sz="2000" b="0" i="1" smtClean="0">
                              <a:solidFill>
                                <a:srgbClr val="02B9F3"/>
                              </a:solidFill>
                              <a:latin typeface="Cambria Math" panose="02040503050406030204" pitchFamily="18" charset="0"/>
                            </a:rPr>
                            <m:t>d</m:t>
                          </m:r>
                        </m:sub>
                      </m:sSub>
                      <m:d>
                        <m:dPr>
                          <m:ctrlPr>
                            <a:rPr lang="en-US" sz="2000" b="0" i="1" smtClean="0">
                              <a:solidFill>
                                <a:srgbClr val="02B9F3"/>
                              </a:solidFill>
                              <a:latin typeface="Cambria Math" panose="02040503050406030204" pitchFamily="18" charset="0"/>
                            </a:rPr>
                          </m:ctrlPr>
                        </m:dPr>
                        <m:e>
                          <m:r>
                            <m:rPr>
                              <m:sty m:val="p"/>
                            </m:rPr>
                            <a:rPr lang="en-US" sz="2000" b="0" i="0" smtClean="0">
                              <a:solidFill>
                                <a:srgbClr val="02B9F3"/>
                              </a:solidFill>
                              <a:latin typeface="Cambria Math" panose="02040503050406030204" pitchFamily="18" charset="0"/>
                            </a:rPr>
                            <m:t>x</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𝑑</m:t>
                          </m:r>
                        </m:sub>
                      </m:sSub>
                      <m:r>
                        <a:rPr lang="en-US" sz="2000" b="0" i="1" smtClean="0">
                          <a:latin typeface="Cambria Math" panose="02040503050406030204" pitchFamily="18" charset="0"/>
                        </a:rPr>
                        <m:t>(</m:t>
                      </m:r>
                      <m:r>
                        <m:rPr>
                          <m:sty m:val="p"/>
                        </m:rPr>
                        <a:rPr lang="en-US" sz="2000" b="0" i="1" smtClean="0">
                          <a:latin typeface="Cambria Math" panose="02040503050406030204" pitchFamily="18" charset="0"/>
                        </a:rPr>
                        <m:t>τ</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sz="2000" dirty="0"/>
              </a:p>
            </p:txBody>
          </p:sp>
        </mc:Choice>
        <mc:Fallback xmlns="">
          <p:sp>
            <p:nvSpPr>
              <p:cNvPr id="22" name="TextBox 21">
                <a:extLst>
                  <a:ext uri="{FF2B5EF4-FFF2-40B4-BE49-F238E27FC236}">
                    <a16:creationId xmlns:a16="http://schemas.microsoft.com/office/drawing/2014/main" id="{EFF53075-8BB1-548F-4BBB-E6CE05031A53}"/>
                  </a:ext>
                </a:extLst>
              </p:cNvPr>
              <p:cNvSpPr txBox="1">
                <a:spLocks noRot="1" noChangeAspect="1" noMove="1" noResize="1" noEditPoints="1" noAdjustHandles="1" noChangeArrowheads="1" noChangeShapeType="1" noTextEdit="1"/>
              </p:cNvSpPr>
              <p:nvPr/>
            </p:nvSpPr>
            <p:spPr>
              <a:xfrm>
                <a:off x="7580936" y="3628827"/>
                <a:ext cx="3375604" cy="324256"/>
              </a:xfrm>
              <a:prstGeom prst="rect">
                <a:avLst/>
              </a:prstGeom>
              <a:blipFill>
                <a:blip r:embed="rId12"/>
                <a:stretch>
                  <a:fillRect l="-1504" t="-14815" b="-29630"/>
                </a:stretch>
              </a:blipFill>
            </p:spPr>
            <p:txBody>
              <a:bodyPr/>
              <a:lstStyle/>
              <a:p>
                <a:r>
                  <a:rPr lang="en-CA">
                    <a:noFill/>
                  </a:rPr>
                  <a:t> </a:t>
                </a:r>
              </a:p>
            </p:txBody>
          </p:sp>
        </mc:Fallback>
      </mc:AlternateContent>
      <p:pic>
        <p:nvPicPr>
          <p:cNvPr id="23" name="Picture 22">
            <a:extLst>
              <a:ext uri="{FF2B5EF4-FFF2-40B4-BE49-F238E27FC236}">
                <a16:creationId xmlns:a16="http://schemas.microsoft.com/office/drawing/2014/main" id="{5E70717D-713B-2996-B9ED-227DF365AFCA}"/>
              </a:ext>
            </a:extLst>
          </p:cNvPr>
          <p:cNvPicPr>
            <a:picLocks noChangeAspect="1"/>
          </p:cNvPicPr>
          <p:nvPr/>
        </p:nvPicPr>
        <p:blipFill>
          <a:blip r:embed="rId13"/>
          <a:stretch>
            <a:fillRect/>
          </a:stretch>
        </p:blipFill>
        <p:spPr>
          <a:xfrm>
            <a:off x="7003500" y="1756851"/>
            <a:ext cx="4530476" cy="492443"/>
          </a:xfrm>
          <a:prstGeom prst="rect">
            <a:avLst/>
          </a:prstGeom>
        </p:spPr>
      </p:pic>
    </p:spTree>
    <p:custDataLst>
      <p:tags r:id="rId1"/>
    </p:custDataLst>
    <p:extLst>
      <p:ext uri="{BB962C8B-B14F-4D97-AF65-F5344CB8AC3E}">
        <p14:creationId xmlns:p14="http://schemas.microsoft.com/office/powerpoint/2010/main" val="34131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20"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47E0B-D12F-60F2-3B7F-646318D8C5CA}"/>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786855C-D654-BD28-8455-CA4355DBF289}"/>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090E8052-834D-A6D3-941D-6A7B1CEEC8B3}"/>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32EFED36-6B20-6091-8FF2-5769C861FA82}"/>
              </a:ext>
            </a:extLst>
          </p:cNvPr>
          <p:cNvSpPr>
            <a:spLocks noGrp="1"/>
          </p:cNvSpPr>
          <p:nvPr>
            <p:ph type="sldNum" sz="quarter" idx="12"/>
          </p:nvPr>
        </p:nvSpPr>
        <p:spPr/>
        <p:txBody>
          <a:bodyPr/>
          <a:lstStyle/>
          <a:p>
            <a:fld id="{D0617D14-1B55-43C0-819D-0D244AC23646}" type="slidenum">
              <a:rPr lang="de-AT" smtClean="0"/>
              <a:t>16</a:t>
            </a:fld>
            <a:endParaRPr lang="de-AT"/>
          </a:p>
        </p:txBody>
      </p:sp>
      <p:sp>
        <p:nvSpPr>
          <p:cNvPr id="5" name="TextBox 4">
            <a:extLst>
              <a:ext uri="{FF2B5EF4-FFF2-40B4-BE49-F238E27FC236}">
                <a16:creationId xmlns:a16="http://schemas.microsoft.com/office/drawing/2014/main" id="{F7103A13-087C-E3A3-3BE2-0C258BDE0D25}"/>
              </a:ext>
            </a:extLst>
          </p:cNvPr>
          <p:cNvSpPr txBox="1"/>
          <p:nvPr/>
        </p:nvSpPr>
        <p:spPr>
          <a:xfrm>
            <a:off x="2453768" y="3013501"/>
            <a:ext cx="7284464" cy="830997"/>
          </a:xfrm>
          <a:prstGeom prst="rect">
            <a:avLst/>
          </a:prstGeom>
          <a:noFill/>
        </p:spPr>
        <p:txBody>
          <a:bodyPr wrap="square" rtlCol="0">
            <a:spAutoFit/>
          </a:bodyPr>
          <a:lstStyle/>
          <a:p>
            <a:pPr>
              <a:spcAft>
                <a:spcPts val="1200"/>
              </a:spcAft>
            </a:pPr>
            <a:r>
              <a:rPr lang="en-CA" sz="4800" dirty="0"/>
              <a:t>III. Contextuality Harvesting</a:t>
            </a:r>
          </a:p>
        </p:txBody>
      </p:sp>
    </p:spTree>
    <p:custDataLst>
      <p:tags r:id="rId1"/>
    </p:custDataLst>
    <p:extLst>
      <p:ext uri="{BB962C8B-B14F-4D97-AF65-F5344CB8AC3E}">
        <p14:creationId xmlns:p14="http://schemas.microsoft.com/office/powerpoint/2010/main" val="4213776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26DE-5328-49E4-BF8D-DA87D68F2150}"/>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1047891E-BB57-4084-2051-09329D1EA8C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540C66D4-D360-3BC2-0C79-AD138451D736}"/>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6D3AA07F-3071-28C1-734F-C641748DF5AA}"/>
              </a:ext>
            </a:extLst>
          </p:cNvPr>
          <p:cNvSpPr>
            <a:spLocks noGrp="1"/>
          </p:cNvSpPr>
          <p:nvPr>
            <p:ph type="sldNum" sz="quarter" idx="12"/>
          </p:nvPr>
        </p:nvSpPr>
        <p:spPr/>
        <p:txBody>
          <a:bodyPr/>
          <a:lstStyle/>
          <a:p>
            <a:fld id="{D0617D14-1B55-43C0-819D-0D244AC23646}" type="slidenum">
              <a:rPr lang="de-AT" smtClean="0"/>
              <a:t>17</a:t>
            </a:fld>
            <a:endParaRPr lang="de-AT"/>
          </a:p>
        </p:txBody>
      </p:sp>
      <p:sp>
        <p:nvSpPr>
          <p:cNvPr id="5" name="Rounded Rectangle 4">
            <a:extLst>
              <a:ext uri="{FF2B5EF4-FFF2-40B4-BE49-F238E27FC236}">
                <a16:creationId xmlns:a16="http://schemas.microsoft.com/office/drawing/2014/main" id="{A7F80D2A-6F3C-18B1-EDC1-59697C8CD9E6}"/>
              </a:ext>
            </a:extLst>
          </p:cNvPr>
          <p:cNvSpPr/>
          <p:nvPr/>
        </p:nvSpPr>
        <p:spPr>
          <a:xfrm>
            <a:off x="1370684" y="3854327"/>
            <a:ext cx="2415069" cy="1637821"/>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00000"/>
                </a:solidFill>
              </a:rPr>
              <a:t>1. </a:t>
            </a:r>
            <a:r>
              <a:rPr lang="en-US" sz="2400" b="1" dirty="0">
                <a:solidFill>
                  <a:srgbClr val="000000"/>
                </a:solidFill>
              </a:rPr>
              <a:t>Prepare</a:t>
            </a:r>
            <a:endParaRPr sz="2400" b="1" dirty="0">
              <a:solidFill>
                <a:srgbClr val="000000"/>
              </a:solidFill>
            </a:endParaRPr>
          </a:p>
          <a:p>
            <a:pPr algn="ctr"/>
            <a:r>
              <a:rPr sz="2400" dirty="0">
                <a:solidFill>
                  <a:srgbClr val="000000"/>
                </a:solidFill>
              </a:rPr>
              <a:t>Non</a:t>
            </a:r>
            <a:r>
              <a:rPr lang="en-US" sz="2400" dirty="0">
                <a:solidFill>
                  <a:srgbClr val="000000"/>
                </a:solidFill>
              </a:rPr>
              <a:t>-</a:t>
            </a:r>
            <a:r>
              <a:rPr sz="2400" dirty="0">
                <a:solidFill>
                  <a:srgbClr val="000000"/>
                </a:solidFill>
              </a:rPr>
              <a:t>contextual </a:t>
            </a:r>
            <a:r>
              <a:rPr lang="en-US" sz="2400" dirty="0">
                <a:solidFill>
                  <a:srgbClr val="000000"/>
                </a:solidFill>
              </a:rPr>
              <a:t>initial system</a:t>
            </a:r>
            <a:r>
              <a:rPr sz="2400" dirty="0">
                <a:solidFill>
                  <a:srgbClr val="000000"/>
                </a:solidFill>
              </a:rPr>
              <a:t> state</a:t>
            </a:r>
          </a:p>
        </p:txBody>
      </p:sp>
      <p:sp>
        <p:nvSpPr>
          <p:cNvPr id="8" name="Right Arrow 7">
            <a:extLst>
              <a:ext uri="{FF2B5EF4-FFF2-40B4-BE49-F238E27FC236}">
                <a16:creationId xmlns:a16="http://schemas.microsoft.com/office/drawing/2014/main" id="{8EDCFFF8-6869-9DAE-6200-69BD9D95ADED}"/>
              </a:ext>
            </a:extLst>
          </p:cNvPr>
          <p:cNvSpPr/>
          <p:nvPr/>
        </p:nvSpPr>
        <p:spPr>
          <a:xfrm>
            <a:off x="3785753" y="4521436"/>
            <a:ext cx="300000" cy="30360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52814438-266F-FFBB-7C03-455756048026}"/>
                  </a:ext>
                </a:extLst>
              </p:cNvPr>
              <p:cNvSpPr/>
              <p:nvPr/>
            </p:nvSpPr>
            <p:spPr>
              <a:xfrm>
                <a:off x="4085753" y="3861391"/>
                <a:ext cx="2010247" cy="1630757"/>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00000"/>
                    </a:solidFill>
                  </a:rPr>
                  <a:t>2. Couple</a:t>
                </a:r>
              </a:p>
              <a:p>
                <a:pPr algn="ctr"/>
                <a:r>
                  <a:rPr sz="2400" dirty="0">
                    <a:solidFill>
                      <a:srgbClr val="000000"/>
                    </a:solidFill>
                  </a:rPr>
                  <a:t>Local interaction with</a:t>
                </a:r>
                <a:r>
                  <a:rPr lang="en-US" sz="2400" dirty="0">
                    <a:solidFill>
                      <a:srgbClr val="000000"/>
                    </a:solidFill>
                  </a:rPr>
                  <a:t> </a:t>
                </a:r>
                <a14:m>
                  <m:oMath xmlns:m="http://schemas.openxmlformats.org/officeDocument/2006/math">
                    <m:acc>
                      <m:accPr>
                        <m:chr m:val="̂"/>
                        <m:ctrlPr>
                          <a:rPr lang="en-US" sz="2400" i="1" smtClean="0">
                            <a:solidFill>
                              <a:srgbClr val="000000"/>
                            </a:solidFill>
                            <a:latin typeface="Cambria Math" panose="02040503050406030204" pitchFamily="18" charset="0"/>
                          </a:rPr>
                        </m:ctrlPr>
                      </m:accPr>
                      <m:e>
                        <m:r>
                          <m:rPr>
                            <m:sty m:val="p"/>
                          </m:rPr>
                          <a:rPr lang="en-US" sz="2400" b="0" i="1" smtClean="0">
                            <a:solidFill>
                              <a:srgbClr val="000000"/>
                            </a:solidFill>
                            <a:latin typeface="Cambria Math" panose="02040503050406030204" pitchFamily="18" charset="0"/>
                          </a:rPr>
                          <m:t>ϕ</m:t>
                        </m:r>
                      </m:e>
                    </m:acc>
                    <m:r>
                      <a:rPr lang="en-US" sz="2400" b="0" i="1" smtClean="0">
                        <a:solidFill>
                          <a:srgbClr val="000000"/>
                        </a:solidFill>
                        <a:latin typeface="Cambria Math" panose="02040503050406030204" pitchFamily="18" charset="0"/>
                      </a:rPr>
                      <m:t>(</m:t>
                    </m:r>
                    <m:r>
                      <m:rPr>
                        <m:sty m:val="p"/>
                      </m:rPr>
                      <a:rPr lang="en-US" sz="2400" b="0" i="1" smtClean="0">
                        <a:solidFill>
                          <a:srgbClr val="000000"/>
                        </a:solidFill>
                        <a:latin typeface="Cambria Math" panose="02040503050406030204" pitchFamily="18" charset="0"/>
                      </a:rPr>
                      <m:t>x</m:t>
                    </m:r>
                    <m:r>
                      <a:rPr lang="en-US" sz="2400" b="0" i="1" smtClean="0">
                        <a:solidFill>
                          <a:srgbClr val="000000"/>
                        </a:solidFill>
                        <a:latin typeface="Cambria Math" panose="02040503050406030204" pitchFamily="18" charset="0"/>
                      </a:rPr>
                      <m:t>)</m:t>
                    </m:r>
                  </m:oMath>
                </a14:m>
                <a:endParaRPr sz="2400" dirty="0">
                  <a:solidFill>
                    <a:srgbClr val="000000"/>
                  </a:solidFill>
                </a:endParaRPr>
              </a:p>
            </p:txBody>
          </p:sp>
        </mc:Choice>
        <mc:Fallback xmlns="">
          <p:sp>
            <p:nvSpPr>
              <p:cNvPr id="9" name="Rounded Rectangle 8">
                <a:extLst>
                  <a:ext uri="{FF2B5EF4-FFF2-40B4-BE49-F238E27FC236}">
                    <a16:creationId xmlns:a16="http://schemas.microsoft.com/office/drawing/2014/main" id="{52814438-266F-FFBB-7C03-455756048026}"/>
                  </a:ext>
                </a:extLst>
              </p:cNvPr>
              <p:cNvSpPr>
                <a:spLocks noRot="1" noChangeAspect="1" noMove="1" noResize="1" noEditPoints="1" noAdjustHandles="1" noChangeArrowheads="1" noChangeShapeType="1" noTextEdit="1"/>
              </p:cNvSpPr>
              <p:nvPr/>
            </p:nvSpPr>
            <p:spPr>
              <a:xfrm>
                <a:off x="4085753" y="3861391"/>
                <a:ext cx="2010247" cy="1630757"/>
              </a:xfrm>
              <a:prstGeom prst="roundRect">
                <a:avLst/>
              </a:prstGeom>
              <a:blipFill>
                <a:blip r:embed="rId4"/>
                <a:stretch>
                  <a:fillRect t="-769" b="-6154"/>
                </a:stretch>
              </a:blipFill>
              <a:ln w="1">
                <a:solidFill>
                  <a:srgbClr val="000000"/>
                </a:solidFill>
              </a:ln>
            </p:spPr>
            <p:txBody>
              <a:bodyPr/>
              <a:lstStyle/>
              <a:p>
                <a:r>
                  <a:rPr lang="en-CA">
                    <a:noFill/>
                  </a:rPr>
                  <a:t> </a:t>
                </a:r>
              </a:p>
            </p:txBody>
          </p:sp>
        </mc:Fallback>
      </mc:AlternateContent>
      <p:sp>
        <p:nvSpPr>
          <p:cNvPr id="10" name="Right Arrow 9">
            <a:extLst>
              <a:ext uri="{FF2B5EF4-FFF2-40B4-BE49-F238E27FC236}">
                <a16:creationId xmlns:a16="http://schemas.microsoft.com/office/drawing/2014/main" id="{E01AA698-92E1-A217-9FDA-E131FEF717E5}"/>
              </a:ext>
            </a:extLst>
          </p:cNvPr>
          <p:cNvSpPr/>
          <p:nvPr/>
        </p:nvSpPr>
        <p:spPr>
          <a:xfrm>
            <a:off x="6096000" y="4521436"/>
            <a:ext cx="300000" cy="30360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ounded Rectangle 12">
            <a:extLst>
              <a:ext uri="{FF2B5EF4-FFF2-40B4-BE49-F238E27FC236}">
                <a16:creationId xmlns:a16="http://schemas.microsoft.com/office/drawing/2014/main" id="{43077DB1-9A2D-20EB-CF9F-AEB0F79579A3}"/>
              </a:ext>
            </a:extLst>
          </p:cNvPr>
          <p:cNvSpPr/>
          <p:nvPr/>
        </p:nvSpPr>
        <p:spPr>
          <a:xfrm>
            <a:off x="6396000" y="3861391"/>
            <a:ext cx="2372862" cy="1630757"/>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00000"/>
                </a:solidFill>
              </a:rPr>
              <a:t>3. Reduce</a:t>
            </a:r>
          </a:p>
          <a:p>
            <a:pPr algn="ctr"/>
            <a:r>
              <a:rPr sz="2400" dirty="0">
                <a:solidFill>
                  <a:srgbClr val="000000"/>
                </a:solidFill>
              </a:rPr>
              <a:t>Trace out the field after time evolution</a:t>
            </a:r>
          </a:p>
        </p:txBody>
      </p:sp>
      <p:sp>
        <p:nvSpPr>
          <p:cNvPr id="14" name="Right Arrow 13">
            <a:extLst>
              <a:ext uri="{FF2B5EF4-FFF2-40B4-BE49-F238E27FC236}">
                <a16:creationId xmlns:a16="http://schemas.microsoft.com/office/drawing/2014/main" id="{309BCC4B-8F65-123F-669A-78C5ABF5EFAA}"/>
              </a:ext>
            </a:extLst>
          </p:cNvPr>
          <p:cNvSpPr/>
          <p:nvPr/>
        </p:nvSpPr>
        <p:spPr>
          <a:xfrm>
            <a:off x="8768862" y="4521436"/>
            <a:ext cx="300000" cy="30360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AAE80622-ADE6-B5E5-4CFA-0EC4E7CCCB32}"/>
                  </a:ext>
                </a:extLst>
              </p:cNvPr>
              <p:cNvSpPr/>
              <p:nvPr/>
            </p:nvSpPr>
            <p:spPr>
              <a:xfrm>
                <a:off x="9068862" y="3861391"/>
                <a:ext cx="1808361" cy="1630757"/>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00000"/>
                    </a:solidFill>
                  </a:rPr>
                  <a:t>4. </a:t>
                </a:r>
                <a:r>
                  <a:rPr lang="en-US" sz="2400" b="1" dirty="0">
                    <a:solidFill>
                      <a:srgbClr val="000000"/>
                    </a:solidFill>
                  </a:rPr>
                  <a:t>Quantify</a:t>
                </a:r>
                <a:endParaRPr sz="2400" b="1" dirty="0">
                  <a:solidFill>
                    <a:srgbClr val="000000"/>
                  </a:solidFill>
                </a:endParaRPr>
              </a:p>
              <a:p>
                <a:pPr algn="ctr"/>
                <a:r>
                  <a:rPr sz="2400" dirty="0">
                    <a:solidFill>
                      <a:srgbClr val="000000"/>
                    </a:solidFill>
                  </a:rPr>
                  <a:t>Evaluate</a:t>
                </a:r>
                <a:r>
                  <a:rPr lang="en-US" sz="2400" dirty="0">
                    <a:solidFill>
                      <a:srgbClr val="000000"/>
                    </a:solidFill>
                  </a:rPr>
                  <a:t> </a:t>
                </a:r>
                <a14:m>
                  <m:oMath xmlns:m="http://schemas.openxmlformats.org/officeDocument/2006/math">
                    <m:r>
                      <m:rPr>
                        <m:sty m:val="p"/>
                      </m:rPr>
                      <a:rPr lang="en-US" sz="2400" b="0" i="0" smtClean="0">
                        <a:solidFill>
                          <a:srgbClr val="000000"/>
                        </a:solidFill>
                        <a:latin typeface="Cambria Math" panose="02040503050406030204" pitchFamily="18" charset="0"/>
                        <a:ea typeface="Cambria Math" panose="02040503050406030204" pitchFamily="18" charset="0"/>
                      </a:rPr>
                      <m:t>Δ</m:t>
                    </m:r>
                    <m:r>
                      <a:rPr lang="en-US" sz="2400" b="0" i="1" smtClean="0">
                        <a:solidFill>
                          <a:srgbClr val="000000"/>
                        </a:solidFill>
                        <a:latin typeface="Cambria Math" panose="02040503050406030204" pitchFamily="18" charset="0"/>
                        <a:ea typeface="Cambria Math" panose="02040503050406030204" pitchFamily="18" charset="0"/>
                      </a:rPr>
                      <m:t>𝐶𝐹</m:t>
                    </m:r>
                    <m:d>
                      <m:dPr>
                        <m:ctrlPr>
                          <a:rPr lang="en-US" sz="2400" b="0" i="1" smtClean="0">
                            <a:solidFill>
                              <a:srgbClr val="000000"/>
                            </a:solidFill>
                            <a:latin typeface="Cambria Math" panose="02040503050406030204" pitchFamily="18" charset="0"/>
                            <a:ea typeface="Cambria Math" panose="02040503050406030204" pitchFamily="18" charset="0"/>
                          </a:rPr>
                        </m:ctrlPr>
                      </m:dPr>
                      <m:e>
                        <m:sSup>
                          <m:sSupPr>
                            <m:ctrlPr>
                              <a:rPr lang="en-US" sz="2400" b="0" i="1" smtClean="0">
                                <a:solidFill>
                                  <a:srgbClr val="000000"/>
                                </a:solidFill>
                                <a:latin typeface="Cambria Math" panose="02040503050406030204" pitchFamily="18" charset="0"/>
                                <a:ea typeface="Cambria Math" panose="02040503050406030204" pitchFamily="18" charset="0"/>
                              </a:rPr>
                            </m:ctrlPr>
                          </m:sSupPr>
                          <m:e>
                            <m:r>
                              <a:rPr lang="en-US" sz="2400" b="1" i="1" smtClean="0">
                                <a:solidFill>
                                  <a:srgbClr val="000000"/>
                                </a:solidFill>
                                <a:latin typeface="Cambria Math" panose="02040503050406030204" pitchFamily="18" charset="0"/>
                                <a:ea typeface="Cambria Math" panose="02040503050406030204" pitchFamily="18" charset="0"/>
                              </a:rPr>
                              <m:t>𝒗</m:t>
                            </m:r>
                          </m:e>
                          <m:sup>
                            <m:r>
                              <a:rPr lang="en-US" sz="2400" b="0" i="1" smtClean="0">
                                <a:solidFill>
                                  <a:srgbClr val="000000"/>
                                </a:solidFill>
                                <a:latin typeface="Cambria Math" panose="02040503050406030204" pitchFamily="18" charset="0"/>
                                <a:ea typeface="Cambria Math" panose="02040503050406030204" pitchFamily="18" charset="0"/>
                              </a:rPr>
                              <m:t>𝑒</m:t>
                            </m:r>
                          </m:sup>
                        </m:sSup>
                      </m:e>
                    </m:d>
                  </m:oMath>
                </a14:m>
                <a:endParaRPr sz="2400" dirty="0">
                  <a:solidFill>
                    <a:srgbClr val="000000"/>
                  </a:solidFill>
                </a:endParaRPr>
              </a:p>
            </p:txBody>
          </p:sp>
        </mc:Choice>
        <mc:Fallback xmlns="">
          <p:sp>
            <p:nvSpPr>
              <p:cNvPr id="15" name="Rounded Rectangle 14">
                <a:extLst>
                  <a:ext uri="{FF2B5EF4-FFF2-40B4-BE49-F238E27FC236}">
                    <a16:creationId xmlns:a16="http://schemas.microsoft.com/office/drawing/2014/main" id="{AAE80622-ADE6-B5E5-4CFA-0EC4E7CCCB32}"/>
                  </a:ext>
                </a:extLst>
              </p:cNvPr>
              <p:cNvSpPr>
                <a:spLocks noRot="1" noChangeAspect="1" noMove="1" noResize="1" noEditPoints="1" noAdjustHandles="1" noChangeArrowheads="1" noChangeShapeType="1" noTextEdit="1"/>
              </p:cNvSpPr>
              <p:nvPr/>
            </p:nvSpPr>
            <p:spPr>
              <a:xfrm>
                <a:off x="9068862" y="3861391"/>
                <a:ext cx="1808361" cy="1630757"/>
              </a:xfrm>
              <a:prstGeom prst="roundRect">
                <a:avLst/>
              </a:prstGeom>
              <a:blipFill>
                <a:blip r:embed="rId5"/>
                <a:stretch>
                  <a:fillRect/>
                </a:stretch>
              </a:blipFill>
              <a:ln w="1">
                <a:solidFill>
                  <a:srgbClr val="000000"/>
                </a:solidFill>
              </a:ln>
            </p:spPr>
            <p:txBody>
              <a:bodyPr/>
              <a:lstStyle/>
              <a:p>
                <a:r>
                  <a:rPr lang="en-CA">
                    <a:noFill/>
                  </a:rPr>
                  <a:t> </a:t>
                </a:r>
              </a:p>
            </p:txBody>
          </p:sp>
        </mc:Fallback>
      </mc:AlternateContent>
      <p:sp>
        <p:nvSpPr>
          <p:cNvPr id="16" name="TextBox 15">
            <a:extLst>
              <a:ext uri="{FF2B5EF4-FFF2-40B4-BE49-F238E27FC236}">
                <a16:creationId xmlns:a16="http://schemas.microsoft.com/office/drawing/2014/main" id="{84A5983D-C03B-6697-E637-AF9532A04C18}"/>
              </a:ext>
            </a:extLst>
          </p:cNvPr>
          <p:cNvSpPr txBox="1"/>
          <p:nvPr/>
        </p:nvSpPr>
        <p:spPr>
          <a:xfrm>
            <a:off x="539929" y="2967335"/>
            <a:ext cx="2348524" cy="523220"/>
          </a:xfrm>
          <a:prstGeom prst="rect">
            <a:avLst/>
          </a:prstGeom>
          <a:noFill/>
        </p:spPr>
        <p:txBody>
          <a:bodyPr wrap="square" rtlCol="0">
            <a:spAutoFit/>
          </a:bodyPr>
          <a:lstStyle/>
          <a:p>
            <a:r>
              <a:rPr lang="en-CA" sz="2800" b="1" dirty="0"/>
              <a:t>The protocol:</a:t>
            </a:r>
          </a:p>
        </p:txBody>
      </p:sp>
      <p:pic>
        <p:nvPicPr>
          <p:cNvPr id="17" name="Picture 16">
            <a:extLst>
              <a:ext uri="{FF2B5EF4-FFF2-40B4-BE49-F238E27FC236}">
                <a16:creationId xmlns:a16="http://schemas.microsoft.com/office/drawing/2014/main" id="{75E3691E-0428-B6FF-BC50-3DAC72A47FAF}"/>
              </a:ext>
            </a:extLst>
          </p:cNvPr>
          <p:cNvPicPr>
            <a:picLocks noChangeAspect="1"/>
          </p:cNvPicPr>
          <p:nvPr/>
        </p:nvPicPr>
        <p:blipFill>
          <a:blip r:embed="rId6"/>
          <a:stretch>
            <a:fillRect/>
          </a:stretch>
        </p:blipFill>
        <p:spPr>
          <a:xfrm>
            <a:off x="3481074" y="1989784"/>
            <a:ext cx="4292630" cy="671275"/>
          </a:xfrm>
          <a:prstGeom prst="rect">
            <a:avLst/>
          </a:prstGeom>
        </p:spPr>
      </p:pic>
      <p:sp>
        <p:nvSpPr>
          <p:cNvPr id="18" name="TextBox 17">
            <a:extLst>
              <a:ext uri="{FF2B5EF4-FFF2-40B4-BE49-F238E27FC236}">
                <a16:creationId xmlns:a16="http://schemas.microsoft.com/office/drawing/2014/main" id="{3D433433-7673-032F-6557-DA24C16E19E4}"/>
              </a:ext>
            </a:extLst>
          </p:cNvPr>
          <p:cNvSpPr txBox="1"/>
          <p:nvPr/>
        </p:nvSpPr>
        <p:spPr>
          <a:xfrm>
            <a:off x="3087216" y="1243785"/>
            <a:ext cx="6317567" cy="461665"/>
          </a:xfrm>
          <a:prstGeom prst="rect">
            <a:avLst/>
          </a:prstGeom>
          <a:noFill/>
        </p:spPr>
        <p:txBody>
          <a:bodyPr wrap="square" rtlCol="0">
            <a:spAutoFit/>
          </a:bodyPr>
          <a:lstStyle/>
          <a:p>
            <a:r>
              <a:rPr lang="en-US" sz="2400" dirty="0"/>
              <a:t>Harvested contextuality measured using </a:t>
            </a:r>
            <a:endParaRPr lang="en-CA" sz="2400" dirty="0"/>
          </a:p>
        </p:txBody>
      </p:sp>
      <p:sp>
        <p:nvSpPr>
          <p:cNvPr id="19" name="Rectangle 18">
            <a:extLst>
              <a:ext uri="{FF2B5EF4-FFF2-40B4-BE49-F238E27FC236}">
                <a16:creationId xmlns:a16="http://schemas.microsoft.com/office/drawing/2014/main" id="{0FEEE89B-82F7-C285-02CA-BA30DD51E97C}"/>
              </a:ext>
            </a:extLst>
          </p:cNvPr>
          <p:cNvSpPr/>
          <p:nvPr/>
        </p:nvSpPr>
        <p:spPr>
          <a:xfrm>
            <a:off x="3587263" y="1978139"/>
            <a:ext cx="4186442" cy="671275"/>
          </a:xfrm>
          <a:prstGeom prst="rect">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381155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3" grpId="0" animBg="1"/>
      <p:bldP spid="14" grpId="0" animBg="1"/>
      <p:bldP spid="15" grpId="0" animBg="1"/>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A7D49-A956-4A6E-683E-A6B44AE06E8D}"/>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47EA7447-6EA4-1DA0-25BA-7C063C2A771F}"/>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BA60B48A-85C6-1F32-E848-869ED5F29FC8}"/>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Conditions for Genuine Contextuality Harvesting</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8474799-5800-4CA5-C2D3-66C2760FF3E0}"/>
              </a:ext>
            </a:extLst>
          </p:cNvPr>
          <p:cNvSpPr>
            <a:spLocks noGrp="1"/>
          </p:cNvSpPr>
          <p:nvPr>
            <p:ph type="sldNum" sz="quarter" idx="12"/>
          </p:nvPr>
        </p:nvSpPr>
        <p:spPr/>
        <p:txBody>
          <a:bodyPr/>
          <a:lstStyle/>
          <a:p>
            <a:fld id="{D0617D14-1B55-43C0-819D-0D244AC23646}" type="slidenum">
              <a:rPr lang="de-AT" smtClean="0"/>
              <a:t>18</a:t>
            </a:fld>
            <a:endParaRPr lang="de-AT"/>
          </a:p>
        </p:txBody>
      </p:sp>
      <p:sp>
        <p:nvSpPr>
          <p:cNvPr id="4" name="Rounded Rectangle 3">
            <a:extLst>
              <a:ext uri="{FF2B5EF4-FFF2-40B4-BE49-F238E27FC236}">
                <a16:creationId xmlns:a16="http://schemas.microsoft.com/office/drawing/2014/main" id="{A5D37406-CAF2-A99C-74BD-89CD211287A7}"/>
              </a:ext>
            </a:extLst>
          </p:cNvPr>
          <p:cNvSpPr/>
          <p:nvPr/>
        </p:nvSpPr>
        <p:spPr>
          <a:xfrm>
            <a:off x="1536217" y="4555124"/>
            <a:ext cx="9414803" cy="1087414"/>
          </a:xfrm>
          <a:prstGeom prst="round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100000" tIns="50000" rIns="100000" bIns="50000" rtlCol="0" anchor="ctr">
            <a:noAutofit/>
          </a:bodyPr>
          <a:lstStyle/>
          <a:p>
            <a:pPr algn="ctr"/>
            <a:r>
              <a:rPr sz="2400" b="0" dirty="0">
                <a:solidFill>
                  <a:srgbClr val="000000"/>
                </a:solidFill>
              </a:rPr>
              <a:t>Genuine harvesting is identified when the Hadamard contribution dominates the </a:t>
            </a:r>
            <a:r>
              <a:rPr sz="2400" b="0" dirty="0" err="1">
                <a:solidFill>
                  <a:srgbClr val="000000"/>
                </a:solidFill>
              </a:rPr>
              <a:t>signalling</a:t>
            </a:r>
            <a:r>
              <a:rPr sz="2400" b="0" dirty="0">
                <a:solidFill>
                  <a:srgbClr val="000000"/>
                </a:solidFill>
              </a:rPr>
              <a:t> term in the relevant peak region</a:t>
            </a:r>
          </a:p>
        </p:txBody>
      </p:sp>
      <p:pic>
        <p:nvPicPr>
          <p:cNvPr id="6" name="Picture 5">
            <a:extLst>
              <a:ext uri="{FF2B5EF4-FFF2-40B4-BE49-F238E27FC236}">
                <a16:creationId xmlns:a16="http://schemas.microsoft.com/office/drawing/2014/main" id="{19879B73-4F94-0CDB-5566-02B57235C4F0}"/>
              </a:ext>
            </a:extLst>
          </p:cNvPr>
          <p:cNvPicPr>
            <a:picLocks noChangeAspect="1"/>
          </p:cNvPicPr>
          <p:nvPr/>
        </p:nvPicPr>
        <p:blipFill>
          <a:blip r:embed="rId4"/>
          <a:stretch>
            <a:fillRect/>
          </a:stretch>
        </p:blipFill>
        <p:spPr>
          <a:xfrm>
            <a:off x="6096000" y="2350476"/>
            <a:ext cx="5503956" cy="1256158"/>
          </a:xfrm>
          <a:prstGeom prst="rect">
            <a:avLst/>
          </a:prstGeom>
        </p:spPr>
      </p:pic>
      <p:sp>
        <p:nvSpPr>
          <p:cNvPr id="8" name="TextBox 7">
            <a:extLst>
              <a:ext uri="{FF2B5EF4-FFF2-40B4-BE49-F238E27FC236}">
                <a16:creationId xmlns:a16="http://schemas.microsoft.com/office/drawing/2014/main" id="{0AABE455-282C-7926-4E7B-F7AA763AE903}"/>
              </a:ext>
            </a:extLst>
          </p:cNvPr>
          <p:cNvSpPr txBox="1"/>
          <p:nvPr/>
        </p:nvSpPr>
        <p:spPr>
          <a:xfrm>
            <a:off x="369516" y="1140225"/>
            <a:ext cx="7285370" cy="461665"/>
          </a:xfrm>
          <a:prstGeom prst="rect">
            <a:avLst/>
          </a:prstGeom>
          <a:noFill/>
        </p:spPr>
        <p:txBody>
          <a:bodyPr wrap="square" rtlCol="0">
            <a:spAutoFit/>
          </a:bodyPr>
          <a:lstStyle/>
          <a:p>
            <a:r>
              <a:rPr lang="en-US" sz="2400" dirty="0"/>
              <a:t>Not all harvested contextuality is due to the field</a:t>
            </a:r>
            <a:endParaRPr lang="en-CA" sz="2400" dirty="0"/>
          </a:p>
        </p:txBody>
      </p:sp>
      <p:sp>
        <p:nvSpPr>
          <p:cNvPr id="9" name="Right Arrow 8">
            <a:extLst>
              <a:ext uri="{FF2B5EF4-FFF2-40B4-BE49-F238E27FC236}">
                <a16:creationId xmlns:a16="http://schemas.microsoft.com/office/drawing/2014/main" id="{99DE6B48-9AC0-2460-5DDB-AA6147D45F38}"/>
              </a:ext>
            </a:extLst>
          </p:cNvPr>
          <p:cNvSpPr/>
          <p:nvPr/>
        </p:nvSpPr>
        <p:spPr>
          <a:xfrm>
            <a:off x="4819170" y="2752895"/>
            <a:ext cx="751569" cy="391562"/>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a:extLst>
              <a:ext uri="{FF2B5EF4-FFF2-40B4-BE49-F238E27FC236}">
                <a16:creationId xmlns:a16="http://schemas.microsoft.com/office/drawing/2014/main" id="{4C24C8E8-FA7D-646B-AA59-C6F08B0EE5B6}"/>
              </a:ext>
            </a:extLst>
          </p:cNvPr>
          <p:cNvSpPr txBox="1"/>
          <p:nvPr/>
        </p:nvSpPr>
        <p:spPr>
          <a:xfrm>
            <a:off x="499057" y="2023308"/>
            <a:ext cx="3586115" cy="1965388"/>
          </a:xfrm>
          <a:prstGeom prst="rect">
            <a:avLst/>
          </a:prstGeom>
          <a:noFill/>
        </p:spPr>
        <p:txBody>
          <a:bodyPr wrap="square">
            <a:noAutofit/>
          </a:bodyPr>
          <a:lstStyle/>
          <a:p>
            <a:pPr marL="457200" indent="-457200">
              <a:buFont typeface="Arial" panose="020B0604020202020204" pitchFamily="34" charset="0"/>
              <a:buChar char="•"/>
            </a:pPr>
            <a:r>
              <a:rPr lang="en-US" sz="2400" dirty="0">
                <a:solidFill>
                  <a:srgbClr val="000000"/>
                </a:solidFill>
              </a:rPr>
              <a:t>Hadamard function encodes field state-dependence</a:t>
            </a:r>
          </a:p>
          <a:p>
            <a:pPr marL="457200" indent="-457200">
              <a:buFont typeface="Arial" panose="020B0604020202020204" pitchFamily="34" charset="0"/>
              <a:buChar char="•"/>
            </a:pPr>
            <a:r>
              <a:rPr lang="en-US" sz="2400" dirty="0">
                <a:solidFill>
                  <a:srgbClr val="000000"/>
                </a:solidFill>
              </a:rPr>
              <a:t>Symmetric propagator encodes </a:t>
            </a:r>
            <a:r>
              <a:rPr lang="en-US" sz="2400" dirty="0" err="1">
                <a:solidFill>
                  <a:srgbClr val="000000"/>
                </a:solidFill>
              </a:rPr>
              <a:t>signalling</a:t>
            </a:r>
            <a:endParaRPr sz="2400" dirty="0">
              <a:solidFill>
                <a:srgbClr val="000000"/>
              </a:solidFill>
            </a:endParaRPr>
          </a:p>
        </p:txBody>
      </p:sp>
      <p:sp>
        <p:nvSpPr>
          <p:cNvPr id="13" name="TextBox 12">
            <a:extLst>
              <a:ext uri="{FF2B5EF4-FFF2-40B4-BE49-F238E27FC236}">
                <a16:creationId xmlns:a16="http://schemas.microsoft.com/office/drawing/2014/main" id="{5D39E659-BC34-8F2D-54E6-1EB336F5578F}"/>
              </a:ext>
            </a:extLst>
          </p:cNvPr>
          <p:cNvSpPr txBox="1"/>
          <p:nvPr/>
        </p:nvSpPr>
        <p:spPr>
          <a:xfrm>
            <a:off x="4504925" y="2023308"/>
            <a:ext cx="1738694" cy="554721"/>
          </a:xfrm>
          <a:prstGeom prst="rect">
            <a:avLst/>
          </a:prstGeom>
          <a:noFill/>
        </p:spPr>
        <p:txBody>
          <a:bodyPr wrap="square">
            <a:noAutofit/>
          </a:bodyPr>
          <a:lstStyle/>
          <a:p>
            <a:r>
              <a:rPr lang="en-US" sz="2400" b="1" dirty="0">
                <a:solidFill>
                  <a:srgbClr val="000000"/>
                </a:solidFill>
              </a:rPr>
              <a:t>Quantify</a:t>
            </a:r>
            <a:r>
              <a:rPr lang="en-US" sz="2400" dirty="0">
                <a:solidFill>
                  <a:srgbClr val="000000"/>
                </a:solidFill>
              </a:rPr>
              <a:t>:</a:t>
            </a:r>
            <a:endParaRPr sz="2400" dirty="0">
              <a:solidFill>
                <a:srgbClr val="000000"/>
              </a:solidFill>
            </a:endParaRPr>
          </a:p>
        </p:txBody>
      </p:sp>
    </p:spTree>
    <p:custDataLst>
      <p:tags r:id="rId1"/>
    </p:custDataLst>
    <p:extLst>
      <p:ext uri="{BB962C8B-B14F-4D97-AF65-F5344CB8AC3E}">
        <p14:creationId xmlns:p14="http://schemas.microsoft.com/office/powerpoint/2010/main" val="342122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90E68-E077-2C65-344C-B4BF0CEDA17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B6BA7EF9-5F29-EE18-69BF-877A5ADD7DEA}"/>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F2D97D83-A798-235F-C685-05F83890CB37}"/>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An Argument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287601DA-CC50-AD21-081E-60D08128D285}"/>
              </a:ext>
            </a:extLst>
          </p:cNvPr>
          <p:cNvSpPr>
            <a:spLocks noGrp="1"/>
          </p:cNvSpPr>
          <p:nvPr>
            <p:ph type="sldNum" sz="quarter" idx="12"/>
          </p:nvPr>
        </p:nvSpPr>
        <p:spPr/>
        <p:txBody>
          <a:bodyPr/>
          <a:lstStyle/>
          <a:p>
            <a:fld id="{D0617D14-1B55-43C0-819D-0D244AC23646}" type="slidenum">
              <a:rPr lang="de-AT" smtClean="0"/>
              <a:t>19</a:t>
            </a:fld>
            <a:endParaRPr lang="de-AT"/>
          </a:p>
        </p:txBody>
      </p:sp>
      <p:sp>
        <p:nvSpPr>
          <p:cNvPr id="5" name="TextBox 4">
            <a:extLst>
              <a:ext uri="{FF2B5EF4-FFF2-40B4-BE49-F238E27FC236}">
                <a16:creationId xmlns:a16="http://schemas.microsoft.com/office/drawing/2014/main" id="{8531FDE9-D635-4300-30A4-E4E710125A83}"/>
              </a:ext>
            </a:extLst>
          </p:cNvPr>
          <p:cNvSpPr txBox="1"/>
          <p:nvPr/>
        </p:nvSpPr>
        <p:spPr>
          <a:xfrm>
            <a:off x="1328276" y="2142392"/>
            <a:ext cx="4782919" cy="830997"/>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r>
              <a:rPr lang="en-US" sz="2400" dirty="0">
                <a:solidFill>
                  <a:srgbClr val="000000"/>
                </a:solidFill>
              </a:rPr>
              <a:t>Vacuum state is generically highly non-classical</a:t>
            </a:r>
          </a:p>
        </p:txBody>
      </p:sp>
      <p:sp>
        <p:nvSpPr>
          <p:cNvPr id="8" name="TextBox 7">
            <a:extLst>
              <a:ext uri="{FF2B5EF4-FFF2-40B4-BE49-F238E27FC236}">
                <a16:creationId xmlns:a16="http://schemas.microsoft.com/office/drawing/2014/main" id="{2369BC57-F879-97FE-69B7-E556B4BC11EB}"/>
              </a:ext>
            </a:extLst>
          </p:cNvPr>
          <p:cNvSpPr txBox="1"/>
          <p:nvPr/>
        </p:nvSpPr>
        <p:spPr>
          <a:xfrm>
            <a:off x="260389" y="1156000"/>
            <a:ext cx="4782919" cy="523220"/>
          </a:xfrm>
          <a:prstGeom prst="rect">
            <a:avLst/>
          </a:prstGeom>
          <a:noFill/>
        </p:spPr>
        <p:txBody>
          <a:bodyPr wrap="square" rtlCol="0">
            <a:spAutoFit/>
          </a:bodyPr>
          <a:lstStyle/>
          <a:p>
            <a:r>
              <a:rPr lang="en-US" sz="2800" dirty="0"/>
              <a:t>Can we call it “harvesting?”</a:t>
            </a:r>
            <a:endParaRPr lang="en-CA" sz="2800" dirty="0"/>
          </a:p>
        </p:txBody>
      </p:sp>
      <p:sp>
        <p:nvSpPr>
          <p:cNvPr id="9" name="TextBox 8">
            <a:extLst>
              <a:ext uri="{FF2B5EF4-FFF2-40B4-BE49-F238E27FC236}">
                <a16:creationId xmlns:a16="http://schemas.microsoft.com/office/drawing/2014/main" id="{73642BE0-92A7-8F4A-40F8-28D03BF15AB9}"/>
              </a:ext>
            </a:extLst>
          </p:cNvPr>
          <p:cNvSpPr txBox="1"/>
          <p:nvPr/>
        </p:nvSpPr>
        <p:spPr>
          <a:xfrm>
            <a:off x="1328276" y="3261267"/>
            <a:ext cx="4782920"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Resource theory of contextuality identifies free operations</a:t>
            </a:r>
          </a:p>
        </p:txBody>
      </p:sp>
      <p:sp>
        <p:nvSpPr>
          <p:cNvPr id="10" name="Right Arrow 9">
            <a:extLst>
              <a:ext uri="{FF2B5EF4-FFF2-40B4-BE49-F238E27FC236}">
                <a16:creationId xmlns:a16="http://schemas.microsoft.com/office/drawing/2014/main" id="{3F33BC7B-EE35-8179-F7C4-C838927B9EBC}"/>
              </a:ext>
            </a:extLst>
          </p:cNvPr>
          <p:cNvSpPr/>
          <p:nvPr/>
        </p:nvSpPr>
        <p:spPr>
          <a:xfrm>
            <a:off x="6315721" y="2353444"/>
            <a:ext cx="751569" cy="2489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a:extLst>
              <a:ext uri="{FF2B5EF4-FFF2-40B4-BE49-F238E27FC236}">
                <a16:creationId xmlns:a16="http://schemas.microsoft.com/office/drawing/2014/main" id="{2F591588-30E2-6C91-B683-965FA49968D1}"/>
              </a:ext>
            </a:extLst>
          </p:cNvPr>
          <p:cNvSpPr txBox="1"/>
          <p:nvPr/>
        </p:nvSpPr>
        <p:spPr>
          <a:xfrm>
            <a:off x="7407462" y="2231294"/>
            <a:ext cx="3466993" cy="668031"/>
          </a:xfrm>
          <a:prstGeom prst="rect">
            <a:avLst/>
          </a:prstGeom>
          <a:noFill/>
        </p:spPr>
        <p:txBody>
          <a:bodyPr wrap="square">
            <a:noAutofit/>
          </a:bodyPr>
          <a:lstStyle/>
          <a:p>
            <a:r>
              <a:rPr lang="en-US" sz="2400" dirty="0">
                <a:solidFill>
                  <a:srgbClr val="000000"/>
                </a:solidFill>
              </a:rPr>
              <a:t>Pre-existing contextuality</a:t>
            </a:r>
          </a:p>
        </p:txBody>
      </p:sp>
      <p:sp>
        <p:nvSpPr>
          <p:cNvPr id="14" name="TextBox 13">
            <a:extLst>
              <a:ext uri="{FF2B5EF4-FFF2-40B4-BE49-F238E27FC236}">
                <a16:creationId xmlns:a16="http://schemas.microsoft.com/office/drawing/2014/main" id="{6093E339-187B-266A-D9CF-ACBF9CF535BD}"/>
              </a:ext>
            </a:extLst>
          </p:cNvPr>
          <p:cNvSpPr txBox="1"/>
          <p:nvPr/>
        </p:nvSpPr>
        <p:spPr>
          <a:xfrm>
            <a:off x="7407463" y="2830191"/>
            <a:ext cx="4399808" cy="1569660"/>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US" sz="2400" dirty="0">
                <a:solidFill>
                  <a:srgbClr val="000000"/>
                </a:solidFill>
                <a:latin typeface="Calibri" panose="020F0502020204030204"/>
              </a:rPr>
              <a:t>U</a:t>
            </a:r>
            <a:r>
              <a:rPr kumimoji="0" lang="en-US" sz="2400" b="0" i="0" u="none" strike="noStrike" kern="1200" cap="none" spc="0" normalizeH="0" baseline="0" noProof="0" dirty="0">
                <a:ln>
                  <a:noFill/>
                </a:ln>
                <a:solidFill>
                  <a:srgbClr val="000000"/>
                </a:solidFill>
                <a:effectLst/>
                <a:uLnTx/>
                <a:uFillTx/>
                <a:latin typeface="Calibri" panose="020F0502020204030204"/>
              </a:rPr>
              <a:t>se on field and UDW systems to reduce explanation of acquired contextuality to non-classicality of vacuum</a:t>
            </a:r>
          </a:p>
        </p:txBody>
      </p:sp>
      <p:sp>
        <p:nvSpPr>
          <p:cNvPr id="15" name="Right Arrow 14">
            <a:extLst>
              <a:ext uri="{FF2B5EF4-FFF2-40B4-BE49-F238E27FC236}">
                <a16:creationId xmlns:a16="http://schemas.microsoft.com/office/drawing/2014/main" id="{4A3C81DF-CCED-625B-C87B-3A69A17852E3}"/>
              </a:ext>
            </a:extLst>
          </p:cNvPr>
          <p:cNvSpPr/>
          <p:nvPr/>
        </p:nvSpPr>
        <p:spPr>
          <a:xfrm>
            <a:off x="6315718" y="3490971"/>
            <a:ext cx="751569" cy="2489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a:extLst>
              <a:ext uri="{FF2B5EF4-FFF2-40B4-BE49-F238E27FC236}">
                <a16:creationId xmlns:a16="http://schemas.microsoft.com/office/drawing/2014/main" id="{BB33FAE0-0948-DBB1-1798-3CB2BBBB0EB9}"/>
              </a:ext>
            </a:extLst>
          </p:cNvPr>
          <p:cNvSpPr txBox="1"/>
          <p:nvPr/>
        </p:nvSpPr>
        <p:spPr>
          <a:xfrm>
            <a:off x="1328276" y="4437493"/>
            <a:ext cx="4782920"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defTabSz="457200">
              <a:defRPr/>
            </a:pPr>
            <a:r>
              <a:rPr lang="en-US" sz="2400" dirty="0">
                <a:solidFill>
                  <a:srgbClr val="000000"/>
                </a:solidFill>
              </a:rPr>
              <a:t>State-dependent portion of vacuum correlations dominates</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17" name="Right Arrow 16">
            <a:extLst>
              <a:ext uri="{FF2B5EF4-FFF2-40B4-BE49-F238E27FC236}">
                <a16:creationId xmlns:a16="http://schemas.microsoft.com/office/drawing/2014/main" id="{FB8935C6-0236-1B2A-2CBC-B94A8FC5B905}"/>
              </a:ext>
            </a:extLst>
          </p:cNvPr>
          <p:cNvSpPr/>
          <p:nvPr/>
        </p:nvSpPr>
        <p:spPr>
          <a:xfrm>
            <a:off x="6315718" y="4715734"/>
            <a:ext cx="751569" cy="2489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a:extLst>
              <a:ext uri="{FF2B5EF4-FFF2-40B4-BE49-F238E27FC236}">
                <a16:creationId xmlns:a16="http://schemas.microsoft.com/office/drawing/2014/main" id="{6D9DAB8E-6212-DB34-6108-F180E60AE6C0}"/>
              </a:ext>
            </a:extLst>
          </p:cNvPr>
          <p:cNvSpPr txBox="1"/>
          <p:nvPr/>
        </p:nvSpPr>
        <p:spPr>
          <a:xfrm>
            <a:off x="114409" y="5780388"/>
            <a:ext cx="7001498" cy="307777"/>
          </a:xfrm>
          <a:prstGeom prst="rect">
            <a:avLst/>
          </a:prstGeom>
          <a:noFill/>
        </p:spPr>
        <p:txBody>
          <a:bodyPr wrap="square">
            <a:spAutoFit/>
          </a:bodyPr>
          <a:lstStyle/>
          <a:p>
            <a:r>
              <a:rPr lang="en-US" sz="1400" dirty="0">
                <a:solidFill>
                  <a:schemeClr val="bg1">
                    <a:lumMod val="75000"/>
                  </a:schemeClr>
                </a:solidFill>
              </a:rPr>
              <a:t>B. Amaral, Resource theory of contextuality, Phil. Trans. R. Soc. 377, 20190010 (2019).</a:t>
            </a:r>
          </a:p>
        </p:txBody>
      </p:sp>
      <p:sp>
        <p:nvSpPr>
          <p:cNvPr id="20" name="TextBox 19">
            <a:extLst>
              <a:ext uri="{FF2B5EF4-FFF2-40B4-BE49-F238E27FC236}">
                <a16:creationId xmlns:a16="http://schemas.microsoft.com/office/drawing/2014/main" id="{9568B7B0-B7FA-B073-4699-6C6EAB3883DC}"/>
              </a:ext>
            </a:extLst>
          </p:cNvPr>
          <p:cNvSpPr txBox="1"/>
          <p:nvPr/>
        </p:nvSpPr>
        <p:spPr>
          <a:xfrm>
            <a:off x="7407462" y="4486218"/>
            <a:ext cx="4399808" cy="830997"/>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US" sz="2400" dirty="0">
                <a:solidFill>
                  <a:srgbClr val="000000"/>
                </a:solidFill>
                <a:latin typeface="Calibri" panose="020F0502020204030204"/>
              </a:rPr>
              <a:t>Specific field state sources non-classicality</a:t>
            </a:r>
            <a:endParaRPr kumimoji="0" lang="en-US" sz="2400" b="0" i="0" u="none" strike="noStrike" kern="1200" cap="none" spc="0" normalizeH="0" baseline="0" noProof="0" dirty="0">
              <a:ln>
                <a:noFill/>
              </a:ln>
              <a:solidFill>
                <a:srgbClr val="000000"/>
              </a:solidFill>
              <a:effectLst/>
              <a:uLnTx/>
              <a:uFillTx/>
              <a:latin typeface="Calibri" panose="020F0502020204030204"/>
            </a:endParaRPr>
          </a:p>
        </p:txBody>
      </p:sp>
      <p:sp>
        <p:nvSpPr>
          <p:cNvPr id="4" name="Shape 105">
            <a:extLst>
              <a:ext uri="{FF2B5EF4-FFF2-40B4-BE49-F238E27FC236}">
                <a16:creationId xmlns:a16="http://schemas.microsoft.com/office/drawing/2014/main" id="{04023B05-1AB1-799C-D759-184B4495E521}"/>
              </a:ext>
            </a:extLst>
          </p:cNvPr>
          <p:cNvSpPr/>
          <p:nvPr/>
        </p:nvSpPr>
        <p:spPr>
          <a:xfrm>
            <a:off x="600903" y="2390752"/>
            <a:ext cx="502920" cy="347472"/>
          </a:xfrm>
          <a:prstGeom prst="ellipse">
            <a:avLst/>
          </a:prstGeom>
          <a:solidFill>
            <a:srgbClr val="F4CCCC"/>
          </a:solidFill>
          <a:ln w="12700">
            <a:solidFill>
              <a:srgbClr val="D58F8F"/>
            </a:solidFill>
            <a:prstDash val="solid"/>
          </a:ln>
        </p:spPr>
        <p:txBody>
          <a:bodyPr/>
          <a:lstStyle/>
          <a:p>
            <a:endParaRPr/>
          </a:p>
        </p:txBody>
      </p:sp>
      <p:sp>
        <p:nvSpPr>
          <p:cNvPr id="6" name="Text 106">
            <a:extLst>
              <a:ext uri="{FF2B5EF4-FFF2-40B4-BE49-F238E27FC236}">
                <a16:creationId xmlns:a16="http://schemas.microsoft.com/office/drawing/2014/main" id="{C2CC7AF2-FF1E-7D43-AC4A-A355BB7E5074}"/>
              </a:ext>
            </a:extLst>
          </p:cNvPr>
          <p:cNvSpPr/>
          <p:nvPr/>
        </p:nvSpPr>
        <p:spPr>
          <a:xfrm>
            <a:off x="738063" y="2436472"/>
            <a:ext cx="228600" cy="146304"/>
          </a:xfrm>
          <a:prstGeom prst="rect">
            <a:avLst/>
          </a:prstGeom>
          <a:noFill/>
          <a:ln/>
        </p:spPr>
        <p:txBody>
          <a:bodyPr wrap="square" rtlCol="0" anchor="ctr"/>
          <a:lstStyle/>
          <a:p>
            <a:pPr marL="0" indent="0" algn="ctr">
              <a:buNone/>
            </a:pPr>
            <a:r>
              <a:rPr lang="en-US" sz="4000" b="1" dirty="0">
                <a:solidFill>
                  <a:srgbClr val="003366"/>
                </a:solidFill>
              </a:rPr>
              <a:t>1</a:t>
            </a:r>
            <a:endParaRPr lang="en-US" sz="1100" dirty="0"/>
          </a:p>
        </p:txBody>
      </p:sp>
      <p:sp>
        <p:nvSpPr>
          <p:cNvPr id="11" name="Shape 108">
            <a:extLst>
              <a:ext uri="{FF2B5EF4-FFF2-40B4-BE49-F238E27FC236}">
                <a16:creationId xmlns:a16="http://schemas.microsoft.com/office/drawing/2014/main" id="{0629A9CB-F008-8CF6-1247-557A0C90DA33}"/>
              </a:ext>
            </a:extLst>
          </p:cNvPr>
          <p:cNvSpPr/>
          <p:nvPr/>
        </p:nvSpPr>
        <p:spPr>
          <a:xfrm>
            <a:off x="600903" y="3488072"/>
            <a:ext cx="502920" cy="347472"/>
          </a:xfrm>
          <a:prstGeom prst="ellipse">
            <a:avLst/>
          </a:prstGeom>
          <a:solidFill>
            <a:srgbClr val="F4CCCC"/>
          </a:solidFill>
          <a:ln w="12700">
            <a:solidFill>
              <a:srgbClr val="D58F8F"/>
            </a:solidFill>
            <a:prstDash val="solid"/>
          </a:ln>
        </p:spPr>
        <p:txBody>
          <a:bodyPr/>
          <a:lstStyle/>
          <a:p>
            <a:endParaRPr/>
          </a:p>
        </p:txBody>
      </p:sp>
      <p:sp>
        <p:nvSpPr>
          <p:cNvPr id="12" name="Text 109">
            <a:extLst>
              <a:ext uri="{FF2B5EF4-FFF2-40B4-BE49-F238E27FC236}">
                <a16:creationId xmlns:a16="http://schemas.microsoft.com/office/drawing/2014/main" id="{CFEFC15E-63C5-7E3D-AEB8-9DC62D150612}"/>
              </a:ext>
            </a:extLst>
          </p:cNvPr>
          <p:cNvSpPr/>
          <p:nvPr/>
        </p:nvSpPr>
        <p:spPr>
          <a:xfrm>
            <a:off x="738063" y="3533792"/>
            <a:ext cx="228600" cy="146304"/>
          </a:xfrm>
          <a:prstGeom prst="rect">
            <a:avLst/>
          </a:prstGeom>
          <a:noFill/>
          <a:ln/>
        </p:spPr>
        <p:txBody>
          <a:bodyPr wrap="square" rtlCol="0" anchor="ctr"/>
          <a:lstStyle/>
          <a:p>
            <a:pPr marL="0" indent="0" algn="ctr">
              <a:buNone/>
            </a:pPr>
            <a:r>
              <a:rPr lang="en-US" sz="4000" b="1" dirty="0">
                <a:solidFill>
                  <a:srgbClr val="003366"/>
                </a:solidFill>
              </a:rPr>
              <a:t>2</a:t>
            </a:r>
            <a:endParaRPr lang="en-US" sz="1100" dirty="0"/>
          </a:p>
        </p:txBody>
      </p:sp>
      <p:sp>
        <p:nvSpPr>
          <p:cNvPr id="18" name="Shape 111">
            <a:extLst>
              <a:ext uri="{FF2B5EF4-FFF2-40B4-BE49-F238E27FC236}">
                <a16:creationId xmlns:a16="http://schemas.microsoft.com/office/drawing/2014/main" id="{C424D923-F8AE-25FC-B1EA-14C90301FABE}"/>
              </a:ext>
            </a:extLst>
          </p:cNvPr>
          <p:cNvSpPr/>
          <p:nvPr/>
        </p:nvSpPr>
        <p:spPr>
          <a:xfrm>
            <a:off x="600903" y="4715734"/>
            <a:ext cx="502920" cy="347472"/>
          </a:xfrm>
          <a:prstGeom prst="ellipse">
            <a:avLst/>
          </a:prstGeom>
          <a:solidFill>
            <a:srgbClr val="F4CCCC"/>
          </a:solidFill>
          <a:ln w="12700">
            <a:solidFill>
              <a:srgbClr val="D58F8F"/>
            </a:solidFill>
            <a:prstDash val="solid"/>
          </a:ln>
        </p:spPr>
        <p:txBody>
          <a:bodyPr/>
          <a:lstStyle/>
          <a:p>
            <a:endParaRPr/>
          </a:p>
        </p:txBody>
      </p:sp>
      <p:sp>
        <p:nvSpPr>
          <p:cNvPr id="21" name="Text 112">
            <a:extLst>
              <a:ext uri="{FF2B5EF4-FFF2-40B4-BE49-F238E27FC236}">
                <a16:creationId xmlns:a16="http://schemas.microsoft.com/office/drawing/2014/main" id="{52C8630F-A186-DB0D-D747-02648EA7ECF4}"/>
              </a:ext>
            </a:extLst>
          </p:cNvPr>
          <p:cNvSpPr/>
          <p:nvPr/>
        </p:nvSpPr>
        <p:spPr>
          <a:xfrm>
            <a:off x="738063" y="4761454"/>
            <a:ext cx="228600" cy="146304"/>
          </a:xfrm>
          <a:prstGeom prst="rect">
            <a:avLst/>
          </a:prstGeom>
          <a:noFill/>
          <a:ln/>
        </p:spPr>
        <p:txBody>
          <a:bodyPr wrap="square" rtlCol="0" anchor="ctr"/>
          <a:lstStyle/>
          <a:p>
            <a:pPr marL="0" indent="0" algn="ctr">
              <a:buNone/>
            </a:pPr>
            <a:r>
              <a:rPr lang="en-US" sz="4000" b="1" dirty="0">
                <a:solidFill>
                  <a:srgbClr val="003366"/>
                </a:solidFill>
              </a:rPr>
              <a:t>3</a:t>
            </a:r>
            <a:endParaRPr lang="en-US" sz="1100" dirty="0"/>
          </a:p>
        </p:txBody>
      </p:sp>
    </p:spTree>
    <p:custDataLst>
      <p:tags r:id="rId1"/>
    </p:custDataLst>
    <p:extLst>
      <p:ext uri="{BB962C8B-B14F-4D97-AF65-F5344CB8AC3E}">
        <p14:creationId xmlns:p14="http://schemas.microsoft.com/office/powerpoint/2010/main" val="120419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3" grpId="0"/>
      <p:bldP spid="14" grpId="0"/>
      <p:bldP spid="15" grpId="0" animBg="1"/>
      <p:bldP spid="16" grpId="0" animBg="1"/>
      <p:bldP spid="17" grpId="0" animBg="1"/>
      <p:bldP spid="20" grpId="0"/>
      <p:bldP spid="4" grpId="0" animBg="1"/>
      <p:bldP spid="6" grpId="0" animBg="1"/>
      <p:bldP spid="11" grpId="0" animBg="1"/>
      <p:bldP spid="12" grpId="0" animBg="1"/>
      <p:bldP spid="18"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6F33-B997-DA2E-670C-BCEC15E90726}"/>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23D27DA-63C8-F362-616D-04BE3D5A4137}"/>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510B7A8-A378-5234-2678-D1CA3EE04FEF}"/>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098F7305-9524-BDE9-D1AB-C2EECE2147FA}"/>
              </a:ext>
            </a:extLst>
          </p:cNvPr>
          <p:cNvSpPr>
            <a:spLocks noGrp="1"/>
          </p:cNvSpPr>
          <p:nvPr>
            <p:ph type="sldNum" sz="quarter" idx="12"/>
          </p:nvPr>
        </p:nvSpPr>
        <p:spPr/>
        <p:txBody>
          <a:bodyPr/>
          <a:lstStyle/>
          <a:p>
            <a:fld id="{D0617D14-1B55-43C0-819D-0D244AC23646}" type="slidenum">
              <a:rPr lang="de-AT" smtClean="0"/>
              <a:t>20</a:t>
            </a:fld>
            <a:endParaRPr lang="de-AT"/>
          </a:p>
        </p:txBody>
      </p:sp>
      <p:sp>
        <p:nvSpPr>
          <p:cNvPr id="5" name="TextBox 4">
            <a:extLst>
              <a:ext uri="{FF2B5EF4-FFF2-40B4-BE49-F238E27FC236}">
                <a16:creationId xmlns:a16="http://schemas.microsoft.com/office/drawing/2014/main" id="{9D5D9FF1-CD4F-074D-9FDE-045E01C57D4F}"/>
              </a:ext>
            </a:extLst>
          </p:cNvPr>
          <p:cNvSpPr txBox="1"/>
          <p:nvPr/>
        </p:nvSpPr>
        <p:spPr>
          <a:xfrm>
            <a:off x="1106722" y="3013501"/>
            <a:ext cx="9978556" cy="830997"/>
          </a:xfrm>
          <a:prstGeom prst="rect">
            <a:avLst/>
          </a:prstGeom>
          <a:noFill/>
        </p:spPr>
        <p:txBody>
          <a:bodyPr wrap="square" rtlCol="0">
            <a:spAutoFit/>
          </a:bodyPr>
          <a:lstStyle/>
          <a:p>
            <a:pPr>
              <a:spcAft>
                <a:spcPts val="1200"/>
              </a:spcAft>
            </a:pPr>
            <a:r>
              <a:rPr lang="en-CA" sz="4800" dirty="0"/>
              <a:t>IV. Qutrit and Qubit-Qutrit Harvesting</a:t>
            </a:r>
          </a:p>
        </p:txBody>
      </p:sp>
    </p:spTree>
    <p:custDataLst>
      <p:tags r:id="rId1"/>
    </p:custDataLst>
    <p:extLst>
      <p:ext uri="{BB962C8B-B14F-4D97-AF65-F5344CB8AC3E}">
        <p14:creationId xmlns:p14="http://schemas.microsoft.com/office/powerpoint/2010/main" val="681101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173A0-7D05-2409-867E-BDBCF50AEC1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5FCF8DFC-8764-9B91-608A-F3AC7D46FA27}"/>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DA54F2C8-4966-2F44-995C-2E1E1372CAE5}"/>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Single 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5D4F8010-8E9A-AE28-E216-D59C5B91C2E3}"/>
              </a:ext>
            </a:extLst>
          </p:cNvPr>
          <p:cNvSpPr>
            <a:spLocks noGrp="1"/>
          </p:cNvSpPr>
          <p:nvPr>
            <p:ph type="sldNum" sz="quarter" idx="12"/>
          </p:nvPr>
        </p:nvSpPr>
        <p:spPr/>
        <p:txBody>
          <a:bodyPr/>
          <a:lstStyle/>
          <a:p>
            <a:fld id="{D0617D14-1B55-43C0-819D-0D244AC23646}" type="slidenum">
              <a:rPr lang="de-AT" smtClean="0"/>
              <a:t>21</a:t>
            </a:fld>
            <a:endParaRPr lang="de-AT"/>
          </a:p>
        </p:txBody>
      </p:sp>
      <p:pic>
        <p:nvPicPr>
          <p:cNvPr id="14" name="Picture 13">
            <a:extLst>
              <a:ext uri="{FF2B5EF4-FFF2-40B4-BE49-F238E27FC236}">
                <a16:creationId xmlns:a16="http://schemas.microsoft.com/office/drawing/2014/main" id="{CC2682F7-C647-EE8A-D15E-DE8E09164260}"/>
              </a:ext>
            </a:extLst>
          </p:cNvPr>
          <p:cNvPicPr>
            <a:picLocks noChangeAspect="1"/>
          </p:cNvPicPr>
          <p:nvPr/>
        </p:nvPicPr>
        <p:blipFill>
          <a:blip r:embed="rId4"/>
          <a:stretch>
            <a:fillRect/>
          </a:stretch>
        </p:blipFill>
        <p:spPr>
          <a:xfrm>
            <a:off x="1273230" y="2387215"/>
            <a:ext cx="6067790" cy="1417294"/>
          </a:xfrm>
          <a:prstGeom prst="rect">
            <a:avLst/>
          </a:prstGeom>
        </p:spPr>
      </p:pic>
      <p:pic>
        <p:nvPicPr>
          <p:cNvPr id="15" name="Picture 14">
            <a:extLst>
              <a:ext uri="{FF2B5EF4-FFF2-40B4-BE49-F238E27FC236}">
                <a16:creationId xmlns:a16="http://schemas.microsoft.com/office/drawing/2014/main" id="{25A9083A-0496-8E4B-E00A-7D0FBF38706B}"/>
              </a:ext>
            </a:extLst>
          </p:cNvPr>
          <p:cNvPicPr>
            <a:picLocks noChangeAspect="1"/>
          </p:cNvPicPr>
          <p:nvPr/>
        </p:nvPicPr>
        <p:blipFill>
          <a:blip r:embed="rId5"/>
          <a:srcRect t="1" b="2207"/>
          <a:stretch>
            <a:fillRect/>
          </a:stretch>
        </p:blipFill>
        <p:spPr>
          <a:xfrm>
            <a:off x="8600542" y="2709114"/>
            <a:ext cx="2896058" cy="412449"/>
          </a:xfrm>
          <a:prstGeom prst="rect">
            <a:avLst/>
          </a:prstGeom>
        </p:spPr>
      </p:pic>
      <p:grpSp>
        <p:nvGrpSpPr>
          <p:cNvPr id="16" name="Group 15">
            <a:extLst>
              <a:ext uri="{FF2B5EF4-FFF2-40B4-BE49-F238E27FC236}">
                <a16:creationId xmlns:a16="http://schemas.microsoft.com/office/drawing/2014/main" id="{F30710FA-4CCB-87C6-A14D-A97ECEAF89DF}"/>
              </a:ext>
            </a:extLst>
          </p:cNvPr>
          <p:cNvGrpSpPr/>
          <p:nvPr/>
        </p:nvGrpSpPr>
        <p:grpSpPr>
          <a:xfrm>
            <a:off x="8691112" y="3177099"/>
            <a:ext cx="2523199" cy="412449"/>
            <a:chOff x="5387980" y="22725021"/>
            <a:chExt cx="2329907" cy="368300"/>
          </a:xfrm>
        </p:grpSpPr>
        <p:pic>
          <p:nvPicPr>
            <p:cNvPr id="17" name="Picture 16">
              <a:extLst>
                <a:ext uri="{FF2B5EF4-FFF2-40B4-BE49-F238E27FC236}">
                  <a16:creationId xmlns:a16="http://schemas.microsoft.com/office/drawing/2014/main" id="{18C366E2-934D-A19C-7CD4-D4275F956215}"/>
                </a:ext>
              </a:extLst>
            </p:cNvPr>
            <p:cNvPicPr>
              <a:picLocks noChangeAspect="1"/>
            </p:cNvPicPr>
            <p:nvPr/>
          </p:nvPicPr>
          <p:blipFill>
            <a:blip r:embed="rId6"/>
            <a:stretch>
              <a:fillRect/>
            </a:stretch>
          </p:blipFill>
          <p:spPr>
            <a:xfrm>
              <a:off x="5387980" y="22725021"/>
              <a:ext cx="749300" cy="368300"/>
            </a:xfrm>
            <a:prstGeom prst="rect">
              <a:avLst/>
            </a:prstGeom>
          </p:spPr>
        </p:pic>
        <p:pic>
          <p:nvPicPr>
            <p:cNvPr id="18" name="Picture 17">
              <a:extLst>
                <a:ext uri="{FF2B5EF4-FFF2-40B4-BE49-F238E27FC236}">
                  <a16:creationId xmlns:a16="http://schemas.microsoft.com/office/drawing/2014/main" id="{62F3049F-3E13-E2AF-37A8-FBE5C4B90125}"/>
                </a:ext>
              </a:extLst>
            </p:cNvPr>
            <p:cNvPicPr>
              <a:picLocks noChangeAspect="1"/>
            </p:cNvPicPr>
            <p:nvPr/>
          </p:nvPicPr>
          <p:blipFill>
            <a:blip r:embed="rId7"/>
            <a:stretch>
              <a:fillRect/>
            </a:stretch>
          </p:blipFill>
          <p:spPr>
            <a:xfrm>
              <a:off x="6143087" y="22763121"/>
              <a:ext cx="1574800" cy="330200"/>
            </a:xfrm>
            <a:prstGeom prst="rect">
              <a:avLst/>
            </a:prstGeom>
          </p:spPr>
        </p:pic>
      </p:grpSp>
      <p:sp>
        <p:nvSpPr>
          <p:cNvPr id="21" name="TextBox 20">
            <a:extLst>
              <a:ext uri="{FF2B5EF4-FFF2-40B4-BE49-F238E27FC236}">
                <a16:creationId xmlns:a16="http://schemas.microsoft.com/office/drawing/2014/main" id="{F491D386-4A9E-3B4F-0D74-0E4F837E2756}"/>
              </a:ext>
            </a:extLst>
          </p:cNvPr>
          <p:cNvSpPr txBox="1"/>
          <p:nvPr/>
        </p:nvSpPr>
        <p:spPr>
          <a:xfrm>
            <a:off x="1422477" y="4632754"/>
            <a:ext cx="7336319" cy="1004416"/>
          </a:xfrm>
          <a:prstGeom prst="rect">
            <a:avLst/>
          </a:prstGeom>
          <a:noFill/>
        </p:spPr>
        <p:txBody>
          <a:bodyPr wrap="square">
            <a:noAutofit/>
          </a:bodyPr>
          <a:lstStyle/>
          <a:p>
            <a:pPr algn="l"/>
            <a:r>
              <a:rPr lang="en-US" sz="2600" b="0" dirty="0">
                <a:solidFill>
                  <a:srgbClr val="000000"/>
                </a:solidFill>
              </a:rPr>
              <a:t>Vacuum fluctuations transfer contextuality to qutrit</a:t>
            </a:r>
            <a:endParaRPr sz="2600" b="0" dirty="0">
              <a:solidFill>
                <a:srgbClr val="000000"/>
              </a:solidFill>
            </a:endParaRPr>
          </a:p>
        </p:txBody>
      </p:sp>
      <p:sp>
        <p:nvSpPr>
          <p:cNvPr id="22" name="Rectangle 21">
            <a:extLst>
              <a:ext uri="{FF2B5EF4-FFF2-40B4-BE49-F238E27FC236}">
                <a16:creationId xmlns:a16="http://schemas.microsoft.com/office/drawing/2014/main" id="{9B243965-014B-8835-B81B-A0A8C1187F99}"/>
              </a:ext>
            </a:extLst>
          </p:cNvPr>
          <p:cNvSpPr/>
          <p:nvPr/>
        </p:nvSpPr>
        <p:spPr>
          <a:xfrm>
            <a:off x="2562499" y="3335135"/>
            <a:ext cx="1254369" cy="4572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C9CB0A5B-13E6-0B1A-C137-E95FEA314AFF}"/>
              </a:ext>
            </a:extLst>
          </p:cNvPr>
          <p:cNvSpPr/>
          <p:nvPr/>
        </p:nvSpPr>
        <p:spPr>
          <a:xfrm>
            <a:off x="4949755" y="2473267"/>
            <a:ext cx="1082775" cy="4572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5" name="Straight Arrow Connector 24">
            <a:extLst>
              <a:ext uri="{FF2B5EF4-FFF2-40B4-BE49-F238E27FC236}">
                <a16:creationId xmlns:a16="http://schemas.microsoft.com/office/drawing/2014/main" id="{73FEC564-31F4-D8AE-77FC-FD3085CC07C5}"/>
              </a:ext>
            </a:extLst>
          </p:cNvPr>
          <p:cNvCxnSpPr>
            <a:cxnSpLocks/>
            <a:stCxn id="21" idx="0"/>
            <a:endCxn id="22" idx="2"/>
          </p:cNvCxnSpPr>
          <p:nvPr/>
        </p:nvCxnSpPr>
        <p:spPr>
          <a:xfrm flipH="1" flipV="1">
            <a:off x="3189684" y="3792335"/>
            <a:ext cx="1900953" cy="8404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4789B8E-0C0A-B430-074C-449C0C4C330D}"/>
              </a:ext>
            </a:extLst>
          </p:cNvPr>
          <p:cNvCxnSpPr>
            <a:cxnSpLocks/>
            <a:stCxn id="21" idx="0"/>
          </p:cNvCxnSpPr>
          <p:nvPr/>
        </p:nvCxnSpPr>
        <p:spPr>
          <a:xfrm flipV="1">
            <a:off x="5090637" y="2930467"/>
            <a:ext cx="125047" cy="17022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3B2D11E-06B7-C763-D51E-DDD1DF85932A}"/>
              </a:ext>
            </a:extLst>
          </p:cNvPr>
          <p:cNvSpPr txBox="1"/>
          <p:nvPr/>
        </p:nvSpPr>
        <p:spPr>
          <a:xfrm>
            <a:off x="472001" y="1286960"/>
            <a:ext cx="2717684" cy="597494"/>
          </a:xfrm>
          <a:prstGeom prst="rect">
            <a:avLst/>
          </a:prstGeom>
          <a:noFill/>
        </p:spPr>
        <p:txBody>
          <a:bodyPr wrap="square">
            <a:noAutofit/>
          </a:bodyPr>
          <a:lstStyle/>
          <a:p>
            <a:pPr algn="l"/>
            <a:r>
              <a:rPr lang="en-US" sz="2600" b="0" dirty="0">
                <a:solidFill>
                  <a:srgbClr val="000000"/>
                </a:solidFill>
              </a:rPr>
              <a:t>Why single qutrit?</a:t>
            </a:r>
            <a:endParaRPr sz="2600" b="0" dirty="0">
              <a:solidFill>
                <a:srgbClr val="000000"/>
              </a:solidFill>
            </a:endParaRPr>
          </a:p>
        </p:txBody>
      </p:sp>
      <p:sp>
        <p:nvSpPr>
          <p:cNvPr id="10" name="TextBox 9">
            <a:extLst>
              <a:ext uri="{FF2B5EF4-FFF2-40B4-BE49-F238E27FC236}">
                <a16:creationId xmlns:a16="http://schemas.microsoft.com/office/drawing/2014/main" id="{C1FFC911-465A-95FA-328B-F99A9D58F7FF}"/>
              </a:ext>
            </a:extLst>
          </p:cNvPr>
          <p:cNvSpPr txBox="1"/>
          <p:nvPr/>
        </p:nvSpPr>
        <p:spPr>
          <a:xfrm>
            <a:off x="4413112" y="1298448"/>
            <a:ext cx="7336318" cy="461665"/>
          </a:xfrm>
          <a:prstGeom prst="rect">
            <a:avLst/>
          </a:prstGeom>
          <a:noFill/>
        </p:spPr>
        <p:txBody>
          <a:bodyPr wrap="square">
            <a:spAutoFit/>
          </a:bodyPr>
          <a:lstStyle/>
          <a:p>
            <a:r>
              <a:rPr lang="en-US" sz="2400" b="0" dirty="0">
                <a:solidFill>
                  <a:srgbClr val="000000"/>
                </a:solidFill>
              </a:rPr>
              <a:t>No subsystem entanglement but still can be non-classical</a:t>
            </a:r>
            <a:endParaRPr lang="en-CA" sz="2400" dirty="0"/>
          </a:p>
        </p:txBody>
      </p:sp>
      <p:sp>
        <p:nvSpPr>
          <p:cNvPr id="11" name="Right Arrow 10">
            <a:extLst>
              <a:ext uri="{FF2B5EF4-FFF2-40B4-BE49-F238E27FC236}">
                <a16:creationId xmlns:a16="http://schemas.microsoft.com/office/drawing/2014/main" id="{881B0BCF-79E3-8FD2-CC47-30DBA115CF4C}"/>
              </a:ext>
            </a:extLst>
          </p:cNvPr>
          <p:cNvSpPr/>
          <p:nvPr/>
        </p:nvSpPr>
        <p:spPr>
          <a:xfrm>
            <a:off x="3425614" y="1424275"/>
            <a:ext cx="751569" cy="248989"/>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custDataLst>
      <p:tags r:id="rId1"/>
    </p:custDataLst>
    <p:extLst>
      <p:ext uri="{BB962C8B-B14F-4D97-AF65-F5344CB8AC3E}">
        <p14:creationId xmlns:p14="http://schemas.microsoft.com/office/powerpoint/2010/main" val="381319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animBg="1"/>
      <p:bldP spid="23" grpId="0" animBg="1"/>
      <p:bldP spid="8" grpId="0"/>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7981A-EDAC-C87C-004C-719791A840F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9318D76-137F-6F00-3582-F0C81CE1383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945231CC-DE3F-4C0E-5904-0DAFE83EDB07}"/>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Single 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F40E200-3FBF-F899-49BC-891D45097DE8}"/>
              </a:ext>
            </a:extLst>
          </p:cNvPr>
          <p:cNvSpPr>
            <a:spLocks noGrp="1"/>
          </p:cNvSpPr>
          <p:nvPr>
            <p:ph type="sldNum" sz="quarter" idx="12"/>
          </p:nvPr>
        </p:nvSpPr>
        <p:spPr/>
        <p:txBody>
          <a:bodyPr/>
          <a:lstStyle/>
          <a:p>
            <a:fld id="{D0617D14-1B55-43C0-819D-0D244AC23646}" type="slidenum">
              <a:rPr lang="de-AT" smtClean="0"/>
              <a:t>22</a:t>
            </a:fld>
            <a:endParaRPr lang="de-AT"/>
          </a:p>
        </p:txBody>
      </p:sp>
      <p:pic>
        <p:nvPicPr>
          <p:cNvPr id="9" name="Picture 8" descr="page10_Im2.jpg">
            <a:extLst>
              <a:ext uri="{FF2B5EF4-FFF2-40B4-BE49-F238E27FC236}">
                <a16:creationId xmlns:a16="http://schemas.microsoft.com/office/drawing/2014/main" id="{67ED30FB-51AD-C360-46BF-51C472C3A62A}"/>
              </a:ext>
            </a:extLst>
          </p:cNvPr>
          <p:cNvPicPr>
            <a:picLocks noChangeAspect="1"/>
          </p:cNvPicPr>
          <p:nvPr/>
        </p:nvPicPr>
        <p:blipFill>
          <a:blip r:embed="rId4"/>
          <a:srcRect l="75367"/>
          <a:stretch>
            <a:fillRect/>
          </a:stretch>
        </p:blipFill>
        <p:spPr>
          <a:xfrm>
            <a:off x="3719736" y="1022987"/>
            <a:ext cx="3595464" cy="5061289"/>
          </a:xfrm>
          <a:prstGeom prst="rect">
            <a:avLst/>
          </a:prstGeom>
        </p:spPr>
      </p:pic>
      <p:sp>
        <p:nvSpPr>
          <p:cNvPr id="10" name="TextBox 9">
            <a:extLst>
              <a:ext uri="{FF2B5EF4-FFF2-40B4-BE49-F238E27FC236}">
                <a16:creationId xmlns:a16="http://schemas.microsoft.com/office/drawing/2014/main" id="{5517BB8A-1BB2-3B52-FA45-D5FE0A24D61F}"/>
              </a:ext>
            </a:extLst>
          </p:cNvPr>
          <p:cNvSpPr txBox="1"/>
          <p:nvPr/>
        </p:nvSpPr>
        <p:spPr>
          <a:xfrm>
            <a:off x="7171721" y="5032381"/>
            <a:ext cx="4803163" cy="1051895"/>
          </a:xfrm>
          <a:prstGeom prst="rect">
            <a:avLst/>
          </a:prstGeom>
          <a:noFill/>
        </p:spPr>
        <p:txBody>
          <a:bodyPr wrap="square">
            <a:noAutofit/>
          </a:bodyPr>
          <a:lstStyle/>
          <a:p>
            <a:pPr algn="ctr"/>
            <a:r>
              <a:rPr sz="1600" b="0" dirty="0">
                <a:solidFill>
                  <a:srgbClr val="000000"/>
                </a:solidFill>
              </a:rPr>
              <a:t>Figure 1: single-qutrit contextuality compared with harvested magic and with the genuine-harvesting diagnostic based on the Hadamard and </a:t>
            </a:r>
            <a:r>
              <a:rPr sz="1600" b="0" dirty="0" err="1">
                <a:solidFill>
                  <a:srgbClr val="000000"/>
                </a:solidFill>
              </a:rPr>
              <a:t>signalling</a:t>
            </a:r>
            <a:r>
              <a:rPr sz="1600" b="0" dirty="0">
                <a:solidFill>
                  <a:srgbClr val="000000"/>
                </a:solidFill>
              </a:rPr>
              <a:t> contributions.</a:t>
            </a:r>
          </a:p>
        </p:txBody>
      </p:sp>
      <p:sp>
        <p:nvSpPr>
          <p:cNvPr id="19" name="TextBox 18">
            <a:extLst>
              <a:ext uri="{FF2B5EF4-FFF2-40B4-BE49-F238E27FC236}">
                <a16:creationId xmlns:a16="http://schemas.microsoft.com/office/drawing/2014/main" id="{1167CF8C-09E7-EED7-F493-6A5EEEB78F2A}"/>
              </a:ext>
            </a:extLst>
          </p:cNvPr>
          <p:cNvSpPr txBox="1"/>
          <p:nvPr/>
        </p:nvSpPr>
        <p:spPr>
          <a:xfrm>
            <a:off x="7439471" y="1113322"/>
            <a:ext cx="4752529" cy="3888843"/>
          </a:xfrm>
          <a:prstGeom prst="rect">
            <a:avLst/>
          </a:prstGeom>
          <a:noFill/>
        </p:spPr>
        <p:txBody>
          <a:bodyPr wrap="square">
            <a:noAutofit/>
          </a:bodyPr>
          <a:lstStyle/>
          <a:p>
            <a:pPr marL="457200" indent="-457200">
              <a:buFont typeface="Arial" panose="020B0604020202020204" pitchFamily="34" charset="0"/>
              <a:buChar char="•"/>
            </a:pPr>
            <a:r>
              <a:rPr sz="2400" dirty="0">
                <a:solidFill>
                  <a:srgbClr val="000000"/>
                </a:solidFill>
              </a:rPr>
              <a:t>Sharp temporal profiles preserve genuinely quantum windows</a:t>
            </a:r>
          </a:p>
          <a:p>
            <a:pPr marL="457200" indent="-457200">
              <a:buFont typeface="Arial" panose="020B0604020202020204" pitchFamily="34" charset="0"/>
              <a:buChar char="•"/>
            </a:pPr>
            <a:r>
              <a:rPr sz="2400" dirty="0">
                <a:solidFill>
                  <a:srgbClr val="000000"/>
                </a:solidFill>
              </a:rPr>
              <a:t>Longer interactions amplify </a:t>
            </a:r>
            <a:r>
              <a:rPr sz="2400" dirty="0" err="1">
                <a:solidFill>
                  <a:srgbClr val="000000"/>
                </a:solidFill>
              </a:rPr>
              <a:t>signalling</a:t>
            </a:r>
            <a:r>
              <a:rPr sz="2400" dirty="0">
                <a:solidFill>
                  <a:srgbClr val="000000"/>
                </a:solidFill>
              </a:rPr>
              <a:t> and can wash out harvested peak</a:t>
            </a:r>
            <a:endParaRPr lang="en-US" sz="2400" dirty="0">
              <a:solidFill>
                <a:srgbClr val="000000"/>
              </a:solidFill>
            </a:endParaRPr>
          </a:p>
          <a:p>
            <a:pPr marL="457200" indent="-457200">
              <a:buFont typeface="Arial" panose="020B0604020202020204" pitchFamily="34" charset="0"/>
              <a:buChar char="•"/>
            </a:pPr>
            <a:r>
              <a:rPr lang="en-US" sz="2400" dirty="0">
                <a:solidFill>
                  <a:srgbClr val="000000"/>
                </a:solidFill>
              </a:rPr>
              <a:t>Smaller spatial smearing strengthens harvested contextuality</a:t>
            </a:r>
          </a:p>
          <a:p>
            <a:pPr marL="457200" indent="-457200">
              <a:buFont typeface="Arial" panose="020B0604020202020204" pitchFamily="34" charset="0"/>
              <a:buChar char="•"/>
            </a:pPr>
            <a:r>
              <a:rPr lang="en-US" sz="2400" dirty="0">
                <a:solidFill>
                  <a:srgbClr val="000000"/>
                </a:solidFill>
              </a:rPr>
              <a:t>Harvesting present for gapless systems</a:t>
            </a:r>
          </a:p>
          <a:p>
            <a:pPr marL="457200" indent="-457200">
              <a:buFont typeface="Arial" panose="020B0604020202020204" pitchFamily="34" charset="0"/>
              <a:buChar char="•"/>
            </a:pPr>
            <a:endParaRPr lang="en-US" sz="2600" dirty="0">
              <a:solidFill>
                <a:srgbClr val="000000"/>
              </a:solidFill>
            </a:endParaRPr>
          </a:p>
          <a:p>
            <a:pPr marL="457200" indent="-457200">
              <a:buFont typeface="Arial" panose="020B0604020202020204" pitchFamily="34" charset="0"/>
              <a:buChar char="•"/>
            </a:pPr>
            <a:endParaRPr sz="2600" dirty="0">
              <a:solidFill>
                <a:srgbClr val="000000"/>
              </a:solidFill>
            </a:endParaRPr>
          </a:p>
        </p:txBody>
      </p:sp>
      <p:pic>
        <p:nvPicPr>
          <p:cNvPr id="4" name="Picture 3" descr="page10_Im2.jpg">
            <a:extLst>
              <a:ext uri="{FF2B5EF4-FFF2-40B4-BE49-F238E27FC236}">
                <a16:creationId xmlns:a16="http://schemas.microsoft.com/office/drawing/2014/main" id="{6CF472EE-F5EA-667E-6930-C39F919C3174}"/>
              </a:ext>
            </a:extLst>
          </p:cNvPr>
          <p:cNvPicPr>
            <a:picLocks noChangeAspect="1"/>
          </p:cNvPicPr>
          <p:nvPr/>
        </p:nvPicPr>
        <p:blipFill>
          <a:blip r:embed="rId4"/>
          <a:srcRect l="-2" r="75369"/>
          <a:stretch>
            <a:fillRect/>
          </a:stretch>
        </p:blipFill>
        <p:spPr>
          <a:xfrm>
            <a:off x="143479" y="1015120"/>
            <a:ext cx="3595464" cy="5061289"/>
          </a:xfrm>
          <a:prstGeom prst="rect">
            <a:avLst/>
          </a:prstGeom>
        </p:spPr>
      </p:pic>
    </p:spTree>
    <p:custDataLst>
      <p:tags r:id="rId1"/>
    </p:custDataLst>
    <p:extLst>
      <p:ext uri="{BB962C8B-B14F-4D97-AF65-F5344CB8AC3E}">
        <p14:creationId xmlns:p14="http://schemas.microsoft.com/office/powerpoint/2010/main" val="3076553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B2954-23CF-3392-2DE8-49EBAD5B80DD}"/>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C3FD55B8-8196-0583-6BE6-8D720977D610}"/>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5243A69B-DCF3-AE9B-3543-8D44EDB81B28}"/>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Single 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F242E1-6F1F-A8CD-8CE1-726CDAA4B1E5}"/>
              </a:ext>
            </a:extLst>
          </p:cNvPr>
          <p:cNvSpPr>
            <a:spLocks noGrp="1"/>
          </p:cNvSpPr>
          <p:nvPr>
            <p:ph type="sldNum" sz="quarter" idx="12"/>
          </p:nvPr>
        </p:nvSpPr>
        <p:spPr/>
        <p:txBody>
          <a:bodyPr/>
          <a:lstStyle/>
          <a:p>
            <a:fld id="{D0617D14-1B55-43C0-819D-0D244AC23646}" type="slidenum">
              <a:rPr lang="de-AT" smtClean="0"/>
              <a:t>23</a:t>
            </a:fld>
            <a:endParaRPr lang="de-AT"/>
          </a:p>
        </p:txBody>
      </p:sp>
      <p:sp>
        <p:nvSpPr>
          <p:cNvPr id="19" name="TextBox 18">
            <a:extLst>
              <a:ext uri="{FF2B5EF4-FFF2-40B4-BE49-F238E27FC236}">
                <a16:creationId xmlns:a16="http://schemas.microsoft.com/office/drawing/2014/main" id="{53E1D1D7-2C49-5D41-EAD7-C6644A34870D}"/>
              </a:ext>
            </a:extLst>
          </p:cNvPr>
          <p:cNvSpPr txBox="1"/>
          <p:nvPr/>
        </p:nvSpPr>
        <p:spPr>
          <a:xfrm>
            <a:off x="7726443" y="1065354"/>
            <a:ext cx="4324879" cy="1068246"/>
          </a:xfrm>
          <a:prstGeom prst="rect">
            <a:avLst/>
          </a:prstGeom>
          <a:noFill/>
        </p:spPr>
        <p:txBody>
          <a:bodyPr wrap="square">
            <a:noAutofit/>
          </a:bodyPr>
          <a:lstStyle/>
          <a:p>
            <a:pPr marL="457200" indent="-457200">
              <a:buFont typeface="Arial" panose="020B0604020202020204" pitchFamily="34" charset="0"/>
              <a:buChar char="•"/>
            </a:pPr>
            <a:r>
              <a:rPr lang="en-US" sz="2400" dirty="0">
                <a:solidFill>
                  <a:srgbClr val="000000"/>
                </a:solidFill>
              </a:rPr>
              <a:t>Shifting measurements creates no gapless harvesting</a:t>
            </a:r>
            <a:endParaRPr lang="en-US" sz="2800" dirty="0">
              <a:solidFill>
                <a:srgbClr val="000000"/>
              </a:solidFill>
            </a:endParaRPr>
          </a:p>
          <a:p>
            <a:pPr marL="457200" indent="-457200">
              <a:buFont typeface="Arial" panose="020B0604020202020204" pitchFamily="34" charset="0"/>
              <a:buChar char="•"/>
            </a:pPr>
            <a:endParaRPr sz="2600" dirty="0">
              <a:solidFill>
                <a:srgbClr val="000000"/>
              </a:solidFill>
            </a:endParaRPr>
          </a:p>
        </p:txBody>
      </p:sp>
      <p:pic>
        <p:nvPicPr>
          <p:cNvPr id="5" name="Picture 4" descr="page10_Im2.jpg">
            <a:extLst>
              <a:ext uri="{FF2B5EF4-FFF2-40B4-BE49-F238E27FC236}">
                <a16:creationId xmlns:a16="http://schemas.microsoft.com/office/drawing/2014/main" id="{EB5CCF4E-025E-5136-DCDA-500CB3BE7D83}"/>
              </a:ext>
            </a:extLst>
          </p:cNvPr>
          <p:cNvPicPr>
            <a:picLocks noChangeAspect="1"/>
          </p:cNvPicPr>
          <p:nvPr/>
        </p:nvPicPr>
        <p:blipFill>
          <a:blip r:embed="rId4"/>
          <a:srcRect l="24719" r="50000"/>
          <a:stretch>
            <a:fillRect/>
          </a:stretch>
        </p:blipFill>
        <p:spPr>
          <a:xfrm>
            <a:off x="140678" y="1065354"/>
            <a:ext cx="3650840" cy="5007444"/>
          </a:xfrm>
          <a:prstGeom prst="rect">
            <a:avLst/>
          </a:prstGeom>
        </p:spPr>
      </p:pic>
      <p:pic>
        <p:nvPicPr>
          <p:cNvPr id="6" name="Picture 5" descr="page10_Im2.jpg">
            <a:extLst>
              <a:ext uri="{FF2B5EF4-FFF2-40B4-BE49-F238E27FC236}">
                <a16:creationId xmlns:a16="http://schemas.microsoft.com/office/drawing/2014/main" id="{3255ACE4-0133-5FAC-099E-BE44502BF965}"/>
              </a:ext>
            </a:extLst>
          </p:cNvPr>
          <p:cNvPicPr>
            <a:picLocks noChangeAspect="1"/>
          </p:cNvPicPr>
          <p:nvPr/>
        </p:nvPicPr>
        <p:blipFill>
          <a:blip r:embed="rId4"/>
          <a:srcRect l="75367"/>
          <a:stretch>
            <a:fillRect/>
          </a:stretch>
        </p:blipFill>
        <p:spPr>
          <a:xfrm>
            <a:off x="3791518" y="1065353"/>
            <a:ext cx="3557214" cy="5007445"/>
          </a:xfrm>
          <a:prstGeom prst="rect">
            <a:avLst/>
          </a:prstGeom>
        </p:spPr>
      </p:pic>
    </p:spTree>
    <p:custDataLst>
      <p:tags r:id="rId1"/>
    </p:custDataLst>
    <p:extLst>
      <p:ext uri="{BB962C8B-B14F-4D97-AF65-F5344CB8AC3E}">
        <p14:creationId xmlns:p14="http://schemas.microsoft.com/office/powerpoint/2010/main" val="3604796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C1722-75E0-667F-61FB-FB1787B0297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E7710A3C-2BEF-18EF-8852-E448576215C5}"/>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76CC9A85-F2CB-900D-DF28-57D07E8A74F0}"/>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Single 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31B076F-32AC-A54B-EE2B-1408B4E958DF}"/>
              </a:ext>
            </a:extLst>
          </p:cNvPr>
          <p:cNvSpPr>
            <a:spLocks noGrp="1"/>
          </p:cNvSpPr>
          <p:nvPr>
            <p:ph type="sldNum" sz="quarter" idx="12"/>
          </p:nvPr>
        </p:nvSpPr>
        <p:spPr/>
        <p:txBody>
          <a:bodyPr/>
          <a:lstStyle/>
          <a:p>
            <a:fld id="{D0617D14-1B55-43C0-819D-0D244AC23646}" type="slidenum">
              <a:rPr lang="de-AT" smtClean="0"/>
              <a:t>24</a:t>
            </a:fld>
            <a:endParaRPr lang="de-AT"/>
          </a:p>
        </p:txBody>
      </p:sp>
      <p:sp>
        <p:nvSpPr>
          <p:cNvPr id="19" name="TextBox 18">
            <a:extLst>
              <a:ext uri="{FF2B5EF4-FFF2-40B4-BE49-F238E27FC236}">
                <a16:creationId xmlns:a16="http://schemas.microsoft.com/office/drawing/2014/main" id="{5E515B55-852C-E3C7-A8CD-B0C85D25B162}"/>
              </a:ext>
            </a:extLst>
          </p:cNvPr>
          <p:cNvSpPr txBox="1"/>
          <p:nvPr/>
        </p:nvSpPr>
        <p:spPr>
          <a:xfrm>
            <a:off x="7672804" y="999975"/>
            <a:ext cx="4345871" cy="2650000"/>
          </a:xfrm>
          <a:prstGeom prst="rect">
            <a:avLst/>
          </a:prstGeom>
          <a:noFill/>
        </p:spPr>
        <p:txBody>
          <a:bodyPr wrap="square">
            <a:noAutofit/>
          </a:bodyPr>
          <a:lstStyle/>
          <a:p>
            <a:pPr marL="457200" indent="-457200">
              <a:buFont typeface="Arial" panose="020B0604020202020204" pitchFamily="34" charset="0"/>
              <a:buChar char="•"/>
            </a:pPr>
            <a:r>
              <a:rPr lang="en-US" sz="2400" dirty="0">
                <a:solidFill>
                  <a:srgbClr val="000000"/>
                </a:solidFill>
              </a:rPr>
              <a:t>Additional shift delays harvesting to start at a small gap</a:t>
            </a:r>
          </a:p>
          <a:p>
            <a:pPr marL="457200" indent="-457200">
              <a:buFont typeface="Arial" panose="020B0604020202020204" pitchFamily="34" charset="0"/>
              <a:buChar char="•"/>
            </a:pPr>
            <a:r>
              <a:rPr lang="en-US" sz="2400" dirty="0">
                <a:solidFill>
                  <a:srgbClr val="000000"/>
                </a:solidFill>
              </a:rPr>
              <a:t>Contextuality can persist after harvested magic has already vanished, showing they have different state boundaries</a:t>
            </a:r>
          </a:p>
          <a:p>
            <a:pPr marL="457200" indent="-457200">
              <a:buFont typeface="Arial" panose="020B0604020202020204" pitchFamily="34" charset="0"/>
              <a:buChar char="•"/>
            </a:pPr>
            <a:endParaRPr sz="2600" dirty="0">
              <a:solidFill>
                <a:srgbClr val="000000"/>
              </a:solidFill>
            </a:endParaRPr>
          </a:p>
        </p:txBody>
      </p:sp>
      <p:pic>
        <p:nvPicPr>
          <p:cNvPr id="4" name="Picture 3" descr="page10_Im2.jpg">
            <a:extLst>
              <a:ext uri="{FF2B5EF4-FFF2-40B4-BE49-F238E27FC236}">
                <a16:creationId xmlns:a16="http://schemas.microsoft.com/office/drawing/2014/main" id="{F8017D43-82C9-5A61-033C-1AA33DCF470C}"/>
              </a:ext>
            </a:extLst>
          </p:cNvPr>
          <p:cNvPicPr>
            <a:picLocks noChangeAspect="1"/>
          </p:cNvPicPr>
          <p:nvPr/>
        </p:nvPicPr>
        <p:blipFill>
          <a:blip r:embed="rId4"/>
          <a:srcRect l="49914" r="24718"/>
          <a:stretch>
            <a:fillRect/>
          </a:stretch>
        </p:blipFill>
        <p:spPr>
          <a:xfrm>
            <a:off x="64146" y="976751"/>
            <a:ext cx="3749811" cy="5125757"/>
          </a:xfrm>
          <a:prstGeom prst="rect">
            <a:avLst/>
          </a:prstGeom>
        </p:spPr>
      </p:pic>
      <p:pic>
        <p:nvPicPr>
          <p:cNvPr id="8" name="Picture 7" descr="page10_Im2.jpg">
            <a:extLst>
              <a:ext uri="{FF2B5EF4-FFF2-40B4-BE49-F238E27FC236}">
                <a16:creationId xmlns:a16="http://schemas.microsoft.com/office/drawing/2014/main" id="{3A65E75A-53B3-34C6-1640-DDFA1E702FB0}"/>
              </a:ext>
            </a:extLst>
          </p:cNvPr>
          <p:cNvPicPr>
            <a:picLocks noChangeAspect="1"/>
          </p:cNvPicPr>
          <p:nvPr/>
        </p:nvPicPr>
        <p:blipFill>
          <a:blip r:embed="rId4"/>
          <a:srcRect l="75367"/>
          <a:stretch>
            <a:fillRect/>
          </a:stretch>
        </p:blipFill>
        <p:spPr>
          <a:xfrm>
            <a:off x="3760225" y="976751"/>
            <a:ext cx="3641261" cy="5125757"/>
          </a:xfrm>
          <a:prstGeom prst="rect">
            <a:avLst/>
          </a:prstGeom>
        </p:spPr>
      </p:pic>
      <p:sp>
        <p:nvSpPr>
          <p:cNvPr id="5" name="Rounded Rectangle 4">
            <a:extLst>
              <a:ext uri="{FF2B5EF4-FFF2-40B4-BE49-F238E27FC236}">
                <a16:creationId xmlns:a16="http://schemas.microsoft.com/office/drawing/2014/main" id="{B1FB25C2-AE76-D191-6732-C36FF6CFFB19}"/>
              </a:ext>
            </a:extLst>
          </p:cNvPr>
          <p:cNvSpPr/>
          <p:nvPr/>
        </p:nvSpPr>
        <p:spPr>
          <a:xfrm>
            <a:off x="7510036" y="3763978"/>
            <a:ext cx="4508639" cy="1607507"/>
          </a:xfrm>
          <a:prstGeom prst="round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100000" tIns="50000" rIns="100000" bIns="50000" rtlCol="0" anchor="ctr">
            <a:noAutofit/>
          </a:bodyPr>
          <a:lstStyle/>
          <a:p>
            <a:pPr algn="ctr"/>
            <a:r>
              <a:rPr lang="en-US" sz="2400" b="0" dirty="0">
                <a:solidFill>
                  <a:srgbClr val="000000"/>
                </a:solidFill>
              </a:rPr>
              <a:t>Can harvest </a:t>
            </a:r>
            <a:r>
              <a:rPr sz="2400" b="0" dirty="0">
                <a:solidFill>
                  <a:srgbClr val="000000"/>
                </a:solidFill>
              </a:rPr>
              <a:t>contextuality </a:t>
            </a:r>
            <a:r>
              <a:rPr lang="en-US" sz="2400" b="0" dirty="0">
                <a:solidFill>
                  <a:srgbClr val="000000"/>
                </a:solidFill>
              </a:rPr>
              <a:t>and magic for gapless systems </a:t>
            </a:r>
            <a:r>
              <a:rPr sz="2400" b="0" dirty="0">
                <a:solidFill>
                  <a:srgbClr val="000000"/>
                </a:solidFill>
              </a:rPr>
              <a:t>depend</a:t>
            </a:r>
            <a:r>
              <a:rPr lang="en-US" sz="2400" b="0" dirty="0">
                <a:solidFill>
                  <a:srgbClr val="000000"/>
                </a:solidFill>
              </a:rPr>
              <a:t>ing</a:t>
            </a:r>
            <a:r>
              <a:rPr sz="2400" b="0" dirty="0">
                <a:solidFill>
                  <a:srgbClr val="000000"/>
                </a:solidFill>
              </a:rPr>
              <a:t> on the measurement scenario and smearing profile</a:t>
            </a:r>
          </a:p>
        </p:txBody>
      </p:sp>
      <p:sp>
        <p:nvSpPr>
          <p:cNvPr id="6" name="TextBox 5">
            <a:extLst>
              <a:ext uri="{FF2B5EF4-FFF2-40B4-BE49-F238E27FC236}">
                <a16:creationId xmlns:a16="http://schemas.microsoft.com/office/drawing/2014/main" id="{1E0829A0-348C-7AF7-F6EE-77BE5CB90270}"/>
              </a:ext>
            </a:extLst>
          </p:cNvPr>
          <p:cNvSpPr txBox="1"/>
          <p:nvPr/>
        </p:nvSpPr>
        <p:spPr>
          <a:xfrm>
            <a:off x="7859368" y="5579288"/>
            <a:ext cx="4577681" cy="523220"/>
          </a:xfrm>
          <a:prstGeom prst="rect">
            <a:avLst/>
          </a:prstGeom>
          <a:noFill/>
        </p:spPr>
        <p:txBody>
          <a:bodyPr wrap="square">
            <a:spAutoFit/>
          </a:bodyPr>
          <a:lstStyle/>
          <a:p>
            <a:r>
              <a:rPr lang="en-US" sz="1400" dirty="0">
                <a:solidFill>
                  <a:schemeClr val="bg1">
                    <a:lumMod val="75000"/>
                  </a:schemeClr>
                </a:solidFill>
              </a:rPr>
              <a:t>R. Nyström, N. </a:t>
            </a:r>
            <a:r>
              <a:rPr lang="en-US" sz="1400" dirty="0" err="1">
                <a:solidFill>
                  <a:schemeClr val="bg1">
                    <a:lumMod val="75000"/>
                  </a:schemeClr>
                </a:solidFill>
              </a:rPr>
              <a:t>Pranzini</a:t>
            </a:r>
            <a:r>
              <a:rPr lang="en-US" sz="1400" dirty="0">
                <a:solidFill>
                  <a:schemeClr val="bg1">
                    <a:lumMod val="75000"/>
                  </a:schemeClr>
                </a:solidFill>
              </a:rPr>
              <a:t>, and E. </a:t>
            </a:r>
            <a:r>
              <a:rPr lang="en-US" sz="1400" dirty="0" err="1">
                <a:solidFill>
                  <a:schemeClr val="bg1">
                    <a:lumMod val="75000"/>
                  </a:schemeClr>
                </a:solidFill>
              </a:rPr>
              <a:t>Keski-Vakkuri</a:t>
            </a:r>
            <a:r>
              <a:rPr lang="en-US" sz="1400" dirty="0">
                <a:solidFill>
                  <a:schemeClr val="bg1">
                    <a:lumMod val="75000"/>
                  </a:schemeClr>
                </a:solidFill>
              </a:rPr>
              <a:t>, Harvesting magic from the vacuum, </a:t>
            </a:r>
            <a:r>
              <a:rPr lang="en-US" sz="1400" dirty="0">
                <a:solidFill>
                  <a:schemeClr val="bg1">
                    <a:lumMod val="75000"/>
                  </a:schemeClr>
                </a:solidFill>
                <a:hlinkClick r:id="rId5">
                  <a:extLst>
                    <a:ext uri="{A12FA001-AC4F-418D-AE19-62706E023703}">
                      <ahyp:hlinkClr xmlns:ahyp="http://schemas.microsoft.com/office/drawing/2018/hyperlinkcolor" val="tx"/>
                    </a:ext>
                  </a:extLst>
                </a:hlinkClick>
              </a:rPr>
              <a:t>Phys. Rev. Res. 7, 033085 (2025)</a:t>
            </a:r>
            <a:r>
              <a:rPr lang="en-US" sz="1400" dirty="0">
                <a:solidFill>
                  <a:schemeClr val="bg1">
                    <a:lumMod val="75000"/>
                  </a:schemeClr>
                </a:solidFill>
              </a:rPr>
              <a:t>.</a:t>
            </a:r>
          </a:p>
        </p:txBody>
      </p:sp>
    </p:spTree>
    <p:custDataLst>
      <p:tags r:id="rId1"/>
    </p:custDataLst>
    <p:extLst>
      <p:ext uri="{BB962C8B-B14F-4D97-AF65-F5344CB8AC3E}">
        <p14:creationId xmlns:p14="http://schemas.microsoft.com/office/powerpoint/2010/main" val="1459568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D12DC-70C0-4D04-EAB5-E02E224028F8}"/>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2E8C285E-C914-138C-58D0-6C0F4BD1E02C}"/>
              </a:ext>
            </a:extLst>
          </p:cNvPr>
          <p:cNvPicPr>
            <a:picLocks noChangeAspect="1"/>
          </p:cNvPicPr>
          <p:nvPr/>
        </p:nvPicPr>
        <p:blipFill>
          <a:blip r:embed="rId4"/>
          <a:stretch>
            <a:fillRect/>
          </a:stretch>
        </p:blipFill>
        <p:spPr>
          <a:xfrm>
            <a:off x="491066" y="1299680"/>
            <a:ext cx="5322224" cy="2971800"/>
          </a:xfrm>
          <a:prstGeom prst="rect">
            <a:avLst/>
          </a:prstGeom>
        </p:spPr>
      </p:pic>
      <p:sp>
        <p:nvSpPr>
          <p:cNvPr id="2" name="Fußzeilenplatzhalter 1">
            <a:extLst>
              <a:ext uri="{FF2B5EF4-FFF2-40B4-BE49-F238E27FC236}">
                <a16:creationId xmlns:a16="http://schemas.microsoft.com/office/drawing/2014/main" id="{DBCD7BC8-02E4-93D0-0E93-149CE8BA357A}"/>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75B5163-E2F7-D74F-F16F-58DE2E96DCEF}"/>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Qubit-Qutrit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52FECB6-D5D3-24DE-7674-6DBE594C35A7}"/>
              </a:ext>
            </a:extLst>
          </p:cNvPr>
          <p:cNvSpPr>
            <a:spLocks noGrp="1"/>
          </p:cNvSpPr>
          <p:nvPr>
            <p:ph type="sldNum" sz="quarter" idx="12"/>
          </p:nvPr>
        </p:nvSpPr>
        <p:spPr/>
        <p:txBody>
          <a:bodyPr/>
          <a:lstStyle/>
          <a:p>
            <a:fld id="{D0617D14-1B55-43C0-819D-0D244AC23646}" type="slidenum">
              <a:rPr lang="de-AT" smtClean="0"/>
              <a:t>25</a:t>
            </a:fld>
            <a:endParaRPr lang="de-AT"/>
          </a:p>
        </p:txBody>
      </p:sp>
      <p:pic>
        <p:nvPicPr>
          <p:cNvPr id="19" name="Picture 18">
            <a:extLst>
              <a:ext uri="{FF2B5EF4-FFF2-40B4-BE49-F238E27FC236}">
                <a16:creationId xmlns:a16="http://schemas.microsoft.com/office/drawing/2014/main" id="{28841D73-FB5B-4FCE-8699-A2F6FFF86806}"/>
              </a:ext>
            </a:extLst>
          </p:cNvPr>
          <p:cNvPicPr>
            <a:picLocks noChangeAspect="1"/>
          </p:cNvPicPr>
          <p:nvPr/>
        </p:nvPicPr>
        <p:blipFill>
          <a:blip r:embed="rId5"/>
          <a:stretch>
            <a:fillRect/>
          </a:stretch>
        </p:blipFill>
        <p:spPr>
          <a:xfrm>
            <a:off x="6514640" y="4468226"/>
            <a:ext cx="5359542" cy="1482108"/>
          </a:xfrm>
          <a:prstGeom prst="rect">
            <a:avLst/>
          </a:prstGeom>
        </p:spPr>
      </p:pic>
      <p:pic>
        <p:nvPicPr>
          <p:cNvPr id="20" name="Picture 19">
            <a:extLst>
              <a:ext uri="{FF2B5EF4-FFF2-40B4-BE49-F238E27FC236}">
                <a16:creationId xmlns:a16="http://schemas.microsoft.com/office/drawing/2014/main" id="{D28EEB6D-E949-D02D-9FA5-D56A8CCCBE0A}"/>
              </a:ext>
            </a:extLst>
          </p:cNvPr>
          <p:cNvPicPr>
            <a:picLocks noChangeAspect="1"/>
          </p:cNvPicPr>
          <p:nvPr/>
        </p:nvPicPr>
        <p:blipFill>
          <a:blip r:embed="rId6"/>
          <a:srcRect l="72532" t="-2955"/>
          <a:stretch>
            <a:fillRect/>
          </a:stretch>
        </p:blipFill>
        <p:spPr>
          <a:xfrm>
            <a:off x="6316257" y="1848329"/>
            <a:ext cx="1976353" cy="478731"/>
          </a:xfrm>
          <a:prstGeom prst="rect">
            <a:avLst/>
          </a:prstGeom>
        </p:spPr>
      </p:pic>
      <p:pic>
        <p:nvPicPr>
          <p:cNvPr id="21" name="Picture 20">
            <a:extLst>
              <a:ext uri="{FF2B5EF4-FFF2-40B4-BE49-F238E27FC236}">
                <a16:creationId xmlns:a16="http://schemas.microsoft.com/office/drawing/2014/main" id="{BB097AF5-89D1-A2D9-E833-BA778FC66748}"/>
              </a:ext>
            </a:extLst>
          </p:cNvPr>
          <p:cNvPicPr>
            <a:picLocks noChangeAspect="1"/>
          </p:cNvPicPr>
          <p:nvPr/>
        </p:nvPicPr>
        <p:blipFill>
          <a:blip r:embed="rId7"/>
          <a:srcRect t="11373"/>
          <a:stretch>
            <a:fillRect/>
          </a:stretch>
        </p:blipFill>
        <p:spPr>
          <a:xfrm>
            <a:off x="8540037" y="1968774"/>
            <a:ext cx="2776991" cy="392162"/>
          </a:xfrm>
          <a:prstGeom prst="rect">
            <a:avLst/>
          </a:prstGeom>
        </p:spPr>
      </p:pic>
      <p:pic>
        <p:nvPicPr>
          <p:cNvPr id="22" name="Picture 21">
            <a:extLst>
              <a:ext uri="{FF2B5EF4-FFF2-40B4-BE49-F238E27FC236}">
                <a16:creationId xmlns:a16="http://schemas.microsoft.com/office/drawing/2014/main" id="{EF47FC83-8B1A-4CFB-75D4-F1575B0B2082}"/>
              </a:ext>
            </a:extLst>
          </p:cNvPr>
          <p:cNvPicPr>
            <a:picLocks noChangeAspect="1"/>
          </p:cNvPicPr>
          <p:nvPr/>
        </p:nvPicPr>
        <p:blipFill>
          <a:blip r:embed="rId6"/>
          <a:srcRect r="27268" b="4845"/>
          <a:stretch>
            <a:fillRect/>
          </a:stretch>
        </p:blipFill>
        <p:spPr>
          <a:xfrm>
            <a:off x="6316257" y="1313644"/>
            <a:ext cx="5233184" cy="442461"/>
          </a:xfrm>
          <a:prstGeom prst="rect">
            <a:avLst/>
          </a:prstGeom>
        </p:spPr>
      </p:pic>
      <p:sp>
        <p:nvSpPr>
          <p:cNvPr id="23" name="TextBox 22">
            <a:extLst>
              <a:ext uri="{FF2B5EF4-FFF2-40B4-BE49-F238E27FC236}">
                <a16:creationId xmlns:a16="http://schemas.microsoft.com/office/drawing/2014/main" id="{A686ADDB-C8FC-9861-7C8C-4225466F2865}"/>
              </a:ext>
            </a:extLst>
          </p:cNvPr>
          <p:cNvSpPr txBox="1"/>
          <p:nvPr/>
        </p:nvSpPr>
        <p:spPr>
          <a:xfrm>
            <a:off x="5927748" y="3924175"/>
            <a:ext cx="1792399" cy="535227"/>
          </a:xfrm>
          <a:prstGeom prst="rect">
            <a:avLst/>
          </a:prstGeom>
          <a:noFill/>
        </p:spPr>
        <p:txBody>
          <a:bodyPr wrap="square">
            <a:noAutofit/>
          </a:bodyPr>
          <a:lstStyle/>
          <a:p>
            <a:pPr algn="l"/>
            <a:r>
              <a:rPr lang="en-US" sz="2400" b="0" dirty="0">
                <a:solidFill>
                  <a:srgbClr val="000000"/>
                </a:solidFill>
              </a:rPr>
              <a:t>Negativity:</a:t>
            </a:r>
            <a:endParaRPr sz="2400" b="0" dirty="0">
              <a:solidFill>
                <a:srgbClr val="000000"/>
              </a:solidFill>
            </a:endParaRPr>
          </a:p>
        </p:txBody>
      </p:sp>
      <p:sp>
        <p:nvSpPr>
          <p:cNvPr id="5" name="TextBox 4">
            <a:extLst>
              <a:ext uri="{FF2B5EF4-FFF2-40B4-BE49-F238E27FC236}">
                <a16:creationId xmlns:a16="http://schemas.microsoft.com/office/drawing/2014/main" id="{FFCDE977-F837-F3B1-7004-A4ADC7C307A7}"/>
              </a:ext>
            </a:extLst>
          </p:cNvPr>
          <p:cNvSpPr txBox="1"/>
          <p:nvPr/>
        </p:nvSpPr>
        <p:spPr>
          <a:xfrm>
            <a:off x="359381" y="4618452"/>
            <a:ext cx="5020059" cy="1331882"/>
          </a:xfrm>
          <a:prstGeom prst="rect">
            <a:avLst/>
          </a:prstGeom>
          <a:noFill/>
          <a:ln>
            <a:solidFill>
              <a:srgbClr val="FF0000"/>
            </a:solidFill>
          </a:ln>
        </p:spPr>
        <p:txBody>
          <a:bodyPr wrap="square">
            <a:noAutofit/>
          </a:bodyPr>
          <a:lstStyle/>
          <a:p>
            <a:pPr algn="l"/>
            <a:r>
              <a:rPr lang="en-US" sz="2600" b="0" dirty="0">
                <a:solidFill>
                  <a:srgbClr val="000000"/>
                </a:solidFill>
              </a:rPr>
              <a:t>Vacuum fluctuations and field mediation transfer entanglement between qubit and qutrit</a:t>
            </a:r>
            <a:endParaRPr sz="2600" b="0" dirty="0">
              <a:solidFill>
                <a:srgbClr val="000000"/>
              </a:solidFill>
            </a:endParaRPr>
          </a:p>
        </p:txBody>
      </p:sp>
      <p:sp>
        <p:nvSpPr>
          <p:cNvPr id="6" name="Rectangle 5">
            <a:extLst>
              <a:ext uri="{FF2B5EF4-FFF2-40B4-BE49-F238E27FC236}">
                <a16:creationId xmlns:a16="http://schemas.microsoft.com/office/drawing/2014/main" id="{8C683E58-D21A-FC4C-BAFE-FF0374D55026}"/>
              </a:ext>
            </a:extLst>
          </p:cNvPr>
          <p:cNvSpPr/>
          <p:nvPr/>
        </p:nvSpPr>
        <p:spPr>
          <a:xfrm>
            <a:off x="1937860" y="3427771"/>
            <a:ext cx="570513" cy="4572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7">
            <a:extLst>
              <a:ext uri="{FF2B5EF4-FFF2-40B4-BE49-F238E27FC236}">
                <a16:creationId xmlns:a16="http://schemas.microsoft.com/office/drawing/2014/main" id="{C2C54564-6EB5-E0DB-A890-D5BF10FE8F75}"/>
              </a:ext>
            </a:extLst>
          </p:cNvPr>
          <p:cNvSpPr/>
          <p:nvPr/>
        </p:nvSpPr>
        <p:spPr>
          <a:xfrm>
            <a:off x="5133206" y="1800051"/>
            <a:ext cx="492468" cy="457200"/>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Arrow Connector 8">
            <a:extLst>
              <a:ext uri="{FF2B5EF4-FFF2-40B4-BE49-F238E27FC236}">
                <a16:creationId xmlns:a16="http://schemas.microsoft.com/office/drawing/2014/main" id="{91572629-0488-725B-FC61-41FAEE41434E}"/>
              </a:ext>
            </a:extLst>
          </p:cNvPr>
          <p:cNvCxnSpPr>
            <a:cxnSpLocks/>
            <a:stCxn id="5" idx="0"/>
            <a:endCxn id="6" idx="2"/>
          </p:cNvCxnSpPr>
          <p:nvPr/>
        </p:nvCxnSpPr>
        <p:spPr>
          <a:xfrm flipH="1" flipV="1">
            <a:off x="2223117" y="3884971"/>
            <a:ext cx="646294" cy="733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6EB4FED-A63C-0861-37E1-491802D79471}"/>
              </a:ext>
            </a:extLst>
          </p:cNvPr>
          <p:cNvCxnSpPr>
            <a:cxnSpLocks/>
            <a:stCxn id="5" idx="0"/>
            <a:endCxn id="8" idx="2"/>
          </p:cNvCxnSpPr>
          <p:nvPr/>
        </p:nvCxnSpPr>
        <p:spPr>
          <a:xfrm flipV="1">
            <a:off x="2869411" y="2257251"/>
            <a:ext cx="2510029" cy="23612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30AA904-A7F3-3207-B761-F5C9F0C4A708}"/>
              </a:ext>
            </a:extLst>
          </p:cNvPr>
          <p:cNvSpPr txBox="1"/>
          <p:nvPr/>
        </p:nvSpPr>
        <p:spPr>
          <a:xfrm>
            <a:off x="6139946" y="2705977"/>
            <a:ext cx="4114194" cy="1004416"/>
          </a:xfrm>
          <a:prstGeom prst="rect">
            <a:avLst/>
          </a:prstGeom>
          <a:noFill/>
          <a:ln>
            <a:solidFill>
              <a:srgbClr val="000AFF"/>
            </a:solidFill>
          </a:ln>
        </p:spPr>
        <p:txBody>
          <a:bodyPr wrap="square">
            <a:noAutofit/>
          </a:bodyPr>
          <a:lstStyle/>
          <a:p>
            <a:pPr algn="l"/>
            <a:r>
              <a:rPr lang="en-US" sz="2600" b="0" dirty="0">
                <a:solidFill>
                  <a:srgbClr val="000000"/>
                </a:solidFill>
              </a:rPr>
              <a:t>Vacuum fluctuations transfer contextuality to qutrit</a:t>
            </a:r>
            <a:endParaRPr sz="2600" b="0" dirty="0">
              <a:solidFill>
                <a:srgbClr val="000000"/>
              </a:solidFill>
            </a:endParaRPr>
          </a:p>
        </p:txBody>
      </p:sp>
      <p:sp>
        <p:nvSpPr>
          <p:cNvPr id="13" name="Rectangle 12">
            <a:extLst>
              <a:ext uri="{FF2B5EF4-FFF2-40B4-BE49-F238E27FC236}">
                <a16:creationId xmlns:a16="http://schemas.microsoft.com/office/drawing/2014/main" id="{4BC96743-4E6F-28AD-C51A-3E2498E7F8C1}"/>
              </a:ext>
            </a:extLst>
          </p:cNvPr>
          <p:cNvSpPr/>
          <p:nvPr/>
        </p:nvSpPr>
        <p:spPr>
          <a:xfrm>
            <a:off x="3524756" y="3427771"/>
            <a:ext cx="571432" cy="457200"/>
          </a:xfrm>
          <a:prstGeom prst="rect">
            <a:avLst/>
          </a:prstGeom>
          <a:noFill/>
          <a:ln w="25400">
            <a:solidFill>
              <a:srgbClr val="000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898B10AD-463D-EB84-EF3D-B8BE07021FAD}"/>
              </a:ext>
            </a:extLst>
          </p:cNvPr>
          <p:cNvSpPr/>
          <p:nvPr/>
        </p:nvSpPr>
        <p:spPr>
          <a:xfrm>
            <a:off x="5133206" y="2609965"/>
            <a:ext cx="503773" cy="457200"/>
          </a:xfrm>
          <a:prstGeom prst="rect">
            <a:avLst/>
          </a:prstGeom>
          <a:noFill/>
          <a:ln w="25400">
            <a:solidFill>
              <a:srgbClr val="000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5" name="Straight Arrow Connector 14">
            <a:extLst>
              <a:ext uri="{FF2B5EF4-FFF2-40B4-BE49-F238E27FC236}">
                <a16:creationId xmlns:a16="http://schemas.microsoft.com/office/drawing/2014/main" id="{F516FD7F-BFDE-2143-4526-E2B3D0A7B1FE}"/>
              </a:ext>
            </a:extLst>
          </p:cNvPr>
          <p:cNvCxnSpPr>
            <a:cxnSpLocks/>
            <a:stCxn id="12" idx="1"/>
            <a:endCxn id="13" idx="3"/>
          </p:cNvCxnSpPr>
          <p:nvPr/>
        </p:nvCxnSpPr>
        <p:spPr>
          <a:xfrm flipH="1">
            <a:off x="4096188" y="3208185"/>
            <a:ext cx="2043758" cy="448186"/>
          </a:xfrm>
          <a:prstGeom prst="straightConnector1">
            <a:avLst/>
          </a:prstGeom>
          <a:ln>
            <a:solidFill>
              <a:srgbClr val="000AFF"/>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C522534-2205-B110-F10D-95EEEE6D0F17}"/>
              </a:ext>
            </a:extLst>
          </p:cNvPr>
          <p:cNvCxnSpPr>
            <a:cxnSpLocks/>
            <a:stCxn id="12" idx="1"/>
            <a:endCxn id="14" idx="3"/>
          </p:cNvCxnSpPr>
          <p:nvPr/>
        </p:nvCxnSpPr>
        <p:spPr>
          <a:xfrm flipH="1" flipV="1">
            <a:off x="5636979" y="2838565"/>
            <a:ext cx="502967" cy="369620"/>
          </a:xfrm>
          <a:prstGeom prst="straightConnector1">
            <a:avLst/>
          </a:prstGeom>
          <a:ln>
            <a:solidFill>
              <a:srgbClr val="000AFF"/>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4842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 grpId="0"/>
      <p:bldP spid="6" grpId="0" animBg="1"/>
      <p:bldP spid="8" grpId="0" animBg="1"/>
      <p:bldP spid="12" grpId="0"/>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B4349-F7E0-67F2-40A5-071A2D2F21FD}"/>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8E46EE95-509E-1F46-862B-D6AF29AFE4F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E44F75A3-3190-15E1-EA10-F3D26BE39449}"/>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Qubit-Qutrit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22912A94-AEE3-C061-2F85-4FBB37557832}"/>
              </a:ext>
            </a:extLst>
          </p:cNvPr>
          <p:cNvSpPr>
            <a:spLocks noGrp="1"/>
          </p:cNvSpPr>
          <p:nvPr>
            <p:ph type="sldNum" sz="quarter" idx="12"/>
          </p:nvPr>
        </p:nvSpPr>
        <p:spPr/>
        <p:txBody>
          <a:bodyPr/>
          <a:lstStyle/>
          <a:p>
            <a:fld id="{D0617D14-1B55-43C0-819D-0D244AC23646}" type="slidenum">
              <a:rPr lang="de-AT" smtClean="0"/>
              <a:t>26</a:t>
            </a:fld>
            <a:endParaRPr lang="de-AT"/>
          </a:p>
        </p:txBody>
      </p:sp>
      <p:pic>
        <p:nvPicPr>
          <p:cNvPr id="8" name="Picture 7" descr="page13_Im3.jpg">
            <a:extLst>
              <a:ext uri="{FF2B5EF4-FFF2-40B4-BE49-F238E27FC236}">
                <a16:creationId xmlns:a16="http://schemas.microsoft.com/office/drawing/2014/main" id="{2BD50BEB-6C3F-32CC-E6E7-954562E2670E}"/>
              </a:ext>
            </a:extLst>
          </p:cNvPr>
          <p:cNvPicPr>
            <a:picLocks noChangeAspect="1"/>
          </p:cNvPicPr>
          <p:nvPr/>
        </p:nvPicPr>
        <p:blipFill>
          <a:blip r:embed="rId4"/>
          <a:srcRect b="50315"/>
          <a:stretch>
            <a:fillRect/>
          </a:stretch>
        </p:blipFill>
        <p:spPr>
          <a:xfrm>
            <a:off x="146005" y="971377"/>
            <a:ext cx="8136715" cy="4988583"/>
          </a:xfrm>
          <a:prstGeom prst="rect">
            <a:avLst/>
          </a:prstGeom>
        </p:spPr>
      </p:pic>
      <p:sp>
        <p:nvSpPr>
          <p:cNvPr id="9" name="TextBox 8">
            <a:extLst>
              <a:ext uri="{FF2B5EF4-FFF2-40B4-BE49-F238E27FC236}">
                <a16:creationId xmlns:a16="http://schemas.microsoft.com/office/drawing/2014/main" id="{CCCE54BA-7DBB-1448-F092-E0EE552188F8}"/>
              </a:ext>
            </a:extLst>
          </p:cNvPr>
          <p:cNvSpPr txBox="1"/>
          <p:nvPr/>
        </p:nvSpPr>
        <p:spPr>
          <a:xfrm>
            <a:off x="160701" y="7132401"/>
            <a:ext cx="8136715" cy="650000"/>
          </a:xfrm>
          <a:prstGeom prst="rect">
            <a:avLst/>
          </a:prstGeom>
          <a:noFill/>
        </p:spPr>
        <p:txBody>
          <a:bodyPr wrap="square">
            <a:noAutofit/>
          </a:bodyPr>
          <a:lstStyle/>
          <a:p>
            <a:pPr algn="ctr"/>
            <a:r>
              <a:rPr sz="1600" b="0" dirty="0">
                <a:solidFill>
                  <a:srgbClr val="000000"/>
                </a:solidFill>
              </a:rPr>
              <a:t>Figure 2: negativity in the qubit-qutrit system as a function of the shared gap, temporal widths, spatial width, and separation.</a:t>
            </a:r>
          </a:p>
        </p:txBody>
      </p:sp>
      <p:sp>
        <p:nvSpPr>
          <p:cNvPr id="4" name="TextBox 3">
            <a:extLst>
              <a:ext uri="{FF2B5EF4-FFF2-40B4-BE49-F238E27FC236}">
                <a16:creationId xmlns:a16="http://schemas.microsoft.com/office/drawing/2014/main" id="{FF6BE082-CE22-7886-B2CB-1F08F94FEFE6}"/>
              </a:ext>
            </a:extLst>
          </p:cNvPr>
          <p:cNvSpPr txBox="1"/>
          <p:nvPr/>
        </p:nvSpPr>
        <p:spPr>
          <a:xfrm>
            <a:off x="8480575" y="852413"/>
            <a:ext cx="3533234" cy="510458"/>
          </a:xfrm>
          <a:prstGeom prst="rect">
            <a:avLst/>
          </a:prstGeom>
          <a:noFill/>
        </p:spPr>
        <p:txBody>
          <a:bodyPr wrap="square">
            <a:noAutofit/>
          </a:bodyPr>
          <a:lstStyle/>
          <a:p>
            <a:pPr algn="l"/>
            <a:r>
              <a:rPr lang="en-US" sz="2400" b="0" u="sng" dirty="0">
                <a:solidFill>
                  <a:srgbClr val="000000"/>
                </a:solidFill>
              </a:rPr>
              <a:t>Smaller system separation</a:t>
            </a:r>
            <a:endParaRPr sz="2400" b="0" u="sng" dirty="0">
              <a:solidFill>
                <a:srgbClr val="000000"/>
              </a:solidFill>
            </a:endParaRPr>
          </a:p>
        </p:txBody>
      </p:sp>
      <p:sp>
        <p:nvSpPr>
          <p:cNvPr id="6" name="TextBox 5">
            <a:extLst>
              <a:ext uri="{FF2B5EF4-FFF2-40B4-BE49-F238E27FC236}">
                <a16:creationId xmlns:a16="http://schemas.microsoft.com/office/drawing/2014/main" id="{94592B3E-A81B-235E-0AC6-A76037FDD280}"/>
              </a:ext>
            </a:extLst>
          </p:cNvPr>
          <p:cNvSpPr txBox="1"/>
          <p:nvPr/>
        </p:nvSpPr>
        <p:spPr>
          <a:xfrm>
            <a:off x="8389135" y="1435645"/>
            <a:ext cx="3863825" cy="4524315"/>
          </a:xfrm>
          <a:prstGeom prst="rect">
            <a:avLst/>
          </a:prstGeom>
          <a:noFill/>
        </p:spPr>
        <p:txBody>
          <a:bodyPr wrap="square">
            <a:spAutoFit/>
          </a:bodyPr>
          <a:lstStyle/>
          <a:p>
            <a:pPr marL="285750" indent="-285750" algn="l">
              <a:buFont typeface="Arial" panose="020B0604020202020204" pitchFamily="34" charset="0"/>
              <a:buChar char="•"/>
            </a:pPr>
            <a:r>
              <a:rPr lang="en-US" sz="2400" b="0" dirty="0">
                <a:solidFill>
                  <a:srgbClr val="000000"/>
                </a:solidFill>
              </a:rPr>
              <a:t>Adding a qubit allows the joint system to harvest negativity while the qutrit still carries local contextuality</a:t>
            </a:r>
            <a:br>
              <a:rPr lang="en-US" sz="2400" b="0" dirty="0">
                <a:solidFill>
                  <a:srgbClr val="000000"/>
                </a:solidFill>
              </a:rPr>
            </a:br>
            <a:endParaRPr lang="en-US" sz="2400" b="0" dirty="0">
              <a:solidFill>
                <a:srgbClr val="000000"/>
              </a:solidFill>
            </a:endParaRPr>
          </a:p>
          <a:p>
            <a:pPr marL="285750" indent="-285750" algn="l">
              <a:buFont typeface="Arial" panose="020B0604020202020204" pitchFamily="34" charset="0"/>
              <a:buChar char="•"/>
            </a:pPr>
            <a:r>
              <a:rPr lang="en-US" sz="2400" b="0" dirty="0">
                <a:solidFill>
                  <a:srgbClr val="000000"/>
                </a:solidFill>
              </a:rPr>
              <a:t>The two resource windows need not coincide, so they can compete, align, or separate as the detector profiles and separation are varied</a:t>
            </a:r>
          </a:p>
        </p:txBody>
      </p:sp>
    </p:spTree>
    <p:custDataLst>
      <p:tags r:id="rId1"/>
    </p:custDataLst>
    <p:extLst>
      <p:ext uri="{BB962C8B-B14F-4D97-AF65-F5344CB8AC3E}">
        <p14:creationId xmlns:p14="http://schemas.microsoft.com/office/powerpoint/2010/main" val="3011261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6DDE-C660-049F-886B-D795ED79F21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FC9D3AB-124C-E692-674F-8FC3DB079D08}"/>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78EC07D5-A336-BADE-D860-031305FEC81C}"/>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Qubit-Qutrit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DA498D3-0DCD-22CD-DD80-261645D52866}"/>
              </a:ext>
            </a:extLst>
          </p:cNvPr>
          <p:cNvSpPr>
            <a:spLocks noGrp="1"/>
          </p:cNvSpPr>
          <p:nvPr>
            <p:ph type="sldNum" sz="quarter" idx="12"/>
          </p:nvPr>
        </p:nvSpPr>
        <p:spPr/>
        <p:txBody>
          <a:bodyPr/>
          <a:lstStyle/>
          <a:p>
            <a:fld id="{D0617D14-1B55-43C0-819D-0D244AC23646}" type="slidenum">
              <a:rPr lang="de-AT" smtClean="0"/>
              <a:t>27</a:t>
            </a:fld>
            <a:endParaRPr lang="de-AT"/>
          </a:p>
        </p:txBody>
      </p:sp>
      <p:pic>
        <p:nvPicPr>
          <p:cNvPr id="8" name="Picture 7" descr="page13_Im3.jpg">
            <a:extLst>
              <a:ext uri="{FF2B5EF4-FFF2-40B4-BE49-F238E27FC236}">
                <a16:creationId xmlns:a16="http://schemas.microsoft.com/office/drawing/2014/main" id="{30DC15EF-2D09-EABD-0D2D-3DA4A4FE97C1}"/>
              </a:ext>
            </a:extLst>
          </p:cNvPr>
          <p:cNvPicPr>
            <a:picLocks noChangeAspect="1"/>
          </p:cNvPicPr>
          <p:nvPr/>
        </p:nvPicPr>
        <p:blipFill>
          <a:blip r:embed="rId4"/>
          <a:srcRect t="50496"/>
          <a:stretch>
            <a:fillRect/>
          </a:stretch>
        </p:blipFill>
        <p:spPr>
          <a:xfrm>
            <a:off x="128878" y="972457"/>
            <a:ext cx="8393971" cy="5127591"/>
          </a:xfrm>
          <a:prstGeom prst="rect">
            <a:avLst/>
          </a:prstGeom>
        </p:spPr>
      </p:pic>
      <p:sp>
        <p:nvSpPr>
          <p:cNvPr id="9" name="TextBox 8">
            <a:extLst>
              <a:ext uri="{FF2B5EF4-FFF2-40B4-BE49-F238E27FC236}">
                <a16:creationId xmlns:a16="http://schemas.microsoft.com/office/drawing/2014/main" id="{7EF7BE0D-59A6-3F99-74F4-37D81E7A647B}"/>
              </a:ext>
            </a:extLst>
          </p:cNvPr>
          <p:cNvSpPr txBox="1"/>
          <p:nvPr/>
        </p:nvSpPr>
        <p:spPr>
          <a:xfrm>
            <a:off x="1479" y="11610616"/>
            <a:ext cx="8136715" cy="650000"/>
          </a:xfrm>
          <a:prstGeom prst="rect">
            <a:avLst/>
          </a:prstGeom>
          <a:noFill/>
        </p:spPr>
        <p:txBody>
          <a:bodyPr wrap="square">
            <a:noAutofit/>
          </a:bodyPr>
          <a:lstStyle/>
          <a:p>
            <a:pPr algn="ctr"/>
            <a:r>
              <a:rPr sz="1600" b="0" dirty="0">
                <a:solidFill>
                  <a:srgbClr val="000000"/>
                </a:solidFill>
              </a:rPr>
              <a:t>Figure 2: negativity in the qubit-qutrit system as a function of the shared gap, temporal widths, spatial width, and separation.</a:t>
            </a:r>
          </a:p>
        </p:txBody>
      </p:sp>
      <p:sp>
        <p:nvSpPr>
          <p:cNvPr id="4" name="TextBox 3">
            <a:extLst>
              <a:ext uri="{FF2B5EF4-FFF2-40B4-BE49-F238E27FC236}">
                <a16:creationId xmlns:a16="http://schemas.microsoft.com/office/drawing/2014/main" id="{8B5DE3BA-3739-5985-5C37-F14C6594087A}"/>
              </a:ext>
            </a:extLst>
          </p:cNvPr>
          <p:cNvSpPr txBox="1"/>
          <p:nvPr/>
        </p:nvSpPr>
        <p:spPr>
          <a:xfrm>
            <a:off x="8658766" y="972457"/>
            <a:ext cx="3533234" cy="510458"/>
          </a:xfrm>
          <a:prstGeom prst="rect">
            <a:avLst/>
          </a:prstGeom>
          <a:noFill/>
        </p:spPr>
        <p:txBody>
          <a:bodyPr wrap="square">
            <a:noAutofit/>
          </a:bodyPr>
          <a:lstStyle/>
          <a:p>
            <a:pPr algn="l"/>
            <a:r>
              <a:rPr lang="en-US" sz="2400" u="sng" dirty="0">
                <a:solidFill>
                  <a:srgbClr val="000000"/>
                </a:solidFill>
              </a:rPr>
              <a:t>Larger</a:t>
            </a:r>
            <a:r>
              <a:rPr lang="en-US" sz="2400" b="0" u="sng" dirty="0">
                <a:solidFill>
                  <a:srgbClr val="000000"/>
                </a:solidFill>
              </a:rPr>
              <a:t> system separation</a:t>
            </a:r>
            <a:endParaRPr sz="2400" b="0" u="sng" dirty="0">
              <a:solidFill>
                <a:srgbClr val="000000"/>
              </a:solidFill>
            </a:endParaRPr>
          </a:p>
        </p:txBody>
      </p:sp>
      <p:sp>
        <p:nvSpPr>
          <p:cNvPr id="5" name="TextBox 4">
            <a:extLst>
              <a:ext uri="{FF2B5EF4-FFF2-40B4-BE49-F238E27FC236}">
                <a16:creationId xmlns:a16="http://schemas.microsoft.com/office/drawing/2014/main" id="{A9461671-7A54-9448-E467-C22234075C05}"/>
              </a:ext>
            </a:extLst>
          </p:cNvPr>
          <p:cNvSpPr txBox="1"/>
          <p:nvPr/>
        </p:nvSpPr>
        <p:spPr>
          <a:xfrm>
            <a:off x="8794683" y="1482915"/>
            <a:ext cx="3143767" cy="2650000"/>
          </a:xfrm>
          <a:prstGeom prst="rect">
            <a:avLst/>
          </a:prstGeom>
          <a:noFill/>
        </p:spPr>
        <p:txBody>
          <a:bodyPr wrap="square">
            <a:noAutofit/>
          </a:bodyPr>
          <a:lstStyle/>
          <a:p>
            <a:pPr marL="457200" indent="-457200">
              <a:buFont typeface="Arial" panose="020B0604020202020204" pitchFamily="34" charset="0"/>
              <a:buChar char="•"/>
            </a:pPr>
            <a:r>
              <a:rPr lang="en-US" sz="2400" dirty="0">
                <a:solidFill>
                  <a:srgbClr val="000000"/>
                </a:solidFill>
              </a:rPr>
              <a:t>Most entanglement harvesting is destroyed at this distance</a:t>
            </a:r>
          </a:p>
          <a:p>
            <a:pPr marL="457200" indent="-457200">
              <a:buFont typeface="Arial" panose="020B0604020202020204" pitchFamily="34" charset="0"/>
              <a:buChar char="•"/>
            </a:pPr>
            <a:endParaRPr sz="2600" dirty="0">
              <a:solidFill>
                <a:srgbClr val="000000"/>
              </a:solidFill>
            </a:endParaRPr>
          </a:p>
        </p:txBody>
      </p:sp>
    </p:spTree>
    <p:custDataLst>
      <p:tags r:id="rId1"/>
    </p:custDataLst>
    <p:extLst>
      <p:ext uri="{BB962C8B-B14F-4D97-AF65-F5344CB8AC3E}">
        <p14:creationId xmlns:p14="http://schemas.microsoft.com/office/powerpoint/2010/main" val="3138563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B6547-DF81-2858-C289-B1B77FFA48B3}"/>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64EEE9D-A2EE-6F3D-3574-C547835736E9}"/>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15A0880B-5289-E661-2FF6-0973D6739B06}"/>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Harvesting – Qubit-Qutrit</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BDABB0E4-E7E8-08ED-6F20-91F019787A6A}"/>
              </a:ext>
            </a:extLst>
          </p:cNvPr>
          <p:cNvSpPr>
            <a:spLocks noGrp="1"/>
          </p:cNvSpPr>
          <p:nvPr>
            <p:ph type="sldNum" sz="quarter" idx="12"/>
          </p:nvPr>
        </p:nvSpPr>
        <p:spPr/>
        <p:txBody>
          <a:bodyPr/>
          <a:lstStyle/>
          <a:p>
            <a:fld id="{D0617D14-1B55-43C0-819D-0D244AC23646}" type="slidenum">
              <a:rPr lang="de-AT" smtClean="0"/>
              <a:t>28</a:t>
            </a:fld>
            <a:endParaRPr lang="de-AT"/>
          </a:p>
        </p:txBody>
      </p:sp>
      <p:sp>
        <p:nvSpPr>
          <p:cNvPr id="9" name="TextBox 8">
            <a:extLst>
              <a:ext uri="{FF2B5EF4-FFF2-40B4-BE49-F238E27FC236}">
                <a16:creationId xmlns:a16="http://schemas.microsoft.com/office/drawing/2014/main" id="{89A9E0DB-E7BA-F4B0-A13E-39A2B0740D02}"/>
              </a:ext>
            </a:extLst>
          </p:cNvPr>
          <p:cNvSpPr txBox="1"/>
          <p:nvPr/>
        </p:nvSpPr>
        <p:spPr>
          <a:xfrm>
            <a:off x="1479" y="11610616"/>
            <a:ext cx="8136715" cy="650000"/>
          </a:xfrm>
          <a:prstGeom prst="rect">
            <a:avLst/>
          </a:prstGeom>
          <a:noFill/>
        </p:spPr>
        <p:txBody>
          <a:bodyPr wrap="square">
            <a:noAutofit/>
          </a:bodyPr>
          <a:lstStyle/>
          <a:p>
            <a:pPr algn="ctr"/>
            <a:r>
              <a:rPr sz="1600" b="0" dirty="0">
                <a:solidFill>
                  <a:srgbClr val="000000"/>
                </a:solidFill>
              </a:rPr>
              <a:t>Figure 2: negativity in the qubit-qutrit system as a function of the shared gap, temporal widths, spatial width, and separation.</a:t>
            </a:r>
          </a:p>
        </p:txBody>
      </p:sp>
      <p:sp>
        <p:nvSpPr>
          <p:cNvPr id="10" name="Rounded Rectangle 9">
            <a:extLst>
              <a:ext uri="{FF2B5EF4-FFF2-40B4-BE49-F238E27FC236}">
                <a16:creationId xmlns:a16="http://schemas.microsoft.com/office/drawing/2014/main" id="{848E7919-1C88-7039-50A5-96E2DBA663B6}"/>
              </a:ext>
            </a:extLst>
          </p:cNvPr>
          <p:cNvSpPr/>
          <p:nvPr/>
        </p:nvSpPr>
        <p:spPr>
          <a:xfrm>
            <a:off x="605262" y="1766871"/>
            <a:ext cx="2274931" cy="1571985"/>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Energy Gap </a:t>
            </a:r>
            <a:r>
              <a:rPr sz="2400" b="1" u="sng" dirty="0" err="1">
                <a:solidFill>
                  <a:srgbClr val="000000"/>
                </a:solidFill>
              </a:rPr>
              <a:t>Ω</a:t>
            </a:r>
            <a:endParaRPr sz="2400" b="1" u="sng" dirty="0">
              <a:solidFill>
                <a:srgbClr val="000000"/>
              </a:solidFill>
            </a:endParaRPr>
          </a:p>
          <a:p>
            <a:pPr algn="ctr"/>
            <a:r>
              <a:rPr sz="2400" dirty="0">
                <a:solidFill>
                  <a:srgbClr val="000000"/>
                </a:solidFill>
              </a:rPr>
              <a:t>Both resources fade for large gaps</a:t>
            </a:r>
          </a:p>
        </p:txBody>
      </p:sp>
      <p:sp>
        <p:nvSpPr>
          <p:cNvPr id="13" name="Rounded Rectangle 12">
            <a:extLst>
              <a:ext uri="{FF2B5EF4-FFF2-40B4-BE49-F238E27FC236}">
                <a16:creationId xmlns:a16="http://schemas.microsoft.com/office/drawing/2014/main" id="{0F31349A-B6D1-10EC-D2FD-15F8444E1685}"/>
              </a:ext>
            </a:extLst>
          </p:cNvPr>
          <p:cNvSpPr/>
          <p:nvPr/>
        </p:nvSpPr>
        <p:spPr>
          <a:xfrm>
            <a:off x="3190146" y="1766871"/>
            <a:ext cx="2683115" cy="1571985"/>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Spatial Width </a:t>
            </a:r>
            <a:r>
              <a:rPr sz="2400" b="1" u="sng" dirty="0" err="1">
                <a:solidFill>
                  <a:srgbClr val="000000"/>
                </a:solidFill>
              </a:rPr>
              <a:t>σ</a:t>
            </a:r>
            <a:endParaRPr sz="2400" b="1" u="sng" dirty="0">
              <a:solidFill>
                <a:srgbClr val="000000"/>
              </a:solidFill>
            </a:endParaRPr>
          </a:p>
          <a:p>
            <a:pPr algn="ctr"/>
            <a:r>
              <a:rPr sz="2400" dirty="0">
                <a:solidFill>
                  <a:srgbClr val="000000"/>
                </a:solidFill>
              </a:rPr>
              <a:t>Smaller smearing generally amplifies harvesting</a:t>
            </a:r>
          </a:p>
        </p:txBody>
      </p:sp>
      <p:sp>
        <p:nvSpPr>
          <p:cNvPr id="14" name="Rounded Rectangle 13">
            <a:extLst>
              <a:ext uri="{FF2B5EF4-FFF2-40B4-BE49-F238E27FC236}">
                <a16:creationId xmlns:a16="http://schemas.microsoft.com/office/drawing/2014/main" id="{07BEE5B5-A2BD-4282-9FE4-AB7F5C770374}"/>
              </a:ext>
            </a:extLst>
          </p:cNvPr>
          <p:cNvSpPr/>
          <p:nvPr/>
        </p:nvSpPr>
        <p:spPr>
          <a:xfrm>
            <a:off x="605262" y="3607556"/>
            <a:ext cx="2274931" cy="2312598"/>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Temporal Width T</a:t>
            </a:r>
          </a:p>
          <a:p>
            <a:pPr algn="ctr"/>
            <a:r>
              <a:rPr sz="2400" dirty="0">
                <a:solidFill>
                  <a:srgbClr val="000000"/>
                </a:solidFill>
              </a:rPr>
              <a:t>Controls peak alignment and </a:t>
            </a:r>
            <a:r>
              <a:rPr sz="2400" dirty="0" err="1">
                <a:solidFill>
                  <a:srgbClr val="000000"/>
                </a:solidFill>
              </a:rPr>
              <a:t>signalling</a:t>
            </a:r>
            <a:r>
              <a:rPr sz="2400" dirty="0">
                <a:solidFill>
                  <a:srgbClr val="000000"/>
                </a:solidFill>
              </a:rPr>
              <a:t> contamination</a:t>
            </a:r>
          </a:p>
        </p:txBody>
      </p:sp>
      <p:sp>
        <p:nvSpPr>
          <p:cNvPr id="15" name="Rounded Rectangle 14">
            <a:extLst>
              <a:ext uri="{FF2B5EF4-FFF2-40B4-BE49-F238E27FC236}">
                <a16:creationId xmlns:a16="http://schemas.microsoft.com/office/drawing/2014/main" id="{83347673-7B5E-F0E3-C445-B877B5393648}"/>
              </a:ext>
            </a:extLst>
          </p:cNvPr>
          <p:cNvSpPr/>
          <p:nvPr/>
        </p:nvSpPr>
        <p:spPr>
          <a:xfrm>
            <a:off x="3190147" y="3607556"/>
            <a:ext cx="2683114" cy="2035526"/>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Separation L</a:t>
            </a:r>
          </a:p>
          <a:p>
            <a:pPr algn="ctr"/>
            <a:r>
              <a:rPr sz="2400" dirty="0">
                <a:solidFill>
                  <a:srgbClr val="000000"/>
                </a:solidFill>
              </a:rPr>
              <a:t>Nonlocal entanglement dies sooner than local contextuality</a:t>
            </a:r>
          </a:p>
        </p:txBody>
      </p:sp>
      <p:sp>
        <p:nvSpPr>
          <p:cNvPr id="16" name="Rounded Rectangle 15">
            <a:extLst>
              <a:ext uri="{FF2B5EF4-FFF2-40B4-BE49-F238E27FC236}">
                <a16:creationId xmlns:a16="http://schemas.microsoft.com/office/drawing/2014/main" id="{26DD500B-7E3E-2AC7-8AC3-443E8ACBF599}"/>
              </a:ext>
            </a:extLst>
          </p:cNvPr>
          <p:cNvSpPr/>
          <p:nvPr/>
        </p:nvSpPr>
        <p:spPr>
          <a:xfrm>
            <a:off x="6453154" y="1309643"/>
            <a:ext cx="4865077" cy="2816623"/>
          </a:xfrm>
          <a:prstGeom prst="roundRect">
            <a:avLst/>
          </a:prstGeom>
          <a:solidFill>
            <a:srgbClr val="FFFFFF"/>
          </a:solidFill>
          <a:ln w="1">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u="sng" dirty="0">
                <a:solidFill>
                  <a:srgbClr val="000000"/>
                </a:solidFill>
              </a:rPr>
              <a:t>Coexistence Window</a:t>
            </a:r>
          </a:p>
          <a:p>
            <a:r>
              <a:rPr sz="2400" dirty="0">
                <a:solidFill>
                  <a:srgbClr val="000000"/>
                </a:solidFill>
              </a:rPr>
              <a:t>Fix the qutrit in a low-gap, high-contextuality regime and widen the qubit temporal profile to pull the negativity peak toward the same region.</a:t>
            </a:r>
            <a:r>
              <a:rPr lang="en-US" sz="2400" dirty="0">
                <a:solidFill>
                  <a:srgbClr val="000000"/>
                </a:solidFill>
              </a:rPr>
              <a:t> Both can coexist inside a controllable overlap region.</a:t>
            </a:r>
            <a:endParaRPr sz="2400" dirty="0">
              <a:solidFill>
                <a:srgbClr val="000000"/>
              </a:solidFill>
            </a:endParaRPr>
          </a:p>
        </p:txBody>
      </p:sp>
      <p:sp>
        <p:nvSpPr>
          <p:cNvPr id="24" name="TextBox 23">
            <a:extLst>
              <a:ext uri="{FF2B5EF4-FFF2-40B4-BE49-F238E27FC236}">
                <a16:creationId xmlns:a16="http://schemas.microsoft.com/office/drawing/2014/main" id="{FF926669-43D9-920B-0649-ED13DA0CDF61}"/>
              </a:ext>
            </a:extLst>
          </p:cNvPr>
          <p:cNvSpPr txBox="1"/>
          <p:nvPr/>
        </p:nvSpPr>
        <p:spPr>
          <a:xfrm>
            <a:off x="395659" y="1058553"/>
            <a:ext cx="3409195" cy="535227"/>
          </a:xfrm>
          <a:prstGeom prst="rect">
            <a:avLst/>
          </a:prstGeom>
          <a:noFill/>
        </p:spPr>
        <p:txBody>
          <a:bodyPr wrap="square">
            <a:noAutofit/>
          </a:bodyPr>
          <a:lstStyle/>
          <a:p>
            <a:pPr algn="l"/>
            <a:r>
              <a:rPr lang="en-US" sz="2400" u="sng" dirty="0">
                <a:solidFill>
                  <a:srgbClr val="000000"/>
                </a:solidFill>
              </a:rPr>
              <a:t>Harvesting </a:t>
            </a:r>
            <a:r>
              <a:rPr lang="en-US" sz="2400" u="sng" dirty="0" err="1">
                <a:solidFill>
                  <a:srgbClr val="000000"/>
                </a:solidFill>
              </a:rPr>
              <a:t>Behaviour</a:t>
            </a:r>
            <a:endParaRPr sz="2400" b="0" u="sng" dirty="0">
              <a:solidFill>
                <a:srgbClr val="000000"/>
              </a:solidFill>
            </a:endParaRPr>
          </a:p>
        </p:txBody>
      </p:sp>
      <p:sp>
        <p:nvSpPr>
          <p:cNvPr id="25" name="Rounded Rectangle 24">
            <a:extLst>
              <a:ext uri="{FF2B5EF4-FFF2-40B4-BE49-F238E27FC236}">
                <a16:creationId xmlns:a16="http://schemas.microsoft.com/office/drawing/2014/main" id="{3705F444-03EB-D4E6-0A42-74D3C92DE82E}"/>
              </a:ext>
            </a:extLst>
          </p:cNvPr>
          <p:cNvSpPr/>
          <p:nvPr/>
        </p:nvSpPr>
        <p:spPr>
          <a:xfrm>
            <a:off x="6877053" y="4501952"/>
            <a:ext cx="4017277" cy="1141130"/>
          </a:xfrm>
          <a:prstGeom prst="round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100000" tIns="50000" rIns="100000" bIns="50000" rtlCol="0" anchor="ctr">
            <a:noAutofit/>
          </a:bodyPr>
          <a:lstStyle/>
          <a:p>
            <a:pPr algn="ctr"/>
            <a:r>
              <a:rPr lang="en-US" sz="2400" b="0" dirty="0">
                <a:solidFill>
                  <a:srgbClr val="000000"/>
                </a:solidFill>
              </a:rPr>
              <a:t>Non-classicality remains in the system even at large separation </a:t>
            </a:r>
            <a:endParaRPr sz="2400" b="0" dirty="0">
              <a:solidFill>
                <a:srgbClr val="000000"/>
              </a:solidFill>
            </a:endParaRPr>
          </a:p>
        </p:txBody>
      </p:sp>
    </p:spTree>
    <p:custDataLst>
      <p:tags r:id="rId1"/>
    </p:custDataLst>
    <p:extLst>
      <p:ext uri="{BB962C8B-B14F-4D97-AF65-F5344CB8AC3E}">
        <p14:creationId xmlns:p14="http://schemas.microsoft.com/office/powerpoint/2010/main" val="87137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Quantum Information Group Seminar, Leibniz University, Hannover I Phil LeMaitre I 19.05.2026</a:t>
            </a:r>
          </a:p>
        </p:txBody>
      </p:sp>
      <p:sp>
        <p:nvSpPr>
          <p:cNvPr id="9" name="Titel 1">
            <a:extLst>
              <a:ext uri="{FF2B5EF4-FFF2-40B4-BE49-F238E27FC236}">
                <a16:creationId xmlns:a16="http://schemas.microsoft.com/office/drawing/2014/main" id="{135DD113-A52E-C9F7-3CB3-DD39A0310BBD}"/>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Key Takeaways</a:t>
            </a:r>
          </a:p>
        </p:txBody>
      </p:sp>
      <p:sp>
        <p:nvSpPr>
          <p:cNvPr id="10" name="Slide Number Placeholder 9">
            <a:extLst>
              <a:ext uri="{FF2B5EF4-FFF2-40B4-BE49-F238E27FC236}">
                <a16:creationId xmlns:a16="http://schemas.microsoft.com/office/drawing/2014/main" id="{52CAF501-DE31-60BB-2730-6EC8F9EE905F}"/>
              </a:ext>
            </a:extLst>
          </p:cNvPr>
          <p:cNvSpPr>
            <a:spLocks noGrp="1"/>
          </p:cNvSpPr>
          <p:nvPr>
            <p:ph type="sldNum" sz="quarter" idx="12"/>
          </p:nvPr>
        </p:nvSpPr>
        <p:spPr/>
        <p:txBody>
          <a:bodyPr/>
          <a:lstStyle/>
          <a:p>
            <a:fld id="{D0617D14-1B55-43C0-819D-0D244AC23646}" type="slidenum">
              <a:rPr lang="de-AT" smtClean="0"/>
              <a:t>29</a:t>
            </a:fld>
            <a:endParaRPr lang="de-AT"/>
          </a:p>
        </p:txBody>
      </p:sp>
      <p:sp>
        <p:nvSpPr>
          <p:cNvPr id="3" name="Shape 105">
            <a:extLst>
              <a:ext uri="{FF2B5EF4-FFF2-40B4-BE49-F238E27FC236}">
                <a16:creationId xmlns:a16="http://schemas.microsoft.com/office/drawing/2014/main" id="{EEED89A7-1A78-38B2-C532-F199D1A77BDD}"/>
              </a:ext>
            </a:extLst>
          </p:cNvPr>
          <p:cNvSpPr/>
          <p:nvPr/>
        </p:nvSpPr>
        <p:spPr>
          <a:xfrm>
            <a:off x="832189" y="1454226"/>
            <a:ext cx="502920" cy="347472"/>
          </a:xfrm>
          <a:prstGeom prst="ellipse">
            <a:avLst/>
          </a:prstGeom>
          <a:solidFill>
            <a:srgbClr val="F4CCCC"/>
          </a:solidFill>
          <a:ln w="12700">
            <a:solidFill>
              <a:srgbClr val="D58F8F"/>
            </a:solidFill>
            <a:prstDash val="solid"/>
          </a:ln>
        </p:spPr>
        <p:txBody>
          <a:bodyPr/>
          <a:lstStyle/>
          <a:p>
            <a:endParaRPr/>
          </a:p>
        </p:txBody>
      </p:sp>
      <p:sp>
        <p:nvSpPr>
          <p:cNvPr id="4" name="Text 106">
            <a:extLst>
              <a:ext uri="{FF2B5EF4-FFF2-40B4-BE49-F238E27FC236}">
                <a16:creationId xmlns:a16="http://schemas.microsoft.com/office/drawing/2014/main" id="{A8DFFCBE-B896-3C62-3F69-B9D2F353BB8C}"/>
              </a:ext>
            </a:extLst>
          </p:cNvPr>
          <p:cNvSpPr/>
          <p:nvPr/>
        </p:nvSpPr>
        <p:spPr>
          <a:xfrm>
            <a:off x="969349" y="1499946"/>
            <a:ext cx="228600" cy="146304"/>
          </a:xfrm>
          <a:prstGeom prst="rect">
            <a:avLst/>
          </a:prstGeom>
          <a:noFill/>
          <a:ln/>
        </p:spPr>
        <p:txBody>
          <a:bodyPr wrap="square" rtlCol="0" anchor="ctr"/>
          <a:lstStyle/>
          <a:p>
            <a:pPr marL="0" indent="0" algn="ctr">
              <a:buNone/>
            </a:pPr>
            <a:r>
              <a:rPr lang="en-US" sz="4000" b="1" dirty="0">
                <a:solidFill>
                  <a:srgbClr val="003366"/>
                </a:solidFill>
              </a:rPr>
              <a:t>1</a:t>
            </a:r>
            <a:endParaRPr lang="en-US" sz="1100" dirty="0"/>
          </a:p>
        </p:txBody>
      </p:sp>
      <p:sp>
        <p:nvSpPr>
          <p:cNvPr id="6" name="Text 107">
            <a:extLst>
              <a:ext uri="{FF2B5EF4-FFF2-40B4-BE49-F238E27FC236}">
                <a16:creationId xmlns:a16="http://schemas.microsoft.com/office/drawing/2014/main" id="{4B348E03-3AC2-BC07-49E0-28F9CF35CCA1}"/>
              </a:ext>
            </a:extLst>
          </p:cNvPr>
          <p:cNvSpPr/>
          <p:nvPr/>
        </p:nvSpPr>
        <p:spPr>
          <a:xfrm>
            <a:off x="1472269" y="1435938"/>
            <a:ext cx="8257885" cy="876320"/>
          </a:xfrm>
          <a:prstGeom prst="rect">
            <a:avLst/>
          </a:prstGeom>
          <a:noFill/>
          <a:ln/>
        </p:spPr>
        <p:txBody>
          <a:bodyPr wrap="square" lIns="508" tIns="508" rIns="508" bIns="508" rtlCol="0" anchor="t"/>
          <a:lstStyle/>
          <a:p>
            <a:pPr marL="0" indent="0" algn="l">
              <a:buNone/>
            </a:pPr>
            <a:r>
              <a:rPr lang="en-US" sz="2400" b="1" dirty="0">
                <a:ea typeface="Aptos" pitchFamily="34" charset="-122"/>
                <a:cs typeface="Aptos" pitchFamily="34" charset="-120"/>
              </a:rPr>
              <a:t>Single</a:t>
            </a:r>
            <a:r>
              <a:rPr lang="en-US" sz="2400" dirty="0">
                <a:ea typeface="Aptos" pitchFamily="34" charset="-122"/>
                <a:cs typeface="Aptos" pitchFamily="34" charset="-120"/>
              </a:rPr>
              <a:t> qutrits harvest contextuality from vacuum correlations.</a:t>
            </a:r>
            <a:endParaRPr lang="en-US" sz="2400" dirty="0"/>
          </a:p>
        </p:txBody>
      </p:sp>
      <p:sp>
        <p:nvSpPr>
          <p:cNvPr id="7" name="Shape 108">
            <a:extLst>
              <a:ext uri="{FF2B5EF4-FFF2-40B4-BE49-F238E27FC236}">
                <a16:creationId xmlns:a16="http://schemas.microsoft.com/office/drawing/2014/main" id="{1E6AA732-BF6A-1069-3295-A760F5950D23}"/>
              </a:ext>
            </a:extLst>
          </p:cNvPr>
          <p:cNvSpPr/>
          <p:nvPr/>
        </p:nvSpPr>
        <p:spPr>
          <a:xfrm>
            <a:off x="832189" y="2448492"/>
            <a:ext cx="502920" cy="347472"/>
          </a:xfrm>
          <a:prstGeom prst="ellipse">
            <a:avLst/>
          </a:prstGeom>
          <a:solidFill>
            <a:srgbClr val="F4CCCC"/>
          </a:solidFill>
          <a:ln w="12700">
            <a:solidFill>
              <a:srgbClr val="D58F8F"/>
            </a:solidFill>
            <a:prstDash val="solid"/>
          </a:ln>
        </p:spPr>
        <p:txBody>
          <a:bodyPr/>
          <a:lstStyle/>
          <a:p>
            <a:endParaRPr/>
          </a:p>
        </p:txBody>
      </p:sp>
      <p:sp>
        <p:nvSpPr>
          <p:cNvPr id="8" name="Text 109">
            <a:extLst>
              <a:ext uri="{FF2B5EF4-FFF2-40B4-BE49-F238E27FC236}">
                <a16:creationId xmlns:a16="http://schemas.microsoft.com/office/drawing/2014/main" id="{EB97439A-9473-88D7-3BF1-E589049B3D59}"/>
              </a:ext>
            </a:extLst>
          </p:cNvPr>
          <p:cNvSpPr/>
          <p:nvPr/>
        </p:nvSpPr>
        <p:spPr>
          <a:xfrm>
            <a:off x="969349" y="2494212"/>
            <a:ext cx="228600" cy="146304"/>
          </a:xfrm>
          <a:prstGeom prst="rect">
            <a:avLst/>
          </a:prstGeom>
          <a:noFill/>
          <a:ln/>
        </p:spPr>
        <p:txBody>
          <a:bodyPr wrap="square" rtlCol="0" anchor="ctr"/>
          <a:lstStyle/>
          <a:p>
            <a:pPr marL="0" indent="0" algn="ctr">
              <a:buNone/>
            </a:pPr>
            <a:r>
              <a:rPr lang="en-US" sz="4000" b="1" dirty="0">
                <a:solidFill>
                  <a:srgbClr val="003366"/>
                </a:solidFill>
              </a:rPr>
              <a:t>2</a:t>
            </a:r>
            <a:endParaRPr lang="en-US" sz="1100" dirty="0"/>
          </a:p>
        </p:txBody>
      </p:sp>
      <p:sp>
        <p:nvSpPr>
          <p:cNvPr id="11" name="Text 110">
            <a:extLst>
              <a:ext uri="{FF2B5EF4-FFF2-40B4-BE49-F238E27FC236}">
                <a16:creationId xmlns:a16="http://schemas.microsoft.com/office/drawing/2014/main" id="{150B3502-7CFA-D11E-4A6D-9A0F1AEF06FC}"/>
              </a:ext>
            </a:extLst>
          </p:cNvPr>
          <p:cNvSpPr/>
          <p:nvPr/>
        </p:nvSpPr>
        <p:spPr>
          <a:xfrm>
            <a:off x="1472268" y="2430203"/>
            <a:ext cx="9750383" cy="922201"/>
          </a:xfrm>
          <a:prstGeom prst="rect">
            <a:avLst/>
          </a:prstGeom>
          <a:noFill/>
          <a:ln/>
        </p:spPr>
        <p:txBody>
          <a:bodyPr wrap="square" lIns="508" tIns="508" rIns="508" bIns="508" rtlCol="0" anchor="t"/>
          <a:lstStyle/>
          <a:p>
            <a:pPr marL="0" indent="0" algn="l">
              <a:buNone/>
            </a:pPr>
            <a:r>
              <a:rPr lang="en-US" sz="2400" b="1" dirty="0">
                <a:ea typeface="Aptos" pitchFamily="34" charset="-122"/>
                <a:cs typeface="Aptos" pitchFamily="34" charset="-120"/>
              </a:rPr>
              <a:t>Gapless</a:t>
            </a:r>
            <a:r>
              <a:rPr lang="en-US" sz="2400" dirty="0">
                <a:ea typeface="Aptos" pitchFamily="34" charset="-122"/>
                <a:cs typeface="Aptos" pitchFamily="34" charset="-120"/>
              </a:rPr>
              <a:t> systems can harvest contextuality for suitable measurement choices.</a:t>
            </a:r>
            <a:endParaRPr lang="en-US" sz="2400" dirty="0"/>
          </a:p>
        </p:txBody>
      </p:sp>
      <p:sp>
        <p:nvSpPr>
          <p:cNvPr id="12" name="Shape 111">
            <a:extLst>
              <a:ext uri="{FF2B5EF4-FFF2-40B4-BE49-F238E27FC236}">
                <a16:creationId xmlns:a16="http://schemas.microsoft.com/office/drawing/2014/main" id="{E2ED0B0B-8AAA-1AD3-078D-45865C9CBACF}"/>
              </a:ext>
            </a:extLst>
          </p:cNvPr>
          <p:cNvSpPr/>
          <p:nvPr/>
        </p:nvSpPr>
        <p:spPr>
          <a:xfrm>
            <a:off x="811914" y="3496178"/>
            <a:ext cx="502920" cy="347472"/>
          </a:xfrm>
          <a:prstGeom prst="ellipse">
            <a:avLst/>
          </a:prstGeom>
          <a:solidFill>
            <a:srgbClr val="F4CCCC"/>
          </a:solidFill>
          <a:ln w="12700">
            <a:solidFill>
              <a:srgbClr val="D58F8F"/>
            </a:solidFill>
            <a:prstDash val="solid"/>
          </a:ln>
        </p:spPr>
        <p:txBody>
          <a:bodyPr/>
          <a:lstStyle/>
          <a:p>
            <a:endParaRPr/>
          </a:p>
        </p:txBody>
      </p:sp>
      <p:sp>
        <p:nvSpPr>
          <p:cNvPr id="13" name="Text 112">
            <a:extLst>
              <a:ext uri="{FF2B5EF4-FFF2-40B4-BE49-F238E27FC236}">
                <a16:creationId xmlns:a16="http://schemas.microsoft.com/office/drawing/2014/main" id="{6CD4A55D-ECC4-2CB6-0F23-4E757B7298FE}"/>
              </a:ext>
            </a:extLst>
          </p:cNvPr>
          <p:cNvSpPr/>
          <p:nvPr/>
        </p:nvSpPr>
        <p:spPr>
          <a:xfrm>
            <a:off x="949074" y="3541898"/>
            <a:ext cx="228600" cy="146304"/>
          </a:xfrm>
          <a:prstGeom prst="rect">
            <a:avLst/>
          </a:prstGeom>
          <a:noFill/>
          <a:ln/>
        </p:spPr>
        <p:txBody>
          <a:bodyPr wrap="square" rtlCol="0" anchor="ctr"/>
          <a:lstStyle/>
          <a:p>
            <a:pPr marL="0" indent="0" algn="ctr">
              <a:buNone/>
            </a:pPr>
            <a:r>
              <a:rPr lang="en-US" sz="4000" b="1" dirty="0">
                <a:solidFill>
                  <a:srgbClr val="003366"/>
                </a:solidFill>
              </a:rPr>
              <a:t>3</a:t>
            </a:r>
            <a:endParaRPr lang="en-US" sz="1100" dirty="0"/>
          </a:p>
        </p:txBody>
      </p:sp>
      <p:sp>
        <p:nvSpPr>
          <p:cNvPr id="14" name="Shape 114">
            <a:extLst>
              <a:ext uri="{FF2B5EF4-FFF2-40B4-BE49-F238E27FC236}">
                <a16:creationId xmlns:a16="http://schemas.microsoft.com/office/drawing/2014/main" id="{BA51192F-D866-2E6B-7BD5-D482F66D0B14}"/>
              </a:ext>
            </a:extLst>
          </p:cNvPr>
          <p:cNvSpPr/>
          <p:nvPr/>
        </p:nvSpPr>
        <p:spPr>
          <a:xfrm>
            <a:off x="832189" y="4654622"/>
            <a:ext cx="482645" cy="347472"/>
          </a:xfrm>
          <a:prstGeom prst="ellipse">
            <a:avLst/>
          </a:prstGeom>
          <a:solidFill>
            <a:srgbClr val="F4CCCC"/>
          </a:solidFill>
          <a:ln w="12700">
            <a:solidFill>
              <a:srgbClr val="D58F8F"/>
            </a:solidFill>
            <a:prstDash val="solid"/>
          </a:ln>
        </p:spPr>
        <p:txBody>
          <a:bodyPr/>
          <a:lstStyle/>
          <a:p>
            <a:endParaRPr/>
          </a:p>
        </p:txBody>
      </p:sp>
      <p:sp>
        <p:nvSpPr>
          <p:cNvPr id="15" name="Text 115">
            <a:extLst>
              <a:ext uri="{FF2B5EF4-FFF2-40B4-BE49-F238E27FC236}">
                <a16:creationId xmlns:a16="http://schemas.microsoft.com/office/drawing/2014/main" id="{FC0C1B6D-B079-83DA-4E14-72E91370E395}"/>
              </a:ext>
            </a:extLst>
          </p:cNvPr>
          <p:cNvSpPr/>
          <p:nvPr/>
        </p:nvSpPr>
        <p:spPr>
          <a:xfrm>
            <a:off x="969349" y="4700342"/>
            <a:ext cx="219384" cy="146304"/>
          </a:xfrm>
          <a:prstGeom prst="rect">
            <a:avLst/>
          </a:prstGeom>
          <a:noFill/>
          <a:ln/>
        </p:spPr>
        <p:txBody>
          <a:bodyPr wrap="square" rtlCol="0" anchor="ctr"/>
          <a:lstStyle/>
          <a:p>
            <a:pPr marL="0" indent="0" algn="ctr">
              <a:buNone/>
            </a:pPr>
            <a:r>
              <a:rPr lang="en-US" sz="4000" b="1" dirty="0">
                <a:solidFill>
                  <a:srgbClr val="003366"/>
                </a:solidFill>
              </a:rPr>
              <a:t>4</a:t>
            </a:r>
            <a:endParaRPr lang="en-US" sz="1100" dirty="0"/>
          </a:p>
        </p:txBody>
      </p:sp>
      <p:sp>
        <p:nvSpPr>
          <p:cNvPr id="16" name="Text 116">
            <a:extLst>
              <a:ext uri="{FF2B5EF4-FFF2-40B4-BE49-F238E27FC236}">
                <a16:creationId xmlns:a16="http://schemas.microsoft.com/office/drawing/2014/main" id="{1BC8A256-0EAE-0149-985B-0C0EBB0DA155}"/>
              </a:ext>
            </a:extLst>
          </p:cNvPr>
          <p:cNvSpPr/>
          <p:nvPr/>
        </p:nvSpPr>
        <p:spPr>
          <a:xfrm>
            <a:off x="1451994" y="3489299"/>
            <a:ext cx="7917916" cy="1363233"/>
          </a:xfrm>
          <a:prstGeom prst="rect">
            <a:avLst/>
          </a:prstGeom>
          <a:noFill/>
          <a:ln/>
        </p:spPr>
        <p:txBody>
          <a:bodyPr wrap="square" lIns="508" tIns="508" rIns="508" bIns="508" rtlCol="0" anchor="t"/>
          <a:lstStyle/>
          <a:p>
            <a:pPr marL="0" indent="0" algn="l">
              <a:buNone/>
            </a:pPr>
            <a:r>
              <a:rPr lang="en-US" sz="2400" dirty="0">
                <a:ea typeface="Aptos" pitchFamily="34" charset="-122"/>
                <a:cs typeface="Aptos" pitchFamily="34" charset="-120"/>
              </a:rPr>
              <a:t>Qubit–qutrit systems can harvest </a:t>
            </a:r>
            <a:r>
              <a:rPr lang="en-US" sz="2400" b="1" dirty="0">
                <a:ea typeface="Aptos" pitchFamily="34" charset="-122"/>
                <a:cs typeface="Aptos" pitchFamily="34" charset="-120"/>
              </a:rPr>
              <a:t>both</a:t>
            </a:r>
            <a:r>
              <a:rPr lang="en-US" sz="2400" dirty="0">
                <a:ea typeface="Aptos" pitchFamily="34" charset="-122"/>
                <a:cs typeface="Aptos" pitchFamily="34" charset="-120"/>
              </a:rPr>
              <a:t> negativity and local contextuality, with coexistence and trade-offs.</a:t>
            </a:r>
            <a:endParaRPr lang="en-US" sz="2400" dirty="0"/>
          </a:p>
        </p:txBody>
      </p:sp>
      <p:sp>
        <p:nvSpPr>
          <p:cNvPr id="17" name="Text 119">
            <a:extLst>
              <a:ext uri="{FF2B5EF4-FFF2-40B4-BE49-F238E27FC236}">
                <a16:creationId xmlns:a16="http://schemas.microsoft.com/office/drawing/2014/main" id="{0207DC40-39A6-2F69-C1A0-E3BD42DB2D42}"/>
              </a:ext>
            </a:extLst>
          </p:cNvPr>
          <p:cNvSpPr/>
          <p:nvPr/>
        </p:nvSpPr>
        <p:spPr>
          <a:xfrm>
            <a:off x="1451994" y="4650196"/>
            <a:ext cx="8125760" cy="928872"/>
          </a:xfrm>
          <a:prstGeom prst="rect">
            <a:avLst/>
          </a:prstGeom>
          <a:noFill/>
          <a:ln/>
        </p:spPr>
        <p:txBody>
          <a:bodyPr wrap="square" lIns="508" tIns="508" rIns="508" bIns="508" rtlCol="0" anchor="t"/>
          <a:lstStyle/>
          <a:p>
            <a:pPr marL="0" indent="0" algn="l">
              <a:buNone/>
            </a:pPr>
            <a:r>
              <a:rPr lang="en-US" sz="2400" dirty="0">
                <a:ea typeface="Aptos" pitchFamily="34" charset="-122"/>
                <a:cs typeface="Aptos" pitchFamily="34" charset="-120"/>
              </a:rPr>
              <a:t>New genuine-harvesting criteria separate vacuum-resource extraction from field-mediated signaling.</a:t>
            </a:r>
            <a:endParaRPr lang="en-US" sz="2400" dirty="0"/>
          </a:p>
        </p:txBody>
      </p:sp>
    </p:spTree>
    <p:custDataLst>
      <p:tags r:id="rId1"/>
    </p:custDataLst>
    <p:extLst>
      <p:ext uri="{BB962C8B-B14F-4D97-AF65-F5344CB8AC3E}">
        <p14:creationId xmlns:p14="http://schemas.microsoft.com/office/powerpoint/2010/main" val="271374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1" grpId="0" animBg="1"/>
      <p:bldP spid="12" grpId="0" animBg="1"/>
      <p:bldP spid="13" grpId="0" animBg="1"/>
      <p:bldP spid="14" grpId="0" animBg="1"/>
      <p:bldP spid="15" grpId="0" animBg="1"/>
      <p:bldP spid="16" grpId="0"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2035F-F746-85CE-0975-56D37D9ED71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F6C2A64B-DB5D-D76B-6B57-710AA56D0D22}"/>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5966A80B-74CF-B2E0-5B71-EDE884AE62DC}"/>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Outlook</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C998FD83-80AE-EFB8-02FD-C2C0E71CCACC}"/>
              </a:ext>
            </a:extLst>
          </p:cNvPr>
          <p:cNvSpPr>
            <a:spLocks noGrp="1"/>
          </p:cNvSpPr>
          <p:nvPr>
            <p:ph type="sldNum" sz="quarter" idx="12"/>
          </p:nvPr>
        </p:nvSpPr>
        <p:spPr/>
        <p:txBody>
          <a:bodyPr/>
          <a:lstStyle/>
          <a:p>
            <a:fld id="{D0617D14-1B55-43C0-819D-0D244AC23646}" type="slidenum">
              <a:rPr lang="de-AT" smtClean="0"/>
              <a:t>30</a:t>
            </a:fld>
            <a:endParaRPr lang="de-AT"/>
          </a:p>
        </p:txBody>
      </p:sp>
      <p:sp>
        <p:nvSpPr>
          <p:cNvPr id="5" name="TextBox 4">
            <a:extLst>
              <a:ext uri="{FF2B5EF4-FFF2-40B4-BE49-F238E27FC236}">
                <a16:creationId xmlns:a16="http://schemas.microsoft.com/office/drawing/2014/main" id="{F3EC1665-4166-C355-926F-C2A7FCB2F58A}"/>
              </a:ext>
            </a:extLst>
          </p:cNvPr>
          <p:cNvSpPr txBox="1"/>
          <p:nvPr/>
        </p:nvSpPr>
        <p:spPr>
          <a:xfrm>
            <a:off x="634296" y="1752600"/>
            <a:ext cx="7794595" cy="2954655"/>
          </a:xfrm>
          <a:prstGeom prst="rect">
            <a:avLst/>
          </a:prstGeom>
          <a:noFill/>
        </p:spPr>
        <p:txBody>
          <a:bodyPr wrap="square" rtlCol="0">
            <a:spAutoFit/>
          </a:bodyPr>
          <a:lstStyle/>
          <a:p>
            <a:pPr marL="285750" indent="-285750">
              <a:buFont typeface="Arial" panose="020B0604020202020204" pitchFamily="34" charset="0"/>
              <a:buChar char="•"/>
            </a:pPr>
            <a:r>
              <a:rPr lang="en-CA" sz="2400" dirty="0"/>
              <a:t>More rigorous proof for genuine contextuality harvesting</a:t>
            </a:r>
          </a:p>
          <a:p>
            <a:pPr marL="285750" indent="-285750">
              <a:buFont typeface="Arial" panose="020B0604020202020204" pitchFamily="34" charset="0"/>
              <a:buChar char="•"/>
            </a:pPr>
            <a:endParaRPr lang="en-CA" sz="2400" dirty="0"/>
          </a:p>
          <a:p>
            <a:pPr marL="285750" indent="-285750">
              <a:buFont typeface="Arial" panose="020B0604020202020204" pitchFamily="34" charset="0"/>
              <a:buChar char="•"/>
            </a:pPr>
            <a:r>
              <a:rPr lang="en-CA" sz="2400" dirty="0"/>
              <a:t>Further exploration of the gapless setting</a:t>
            </a:r>
            <a:br>
              <a:rPr lang="en-CA" sz="2400" dirty="0"/>
            </a:br>
            <a:endParaRPr lang="en-CA" sz="2400" dirty="0"/>
          </a:p>
          <a:p>
            <a:pPr marL="285750" indent="-285750">
              <a:buFont typeface="Arial" panose="020B0604020202020204" pitchFamily="34" charset="0"/>
              <a:buChar char="•"/>
            </a:pPr>
            <a:r>
              <a:rPr lang="en-CA" sz="2400" dirty="0"/>
              <a:t>Non-locality-Contextuality </a:t>
            </a:r>
            <a:r>
              <a:rPr lang="en-CA" sz="2400" dirty="0" err="1"/>
              <a:t>tradeoff</a:t>
            </a:r>
            <a:r>
              <a:rPr lang="en-CA" sz="2400" dirty="0"/>
              <a:t> </a:t>
            </a:r>
            <a:br>
              <a:rPr lang="en-CA" sz="2400" dirty="0"/>
            </a:br>
            <a:endParaRPr lang="en-CA" sz="2400" dirty="0"/>
          </a:p>
          <a:p>
            <a:pPr marL="285750" indent="-285750">
              <a:buFont typeface="Arial" panose="020B0604020202020204" pitchFamily="34" charset="0"/>
              <a:buChar char="•"/>
            </a:pPr>
            <a:r>
              <a:rPr lang="en-CA" sz="2400" dirty="0"/>
              <a:t>How different spacetimes affect harvesting</a:t>
            </a:r>
          </a:p>
          <a:p>
            <a:pPr marL="285750" indent="-285750">
              <a:buFont typeface="Arial" panose="020B0604020202020204" pitchFamily="34" charset="0"/>
              <a:buChar char="•"/>
            </a:pPr>
            <a:endParaRPr lang="en-CA" dirty="0"/>
          </a:p>
        </p:txBody>
      </p:sp>
    </p:spTree>
    <p:custDataLst>
      <p:tags r:id="rId1"/>
    </p:custDataLst>
    <p:extLst>
      <p:ext uri="{BB962C8B-B14F-4D97-AF65-F5344CB8AC3E}">
        <p14:creationId xmlns:p14="http://schemas.microsoft.com/office/powerpoint/2010/main" val="224422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977463" y="4852783"/>
            <a:ext cx="7033192" cy="762000"/>
          </a:xfrm>
        </p:spPr>
        <p:txBody>
          <a:bodyPr>
            <a:noAutofit/>
          </a:bodyPr>
          <a:lstStyle/>
          <a:p>
            <a:pPr algn="ctr"/>
            <a:r>
              <a:rPr lang="en-CA" sz="4400" dirty="0"/>
              <a:t>Thank you for your attention!</a:t>
            </a:r>
          </a:p>
        </p:txBody>
      </p:sp>
      <p:sp>
        <p:nvSpPr>
          <p:cNvPr id="3" name="Titel 1">
            <a:extLst>
              <a:ext uri="{FF2B5EF4-FFF2-40B4-BE49-F238E27FC236}">
                <a16:creationId xmlns:a16="http://schemas.microsoft.com/office/drawing/2014/main" id="{61BE9CC0-95AD-1603-8AD8-2F406992E27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en-CA" sz="2800" kern="0" dirty="0">
              <a:solidFill>
                <a:schemeClr val="bg1"/>
              </a:solidFill>
              <a:latin typeface="Calibri Light" panose="020F0302020204030204" pitchFamily="34" charset="0"/>
              <a:cs typeface="Calibri Light" panose="020F0302020204030204" pitchFamily="34" charset="0"/>
            </a:endParaRPr>
          </a:p>
        </p:txBody>
      </p:sp>
      <p:sp>
        <p:nvSpPr>
          <p:cNvPr id="2" name="Footer Placeholder 1">
            <a:extLst>
              <a:ext uri="{FF2B5EF4-FFF2-40B4-BE49-F238E27FC236}">
                <a16:creationId xmlns:a16="http://schemas.microsoft.com/office/drawing/2014/main" id="{4627B9BB-55EA-B62A-EA2B-9FAC2F1F28C4}"/>
              </a:ext>
            </a:extLst>
          </p:cNvPr>
          <p:cNvSpPr>
            <a:spLocks noGrp="1"/>
          </p:cNvSpPr>
          <p:nvPr>
            <p:ph type="ftr" sz="quarter" idx="11"/>
          </p:nvPr>
        </p:nvSpPr>
        <p:spPr>
          <a:xfrm>
            <a:off x="4268241" y="6310311"/>
            <a:ext cx="3744417" cy="365125"/>
          </a:xfrm>
        </p:spPr>
        <p:txBody>
          <a:bodyPr/>
          <a:lstStyle/>
          <a:p>
            <a:r>
              <a:rPr lang="de-AT"/>
              <a:t>Quantum Information Group Seminar, Leibniz University, Hannover I Phil LeMaitre I 19.05.2026</a:t>
            </a:r>
            <a:endParaRPr lang="de-AT" dirty="0"/>
          </a:p>
        </p:txBody>
      </p:sp>
      <p:sp>
        <p:nvSpPr>
          <p:cNvPr id="4" name="Slide Number Placeholder 3">
            <a:extLst>
              <a:ext uri="{FF2B5EF4-FFF2-40B4-BE49-F238E27FC236}">
                <a16:creationId xmlns:a16="http://schemas.microsoft.com/office/drawing/2014/main" id="{79BE3C82-4E37-A647-9B80-8E6AB10F4707}"/>
              </a:ext>
            </a:extLst>
          </p:cNvPr>
          <p:cNvSpPr>
            <a:spLocks noGrp="1"/>
          </p:cNvSpPr>
          <p:nvPr>
            <p:ph type="sldNum" sz="quarter" idx="12"/>
          </p:nvPr>
        </p:nvSpPr>
        <p:spPr/>
        <p:txBody>
          <a:bodyPr/>
          <a:lstStyle/>
          <a:p>
            <a:fld id="{D0617D14-1B55-43C0-819D-0D244AC23646}" type="slidenum">
              <a:rPr lang="de-AT" smtClean="0"/>
              <a:t>31</a:t>
            </a:fld>
            <a:endParaRPr lang="de-AT"/>
          </a:p>
        </p:txBody>
      </p:sp>
      <p:pic>
        <p:nvPicPr>
          <p:cNvPr id="9" name="Picture 8">
            <a:extLst>
              <a:ext uri="{FF2B5EF4-FFF2-40B4-BE49-F238E27FC236}">
                <a16:creationId xmlns:a16="http://schemas.microsoft.com/office/drawing/2014/main" id="{E671FFB9-9A16-F046-B46F-E92BCC064D47}"/>
              </a:ext>
            </a:extLst>
          </p:cNvPr>
          <p:cNvPicPr>
            <a:picLocks noChangeAspect="1"/>
          </p:cNvPicPr>
          <p:nvPr/>
        </p:nvPicPr>
        <p:blipFill rotWithShape="1">
          <a:blip r:embed="rId3"/>
          <a:srcRect l="5492" t="34602" r="8757" b="5749"/>
          <a:stretch/>
        </p:blipFill>
        <p:spPr>
          <a:xfrm>
            <a:off x="788168" y="1243217"/>
            <a:ext cx="7222487" cy="3384915"/>
          </a:xfrm>
          <a:prstGeom prst="rect">
            <a:avLst/>
          </a:prstGeom>
        </p:spPr>
      </p:pic>
      <p:sp>
        <p:nvSpPr>
          <p:cNvPr id="10" name="TextBox 9">
            <a:extLst>
              <a:ext uri="{FF2B5EF4-FFF2-40B4-BE49-F238E27FC236}">
                <a16:creationId xmlns:a16="http://schemas.microsoft.com/office/drawing/2014/main" id="{DD0541BF-9663-2374-A5D7-A8080BBA9224}"/>
              </a:ext>
            </a:extLst>
          </p:cNvPr>
          <p:cNvSpPr txBox="1"/>
          <p:nvPr/>
        </p:nvSpPr>
        <p:spPr>
          <a:xfrm>
            <a:off x="9090905" y="3690967"/>
            <a:ext cx="2180866" cy="646331"/>
          </a:xfrm>
          <a:prstGeom prst="rect">
            <a:avLst/>
          </a:prstGeom>
          <a:noFill/>
        </p:spPr>
        <p:txBody>
          <a:bodyPr wrap="square" rtlCol="0">
            <a:spAutoFit/>
          </a:bodyPr>
          <a:lstStyle/>
          <a:p>
            <a:r>
              <a:rPr lang="en-CA" i="1" dirty="0"/>
              <a:t>Phys. Rev. D. </a:t>
            </a:r>
            <a:r>
              <a:rPr lang="en-US" b="1" i="1" dirty="0"/>
              <a:t>113</a:t>
            </a:r>
            <a:r>
              <a:rPr lang="en-US" i="1" dirty="0"/>
              <a:t>, 045001 </a:t>
            </a:r>
            <a:r>
              <a:rPr lang="en-CA" dirty="0"/>
              <a:t>(2026)</a:t>
            </a:r>
          </a:p>
        </p:txBody>
      </p:sp>
      <p:pic>
        <p:nvPicPr>
          <p:cNvPr id="11" name="Picture 10">
            <a:extLst>
              <a:ext uri="{FF2B5EF4-FFF2-40B4-BE49-F238E27FC236}">
                <a16:creationId xmlns:a16="http://schemas.microsoft.com/office/drawing/2014/main" id="{4E21A738-EA49-FDCD-B3A0-BB9A8EA478F1}"/>
              </a:ext>
            </a:extLst>
          </p:cNvPr>
          <p:cNvPicPr>
            <a:picLocks noChangeAspect="1"/>
          </p:cNvPicPr>
          <p:nvPr/>
        </p:nvPicPr>
        <p:blipFill>
          <a:blip r:embed="rId4"/>
          <a:stretch>
            <a:fillRect/>
          </a:stretch>
        </p:blipFill>
        <p:spPr>
          <a:xfrm>
            <a:off x="8920359" y="1684049"/>
            <a:ext cx="2092462" cy="2092462"/>
          </a:xfrm>
          <a:prstGeom prst="rect">
            <a:avLst/>
          </a:prstGeom>
        </p:spPr>
      </p:pic>
    </p:spTree>
    <p:extLst>
      <p:ext uri="{BB962C8B-B14F-4D97-AF65-F5344CB8AC3E}">
        <p14:creationId xmlns:p14="http://schemas.microsoft.com/office/powerpoint/2010/main" val="18060431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C643CB9-B7A3-F1AD-2665-C6A1634C55D7}"/>
              </a:ext>
            </a:extLst>
          </p:cNvPr>
          <p:cNvSpPr/>
          <p:nvPr/>
        </p:nvSpPr>
        <p:spPr>
          <a:xfrm>
            <a:off x="155476" y="2119605"/>
            <a:ext cx="1336305" cy="717724"/>
          </a:xfrm>
          <a:prstGeom prst="rect">
            <a:avLst/>
          </a:prstGeom>
          <a:solidFill>
            <a:srgbClr val="FCFAC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3" name="Rounded Rectangle 182">
            <a:extLst>
              <a:ext uri="{FF2B5EF4-FFF2-40B4-BE49-F238E27FC236}">
                <a16:creationId xmlns:a16="http://schemas.microsoft.com/office/drawing/2014/main" id="{4A67DAF0-C31C-5672-96F0-AF671475A07B}"/>
              </a:ext>
            </a:extLst>
          </p:cNvPr>
          <p:cNvSpPr/>
          <p:nvPr/>
        </p:nvSpPr>
        <p:spPr>
          <a:xfrm>
            <a:off x="8581264" y="2432218"/>
            <a:ext cx="3413485" cy="76908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Variational Quantum Computing</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32</a:t>
            </a:fld>
            <a:endParaRPr lang="de-AT"/>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38FD325-EB23-948F-CA3A-1694A0F52F6D}"/>
                  </a:ext>
                </a:extLst>
              </p:cNvPr>
              <p:cNvSpPr txBox="1"/>
              <p:nvPr/>
            </p:nvSpPr>
            <p:spPr>
              <a:xfrm>
                <a:off x="8138160" y="978894"/>
                <a:ext cx="3539623" cy="6299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acc>
                            <m:accPr>
                              <m:chr m:val="̂"/>
                              <m:ctrlPr>
                                <a:rPr lang="en-CA" sz="2000" i="1" dirty="0" smtClean="0">
                                  <a:latin typeface="Cambria Math" panose="02040503050406030204" pitchFamily="18" charset="0"/>
                                </a:rPr>
                              </m:ctrlPr>
                            </m:accPr>
                            <m:e>
                              <m:r>
                                <a:rPr lang="en-US" sz="2000" b="0" i="1" dirty="0" smtClean="0">
                                  <a:latin typeface="Cambria Math" panose="02040503050406030204" pitchFamily="18" charset="0"/>
                                </a:rPr>
                                <m:t>𝑈</m:t>
                              </m:r>
                            </m:e>
                          </m:acc>
                        </m:e>
                        <m:sub>
                          <m:r>
                            <a:rPr lang="en-US" sz="2000" b="0" i="1" dirty="0" smtClean="0">
                              <a:latin typeface="Cambria Math" panose="02040503050406030204" pitchFamily="18" charset="0"/>
                            </a:rPr>
                            <m:t>𝑝𝑎𝑟𝑎</m:t>
                          </m:r>
                        </m:sub>
                      </m:sSub>
                      <m:r>
                        <m:rPr>
                          <m:nor/>
                        </m:rPr>
                        <a:rPr lang="en-US" sz="2000" b="0" i="0"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US" sz="2000" b="1" i="1" dirty="0" smtClean="0">
                              <a:latin typeface="Cambria Math" panose="02040503050406030204" pitchFamily="18" charset="0"/>
                            </a:rPr>
                            <m:t>𝜽</m:t>
                          </m:r>
                        </m:e>
                        <m:sup>
                          <m:r>
                            <a:rPr lang="en-US" sz="2000" b="0" i="1" dirty="0" smtClean="0">
                              <a:latin typeface="Cambria Math" panose="02040503050406030204" pitchFamily="18" charset="0"/>
                            </a:rPr>
                            <m:t>(ℓ)</m:t>
                          </m:r>
                        </m:sup>
                      </m:sSup>
                      <m:r>
                        <m:rPr>
                          <m:nor/>
                        </m:rPr>
                        <a:rPr lang="en-CA" sz="2000" dirty="0"/>
                        <m:t>) = </m:t>
                      </m:r>
                      <m:nary>
                        <m:naryPr>
                          <m:chr m:val="∏"/>
                          <m:limLoc m:val="subSup"/>
                          <m:ctrlPr>
                            <a:rPr lang="en-CA" sz="2000" i="1" dirty="0" smtClean="0">
                              <a:latin typeface="Cambria Math" panose="02040503050406030204" pitchFamily="18" charset="0"/>
                            </a:rPr>
                          </m:ctrlPr>
                        </m:naryPr>
                        <m:sub>
                          <m:r>
                            <m:rPr>
                              <m:brk m:alnAt="25"/>
                            </m:rP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𝑁</m:t>
                          </m:r>
                        </m:sup>
                        <m:e>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𝑒</m:t>
                              </m:r>
                            </m:e>
                            <m:sup>
                              <m:r>
                                <a:rPr lang="en-US" sz="2000" b="0" i="1" dirty="0" smtClean="0">
                                  <a:latin typeface="Cambria Math" panose="02040503050406030204" pitchFamily="18" charset="0"/>
                                </a:rPr>
                                <m:t>−</m:t>
                              </m:r>
                              <m:r>
                                <a:rPr lang="en-US" sz="2000" b="0" i="1" dirty="0" smtClean="0">
                                  <a:latin typeface="Cambria Math" panose="02040503050406030204" pitchFamily="18" charset="0"/>
                                </a:rPr>
                                <m:t>𝑖</m:t>
                              </m:r>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𝜃</m:t>
                                  </m:r>
                                </m:e>
                                <m:sub>
                                  <m:r>
                                    <a:rPr lang="en-US" sz="2000" b="0" i="1" dirty="0" smtClean="0">
                                      <a:latin typeface="Cambria Math" panose="02040503050406030204" pitchFamily="18" charset="0"/>
                                    </a:rPr>
                                    <m:t>𝑖</m:t>
                                  </m:r>
                                </m:sub>
                                <m:sup>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ℓ</m:t>
                                      </m:r>
                                    </m:e>
                                  </m:d>
                                </m:sup>
                              </m:sSubSup>
                              <m:sSub>
                                <m:sSubPr>
                                  <m:ctrlPr>
                                    <a:rPr lang="en-US" sz="2000" b="0" i="1" dirty="0" smtClean="0">
                                      <a:latin typeface="Cambria Math" panose="02040503050406030204" pitchFamily="18" charset="0"/>
                                    </a:rPr>
                                  </m:ctrlPr>
                                </m:sSubPr>
                                <m:e>
                                  <m:d>
                                    <m:dPr>
                                      <m:ctrlPr>
                                        <a:rPr lang="en-US" sz="2000" b="0" i="1" dirty="0" smtClean="0">
                                          <a:latin typeface="Cambria Math" panose="02040503050406030204" pitchFamily="18" charset="0"/>
                                        </a:rPr>
                                      </m:ctrlPr>
                                    </m:dPr>
                                    <m:e>
                                      <m:r>
                                        <a:rPr lang="en-US" sz="2000" b="1" i="1" dirty="0" smtClean="0">
                                          <a:latin typeface="Cambria Math" panose="02040503050406030204" pitchFamily="18" charset="0"/>
                                        </a:rPr>
                                        <m:t>𝒏</m:t>
                                      </m:r>
                                      <m:r>
                                        <a:rPr lang="en-US" sz="2000" b="0" i="1" dirty="0" smtClean="0">
                                          <a:latin typeface="Cambria Math" panose="02040503050406030204" pitchFamily="18" charset="0"/>
                                        </a:rPr>
                                        <m:t>⋅</m:t>
                                      </m:r>
                                      <m:acc>
                                        <m:accPr>
                                          <m:chr m:val="̂"/>
                                          <m:ctrlPr>
                                            <a:rPr lang="en-US" sz="2000" b="1" i="1" dirty="0" smtClean="0">
                                              <a:latin typeface="Cambria Math" panose="02040503050406030204" pitchFamily="18" charset="0"/>
                                            </a:rPr>
                                          </m:ctrlPr>
                                        </m:accPr>
                                        <m:e>
                                          <m:r>
                                            <a:rPr lang="en-US" sz="2000" b="1" i="1" dirty="0" smtClean="0">
                                              <a:latin typeface="Cambria Math" panose="02040503050406030204" pitchFamily="18" charset="0"/>
                                            </a:rPr>
                                            <m:t>𝝈</m:t>
                                          </m:r>
                                        </m:e>
                                      </m:acc>
                                    </m:e>
                                  </m:d>
                                </m:e>
                                <m:sub>
                                  <m:r>
                                    <a:rPr lang="en-US" sz="2000" b="0" i="1" dirty="0" smtClean="0">
                                      <a:latin typeface="Cambria Math" panose="02040503050406030204" pitchFamily="18" charset="0"/>
                                    </a:rPr>
                                    <m:t>𝑖</m:t>
                                  </m:r>
                                </m:sub>
                              </m:sSub>
                            </m:sup>
                          </m:sSup>
                        </m:e>
                      </m:nary>
                    </m:oMath>
                  </m:oMathPara>
                </a14:m>
                <a:endParaRPr lang="en-CA" dirty="0"/>
              </a:p>
            </p:txBody>
          </p:sp>
        </mc:Choice>
        <mc:Fallback xmlns="">
          <p:sp>
            <p:nvSpPr>
              <p:cNvPr id="10" name="TextBox 9">
                <a:extLst>
                  <a:ext uri="{FF2B5EF4-FFF2-40B4-BE49-F238E27FC236}">
                    <a16:creationId xmlns:a16="http://schemas.microsoft.com/office/drawing/2014/main" id="{638FD325-EB23-948F-CA3A-1694A0F52F6D}"/>
                  </a:ext>
                </a:extLst>
              </p:cNvPr>
              <p:cNvSpPr txBox="1">
                <a:spLocks noRot="1" noChangeAspect="1" noMove="1" noResize="1" noEditPoints="1" noAdjustHandles="1" noChangeArrowheads="1" noChangeShapeType="1" noTextEdit="1"/>
              </p:cNvSpPr>
              <p:nvPr/>
            </p:nvSpPr>
            <p:spPr>
              <a:xfrm>
                <a:off x="8138160" y="978894"/>
                <a:ext cx="3539623" cy="629981"/>
              </a:xfrm>
              <a:prstGeom prst="rect">
                <a:avLst/>
              </a:prstGeom>
              <a:blipFill>
                <a:blip r:embed="rId5"/>
                <a:stretch>
                  <a:fillRect l="-1071" t="-178000" b="-258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E614B20-E443-895E-B1E0-5DFD4AD4272C}"/>
                  </a:ext>
                </a:extLst>
              </p:cNvPr>
              <p:cNvSpPr txBox="1"/>
              <p:nvPr/>
            </p:nvSpPr>
            <p:spPr>
              <a:xfrm>
                <a:off x="8138160" y="1750273"/>
                <a:ext cx="4114800" cy="400110"/>
              </a:xfrm>
              <a:prstGeom prst="rect">
                <a:avLst/>
              </a:prstGeom>
              <a:noFill/>
            </p:spPr>
            <p:txBody>
              <a:bodyPr wrap="square" rtlCol="0">
                <a:spAutoFit/>
              </a:bodyPr>
              <a:lstStyle/>
              <a:p>
                <a14:m>
                  <m:oMath xmlns:m="http://schemas.openxmlformats.org/officeDocument/2006/math">
                    <m:r>
                      <a:rPr lang="en-US" sz="2000" b="1" i="1" smtClean="0">
                        <a:latin typeface="Cambria Math" panose="02040503050406030204" pitchFamily="18" charset="0"/>
                      </a:rPr>
                      <m:t>𝒏</m:t>
                    </m:r>
                    <m:r>
                      <a:rPr lang="en-US" sz="2000" b="0" i="1" smtClean="0">
                        <a:latin typeface="Cambria Math" panose="02040503050406030204" pitchFamily="18" charset="0"/>
                      </a:rPr>
                      <m:t>≡</m:t>
                    </m:r>
                  </m:oMath>
                </a14:m>
                <a:r>
                  <a:rPr lang="en-CA" sz="2000" dirty="0"/>
                  <a:t> unit vector, </a:t>
                </a:r>
                <a14:m>
                  <m:oMath xmlns:m="http://schemas.openxmlformats.org/officeDocument/2006/math">
                    <m:acc>
                      <m:accPr>
                        <m:chr m:val="̂"/>
                        <m:ctrlPr>
                          <a:rPr lang="en-CA" sz="2000" b="1" i="1" smtClean="0">
                            <a:latin typeface="Cambria Math" panose="02040503050406030204" pitchFamily="18" charset="0"/>
                          </a:rPr>
                        </m:ctrlPr>
                      </m:accPr>
                      <m:e>
                        <m:r>
                          <a:rPr lang="en-US" sz="2000" b="1" i="1" smtClean="0">
                            <a:latin typeface="Cambria Math" panose="02040503050406030204" pitchFamily="18" charset="0"/>
                          </a:rPr>
                          <m:t>𝝈</m:t>
                        </m:r>
                      </m:e>
                    </m:acc>
                    <m:r>
                      <a:rPr lang="en-US" sz="2000" b="0" i="1" smtClean="0">
                        <a:latin typeface="Cambria Math" panose="02040503050406030204" pitchFamily="18" charset="0"/>
                      </a:rPr>
                      <m:t>≡</m:t>
                    </m:r>
                  </m:oMath>
                </a14:m>
                <a:r>
                  <a:rPr lang="en-CA" sz="2000" dirty="0"/>
                  <a:t> Pauli vector</a:t>
                </a:r>
              </a:p>
            </p:txBody>
          </p:sp>
        </mc:Choice>
        <mc:Fallback xmlns="">
          <p:sp>
            <p:nvSpPr>
              <p:cNvPr id="11" name="TextBox 10">
                <a:extLst>
                  <a:ext uri="{FF2B5EF4-FFF2-40B4-BE49-F238E27FC236}">
                    <a16:creationId xmlns:a16="http://schemas.microsoft.com/office/drawing/2014/main" id="{6E614B20-E443-895E-B1E0-5DFD4AD4272C}"/>
                  </a:ext>
                </a:extLst>
              </p:cNvPr>
              <p:cNvSpPr txBox="1">
                <a:spLocks noRot="1" noChangeAspect="1" noMove="1" noResize="1" noEditPoints="1" noAdjustHandles="1" noChangeArrowheads="1" noChangeShapeType="1" noTextEdit="1"/>
              </p:cNvSpPr>
              <p:nvPr/>
            </p:nvSpPr>
            <p:spPr>
              <a:xfrm>
                <a:off x="8138160" y="1750273"/>
                <a:ext cx="4114800" cy="400110"/>
              </a:xfrm>
              <a:prstGeom prst="rect">
                <a:avLst/>
              </a:prstGeom>
              <a:blipFill>
                <a:blip r:embed="rId6"/>
                <a:stretch>
                  <a:fillRect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EBF01C8-41B4-5D96-2A08-2FD54851BB0F}"/>
                  </a:ext>
                </a:extLst>
              </p:cNvPr>
              <p:cNvSpPr txBox="1"/>
              <p:nvPr/>
            </p:nvSpPr>
            <p:spPr>
              <a:xfrm>
                <a:off x="2848755" y="979150"/>
                <a:ext cx="3404778" cy="629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dirty="0" smtClean="0">
                              <a:latin typeface="Cambria Math" panose="02040503050406030204" pitchFamily="18" charset="0"/>
                            </a:rPr>
                          </m:ctrlPr>
                        </m:accPr>
                        <m:e>
                          <m:r>
                            <a:rPr lang="en-US" sz="2000" b="0" i="1" dirty="0" smtClean="0">
                              <a:latin typeface="Cambria Math" panose="02040503050406030204" pitchFamily="18" charset="0"/>
                            </a:rPr>
                            <m:t>𝑈</m:t>
                          </m:r>
                        </m:e>
                      </m:acc>
                      <m:r>
                        <m:rPr>
                          <m:nor/>
                        </m:rPr>
                        <a:rPr lang="en-US" sz="2000" b="0" i="0" dirty="0" smtClean="0">
                          <a:latin typeface="Cambria Math" panose="02040503050406030204" pitchFamily="18" charset="0"/>
                        </a:rPr>
                        <m:t>(</m:t>
                      </m:r>
                      <m:r>
                        <a:rPr lang="en-US" sz="2000" b="1" i="1" dirty="0" smtClean="0">
                          <a:latin typeface="Cambria Math" panose="02040503050406030204" pitchFamily="18" charset="0"/>
                        </a:rPr>
                        <m:t>𝜽</m:t>
                      </m:r>
                      <m:r>
                        <m:rPr>
                          <m:nor/>
                        </m:rPr>
                        <a:rPr lang="en-CA" sz="2000" dirty="0"/>
                        <m:t>) = </m:t>
                      </m:r>
                      <m:nary>
                        <m:naryPr>
                          <m:chr m:val="∏"/>
                          <m:limLoc m:val="subSup"/>
                          <m:ctrlPr>
                            <a:rPr lang="en-CA" sz="2000" i="1" dirty="0" smtClean="0">
                              <a:latin typeface="Cambria Math" panose="02040503050406030204" pitchFamily="18" charset="0"/>
                            </a:rPr>
                          </m:ctrlPr>
                        </m:naryPr>
                        <m:sub>
                          <m:r>
                            <m:rPr>
                              <m:brk m:alnAt="25"/>
                            </m:rPr>
                            <a:rPr lang="en-US" sz="2000" b="0" i="1" dirty="0" smtClean="0">
                              <a:latin typeface="Cambria Math" panose="02040503050406030204" pitchFamily="18" charset="0"/>
                            </a:rPr>
                            <m:t>ℓ</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𝐷</m:t>
                          </m:r>
                        </m:sup>
                        <m:e>
                          <m:sSub>
                            <m:sSubPr>
                              <m:ctrlPr>
                                <a:rPr lang="en-US" sz="2000" b="0" i="1" dirty="0" smtClean="0">
                                  <a:latin typeface="Cambria Math" panose="02040503050406030204" pitchFamily="18" charset="0"/>
                                </a:rPr>
                              </m:ctrlPr>
                            </m:sSubPr>
                            <m:e>
                              <m:acc>
                                <m:accPr>
                                  <m:chr m:val="̂"/>
                                  <m:ctrlPr>
                                    <a:rPr lang="en-CA" sz="2000" i="1" dirty="0" smtClean="0">
                                      <a:latin typeface="Cambria Math" panose="02040503050406030204" pitchFamily="18" charset="0"/>
                                    </a:rPr>
                                  </m:ctrlPr>
                                </m:accPr>
                                <m:e>
                                  <m:r>
                                    <a:rPr lang="en-US" sz="2000" b="0" i="1" dirty="0" smtClean="0">
                                      <a:latin typeface="Cambria Math" panose="02040503050406030204" pitchFamily="18" charset="0"/>
                                    </a:rPr>
                                    <m:t>𝑈</m:t>
                                  </m:r>
                                </m:e>
                              </m:acc>
                            </m:e>
                            <m:sub>
                              <m:r>
                                <a:rPr lang="en-US" sz="2000" b="0" i="1" dirty="0" smtClean="0">
                                  <a:latin typeface="Cambria Math" panose="02040503050406030204" pitchFamily="18" charset="0"/>
                                </a:rPr>
                                <m:t>𝑒𝑛𝑡</m:t>
                              </m:r>
                            </m:sub>
                          </m:sSub>
                          <m:sSub>
                            <m:sSubPr>
                              <m:ctrlPr>
                                <a:rPr lang="en-US" sz="2000" b="0" i="1" dirty="0" smtClean="0">
                                  <a:latin typeface="Cambria Math" panose="02040503050406030204" pitchFamily="18" charset="0"/>
                                </a:rPr>
                              </m:ctrlPr>
                            </m:sSubPr>
                            <m:e>
                              <m:acc>
                                <m:accPr>
                                  <m:chr m:val="̂"/>
                                  <m:ctrlPr>
                                    <a:rPr lang="en-US" sz="2000" b="0" i="1" dirty="0" smtClean="0">
                                      <a:latin typeface="Cambria Math" panose="02040503050406030204" pitchFamily="18" charset="0"/>
                                    </a:rPr>
                                  </m:ctrlPr>
                                </m:accPr>
                                <m:e>
                                  <m:r>
                                    <a:rPr lang="en-US" sz="2000" b="0" i="1" dirty="0" smtClean="0">
                                      <a:latin typeface="Cambria Math" panose="02040503050406030204" pitchFamily="18" charset="0"/>
                                    </a:rPr>
                                    <m:t>𝑈</m:t>
                                  </m:r>
                                </m:e>
                              </m:acc>
                            </m:e>
                            <m:sub>
                              <m:r>
                                <a:rPr lang="en-US" sz="2000" b="0" i="1" dirty="0" smtClean="0">
                                  <a:latin typeface="Cambria Math" panose="02040503050406030204" pitchFamily="18" charset="0"/>
                                </a:rPr>
                                <m:t>𝑝𝑎𝑟𝑎</m:t>
                              </m:r>
                            </m:sub>
                          </m:sSub>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r>
                                    <a:rPr lang="en-US" sz="2000" b="1" i="1" dirty="0" smtClean="0">
                                      <a:latin typeface="Cambria Math" panose="02040503050406030204" pitchFamily="18" charset="0"/>
                                    </a:rPr>
                                    <m:t>𝜽</m:t>
                                  </m:r>
                                </m:e>
                                <m:sup>
                                  <m:r>
                                    <a:rPr lang="en-US" sz="2000" b="0" i="1" dirty="0" smtClean="0">
                                      <a:latin typeface="Cambria Math" panose="02040503050406030204" pitchFamily="18" charset="0"/>
                                    </a:rPr>
                                    <m:t>(ℓ)</m:t>
                                  </m:r>
                                </m:sup>
                              </m:sSup>
                            </m:e>
                          </m:d>
                        </m:e>
                      </m:nary>
                    </m:oMath>
                  </m:oMathPara>
                </a14:m>
                <a:endParaRPr lang="en-CA" dirty="0"/>
              </a:p>
            </p:txBody>
          </p:sp>
        </mc:Choice>
        <mc:Fallback xmlns="">
          <p:sp>
            <p:nvSpPr>
              <p:cNvPr id="12" name="TextBox 11">
                <a:extLst>
                  <a:ext uri="{FF2B5EF4-FFF2-40B4-BE49-F238E27FC236}">
                    <a16:creationId xmlns:a16="http://schemas.microsoft.com/office/drawing/2014/main" id="{AEBF01C8-41B4-5D96-2A08-2FD54851BB0F}"/>
                  </a:ext>
                </a:extLst>
              </p:cNvPr>
              <p:cNvSpPr txBox="1">
                <a:spLocks noRot="1" noChangeAspect="1" noMove="1" noResize="1" noEditPoints="1" noAdjustHandles="1" noChangeArrowheads="1" noChangeShapeType="1" noTextEdit="1"/>
              </p:cNvSpPr>
              <p:nvPr/>
            </p:nvSpPr>
            <p:spPr>
              <a:xfrm>
                <a:off x="2848755" y="979150"/>
                <a:ext cx="3404778" cy="629788"/>
              </a:xfrm>
              <a:prstGeom prst="rect">
                <a:avLst/>
              </a:prstGeom>
              <a:blipFill>
                <a:blip r:embed="rId7"/>
                <a:stretch>
                  <a:fillRect l="-3346" t="-178000" b="-258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1B94544-22B4-12E1-5B9C-A63FEC2B0D8F}"/>
                  </a:ext>
                </a:extLst>
              </p:cNvPr>
              <p:cNvSpPr txBox="1"/>
              <p:nvPr/>
            </p:nvSpPr>
            <p:spPr>
              <a:xfrm>
                <a:off x="8727445" y="2618534"/>
                <a:ext cx="3208186" cy="3474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1" i="1" smtClean="0">
                              <a:latin typeface="Cambria Math" panose="02040503050406030204" pitchFamily="18" charset="0"/>
                            </a:rPr>
                            <m:t>𝜽</m:t>
                          </m:r>
                        </m:sub>
                      </m:sSub>
                      <m:d>
                        <m:dPr>
                          <m:ctrlPr>
                            <a:rPr lang="en-US" sz="2000" b="1" i="1" smtClean="0">
                              <a:latin typeface="Cambria Math" panose="02040503050406030204" pitchFamily="18" charset="0"/>
                            </a:rPr>
                          </m:ctrlPr>
                        </m:dPr>
                        <m:e>
                          <m:acc>
                            <m:accPr>
                              <m:chr m:val="̂"/>
                              <m:ctrlPr>
                                <a:rPr lang="en-US" sz="2000" b="1" i="1" smtClean="0">
                                  <a:latin typeface="Cambria Math" panose="02040503050406030204" pitchFamily="18" charset="0"/>
                                </a:rPr>
                              </m:ctrlPr>
                            </m:accPr>
                            <m:e>
                              <m:r>
                                <a:rPr lang="en-US" sz="2000" b="0" i="1" smtClean="0">
                                  <a:latin typeface="Cambria Math" panose="02040503050406030204" pitchFamily="18" charset="0"/>
                                </a:rPr>
                                <m:t>𝑂</m:t>
                              </m:r>
                            </m:e>
                          </m:acc>
                        </m:e>
                      </m:d>
                      <m:r>
                        <a:rPr lang="en-US" sz="2000" b="1" i="1" smtClean="0">
                          <a:latin typeface="Cambria Math" panose="02040503050406030204" pitchFamily="18" charset="0"/>
                        </a:rPr>
                        <m:t>=</m:t>
                      </m:r>
                      <m:r>
                        <a:rPr lang="en-US" sz="2000" b="0" i="1" smtClean="0">
                          <a:latin typeface="Cambria Math" panose="02040503050406030204" pitchFamily="18" charset="0"/>
                        </a:rPr>
                        <m:t>𝑇𝑟</m:t>
                      </m:r>
                      <m:d>
                        <m:dPr>
                          <m:ctrlPr>
                            <a:rPr lang="en-US" sz="2000" b="0" i="1" smtClean="0">
                              <a:latin typeface="Cambria Math" panose="02040503050406030204" pitchFamily="18" charset="0"/>
                            </a:rPr>
                          </m:ctrlPr>
                        </m:d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𝑂</m:t>
                              </m:r>
                            </m:e>
                          </m:acc>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0" i="1" smtClean="0">
                                  <a:latin typeface="Cambria Math" panose="02040503050406030204" pitchFamily="18" charset="0"/>
                                </a:rPr>
                              </m:ctrlPr>
                            </m:dPr>
                            <m:e>
                              <m:r>
                                <a:rPr lang="en-US" sz="2000" b="1" i="1" smtClean="0">
                                  <a:latin typeface="Cambria Math" panose="02040503050406030204" pitchFamily="18" charset="0"/>
                                </a:rPr>
                                <m:t>𝜽</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𝜌</m:t>
                                  </m:r>
                                </m:e>
                              </m:acc>
                            </m:e>
                            <m:sub>
                              <m:r>
                                <a:rPr lang="en-US" sz="2000" b="0" i="1" smtClean="0">
                                  <a:latin typeface="Cambria Math" panose="02040503050406030204" pitchFamily="18" charset="0"/>
                                </a:rPr>
                                <m:t>0</m:t>
                              </m:r>
                            </m:sub>
                          </m:sSub>
                          <m:sSup>
                            <m:sSupPr>
                              <m:ctrlPr>
                                <a:rPr lang="en-US" sz="2000" b="1" i="1" smtClean="0">
                                  <a:latin typeface="Cambria Math" panose="02040503050406030204" pitchFamily="18" charset="0"/>
                                </a:rPr>
                              </m:ctrlPr>
                            </m:sSup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𝑈</m:t>
                                  </m:r>
                                </m:e>
                              </m:acc>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rPr>
                            <m:t>(</m:t>
                          </m:r>
                          <m:r>
                            <a:rPr lang="en-US" sz="2000" b="1" i="1" smtClean="0">
                              <a:latin typeface="Cambria Math" panose="02040503050406030204" pitchFamily="18" charset="0"/>
                            </a:rPr>
                            <m:t>𝜽</m:t>
                          </m:r>
                          <m:r>
                            <a:rPr lang="en-US" sz="2000" b="0" i="1" smtClean="0">
                              <a:latin typeface="Cambria Math" panose="02040503050406030204" pitchFamily="18" charset="0"/>
                            </a:rPr>
                            <m:t>)</m:t>
                          </m:r>
                        </m:e>
                      </m:d>
                    </m:oMath>
                  </m:oMathPara>
                </a14:m>
                <a:endParaRPr lang="en-CA" b="1" dirty="0"/>
              </a:p>
            </p:txBody>
          </p:sp>
        </mc:Choice>
        <mc:Fallback xmlns="">
          <p:sp>
            <p:nvSpPr>
              <p:cNvPr id="13" name="TextBox 12">
                <a:extLst>
                  <a:ext uri="{FF2B5EF4-FFF2-40B4-BE49-F238E27FC236}">
                    <a16:creationId xmlns:a16="http://schemas.microsoft.com/office/drawing/2014/main" id="{51B94544-22B4-12E1-5B9C-A63FEC2B0D8F}"/>
                  </a:ext>
                </a:extLst>
              </p:cNvPr>
              <p:cNvSpPr txBox="1">
                <a:spLocks noRot="1" noChangeAspect="1" noMove="1" noResize="1" noEditPoints="1" noAdjustHandles="1" noChangeArrowheads="1" noChangeShapeType="1" noTextEdit="1"/>
              </p:cNvSpPr>
              <p:nvPr/>
            </p:nvSpPr>
            <p:spPr>
              <a:xfrm>
                <a:off x="8727445" y="2618534"/>
                <a:ext cx="3208186" cy="347403"/>
              </a:xfrm>
              <a:prstGeom prst="rect">
                <a:avLst/>
              </a:prstGeom>
              <a:blipFill>
                <a:blip r:embed="rId8"/>
                <a:stretch>
                  <a:fillRect l="-2372" t="-10714" b="-25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E9E195E-D3AE-E62D-1D74-67F47C584D29}"/>
                  </a:ext>
                </a:extLst>
              </p:cNvPr>
              <p:cNvSpPr txBox="1"/>
              <p:nvPr/>
            </p:nvSpPr>
            <p:spPr>
              <a:xfrm>
                <a:off x="568421" y="2367562"/>
                <a:ext cx="5104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𝜌</m:t>
                              </m:r>
                            </m:e>
                          </m:acc>
                        </m:e>
                        <m:sub>
                          <m:r>
                            <a:rPr lang="en-US" sz="2000" b="0" i="1" smtClean="0">
                              <a:latin typeface="Cambria Math" panose="02040503050406030204" pitchFamily="18" charset="0"/>
                            </a:rPr>
                            <m:t>0</m:t>
                          </m:r>
                        </m:sub>
                      </m:sSub>
                    </m:oMath>
                  </m:oMathPara>
                </a14:m>
                <a:endParaRPr lang="en-CA" dirty="0"/>
              </a:p>
            </p:txBody>
          </p:sp>
        </mc:Choice>
        <mc:Fallback xmlns="">
          <p:sp>
            <p:nvSpPr>
              <p:cNvPr id="14" name="TextBox 13">
                <a:extLst>
                  <a:ext uri="{FF2B5EF4-FFF2-40B4-BE49-F238E27FC236}">
                    <a16:creationId xmlns:a16="http://schemas.microsoft.com/office/drawing/2014/main" id="{5E9E195E-D3AE-E62D-1D74-67F47C584D29}"/>
                  </a:ext>
                </a:extLst>
              </p:cNvPr>
              <p:cNvSpPr txBox="1">
                <a:spLocks noRot="1" noChangeAspect="1" noMove="1" noResize="1" noEditPoints="1" noAdjustHandles="1" noChangeArrowheads="1" noChangeShapeType="1" noTextEdit="1"/>
              </p:cNvSpPr>
              <p:nvPr/>
            </p:nvSpPr>
            <p:spPr>
              <a:xfrm>
                <a:off x="568421" y="2367562"/>
                <a:ext cx="510416" cy="400110"/>
              </a:xfrm>
              <a:prstGeom prst="rect">
                <a:avLst/>
              </a:prstGeom>
              <a:blipFill>
                <a:blip r:embed="rId9"/>
                <a:stretch>
                  <a:fillRect t="-6250" b="-6250"/>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2437B3BF-2381-7ED5-4012-BE6DF5D3F0F8}"/>
              </a:ext>
            </a:extLst>
          </p:cNvPr>
          <p:cNvSpPr txBox="1"/>
          <p:nvPr/>
        </p:nvSpPr>
        <p:spPr>
          <a:xfrm>
            <a:off x="148701" y="2119605"/>
            <a:ext cx="1336304" cy="400110"/>
          </a:xfrm>
          <a:prstGeom prst="rect">
            <a:avLst/>
          </a:prstGeom>
          <a:noFill/>
        </p:spPr>
        <p:txBody>
          <a:bodyPr wrap="square">
            <a:spAutoFit/>
          </a:bodyPr>
          <a:lstStyle/>
          <a:p>
            <a:r>
              <a:rPr lang="en-CA" sz="2000" dirty="0"/>
              <a:t>Initial state </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B448624-64AF-4168-273E-D54DF6DBAF04}"/>
                  </a:ext>
                </a:extLst>
              </p:cNvPr>
              <p:cNvSpPr txBox="1"/>
              <p:nvPr/>
            </p:nvSpPr>
            <p:spPr>
              <a:xfrm>
                <a:off x="9607558" y="3958251"/>
                <a:ext cx="1698067" cy="707886"/>
              </a:xfrm>
              <a:prstGeom prst="rect">
                <a:avLst/>
              </a:prstGeom>
              <a:noFill/>
            </p:spPr>
            <p:txBody>
              <a:bodyPr wrap="square">
                <a:spAutoFit/>
              </a:bodyPr>
              <a:lstStyle/>
              <a:p>
                <a:r>
                  <a:rPr lang="en-CA" sz="2000" dirty="0"/>
                  <a:t>Optimize loss function </a:t>
                </a:r>
                <a14:m>
                  <m:oMath xmlns:m="http://schemas.openxmlformats.org/officeDocument/2006/math">
                    <m:r>
                      <a:rPr lang="en-CA" sz="2000" i="1" smtClean="0">
                        <a:latin typeface="Cambria Math" panose="02040503050406030204" pitchFamily="18" charset="0"/>
                        <a:ea typeface="Cambria Math" panose="02040503050406030204" pitchFamily="18" charset="0"/>
                      </a:rPr>
                      <m:t>ℒ</m:t>
                    </m:r>
                    <m:r>
                      <a:rPr lang="en-US" sz="2000" b="0"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𝜽</m:t>
                    </m:r>
                    <m:r>
                      <a:rPr lang="en-US" sz="2000" b="0" i="1" smtClean="0">
                        <a:latin typeface="Cambria Math" panose="02040503050406030204" pitchFamily="18" charset="0"/>
                        <a:ea typeface="Cambria Math" panose="02040503050406030204" pitchFamily="18" charset="0"/>
                      </a:rPr>
                      <m:t>)</m:t>
                    </m:r>
                  </m:oMath>
                </a14:m>
                <a:endParaRPr lang="en-CA" sz="2000" dirty="0"/>
              </a:p>
            </p:txBody>
          </p:sp>
        </mc:Choice>
        <mc:Fallback xmlns="">
          <p:sp>
            <p:nvSpPr>
              <p:cNvPr id="18" name="TextBox 17">
                <a:extLst>
                  <a:ext uri="{FF2B5EF4-FFF2-40B4-BE49-F238E27FC236}">
                    <a16:creationId xmlns:a16="http://schemas.microsoft.com/office/drawing/2014/main" id="{5B448624-64AF-4168-273E-D54DF6DBAF04}"/>
                  </a:ext>
                </a:extLst>
              </p:cNvPr>
              <p:cNvSpPr txBox="1">
                <a:spLocks noRot="1" noChangeAspect="1" noMove="1" noResize="1" noEditPoints="1" noAdjustHandles="1" noChangeArrowheads="1" noChangeShapeType="1" noTextEdit="1"/>
              </p:cNvSpPr>
              <p:nvPr/>
            </p:nvSpPr>
            <p:spPr>
              <a:xfrm>
                <a:off x="9607558" y="3958251"/>
                <a:ext cx="1698067" cy="707886"/>
              </a:xfrm>
              <a:prstGeom prst="rect">
                <a:avLst/>
              </a:prstGeom>
              <a:blipFill>
                <a:blip r:embed="rId10"/>
                <a:stretch>
                  <a:fillRect l="-3704" t="-3509" b="-14035"/>
                </a:stretch>
              </a:blipFill>
            </p:spPr>
            <p:txBody>
              <a:bodyPr/>
              <a:lstStyle/>
              <a:p>
                <a:r>
                  <a:rPr lang="en-CA">
                    <a:noFill/>
                  </a:rPr>
                  <a:t> </a:t>
                </a:r>
              </a:p>
            </p:txBody>
          </p:sp>
        </mc:Fallback>
      </mc:AlternateContent>
      <p:cxnSp>
        <p:nvCxnSpPr>
          <p:cNvPr id="26" name="Elbow Connector 25">
            <a:extLst>
              <a:ext uri="{FF2B5EF4-FFF2-40B4-BE49-F238E27FC236}">
                <a16:creationId xmlns:a16="http://schemas.microsoft.com/office/drawing/2014/main" id="{220C6279-D139-F408-58A0-0A91175ABA4B}"/>
              </a:ext>
            </a:extLst>
          </p:cNvPr>
          <p:cNvCxnSpPr>
            <a:stCxn id="21" idx="2"/>
          </p:cNvCxnSpPr>
          <p:nvPr/>
        </p:nvCxnSpPr>
        <p:spPr>
          <a:xfrm rot="16200000" flipH="1">
            <a:off x="834555" y="2826403"/>
            <a:ext cx="591671" cy="613522"/>
          </a:xfrm>
          <a:prstGeom prst="bent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7" name="Graphic 36" descr="Monitor with solid fill">
            <a:extLst>
              <a:ext uri="{FF2B5EF4-FFF2-40B4-BE49-F238E27FC236}">
                <a16:creationId xmlns:a16="http://schemas.microsoft.com/office/drawing/2014/main" id="{61801242-F117-B41D-42E1-F069AE6707C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36578" y="3452472"/>
            <a:ext cx="2160022" cy="1987153"/>
          </a:xfrm>
          <a:prstGeom prst="rect">
            <a:avLst/>
          </a:prstGeom>
        </p:spPr>
      </p:pic>
      <p:cxnSp>
        <p:nvCxnSpPr>
          <p:cNvPr id="47" name="Straight Arrow Connector 46">
            <a:extLst>
              <a:ext uri="{FF2B5EF4-FFF2-40B4-BE49-F238E27FC236}">
                <a16:creationId xmlns:a16="http://schemas.microsoft.com/office/drawing/2014/main" id="{9734B10B-A165-C9FF-848D-CF1E737764C6}"/>
              </a:ext>
            </a:extLst>
          </p:cNvPr>
          <p:cNvCxnSpPr>
            <a:cxnSpLocks/>
          </p:cNvCxnSpPr>
          <p:nvPr/>
        </p:nvCxnSpPr>
        <p:spPr>
          <a:xfrm>
            <a:off x="7961586" y="2805332"/>
            <a:ext cx="607049"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B76E40F-DCBF-AB68-79D3-1BBD98F17F42}"/>
              </a:ext>
            </a:extLst>
          </p:cNvPr>
          <p:cNvCxnSpPr>
            <a:cxnSpLocks/>
          </p:cNvCxnSpPr>
          <p:nvPr/>
        </p:nvCxnSpPr>
        <p:spPr>
          <a:xfrm>
            <a:off x="10416480" y="3192987"/>
            <a:ext cx="0" cy="44957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4B3F2082-1FF7-6EE7-8A64-644ABF2C8F7E}"/>
              </a:ext>
            </a:extLst>
          </p:cNvPr>
          <p:cNvCxnSpPr>
            <a:cxnSpLocks/>
            <a:stCxn id="37" idx="1"/>
            <a:endCxn id="148" idx="3"/>
          </p:cNvCxnSpPr>
          <p:nvPr/>
        </p:nvCxnSpPr>
        <p:spPr>
          <a:xfrm rot="10800000" flipV="1">
            <a:off x="6115654" y="4446049"/>
            <a:ext cx="3220925" cy="675116"/>
          </a:xfrm>
          <a:prstGeom prst="bentConnector3">
            <a:avLst>
              <a:gd name="adj1" fmla="val 5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F4BEB8A-FA1D-573D-CFD6-8CD01E77E547}"/>
                  </a:ext>
                </a:extLst>
              </p:cNvPr>
              <p:cNvSpPr txBox="1"/>
              <p:nvPr/>
            </p:nvSpPr>
            <p:spPr>
              <a:xfrm>
                <a:off x="7770572" y="4474660"/>
                <a:ext cx="1227044" cy="400110"/>
              </a:xfrm>
              <a:prstGeom prst="rect">
                <a:avLst/>
              </a:prstGeom>
              <a:noFill/>
            </p:spPr>
            <p:txBody>
              <a:bodyPr wrap="square">
                <a:spAutoFit/>
              </a:bodyPr>
              <a:lstStyle/>
              <a:p>
                <a:r>
                  <a:rPr lang="en-CA" sz="2000" dirty="0"/>
                  <a:t>Update </a:t>
                </a:r>
                <a14:m>
                  <m:oMath xmlns:m="http://schemas.openxmlformats.org/officeDocument/2006/math">
                    <m:r>
                      <a:rPr lang="en-US" sz="2000" b="1" i="1" smtClean="0">
                        <a:latin typeface="Cambria Math" panose="02040503050406030204" pitchFamily="18" charset="0"/>
                      </a:rPr>
                      <m:t>𝜽</m:t>
                    </m:r>
                  </m:oMath>
                </a14:m>
                <a:endParaRPr lang="en-CA" sz="2000" b="1" dirty="0"/>
              </a:p>
            </p:txBody>
          </p:sp>
        </mc:Choice>
        <mc:Fallback xmlns="">
          <p:sp>
            <p:nvSpPr>
              <p:cNvPr id="55" name="TextBox 54">
                <a:extLst>
                  <a:ext uri="{FF2B5EF4-FFF2-40B4-BE49-F238E27FC236}">
                    <a16:creationId xmlns:a16="http://schemas.microsoft.com/office/drawing/2014/main" id="{FF4BEB8A-FA1D-573D-CFD6-8CD01E77E547}"/>
                  </a:ext>
                </a:extLst>
              </p:cNvPr>
              <p:cNvSpPr txBox="1">
                <a:spLocks noRot="1" noChangeAspect="1" noMove="1" noResize="1" noEditPoints="1" noAdjustHandles="1" noChangeArrowheads="1" noChangeShapeType="1" noTextEdit="1"/>
              </p:cNvSpPr>
              <p:nvPr/>
            </p:nvSpPr>
            <p:spPr>
              <a:xfrm>
                <a:off x="7770572" y="4474660"/>
                <a:ext cx="1227044" cy="400110"/>
              </a:xfrm>
              <a:prstGeom prst="rect">
                <a:avLst/>
              </a:prstGeom>
              <a:blipFill>
                <a:blip r:embed="rId13"/>
                <a:stretch>
                  <a:fillRect l="-6186" t="-9375" b="-28125"/>
                </a:stretch>
              </a:blipFill>
            </p:spPr>
            <p:txBody>
              <a:bodyPr/>
              <a:lstStyle/>
              <a:p>
                <a:r>
                  <a:rPr lang="en-CA">
                    <a:noFill/>
                  </a:rPr>
                  <a:t> </a:t>
                </a:r>
              </a:p>
            </p:txBody>
          </p:sp>
        </mc:Fallback>
      </mc:AlternateContent>
      <p:pic>
        <p:nvPicPr>
          <p:cNvPr id="59" name="Graphic 58" descr="Repeat with solid fill">
            <a:extLst>
              <a:ext uri="{FF2B5EF4-FFF2-40B4-BE49-F238E27FC236}">
                <a16:creationId xmlns:a16="http://schemas.microsoft.com/office/drawing/2014/main" id="{6468B5C4-7B40-1CBA-E09B-3E48909764B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79846" y="4201858"/>
            <a:ext cx="914400" cy="914400"/>
          </a:xfrm>
          <a:prstGeom prst="rect">
            <a:avLst/>
          </a:prstGeom>
        </p:spPr>
      </p:pic>
      <p:sp>
        <p:nvSpPr>
          <p:cNvPr id="173" name="TextBox 172">
            <a:extLst>
              <a:ext uri="{FF2B5EF4-FFF2-40B4-BE49-F238E27FC236}">
                <a16:creationId xmlns:a16="http://schemas.microsoft.com/office/drawing/2014/main" id="{844A5166-EB1C-6C40-88AF-0AAB976B262A}"/>
              </a:ext>
            </a:extLst>
          </p:cNvPr>
          <p:cNvSpPr txBox="1"/>
          <p:nvPr/>
        </p:nvSpPr>
        <p:spPr>
          <a:xfrm>
            <a:off x="8265110" y="5512401"/>
            <a:ext cx="3977374" cy="523220"/>
          </a:xfrm>
          <a:prstGeom prst="rect">
            <a:avLst/>
          </a:prstGeom>
          <a:noFill/>
        </p:spPr>
        <p:txBody>
          <a:bodyPr wrap="square">
            <a:spAutoFit/>
          </a:bodyPr>
          <a:lstStyle/>
          <a:p>
            <a:r>
              <a:rPr lang="en-US" sz="1400" dirty="0">
                <a:solidFill>
                  <a:schemeClr val="bg1">
                    <a:lumMod val="50000"/>
                  </a:schemeClr>
                </a:solidFill>
              </a:rPr>
              <a:t>M. </a:t>
            </a:r>
            <a:r>
              <a:rPr lang="en-US" sz="1400" dirty="0" err="1">
                <a:solidFill>
                  <a:schemeClr val="bg1">
                    <a:lumMod val="50000"/>
                  </a:schemeClr>
                </a:solidFill>
                <a:effectLst/>
              </a:rPr>
              <a:t>Cerezo</a:t>
            </a:r>
            <a:r>
              <a:rPr lang="en-US" sz="1400" dirty="0">
                <a:solidFill>
                  <a:schemeClr val="bg1">
                    <a:lumMod val="50000"/>
                  </a:schemeClr>
                </a:solidFill>
                <a:effectLst/>
              </a:rPr>
              <a:t> </a:t>
            </a:r>
            <a:r>
              <a:rPr lang="en-US" sz="1400" i="1" dirty="0">
                <a:solidFill>
                  <a:schemeClr val="bg1">
                    <a:lumMod val="50000"/>
                  </a:schemeClr>
                </a:solidFill>
                <a:effectLst/>
              </a:rPr>
              <a:t>et al.</a:t>
            </a:r>
            <a:r>
              <a:rPr lang="en-US" sz="1400" dirty="0">
                <a:solidFill>
                  <a:schemeClr val="bg1">
                    <a:lumMod val="50000"/>
                  </a:schemeClr>
                </a:solidFill>
                <a:effectLst/>
              </a:rPr>
              <a:t> Variational Quantum Algorithms. </a:t>
            </a:r>
            <a:r>
              <a:rPr lang="en-US" sz="1400" i="1" dirty="0">
                <a:solidFill>
                  <a:schemeClr val="bg1">
                    <a:lumMod val="50000"/>
                  </a:schemeClr>
                </a:solidFill>
                <a:effectLst/>
              </a:rPr>
              <a:t>Nat Rev Phys</a:t>
            </a:r>
            <a:r>
              <a:rPr lang="en-US" sz="1400" dirty="0">
                <a:solidFill>
                  <a:schemeClr val="bg1">
                    <a:lumMod val="50000"/>
                  </a:schemeClr>
                </a:solidFill>
                <a:effectLst/>
              </a:rPr>
              <a:t> </a:t>
            </a:r>
            <a:r>
              <a:rPr lang="en-US" sz="1400" b="1" dirty="0">
                <a:solidFill>
                  <a:schemeClr val="bg1">
                    <a:lumMod val="50000"/>
                  </a:schemeClr>
                </a:solidFill>
                <a:effectLst/>
              </a:rPr>
              <a:t>3</a:t>
            </a:r>
            <a:r>
              <a:rPr lang="en-US" sz="1400" dirty="0">
                <a:solidFill>
                  <a:schemeClr val="bg1">
                    <a:lumMod val="50000"/>
                  </a:schemeClr>
                </a:solidFill>
                <a:effectLst/>
              </a:rPr>
              <a:t>, 625–644 (2021).</a:t>
            </a:r>
          </a:p>
        </p:txBody>
      </p:sp>
      <p:sp>
        <p:nvSpPr>
          <p:cNvPr id="148" name="Rectangle 147">
            <a:extLst>
              <a:ext uri="{FF2B5EF4-FFF2-40B4-BE49-F238E27FC236}">
                <a16:creationId xmlns:a16="http://schemas.microsoft.com/office/drawing/2014/main" id="{1D055066-6828-BA54-C1B7-9A1285C90CFB}"/>
              </a:ext>
            </a:extLst>
          </p:cNvPr>
          <p:cNvSpPr/>
          <p:nvPr/>
        </p:nvSpPr>
        <p:spPr>
          <a:xfrm>
            <a:off x="2768061" y="4226434"/>
            <a:ext cx="3347592" cy="1789462"/>
          </a:xfrm>
          <a:prstGeom prst="rect">
            <a:avLst/>
          </a:prstGeom>
          <a:solidFill>
            <a:schemeClr val="tx2">
              <a:lumMod val="60000"/>
              <a:lumOff val="40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000">
              <a:latin typeface="+mj-lt"/>
            </a:endParaRPr>
          </a:p>
        </p:txBody>
      </p:sp>
      <p:grpSp>
        <p:nvGrpSpPr>
          <p:cNvPr id="149" name="Group 148">
            <a:extLst>
              <a:ext uri="{FF2B5EF4-FFF2-40B4-BE49-F238E27FC236}">
                <a16:creationId xmlns:a16="http://schemas.microsoft.com/office/drawing/2014/main" id="{B1F9D620-80AC-F598-D419-5580FA8A5D3A}"/>
              </a:ext>
            </a:extLst>
          </p:cNvPr>
          <p:cNvGrpSpPr/>
          <p:nvPr/>
        </p:nvGrpSpPr>
        <p:grpSpPr>
          <a:xfrm>
            <a:off x="2906428" y="4273279"/>
            <a:ext cx="2948489" cy="1641730"/>
            <a:chOff x="16560955" y="9294743"/>
            <a:chExt cx="3430115" cy="2340322"/>
          </a:xfrm>
        </p:grpSpPr>
        <p:cxnSp>
          <p:nvCxnSpPr>
            <p:cNvPr id="150" name="Straight Connector 149">
              <a:extLst>
                <a:ext uri="{FF2B5EF4-FFF2-40B4-BE49-F238E27FC236}">
                  <a16:creationId xmlns:a16="http://schemas.microsoft.com/office/drawing/2014/main" id="{DEDF5EDB-CAE6-4A59-4287-6AB20F4018C7}"/>
                </a:ext>
              </a:extLst>
            </p:cNvPr>
            <p:cNvCxnSpPr>
              <a:cxnSpLocks/>
            </p:cNvCxnSpPr>
            <p:nvPr/>
          </p:nvCxnSpPr>
          <p:spPr>
            <a:xfrm>
              <a:off x="17310065" y="9627891"/>
              <a:ext cx="268100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B9838CA8-FCD5-AAC2-F258-68BB756877E3}"/>
                </a:ext>
              </a:extLst>
            </p:cNvPr>
            <p:cNvCxnSpPr>
              <a:cxnSpLocks/>
            </p:cNvCxnSpPr>
            <p:nvPr/>
          </p:nvCxnSpPr>
          <p:spPr>
            <a:xfrm>
              <a:off x="17286235" y="10385561"/>
              <a:ext cx="267919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3" name="Straight Connector 152">
              <a:extLst>
                <a:ext uri="{FF2B5EF4-FFF2-40B4-BE49-F238E27FC236}">
                  <a16:creationId xmlns:a16="http://schemas.microsoft.com/office/drawing/2014/main" id="{DEB323ED-2E92-3EC7-5BE7-8BFC39BE7D0B}"/>
                </a:ext>
              </a:extLst>
            </p:cNvPr>
            <p:cNvCxnSpPr>
              <a:cxnSpLocks/>
            </p:cNvCxnSpPr>
            <p:nvPr/>
          </p:nvCxnSpPr>
          <p:spPr>
            <a:xfrm>
              <a:off x="17310066" y="11281698"/>
              <a:ext cx="2674677" cy="0"/>
            </a:xfrm>
            <a:prstGeom prst="line">
              <a:avLst/>
            </a:prstGeom>
            <a:ln w="19050"/>
          </p:spPr>
          <p:style>
            <a:lnRef idx="1">
              <a:schemeClr val="dk1"/>
            </a:lnRef>
            <a:fillRef idx="0">
              <a:schemeClr val="dk1"/>
            </a:fillRef>
            <a:effectRef idx="0">
              <a:schemeClr val="dk1"/>
            </a:effectRef>
            <a:fontRef idx="minor">
              <a:schemeClr val="tx1"/>
            </a:fontRef>
          </p:style>
        </p:cxnSp>
        <p:sp>
          <p:nvSpPr>
            <p:cNvPr id="154" name="Rounded Rectangle 153">
              <a:extLst>
                <a:ext uri="{FF2B5EF4-FFF2-40B4-BE49-F238E27FC236}">
                  <a16:creationId xmlns:a16="http://schemas.microsoft.com/office/drawing/2014/main" id="{DF4DF9CF-4E92-D1E6-DA8C-C9B618CB2A33}"/>
                </a:ext>
              </a:extLst>
            </p:cNvPr>
            <p:cNvSpPr/>
            <p:nvPr/>
          </p:nvSpPr>
          <p:spPr>
            <a:xfrm>
              <a:off x="19080036" y="9355729"/>
              <a:ext cx="731319" cy="22793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noFill/>
                <a:effectLst/>
                <a:uLnTx/>
                <a:uFillTx/>
                <a:latin typeface="+mj-lt"/>
                <a:ea typeface="+mn-ea"/>
                <a:cs typeface="+mn-cs"/>
              </a:endParaRPr>
            </a:p>
          </p:txBody>
        </p:sp>
        <p:sp>
          <p:nvSpPr>
            <p:cNvPr id="155" name="Rounded Rectangle 154">
              <a:extLst>
                <a:ext uri="{FF2B5EF4-FFF2-40B4-BE49-F238E27FC236}">
                  <a16:creationId xmlns:a16="http://schemas.microsoft.com/office/drawing/2014/main" id="{8C2EF731-A24C-16B7-D98B-B0B04D1CBA1E}"/>
                </a:ext>
              </a:extLst>
            </p:cNvPr>
            <p:cNvSpPr/>
            <p:nvPr/>
          </p:nvSpPr>
          <p:spPr>
            <a:xfrm>
              <a:off x="17504910" y="10992671"/>
              <a:ext cx="1268568" cy="6300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noFill/>
                <a:effectLst/>
                <a:uLnTx/>
                <a:uFillTx/>
                <a:latin typeface="+mj-lt"/>
                <a:ea typeface="+mn-ea"/>
                <a:cs typeface="+mn-cs"/>
              </a:endParaRPr>
            </a:p>
          </p:txBody>
        </p:sp>
        <p:sp>
          <p:nvSpPr>
            <p:cNvPr id="156" name="Rounded Rectangle 155">
              <a:extLst>
                <a:ext uri="{FF2B5EF4-FFF2-40B4-BE49-F238E27FC236}">
                  <a16:creationId xmlns:a16="http://schemas.microsoft.com/office/drawing/2014/main" id="{6D2A162F-8F1A-06C4-BD59-77312323194B}"/>
                </a:ext>
              </a:extLst>
            </p:cNvPr>
            <p:cNvSpPr/>
            <p:nvPr/>
          </p:nvSpPr>
          <p:spPr>
            <a:xfrm>
              <a:off x="17488216" y="9320690"/>
              <a:ext cx="1273682" cy="6300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noFill/>
                <a:effectLst/>
                <a:uLnTx/>
                <a:uFillTx/>
                <a:latin typeface="+mj-lt"/>
                <a:ea typeface="+mn-ea"/>
                <a:cs typeface="+mn-cs"/>
              </a:endParaRPr>
            </a:p>
          </p:txBody>
        </p:sp>
        <p:sp>
          <p:nvSpPr>
            <p:cNvPr id="157" name="Rounded Rectangle 156">
              <a:extLst>
                <a:ext uri="{FF2B5EF4-FFF2-40B4-BE49-F238E27FC236}">
                  <a16:creationId xmlns:a16="http://schemas.microsoft.com/office/drawing/2014/main" id="{586A99AB-9B5E-D30F-80A7-6C8EA2BEE8F6}"/>
                </a:ext>
              </a:extLst>
            </p:cNvPr>
            <p:cNvSpPr/>
            <p:nvPr/>
          </p:nvSpPr>
          <p:spPr>
            <a:xfrm>
              <a:off x="17500787" y="10085403"/>
              <a:ext cx="1272691" cy="62401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88669576-82D5-702F-9488-D6A63704EB9E}"/>
                    </a:ext>
                  </a:extLst>
                </p:cNvPr>
                <p:cNvSpPr txBox="1"/>
                <p:nvPr/>
              </p:nvSpPr>
              <p:spPr>
                <a:xfrm>
                  <a:off x="19043087" y="10226316"/>
                  <a:ext cx="731319" cy="5822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𝑒𝑛𝑡</m:t>
                            </m:r>
                          </m:sub>
                        </m:sSub>
                      </m:oMath>
                    </m:oMathPara>
                  </a14:m>
                  <a:endParaRPr lang="en-CA" sz="2000" dirty="0">
                    <a:latin typeface="+mj-lt"/>
                  </a:endParaRPr>
                </a:p>
              </p:txBody>
            </p:sp>
          </mc:Choice>
          <mc:Fallback xmlns="">
            <p:sp>
              <p:nvSpPr>
                <p:cNvPr id="158" name="TextBox 157">
                  <a:extLst>
                    <a:ext uri="{FF2B5EF4-FFF2-40B4-BE49-F238E27FC236}">
                      <a16:creationId xmlns:a16="http://schemas.microsoft.com/office/drawing/2014/main" id="{88669576-82D5-702F-9488-D6A63704EB9E}"/>
                    </a:ext>
                  </a:extLst>
                </p:cNvPr>
                <p:cNvSpPr txBox="1">
                  <a:spLocks noRot="1" noChangeAspect="1" noMove="1" noResize="1" noEditPoints="1" noAdjustHandles="1" noChangeArrowheads="1" noChangeShapeType="1" noTextEdit="1"/>
                </p:cNvSpPr>
                <p:nvPr/>
              </p:nvSpPr>
              <p:spPr>
                <a:xfrm>
                  <a:off x="19043087" y="10226316"/>
                  <a:ext cx="731319" cy="582247"/>
                </a:xfrm>
                <a:prstGeom prst="rect">
                  <a:avLst/>
                </a:prstGeom>
                <a:blipFill>
                  <a:blip r:embed="rId1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CA1D5C0C-AEC0-DBF0-2A52-E8EBD7F6D125}"/>
                    </a:ext>
                  </a:extLst>
                </p:cNvPr>
                <p:cNvSpPr txBox="1"/>
                <p:nvPr/>
              </p:nvSpPr>
              <p:spPr>
                <a:xfrm>
                  <a:off x="17438355" y="9294743"/>
                  <a:ext cx="1299491" cy="6300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sub>
                        </m:sSub>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𝜃</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1</m:t>
                            </m:r>
                          </m:sup>
                        </m:sSubSup>
                        <m:r>
                          <a:rPr lang="en-US" sz="2000" b="0" i="1" smtClean="0">
                            <a:latin typeface="Cambria Math" panose="02040503050406030204" pitchFamily="18" charset="0"/>
                          </a:rPr>
                          <m:t>)</m:t>
                        </m:r>
                      </m:oMath>
                    </m:oMathPara>
                  </a14:m>
                  <a:endParaRPr lang="en-CA" sz="2000" dirty="0">
                    <a:latin typeface="+mj-lt"/>
                  </a:endParaRPr>
                </a:p>
              </p:txBody>
            </p:sp>
          </mc:Choice>
          <mc:Fallback xmlns="">
            <p:sp>
              <p:nvSpPr>
                <p:cNvPr id="159" name="TextBox 158">
                  <a:extLst>
                    <a:ext uri="{FF2B5EF4-FFF2-40B4-BE49-F238E27FC236}">
                      <a16:creationId xmlns:a16="http://schemas.microsoft.com/office/drawing/2014/main" id="{CA1D5C0C-AEC0-DBF0-2A52-E8EBD7F6D125}"/>
                    </a:ext>
                  </a:extLst>
                </p:cNvPr>
                <p:cNvSpPr txBox="1">
                  <a:spLocks noRot="1" noChangeAspect="1" noMove="1" noResize="1" noEditPoints="1" noAdjustHandles="1" noChangeArrowheads="1" noChangeShapeType="1" noTextEdit="1"/>
                </p:cNvSpPr>
                <p:nvPr/>
              </p:nvSpPr>
              <p:spPr>
                <a:xfrm>
                  <a:off x="17438355" y="9294743"/>
                  <a:ext cx="1299491" cy="630052"/>
                </a:xfrm>
                <a:prstGeom prst="rect">
                  <a:avLst/>
                </a:prstGeom>
                <a:blipFill>
                  <a:blip r:embed="rId17"/>
                  <a:stretch>
                    <a:fillRect b="-555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EC258243-B81F-9F93-97CA-62D49FE3A9B5}"/>
                    </a:ext>
                  </a:extLst>
                </p:cNvPr>
                <p:cNvSpPr txBox="1"/>
                <p:nvPr/>
              </p:nvSpPr>
              <p:spPr>
                <a:xfrm>
                  <a:off x="17473986" y="10049986"/>
                  <a:ext cx="1299492" cy="6300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2</m:t>
                                </m:r>
                              </m:sub>
                            </m:sSub>
                          </m:sub>
                        </m:sSub>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𝜃</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1</m:t>
                            </m:r>
                          </m:sup>
                        </m:sSubSup>
                        <m:r>
                          <a:rPr lang="en-US" sz="2000" i="1">
                            <a:latin typeface="Cambria Math" panose="02040503050406030204" pitchFamily="18" charset="0"/>
                          </a:rPr>
                          <m:t>)</m:t>
                        </m:r>
                      </m:oMath>
                    </m:oMathPara>
                  </a14:m>
                  <a:endParaRPr lang="en-CA" sz="2000" dirty="0">
                    <a:latin typeface="+mj-lt"/>
                  </a:endParaRPr>
                </a:p>
              </p:txBody>
            </p:sp>
          </mc:Choice>
          <mc:Fallback xmlns="">
            <p:sp>
              <p:nvSpPr>
                <p:cNvPr id="160" name="TextBox 159">
                  <a:extLst>
                    <a:ext uri="{FF2B5EF4-FFF2-40B4-BE49-F238E27FC236}">
                      <a16:creationId xmlns:a16="http://schemas.microsoft.com/office/drawing/2014/main" id="{EC258243-B81F-9F93-97CA-62D49FE3A9B5}"/>
                    </a:ext>
                  </a:extLst>
                </p:cNvPr>
                <p:cNvSpPr txBox="1">
                  <a:spLocks noRot="1" noChangeAspect="1" noMove="1" noResize="1" noEditPoints="1" noAdjustHandles="1" noChangeArrowheads="1" noChangeShapeType="1" noTextEdit="1"/>
                </p:cNvSpPr>
                <p:nvPr/>
              </p:nvSpPr>
              <p:spPr>
                <a:xfrm>
                  <a:off x="17473986" y="10049986"/>
                  <a:ext cx="1299492" cy="630052"/>
                </a:xfrm>
                <a:prstGeom prst="rect">
                  <a:avLst/>
                </a:prstGeom>
                <a:blipFill>
                  <a:blip r:embed="rId18"/>
                  <a:stretch>
                    <a:fillRect t="-2857" b="-857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972801C5-232A-B39A-F550-CDDA74093B4A}"/>
                    </a:ext>
                  </a:extLst>
                </p:cNvPr>
                <p:cNvSpPr txBox="1"/>
                <p:nvPr/>
              </p:nvSpPr>
              <p:spPr>
                <a:xfrm>
                  <a:off x="17471698" y="10965864"/>
                  <a:ext cx="877872" cy="6300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𝑁</m:t>
                                </m:r>
                              </m:sub>
                            </m:sSub>
                          </m:sub>
                        </m:sSub>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𝜃</m:t>
                            </m:r>
                          </m:e>
                          <m:sub>
                            <m:r>
                              <a:rPr lang="en-US" sz="2000" b="0" i="1" smtClean="0">
                                <a:latin typeface="Cambria Math" panose="02040503050406030204" pitchFamily="18" charset="0"/>
                              </a:rPr>
                              <m:t>𝑁</m:t>
                            </m:r>
                          </m:sub>
                          <m:sup>
                            <m:r>
                              <a:rPr lang="en-US" sz="2000" b="0" i="1" smtClean="0">
                                <a:latin typeface="Cambria Math" panose="02040503050406030204" pitchFamily="18" charset="0"/>
                              </a:rPr>
                              <m:t>1</m:t>
                            </m:r>
                          </m:sup>
                        </m:sSubSup>
                        <m:r>
                          <a:rPr lang="en-US" sz="2000" i="1">
                            <a:latin typeface="Cambria Math" panose="02040503050406030204" pitchFamily="18" charset="0"/>
                          </a:rPr>
                          <m:t>)</m:t>
                        </m:r>
                      </m:oMath>
                    </m:oMathPara>
                  </a14:m>
                  <a:endParaRPr lang="en-CA" sz="2000" dirty="0">
                    <a:latin typeface="+mj-lt"/>
                  </a:endParaRPr>
                </a:p>
              </p:txBody>
            </p:sp>
          </mc:Choice>
          <mc:Fallback xmlns="">
            <p:sp>
              <p:nvSpPr>
                <p:cNvPr id="161" name="TextBox 160">
                  <a:extLst>
                    <a:ext uri="{FF2B5EF4-FFF2-40B4-BE49-F238E27FC236}">
                      <a16:creationId xmlns:a16="http://schemas.microsoft.com/office/drawing/2014/main" id="{972801C5-232A-B39A-F550-CDDA74093B4A}"/>
                    </a:ext>
                  </a:extLst>
                </p:cNvPr>
                <p:cNvSpPr txBox="1">
                  <a:spLocks noRot="1" noChangeAspect="1" noMove="1" noResize="1" noEditPoints="1" noAdjustHandles="1" noChangeArrowheads="1" noChangeShapeType="1" noTextEdit="1"/>
                </p:cNvSpPr>
                <p:nvPr/>
              </p:nvSpPr>
              <p:spPr>
                <a:xfrm>
                  <a:off x="17471698" y="10965864"/>
                  <a:ext cx="877872" cy="630052"/>
                </a:xfrm>
                <a:prstGeom prst="rect">
                  <a:avLst/>
                </a:prstGeom>
                <a:blipFill>
                  <a:blip r:embed="rId19"/>
                  <a:stretch>
                    <a:fillRect r="-50000" b="-555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32C12DE0-336A-A69D-A39F-724623E4DEAB}"/>
                    </a:ext>
                  </a:extLst>
                </p:cNvPr>
                <p:cNvSpPr txBox="1"/>
                <p:nvPr/>
              </p:nvSpPr>
              <p:spPr>
                <a:xfrm>
                  <a:off x="16575216" y="9417996"/>
                  <a:ext cx="594861" cy="438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d>
                          </m:e>
                          <m:sub>
                            <m:r>
                              <a:rPr lang="en-US" sz="2000" b="0" i="1" smtClean="0">
                                <a:latin typeface="Cambria Math" panose="02040503050406030204" pitchFamily="18" charset="0"/>
                              </a:rPr>
                              <m:t>1</m:t>
                            </m:r>
                          </m:sub>
                        </m:sSub>
                      </m:oMath>
                    </m:oMathPara>
                  </a14:m>
                  <a:endParaRPr lang="en-CA" sz="2000" dirty="0">
                    <a:latin typeface="+mj-lt"/>
                  </a:endParaRPr>
                </a:p>
              </p:txBody>
            </p:sp>
          </mc:Choice>
          <mc:Fallback xmlns="">
            <p:sp>
              <p:nvSpPr>
                <p:cNvPr id="162" name="TextBox 161">
                  <a:extLst>
                    <a:ext uri="{FF2B5EF4-FFF2-40B4-BE49-F238E27FC236}">
                      <a16:creationId xmlns:a16="http://schemas.microsoft.com/office/drawing/2014/main" id="{32C12DE0-336A-A69D-A39F-724623E4DEAB}"/>
                    </a:ext>
                  </a:extLst>
                </p:cNvPr>
                <p:cNvSpPr txBox="1">
                  <a:spLocks noRot="1" noChangeAspect="1" noMove="1" noResize="1" noEditPoints="1" noAdjustHandles="1" noChangeArrowheads="1" noChangeShapeType="1" noTextEdit="1"/>
                </p:cNvSpPr>
                <p:nvPr/>
              </p:nvSpPr>
              <p:spPr>
                <a:xfrm>
                  <a:off x="16575216" y="9417996"/>
                  <a:ext cx="594861" cy="438743"/>
                </a:xfrm>
                <a:prstGeom prst="rect">
                  <a:avLst/>
                </a:prstGeom>
                <a:blipFill>
                  <a:blip r:embed="rId20"/>
                  <a:stretch>
                    <a:fillRect l="-2381" r="-4762" b="-32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4F7CD771-ED7C-674A-50E3-E28347277134}"/>
                    </a:ext>
                  </a:extLst>
                </p:cNvPr>
                <p:cNvSpPr txBox="1"/>
                <p:nvPr/>
              </p:nvSpPr>
              <p:spPr>
                <a:xfrm>
                  <a:off x="16560955" y="10163610"/>
                  <a:ext cx="631016" cy="438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d>
                          </m:e>
                          <m:sub>
                            <m:r>
                              <a:rPr lang="en-US" sz="2000" b="0" i="1" smtClean="0">
                                <a:latin typeface="Cambria Math" panose="02040503050406030204" pitchFamily="18" charset="0"/>
                              </a:rPr>
                              <m:t>2</m:t>
                            </m:r>
                          </m:sub>
                        </m:sSub>
                      </m:oMath>
                    </m:oMathPara>
                  </a14:m>
                  <a:endParaRPr lang="en-CA" sz="2000" dirty="0">
                    <a:latin typeface="+mj-lt"/>
                  </a:endParaRPr>
                </a:p>
              </p:txBody>
            </p:sp>
          </mc:Choice>
          <mc:Fallback xmlns="">
            <p:sp>
              <p:nvSpPr>
                <p:cNvPr id="163" name="TextBox 162">
                  <a:extLst>
                    <a:ext uri="{FF2B5EF4-FFF2-40B4-BE49-F238E27FC236}">
                      <a16:creationId xmlns:a16="http://schemas.microsoft.com/office/drawing/2014/main" id="{4F7CD771-ED7C-674A-50E3-E28347277134}"/>
                    </a:ext>
                  </a:extLst>
                </p:cNvPr>
                <p:cNvSpPr txBox="1">
                  <a:spLocks noRot="1" noChangeAspect="1" noMove="1" noResize="1" noEditPoints="1" noAdjustHandles="1" noChangeArrowheads="1" noChangeShapeType="1" noTextEdit="1"/>
                </p:cNvSpPr>
                <p:nvPr/>
              </p:nvSpPr>
              <p:spPr>
                <a:xfrm>
                  <a:off x="16560955" y="10163610"/>
                  <a:ext cx="631016" cy="438743"/>
                </a:xfrm>
                <a:prstGeom prst="rect">
                  <a:avLst/>
                </a:prstGeom>
                <a:blipFill>
                  <a:blip r:embed="rId21"/>
                  <a:stretch>
                    <a:fillRect r="-2273" b="-32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76D45A20-E55F-FAFA-C8E8-E44E6808B4DF}"/>
                    </a:ext>
                  </a:extLst>
                </p:cNvPr>
                <p:cNvSpPr txBox="1"/>
                <p:nvPr/>
              </p:nvSpPr>
              <p:spPr>
                <a:xfrm rot="5400000">
                  <a:off x="16720524" y="10482955"/>
                  <a:ext cx="285810" cy="4654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164" name="TextBox 163">
                  <a:extLst>
                    <a:ext uri="{FF2B5EF4-FFF2-40B4-BE49-F238E27FC236}">
                      <a16:creationId xmlns:a16="http://schemas.microsoft.com/office/drawing/2014/main" id="{76D45A20-E55F-FAFA-C8E8-E44E6808B4DF}"/>
                    </a:ext>
                  </a:extLst>
                </p:cNvPr>
                <p:cNvSpPr txBox="1">
                  <a:spLocks noRot="1" noChangeAspect="1" noMove="1" noResize="1" noEditPoints="1" noAdjustHandles="1" noChangeArrowheads="1" noChangeShapeType="1" noTextEdit="1"/>
                </p:cNvSpPr>
                <p:nvPr/>
              </p:nvSpPr>
              <p:spPr>
                <a:xfrm rot="5400000">
                  <a:off x="16720524" y="10482955"/>
                  <a:ext cx="285810" cy="465467"/>
                </a:xfrm>
                <a:prstGeom prst="rect">
                  <a:avLst/>
                </a:prstGeom>
                <a:blipFill>
                  <a:blip r:embed="rId22"/>
                  <a:stretch>
                    <a:fillRect b="-8125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7F4BDA8B-18F5-0DE6-72AD-B179A308CC89}"/>
                    </a:ext>
                  </a:extLst>
                </p:cNvPr>
                <p:cNvSpPr txBox="1"/>
                <p:nvPr/>
              </p:nvSpPr>
              <p:spPr>
                <a:xfrm>
                  <a:off x="16578547" y="11081643"/>
                  <a:ext cx="631016" cy="438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d>
                          </m:e>
                          <m:sub>
                            <m:r>
                              <a:rPr lang="en-US" sz="2000" b="0" i="1" smtClean="0">
                                <a:latin typeface="Cambria Math" panose="02040503050406030204" pitchFamily="18" charset="0"/>
                              </a:rPr>
                              <m:t>𝑁</m:t>
                            </m:r>
                          </m:sub>
                        </m:sSub>
                      </m:oMath>
                    </m:oMathPara>
                  </a14:m>
                  <a:endParaRPr lang="en-CA" sz="2000" dirty="0">
                    <a:latin typeface="+mj-lt"/>
                  </a:endParaRPr>
                </a:p>
              </p:txBody>
            </p:sp>
          </mc:Choice>
          <mc:Fallback xmlns="">
            <p:sp>
              <p:nvSpPr>
                <p:cNvPr id="165" name="TextBox 164">
                  <a:extLst>
                    <a:ext uri="{FF2B5EF4-FFF2-40B4-BE49-F238E27FC236}">
                      <a16:creationId xmlns:a16="http://schemas.microsoft.com/office/drawing/2014/main" id="{7F4BDA8B-18F5-0DE6-72AD-B179A308CC89}"/>
                    </a:ext>
                  </a:extLst>
                </p:cNvPr>
                <p:cNvSpPr txBox="1">
                  <a:spLocks noRot="1" noChangeAspect="1" noMove="1" noResize="1" noEditPoints="1" noAdjustHandles="1" noChangeArrowheads="1" noChangeShapeType="1" noTextEdit="1"/>
                </p:cNvSpPr>
                <p:nvPr/>
              </p:nvSpPr>
              <p:spPr>
                <a:xfrm>
                  <a:off x="16578547" y="11081643"/>
                  <a:ext cx="631016" cy="438743"/>
                </a:xfrm>
                <a:prstGeom prst="rect">
                  <a:avLst/>
                </a:prstGeom>
                <a:blipFill>
                  <a:blip r:embed="rId23"/>
                  <a:stretch>
                    <a:fillRect l="-2273" r="-6818" b="-32000"/>
                  </a:stretch>
                </a:blipFill>
              </p:spPr>
              <p:txBody>
                <a:bodyPr/>
                <a:lstStyle/>
                <a:p>
                  <a:r>
                    <a:rPr lang="en-CA">
                      <a:noFill/>
                    </a:rPr>
                    <a:t> </a:t>
                  </a:r>
                </a:p>
              </p:txBody>
            </p:sp>
          </mc:Fallback>
        </mc:AlternateContent>
      </p:grpSp>
      <p:sp>
        <p:nvSpPr>
          <p:cNvPr id="169" name="Freeform 168">
            <a:extLst>
              <a:ext uri="{FF2B5EF4-FFF2-40B4-BE49-F238E27FC236}">
                <a16:creationId xmlns:a16="http://schemas.microsoft.com/office/drawing/2014/main" id="{5BAB2454-CC8E-4843-9A02-F2FEC6CD36C4}"/>
              </a:ext>
            </a:extLst>
          </p:cNvPr>
          <p:cNvSpPr/>
          <p:nvPr/>
        </p:nvSpPr>
        <p:spPr>
          <a:xfrm>
            <a:off x="2767619" y="3949747"/>
            <a:ext cx="3320445" cy="291001"/>
          </a:xfrm>
          <a:custGeom>
            <a:avLst/>
            <a:gdLst>
              <a:gd name="connsiteX0" fmla="*/ 0 w 4027213"/>
              <a:gd name="connsiteY0" fmla="*/ 402469 h 467775"/>
              <a:gd name="connsiteX1" fmla="*/ 1743456 w 4027213"/>
              <a:gd name="connsiteY1" fmla="*/ 133 h 467775"/>
              <a:gd name="connsiteX2" fmla="*/ 3877056 w 4027213"/>
              <a:gd name="connsiteY2" fmla="*/ 439045 h 467775"/>
              <a:gd name="connsiteX3" fmla="*/ 3852672 w 4027213"/>
              <a:gd name="connsiteY3" fmla="*/ 426853 h 467775"/>
              <a:gd name="connsiteX0" fmla="*/ 0 w 4027213"/>
              <a:gd name="connsiteY0" fmla="*/ 392558 h 457864"/>
              <a:gd name="connsiteX1" fmla="*/ 2045213 w 4027213"/>
              <a:gd name="connsiteY1" fmla="*/ 140 h 457864"/>
              <a:gd name="connsiteX2" fmla="*/ 3877056 w 4027213"/>
              <a:gd name="connsiteY2" fmla="*/ 429134 h 457864"/>
              <a:gd name="connsiteX3" fmla="*/ 3852672 w 4027213"/>
              <a:gd name="connsiteY3" fmla="*/ 416942 h 457864"/>
              <a:gd name="connsiteX0" fmla="*/ 0 w 4027213"/>
              <a:gd name="connsiteY0" fmla="*/ 402470 h 467776"/>
              <a:gd name="connsiteX1" fmla="*/ 1881762 w 4027213"/>
              <a:gd name="connsiteY1" fmla="*/ 133 h 467776"/>
              <a:gd name="connsiteX2" fmla="*/ 3877056 w 4027213"/>
              <a:gd name="connsiteY2" fmla="*/ 439046 h 467776"/>
              <a:gd name="connsiteX3" fmla="*/ 3852672 w 4027213"/>
              <a:gd name="connsiteY3" fmla="*/ 426854 h 467776"/>
              <a:gd name="connsiteX0" fmla="*/ 0 w 4055830"/>
              <a:gd name="connsiteY0" fmla="*/ 402470 h 467776"/>
              <a:gd name="connsiteX1" fmla="*/ 1881762 w 4055830"/>
              <a:gd name="connsiteY1" fmla="*/ 133 h 467776"/>
              <a:gd name="connsiteX2" fmla="*/ 3877056 w 4055830"/>
              <a:gd name="connsiteY2" fmla="*/ 439046 h 467776"/>
              <a:gd name="connsiteX3" fmla="*/ 3953258 w 4055830"/>
              <a:gd name="connsiteY3" fmla="*/ 426854 h 467776"/>
              <a:gd name="connsiteX0" fmla="*/ 0 w 3953258"/>
              <a:gd name="connsiteY0" fmla="*/ 402366 h 426750"/>
              <a:gd name="connsiteX1" fmla="*/ 1881762 w 3953258"/>
              <a:gd name="connsiteY1" fmla="*/ 29 h 426750"/>
              <a:gd name="connsiteX2" fmla="*/ 3914775 w 3953258"/>
              <a:gd name="connsiteY2" fmla="*/ 419105 h 426750"/>
              <a:gd name="connsiteX3" fmla="*/ 3953258 w 3953258"/>
              <a:gd name="connsiteY3" fmla="*/ 426750 h 426750"/>
            </a:gdLst>
            <a:ahLst/>
            <a:cxnLst>
              <a:cxn ang="0">
                <a:pos x="connsiteX0" y="connsiteY0"/>
              </a:cxn>
              <a:cxn ang="0">
                <a:pos x="connsiteX1" y="connsiteY1"/>
              </a:cxn>
              <a:cxn ang="0">
                <a:pos x="connsiteX2" y="connsiteY2"/>
              </a:cxn>
              <a:cxn ang="0">
                <a:pos x="connsiteX3" y="connsiteY3"/>
              </a:cxn>
            </a:cxnLst>
            <a:rect l="l" t="t" r="r" b="b"/>
            <a:pathLst>
              <a:path w="3953258" h="426750">
                <a:moveTo>
                  <a:pt x="0" y="402366"/>
                </a:moveTo>
                <a:cubicBezTo>
                  <a:pt x="548640" y="198150"/>
                  <a:pt x="1229300" y="-2761"/>
                  <a:pt x="1881762" y="29"/>
                </a:cubicBezTo>
                <a:cubicBezTo>
                  <a:pt x="2534225" y="2819"/>
                  <a:pt x="3914775" y="419105"/>
                  <a:pt x="3914775" y="419105"/>
                </a:cubicBezTo>
                <a:lnTo>
                  <a:pt x="3953258" y="426750"/>
                </a:lnTo>
              </a:path>
            </a:pathLst>
          </a:custGeom>
          <a:no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mj-lt"/>
            </a:endParaRPr>
          </a:p>
        </p:txBody>
      </p:sp>
      <p:grpSp>
        <p:nvGrpSpPr>
          <p:cNvPr id="5" name="Group 4">
            <a:extLst>
              <a:ext uri="{FF2B5EF4-FFF2-40B4-BE49-F238E27FC236}">
                <a16:creationId xmlns:a16="http://schemas.microsoft.com/office/drawing/2014/main" id="{B7F9C486-B7DB-D6AC-A91D-828026869A34}"/>
              </a:ext>
            </a:extLst>
          </p:cNvPr>
          <p:cNvGrpSpPr/>
          <p:nvPr/>
        </p:nvGrpSpPr>
        <p:grpSpPr>
          <a:xfrm>
            <a:off x="1550188" y="1787839"/>
            <a:ext cx="6221110" cy="2221746"/>
            <a:chOff x="15357326" y="11378312"/>
            <a:chExt cx="6817583" cy="2308708"/>
          </a:xfrm>
        </p:grpSpPr>
        <p:pic>
          <p:nvPicPr>
            <p:cNvPr id="6" name="Picture 2">
              <a:extLst>
                <a:ext uri="{FF2B5EF4-FFF2-40B4-BE49-F238E27FC236}">
                  <a16:creationId xmlns:a16="http://schemas.microsoft.com/office/drawing/2014/main" id="{09679D8D-B093-DA27-484D-5BD543B46896}"/>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57236" t="52584" r="31145" b="30875"/>
            <a:stretch/>
          </p:blipFill>
          <p:spPr bwMode="auto">
            <a:xfrm>
              <a:off x="21700989" y="13288106"/>
              <a:ext cx="467915" cy="36766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FD4DB4D6-5551-54E6-D666-AF786F128EF0}"/>
                </a:ext>
              </a:extLst>
            </p:cNvPr>
            <p:cNvCxnSpPr>
              <a:cxnSpLocks/>
            </p:cNvCxnSpPr>
            <p:nvPr/>
          </p:nvCxnSpPr>
          <p:spPr>
            <a:xfrm>
              <a:off x="15473103" y="11580838"/>
              <a:ext cx="18288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9DC59E6-29E2-1FFC-D9D2-6E15E22E9001}"/>
                </a:ext>
              </a:extLst>
            </p:cNvPr>
            <p:cNvCxnSpPr>
              <a:cxnSpLocks/>
            </p:cNvCxnSpPr>
            <p:nvPr/>
          </p:nvCxnSpPr>
          <p:spPr>
            <a:xfrm>
              <a:off x="15474025" y="12171986"/>
              <a:ext cx="18288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68ABB3A6-09CA-CC2B-EA8C-C01F601A4007}"/>
                </a:ext>
              </a:extLst>
            </p:cNvPr>
            <p:cNvCxnSpPr>
              <a:cxnSpLocks/>
            </p:cNvCxnSpPr>
            <p:nvPr/>
          </p:nvCxnSpPr>
          <p:spPr>
            <a:xfrm>
              <a:off x="15468352" y="13496892"/>
              <a:ext cx="18288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A90DD62C-266C-95D3-D283-016E1F9345CC}"/>
                </a:ext>
              </a:extLst>
            </p:cNvPr>
            <p:cNvCxnSpPr>
              <a:cxnSpLocks/>
            </p:cNvCxnSpPr>
            <p:nvPr/>
          </p:nvCxnSpPr>
          <p:spPr>
            <a:xfrm>
              <a:off x="15472867" y="13000940"/>
              <a:ext cx="1828800" cy="0"/>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E4AB244-61F9-6936-5691-1565F4368AC1}"/>
                    </a:ext>
                  </a:extLst>
                </p:cNvPr>
                <p:cNvSpPr txBox="1"/>
                <p:nvPr/>
              </p:nvSpPr>
              <p:spPr>
                <a:xfrm rot="5400000">
                  <a:off x="17087956" y="12255662"/>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30" name="TextBox 2929">
                  <a:extLst>
                    <a:ext uri="{FF2B5EF4-FFF2-40B4-BE49-F238E27FC236}">
                      <a16:creationId xmlns:a16="http://schemas.microsoft.com/office/drawing/2014/main" id="{A6FF17D9-AE64-2749-7DED-6F56CA19D29A}"/>
                    </a:ext>
                  </a:extLst>
                </p:cNvPr>
                <p:cNvSpPr txBox="1">
                  <a:spLocks noRot="1" noChangeAspect="1" noMove="1" noResize="1" noEditPoints="1" noAdjustHandles="1" noChangeArrowheads="1" noChangeShapeType="1" noTextEdit="1"/>
                </p:cNvSpPr>
                <p:nvPr/>
              </p:nvSpPr>
              <p:spPr>
                <a:xfrm rot="5400000">
                  <a:off x="17087956" y="12255662"/>
                  <a:ext cx="285810" cy="492443"/>
                </a:xfrm>
                <a:prstGeom prst="rect">
                  <a:avLst/>
                </a:prstGeom>
                <a:blipFill>
                  <a:blip r:embed="rId68"/>
                  <a:stretch>
                    <a:fillRect b="-5217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EC3F28D-B206-F05A-D7B8-0F1D6C6323B1}"/>
                    </a:ext>
                  </a:extLst>
                </p:cNvPr>
                <p:cNvSpPr txBox="1"/>
                <p:nvPr/>
              </p:nvSpPr>
              <p:spPr>
                <a:xfrm rot="5400000">
                  <a:off x="15460643" y="12267405"/>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31" name="TextBox 2930">
                  <a:extLst>
                    <a:ext uri="{FF2B5EF4-FFF2-40B4-BE49-F238E27FC236}">
                      <a16:creationId xmlns:a16="http://schemas.microsoft.com/office/drawing/2014/main" id="{02CFD4C1-C6AE-CD20-D4CE-3D18748BEFFF}"/>
                    </a:ext>
                  </a:extLst>
                </p:cNvPr>
                <p:cNvSpPr txBox="1">
                  <a:spLocks noRot="1" noChangeAspect="1" noMove="1" noResize="1" noEditPoints="1" noAdjustHandles="1" noChangeArrowheads="1" noChangeShapeType="1" noTextEdit="1"/>
                </p:cNvSpPr>
                <p:nvPr/>
              </p:nvSpPr>
              <p:spPr>
                <a:xfrm rot="5400000">
                  <a:off x="15460643" y="12267405"/>
                  <a:ext cx="285810" cy="492443"/>
                </a:xfrm>
                <a:prstGeom prst="rect">
                  <a:avLst/>
                </a:prstGeom>
                <a:blipFill>
                  <a:blip r:embed="rId68"/>
                  <a:stretch>
                    <a:fillRect b="-5217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2B34658-C7C5-C6C3-36A9-855647C50035}"/>
                    </a:ext>
                  </a:extLst>
                </p:cNvPr>
                <p:cNvSpPr txBox="1"/>
                <p:nvPr/>
              </p:nvSpPr>
              <p:spPr>
                <a:xfrm>
                  <a:off x="17157383" y="12273005"/>
                  <a:ext cx="69980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oMath>
                    </m:oMathPara>
                  </a14:m>
                  <a:endParaRPr lang="en-CA" sz="3200" dirty="0">
                    <a:latin typeface="+mj-lt"/>
                  </a:endParaRPr>
                </a:p>
              </p:txBody>
            </p:sp>
          </mc:Choice>
          <mc:Fallback xmlns="">
            <p:sp>
              <p:nvSpPr>
                <p:cNvPr id="23" name="TextBox 22">
                  <a:extLst>
                    <a:ext uri="{FF2B5EF4-FFF2-40B4-BE49-F238E27FC236}">
                      <a16:creationId xmlns:a16="http://schemas.microsoft.com/office/drawing/2014/main" id="{42B34658-C7C5-C6C3-36A9-855647C50035}"/>
                    </a:ext>
                  </a:extLst>
                </p:cNvPr>
                <p:cNvSpPr txBox="1">
                  <a:spLocks noRot="1" noChangeAspect="1" noMove="1" noResize="1" noEditPoints="1" noAdjustHandles="1" noChangeArrowheads="1" noChangeShapeType="1" noTextEdit="1"/>
                </p:cNvSpPr>
                <p:nvPr/>
              </p:nvSpPr>
              <p:spPr>
                <a:xfrm>
                  <a:off x="17157383" y="12273005"/>
                  <a:ext cx="699809" cy="584775"/>
                </a:xfrm>
                <a:prstGeom prst="rect">
                  <a:avLst/>
                </a:prstGeom>
                <a:blipFill>
                  <a:blip r:embed="rId6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3C61640-AEC7-4CAF-5997-416952B10994}"/>
                    </a:ext>
                  </a:extLst>
                </p:cNvPr>
                <p:cNvSpPr txBox="1"/>
                <p:nvPr/>
              </p:nvSpPr>
              <p:spPr>
                <a:xfrm rot="5400000">
                  <a:off x="17698204" y="12249207"/>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33" name="TextBox 2932">
                  <a:extLst>
                    <a:ext uri="{FF2B5EF4-FFF2-40B4-BE49-F238E27FC236}">
                      <a16:creationId xmlns:a16="http://schemas.microsoft.com/office/drawing/2014/main" id="{D4A2EAA9-8857-8F6D-2071-C651063C9ED2}"/>
                    </a:ext>
                  </a:extLst>
                </p:cNvPr>
                <p:cNvSpPr txBox="1">
                  <a:spLocks noRot="1" noChangeAspect="1" noMove="1" noResize="1" noEditPoints="1" noAdjustHandles="1" noChangeArrowheads="1" noChangeShapeType="1" noTextEdit="1"/>
                </p:cNvSpPr>
                <p:nvPr/>
              </p:nvSpPr>
              <p:spPr>
                <a:xfrm rot="5400000">
                  <a:off x="17698204" y="12249207"/>
                  <a:ext cx="285810" cy="492443"/>
                </a:xfrm>
                <a:prstGeom prst="rect">
                  <a:avLst/>
                </a:prstGeom>
                <a:blipFill>
                  <a:blip r:embed="rId70"/>
                  <a:stretch>
                    <a:fillRect b="-45833"/>
                  </a:stretch>
                </a:blipFill>
              </p:spPr>
              <p:txBody>
                <a:bodyPr/>
                <a:lstStyle/>
                <a:p>
                  <a:r>
                    <a:rPr lang="en-CA">
                      <a:noFill/>
                    </a:rPr>
                    <a:t> </a:t>
                  </a:r>
                </a:p>
              </p:txBody>
            </p:sp>
          </mc:Fallback>
        </mc:AlternateContent>
        <p:cxnSp>
          <p:nvCxnSpPr>
            <p:cNvPr id="25" name="Straight Connector 24">
              <a:extLst>
                <a:ext uri="{FF2B5EF4-FFF2-40B4-BE49-F238E27FC236}">
                  <a16:creationId xmlns:a16="http://schemas.microsoft.com/office/drawing/2014/main" id="{E5B5C184-BCDA-A9F7-ABF1-21FCD7EEA5A6}"/>
                </a:ext>
              </a:extLst>
            </p:cNvPr>
            <p:cNvCxnSpPr>
              <a:cxnSpLocks/>
              <a:endCxn id="33" idx="1"/>
            </p:cNvCxnSpPr>
            <p:nvPr/>
          </p:nvCxnSpPr>
          <p:spPr>
            <a:xfrm flipV="1">
              <a:off x="17753932" y="11562146"/>
              <a:ext cx="3953062" cy="22589"/>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856B10C8-7E23-790B-EFC1-1FAFD26C49D7}"/>
                </a:ext>
              </a:extLst>
            </p:cNvPr>
            <p:cNvCxnSpPr>
              <a:cxnSpLocks/>
              <a:endCxn id="32" idx="1"/>
            </p:cNvCxnSpPr>
            <p:nvPr/>
          </p:nvCxnSpPr>
          <p:spPr>
            <a:xfrm flipV="1">
              <a:off x="17754854" y="12160866"/>
              <a:ext cx="3951175" cy="15017"/>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7C269A86-E35F-00B6-EE65-1FBB29DF7AD5}"/>
                </a:ext>
              </a:extLst>
            </p:cNvPr>
            <p:cNvCxnSpPr>
              <a:cxnSpLocks/>
              <a:endCxn id="6" idx="1"/>
            </p:cNvCxnSpPr>
            <p:nvPr/>
          </p:nvCxnSpPr>
          <p:spPr>
            <a:xfrm flipV="1">
              <a:off x="17749181" y="13471940"/>
              <a:ext cx="3951808" cy="28849"/>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68DB30C0-8D28-56CD-2701-7D48343D4CC8}"/>
                </a:ext>
              </a:extLst>
            </p:cNvPr>
            <p:cNvCxnSpPr>
              <a:cxnSpLocks/>
            </p:cNvCxnSpPr>
            <p:nvPr/>
          </p:nvCxnSpPr>
          <p:spPr>
            <a:xfrm flipV="1">
              <a:off x="17753696" y="13000940"/>
              <a:ext cx="3947293" cy="3897"/>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B93FEEC-5BB6-9C5B-C2ED-851A2EE95461}"/>
                    </a:ext>
                  </a:extLst>
                </p:cNvPr>
                <p:cNvSpPr txBox="1"/>
                <p:nvPr/>
              </p:nvSpPr>
              <p:spPr>
                <a:xfrm>
                  <a:off x="19992388" y="12347117"/>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38" name="TextBox 2937">
                  <a:extLst>
                    <a:ext uri="{FF2B5EF4-FFF2-40B4-BE49-F238E27FC236}">
                      <a16:creationId xmlns:a16="http://schemas.microsoft.com/office/drawing/2014/main" id="{EE763DF1-3EF8-AF18-7C97-E9C3D53B59F2}"/>
                    </a:ext>
                  </a:extLst>
                </p:cNvPr>
                <p:cNvSpPr txBox="1">
                  <a:spLocks noRot="1" noChangeAspect="1" noMove="1" noResize="1" noEditPoints="1" noAdjustHandles="1" noChangeArrowheads="1" noChangeShapeType="1" noTextEdit="1"/>
                </p:cNvSpPr>
                <p:nvPr/>
              </p:nvSpPr>
              <p:spPr>
                <a:xfrm>
                  <a:off x="19992388" y="12347117"/>
                  <a:ext cx="285810" cy="492443"/>
                </a:xfrm>
                <a:prstGeom prst="rect">
                  <a:avLst/>
                </a:prstGeom>
                <a:blipFill>
                  <a:blip r:embed="rId71"/>
                  <a:stretch>
                    <a:fillRect r="-45833"/>
                  </a:stretch>
                </a:blipFill>
              </p:spPr>
              <p:txBody>
                <a:bodyPr/>
                <a:lstStyle/>
                <a:p>
                  <a:r>
                    <a:rPr lang="en-CA">
                      <a:noFill/>
                    </a:rPr>
                    <a:t> </a:t>
                  </a:r>
                </a:p>
              </p:txBody>
            </p:sp>
          </mc:Fallback>
        </mc:AlternateContent>
        <p:pic>
          <p:nvPicPr>
            <p:cNvPr id="31" name="Picture 2">
              <a:extLst>
                <a:ext uri="{FF2B5EF4-FFF2-40B4-BE49-F238E27FC236}">
                  <a16:creationId xmlns:a16="http://schemas.microsoft.com/office/drawing/2014/main" id="{3F0A0EEA-010F-EB13-F3C4-AFECA32CEF32}"/>
                </a:ext>
              </a:extLst>
            </p:cNvPr>
            <p:cNvPicPr>
              <a:picLocks noChangeAspect="1" noChangeArrowheads="1"/>
            </p:cNvPicPr>
            <p:nvPr/>
          </p:nvPicPr>
          <p:blipFill rotWithShape="1">
            <a:blip r:embed="rId72">
              <a:extLst>
                <a:ext uri="{28A0092B-C50C-407E-A947-70E740481C1C}">
                  <a14:useLocalDpi xmlns:a14="http://schemas.microsoft.com/office/drawing/2010/main" val="0"/>
                </a:ext>
              </a:extLst>
            </a:blip>
            <a:srcRect l="57236" t="52584" r="31145" b="30875"/>
            <a:stretch/>
          </p:blipFill>
          <p:spPr bwMode="auto">
            <a:xfrm>
              <a:off x="21706411" y="12806498"/>
              <a:ext cx="467915" cy="36766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a:extLst>
                <a:ext uri="{FF2B5EF4-FFF2-40B4-BE49-F238E27FC236}">
                  <a16:creationId xmlns:a16="http://schemas.microsoft.com/office/drawing/2014/main" id="{521CF0B4-A082-3963-FB60-664B8A8CB033}"/>
                </a:ext>
              </a:extLst>
            </p:cNvPr>
            <p:cNvPicPr>
              <a:picLocks noChangeAspect="1" noChangeArrowheads="1"/>
            </p:cNvPicPr>
            <p:nvPr/>
          </p:nvPicPr>
          <p:blipFill rotWithShape="1">
            <a:blip r:embed="rId72">
              <a:extLst>
                <a:ext uri="{28A0092B-C50C-407E-A947-70E740481C1C}">
                  <a14:useLocalDpi xmlns:a14="http://schemas.microsoft.com/office/drawing/2010/main" val="0"/>
                </a:ext>
              </a:extLst>
            </a:blip>
            <a:srcRect l="57236" t="52584" r="31145" b="30875"/>
            <a:stretch/>
          </p:blipFill>
          <p:spPr bwMode="auto">
            <a:xfrm>
              <a:off x="21706029" y="11977032"/>
              <a:ext cx="467915" cy="36766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AC1CCBCA-6A36-434A-D29D-1BB708B3AEEC}"/>
                </a:ext>
              </a:extLst>
            </p:cNvPr>
            <p:cNvPicPr>
              <a:picLocks noChangeAspect="1" noChangeArrowheads="1"/>
            </p:cNvPicPr>
            <p:nvPr/>
          </p:nvPicPr>
          <p:blipFill rotWithShape="1">
            <a:blip r:embed="rId72">
              <a:extLst>
                <a:ext uri="{28A0092B-C50C-407E-A947-70E740481C1C}">
                  <a14:useLocalDpi xmlns:a14="http://schemas.microsoft.com/office/drawing/2010/main" val="0"/>
                </a:ext>
              </a:extLst>
            </a:blip>
            <a:srcRect l="57236" t="52584" r="31145" b="30875"/>
            <a:stretch/>
          </p:blipFill>
          <p:spPr bwMode="auto">
            <a:xfrm>
              <a:off x="21706994" y="11378312"/>
              <a:ext cx="467915" cy="36766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BBE8795-37FC-2308-6357-DC678D633577}"/>
                    </a:ext>
                  </a:extLst>
                </p:cNvPr>
                <p:cNvSpPr txBox="1"/>
                <p:nvPr/>
              </p:nvSpPr>
              <p:spPr>
                <a:xfrm rot="5400000">
                  <a:off x="21468416" y="12254459"/>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46" name="TextBox 2945">
                  <a:extLst>
                    <a:ext uri="{FF2B5EF4-FFF2-40B4-BE49-F238E27FC236}">
                      <a16:creationId xmlns:a16="http://schemas.microsoft.com/office/drawing/2014/main" id="{CDB254FB-EED6-DE07-BB8E-BE0048B2806C}"/>
                    </a:ext>
                  </a:extLst>
                </p:cNvPr>
                <p:cNvSpPr txBox="1">
                  <a:spLocks noRot="1" noChangeAspect="1" noMove="1" noResize="1" noEditPoints="1" noAdjustHandles="1" noChangeArrowheads="1" noChangeShapeType="1" noTextEdit="1"/>
                </p:cNvSpPr>
                <p:nvPr/>
              </p:nvSpPr>
              <p:spPr>
                <a:xfrm rot="5400000">
                  <a:off x="21468416" y="12254459"/>
                  <a:ext cx="285810" cy="492443"/>
                </a:xfrm>
                <a:prstGeom prst="rect">
                  <a:avLst/>
                </a:prstGeom>
                <a:blipFill>
                  <a:blip r:embed="rId68"/>
                  <a:stretch>
                    <a:fillRect b="-52174"/>
                  </a:stretch>
                </a:blipFill>
              </p:spPr>
              <p:txBody>
                <a:bodyPr/>
                <a:lstStyle/>
                <a:p>
                  <a:r>
                    <a:rPr lang="en-CA">
                      <a:noFill/>
                    </a:rPr>
                    <a:t> </a:t>
                  </a:r>
                </a:p>
              </p:txBody>
            </p:sp>
          </mc:Fallback>
        </mc:AlternateContent>
        <p:sp>
          <p:nvSpPr>
            <p:cNvPr id="35" name="Rounded Rectangle 34">
              <a:extLst>
                <a:ext uri="{FF2B5EF4-FFF2-40B4-BE49-F238E27FC236}">
                  <a16:creationId xmlns:a16="http://schemas.microsoft.com/office/drawing/2014/main" id="{0B845F2F-6C67-6F57-86B6-95C651D3170E}"/>
                </a:ext>
              </a:extLst>
            </p:cNvPr>
            <p:cNvSpPr/>
            <p:nvPr/>
          </p:nvSpPr>
          <p:spPr>
            <a:xfrm>
              <a:off x="15710640" y="11396570"/>
              <a:ext cx="1368021" cy="22793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75C87C8-B024-9B3B-9719-AF9C8E89539C}"/>
                    </a:ext>
                  </a:extLst>
                </p:cNvPr>
                <p:cNvSpPr txBox="1"/>
                <p:nvPr/>
              </p:nvSpPr>
              <p:spPr>
                <a:xfrm>
                  <a:off x="15995895" y="12382461"/>
                  <a:ext cx="670918" cy="3284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𝜽</m:t>
                            </m:r>
                          </m:e>
                        </m:d>
                      </m:oMath>
                    </m:oMathPara>
                  </a14:m>
                  <a:endParaRPr lang="en-CA" sz="2000" b="1" dirty="0">
                    <a:latin typeface="+mj-lt"/>
                  </a:endParaRPr>
                </a:p>
              </p:txBody>
            </p:sp>
          </mc:Choice>
          <mc:Fallback xmlns="">
            <p:sp>
              <p:nvSpPr>
                <p:cNvPr id="36" name="TextBox 35">
                  <a:extLst>
                    <a:ext uri="{FF2B5EF4-FFF2-40B4-BE49-F238E27FC236}">
                      <a16:creationId xmlns:a16="http://schemas.microsoft.com/office/drawing/2014/main" id="{775C87C8-B024-9B3B-9719-AF9C8E89539C}"/>
                    </a:ext>
                  </a:extLst>
                </p:cNvPr>
                <p:cNvSpPr txBox="1">
                  <a:spLocks noRot="1" noChangeAspect="1" noMove="1" noResize="1" noEditPoints="1" noAdjustHandles="1" noChangeArrowheads="1" noChangeShapeType="1" noTextEdit="1"/>
                </p:cNvSpPr>
                <p:nvPr/>
              </p:nvSpPr>
              <p:spPr>
                <a:xfrm>
                  <a:off x="15995895" y="12382461"/>
                  <a:ext cx="670918" cy="328485"/>
                </a:xfrm>
                <a:prstGeom prst="rect">
                  <a:avLst/>
                </a:prstGeom>
                <a:blipFill>
                  <a:blip r:embed="rId73"/>
                  <a:stretch>
                    <a:fillRect l="-10204" t="-15385" b="-11538"/>
                  </a:stretch>
                </a:blipFill>
              </p:spPr>
              <p:txBody>
                <a:bodyPr/>
                <a:lstStyle/>
                <a:p>
                  <a:r>
                    <a:rPr lang="en-CA">
                      <a:noFill/>
                    </a:rPr>
                    <a:t> </a:t>
                  </a:r>
                </a:p>
              </p:txBody>
            </p:sp>
          </mc:Fallback>
        </mc:AlternateContent>
        <p:sp>
          <p:nvSpPr>
            <p:cNvPr id="38" name="Rounded Rectangle 37">
              <a:extLst>
                <a:ext uri="{FF2B5EF4-FFF2-40B4-BE49-F238E27FC236}">
                  <a16:creationId xmlns:a16="http://schemas.microsoft.com/office/drawing/2014/main" id="{4A9C2E16-5F2F-F24C-49EC-0B74C607D173}"/>
                </a:ext>
              </a:extLst>
            </p:cNvPr>
            <p:cNvSpPr/>
            <p:nvPr/>
          </p:nvSpPr>
          <p:spPr>
            <a:xfrm>
              <a:off x="17943969" y="11398442"/>
              <a:ext cx="911340" cy="22774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p:sp>
          <p:nvSpPr>
            <p:cNvPr id="39" name="Rounded Rectangle 38">
              <a:extLst>
                <a:ext uri="{FF2B5EF4-FFF2-40B4-BE49-F238E27FC236}">
                  <a16:creationId xmlns:a16="http://schemas.microsoft.com/office/drawing/2014/main" id="{B8BAC242-C06B-72F2-05FC-87EF5DD1AF7E}"/>
                </a:ext>
              </a:extLst>
            </p:cNvPr>
            <p:cNvSpPr/>
            <p:nvPr/>
          </p:nvSpPr>
          <p:spPr>
            <a:xfrm>
              <a:off x="18977816" y="11407684"/>
              <a:ext cx="909774" cy="22793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1AA9DE9-3C2F-C3EA-249E-3CFC5C0BF9F7}"/>
                    </a:ext>
                  </a:extLst>
                </p:cNvPr>
                <p:cNvSpPr txBox="1"/>
                <p:nvPr/>
              </p:nvSpPr>
              <p:spPr>
                <a:xfrm>
                  <a:off x="17973941" y="12382461"/>
                  <a:ext cx="824804" cy="3610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𝜽</m:t>
                                </m:r>
                              </m:e>
                              <m:sup>
                                <m:r>
                                  <a:rPr lang="en-US" sz="2000" b="1" i="1" smtClean="0">
                                    <a:latin typeface="Cambria Math" panose="02040503050406030204" pitchFamily="18" charset="0"/>
                                  </a:rPr>
                                  <m:t>𝟏</m:t>
                                </m:r>
                              </m:sup>
                            </m:sSup>
                          </m:e>
                        </m:d>
                      </m:oMath>
                    </m:oMathPara>
                  </a14:m>
                  <a:endParaRPr lang="en-CA" sz="2000" b="1" dirty="0">
                    <a:latin typeface="+mj-lt"/>
                  </a:endParaRPr>
                </a:p>
              </p:txBody>
            </p:sp>
          </mc:Choice>
          <mc:Fallback xmlns="">
            <p:sp>
              <p:nvSpPr>
                <p:cNvPr id="46" name="TextBox 45">
                  <a:extLst>
                    <a:ext uri="{FF2B5EF4-FFF2-40B4-BE49-F238E27FC236}">
                      <a16:creationId xmlns:a16="http://schemas.microsoft.com/office/drawing/2014/main" id="{C1AA9DE9-3C2F-C3EA-249E-3CFC5C0BF9F7}"/>
                    </a:ext>
                  </a:extLst>
                </p:cNvPr>
                <p:cNvSpPr txBox="1">
                  <a:spLocks noRot="1" noChangeAspect="1" noMove="1" noResize="1" noEditPoints="1" noAdjustHandles="1" noChangeArrowheads="1" noChangeShapeType="1" noTextEdit="1"/>
                </p:cNvSpPr>
                <p:nvPr/>
              </p:nvSpPr>
              <p:spPr>
                <a:xfrm>
                  <a:off x="17973941" y="12382461"/>
                  <a:ext cx="824804" cy="361001"/>
                </a:xfrm>
                <a:prstGeom prst="rect">
                  <a:avLst/>
                </a:prstGeom>
                <a:blipFill>
                  <a:blip r:embed="rId74"/>
                  <a:stretch>
                    <a:fillRect l="-8333" t="-10345" b="-3448"/>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27A9FC3-9181-B450-6B8E-7C3418A5B85C}"/>
                    </a:ext>
                  </a:extLst>
                </p:cNvPr>
                <p:cNvSpPr txBox="1"/>
                <p:nvPr/>
              </p:nvSpPr>
              <p:spPr>
                <a:xfrm>
                  <a:off x="19049290" y="12393028"/>
                  <a:ext cx="824804" cy="3610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𝜽</m:t>
                                </m:r>
                              </m:e>
                              <m:sup>
                                <m:r>
                                  <a:rPr lang="en-US" sz="2000" b="1" i="1" smtClean="0">
                                    <a:latin typeface="Cambria Math" panose="02040503050406030204" pitchFamily="18" charset="0"/>
                                  </a:rPr>
                                  <m:t>𝟐</m:t>
                                </m:r>
                              </m:sup>
                            </m:sSup>
                          </m:e>
                        </m:d>
                      </m:oMath>
                    </m:oMathPara>
                  </a14:m>
                  <a:endParaRPr lang="en-CA" sz="2000" b="1" dirty="0">
                    <a:latin typeface="+mj-lt"/>
                  </a:endParaRPr>
                </a:p>
              </p:txBody>
            </p:sp>
          </mc:Choice>
          <mc:Fallback xmlns="">
            <p:sp>
              <p:nvSpPr>
                <p:cNvPr id="49" name="TextBox 48">
                  <a:extLst>
                    <a:ext uri="{FF2B5EF4-FFF2-40B4-BE49-F238E27FC236}">
                      <a16:creationId xmlns:a16="http://schemas.microsoft.com/office/drawing/2014/main" id="{C27A9FC3-9181-B450-6B8E-7C3418A5B85C}"/>
                    </a:ext>
                  </a:extLst>
                </p:cNvPr>
                <p:cNvSpPr txBox="1">
                  <a:spLocks noRot="1" noChangeAspect="1" noMove="1" noResize="1" noEditPoints="1" noAdjustHandles="1" noChangeArrowheads="1" noChangeShapeType="1" noTextEdit="1"/>
                </p:cNvSpPr>
                <p:nvPr/>
              </p:nvSpPr>
              <p:spPr>
                <a:xfrm>
                  <a:off x="19049290" y="12393028"/>
                  <a:ext cx="824804" cy="361001"/>
                </a:xfrm>
                <a:prstGeom prst="rect">
                  <a:avLst/>
                </a:prstGeom>
                <a:blipFill>
                  <a:blip r:embed="rId75"/>
                  <a:stretch>
                    <a:fillRect l="-6667" t="-10714" b="-3571"/>
                  </a:stretch>
                </a:blipFill>
              </p:spPr>
              <p:txBody>
                <a:bodyPr/>
                <a:lstStyle/>
                <a:p>
                  <a:r>
                    <a:rPr lang="en-CA">
                      <a:noFill/>
                    </a:rPr>
                    <a:t> </a:t>
                  </a:r>
                </a:p>
              </p:txBody>
            </p:sp>
          </mc:Fallback>
        </mc:AlternateContent>
        <p:sp>
          <p:nvSpPr>
            <p:cNvPr id="50" name="Rounded Rectangle 49">
              <a:extLst>
                <a:ext uri="{FF2B5EF4-FFF2-40B4-BE49-F238E27FC236}">
                  <a16:creationId xmlns:a16="http://schemas.microsoft.com/office/drawing/2014/main" id="{ED55587F-CDEC-A78C-8C79-4C81B2887FB2}"/>
                </a:ext>
              </a:extLst>
            </p:cNvPr>
            <p:cNvSpPr/>
            <p:nvPr/>
          </p:nvSpPr>
          <p:spPr>
            <a:xfrm>
              <a:off x="20540057" y="11409932"/>
              <a:ext cx="930890" cy="226597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9F9B25D-EFC5-BCF1-962C-E669D7335521}"/>
                    </a:ext>
                  </a:extLst>
                </p:cNvPr>
                <p:cNvSpPr txBox="1"/>
                <p:nvPr/>
              </p:nvSpPr>
              <p:spPr>
                <a:xfrm>
                  <a:off x="20607781" y="12403148"/>
                  <a:ext cx="856425" cy="3610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𝜽</m:t>
                                </m:r>
                              </m:e>
                              <m:sup>
                                <m:r>
                                  <a:rPr lang="en-US" sz="2000" b="1" i="1" smtClean="0">
                                    <a:latin typeface="Cambria Math" panose="02040503050406030204" pitchFamily="18" charset="0"/>
                                  </a:rPr>
                                  <m:t>𝑫</m:t>
                                </m:r>
                              </m:sup>
                            </m:sSup>
                          </m:e>
                        </m:d>
                      </m:oMath>
                    </m:oMathPara>
                  </a14:m>
                  <a:endParaRPr lang="en-CA" sz="2000" b="1" dirty="0">
                    <a:latin typeface="+mj-lt"/>
                  </a:endParaRPr>
                </a:p>
              </p:txBody>
            </p:sp>
          </mc:Choice>
          <mc:Fallback xmlns="">
            <p:sp>
              <p:nvSpPr>
                <p:cNvPr id="52" name="TextBox 51">
                  <a:extLst>
                    <a:ext uri="{FF2B5EF4-FFF2-40B4-BE49-F238E27FC236}">
                      <a16:creationId xmlns:a16="http://schemas.microsoft.com/office/drawing/2014/main" id="{29F9B25D-EFC5-BCF1-962C-E669D7335521}"/>
                    </a:ext>
                  </a:extLst>
                </p:cNvPr>
                <p:cNvSpPr txBox="1">
                  <a:spLocks noRot="1" noChangeAspect="1" noMove="1" noResize="1" noEditPoints="1" noAdjustHandles="1" noChangeArrowheads="1" noChangeShapeType="1" noTextEdit="1"/>
                </p:cNvSpPr>
                <p:nvPr/>
              </p:nvSpPr>
              <p:spPr>
                <a:xfrm>
                  <a:off x="20607781" y="12403148"/>
                  <a:ext cx="856425" cy="361001"/>
                </a:xfrm>
                <a:prstGeom prst="rect">
                  <a:avLst/>
                </a:prstGeom>
                <a:blipFill>
                  <a:blip r:embed="rId76"/>
                  <a:stretch>
                    <a:fillRect l="-8065" t="-10714" b="-3571"/>
                  </a:stretch>
                </a:blipFill>
              </p:spPr>
              <p:txBody>
                <a:bodyPr/>
                <a:lstStyle/>
                <a:p>
                  <a:r>
                    <a:rPr lang="en-CA">
                      <a:noFill/>
                    </a:rPr>
                    <a:t> </a:t>
                  </a:r>
                </a:p>
              </p:txBody>
            </p:sp>
          </mc:Fallback>
        </mc:AlternateContent>
      </p:grpSp>
    </p:spTree>
    <p:custDataLst>
      <p:tags r:id="rId1"/>
    </p:custDataLst>
    <p:extLst>
      <p:ext uri="{BB962C8B-B14F-4D97-AF65-F5344CB8AC3E}">
        <p14:creationId xmlns:p14="http://schemas.microsoft.com/office/powerpoint/2010/main" val="205387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animBg="1"/>
      <p:bldP spid="13" grpId="0"/>
      <p:bldP spid="18" grpId="0"/>
      <p:bldP spid="5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ounded Rectangle 55">
            <a:extLst>
              <a:ext uri="{FF2B5EF4-FFF2-40B4-BE49-F238E27FC236}">
                <a16:creationId xmlns:a16="http://schemas.microsoft.com/office/drawing/2014/main" id="{D83C7B39-2498-9001-349F-7E28421D39B9}"/>
              </a:ext>
            </a:extLst>
          </p:cNvPr>
          <p:cNvSpPr/>
          <p:nvPr/>
        </p:nvSpPr>
        <p:spPr>
          <a:xfrm>
            <a:off x="6979168" y="4751492"/>
            <a:ext cx="4783746" cy="107292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a:extLst>
              <a:ext uri="{FF2B5EF4-FFF2-40B4-BE49-F238E27FC236}">
                <a16:creationId xmlns:a16="http://schemas.microsoft.com/office/drawing/2014/main" id="{2BC8ABD9-32D1-E9DC-3E76-616C2EC37E35}"/>
              </a:ext>
            </a:extLst>
          </p:cNvPr>
          <p:cNvPicPr>
            <a:picLocks noChangeAspect="1"/>
          </p:cNvPicPr>
          <p:nvPr/>
        </p:nvPicPr>
        <p:blipFill rotWithShape="1">
          <a:blip r:embed="rId4"/>
          <a:srcRect l="9161" t="5033" r="7108" b="6881"/>
          <a:stretch/>
        </p:blipFill>
        <p:spPr>
          <a:xfrm>
            <a:off x="429086" y="1631200"/>
            <a:ext cx="4242338" cy="4098708"/>
          </a:xfrm>
          <a:prstGeom prst="rect">
            <a:avLst/>
          </a:prstGeom>
        </p:spPr>
      </p:pic>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Gate Set – Local Operations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33</a:t>
            </a:fld>
            <a:endParaRPr lang="de-AT"/>
          </a:p>
        </p:txBody>
      </p:sp>
      <p:sp>
        <p:nvSpPr>
          <p:cNvPr id="17" name="TextBox 16">
            <a:extLst>
              <a:ext uri="{FF2B5EF4-FFF2-40B4-BE49-F238E27FC236}">
                <a16:creationId xmlns:a16="http://schemas.microsoft.com/office/drawing/2014/main" id="{20A798AB-66BE-44F3-DF61-AED1C07165A3}"/>
              </a:ext>
            </a:extLst>
          </p:cNvPr>
          <p:cNvSpPr txBox="1"/>
          <p:nvPr/>
        </p:nvSpPr>
        <p:spPr>
          <a:xfrm>
            <a:off x="1405589" y="1084157"/>
            <a:ext cx="2640013" cy="400110"/>
          </a:xfrm>
          <a:prstGeom prst="rect">
            <a:avLst/>
          </a:prstGeom>
          <a:noFill/>
        </p:spPr>
        <p:txBody>
          <a:bodyPr wrap="square">
            <a:spAutoFit/>
          </a:bodyPr>
          <a:lstStyle/>
          <a:p>
            <a:r>
              <a:rPr lang="en-CA" sz="2000" dirty="0"/>
              <a:t>Array of UDW detectors</a:t>
            </a:r>
          </a:p>
        </p:txBody>
      </p:sp>
      <p:sp>
        <p:nvSpPr>
          <p:cNvPr id="23" name="TextBox 22">
            <a:extLst>
              <a:ext uri="{FF2B5EF4-FFF2-40B4-BE49-F238E27FC236}">
                <a16:creationId xmlns:a16="http://schemas.microsoft.com/office/drawing/2014/main" id="{EC3CD122-FDE7-A51C-8613-63687C3C5E24}"/>
              </a:ext>
            </a:extLst>
          </p:cNvPr>
          <p:cNvSpPr txBox="1"/>
          <p:nvPr/>
        </p:nvSpPr>
        <p:spPr>
          <a:xfrm>
            <a:off x="7079035" y="4751249"/>
            <a:ext cx="4683879" cy="1015663"/>
          </a:xfrm>
          <a:prstGeom prst="rect">
            <a:avLst/>
          </a:prstGeom>
          <a:noFill/>
          <a:ln>
            <a:noFill/>
          </a:ln>
        </p:spPr>
        <p:txBody>
          <a:bodyPr wrap="square">
            <a:spAutoFit/>
          </a:bodyPr>
          <a:lstStyle/>
          <a:p>
            <a:r>
              <a:rPr lang="en-CA" sz="2000" dirty="0"/>
              <a:t>Rotation angles can be controlled by changing spacetime trajectories of detectors rather than through energy gap. </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361D27-29F4-0528-322E-9B99A0377000}"/>
                  </a:ext>
                </a:extLst>
              </p:cNvPr>
              <p:cNvSpPr txBox="1"/>
              <p:nvPr/>
            </p:nvSpPr>
            <p:spPr>
              <a:xfrm>
                <a:off x="7995041" y="1589497"/>
                <a:ext cx="3473708"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𝐻</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𝜗</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𝜑</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num>
                        <m:den>
                          <m:r>
                            <a:rPr lang="en-US" sz="2000" b="0" i="1" smtClean="0">
                              <a:latin typeface="Cambria Math" panose="02040503050406030204" pitchFamily="18" charset="0"/>
                            </a:rPr>
                            <m:t>2</m:t>
                          </m:r>
                        </m:den>
                      </m:f>
                      <m:r>
                        <a:rPr lang="en-US" sz="2000" b="1" i="1" smtClean="0">
                          <a:latin typeface="Cambria Math" panose="02040503050406030204" pitchFamily="18" charset="0"/>
                        </a:rPr>
                        <m:t>𝒏</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𝜗</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𝜑</m:t>
                              </m:r>
                            </m:e>
                            <m:sub>
                              <m:r>
                                <a:rPr lang="en-US" sz="2000" b="0" i="1" smtClean="0">
                                  <a:latin typeface="Cambria Math" panose="02040503050406030204" pitchFamily="18" charset="0"/>
                                </a:rPr>
                                <m:t>𝑖</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𝝈</m:t>
                              </m:r>
                            </m:e>
                          </m:acc>
                        </m:e>
                        <m:sub>
                          <m:r>
                            <a:rPr lang="en-US" sz="2000" b="0" i="1" smtClean="0">
                              <a:latin typeface="Cambria Math" panose="02040503050406030204" pitchFamily="18" charset="0"/>
                            </a:rPr>
                            <m:t>𝑖</m:t>
                          </m:r>
                        </m:sub>
                      </m:sSub>
                    </m:oMath>
                  </m:oMathPara>
                </a14:m>
                <a:endParaRPr lang="en-CA" sz="2000" dirty="0"/>
              </a:p>
            </p:txBody>
          </p:sp>
        </mc:Choice>
        <mc:Fallback xmlns="">
          <p:sp>
            <p:nvSpPr>
              <p:cNvPr id="26" name="TextBox 25">
                <a:extLst>
                  <a:ext uri="{FF2B5EF4-FFF2-40B4-BE49-F238E27FC236}">
                    <a16:creationId xmlns:a16="http://schemas.microsoft.com/office/drawing/2014/main" id="{8F361D27-29F4-0528-322E-9B99A0377000}"/>
                  </a:ext>
                </a:extLst>
              </p:cNvPr>
              <p:cNvSpPr txBox="1">
                <a:spLocks noRot="1" noChangeAspect="1" noMove="1" noResize="1" noEditPoints="1" noAdjustHandles="1" noChangeArrowheads="1" noChangeShapeType="1" noTextEdit="1"/>
              </p:cNvSpPr>
              <p:nvPr/>
            </p:nvSpPr>
            <p:spPr>
              <a:xfrm>
                <a:off x="7995041" y="1589497"/>
                <a:ext cx="3473708" cy="576183"/>
              </a:xfrm>
              <a:prstGeom prst="rect">
                <a:avLst/>
              </a:prstGeom>
              <a:blipFill>
                <a:blip r:embed="rId6"/>
                <a:stretch>
                  <a:fillRect l="-1095" r="-365" b="-1521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DEB0FBD-0C02-6A03-18A8-73D1355CB9B5}"/>
                  </a:ext>
                </a:extLst>
              </p:cNvPr>
              <p:cNvSpPr txBox="1"/>
              <p:nvPr/>
            </p:nvSpPr>
            <p:spPr>
              <a:xfrm>
                <a:off x="7536235" y="3680554"/>
                <a:ext cx="4186192" cy="707886"/>
              </a:xfrm>
              <a:prstGeom prst="rect">
                <a:avLst/>
              </a:prstGeom>
              <a:noFill/>
            </p:spPr>
            <p:txBody>
              <a:bodyPr wrap="square" rtlCol="0">
                <a:spAutoFit/>
              </a:bodyPr>
              <a:lstStyle/>
              <a:p>
                <a:r>
                  <a:rPr lang="en-CA" sz="2000" dirty="0"/>
                  <a:t>with rotation angles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/2</m:t>
                    </m:r>
                  </m:oMath>
                </a14:m>
                <a:r>
                  <a:rPr lang="en-CA" sz="2000" dirty="0"/>
                  <a:t> and trainable parameters </a:t>
                </a:r>
                <a14:m>
                  <m:oMath xmlns:m="http://schemas.openxmlformats.org/officeDocument/2006/math">
                    <m:r>
                      <a:rPr lang="en-US" sz="2000" b="1" i="1" smtClean="0">
                        <a:latin typeface="Cambria Math" panose="02040503050406030204" pitchFamily="18" charset="0"/>
                      </a:rPr>
                      <m:t>𝜽</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𝜗</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𝜑</m:t>
                                </m:r>
                              </m:e>
                              <m:sub>
                                <m:r>
                                  <a:rPr lang="en-US" sz="2000" b="0" i="1" smtClean="0">
                                    <a:latin typeface="Cambria Math" panose="02040503050406030204" pitchFamily="18" charset="0"/>
                                  </a:rPr>
                                  <m:t>𝑖</m:t>
                                </m:r>
                              </m:sub>
                            </m:sSub>
                          </m:e>
                        </m:d>
                      </m:e>
                      <m:sub>
                        <m:r>
                          <a:rPr lang="en-US" sz="2000" b="0" i="1" smtClean="0">
                            <a:latin typeface="Cambria Math" panose="02040503050406030204" pitchFamily="18" charset="0"/>
                          </a:rPr>
                          <m:t>𝑖</m:t>
                        </m:r>
                      </m:sub>
                    </m:sSub>
                  </m:oMath>
                </a14:m>
                <a:endParaRPr lang="en-CA" sz="2000" dirty="0"/>
              </a:p>
            </p:txBody>
          </p:sp>
        </mc:Choice>
        <mc:Fallback xmlns="">
          <p:sp>
            <p:nvSpPr>
              <p:cNvPr id="36" name="TextBox 35">
                <a:extLst>
                  <a:ext uri="{FF2B5EF4-FFF2-40B4-BE49-F238E27FC236}">
                    <a16:creationId xmlns:a16="http://schemas.microsoft.com/office/drawing/2014/main" id="{6DEB0FBD-0C02-6A03-18A8-73D1355CB9B5}"/>
                  </a:ext>
                </a:extLst>
              </p:cNvPr>
              <p:cNvSpPr txBox="1">
                <a:spLocks noRot="1" noChangeAspect="1" noMove="1" noResize="1" noEditPoints="1" noAdjustHandles="1" noChangeArrowheads="1" noChangeShapeType="1" noTextEdit="1"/>
              </p:cNvSpPr>
              <p:nvPr/>
            </p:nvSpPr>
            <p:spPr>
              <a:xfrm>
                <a:off x="7536235" y="3680554"/>
                <a:ext cx="4186192" cy="707886"/>
              </a:xfrm>
              <a:prstGeom prst="rect">
                <a:avLst/>
              </a:prstGeom>
              <a:blipFill>
                <a:blip r:embed="rId7"/>
                <a:stretch>
                  <a:fillRect l="-1511" t="-3509" r="-2417" b="-14035"/>
                </a:stretch>
              </a:blipFill>
            </p:spPr>
            <p:txBody>
              <a:bodyPr/>
              <a:lstStyle/>
              <a:p>
                <a:r>
                  <a:rPr lang="en-CA">
                    <a:noFill/>
                  </a:rPr>
                  <a:t> </a:t>
                </a:r>
              </a:p>
            </p:txBody>
          </p:sp>
        </mc:Fallback>
      </mc:AlternateContent>
      <p:sp>
        <p:nvSpPr>
          <p:cNvPr id="37" name="Right Arrow 36">
            <a:extLst>
              <a:ext uri="{FF2B5EF4-FFF2-40B4-BE49-F238E27FC236}">
                <a16:creationId xmlns:a16="http://schemas.microsoft.com/office/drawing/2014/main" id="{B4AB1A60-14B9-E225-BC44-04CDAA778871}"/>
              </a:ext>
            </a:extLst>
          </p:cNvPr>
          <p:cNvSpPr/>
          <p:nvPr/>
        </p:nvSpPr>
        <p:spPr>
          <a:xfrm>
            <a:off x="7079035" y="2601709"/>
            <a:ext cx="914400" cy="2274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TextBox 39">
            <a:extLst>
              <a:ext uri="{FF2B5EF4-FFF2-40B4-BE49-F238E27FC236}">
                <a16:creationId xmlns:a16="http://schemas.microsoft.com/office/drawing/2014/main" id="{439993C3-9F91-1CBA-C463-A0A4DBAB9685}"/>
              </a:ext>
            </a:extLst>
          </p:cNvPr>
          <p:cNvSpPr txBox="1"/>
          <p:nvPr/>
        </p:nvSpPr>
        <p:spPr>
          <a:xfrm>
            <a:off x="8206485" y="2514482"/>
            <a:ext cx="3443443" cy="400110"/>
          </a:xfrm>
          <a:prstGeom prst="rect">
            <a:avLst/>
          </a:prstGeom>
          <a:noFill/>
        </p:spPr>
        <p:txBody>
          <a:bodyPr wrap="square" rtlCol="0">
            <a:spAutoFit/>
          </a:bodyPr>
          <a:lstStyle/>
          <a:p>
            <a:r>
              <a:rPr lang="en-CA" sz="2000" dirty="0"/>
              <a:t>1-qubit rotation operators</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A5F1E1C-61D5-C9F9-C187-FFA1706F7BFE}"/>
                  </a:ext>
                </a:extLst>
              </p:cNvPr>
              <p:cNvSpPr txBox="1"/>
              <p:nvPr/>
            </p:nvSpPr>
            <p:spPr>
              <a:xfrm>
                <a:off x="7993435" y="2981583"/>
                <a:ext cx="3971985" cy="6299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acc>
                            <m:accPr>
                              <m:chr m:val="̂"/>
                              <m:ctrlPr>
                                <a:rPr lang="en-CA" sz="2000" i="1" dirty="0" smtClean="0">
                                  <a:latin typeface="Cambria Math" panose="02040503050406030204" pitchFamily="18" charset="0"/>
                                </a:rPr>
                              </m:ctrlPr>
                            </m:accPr>
                            <m:e>
                              <m:r>
                                <a:rPr lang="en-US" sz="2000" b="0" i="1" dirty="0" smtClean="0">
                                  <a:latin typeface="Cambria Math" panose="02040503050406030204" pitchFamily="18" charset="0"/>
                                </a:rPr>
                                <m:t>𝑈</m:t>
                              </m:r>
                            </m:e>
                          </m:acc>
                        </m:e>
                        <m:sub>
                          <m:r>
                            <a:rPr lang="en-US" sz="2000" b="0" i="1" dirty="0" smtClean="0">
                              <a:latin typeface="Cambria Math" panose="02040503050406030204" pitchFamily="18" charset="0"/>
                            </a:rPr>
                            <m:t>𝑝𝑎𝑟𝑎</m:t>
                          </m:r>
                        </m:sub>
                      </m:sSub>
                      <m:r>
                        <m:rPr>
                          <m:nor/>
                        </m:rPr>
                        <a:rPr lang="en-US" sz="2000" b="0" i="0"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US" sz="2000" b="1" i="1" dirty="0" smtClean="0">
                              <a:latin typeface="Cambria Math" panose="02040503050406030204" pitchFamily="18" charset="0"/>
                            </a:rPr>
                            <m:t>𝜽</m:t>
                          </m:r>
                        </m:e>
                        <m:sup>
                          <m:r>
                            <a:rPr lang="en-US" sz="2000" b="0" i="1" dirty="0" smtClean="0">
                              <a:latin typeface="Cambria Math" panose="02040503050406030204" pitchFamily="18" charset="0"/>
                            </a:rPr>
                            <m:t>(ℓ)</m:t>
                          </m:r>
                        </m:sup>
                      </m:sSup>
                      <m:r>
                        <m:rPr>
                          <m:nor/>
                        </m:rPr>
                        <a:rPr lang="en-CA" sz="2000" dirty="0"/>
                        <m:t>) = </m:t>
                      </m:r>
                      <m:nary>
                        <m:naryPr>
                          <m:chr m:val="∏"/>
                          <m:limLoc m:val="subSup"/>
                          <m:ctrlPr>
                            <a:rPr lang="en-CA" sz="2000" i="1" dirty="0" smtClean="0">
                              <a:latin typeface="Cambria Math" panose="02040503050406030204" pitchFamily="18" charset="0"/>
                            </a:rPr>
                          </m:ctrlPr>
                        </m:naryPr>
                        <m:sub>
                          <m:r>
                            <m:rPr>
                              <m:brk m:alnAt="25"/>
                            </m:rP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𝑁</m:t>
                          </m:r>
                        </m:sup>
                        <m:e>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𝑒</m:t>
                              </m:r>
                            </m:e>
                            <m:sup>
                              <m:r>
                                <a:rPr lang="en-US" sz="2000" b="0" i="1" dirty="0" smtClean="0">
                                  <a:latin typeface="Cambria Math" panose="02040503050406030204" pitchFamily="18" charset="0"/>
                                </a:rPr>
                                <m:t>−</m:t>
                              </m:r>
                              <m:r>
                                <a:rPr lang="en-US" sz="2000" b="0" i="1" dirty="0" smtClean="0">
                                  <a:latin typeface="Cambria Math" panose="02040503050406030204" pitchFamily="18" charset="0"/>
                                </a:rPr>
                                <m:t>𝑖</m:t>
                              </m:r>
                              <m:sSub>
                                <m:sSubPr>
                                  <m:ctrlPr>
                                    <a:rPr lang="en-US" sz="2000" i="1">
                                      <a:latin typeface="Cambria Math" panose="02040503050406030204" pitchFamily="18" charset="0"/>
                                    </a:rPr>
                                  </m:ctrlPr>
                                </m:sSubPr>
                                <m:e>
                                  <m:acc>
                                    <m:accPr>
                                      <m:chr m:val="̂"/>
                                      <m:ctrlPr>
                                        <a:rPr lang="en-CA" sz="2000" i="1">
                                          <a:latin typeface="Cambria Math" panose="02040503050406030204" pitchFamily="18" charset="0"/>
                                        </a:rPr>
                                      </m:ctrlPr>
                                    </m:accPr>
                                    <m:e>
                                      <m:r>
                                        <a:rPr lang="en-US" sz="2000" i="1">
                                          <a:latin typeface="Cambria Math" panose="02040503050406030204" pitchFamily="18" charset="0"/>
                                        </a:rPr>
                                        <m:t>𝐻</m:t>
                                      </m:r>
                                    </m:e>
                                  </m:acc>
                                </m:e>
                                <m:sub>
                                  <m:r>
                                    <a:rPr lang="en-US" sz="2000" i="1">
                                      <a:latin typeface="Cambria Math" panose="02040503050406030204" pitchFamily="18" charset="0"/>
                                    </a:rPr>
                                    <m:t>𝑖</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m:rPr>
                                          <m:sty m:val="p"/>
                                        </m:rPr>
                                        <a:rPr lang="en-US" sz="2000">
                                          <a:latin typeface="Cambria Math" panose="02040503050406030204" pitchFamily="18" charset="0"/>
                                        </a:rPr>
                                        <m:t>Ω</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𝜗</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𝜑</m:t>
                                      </m:r>
                                    </m:e>
                                    <m:sub>
                                      <m:r>
                                        <a:rPr lang="en-US" sz="2000" i="1">
                                          <a:latin typeface="Cambria Math" panose="02040503050406030204" pitchFamily="18" charset="0"/>
                                        </a:rPr>
                                        <m:t>𝑖</m:t>
                                      </m:r>
                                    </m:sub>
                                  </m:sSub>
                                </m:e>
                              </m:d>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𝑖</m:t>
                                  </m:r>
                                </m:sub>
                              </m:sSub>
                            </m:sup>
                          </m:sSup>
                        </m:e>
                      </m:nary>
                    </m:oMath>
                  </m:oMathPara>
                </a14:m>
                <a:endParaRPr lang="en-CA" dirty="0"/>
              </a:p>
            </p:txBody>
          </p:sp>
        </mc:Choice>
        <mc:Fallback xmlns="">
          <p:sp>
            <p:nvSpPr>
              <p:cNvPr id="41" name="TextBox 40">
                <a:extLst>
                  <a:ext uri="{FF2B5EF4-FFF2-40B4-BE49-F238E27FC236}">
                    <a16:creationId xmlns:a16="http://schemas.microsoft.com/office/drawing/2014/main" id="{7A5F1E1C-61D5-C9F9-C187-FFA1706F7BFE}"/>
                  </a:ext>
                </a:extLst>
              </p:cNvPr>
              <p:cNvSpPr txBox="1">
                <a:spLocks noRot="1" noChangeAspect="1" noMove="1" noResize="1" noEditPoints="1" noAdjustHandles="1" noChangeArrowheads="1" noChangeShapeType="1" noTextEdit="1"/>
              </p:cNvSpPr>
              <p:nvPr/>
            </p:nvSpPr>
            <p:spPr>
              <a:xfrm>
                <a:off x="7993435" y="2981583"/>
                <a:ext cx="3971985" cy="629981"/>
              </a:xfrm>
              <a:prstGeom prst="rect">
                <a:avLst/>
              </a:prstGeom>
              <a:blipFill>
                <a:blip r:embed="rId8"/>
                <a:stretch>
                  <a:fillRect l="-955" t="-172549" b="-250980"/>
                </a:stretch>
              </a:blipFill>
            </p:spPr>
            <p:txBody>
              <a:bodyPr/>
              <a:lstStyle/>
              <a:p>
                <a:r>
                  <a:rPr lang="en-CA">
                    <a:noFill/>
                  </a:rPr>
                  <a:t> </a:t>
                </a:r>
              </a:p>
            </p:txBody>
          </p:sp>
        </mc:Fallback>
      </mc:AlternateContent>
      <p:sp>
        <p:nvSpPr>
          <p:cNvPr id="42" name="TextBox 41">
            <a:extLst>
              <a:ext uri="{FF2B5EF4-FFF2-40B4-BE49-F238E27FC236}">
                <a16:creationId xmlns:a16="http://schemas.microsoft.com/office/drawing/2014/main" id="{39FE8FEF-E4C8-EC3B-E490-4E62AC4D463D}"/>
              </a:ext>
            </a:extLst>
          </p:cNvPr>
          <p:cNvSpPr txBox="1"/>
          <p:nvPr/>
        </p:nvSpPr>
        <p:spPr>
          <a:xfrm>
            <a:off x="6732203" y="1020879"/>
            <a:ext cx="5326616" cy="400110"/>
          </a:xfrm>
          <a:prstGeom prst="rect">
            <a:avLst/>
          </a:prstGeom>
          <a:noFill/>
        </p:spPr>
        <p:txBody>
          <a:bodyPr wrap="square" rtlCol="0">
            <a:spAutoFit/>
          </a:bodyPr>
          <a:lstStyle/>
          <a:p>
            <a:r>
              <a:rPr lang="en-CA" sz="2000" dirty="0"/>
              <a:t>Internal dynamics prescribed by free Hamiltonian </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13C21C6-F392-4781-E9E7-7FF1BF95198F}"/>
                  </a:ext>
                </a:extLst>
              </p:cNvPr>
              <p:cNvSpPr txBox="1"/>
              <p:nvPr/>
            </p:nvSpPr>
            <p:spPr>
              <a:xfrm>
                <a:off x="429086" y="5157349"/>
                <a:ext cx="259839"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oMath>
                  </m:oMathPara>
                </a14:m>
                <a:endParaRPr lang="en-CA" sz="2000" dirty="0"/>
              </a:p>
            </p:txBody>
          </p:sp>
        </mc:Choice>
        <mc:Fallback xmlns="">
          <p:sp>
            <p:nvSpPr>
              <p:cNvPr id="43" name="TextBox 42">
                <a:extLst>
                  <a:ext uri="{FF2B5EF4-FFF2-40B4-BE49-F238E27FC236}">
                    <a16:creationId xmlns:a16="http://schemas.microsoft.com/office/drawing/2014/main" id="{313C21C6-F392-4781-E9E7-7FF1BF95198F}"/>
                  </a:ext>
                </a:extLst>
              </p:cNvPr>
              <p:cNvSpPr txBox="1">
                <a:spLocks noRot="1" noChangeAspect="1" noMove="1" noResize="1" noEditPoints="1" noAdjustHandles="1" noChangeArrowheads="1" noChangeShapeType="1" noTextEdit="1"/>
              </p:cNvSpPr>
              <p:nvPr/>
            </p:nvSpPr>
            <p:spPr>
              <a:xfrm>
                <a:off x="429086" y="5157349"/>
                <a:ext cx="259839" cy="307777"/>
              </a:xfrm>
              <a:prstGeom prst="rect">
                <a:avLst/>
              </a:prstGeom>
              <a:blipFill>
                <a:blip r:embed="rId9"/>
                <a:stretch>
                  <a:fillRect b="-4000"/>
                </a:stretch>
              </a:blipFill>
            </p:spPr>
            <p:txBody>
              <a:bodyPr/>
              <a:lstStyle/>
              <a:p>
                <a:r>
                  <a:rPr lang="en-CA">
                    <a:noFill/>
                  </a:rPr>
                  <a:t> </a:t>
                </a:r>
              </a:p>
            </p:txBody>
          </p:sp>
        </mc:Fallback>
      </mc:AlternateContent>
      <p:cxnSp>
        <p:nvCxnSpPr>
          <p:cNvPr id="45" name="Straight Arrow Connector 44">
            <a:extLst>
              <a:ext uri="{FF2B5EF4-FFF2-40B4-BE49-F238E27FC236}">
                <a16:creationId xmlns:a16="http://schemas.microsoft.com/office/drawing/2014/main" id="{5FF0D635-E8E9-A1F9-BA43-7B5B31692913}"/>
              </a:ext>
            </a:extLst>
          </p:cNvPr>
          <p:cNvCxnSpPr>
            <a:cxnSpLocks/>
          </p:cNvCxnSpPr>
          <p:nvPr/>
        </p:nvCxnSpPr>
        <p:spPr>
          <a:xfrm flipH="1" flipV="1">
            <a:off x="709200" y="4960615"/>
            <a:ext cx="8728" cy="605736"/>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A241F6A-D7D9-C546-9DF3-400CEC105D9B}"/>
                  </a:ext>
                </a:extLst>
              </p:cNvPr>
              <p:cNvSpPr txBox="1"/>
              <p:nvPr/>
            </p:nvSpPr>
            <p:spPr>
              <a:xfrm>
                <a:off x="770754" y="5670525"/>
                <a:ext cx="20172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CA" dirty="0"/>
              </a:p>
            </p:txBody>
          </p:sp>
        </mc:Choice>
        <mc:Fallback xmlns="">
          <p:sp>
            <p:nvSpPr>
              <p:cNvPr id="46" name="TextBox 45">
                <a:extLst>
                  <a:ext uri="{FF2B5EF4-FFF2-40B4-BE49-F238E27FC236}">
                    <a16:creationId xmlns:a16="http://schemas.microsoft.com/office/drawing/2014/main" id="{4A241F6A-D7D9-C546-9DF3-400CEC105D9B}"/>
                  </a:ext>
                </a:extLst>
              </p:cNvPr>
              <p:cNvSpPr txBox="1">
                <a:spLocks noRot="1" noChangeAspect="1" noMove="1" noResize="1" noEditPoints="1" noAdjustHandles="1" noChangeArrowheads="1" noChangeShapeType="1" noTextEdit="1"/>
              </p:cNvSpPr>
              <p:nvPr/>
            </p:nvSpPr>
            <p:spPr>
              <a:xfrm>
                <a:off x="770754" y="5670525"/>
                <a:ext cx="201722" cy="307777"/>
              </a:xfrm>
              <a:prstGeom prst="rect">
                <a:avLst/>
              </a:prstGeom>
              <a:blipFill>
                <a:blip r:embed="rId10"/>
                <a:stretch>
                  <a:fillRect l="-17647" r="-11765"/>
                </a:stretch>
              </a:blipFill>
            </p:spPr>
            <p:txBody>
              <a:bodyPr/>
              <a:lstStyle/>
              <a:p>
                <a:r>
                  <a:rPr lang="en-CA">
                    <a:noFill/>
                  </a:rPr>
                  <a:t> </a:t>
                </a:r>
              </a:p>
            </p:txBody>
          </p:sp>
        </mc:Fallback>
      </mc:AlternateContent>
      <p:cxnSp>
        <p:nvCxnSpPr>
          <p:cNvPr id="47" name="Straight Arrow Connector 46">
            <a:extLst>
              <a:ext uri="{FF2B5EF4-FFF2-40B4-BE49-F238E27FC236}">
                <a16:creationId xmlns:a16="http://schemas.microsoft.com/office/drawing/2014/main" id="{5500F243-333B-BAD8-CB3B-05142F1E78DA}"/>
              </a:ext>
            </a:extLst>
          </p:cNvPr>
          <p:cNvCxnSpPr>
            <a:cxnSpLocks/>
          </p:cNvCxnSpPr>
          <p:nvPr/>
        </p:nvCxnSpPr>
        <p:spPr>
          <a:xfrm>
            <a:off x="722091" y="5568325"/>
            <a:ext cx="477385" cy="24319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2B078777-EEBD-FCDE-5C26-95AC1C20C545}"/>
              </a:ext>
            </a:extLst>
          </p:cNvPr>
          <p:cNvSpPr txBox="1"/>
          <p:nvPr/>
        </p:nvSpPr>
        <p:spPr>
          <a:xfrm>
            <a:off x="4232246" y="4773458"/>
            <a:ext cx="1469452" cy="400110"/>
          </a:xfrm>
          <a:prstGeom prst="rect">
            <a:avLst/>
          </a:prstGeom>
          <a:noFill/>
        </p:spPr>
        <p:txBody>
          <a:bodyPr wrap="square" rtlCol="0">
            <a:spAutoFit/>
          </a:bodyPr>
          <a:lstStyle/>
          <a:p>
            <a:r>
              <a:rPr lang="en-CA" sz="2000" dirty="0"/>
              <a:t>worldlines</a:t>
            </a:r>
          </a:p>
        </p:txBody>
      </p:sp>
      <p:sp>
        <p:nvSpPr>
          <p:cNvPr id="50" name="Left Brace 49">
            <a:extLst>
              <a:ext uri="{FF2B5EF4-FFF2-40B4-BE49-F238E27FC236}">
                <a16:creationId xmlns:a16="http://schemas.microsoft.com/office/drawing/2014/main" id="{A567861D-8ADD-8622-192B-9406A4C4FD56}"/>
              </a:ext>
            </a:extLst>
          </p:cNvPr>
          <p:cNvSpPr/>
          <p:nvPr/>
        </p:nvSpPr>
        <p:spPr>
          <a:xfrm rot="12934382">
            <a:off x="3993537" y="3949840"/>
            <a:ext cx="134658" cy="1910798"/>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A2F56BF-A71B-F2DA-940B-5DF25BD9F092}"/>
                  </a:ext>
                </a:extLst>
              </p:cNvPr>
              <p:cNvSpPr txBox="1"/>
              <p:nvPr/>
            </p:nvSpPr>
            <p:spPr>
              <a:xfrm>
                <a:off x="3931856" y="5170247"/>
                <a:ext cx="2696708" cy="4406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d>
                        <m:dPr>
                          <m:ctrlPr>
                            <a:rPr lang="en-CA" sz="2000" i="1" dirty="0">
                              <a:latin typeface="Cambria Math" panose="02040503050406030204" pitchFamily="18" charset="0"/>
                            </a:rPr>
                          </m:ctrlPr>
                        </m:dPr>
                        <m:e>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𝑡</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𝜏</m:t>
                                  </m:r>
                                </m:e>
                                <m:sub>
                                  <m:r>
                                    <a:rPr lang="en-US" sz="2000" b="0" i="1" dirty="0" smtClean="0">
                                      <a:latin typeface="Cambria Math" panose="02040503050406030204" pitchFamily="18" charset="0"/>
                                    </a:rPr>
                                    <m:t>𝑖</m:t>
                                  </m:r>
                                </m:sub>
                              </m:sSub>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𝜏</m:t>
                                  </m:r>
                                </m:e>
                                <m:sub>
                                  <m:r>
                                    <a:rPr lang="en-US" sz="2000" b="0" i="1" dirty="0" smtClean="0">
                                      <a:latin typeface="Cambria Math" panose="02040503050406030204" pitchFamily="18" charset="0"/>
                                    </a:rPr>
                                    <m:t>𝑖</m:t>
                                  </m:r>
                                </m:sub>
                              </m:sSub>
                            </m:e>
                          </m:d>
                        </m:e>
                      </m:d>
                      <m:r>
                        <a:rPr lang="en-CA" sz="2000" i="1" dirty="0">
                          <a:latin typeface="Cambria Math" panose="02040503050406030204" pitchFamily="18" charset="0"/>
                        </a:rPr>
                        <m:t> </m:t>
                      </m:r>
                    </m:oMath>
                  </m:oMathPara>
                </a14:m>
                <a:endParaRPr lang="en-CA" dirty="0"/>
              </a:p>
            </p:txBody>
          </p:sp>
        </mc:Choice>
        <mc:Fallback xmlns="">
          <p:sp>
            <p:nvSpPr>
              <p:cNvPr id="51" name="TextBox 50">
                <a:extLst>
                  <a:ext uri="{FF2B5EF4-FFF2-40B4-BE49-F238E27FC236}">
                    <a16:creationId xmlns:a16="http://schemas.microsoft.com/office/drawing/2014/main" id="{CA2F56BF-A71B-F2DA-940B-5DF25BD9F092}"/>
                  </a:ext>
                </a:extLst>
              </p:cNvPr>
              <p:cNvSpPr txBox="1">
                <a:spLocks noRot="1" noChangeAspect="1" noMove="1" noResize="1" noEditPoints="1" noAdjustHandles="1" noChangeArrowheads="1" noChangeShapeType="1" noTextEdit="1"/>
              </p:cNvSpPr>
              <p:nvPr/>
            </p:nvSpPr>
            <p:spPr>
              <a:xfrm>
                <a:off x="3931856" y="5170247"/>
                <a:ext cx="2696708" cy="440633"/>
              </a:xfrm>
              <a:prstGeom prst="rect">
                <a:avLst/>
              </a:prstGeom>
              <a:blipFill>
                <a:blip r:embed="rId11"/>
                <a:stretch>
                  <a:fillRect r="-469" b="-1428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A420A57-E458-68CA-DE93-716004CA4095}"/>
                  </a:ext>
                </a:extLst>
              </p:cNvPr>
              <p:cNvSpPr txBox="1"/>
              <p:nvPr/>
            </p:nvSpPr>
            <p:spPr>
              <a:xfrm>
                <a:off x="5082839" y="2978124"/>
                <a:ext cx="16737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&lt;</m:t>
                      </m:r>
                      <m:r>
                        <a:rPr lang="en-US" sz="2000" b="0" i="1" smtClean="0">
                          <a:latin typeface="Cambria Math" panose="02040503050406030204" pitchFamily="18" charset="0"/>
                        </a:rPr>
                        <m:t>𝑡</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1</m:t>
                          </m:r>
                        </m:sub>
                      </m:sSub>
                    </m:oMath>
                  </m:oMathPara>
                </a14:m>
                <a:endParaRPr lang="en-CA" dirty="0"/>
              </a:p>
            </p:txBody>
          </p:sp>
        </mc:Choice>
        <mc:Fallback xmlns="">
          <p:sp>
            <p:nvSpPr>
              <p:cNvPr id="52" name="TextBox 51">
                <a:extLst>
                  <a:ext uri="{FF2B5EF4-FFF2-40B4-BE49-F238E27FC236}">
                    <a16:creationId xmlns:a16="http://schemas.microsoft.com/office/drawing/2014/main" id="{5A420A57-E458-68CA-DE93-716004CA4095}"/>
                  </a:ext>
                </a:extLst>
              </p:cNvPr>
              <p:cNvSpPr txBox="1">
                <a:spLocks noRot="1" noChangeAspect="1" noMove="1" noResize="1" noEditPoints="1" noAdjustHandles="1" noChangeArrowheads="1" noChangeShapeType="1" noTextEdit="1"/>
              </p:cNvSpPr>
              <p:nvPr/>
            </p:nvSpPr>
            <p:spPr>
              <a:xfrm>
                <a:off x="5082839" y="2978124"/>
                <a:ext cx="1673792" cy="307777"/>
              </a:xfrm>
              <a:prstGeom prst="rect">
                <a:avLst/>
              </a:prstGeom>
              <a:blipFill>
                <a:blip r:embed="rId12"/>
                <a:stretch>
                  <a:fillRect l="-3030" r="-758" b="-32000"/>
                </a:stretch>
              </a:blipFill>
            </p:spPr>
            <p:txBody>
              <a:bodyPr/>
              <a:lstStyle/>
              <a:p>
                <a:r>
                  <a:rPr lang="en-CA">
                    <a:noFill/>
                  </a:rPr>
                  <a:t> </a:t>
                </a:r>
              </a:p>
            </p:txBody>
          </p:sp>
        </mc:Fallback>
      </mc:AlternateContent>
      <p:sp>
        <p:nvSpPr>
          <p:cNvPr id="53" name="Left Brace 52">
            <a:extLst>
              <a:ext uri="{FF2B5EF4-FFF2-40B4-BE49-F238E27FC236}">
                <a16:creationId xmlns:a16="http://schemas.microsoft.com/office/drawing/2014/main" id="{5998E553-BA59-4E18-3D14-EB1A0BFB3700}"/>
              </a:ext>
            </a:extLst>
          </p:cNvPr>
          <p:cNvSpPr/>
          <p:nvPr/>
        </p:nvSpPr>
        <p:spPr>
          <a:xfrm rot="10980742">
            <a:off x="4802700" y="2266230"/>
            <a:ext cx="125516" cy="1759574"/>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316015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17" grpId="0"/>
      <p:bldP spid="23" grpId="0"/>
      <p:bldP spid="26" grpId="0"/>
      <p:bldP spid="36" grpId="0"/>
      <p:bldP spid="37" grpId="0" animBg="1"/>
      <p:bldP spid="40" grpId="0"/>
      <p:bldP spid="41" grpId="0"/>
      <p:bldP spid="42" grpId="0"/>
      <p:bldP spid="43" grpId="0"/>
      <p:bldP spid="46" grpId="0"/>
      <p:bldP spid="49" grpId="0"/>
      <p:bldP spid="50" grpId="0" animBg="1"/>
      <p:bldP spid="51" grpId="0"/>
      <p:bldP spid="52" grpId="0"/>
      <p:bldP spid="5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Oval 60">
            <a:extLst>
              <a:ext uri="{FF2B5EF4-FFF2-40B4-BE49-F238E27FC236}">
                <a16:creationId xmlns:a16="http://schemas.microsoft.com/office/drawing/2014/main" id="{5750DC77-57E9-F818-A486-73FDFEC5B16A}"/>
              </a:ext>
            </a:extLst>
          </p:cNvPr>
          <p:cNvSpPr/>
          <p:nvPr/>
        </p:nvSpPr>
        <p:spPr>
          <a:xfrm>
            <a:off x="5249968" y="4574780"/>
            <a:ext cx="2173457" cy="1267635"/>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Rounded Rectangle 59">
            <a:extLst>
              <a:ext uri="{FF2B5EF4-FFF2-40B4-BE49-F238E27FC236}">
                <a16:creationId xmlns:a16="http://schemas.microsoft.com/office/drawing/2014/main" id="{7CE61570-F06F-F91D-89F7-9FF66722CDCE}"/>
              </a:ext>
            </a:extLst>
          </p:cNvPr>
          <p:cNvSpPr/>
          <p:nvPr/>
        </p:nvSpPr>
        <p:spPr>
          <a:xfrm>
            <a:off x="818861" y="4554441"/>
            <a:ext cx="3801935" cy="107292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7" name="Picture 36">
            <a:extLst>
              <a:ext uri="{FF2B5EF4-FFF2-40B4-BE49-F238E27FC236}">
                <a16:creationId xmlns:a16="http://schemas.microsoft.com/office/drawing/2014/main" id="{7FED866F-32B6-31D5-6D6D-6EEBD3E832A4}"/>
              </a:ext>
            </a:extLst>
          </p:cNvPr>
          <p:cNvPicPr>
            <a:picLocks noChangeAspect="1"/>
          </p:cNvPicPr>
          <p:nvPr/>
        </p:nvPicPr>
        <p:blipFill>
          <a:blip r:embed="rId4"/>
          <a:stretch>
            <a:fillRect/>
          </a:stretch>
        </p:blipFill>
        <p:spPr>
          <a:xfrm>
            <a:off x="7845557" y="876407"/>
            <a:ext cx="2541963" cy="5099017"/>
          </a:xfrm>
          <a:prstGeom prst="rect">
            <a:avLst/>
          </a:prstGeom>
        </p:spPr>
      </p:pic>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Gate Set – Entangling Operations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34</a:t>
            </a:fld>
            <a:endParaRPr lang="de-AT"/>
          </a:p>
        </p:txBody>
      </p:sp>
      <p:sp>
        <p:nvSpPr>
          <p:cNvPr id="10" name="TextBox 9">
            <a:extLst>
              <a:ext uri="{FF2B5EF4-FFF2-40B4-BE49-F238E27FC236}">
                <a16:creationId xmlns:a16="http://schemas.microsoft.com/office/drawing/2014/main" id="{4E509AE1-58FE-80E7-C26A-7D4C7CDB2D9E}"/>
              </a:ext>
            </a:extLst>
          </p:cNvPr>
          <p:cNvSpPr txBox="1"/>
          <p:nvPr/>
        </p:nvSpPr>
        <p:spPr>
          <a:xfrm>
            <a:off x="342916" y="1035925"/>
            <a:ext cx="6198665" cy="400110"/>
          </a:xfrm>
          <a:prstGeom prst="rect">
            <a:avLst/>
          </a:prstGeom>
          <a:noFill/>
        </p:spPr>
        <p:txBody>
          <a:bodyPr wrap="square" rtlCol="0">
            <a:spAutoFit/>
          </a:bodyPr>
          <a:lstStyle/>
          <a:p>
            <a:r>
              <a:rPr lang="en-CA" sz="2000" dirty="0"/>
              <a:t>Consider UDW scalar field interaction Hamiltonian density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47A53C-8B23-28FF-BA2C-F4603AA2572E}"/>
                  </a:ext>
                </a:extLst>
              </p:cNvPr>
              <p:cNvSpPr txBox="1"/>
              <p:nvPr/>
            </p:nvSpPr>
            <p:spPr>
              <a:xfrm>
                <a:off x="1690138" y="1532289"/>
                <a:ext cx="2783070" cy="3242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h</m:t>
                              </m:r>
                            </m:e>
                          </m:acc>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r>
                        <a:rPr lang="en-US" sz="2000" b="0" i="1" smtClean="0">
                          <a:latin typeface="Cambria Math" panose="02040503050406030204" pitchFamily="18" charset="0"/>
                        </a:rPr>
                        <m:t>𝜆</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Λ</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11" name="TextBox 10">
                <a:extLst>
                  <a:ext uri="{FF2B5EF4-FFF2-40B4-BE49-F238E27FC236}">
                    <a16:creationId xmlns:a16="http://schemas.microsoft.com/office/drawing/2014/main" id="{0A47A53C-8B23-28FF-BA2C-F4603AA2572E}"/>
                  </a:ext>
                </a:extLst>
              </p:cNvPr>
              <p:cNvSpPr txBox="1">
                <a:spLocks noRot="1" noChangeAspect="1" noMove="1" noResize="1" noEditPoints="1" noAdjustHandles="1" noChangeArrowheads="1" noChangeShapeType="1" noTextEdit="1"/>
              </p:cNvSpPr>
              <p:nvPr/>
            </p:nvSpPr>
            <p:spPr>
              <a:xfrm>
                <a:off x="1690138" y="1532289"/>
                <a:ext cx="2783070" cy="324256"/>
              </a:xfrm>
              <a:prstGeom prst="rect">
                <a:avLst/>
              </a:prstGeom>
              <a:blipFill>
                <a:blip r:embed="rId5"/>
                <a:stretch>
                  <a:fillRect l="-1357" t="-14815" b="-2963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C35B29-6455-F088-4159-993B715DB9FD}"/>
                  </a:ext>
                </a:extLst>
              </p:cNvPr>
              <p:cNvSpPr txBox="1"/>
              <p:nvPr/>
            </p:nvSpPr>
            <p:spPr>
              <a:xfrm>
                <a:off x="394117" y="2826326"/>
                <a:ext cx="2354875" cy="3796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000" i="1" smtClean="0">
                          <a:latin typeface="Cambria Math" panose="02040503050406030204" pitchFamily="18" charset="0"/>
                          <a:ea typeface="Cambria Math" panose="02040503050406030204" pitchFamily="18" charset="0"/>
                        </a:rPr>
                        <m:t>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𝜌</m:t>
                                  </m:r>
                                </m:e>
                              </m:acc>
                            </m:e>
                            <m:sub>
                              <m:r>
                                <a:rPr lang="en-US" sz="2000" b="0" i="1" smtClean="0">
                                  <a:latin typeface="Cambria Math" panose="02040503050406030204" pitchFamily="18" charset="0"/>
                                  <a:ea typeface="Cambria Math" panose="02040503050406030204" pitchFamily="18" charset="0"/>
                                </a:rPr>
                                <m:t>0</m:t>
                              </m:r>
                            </m:sub>
                          </m:sSub>
                        </m:e>
                      </m:d>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𝑈</m:t>
                              </m:r>
                            </m:e>
                          </m:acc>
                        </m:e>
                        <m:sub>
                          <m:r>
                            <a:rPr lang="en-US" sz="2000" b="0" i="1" smtClean="0">
                              <a:latin typeface="Cambria Math" panose="02040503050406030204" pitchFamily="18" charset="0"/>
                              <a:ea typeface="Cambria Math" panose="02040503050406030204" pitchFamily="18" charset="0"/>
                            </a:rPr>
                            <m:t>𝑐</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ℇ</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𝜌</m:t>
                              </m:r>
                            </m:e>
                          </m:acc>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acc>
                            <m:accPr>
                              <m:chr m:val="̂"/>
                              <m:ctrlPr>
                                <a:rPr lang="en-CA"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𝑈</m:t>
                              </m:r>
                            </m:e>
                          </m:acc>
                        </m:e>
                        <m:sub>
                          <m:r>
                            <a:rPr lang="en-US" sz="2000" b="0" i="1" smtClean="0">
                              <a:latin typeface="Cambria Math" panose="02040503050406030204" pitchFamily="18" charset="0"/>
                              <a:ea typeface="Cambria Math" panose="02040503050406030204" pitchFamily="18" charset="0"/>
                            </a:rPr>
                            <m:t>𝑐</m:t>
                          </m:r>
                        </m:sub>
                        <m:sup>
                          <m:r>
                            <a:rPr lang="en-US" sz="2000" i="1">
                              <a:latin typeface="Cambria Math" panose="02040503050406030204" pitchFamily="18" charset="0"/>
                              <a:ea typeface="Cambria Math" panose="02040503050406030204" pitchFamily="18" charset="0"/>
                            </a:rPr>
                            <m:t>†</m:t>
                          </m:r>
                        </m:sup>
                      </m:sSubSup>
                    </m:oMath>
                  </m:oMathPara>
                </a14:m>
                <a:endParaRPr lang="en-CA" dirty="0"/>
              </a:p>
            </p:txBody>
          </p:sp>
        </mc:Choice>
        <mc:Fallback xmlns="">
          <p:sp>
            <p:nvSpPr>
              <p:cNvPr id="17" name="TextBox 16">
                <a:extLst>
                  <a:ext uri="{FF2B5EF4-FFF2-40B4-BE49-F238E27FC236}">
                    <a16:creationId xmlns:a16="http://schemas.microsoft.com/office/drawing/2014/main" id="{7DC35B29-6455-F088-4159-993B715DB9FD}"/>
                  </a:ext>
                </a:extLst>
              </p:cNvPr>
              <p:cNvSpPr txBox="1">
                <a:spLocks noRot="1" noChangeAspect="1" noMove="1" noResize="1" noEditPoints="1" noAdjustHandles="1" noChangeArrowheads="1" noChangeShapeType="1" noTextEdit="1"/>
              </p:cNvSpPr>
              <p:nvPr/>
            </p:nvSpPr>
            <p:spPr>
              <a:xfrm>
                <a:off x="394117" y="2826326"/>
                <a:ext cx="2354875" cy="379656"/>
              </a:xfrm>
              <a:prstGeom prst="rect">
                <a:avLst/>
              </a:prstGeom>
              <a:blipFill>
                <a:blip r:embed="rId6"/>
                <a:stretch>
                  <a:fillRect l="-2151" t="-6452" r="-1075" b="-1935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82BA5E-AF18-1E51-9E03-0CA33B40F23F}"/>
                  </a:ext>
                </a:extLst>
              </p:cNvPr>
              <p:cNvSpPr txBox="1"/>
              <p:nvPr/>
            </p:nvSpPr>
            <p:spPr>
              <a:xfrm>
                <a:off x="3351995" y="2674183"/>
                <a:ext cx="2354684" cy="4900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rPr>
                            <m:t>𝑖</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den>
                          </m:f>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rPr>
                                <m:t>&lt;</m:t>
                              </m:r>
                              <m:r>
                                <a:rPr lang="en-US" sz="2000" b="0" i="1" smtClean="0">
                                  <a:latin typeface="Cambria Math" panose="02040503050406030204" pitchFamily="18" charset="0"/>
                                </a:rPr>
                                <m:t>𝑗</m:t>
                              </m:r>
                            </m:sub>
                            <m:sup/>
                            <m:e>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𝑗</m:t>
                                  </m:r>
                                </m:sub>
                              </m:sSub>
                            </m:e>
                          </m:nary>
                        </m:sup>
                      </m:sSup>
                    </m:oMath>
                  </m:oMathPara>
                </a14:m>
                <a:endParaRPr lang="en-CA" dirty="0"/>
              </a:p>
            </p:txBody>
          </p:sp>
        </mc:Choice>
        <mc:Fallback xmlns="">
          <p:sp>
            <p:nvSpPr>
              <p:cNvPr id="18" name="TextBox 17">
                <a:extLst>
                  <a:ext uri="{FF2B5EF4-FFF2-40B4-BE49-F238E27FC236}">
                    <a16:creationId xmlns:a16="http://schemas.microsoft.com/office/drawing/2014/main" id="{5C82BA5E-AF18-1E51-9E03-0CA33B40F23F}"/>
                  </a:ext>
                </a:extLst>
              </p:cNvPr>
              <p:cNvSpPr txBox="1">
                <a:spLocks noRot="1" noChangeAspect="1" noMove="1" noResize="1" noEditPoints="1" noAdjustHandles="1" noChangeArrowheads="1" noChangeShapeType="1" noTextEdit="1"/>
              </p:cNvSpPr>
              <p:nvPr/>
            </p:nvSpPr>
            <p:spPr>
              <a:xfrm>
                <a:off x="3351995" y="2674183"/>
                <a:ext cx="2354684" cy="490006"/>
              </a:xfrm>
              <a:prstGeom prst="rect">
                <a:avLst/>
              </a:prstGeom>
              <a:blipFill>
                <a:blip r:embed="rId7"/>
                <a:stretch>
                  <a:fillRect l="-2151" t="-55000" r="-538" b="-92500"/>
                </a:stretch>
              </a:blipFill>
            </p:spPr>
            <p:txBody>
              <a:bodyPr/>
              <a:lstStyle/>
              <a:p>
                <a:r>
                  <a:rPr lang="en-CA">
                    <a:noFill/>
                  </a:rPr>
                  <a:t> </a:t>
                </a:r>
              </a:p>
            </p:txBody>
          </p:sp>
        </mc:Fallback>
      </mc:AlternateContent>
      <p:pic>
        <p:nvPicPr>
          <p:cNvPr id="36" name="Picture 35">
            <a:extLst>
              <a:ext uri="{FF2B5EF4-FFF2-40B4-BE49-F238E27FC236}">
                <a16:creationId xmlns:a16="http://schemas.microsoft.com/office/drawing/2014/main" id="{71C4C3C9-2DE7-7FC5-6D16-1D22698986B4}"/>
              </a:ext>
            </a:extLst>
          </p:cNvPr>
          <p:cNvPicPr>
            <a:picLocks noChangeAspect="1"/>
          </p:cNvPicPr>
          <p:nvPr/>
        </p:nvPicPr>
        <p:blipFill>
          <a:blip r:embed="rId8">
            <a:alphaModFix amt="60000"/>
          </a:blip>
          <a:stretch>
            <a:fillRect/>
          </a:stretch>
        </p:blipFill>
        <p:spPr>
          <a:xfrm rot="21259358">
            <a:off x="5771848" y="972020"/>
            <a:ext cx="6249993" cy="3749995"/>
          </a:xfrm>
          <a:prstGeom prst="rect">
            <a:avLst/>
          </a:prstGeom>
          <a:effectLst/>
          <a:scene3d>
            <a:camera prst="orthographicFront">
              <a:rot lat="2400000" lon="0" rev="0"/>
            </a:camera>
            <a:lightRig rig="threePt" dir="t"/>
          </a:scene3d>
        </p:spPr>
      </p:pic>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2329E07-E0AD-EEF6-10B4-D6F901DF1A5D}"/>
                  </a:ext>
                </a:extLst>
              </p:cNvPr>
              <p:cNvSpPr txBox="1"/>
              <p:nvPr/>
            </p:nvSpPr>
            <p:spPr>
              <a:xfrm>
                <a:off x="6196608" y="2684919"/>
                <a:ext cx="126239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&lt;</m:t>
                      </m:r>
                      <m:r>
                        <a:rPr lang="en-US" sz="2000" b="0" i="1" smtClean="0">
                          <a:latin typeface="Cambria Math" panose="02040503050406030204" pitchFamily="18" charset="0"/>
                        </a:rPr>
                        <m:t>𝑡</m:t>
                      </m:r>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2</m:t>
                          </m:r>
                        </m:sub>
                      </m:sSub>
                    </m:oMath>
                  </m:oMathPara>
                </a14:m>
                <a:endParaRPr lang="en-CA" dirty="0"/>
              </a:p>
            </p:txBody>
          </p:sp>
        </mc:Choice>
        <mc:Fallback xmlns="">
          <p:sp>
            <p:nvSpPr>
              <p:cNvPr id="41" name="TextBox 40">
                <a:extLst>
                  <a:ext uri="{FF2B5EF4-FFF2-40B4-BE49-F238E27FC236}">
                    <a16:creationId xmlns:a16="http://schemas.microsoft.com/office/drawing/2014/main" id="{D2329E07-E0AD-EEF6-10B4-D6F901DF1A5D}"/>
                  </a:ext>
                </a:extLst>
              </p:cNvPr>
              <p:cNvSpPr txBox="1">
                <a:spLocks noRot="1" noChangeAspect="1" noMove="1" noResize="1" noEditPoints="1" noAdjustHandles="1" noChangeArrowheads="1" noChangeShapeType="1" noTextEdit="1"/>
              </p:cNvSpPr>
              <p:nvPr/>
            </p:nvSpPr>
            <p:spPr>
              <a:xfrm>
                <a:off x="6196608" y="2684919"/>
                <a:ext cx="1262397" cy="307777"/>
              </a:xfrm>
              <a:prstGeom prst="rect">
                <a:avLst/>
              </a:prstGeom>
              <a:blipFill>
                <a:blip r:embed="rId9"/>
                <a:stretch>
                  <a:fillRect l="-4000" r="-1000" b="-16000"/>
                </a:stretch>
              </a:blipFill>
            </p:spPr>
            <p:txBody>
              <a:bodyPr/>
              <a:lstStyle/>
              <a:p>
                <a:r>
                  <a:rPr lang="en-CA">
                    <a:noFill/>
                  </a:rPr>
                  <a:t> </a:t>
                </a:r>
              </a:p>
            </p:txBody>
          </p:sp>
        </mc:Fallback>
      </mc:AlternateContent>
      <p:sp>
        <p:nvSpPr>
          <p:cNvPr id="42" name="Left Brace 41">
            <a:extLst>
              <a:ext uri="{FF2B5EF4-FFF2-40B4-BE49-F238E27FC236}">
                <a16:creationId xmlns:a16="http://schemas.microsoft.com/office/drawing/2014/main" id="{DE832867-4248-CE58-844D-F5035EC9C421}"/>
              </a:ext>
            </a:extLst>
          </p:cNvPr>
          <p:cNvSpPr/>
          <p:nvPr/>
        </p:nvSpPr>
        <p:spPr>
          <a:xfrm rot="21404871">
            <a:off x="7542362" y="2215915"/>
            <a:ext cx="183464" cy="1280160"/>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72080BF-FBB2-595F-F3AA-E36201628F16}"/>
                  </a:ext>
                </a:extLst>
              </p:cNvPr>
              <p:cNvSpPr txBox="1"/>
              <p:nvPr/>
            </p:nvSpPr>
            <p:spPr>
              <a:xfrm>
                <a:off x="6477202" y="2223277"/>
                <a:ext cx="7927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m:t>
                      </m:r>
                    </m:oMath>
                  </m:oMathPara>
                </a14:m>
                <a:endParaRPr lang="en-CA" dirty="0"/>
              </a:p>
            </p:txBody>
          </p:sp>
        </mc:Choice>
        <mc:Fallback xmlns="">
          <p:sp>
            <p:nvSpPr>
              <p:cNvPr id="43" name="TextBox 42">
                <a:extLst>
                  <a:ext uri="{FF2B5EF4-FFF2-40B4-BE49-F238E27FC236}">
                    <a16:creationId xmlns:a16="http://schemas.microsoft.com/office/drawing/2014/main" id="{F72080BF-FBB2-595F-F3AA-E36201628F16}"/>
                  </a:ext>
                </a:extLst>
              </p:cNvPr>
              <p:cNvSpPr txBox="1">
                <a:spLocks noRot="1" noChangeAspect="1" noMove="1" noResize="1" noEditPoints="1" noAdjustHandles="1" noChangeArrowheads="1" noChangeShapeType="1" noTextEdit="1"/>
              </p:cNvSpPr>
              <p:nvPr/>
            </p:nvSpPr>
            <p:spPr>
              <a:xfrm>
                <a:off x="6477202" y="2223277"/>
                <a:ext cx="792718" cy="307777"/>
              </a:xfrm>
              <a:prstGeom prst="rect">
                <a:avLst/>
              </a:prstGeom>
              <a:blipFill>
                <a:blip r:embed="rId10"/>
                <a:stretch>
                  <a:fillRect l="-7937" r="-6349" b="-16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745480B-E6D0-A961-D038-2C2794D417BD}"/>
                  </a:ext>
                </a:extLst>
              </p:cNvPr>
              <p:cNvSpPr txBox="1"/>
              <p:nvPr/>
            </p:nvSpPr>
            <p:spPr>
              <a:xfrm>
                <a:off x="10533224" y="2651351"/>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44" name="TextBox 43">
                <a:extLst>
                  <a:ext uri="{FF2B5EF4-FFF2-40B4-BE49-F238E27FC236}">
                    <a16:creationId xmlns:a16="http://schemas.microsoft.com/office/drawing/2014/main" id="{4745480B-E6D0-A961-D038-2C2794D417BD}"/>
                  </a:ext>
                </a:extLst>
              </p:cNvPr>
              <p:cNvSpPr txBox="1">
                <a:spLocks noRot="1" noChangeAspect="1" noMove="1" noResize="1" noEditPoints="1" noAdjustHandles="1" noChangeArrowheads="1" noChangeShapeType="1" noTextEdit="1"/>
              </p:cNvSpPr>
              <p:nvPr/>
            </p:nvSpPr>
            <p:spPr>
              <a:xfrm>
                <a:off x="10533224" y="2651351"/>
                <a:ext cx="574260" cy="320729"/>
              </a:xfrm>
              <a:prstGeom prst="rect">
                <a:avLst/>
              </a:prstGeom>
              <a:blipFill>
                <a:blip r:embed="rId11"/>
                <a:stretch>
                  <a:fillRect l="-15217" t="-14815" b="-25926"/>
                </a:stretch>
              </a:blipFill>
            </p:spPr>
            <p:txBody>
              <a:bodyPr/>
              <a:lstStyle/>
              <a:p>
                <a:r>
                  <a:rPr lang="en-CA">
                    <a:noFill/>
                  </a:rPr>
                  <a:t> </a:t>
                </a:r>
              </a:p>
            </p:txBody>
          </p:sp>
        </mc:Fallback>
      </mc:AlternateContent>
      <p:sp>
        <p:nvSpPr>
          <p:cNvPr id="45" name="TextBox 44">
            <a:extLst>
              <a:ext uri="{FF2B5EF4-FFF2-40B4-BE49-F238E27FC236}">
                <a16:creationId xmlns:a16="http://schemas.microsoft.com/office/drawing/2014/main" id="{781D11B5-14B1-1116-BEDB-3A0F06A23F49}"/>
              </a:ext>
            </a:extLst>
          </p:cNvPr>
          <p:cNvSpPr txBox="1"/>
          <p:nvPr/>
        </p:nvSpPr>
        <p:spPr>
          <a:xfrm>
            <a:off x="10336209" y="5220327"/>
            <a:ext cx="1469452" cy="400110"/>
          </a:xfrm>
          <a:prstGeom prst="rect">
            <a:avLst/>
          </a:prstGeom>
          <a:noFill/>
        </p:spPr>
        <p:txBody>
          <a:bodyPr wrap="square" rtlCol="0">
            <a:spAutoFit/>
          </a:bodyPr>
          <a:lstStyle/>
          <a:p>
            <a:r>
              <a:rPr lang="en-CA" sz="2000" dirty="0"/>
              <a:t>worldlines</a:t>
            </a:r>
          </a:p>
        </p:txBody>
      </p:sp>
      <p:sp>
        <p:nvSpPr>
          <p:cNvPr id="46" name="Left Brace 45">
            <a:extLst>
              <a:ext uri="{FF2B5EF4-FFF2-40B4-BE49-F238E27FC236}">
                <a16:creationId xmlns:a16="http://schemas.microsoft.com/office/drawing/2014/main" id="{8BE3F1B1-BE13-585F-486E-B808CB78DBD5}"/>
              </a:ext>
            </a:extLst>
          </p:cNvPr>
          <p:cNvSpPr/>
          <p:nvPr/>
        </p:nvSpPr>
        <p:spPr>
          <a:xfrm rot="12934382">
            <a:off x="9886171" y="4819390"/>
            <a:ext cx="215796" cy="1424557"/>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51C4D1F-D6B7-8517-82B1-38E19EF60662}"/>
                  </a:ext>
                </a:extLst>
              </p:cNvPr>
              <p:cNvSpPr txBox="1"/>
              <p:nvPr/>
            </p:nvSpPr>
            <p:spPr>
              <a:xfrm>
                <a:off x="10426008" y="5547032"/>
                <a:ext cx="911316" cy="4361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r>
                        <a:rPr lang="en-CA" sz="2000" i="1" dirty="0">
                          <a:latin typeface="Cambria Math" panose="02040503050406030204" pitchFamily="18" charset="0"/>
                        </a:rPr>
                        <m:t>(</m:t>
                      </m:r>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r>
                        <a:rPr lang="en-CA" sz="2000" i="1" dirty="0">
                          <a:latin typeface="Cambria Math" panose="02040503050406030204" pitchFamily="18" charset="0"/>
                        </a:rPr>
                        <m:t>) </m:t>
                      </m:r>
                    </m:oMath>
                  </m:oMathPara>
                </a14:m>
                <a:endParaRPr lang="en-CA" dirty="0"/>
              </a:p>
            </p:txBody>
          </p:sp>
        </mc:Choice>
        <mc:Fallback xmlns="">
          <p:sp>
            <p:nvSpPr>
              <p:cNvPr id="47" name="TextBox 46">
                <a:extLst>
                  <a:ext uri="{FF2B5EF4-FFF2-40B4-BE49-F238E27FC236}">
                    <a16:creationId xmlns:a16="http://schemas.microsoft.com/office/drawing/2014/main" id="{851C4D1F-D6B7-8517-82B1-38E19EF60662}"/>
                  </a:ext>
                </a:extLst>
              </p:cNvPr>
              <p:cNvSpPr txBox="1">
                <a:spLocks noRot="1" noChangeAspect="1" noMove="1" noResize="1" noEditPoints="1" noAdjustHandles="1" noChangeArrowheads="1" noChangeShapeType="1" noTextEdit="1"/>
              </p:cNvSpPr>
              <p:nvPr/>
            </p:nvSpPr>
            <p:spPr>
              <a:xfrm>
                <a:off x="10426008" y="5547032"/>
                <a:ext cx="911316" cy="436145"/>
              </a:xfrm>
              <a:prstGeom prst="rect">
                <a:avLst/>
              </a:prstGeom>
              <a:blipFill>
                <a:blip r:embed="rId12"/>
                <a:stretch>
                  <a:fillRect r="-5479" b="-14286"/>
                </a:stretch>
              </a:blipFill>
            </p:spPr>
            <p:txBody>
              <a:bodyPr/>
              <a:lstStyle/>
              <a:p>
                <a:r>
                  <a:rPr lang="en-CA">
                    <a:noFill/>
                  </a:rPr>
                  <a:t> </a:t>
                </a:r>
              </a:p>
            </p:txBody>
          </p:sp>
        </mc:Fallback>
      </mc:AlternateContent>
      <p:sp>
        <p:nvSpPr>
          <p:cNvPr id="48" name="TextBox 47">
            <a:extLst>
              <a:ext uri="{FF2B5EF4-FFF2-40B4-BE49-F238E27FC236}">
                <a16:creationId xmlns:a16="http://schemas.microsoft.com/office/drawing/2014/main" id="{48FF5B0A-A305-A4F5-5F0D-8EC3BD59056E}"/>
              </a:ext>
            </a:extLst>
          </p:cNvPr>
          <p:cNvSpPr txBox="1"/>
          <p:nvPr/>
        </p:nvSpPr>
        <p:spPr>
          <a:xfrm>
            <a:off x="5970306" y="3350701"/>
            <a:ext cx="1804097" cy="1015663"/>
          </a:xfrm>
          <a:prstGeom prst="rect">
            <a:avLst/>
          </a:prstGeom>
          <a:noFill/>
        </p:spPr>
        <p:txBody>
          <a:bodyPr wrap="square" rtlCol="0">
            <a:spAutoFit/>
          </a:bodyPr>
          <a:lstStyle/>
          <a:p>
            <a:r>
              <a:rPr lang="en-CA" sz="2000" dirty="0"/>
              <a:t>Detector-field interaction regions</a:t>
            </a:r>
          </a:p>
        </p:txBody>
      </p:sp>
      <p:sp>
        <p:nvSpPr>
          <p:cNvPr id="49" name="Connector 48">
            <a:extLst>
              <a:ext uri="{FF2B5EF4-FFF2-40B4-BE49-F238E27FC236}">
                <a16:creationId xmlns:a16="http://schemas.microsoft.com/office/drawing/2014/main" id="{0FB34A47-12D7-93EB-AAEE-267134598ADB}"/>
              </a:ext>
            </a:extLst>
          </p:cNvPr>
          <p:cNvSpPr/>
          <p:nvPr/>
        </p:nvSpPr>
        <p:spPr>
          <a:xfrm>
            <a:off x="7786815" y="1785163"/>
            <a:ext cx="2549394" cy="1768783"/>
          </a:xfrm>
          <a:prstGeom prst="flowChartConnector">
            <a:avLst/>
          </a:prstGeom>
          <a:noFill/>
          <a:ln w="31750">
            <a:prstDash val="dash"/>
          </a:ln>
          <a:scene3d>
            <a:camera prst="orthographicFront">
              <a:rot lat="19210946" lon="21349022" rev="39093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TextBox 53">
            <a:extLst>
              <a:ext uri="{FF2B5EF4-FFF2-40B4-BE49-F238E27FC236}">
                <a16:creationId xmlns:a16="http://schemas.microsoft.com/office/drawing/2014/main" id="{F79BE05D-787D-2E18-854A-CA6582E41F7B}"/>
              </a:ext>
            </a:extLst>
          </p:cNvPr>
          <p:cNvSpPr txBox="1"/>
          <p:nvPr/>
        </p:nvSpPr>
        <p:spPr>
          <a:xfrm>
            <a:off x="345523" y="2023223"/>
            <a:ext cx="5009371" cy="707886"/>
          </a:xfrm>
          <a:prstGeom prst="rect">
            <a:avLst/>
          </a:prstGeom>
          <a:noFill/>
        </p:spPr>
        <p:txBody>
          <a:bodyPr wrap="square" rtlCol="0">
            <a:spAutoFit/>
          </a:bodyPr>
          <a:lstStyle/>
          <a:p>
            <a:r>
              <a:rPr lang="en-CA" sz="2000" dirty="0"/>
              <a:t>Time-evolution plus tracing out field results in decohering channel</a:t>
            </a:r>
          </a:p>
        </p:txBody>
      </p:sp>
      <p:sp>
        <p:nvSpPr>
          <p:cNvPr id="55" name="TextBox 54">
            <a:extLst>
              <a:ext uri="{FF2B5EF4-FFF2-40B4-BE49-F238E27FC236}">
                <a16:creationId xmlns:a16="http://schemas.microsoft.com/office/drawing/2014/main" id="{4C8CE643-F318-8497-A379-7849E1307C3E}"/>
              </a:ext>
            </a:extLst>
          </p:cNvPr>
          <p:cNvSpPr txBox="1"/>
          <p:nvPr/>
        </p:nvSpPr>
        <p:spPr>
          <a:xfrm>
            <a:off x="2736570" y="2826326"/>
            <a:ext cx="720245" cy="369332"/>
          </a:xfrm>
          <a:prstGeom prst="rect">
            <a:avLst/>
          </a:prstGeom>
          <a:noFill/>
        </p:spPr>
        <p:txBody>
          <a:bodyPr wrap="square" rtlCol="0">
            <a:spAutoFit/>
          </a:bodyPr>
          <a:lstStyle/>
          <a:p>
            <a:r>
              <a:rPr lang="en-CA" dirty="0"/>
              <a:t>with</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0824EA4-00DC-7A7E-9B8F-752A7C816BB7}"/>
                  </a:ext>
                </a:extLst>
              </p:cNvPr>
              <p:cNvSpPr txBox="1"/>
              <p:nvPr/>
            </p:nvSpPr>
            <p:spPr>
              <a:xfrm>
                <a:off x="355488" y="3326015"/>
                <a:ext cx="5291852" cy="732573"/>
              </a:xfrm>
              <a:prstGeom prst="rect">
                <a:avLst/>
              </a:prstGeom>
              <a:noFill/>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oMath>
                </a14:m>
                <a:r>
                  <a:rPr lang="en-CA" sz="2000" dirty="0"/>
                  <a:t> are parameters that depend on propagation of detector interaction regions through field </a:t>
                </a:r>
                <a:endParaRPr lang="en-CA" dirty="0"/>
              </a:p>
            </p:txBody>
          </p:sp>
        </mc:Choice>
        <mc:Fallback xmlns="">
          <p:sp>
            <p:nvSpPr>
              <p:cNvPr id="56" name="TextBox 55">
                <a:extLst>
                  <a:ext uri="{FF2B5EF4-FFF2-40B4-BE49-F238E27FC236}">
                    <a16:creationId xmlns:a16="http://schemas.microsoft.com/office/drawing/2014/main" id="{50824EA4-00DC-7A7E-9B8F-752A7C816BB7}"/>
                  </a:ext>
                </a:extLst>
              </p:cNvPr>
              <p:cNvSpPr txBox="1">
                <a:spLocks noRot="1" noChangeAspect="1" noMove="1" noResize="1" noEditPoints="1" noAdjustHandles="1" noChangeArrowheads="1" noChangeShapeType="1" noTextEdit="1"/>
              </p:cNvSpPr>
              <p:nvPr/>
            </p:nvSpPr>
            <p:spPr>
              <a:xfrm>
                <a:off x="355488" y="3326015"/>
                <a:ext cx="5291852" cy="732573"/>
              </a:xfrm>
              <a:prstGeom prst="rect">
                <a:avLst/>
              </a:prstGeom>
              <a:blipFill>
                <a:blip r:embed="rId13"/>
                <a:stretch>
                  <a:fillRect l="-957" t="-5172" b="-1379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C64ABBE-76C7-A48A-E9F8-A067E27F6139}"/>
                  </a:ext>
                </a:extLst>
              </p:cNvPr>
              <p:cNvSpPr txBox="1"/>
              <p:nvPr/>
            </p:nvSpPr>
            <p:spPr>
              <a:xfrm>
                <a:off x="5591600" y="4631565"/>
                <a:ext cx="1850333" cy="1062470"/>
              </a:xfrm>
              <a:prstGeom prst="rect">
                <a:avLst/>
              </a:prstGeom>
              <a:noFill/>
            </p:spPr>
            <p:txBody>
              <a:bodyPr wrap="square" rtlCol="0">
                <a:spAutoFit/>
              </a:bodyPr>
              <a:lstStyle/>
              <a:p>
                <a:r>
                  <a:rPr lang="en-CA" sz="2000" dirty="0"/>
                  <a:t>meaningful entanglement: </a:t>
                </a:r>
                <a14:m>
                  <m:oMath xmlns:m="http://schemas.openxmlformats.org/officeDocument/2006/math">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e>
                    </m:d>
                    <m:r>
                      <a:rPr lang="en-US" sz="2000" b="0" i="1" smtClean="0">
                        <a:latin typeface="Cambria Math" panose="02040503050406030204" pitchFamily="18" charset="0"/>
                      </a:rPr>
                      <m:t>∼1</m:t>
                    </m:r>
                  </m:oMath>
                </a14:m>
                <a:endParaRPr lang="en-CA" sz="2000" dirty="0"/>
              </a:p>
            </p:txBody>
          </p:sp>
        </mc:Choice>
        <mc:Fallback xmlns="">
          <p:sp>
            <p:nvSpPr>
              <p:cNvPr id="57" name="TextBox 56">
                <a:extLst>
                  <a:ext uri="{FF2B5EF4-FFF2-40B4-BE49-F238E27FC236}">
                    <a16:creationId xmlns:a16="http://schemas.microsoft.com/office/drawing/2014/main" id="{6C64ABBE-76C7-A48A-E9F8-A067E27F6139}"/>
                  </a:ext>
                </a:extLst>
              </p:cNvPr>
              <p:cNvSpPr txBox="1">
                <a:spLocks noRot="1" noChangeAspect="1" noMove="1" noResize="1" noEditPoints="1" noAdjustHandles="1" noChangeArrowheads="1" noChangeShapeType="1" noTextEdit="1"/>
              </p:cNvSpPr>
              <p:nvPr/>
            </p:nvSpPr>
            <p:spPr>
              <a:xfrm>
                <a:off x="5591600" y="4631565"/>
                <a:ext cx="1850333" cy="1062470"/>
              </a:xfrm>
              <a:prstGeom prst="rect">
                <a:avLst/>
              </a:prstGeom>
              <a:blipFill>
                <a:blip r:embed="rId14"/>
                <a:stretch>
                  <a:fillRect l="-3401" t="-3529" b="-352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380DED2-A58C-F4ED-D764-D8D84CAD09C8}"/>
                  </a:ext>
                </a:extLst>
              </p:cNvPr>
              <p:cNvSpPr txBox="1"/>
              <p:nvPr/>
            </p:nvSpPr>
            <p:spPr>
              <a:xfrm>
                <a:off x="809837" y="4558430"/>
                <a:ext cx="3801935" cy="1023998"/>
              </a:xfrm>
              <a:prstGeom prst="rect">
                <a:avLst/>
              </a:prstGeom>
              <a:noFill/>
              <a:ln>
                <a:noFill/>
              </a:ln>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2000" dirty="0"/>
                  <a:t>Detectors can couple to field simultaneously, so </a:t>
                </a:r>
                <a14:m>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oMath>
                </a14:m>
                <a:r>
                  <a:rPr lang="en-CA" sz="2000" dirty="0"/>
                  <a:t> is a globally entangling unitary on all detectors.</a:t>
                </a:r>
              </a:p>
            </p:txBody>
          </p:sp>
        </mc:Choice>
        <mc:Fallback xmlns="">
          <p:sp>
            <p:nvSpPr>
              <p:cNvPr id="59" name="TextBox 58">
                <a:extLst>
                  <a:ext uri="{FF2B5EF4-FFF2-40B4-BE49-F238E27FC236}">
                    <a16:creationId xmlns:a16="http://schemas.microsoft.com/office/drawing/2014/main" id="{4380DED2-A58C-F4ED-D764-D8D84CAD09C8}"/>
                  </a:ext>
                </a:extLst>
              </p:cNvPr>
              <p:cNvSpPr txBox="1">
                <a:spLocks noRot="1" noChangeAspect="1" noMove="1" noResize="1" noEditPoints="1" noAdjustHandles="1" noChangeArrowheads="1" noChangeShapeType="1" noTextEdit="1"/>
              </p:cNvSpPr>
              <p:nvPr/>
            </p:nvSpPr>
            <p:spPr>
              <a:xfrm>
                <a:off x="809837" y="4558430"/>
                <a:ext cx="3801935" cy="1023998"/>
              </a:xfrm>
              <a:prstGeom prst="rect">
                <a:avLst/>
              </a:prstGeom>
              <a:blipFill>
                <a:blip r:embed="rId15"/>
                <a:stretch>
                  <a:fillRect l="-1661" t="-3704" r="-997" b="-8642"/>
                </a:stretch>
              </a:blipFill>
              <a:ln>
                <a:noFill/>
              </a:ln>
            </p:spPr>
            <p:txBody>
              <a:bodyPr/>
              <a:lstStyle/>
              <a:p>
                <a:r>
                  <a:rPr lang="en-CA">
                    <a:noFill/>
                  </a:rPr>
                  <a:t> </a:t>
                </a:r>
              </a:p>
            </p:txBody>
          </p:sp>
        </mc:Fallback>
      </mc:AlternateContent>
    </p:spTree>
    <p:custDataLst>
      <p:tags r:id="rId1"/>
    </p:custDataLst>
    <p:extLst>
      <p:ext uri="{BB962C8B-B14F-4D97-AF65-F5344CB8AC3E}">
        <p14:creationId xmlns:p14="http://schemas.microsoft.com/office/powerpoint/2010/main" val="2420458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0" grpId="0" animBg="1"/>
      <p:bldP spid="17" grpId="0"/>
      <p:bldP spid="18" grpId="0"/>
      <p:bldP spid="54" grpId="0"/>
      <p:bldP spid="55" grpId="0"/>
      <p:bldP spid="56" grpId="0"/>
      <p:bldP spid="57" grpId="0"/>
      <p:bldP spid="5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ounded Rectangle 53">
            <a:extLst>
              <a:ext uri="{FF2B5EF4-FFF2-40B4-BE49-F238E27FC236}">
                <a16:creationId xmlns:a16="http://schemas.microsoft.com/office/drawing/2014/main" id="{F4C26FDB-BDA5-563B-644E-97357EC92C20}"/>
              </a:ext>
            </a:extLst>
          </p:cNvPr>
          <p:cNvSpPr/>
          <p:nvPr/>
        </p:nvSpPr>
        <p:spPr>
          <a:xfrm>
            <a:off x="6845940" y="1005578"/>
            <a:ext cx="4551175" cy="3630542"/>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9" name="Rounded Rectangle 58">
            <a:extLst>
              <a:ext uri="{FF2B5EF4-FFF2-40B4-BE49-F238E27FC236}">
                <a16:creationId xmlns:a16="http://schemas.microsoft.com/office/drawing/2014/main" id="{EEF8E665-5F68-B604-6DFE-DFD241783CF1}"/>
              </a:ext>
            </a:extLst>
          </p:cNvPr>
          <p:cNvSpPr/>
          <p:nvPr/>
        </p:nvSpPr>
        <p:spPr>
          <a:xfrm>
            <a:off x="7474381" y="3156812"/>
            <a:ext cx="3423759" cy="42325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Noise Analysis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35</a:t>
            </a:fld>
            <a:endParaRPr lang="de-AT"/>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9913F44-60A8-5F34-38C0-88DA079AD188}"/>
                  </a:ext>
                </a:extLst>
              </p:cNvPr>
              <p:cNvSpPr txBox="1"/>
              <p:nvPr/>
            </p:nvSpPr>
            <p:spPr>
              <a:xfrm>
                <a:off x="1110728" y="1720965"/>
                <a:ext cx="5015752" cy="4670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𝐹</m:t>
                      </m:r>
                      <m:d>
                        <m:dPr>
                          <m:ctrlPr>
                            <a:rPr lang="en-US" sz="2000" i="1" dirty="0">
                              <a:latin typeface="Cambria Math" panose="02040503050406030204" pitchFamily="18" charset="0"/>
                            </a:rPr>
                          </m:ctrlPr>
                        </m:dPr>
                        <m:e>
                          <m:r>
                            <a:rPr lang="en-CA" sz="2000" i="1" dirty="0">
                              <a:latin typeface="Cambria Math" panose="02040503050406030204" pitchFamily="18" charset="0"/>
                              <a:ea typeface="Cambria Math" panose="02040503050406030204" pitchFamily="18" charset="0"/>
                            </a:rPr>
                            <m:t>ℇ</m:t>
                          </m:r>
                          <m:d>
                            <m:dPr>
                              <m:ctrlPr>
                                <a:rPr lang="en-US" sz="2000" i="1" dirty="0">
                                  <a:latin typeface="Cambria Math" panose="02040503050406030204" pitchFamily="18" charset="0"/>
                                  <a:ea typeface="Cambria Math" panose="02040503050406030204" pitchFamily="18" charset="0"/>
                                </a:rPr>
                              </m:ctrlPr>
                            </m:dPr>
                            <m:e>
                              <m:acc>
                                <m:accPr>
                                  <m:chr m:val="̂"/>
                                  <m:ctrlPr>
                                    <a:rPr lang="en-US" sz="2000" i="1" dirty="0">
                                      <a:latin typeface="Cambria Math" panose="02040503050406030204" pitchFamily="18" charset="0"/>
                                      <a:ea typeface="Cambria Math" panose="02040503050406030204" pitchFamily="18" charset="0"/>
                                    </a:rPr>
                                  </m:ctrlPr>
                                </m:accPr>
                                <m:e>
                                  <m:r>
                                    <a:rPr lang="en-US" sz="2000" i="1" dirty="0">
                                      <a:latin typeface="Cambria Math" panose="02040503050406030204" pitchFamily="18" charset="0"/>
                                      <a:ea typeface="Cambria Math" panose="02040503050406030204" pitchFamily="18" charset="0"/>
                                    </a:rPr>
                                    <m:t>𝜌</m:t>
                                  </m:r>
                                </m:e>
                              </m:acc>
                            </m:e>
                          </m:d>
                          <m:r>
                            <a:rPr lang="en-US" sz="2000" i="1" dirty="0">
                              <a:latin typeface="Cambria Math" panose="02040503050406030204" pitchFamily="18" charset="0"/>
                              <a:ea typeface="Cambria Math" panose="02040503050406030204" pitchFamily="18" charset="0"/>
                            </a:rPr>
                            <m:t>,</m:t>
                          </m:r>
                          <m:sSub>
                            <m:sSubPr>
                              <m:ctrlPr>
                                <a:rPr lang="en-US"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𝑈</m:t>
                                  </m:r>
                                </m:e>
                              </m:acc>
                            </m:e>
                            <m:sub>
                              <m:r>
                                <a:rPr lang="en-US" sz="2000" i="1" dirty="0">
                                  <a:latin typeface="Cambria Math" panose="02040503050406030204" pitchFamily="18" charset="0"/>
                                </a:rPr>
                                <m:t>𝑐</m:t>
                              </m:r>
                            </m:sub>
                          </m:sSub>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𝜌</m:t>
                              </m:r>
                            </m:e>
                          </m:acc>
                          <m:sSubSup>
                            <m:sSubSupPr>
                              <m:ctrlPr>
                                <a:rPr lang="en-US" sz="2000" i="1" dirty="0">
                                  <a:latin typeface="Cambria Math" panose="02040503050406030204" pitchFamily="18" charset="0"/>
                                </a:rPr>
                              </m:ctrlPr>
                            </m:sSubSup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𝑈</m:t>
                                  </m:r>
                                </m:e>
                              </m:acc>
                            </m:e>
                            <m:sub>
                              <m:r>
                                <a:rPr lang="en-US" sz="2000" i="1" dirty="0">
                                  <a:latin typeface="Cambria Math" panose="02040503050406030204" pitchFamily="18" charset="0"/>
                                </a:rPr>
                                <m:t>𝑐</m:t>
                              </m:r>
                            </m:sub>
                            <m:sup>
                              <m:r>
                                <a:rPr lang="en-US" sz="2000" i="1" dirty="0">
                                  <a:latin typeface="Cambria Math" panose="02040503050406030204" pitchFamily="18" charset="0"/>
                                  <a:ea typeface="Cambria Math" panose="02040503050406030204" pitchFamily="18" charset="0"/>
                                </a:rPr>
                                <m:t>†</m:t>
                              </m:r>
                            </m:sup>
                          </m:sSubSup>
                        </m:e>
                      </m:d>
                      <m:r>
                        <m:rPr>
                          <m:nor/>
                        </m:rPr>
                        <a:rPr lang="en-CA" sz="2000" dirty="0"/>
                        <m:t> </m:t>
                      </m:r>
                      <m:r>
                        <a:rPr lang="en-CA" sz="2000" i="1" dirty="0">
                          <a:latin typeface="Cambria Math" panose="02040503050406030204" pitchFamily="18" charset="0"/>
                        </a:rPr>
                        <m:t>≥</m:t>
                      </m:r>
                      <m:r>
                        <a:rPr lang="en-US" sz="2000" i="1" dirty="0">
                          <a:latin typeface="Cambria Math" panose="02040503050406030204" pitchFamily="18" charset="0"/>
                        </a:rPr>
                        <m:t>𝑇𝑟</m:t>
                      </m:r>
                      <m:r>
                        <a:rPr lang="en-US" sz="2000" i="1" dirty="0">
                          <a:latin typeface="Cambria Math" panose="02040503050406030204" pitchFamily="18" charset="0"/>
                        </a:rPr>
                        <m:t>(</m:t>
                      </m:r>
                      <m:sSup>
                        <m:sSupPr>
                          <m:ctrlPr>
                            <a:rPr lang="en-US" sz="2000" i="1" dirty="0">
                              <a:latin typeface="Cambria Math" panose="02040503050406030204" pitchFamily="18" charset="0"/>
                            </a:rPr>
                          </m:ctrlPr>
                        </m:sSup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𝜌</m:t>
                              </m:r>
                            </m:e>
                          </m:acc>
                        </m:e>
                        <m:sup>
                          <m:r>
                            <a:rPr lang="en-US" sz="2000" i="1" dirty="0">
                              <a:latin typeface="Cambria Math" panose="02040503050406030204" pitchFamily="18" charset="0"/>
                            </a:rPr>
                            <m:t>2</m:t>
                          </m:r>
                        </m:sup>
                      </m:sSup>
                      <m:r>
                        <a:rPr lang="en-US" sz="2000" i="1" dirty="0">
                          <a:latin typeface="Cambria Math" panose="02040503050406030204" pitchFamily="18" charset="0"/>
                        </a:rPr>
                        <m:t>)</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𝑒</m:t>
                          </m:r>
                        </m:e>
                        <m:sup>
                          <m:r>
                            <a:rPr lang="en-US" sz="2000" i="1" dirty="0">
                              <a:latin typeface="Cambria Math" panose="02040503050406030204" pitchFamily="18" charset="0"/>
                            </a:rPr>
                            <m:t>−2</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𝑁</m:t>
                              </m:r>
                            </m:e>
                            <m:sup>
                              <m:r>
                                <a:rPr lang="en-US" sz="2000" i="1" dirty="0">
                                  <a:latin typeface="Cambria Math" panose="02040503050406030204" pitchFamily="18" charset="0"/>
                                </a:rPr>
                                <m:t>2</m:t>
                              </m:r>
                            </m:sup>
                          </m:sSup>
                          <m:sSup>
                            <m:sSupPr>
                              <m:ctrlPr>
                                <a:rPr lang="en-US" sz="2000" i="1" dirty="0">
                                  <a:latin typeface="Cambria Math" panose="02040503050406030204" pitchFamily="18" charset="0"/>
                                </a:rPr>
                              </m:ctrlPr>
                            </m:sSupPr>
                            <m:e>
                              <m:r>
                                <a:rPr lang="en-US" sz="2000" i="1" dirty="0">
                                  <a:latin typeface="Cambria Math" panose="02040503050406030204" pitchFamily="18" charset="0"/>
                                </a:rPr>
                                <m:t>𝜆</m:t>
                              </m:r>
                            </m:e>
                            <m:sup>
                              <m:r>
                                <a:rPr lang="en-US" sz="2000" i="1" dirty="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𝒲</m:t>
                          </m:r>
                        </m:sup>
                      </m:sSup>
                    </m:oMath>
                  </m:oMathPara>
                </a14:m>
                <a:endParaRPr lang="en-CA" sz="2000" dirty="0"/>
              </a:p>
            </p:txBody>
          </p:sp>
        </mc:Choice>
        <mc:Fallback xmlns="">
          <p:sp>
            <p:nvSpPr>
              <p:cNvPr id="9" name="TextBox 8">
                <a:extLst>
                  <a:ext uri="{FF2B5EF4-FFF2-40B4-BE49-F238E27FC236}">
                    <a16:creationId xmlns:a16="http://schemas.microsoft.com/office/drawing/2014/main" id="{39913F44-60A8-5F34-38C0-88DA079AD188}"/>
                  </a:ext>
                </a:extLst>
              </p:cNvPr>
              <p:cNvSpPr txBox="1">
                <a:spLocks noRot="1" noChangeAspect="1" noMove="1" noResize="1" noEditPoints="1" noAdjustHandles="1" noChangeArrowheads="1" noChangeShapeType="1" noTextEdit="1"/>
              </p:cNvSpPr>
              <p:nvPr/>
            </p:nvSpPr>
            <p:spPr>
              <a:xfrm>
                <a:off x="1110728" y="1720965"/>
                <a:ext cx="5015752" cy="467051"/>
              </a:xfrm>
              <a:prstGeom prst="rect">
                <a:avLst/>
              </a:prstGeom>
              <a:blipFill>
                <a:blip r:embed="rId4"/>
                <a:stretch>
                  <a:fillRect b="-13158"/>
                </a:stretch>
              </a:blipFill>
            </p:spPr>
            <p:txBody>
              <a:bodyPr/>
              <a:lstStyle/>
              <a:p>
                <a:r>
                  <a:rPr lang="en-CA">
                    <a:noFill/>
                  </a:rPr>
                  <a:t> </a:t>
                </a:r>
              </a:p>
            </p:txBody>
          </p:sp>
        </mc:Fallback>
      </mc:AlternateContent>
      <p:sp>
        <p:nvSpPr>
          <p:cNvPr id="10" name="TextBox 9">
            <a:extLst>
              <a:ext uri="{FF2B5EF4-FFF2-40B4-BE49-F238E27FC236}">
                <a16:creationId xmlns:a16="http://schemas.microsoft.com/office/drawing/2014/main" id="{6D82C545-5BA6-4C60-853B-A4256D7974D2}"/>
              </a:ext>
            </a:extLst>
          </p:cNvPr>
          <p:cNvSpPr txBox="1"/>
          <p:nvPr/>
        </p:nvSpPr>
        <p:spPr>
          <a:xfrm>
            <a:off x="303218" y="1068823"/>
            <a:ext cx="5792782" cy="400110"/>
          </a:xfrm>
          <a:prstGeom prst="rect">
            <a:avLst/>
          </a:prstGeom>
          <a:noFill/>
        </p:spPr>
        <p:txBody>
          <a:bodyPr wrap="square" rtlCol="0">
            <a:spAutoFit/>
          </a:bodyPr>
          <a:lstStyle/>
          <a:p>
            <a:r>
              <a:rPr lang="en-CA" sz="2000" dirty="0"/>
              <a:t>How bad is the noise from interacting with the field?</a:t>
            </a:r>
          </a:p>
        </p:txBody>
      </p:sp>
      <p:sp>
        <p:nvSpPr>
          <p:cNvPr id="11" name="TextBox 10">
            <a:extLst>
              <a:ext uri="{FF2B5EF4-FFF2-40B4-BE49-F238E27FC236}">
                <a16:creationId xmlns:a16="http://schemas.microsoft.com/office/drawing/2014/main" id="{A3A5FF86-5759-A849-2033-9F5658F0474E}"/>
              </a:ext>
            </a:extLst>
          </p:cNvPr>
          <p:cNvSpPr txBox="1"/>
          <p:nvPr/>
        </p:nvSpPr>
        <p:spPr>
          <a:xfrm>
            <a:off x="7039222" y="1062764"/>
            <a:ext cx="4251100" cy="400110"/>
          </a:xfrm>
          <a:prstGeom prst="rect">
            <a:avLst/>
          </a:prstGeom>
          <a:noFill/>
        </p:spPr>
        <p:txBody>
          <a:bodyPr wrap="none" rtlCol="0">
            <a:spAutoFit/>
          </a:bodyPr>
          <a:lstStyle/>
          <a:p>
            <a:r>
              <a:rPr lang="en-CA" sz="2000" dirty="0"/>
              <a:t>Where on the spectrum is our setting? </a:t>
            </a:r>
          </a:p>
        </p:txBody>
      </p:sp>
      <p:sp>
        <p:nvSpPr>
          <p:cNvPr id="13" name="TextBox 12">
            <a:extLst>
              <a:ext uri="{FF2B5EF4-FFF2-40B4-BE49-F238E27FC236}">
                <a16:creationId xmlns:a16="http://schemas.microsoft.com/office/drawing/2014/main" id="{667D82B8-D89E-5C06-8C07-B1F2870E06F6}"/>
              </a:ext>
            </a:extLst>
          </p:cNvPr>
          <p:cNvSpPr txBox="1"/>
          <p:nvPr/>
        </p:nvSpPr>
        <p:spPr>
          <a:xfrm>
            <a:off x="2416815" y="2420739"/>
            <a:ext cx="4805830" cy="400110"/>
          </a:xfrm>
          <a:prstGeom prst="rect">
            <a:avLst/>
          </a:prstGeom>
          <a:noFill/>
        </p:spPr>
        <p:txBody>
          <a:bodyPr wrap="square">
            <a:spAutoFit/>
          </a:bodyPr>
          <a:lstStyle/>
          <a:p>
            <a:r>
              <a:rPr lang="en-CA" sz="2000" dirty="0"/>
              <a:t>field-dependent local noise term</a:t>
            </a:r>
          </a:p>
        </p:txBody>
      </p:sp>
      <p:sp>
        <p:nvSpPr>
          <p:cNvPr id="17" name="Circular Arrow 16">
            <a:extLst>
              <a:ext uri="{FF2B5EF4-FFF2-40B4-BE49-F238E27FC236}">
                <a16:creationId xmlns:a16="http://schemas.microsoft.com/office/drawing/2014/main" id="{180FF9D0-975C-8E06-D0F2-E938BEDF91C7}"/>
              </a:ext>
            </a:extLst>
          </p:cNvPr>
          <p:cNvSpPr/>
          <p:nvPr/>
        </p:nvSpPr>
        <p:spPr>
          <a:xfrm rot="5621568" flipH="1">
            <a:off x="5004621" y="1871182"/>
            <a:ext cx="1129305" cy="996489"/>
          </a:xfrm>
          <a:prstGeom prst="circularArrow">
            <a:avLst>
              <a:gd name="adj1" fmla="val 12500"/>
              <a:gd name="adj2" fmla="val 1142319"/>
              <a:gd name="adj3" fmla="val 20457681"/>
              <a:gd name="adj4" fmla="val 16239022"/>
              <a:gd name="adj5" fmla="val 1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90C14FE-CA4B-CDD4-9F4A-7D27C8FBC485}"/>
                  </a:ext>
                </a:extLst>
              </p:cNvPr>
              <p:cNvSpPr txBox="1"/>
              <p:nvPr/>
            </p:nvSpPr>
            <p:spPr>
              <a:xfrm>
                <a:off x="7627553" y="2259880"/>
                <a:ext cx="141968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𝑁</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𝒲</m:t>
                      </m:r>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1</m:t>
                      </m:r>
                    </m:oMath>
                  </m:oMathPara>
                </a14:m>
                <a:endParaRPr lang="en-CA" dirty="0"/>
              </a:p>
            </p:txBody>
          </p:sp>
        </mc:Choice>
        <mc:Fallback xmlns="">
          <p:sp>
            <p:nvSpPr>
              <p:cNvPr id="18" name="TextBox 17">
                <a:extLst>
                  <a:ext uri="{FF2B5EF4-FFF2-40B4-BE49-F238E27FC236}">
                    <a16:creationId xmlns:a16="http://schemas.microsoft.com/office/drawing/2014/main" id="{290C14FE-CA4B-CDD4-9F4A-7D27C8FBC485}"/>
                  </a:ext>
                </a:extLst>
              </p:cNvPr>
              <p:cNvSpPr txBox="1">
                <a:spLocks noRot="1" noChangeAspect="1" noMove="1" noResize="1" noEditPoints="1" noAdjustHandles="1" noChangeArrowheads="1" noChangeShapeType="1" noTextEdit="1"/>
              </p:cNvSpPr>
              <p:nvPr/>
            </p:nvSpPr>
            <p:spPr>
              <a:xfrm>
                <a:off x="7627553" y="2259880"/>
                <a:ext cx="1419684" cy="307777"/>
              </a:xfrm>
              <a:prstGeom prst="rect">
                <a:avLst/>
              </a:prstGeom>
              <a:blipFill>
                <a:blip r:embed="rId5"/>
                <a:stretch>
                  <a:fillRect l="-3540" r="-3540" b="-8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304D34C-B551-9D5E-E305-1E209774D248}"/>
                  </a:ext>
                </a:extLst>
              </p:cNvPr>
              <p:cNvSpPr txBox="1"/>
              <p:nvPr/>
            </p:nvSpPr>
            <p:spPr>
              <a:xfrm>
                <a:off x="7678629" y="1658169"/>
                <a:ext cx="1230978" cy="338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r>
                        <a:rPr lang="en-US" sz="2000" b="0" i="1" smtClean="0">
                          <a:latin typeface="Cambria Math" panose="02040503050406030204" pitchFamily="18" charset="0"/>
                        </a:rPr>
                        <m:t>| </m:t>
                      </m:r>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 1</m:t>
                      </m:r>
                    </m:oMath>
                  </m:oMathPara>
                </a14:m>
                <a:endParaRPr lang="en-CA" dirty="0"/>
              </a:p>
            </p:txBody>
          </p:sp>
        </mc:Choice>
        <mc:Fallback xmlns="">
          <p:sp>
            <p:nvSpPr>
              <p:cNvPr id="19" name="TextBox 18">
                <a:extLst>
                  <a:ext uri="{FF2B5EF4-FFF2-40B4-BE49-F238E27FC236}">
                    <a16:creationId xmlns:a16="http://schemas.microsoft.com/office/drawing/2014/main" id="{9304D34C-B551-9D5E-E305-1E209774D248}"/>
                  </a:ext>
                </a:extLst>
              </p:cNvPr>
              <p:cNvSpPr txBox="1">
                <a:spLocks noRot="1" noChangeAspect="1" noMove="1" noResize="1" noEditPoints="1" noAdjustHandles="1" noChangeArrowheads="1" noChangeShapeType="1" noTextEdit="1"/>
              </p:cNvSpPr>
              <p:nvPr/>
            </p:nvSpPr>
            <p:spPr>
              <a:xfrm>
                <a:off x="7678629" y="1658169"/>
                <a:ext cx="1230978" cy="338682"/>
              </a:xfrm>
              <a:prstGeom prst="rect">
                <a:avLst/>
              </a:prstGeom>
              <a:blipFill>
                <a:blip r:embed="rId6"/>
                <a:stretch>
                  <a:fillRect l="-6122" t="-7143" r="-4082" b="-25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40C4181-3C75-AB92-2D1A-C1FC6576E5F4}"/>
                  </a:ext>
                </a:extLst>
              </p:cNvPr>
              <p:cNvSpPr txBox="1"/>
              <p:nvPr/>
            </p:nvSpPr>
            <p:spPr>
              <a:xfrm>
                <a:off x="8852676" y="2705944"/>
                <a:ext cx="1351331" cy="338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𝑁</m:t>
                          </m:r>
                        </m:e>
                        <m:sup>
                          <m:r>
                            <a:rPr lang="en-US" sz="2000" b="0" i="1" smtClean="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𝒲</m:t>
                      </m:r>
                      <m:r>
                        <a:rPr lang="en-US" sz="2000" i="1" dirty="0" smtClean="0">
                          <a:latin typeface="Cambria Math" panose="02040503050406030204" pitchFamily="18" charset="0"/>
                          <a:ea typeface="Cambria Math" panose="02040503050406030204" pitchFamily="18" charset="0"/>
                        </a:rPr>
                        <m:t>≪</m:t>
                      </m:r>
                      <m:sSub>
                        <m:sSubPr>
                          <m:ctrlPr>
                            <a:rPr lang="en-US" sz="2000" b="0" i="1" dirty="0" smtClean="0">
                              <a:latin typeface="Cambria Math" panose="02040503050406030204" pitchFamily="18" charset="0"/>
                              <a:ea typeface="Cambria Math" panose="02040503050406030204" pitchFamily="18" charset="0"/>
                            </a:rPr>
                          </m:ctrlPr>
                        </m:sSubPr>
                        <m:e>
                          <m:r>
                            <m:rPr>
                              <m:sty m:val="p"/>
                            </m:rPr>
                            <a:rPr lang="en-US" sz="2000" b="0" i="0" dirty="0" smtClean="0">
                              <a:latin typeface="Cambria Math" panose="02040503050406030204" pitchFamily="18" charset="0"/>
                              <a:ea typeface="Cambria Math" panose="02040503050406030204" pitchFamily="18" charset="0"/>
                            </a:rPr>
                            <m:t>Δ</m:t>
                          </m:r>
                        </m:e>
                        <m:sub>
                          <m:r>
                            <a:rPr lang="en-US" sz="2000" b="0" i="1" dirty="0" smtClean="0">
                              <a:latin typeface="Cambria Math" panose="02040503050406030204" pitchFamily="18" charset="0"/>
                              <a:ea typeface="Cambria Math" panose="02040503050406030204" pitchFamily="18" charset="0"/>
                            </a:rPr>
                            <m:t>𝑖𝑗</m:t>
                          </m:r>
                        </m:sub>
                      </m:sSub>
                    </m:oMath>
                  </m:oMathPara>
                </a14:m>
                <a:endParaRPr lang="en-CA" sz="2000" dirty="0"/>
              </a:p>
            </p:txBody>
          </p:sp>
        </mc:Choice>
        <mc:Fallback xmlns="">
          <p:sp>
            <p:nvSpPr>
              <p:cNvPr id="21" name="TextBox 20">
                <a:extLst>
                  <a:ext uri="{FF2B5EF4-FFF2-40B4-BE49-F238E27FC236}">
                    <a16:creationId xmlns:a16="http://schemas.microsoft.com/office/drawing/2014/main" id="{940C4181-3C75-AB92-2D1A-C1FC6576E5F4}"/>
                  </a:ext>
                </a:extLst>
              </p:cNvPr>
              <p:cNvSpPr txBox="1">
                <a:spLocks noRot="1" noChangeAspect="1" noMove="1" noResize="1" noEditPoints="1" noAdjustHandles="1" noChangeArrowheads="1" noChangeShapeType="1" noTextEdit="1"/>
              </p:cNvSpPr>
              <p:nvPr/>
            </p:nvSpPr>
            <p:spPr>
              <a:xfrm>
                <a:off x="8852676" y="2705944"/>
                <a:ext cx="1351331" cy="338682"/>
              </a:xfrm>
              <a:prstGeom prst="rect">
                <a:avLst/>
              </a:prstGeom>
              <a:blipFill>
                <a:blip r:embed="rId7"/>
                <a:stretch>
                  <a:fillRect l="-2778" r="-1852" b="-22222"/>
                </a:stretch>
              </a:blipFill>
            </p:spPr>
            <p:txBody>
              <a:bodyPr/>
              <a:lstStyle/>
              <a:p>
                <a:r>
                  <a:rPr lang="en-CA">
                    <a:noFill/>
                  </a:rPr>
                  <a:t> </a:t>
                </a:r>
              </a:p>
            </p:txBody>
          </p:sp>
        </mc:Fallback>
      </mc:AlternateContent>
      <p:sp>
        <p:nvSpPr>
          <p:cNvPr id="22" name="TextBox 21">
            <a:extLst>
              <a:ext uri="{FF2B5EF4-FFF2-40B4-BE49-F238E27FC236}">
                <a16:creationId xmlns:a16="http://schemas.microsoft.com/office/drawing/2014/main" id="{A0CC305E-A228-11C4-5509-F9DA3BC78340}"/>
              </a:ext>
            </a:extLst>
          </p:cNvPr>
          <p:cNvSpPr txBox="1"/>
          <p:nvPr/>
        </p:nvSpPr>
        <p:spPr>
          <a:xfrm>
            <a:off x="9142453" y="2192579"/>
            <a:ext cx="1863605" cy="400110"/>
          </a:xfrm>
          <a:prstGeom prst="rect">
            <a:avLst/>
          </a:prstGeom>
          <a:noFill/>
        </p:spPr>
        <p:txBody>
          <a:bodyPr wrap="square" rtlCol="0">
            <a:spAutoFit/>
          </a:bodyPr>
          <a:lstStyle/>
          <a:p>
            <a:r>
              <a:rPr lang="en-CA" sz="2000" dirty="0"/>
              <a:t>Negligible noise</a:t>
            </a:r>
          </a:p>
        </p:txBody>
      </p:sp>
      <p:sp>
        <p:nvSpPr>
          <p:cNvPr id="23" name="TextBox 22">
            <a:extLst>
              <a:ext uri="{FF2B5EF4-FFF2-40B4-BE49-F238E27FC236}">
                <a16:creationId xmlns:a16="http://schemas.microsoft.com/office/drawing/2014/main" id="{C1B2FBA0-1A2F-3D0A-7345-D81DC852127B}"/>
              </a:ext>
            </a:extLst>
          </p:cNvPr>
          <p:cNvSpPr txBox="1"/>
          <p:nvPr/>
        </p:nvSpPr>
        <p:spPr>
          <a:xfrm>
            <a:off x="9221747" y="1484693"/>
            <a:ext cx="1776454" cy="707886"/>
          </a:xfrm>
          <a:prstGeom prst="rect">
            <a:avLst/>
          </a:prstGeom>
          <a:noFill/>
        </p:spPr>
        <p:txBody>
          <a:bodyPr wrap="square" rtlCol="0">
            <a:spAutoFit/>
          </a:bodyPr>
          <a:lstStyle/>
          <a:p>
            <a:r>
              <a:rPr lang="en-CA" sz="2000" dirty="0"/>
              <a:t>Meaningful entanglement</a:t>
            </a:r>
          </a:p>
        </p:txBody>
      </p:sp>
      <p:sp>
        <p:nvSpPr>
          <p:cNvPr id="24" name="Right Arrow 23">
            <a:extLst>
              <a:ext uri="{FF2B5EF4-FFF2-40B4-BE49-F238E27FC236}">
                <a16:creationId xmlns:a16="http://schemas.microsoft.com/office/drawing/2014/main" id="{156528E1-776A-7048-E1B6-5788CF73863C}"/>
              </a:ext>
            </a:extLst>
          </p:cNvPr>
          <p:cNvSpPr/>
          <p:nvPr/>
        </p:nvSpPr>
        <p:spPr>
          <a:xfrm>
            <a:off x="8004951" y="2752033"/>
            <a:ext cx="669965" cy="2261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B5AFD1E-76EE-34C3-865F-17011171EB3B}"/>
                  </a:ext>
                </a:extLst>
              </p:cNvPr>
              <p:cNvSpPr txBox="1"/>
              <p:nvPr/>
            </p:nvSpPr>
            <p:spPr>
              <a:xfrm>
                <a:off x="7028273" y="3746932"/>
                <a:ext cx="4393062" cy="332463"/>
              </a:xfrm>
              <a:prstGeom prst="rect">
                <a:avLst/>
              </a:prstGeom>
              <a:noFill/>
            </p:spPr>
            <p:txBody>
              <a:bodyPr wrap="none" lIns="0" tIns="0" rIns="0" bIns="0"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oMath>
                </a14:m>
                <a:r>
                  <a:rPr lang="en-CA" sz="2000" dirty="0"/>
                  <a:t> typically scales with interaction times </a:t>
                </a:r>
                <a:endParaRPr lang="en-CA" dirty="0"/>
              </a:p>
            </p:txBody>
          </p:sp>
        </mc:Choice>
        <mc:Fallback xmlns="">
          <p:sp>
            <p:nvSpPr>
              <p:cNvPr id="26" name="TextBox 25">
                <a:extLst>
                  <a:ext uri="{FF2B5EF4-FFF2-40B4-BE49-F238E27FC236}">
                    <a16:creationId xmlns:a16="http://schemas.microsoft.com/office/drawing/2014/main" id="{FB5AFD1E-76EE-34C3-865F-17011171EB3B}"/>
                  </a:ext>
                </a:extLst>
              </p:cNvPr>
              <p:cNvSpPr txBox="1">
                <a:spLocks noRot="1" noChangeAspect="1" noMove="1" noResize="1" noEditPoints="1" noAdjustHandles="1" noChangeArrowheads="1" noChangeShapeType="1" noTextEdit="1"/>
              </p:cNvSpPr>
              <p:nvPr/>
            </p:nvSpPr>
            <p:spPr>
              <a:xfrm>
                <a:off x="7028273" y="3746932"/>
                <a:ext cx="4393062" cy="332463"/>
              </a:xfrm>
              <a:prstGeom prst="rect">
                <a:avLst/>
              </a:prstGeom>
              <a:blipFill>
                <a:blip r:embed="rId8"/>
                <a:stretch>
                  <a:fillRect l="-2017" t="-25926" r="-1153" b="-37037"/>
                </a:stretch>
              </a:blipFill>
            </p:spPr>
            <p:txBody>
              <a:bodyPr/>
              <a:lstStyle/>
              <a:p>
                <a:r>
                  <a:rPr lang="en-CA">
                    <a:noFill/>
                  </a:rPr>
                  <a:t> </a:t>
                </a:r>
              </a:p>
            </p:txBody>
          </p:sp>
        </mc:Fallback>
      </mc:AlternateContent>
      <p:sp>
        <p:nvSpPr>
          <p:cNvPr id="36" name="TextBox 35">
            <a:extLst>
              <a:ext uri="{FF2B5EF4-FFF2-40B4-BE49-F238E27FC236}">
                <a16:creationId xmlns:a16="http://schemas.microsoft.com/office/drawing/2014/main" id="{5BE606A1-6902-B427-B6B3-A3446392F7B4}"/>
              </a:ext>
            </a:extLst>
          </p:cNvPr>
          <p:cNvSpPr txBox="1"/>
          <p:nvPr/>
        </p:nvSpPr>
        <p:spPr>
          <a:xfrm>
            <a:off x="303218" y="1600547"/>
            <a:ext cx="1230182" cy="707886"/>
          </a:xfrm>
          <a:prstGeom prst="rect">
            <a:avLst/>
          </a:prstGeom>
          <a:noFill/>
        </p:spPr>
        <p:txBody>
          <a:bodyPr wrap="square" rtlCol="0">
            <a:spAutoFit/>
          </a:bodyPr>
          <a:lstStyle/>
          <a:p>
            <a:r>
              <a:rPr lang="en-CA" sz="2000" dirty="0"/>
              <a:t>Channel Fidelity:</a:t>
            </a:r>
          </a:p>
        </p:txBody>
      </p:sp>
      <p:sp>
        <p:nvSpPr>
          <p:cNvPr id="37" name="TextBox 36">
            <a:extLst>
              <a:ext uri="{FF2B5EF4-FFF2-40B4-BE49-F238E27FC236}">
                <a16:creationId xmlns:a16="http://schemas.microsoft.com/office/drawing/2014/main" id="{F73116A2-6A70-D4B3-65C5-4F67B974A323}"/>
              </a:ext>
            </a:extLst>
          </p:cNvPr>
          <p:cNvSpPr txBox="1"/>
          <p:nvPr/>
        </p:nvSpPr>
        <p:spPr>
          <a:xfrm>
            <a:off x="303218" y="3048424"/>
            <a:ext cx="5015752" cy="707886"/>
          </a:xfrm>
          <a:prstGeom prst="rect">
            <a:avLst/>
          </a:prstGeom>
          <a:noFill/>
        </p:spPr>
        <p:txBody>
          <a:bodyPr wrap="square" rtlCol="0">
            <a:spAutoFit/>
          </a:bodyPr>
          <a:lstStyle/>
          <a:p>
            <a:r>
              <a:rPr lang="en-CA" sz="2000" u="sng" dirty="0"/>
              <a:t>Example</a:t>
            </a:r>
            <a:r>
              <a:rPr lang="en-CA" sz="2000" dirty="0"/>
              <a:t>: Gaussian smearing in Minkowski</a:t>
            </a:r>
          </a:p>
          <a:p>
            <a:endParaRPr lang="en-CA" sz="200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EA655A5-2EF4-6022-D490-E397F0FF546D}"/>
                  </a:ext>
                </a:extLst>
              </p:cNvPr>
              <p:cNvSpPr txBox="1"/>
              <p:nvPr/>
            </p:nvSpPr>
            <p:spPr>
              <a:xfrm>
                <a:off x="7774444" y="5233071"/>
                <a:ext cx="3603466" cy="400110"/>
              </a:xfrm>
              <a:prstGeom prst="rect">
                <a:avLst/>
              </a:prstGeom>
              <a:noFill/>
            </p:spPr>
            <p:txBody>
              <a:bodyPr wrap="square">
                <a:spAutoFit/>
              </a:bodyPr>
              <a:lstStyle/>
              <a:p>
                <a:r>
                  <a:rPr lang="en-US" sz="2000" b="0" dirty="0">
                    <a:ea typeface="Cambria Math" panose="02040503050406030204" pitchFamily="18" charset="0"/>
                  </a:rPr>
                  <a:t>Per layer: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𝐹</m:t>
                    </m:r>
                    <m:r>
                      <a:rPr lang="en-US" sz="2000" b="0" i="1" dirty="0" smtClean="0">
                        <a:latin typeface="Cambria Math" panose="02040503050406030204" pitchFamily="18" charset="0"/>
                        <a:ea typeface="Cambria Math" panose="02040503050406030204" pitchFamily="18" charset="0"/>
                      </a:rPr>
                      <m:t> ≥99.998%</m:t>
                    </m:r>
                  </m:oMath>
                </a14:m>
                <a:endParaRPr lang="en-CA" sz="2000" dirty="0"/>
              </a:p>
            </p:txBody>
          </p:sp>
        </mc:Choice>
        <mc:Fallback xmlns="">
          <p:sp>
            <p:nvSpPr>
              <p:cNvPr id="41" name="TextBox 40">
                <a:extLst>
                  <a:ext uri="{FF2B5EF4-FFF2-40B4-BE49-F238E27FC236}">
                    <a16:creationId xmlns:a16="http://schemas.microsoft.com/office/drawing/2014/main" id="{BEA655A5-2EF4-6022-D490-E397F0FF546D}"/>
                  </a:ext>
                </a:extLst>
              </p:cNvPr>
              <p:cNvSpPr txBox="1">
                <a:spLocks noRot="1" noChangeAspect="1" noMove="1" noResize="1" noEditPoints="1" noAdjustHandles="1" noChangeArrowheads="1" noChangeShapeType="1" noTextEdit="1"/>
              </p:cNvSpPr>
              <p:nvPr/>
            </p:nvSpPr>
            <p:spPr>
              <a:xfrm>
                <a:off x="7774444" y="5233071"/>
                <a:ext cx="3603466" cy="400110"/>
              </a:xfrm>
              <a:prstGeom prst="rect">
                <a:avLst/>
              </a:prstGeom>
              <a:blipFill>
                <a:blip r:embed="rId9"/>
                <a:stretch>
                  <a:fillRect l="-1761"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CE180D2-8EB9-91E9-0909-F6937D130EE8}"/>
                  </a:ext>
                </a:extLst>
              </p:cNvPr>
              <p:cNvSpPr txBox="1"/>
              <p:nvPr/>
            </p:nvSpPr>
            <p:spPr>
              <a:xfrm>
                <a:off x="371261" y="3515373"/>
                <a:ext cx="3855799" cy="67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Λ</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𝜋</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e>
                                  </m:d>
                                </m:e>
                                <m:sup>
                                  <m:r>
                                    <a:rPr lang="en-US" sz="2000" b="0" i="1" smtClean="0">
                                      <a:latin typeface="Cambria Math" panose="02040503050406030204" pitchFamily="18" charset="0"/>
                                    </a:rPr>
                                    <m:t>3/2</m:t>
                                  </m:r>
                                </m:sup>
                              </m:sSup>
                            </m:den>
                          </m:f>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𝑐</m:t>
                                          </m:r>
                                        </m:sub>
                                      </m:sSub>
                                    </m:e>
                                  </m:d>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CA" sz="2000">
                                          <a:latin typeface="Cambria Math" panose="02040503050406030204" pitchFamily="18" charset="0"/>
                                        </a:rPr>
                                        <m:t>​</m:t>
                                      </m:r>
                                    </m:e>
                                  </m:d>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den>
                          </m:f>
                        </m:sup>
                      </m:sSup>
                    </m:oMath>
                  </m:oMathPara>
                </a14:m>
                <a:endParaRPr lang="en-CA" dirty="0"/>
              </a:p>
            </p:txBody>
          </p:sp>
        </mc:Choice>
        <mc:Fallback xmlns="">
          <p:sp>
            <p:nvSpPr>
              <p:cNvPr id="50" name="TextBox 49">
                <a:extLst>
                  <a:ext uri="{FF2B5EF4-FFF2-40B4-BE49-F238E27FC236}">
                    <a16:creationId xmlns:a16="http://schemas.microsoft.com/office/drawing/2014/main" id="{CCE180D2-8EB9-91E9-0909-F6937D130EE8}"/>
                  </a:ext>
                </a:extLst>
              </p:cNvPr>
              <p:cNvSpPr txBox="1">
                <a:spLocks noRot="1" noChangeAspect="1" noMove="1" noResize="1" noEditPoints="1" noAdjustHandles="1" noChangeArrowheads="1" noChangeShapeType="1" noTextEdit="1"/>
              </p:cNvSpPr>
              <p:nvPr/>
            </p:nvSpPr>
            <p:spPr>
              <a:xfrm>
                <a:off x="371261" y="3515373"/>
                <a:ext cx="3855799" cy="679097"/>
              </a:xfrm>
              <a:prstGeom prst="rect">
                <a:avLst/>
              </a:prstGeom>
              <a:blipFill>
                <a:blip r:embed="rId10"/>
                <a:stretch>
                  <a:fillRect l="-1316" t="-54545" r="-3947" b="-2727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2E35768-1144-6AF6-0FCA-F3186416B71B}"/>
                  </a:ext>
                </a:extLst>
              </p:cNvPr>
              <p:cNvSpPr txBox="1"/>
              <p:nvPr/>
            </p:nvSpPr>
            <p:spPr>
              <a:xfrm>
                <a:off x="594399" y="4293379"/>
                <a:ext cx="1945533"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000" i="1" smtClean="0">
                          <a:latin typeface="Cambria Math" panose="02040503050406030204" pitchFamily="18" charset="0"/>
                          <a:ea typeface="Cambria Math" panose="02040503050406030204" pitchFamily="18" charset="0"/>
                        </a:rPr>
                        <m:t>𝒲</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𝑇</m:t>
                              </m:r>
                            </m:e>
                            <m:sup>
                              <m:r>
                                <a:rPr lang="en-US" sz="2000" b="0" i="1" smtClean="0">
                                  <a:latin typeface="Cambria Math" panose="02040503050406030204" pitchFamily="18" charset="0"/>
                                  <a:ea typeface="Cambria Math" panose="02040503050406030204" pitchFamily="18" charset="0"/>
                                </a:rPr>
                                <m:t>2</m:t>
                              </m:r>
                            </m:sup>
                          </m:sSup>
                        </m:num>
                        <m:den>
                          <m:r>
                            <a:rPr lang="en-US" sz="2000" b="0" i="1" smtClean="0">
                              <a:latin typeface="Cambria Math" panose="02040503050406030204" pitchFamily="18" charset="0"/>
                              <a:ea typeface="Cambria Math" panose="02040503050406030204" pitchFamily="18" charset="0"/>
                            </a:rPr>
                            <m:t>4</m:t>
                          </m:r>
                          <m:r>
                            <a:rPr lang="en-US" sz="2000" b="0" i="1" smtClean="0">
                              <a:latin typeface="Cambria Math" panose="02040503050406030204" pitchFamily="18" charset="0"/>
                              <a:ea typeface="Cambria Math" panose="02040503050406030204" pitchFamily="18" charset="0"/>
                            </a:rPr>
                            <m:t>𝜋</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ea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𝑇</m:t>
                              </m:r>
                            </m:e>
                            <m:sup>
                              <m:r>
                                <a:rPr lang="en-US" sz="2000" b="0" i="1" smtClean="0">
                                  <a:latin typeface="Cambria Math" panose="02040503050406030204" pitchFamily="18" charset="0"/>
                                  <a:ea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m:t>
                          </m:r>
                        </m:den>
                      </m:f>
                    </m:oMath>
                  </m:oMathPara>
                </a14:m>
                <a:endParaRPr lang="en-CA" sz="2000" dirty="0"/>
              </a:p>
            </p:txBody>
          </p:sp>
        </mc:Choice>
        <mc:Fallback xmlns="">
          <p:sp>
            <p:nvSpPr>
              <p:cNvPr id="51" name="TextBox 50">
                <a:extLst>
                  <a:ext uri="{FF2B5EF4-FFF2-40B4-BE49-F238E27FC236}">
                    <a16:creationId xmlns:a16="http://schemas.microsoft.com/office/drawing/2014/main" id="{32E35768-1144-6AF6-0FCA-F3186416B71B}"/>
                  </a:ext>
                </a:extLst>
              </p:cNvPr>
              <p:cNvSpPr txBox="1">
                <a:spLocks noRot="1" noChangeAspect="1" noMove="1" noResize="1" noEditPoints="1" noAdjustHandles="1" noChangeArrowheads="1" noChangeShapeType="1" noTextEdit="1"/>
              </p:cNvSpPr>
              <p:nvPr/>
            </p:nvSpPr>
            <p:spPr>
              <a:xfrm>
                <a:off x="594399" y="4293379"/>
                <a:ext cx="1945533" cy="672172"/>
              </a:xfrm>
              <a:prstGeom prst="rect">
                <a:avLst/>
              </a:prstGeom>
              <a:blipFill>
                <a:blip r:embed="rId11"/>
                <a:stretch>
                  <a:fillRect l="-2597" r="-3896" b="-1454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756563F-441C-0496-2FC1-BAC368CF5372}"/>
                  </a:ext>
                </a:extLst>
              </p:cNvPr>
              <p:cNvSpPr txBox="1"/>
              <p:nvPr/>
            </p:nvSpPr>
            <p:spPr>
              <a:xfrm>
                <a:off x="594399" y="4944599"/>
                <a:ext cx="5709192" cy="8645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r>
                            <a:rPr lang="en-US" sz="2000" b="0" i="1" smtClean="0">
                              <a:latin typeface="Cambria Math" panose="02040503050406030204" pitchFamily="18" charset="0"/>
                            </a:rPr>
                            <m:t>𝜋</m:t>
                          </m:r>
                          <m:rad>
                            <m:radPr>
                              <m:degHide m:val="on"/>
                              <m:ctrlPr>
                                <a:rPr lang="en-US" sz="2000" b="0" i="1" smtClean="0">
                                  <a:latin typeface="Cambria Math" panose="02040503050406030204" pitchFamily="18" charset="0"/>
                                </a:rPr>
                              </m:ctrlPr>
                            </m:radPr>
                            <m:deg/>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e>
                          </m:ra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𝑖𝑗</m:t>
                              </m:r>
                            </m:sub>
                          </m:sSub>
                        </m:den>
                      </m:f>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𝐿</m:t>
                                  </m:r>
                                </m:e>
                                <m:sub>
                                  <m:r>
                                    <a:rPr lang="en-US" sz="2000" b="0" i="1" smtClean="0">
                                      <a:latin typeface="Cambria Math" panose="02040503050406030204" pitchFamily="18" charset="0"/>
                                    </a:rPr>
                                    <m:t>𝑖𝑗</m:t>
                                  </m:r>
                                </m:sub>
                                <m:sup>
                                  <m:r>
                                    <a:rPr lang="en-US" sz="2000" b="0" i="1" smtClean="0">
                                      <a:latin typeface="Cambria Math" panose="02040503050406030204" pitchFamily="18" charset="0"/>
                                    </a:rPr>
                                    <m:t>2</m:t>
                                  </m:r>
                                </m:sup>
                              </m:sSubSup>
                            </m:num>
                            <m:den>
                              <m:r>
                                <a:rPr lang="en-US" sz="2000" b="0" i="1" smtClean="0">
                                  <a:latin typeface="Cambria Math" panose="02040503050406030204" pitchFamily="18" charset="0"/>
                                </a:rPr>
                                <m:t>4(</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den>
                          </m:f>
                        </m:sup>
                      </m:sSup>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erf</m:t>
                          </m:r>
                        </m:fName>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𝑖𝑗</m:t>
                                      </m:r>
                                    </m:sub>
                                  </m:sSub>
                                </m:num>
                                <m:den>
                                  <m:r>
                                    <a:rPr lang="en-US" sz="2000" b="0" i="1" smtClean="0">
                                      <a:latin typeface="Cambria Math" panose="02040503050406030204" pitchFamily="18" charset="0"/>
                                    </a:rPr>
                                    <m:t>2</m:t>
                                  </m:r>
                                  <m:r>
                                    <a:rPr lang="en-US" sz="2000" b="0" i="1" smtClean="0">
                                      <a:latin typeface="Cambria Math" panose="02040503050406030204" pitchFamily="18" charset="0"/>
                                    </a:rPr>
                                    <m:t>𝜎</m:t>
                                  </m:r>
                                  <m:rad>
                                    <m:radPr>
                                      <m:degHide m:val="on"/>
                                      <m:ctrlPr>
                                        <a:rPr lang="en-US" sz="2000" b="0" i="1" smtClean="0">
                                          <a:latin typeface="Cambria Math" panose="02040503050406030204" pitchFamily="18" charset="0"/>
                                        </a:rPr>
                                      </m:ctrlPr>
                                    </m:radPr>
                                    <m:deg/>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e>
                                  </m:rad>
                                </m:den>
                              </m:f>
                            </m:e>
                          </m:d>
                        </m:e>
                      </m:func>
                    </m:oMath>
                  </m:oMathPara>
                </a14:m>
                <a:endParaRPr lang="en-CA" dirty="0"/>
              </a:p>
            </p:txBody>
          </p:sp>
        </mc:Choice>
        <mc:Fallback xmlns="">
          <p:sp>
            <p:nvSpPr>
              <p:cNvPr id="52" name="TextBox 51">
                <a:extLst>
                  <a:ext uri="{FF2B5EF4-FFF2-40B4-BE49-F238E27FC236}">
                    <a16:creationId xmlns:a16="http://schemas.microsoft.com/office/drawing/2014/main" id="{8756563F-441C-0496-2FC1-BAC368CF5372}"/>
                  </a:ext>
                </a:extLst>
              </p:cNvPr>
              <p:cNvSpPr txBox="1">
                <a:spLocks noRot="1" noChangeAspect="1" noMove="1" noResize="1" noEditPoints="1" noAdjustHandles="1" noChangeArrowheads="1" noChangeShapeType="1" noTextEdit="1"/>
              </p:cNvSpPr>
              <p:nvPr/>
            </p:nvSpPr>
            <p:spPr>
              <a:xfrm>
                <a:off x="594399" y="4944599"/>
                <a:ext cx="5709192" cy="864532"/>
              </a:xfrm>
              <a:prstGeom prst="rect">
                <a:avLst/>
              </a:prstGeom>
              <a:blipFill>
                <a:blip r:embed="rId12"/>
                <a:stretch>
                  <a:fillRect l="-667" b="-8696"/>
                </a:stretch>
              </a:blipFill>
            </p:spPr>
            <p:txBody>
              <a:bodyPr/>
              <a:lstStyle/>
              <a:p>
                <a:r>
                  <a:rPr lang="en-CA">
                    <a:noFill/>
                  </a:rPr>
                  <a:t> </a:t>
                </a:r>
              </a:p>
            </p:txBody>
          </p:sp>
        </mc:Fallback>
      </mc:AlternateContent>
      <p:sp>
        <p:nvSpPr>
          <p:cNvPr id="55" name="TextBox 54">
            <a:extLst>
              <a:ext uri="{FF2B5EF4-FFF2-40B4-BE49-F238E27FC236}">
                <a16:creationId xmlns:a16="http://schemas.microsoft.com/office/drawing/2014/main" id="{B9E42DFD-314A-83A9-19FC-2513882837E3}"/>
              </a:ext>
            </a:extLst>
          </p:cNvPr>
          <p:cNvSpPr txBox="1"/>
          <p:nvPr/>
        </p:nvSpPr>
        <p:spPr>
          <a:xfrm>
            <a:off x="7629084" y="3156812"/>
            <a:ext cx="3092538" cy="400110"/>
          </a:xfrm>
          <a:prstGeom prst="rect">
            <a:avLst/>
          </a:prstGeom>
          <a:noFill/>
        </p:spPr>
        <p:txBody>
          <a:bodyPr wrap="square" rtlCol="0">
            <a:spAutoFit/>
          </a:bodyPr>
          <a:lstStyle/>
          <a:p>
            <a:r>
              <a:rPr lang="en-CA" sz="2000" dirty="0"/>
              <a:t>True for general spacetimes</a:t>
            </a:r>
          </a:p>
        </p:txBody>
      </p:sp>
      <p:sp>
        <p:nvSpPr>
          <p:cNvPr id="56" name="TextBox 55">
            <a:extLst>
              <a:ext uri="{FF2B5EF4-FFF2-40B4-BE49-F238E27FC236}">
                <a16:creationId xmlns:a16="http://schemas.microsoft.com/office/drawing/2014/main" id="{5EE76558-734D-BE58-F95E-14F9D72137B5}"/>
              </a:ext>
            </a:extLst>
          </p:cNvPr>
          <p:cNvSpPr txBox="1"/>
          <p:nvPr/>
        </p:nvSpPr>
        <p:spPr>
          <a:xfrm>
            <a:off x="7100023" y="1610123"/>
            <a:ext cx="532931" cy="400110"/>
          </a:xfrm>
          <a:prstGeom prst="rect">
            <a:avLst/>
          </a:prstGeom>
          <a:noFill/>
        </p:spPr>
        <p:txBody>
          <a:bodyPr wrap="square" rtlCol="0">
            <a:spAutoFit/>
          </a:bodyPr>
          <a:lstStyle/>
          <a:p>
            <a:r>
              <a:rPr lang="en-CA" sz="2000" dirty="0"/>
              <a:t>1)</a:t>
            </a:r>
          </a:p>
        </p:txBody>
      </p:sp>
      <p:sp>
        <p:nvSpPr>
          <p:cNvPr id="57" name="TextBox 56">
            <a:extLst>
              <a:ext uri="{FF2B5EF4-FFF2-40B4-BE49-F238E27FC236}">
                <a16:creationId xmlns:a16="http://schemas.microsoft.com/office/drawing/2014/main" id="{CF88AA5C-845A-9238-5CCF-D00F27AAB79D}"/>
              </a:ext>
            </a:extLst>
          </p:cNvPr>
          <p:cNvSpPr txBox="1"/>
          <p:nvPr/>
        </p:nvSpPr>
        <p:spPr>
          <a:xfrm>
            <a:off x="7100023" y="2213713"/>
            <a:ext cx="532931" cy="400110"/>
          </a:xfrm>
          <a:prstGeom prst="rect">
            <a:avLst/>
          </a:prstGeom>
          <a:noFill/>
        </p:spPr>
        <p:txBody>
          <a:bodyPr wrap="square" rtlCol="0">
            <a:spAutoFit/>
          </a:bodyPr>
          <a:lstStyle/>
          <a:p>
            <a:r>
              <a:rPr lang="en-CA" sz="2000" dirty="0"/>
              <a:t>2)</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BCC8F3A-8E82-64E7-1A6A-FB4819A98592}"/>
                  </a:ext>
                </a:extLst>
              </p:cNvPr>
              <p:cNvSpPr txBox="1"/>
              <p:nvPr/>
            </p:nvSpPr>
            <p:spPr>
              <a:xfrm>
                <a:off x="7474381" y="4802564"/>
                <a:ext cx="3593841" cy="400110"/>
              </a:xfrm>
              <a:prstGeom prst="rect">
                <a:avLst/>
              </a:prstGeom>
              <a:noFill/>
            </p:spPr>
            <p:txBody>
              <a:bodyPr wrap="square">
                <a:spAutoFit/>
              </a:bodyPr>
              <a:lstStyle/>
              <a:p>
                <a:r>
                  <a:rPr lang="en-CA" sz="2000" dirty="0"/>
                  <a:t>e.g. for </a:t>
                </a:r>
                <a14:m>
                  <m:oMath xmlns:m="http://schemas.openxmlformats.org/officeDocument/2006/math">
                    <m:r>
                      <a:rPr lang="en-US" sz="2000" b="0" i="1" smtClean="0">
                        <a:latin typeface="Cambria Math" panose="02040503050406030204" pitchFamily="18" charset="0"/>
                      </a:rPr>
                      <m:t>𝜆</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−4</m:t>
                        </m:r>
                      </m:sup>
                    </m:sSup>
                  </m:oMath>
                </a14:m>
                <a:r>
                  <a:rPr lang="en-CA" sz="2000" dirty="0"/>
                  <a:t> and </a:t>
                </a:r>
                <a14:m>
                  <m:oMath xmlns:m="http://schemas.openxmlformats.org/officeDocument/2006/math">
                    <m:r>
                      <a:rPr lang="en-US" sz="2000" b="0" i="1" smtClean="0">
                        <a:latin typeface="Cambria Math" panose="02040503050406030204" pitchFamily="18" charset="0"/>
                      </a:rPr>
                      <m:t>𝑁</m:t>
                    </m:r>
                    <m:r>
                      <a:rPr lang="en-US" sz="2000" b="0" i="1" smtClean="0">
                        <a:latin typeface="Cambria Math" panose="02040503050406030204" pitchFamily="18" charset="0"/>
                      </a:rPr>
                      <m:t>=100</m:t>
                    </m:r>
                  </m:oMath>
                </a14:m>
                <a:endParaRPr lang="en-US" sz="2000" b="0" dirty="0"/>
              </a:p>
            </p:txBody>
          </p:sp>
        </mc:Choice>
        <mc:Fallback xmlns="">
          <p:sp>
            <p:nvSpPr>
              <p:cNvPr id="62" name="TextBox 61">
                <a:extLst>
                  <a:ext uri="{FF2B5EF4-FFF2-40B4-BE49-F238E27FC236}">
                    <a16:creationId xmlns:a16="http://schemas.microsoft.com/office/drawing/2014/main" id="{0BCC8F3A-8E82-64E7-1A6A-FB4819A98592}"/>
                  </a:ext>
                </a:extLst>
              </p:cNvPr>
              <p:cNvSpPr txBox="1">
                <a:spLocks noRot="1" noChangeAspect="1" noMove="1" noResize="1" noEditPoints="1" noAdjustHandles="1" noChangeArrowheads="1" noChangeShapeType="1" noTextEdit="1"/>
              </p:cNvSpPr>
              <p:nvPr/>
            </p:nvSpPr>
            <p:spPr>
              <a:xfrm>
                <a:off x="7474381" y="4802564"/>
                <a:ext cx="3593841" cy="400110"/>
              </a:xfrm>
              <a:prstGeom prst="rect">
                <a:avLst/>
              </a:prstGeom>
              <a:blipFill>
                <a:blip r:embed="rId13"/>
                <a:stretch>
                  <a:fillRect l="-1761" t="-9375" b="-2812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D5B1392-1152-9E50-7F05-FF8F67441E36}"/>
                  </a:ext>
                </a:extLst>
              </p:cNvPr>
              <p:cNvSpPr txBox="1"/>
              <p:nvPr/>
            </p:nvSpPr>
            <p:spPr>
              <a:xfrm>
                <a:off x="7633275" y="5659768"/>
                <a:ext cx="3705710" cy="400110"/>
              </a:xfrm>
              <a:prstGeom prst="rect">
                <a:avLst/>
              </a:prstGeom>
              <a:noFill/>
            </p:spPr>
            <p:txBody>
              <a:bodyPr wrap="square">
                <a:spAutoFit/>
              </a:bodyPr>
              <a:lstStyle/>
              <a:p>
                <a:r>
                  <a:rPr lang="en-CA" sz="2000" dirty="0"/>
                  <a:t>100 layers: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𝐹</m:t>
                    </m:r>
                    <m:r>
                      <a:rPr lang="en-US" sz="2000" b="0" i="1" dirty="0" smtClean="0">
                        <a:latin typeface="Cambria Math" panose="02040503050406030204" pitchFamily="18" charset="0"/>
                        <a:ea typeface="Cambria Math" panose="02040503050406030204" pitchFamily="18" charset="0"/>
                      </a:rPr>
                      <m:t> ≥99.8%</m:t>
                    </m:r>
                  </m:oMath>
                </a14:m>
                <a:endParaRPr lang="en-CA" sz="2000" dirty="0"/>
              </a:p>
            </p:txBody>
          </p:sp>
        </mc:Choice>
        <mc:Fallback xmlns="">
          <p:sp>
            <p:nvSpPr>
              <p:cNvPr id="64" name="TextBox 63">
                <a:extLst>
                  <a:ext uri="{FF2B5EF4-FFF2-40B4-BE49-F238E27FC236}">
                    <a16:creationId xmlns:a16="http://schemas.microsoft.com/office/drawing/2014/main" id="{DD5B1392-1152-9E50-7F05-FF8F67441E36}"/>
                  </a:ext>
                </a:extLst>
              </p:cNvPr>
              <p:cNvSpPr txBox="1">
                <a:spLocks noRot="1" noChangeAspect="1" noMove="1" noResize="1" noEditPoints="1" noAdjustHandles="1" noChangeArrowheads="1" noChangeShapeType="1" noTextEdit="1"/>
              </p:cNvSpPr>
              <p:nvPr/>
            </p:nvSpPr>
            <p:spPr>
              <a:xfrm>
                <a:off x="7633275" y="5659768"/>
                <a:ext cx="3705710" cy="400110"/>
              </a:xfrm>
              <a:prstGeom prst="rect">
                <a:avLst/>
              </a:prstGeom>
              <a:blipFill>
                <a:blip r:embed="rId14"/>
                <a:stretch>
                  <a:fillRect l="-1365"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A1400ED-A065-E20E-A40C-408064B0C550}"/>
                  </a:ext>
                </a:extLst>
              </p:cNvPr>
              <p:cNvSpPr txBox="1"/>
              <p:nvPr/>
            </p:nvSpPr>
            <p:spPr>
              <a:xfrm>
                <a:off x="8864883" y="4221154"/>
                <a:ext cx="894540"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𝐿</m:t>
                          </m:r>
                        </m:e>
                        <m:sub>
                          <m:r>
                            <a:rPr lang="en-US" sz="2000" b="0" i="1" dirty="0" smtClean="0">
                              <a:latin typeface="Cambria Math" panose="02040503050406030204" pitchFamily="18" charset="0"/>
                              <a:ea typeface="Cambria Math" panose="02040503050406030204" pitchFamily="18" charset="0"/>
                            </a:rPr>
                            <m:t>𝑖𝑗</m:t>
                          </m:r>
                        </m:sub>
                      </m:sSub>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𝑇</m:t>
                      </m:r>
                    </m:oMath>
                  </m:oMathPara>
                </a14:m>
                <a:endParaRPr lang="en-CA" sz="2000" dirty="0"/>
              </a:p>
            </p:txBody>
          </p:sp>
        </mc:Choice>
        <mc:Fallback xmlns="">
          <p:sp>
            <p:nvSpPr>
              <p:cNvPr id="66" name="TextBox 65">
                <a:extLst>
                  <a:ext uri="{FF2B5EF4-FFF2-40B4-BE49-F238E27FC236}">
                    <a16:creationId xmlns:a16="http://schemas.microsoft.com/office/drawing/2014/main" id="{3A1400ED-A065-E20E-A40C-408064B0C550}"/>
                  </a:ext>
                </a:extLst>
              </p:cNvPr>
              <p:cNvSpPr txBox="1">
                <a:spLocks noRot="1" noChangeAspect="1" noMove="1" noResize="1" noEditPoints="1" noAdjustHandles="1" noChangeArrowheads="1" noChangeShapeType="1" noTextEdit="1"/>
              </p:cNvSpPr>
              <p:nvPr/>
            </p:nvSpPr>
            <p:spPr>
              <a:xfrm>
                <a:off x="8864883" y="4221154"/>
                <a:ext cx="894540" cy="332463"/>
              </a:xfrm>
              <a:prstGeom prst="rect">
                <a:avLst/>
              </a:prstGeom>
              <a:blipFill>
                <a:blip r:embed="rId15"/>
                <a:stretch>
                  <a:fillRect l="-4167" r="-5556" b="-25926"/>
                </a:stretch>
              </a:blipFill>
            </p:spPr>
            <p:txBody>
              <a:bodyPr/>
              <a:lstStyle/>
              <a:p>
                <a:r>
                  <a:rPr lang="en-CA">
                    <a:noFill/>
                  </a:rPr>
                  <a:t> </a:t>
                </a:r>
              </a:p>
            </p:txBody>
          </p:sp>
        </mc:Fallback>
      </mc:AlternateContent>
      <p:sp>
        <p:nvSpPr>
          <p:cNvPr id="67" name="Right Arrow 66">
            <a:extLst>
              <a:ext uri="{FF2B5EF4-FFF2-40B4-BE49-F238E27FC236}">
                <a16:creationId xmlns:a16="http://schemas.microsoft.com/office/drawing/2014/main" id="{ED416EB3-0213-FC55-B562-43B0A72B73ED}"/>
              </a:ext>
            </a:extLst>
          </p:cNvPr>
          <p:cNvSpPr/>
          <p:nvPr/>
        </p:nvSpPr>
        <p:spPr>
          <a:xfrm>
            <a:off x="8017158" y="4267243"/>
            <a:ext cx="669965" cy="2261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371333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9" grpId="0" animBg="1"/>
      <p:bldP spid="9" grpId="0"/>
      <p:bldP spid="11" grpId="0"/>
      <p:bldP spid="13" grpId="0"/>
      <p:bldP spid="17" grpId="0" animBg="1"/>
      <p:bldP spid="18" grpId="0"/>
      <p:bldP spid="19" grpId="0"/>
      <p:bldP spid="21" grpId="0"/>
      <p:bldP spid="22" grpId="0"/>
      <p:bldP spid="23" grpId="0"/>
      <p:bldP spid="24" grpId="0" animBg="1"/>
      <p:bldP spid="26" grpId="0"/>
      <p:bldP spid="36" grpId="0"/>
      <p:bldP spid="37" grpId="0"/>
      <p:bldP spid="41" grpId="0"/>
      <p:bldP spid="50" grpId="0"/>
      <p:bldP spid="51" grpId="0"/>
      <p:bldP spid="52" grpId="0"/>
      <p:bldP spid="55" grpId="0"/>
      <p:bldP spid="56" grpId="0"/>
      <p:bldP spid="57" grpId="0"/>
      <p:bldP spid="62" grpId="0"/>
      <p:bldP spid="64" grpId="0"/>
      <p:bldP spid="66" grpId="0"/>
      <p:bldP spid="6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FB4233-F492-9C0A-ED93-E29C41EAFE0A}"/>
              </a:ext>
            </a:extLst>
          </p:cNvPr>
          <p:cNvPicPr>
            <a:picLocks noChangeAspect="1"/>
          </p:cNvPicPr>
          <p:nvPr/>
        </p:nvPicPr>
        <p:blipFill>
          <a:blip r:embed="rId4"/>
          <a:stretch>
            <a:fillRect/>
          </a:stretch>
        </p:blipFill>
        <p:spPr>
          <a:xfrm>
            <a:off x="1400063" y="880522"/>
            <a:ext cx="6757925" cy="5227187"/>
          </a:xfrm>
          <a:prstGeom prst="rect">
            <a:avLst/>
          </a:prstGeom>
        </p:spPr>
      </p:pic>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Information Group Seminar, Leibniz University, Hannover I Phil LeMaitre I 19.05.2026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Relativistic Variational Quantum Circuit (RVQC)</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36</a:t>
            </a:fld>
            <a:endParaRPr lang="de-AT"/>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BD9AFF3-DA89-0538-EF21-2937997AB388}"/>
                  </a:ext>
                </a:extLst>
              </p:cNvPr>
              <p:cNvSpPr txBox="1"/>
              <p:nvPr/>
            </p:nvSpPr>
            <p:spPr>
              <a:xfrm>
                <a:off x="8385700" y="1758281"/>
                <a:ext cx="3532096" cy="3157980"/>
              </a:xfrm>
              <a:prstGeom prst="rect">
                <a:avLst/>
              </a:prstGeom>
              <a:noFill/>
            </p:spPr>
            <p:txBody>
              <a:bodyPr wrap="square" rtlCol="0">
                <a:spAutoFit/>
              </a:bodyPr>
              <a:lstStyle/>
              <a:p>
                <a:pPr marL="342900" indent="-342900">
                  <a:buFont typeface="+mj-lt"/>
                  <a:buAutoNum type="arabicPeriod"/>
                </a:pPr>
                <a:r>
                  <a:rPr lang="en-CA" sz="2000" dirty="0"/>
                  <a:t>Apply single qubit rotations </a:t>
                </a:r>
                <a14:m>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𝑖</m:t>
                            </m:r>
                          </m:sub>
                        </m:sSub>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e>
                    </m:d>
                  </m:oMath>
                </a14:m>
                <a:r>
                  <a:rPr lang="en-CA" sz="2000" dirty="0"/>
                  <a:t> to each detector</a:t>
                </a:r>
                <a:br>
                  <a:rPr lang="en-CA" dirty="0"/>
                </a:br>
                <a:endParaRPr lang="en-CA" dirty="0"/>
              </a:p>
              <a:p>
                <a:pPr marL="342900" indent="-342900">
                  <a:buFont typeface="+mj-lt"/>
                  <a:buAutoNum type="arabicPeriod"/>
                </a:pPr>
                <a:r>
                  <a:rPr lang="en-CA" sz="2000" dirty="0"/>
                  <a:t>Couple all detectors to field and entangle them through channel </a:t>
                </a:r>
                <a14:m>
                  <m:oMath xmlns:m="http://schemas.openxmlformats.org/officeDocument/2006/math">
                    <m:r>
                      <a:rPr lang="en-CA" sz="2000" i="1" smtClean="0">
                        <a:latin typeface="Cambria Math" panose="02040503050406030204" pitchFamily="18" charset="0"/>
                        <a:ea typeface="Cambria Math" panose="02040503050406030204" pitchFamily="18" charset="0"/>
                      </a:rPr>
                      <m:t>ℇ</m:t>
                    </m:r>
                  </m:oMath>
                </a14:m>
                <a:br>
                  <a:rPr lang="en-CA" dirty="0"/>
                </a:br>
                <a:endParaRPr lang="en-CA" dirty="0"/>
              </a:p>
              <a:p>
                <a:pPr marL="342900" indent="-342900">
                  <a:buFont typeface="+mj-lt"/>
                  <a:buAutoNum type="arabicPeriod"/>
                </a:pPr>
                <a:r>
                  <a:rPr lang="en-CA" sz="2000" dirty="0"/>
                  <a:t>Repeat steps 1 and 2 </a:t>
                </a:r>
                <a14:m>
                  <m:oMath xmlns:m="http://schemas.openxmlformats.org/officeDocument/2006/math">
                    <m:r>
                      <a:rPr lang="en-US" sz="2000" b="0" i="1" smtClean="0">
                        <a:latin typeface="Cambria Math" panose="02040503050406030204" pitchFamily="18" charset="0"/>
                      </a:rPr>
                      <m:t>𝐷</m:t>
                    </m:r>
                  </m:oMath>
                </a14:m>
                <a:r>
                  <a:rPr lang="en-CA" sz="2000" dirty="0"/>
                  <a:t> times, then measure output with respect to </a:t>
                </a:r>
                <a14:m>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𝑂</m:t>
                        </m:r>
                      </m:e>
                    </m:acc>
                  </m:oMath>
                </a14:m>
                <a:r>
                  <a:rPr lang="en-CA" sz="2000" dirty="0"/>
                  <a:t>:</a:t>
                </a:r>
              </a:p>
            </p:txBody>
          </p:sp>
        </mc:Choice>
        <mc:Fallback xmlns="">
          <p:sp>
            <p:nvSpPr>
              <p:cNvPr id="15" name="TextBox 14">
                <a:extLst>
                  <a:ext uri="{FF2B5EF4-FFF2-40B4-BE49-F238E27FC236}">
                    <a16:creationId xmlns:a16="http://schemas.microsoft.com/office/drawing/2014/main" id="{FBD9AFF3-DA89-0538-EF21-2937997AB388}"/>
                  </a:ext>
                </a:extLst>
              </p:cNvPr>
              <p:cNvSpPr txBox="1">
                <a:spLocks noRot="1" noChangeAspect="1" noMove="1" noResize="1" noEditPoints="1" noAdjustHandles="1" noChangeArrowheads="1" noChangeShapeType="1" noTextEdit="1"/>
              </p:cNvSpPr>
              <p:nvPr/>
            </p:nvSpPr>
            <p:spPr>
              <a:xfrm>
                <a:off x="8385700" y="1758281"/>
                <a:ext cx="3532096" cy="3157980"/>
              </a:xfrm>
              <a:prstGeom prst="rect">
                <a:avLst/>
              </a:prstGeom>
              <a:blipFill>
                <a:blip r:embed="rId5"/>
                <a:stretch>
                  <a:fillRect l="-1792" t="-1205" b="-281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C060752-5FCB-4394-60AF-6C10014E417E}"/>
                  </a:ext>
                </a:extLst>
              </p:cNvPr>
              <p:cNvSpPr txBox="1"/>
              <p:nvPr/>
            </p:nvSpPr>
            <p:spPr>
              <a:xfrm>
                <a:off x="8518095" y="5015553"/>
                <a:ext cx="3208186" cy="3474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1" i="1" smtClean="0">
                              <a:latin typeface="Cambria Math" panose="02040503050406030204" pitchFamily="18" charset="0"/>
                            </a:rPr>
                            <m:t>𝜽</m:t>
                          </m:r>
                        </m:sub>
                      </m:sSub>
                      <m:d>
                        <m:dPr>
                          <m:ctrlPr>
                            <a:rPr lang="en-US" sz="2000" b="1" i="1" smtClean="0">
                              <a:latin typeface="Cambria Math" panose="02040503050406030204" pitchFamily="18" charset="0"/>
                            </a:rPr>
                          </m:ctrlPr>
                        </m:dPr>
                        <m:e>
                          <m:acc>
                            <m:accPr>
                              <m:chr m:val="̂"/>
                              <m:ctrlPr>
                                <a:rPr lang="en-US" sz="2000" b="1" i="1" smtClean="0">
                                  <a:latin typeface="Cambria Math" panose="02040503050406030204" pitchFamily="18" charset="0"/>
                                </a:rPr>
                              </m:ctrlPr>
                            </m:accPr>
                            <m:e>
                              <m:r>
                                <a:rPr lang="en-US" sz="2000" b="0" i="1" smtClean="0">
                                  <a:latin typeface="Cambria Math" panose="02040503050406030204" pitchFamily="18" charset="0"/>
                                </a:rPr>
                                <m:t>𝑂</m:t>
                              </m:r>
                            </m:e>
                          </m:acc>
                        </m:e>
                      </m:d>
                      <m:r>
                        <a:rPr lang="en-US" sz="2000" b="1" i="1" smtClean="0">
                          <a:latin typeface="Cambria Math" panose="02040503050406030204" pitchFamily="18" charset="0"/>
                        </a:rPr>
                        <m:t>=</m:t>
                      </m:r>
                      <m:r>
                        <a:rPr lang="en-US" sz="2000" b="0" i="1" smtClean="0">
                          <a:latin typeface="Cambria Math" panose="02040503050406030204" pitchFamily="18" charset="0"/>
                        </a:rPr>
                        <m:t>𝑇𝑟</m:t>
                      </m:r>
                      <m:d>
                        <m:dPr>
                          <m:ctrlPr>
                            <a:rPr lang="en-US" sz="2000" b="0" i="1" smtClean="0">
                              <a:latin typeface="Cambria Math" panose="02040503050406030204" pitchFamily="18" charset="0"/>
                            </a:rPr>
                          </m:ctrlPr>
                        </m:d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𝑂</m:t>
                              </m:r>
                            </m:e>
                          </m:acc>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0" i="1" smtClean="0">
                                  <a:latin typeface="Cambria Math" panose="02040503050406030204" pitchFamily="18" charset="0"/>
                                </a:rPr>
                              </m:ctrlPr>
                            </m:dPr>
                            <m:e>
                              <m:r>
                                <a:rPr lang="en-US" sz="2000" b="1" i="1" smtClean="0">
                                  <a:latin typeface="Cambria Math" panose="02040503050406030204" pitchFamily="18" charset="0"/>
                                </a:rPr>
                                <m:t>𝜽</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𝜌</m:t>
                                  </m:r>
                                </m:e>
                              </m:acc>
                            </m:e>
                            <m:sub>
                              <m:r>
                                <a:rPr lang="en-US" sz="2000" b="0" i="1" smtClean="0">
                                  <a:latin typeface="Cambria Math" panose="02040503050406030204" pitchFamily="18" charset="0"/>
                                </a:rPr>
                                <m:t>0</m:t>
                              </m:r>
                            </m:sub>
                          </m:sSub>
                          <m:sSup>
                            <m:sSupPr>
                              <m:ctrlPr>
                                <a:rPr lang="en-US" sz="2000" b="1" i="1" smtClean="0">
                                  <a:latin typeface="Cambria Math" panose="02040503050406030204" pitchFamily="18" charset="0"/>
                                </a:rPr>
                              </m:ctrlPr>
                            </m:sSup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𝑈</m:t>
                                  </m:r>
                                </m:e>
                              </m:acc>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rPr>
                            <m:t>(</m:t>
                          </m:r>
                          <m:r>
                            <a:rPr lang="en-US" sz="2000" b="1" i="1" smtClean="0">
                              <a:latin typeface="Cambria Math" panose="02040503050406030204" pitchFamily="18" charset="0"/>
                            </a:rPr>
                            <m:t>𝜽</m:t>
                          </m:r>
                          <m:r>
                            <a:rPr lang="en-US" sz="2000" b="0" i="1" smtClean="0">
                              <a:latin typeface="Cambria Math" panose="02040503050406030204" pitchFamily="18" charset="0"/>
                            </a:rPr>
                            <m:t>)</m:t>
                          </m:r>
                        </m:e>
                      </m:d>
                    </m:oMath>
                  </m:oMathPara>
                </a14:m>
                <a:endParaRPr lang="en-CA" b="1" dirty="0"/>
              </a:p>
            </p:txBody>
          </p:sp>
        </mc:Choice>
        <mc:Fallback xmlns="">
          <p:sp>
            <p:nvSpPr>
              <p:cNvPr id="19" name="TextBox 18">
                <a:extLst>
                  <a:ext uri="{FF2B5EF4-FFF2-40B4-BE49-F238E27FC236}">
                    <a16:creationId xmlns:a16="http://schemas.microsoft.com/office/drawing/2014/main" id="{CC060752-5FCB-4394-60AF-6C10014E417E}"/>
                  </a:ext>
                </a:extLst>
              </p:cNvPr>
              <p:cNvSpPr txBox="1">
                <a:spLocks noRot="1" noChangeAspect="1" noMove="1" noResize="1" noEditPoints="1" noAdjustHandles="1" noChangeArrowheads="1" noChangeShapeType="1" noTextEdit="1"/>
              </p:cNvSpPr>
              <p:nvPr/>
            </p:nvSpPr>
            <p:spPr>
              <a:xfrm>
                <a:off x="8518095" y="5015553"/>
                <a:ext cx="3208186" cy="347403"/>
              </a:xfrm>
              <a:prstGeom prst="rect">
                <a:avLst/>
              </a:prstGeom>
              <a:blipFill>
                <a:blip r:embed="rId6"/>
                <a:stretch>
                  <a:fillRect l="-2362" t="-14286" b="-25000"/>
                </a:stretch>
              </a:blipFill>
            </p:spPr>
            <p:txBody>
              <a:bodyPr/>
              <a:lstStyle/>
              <a:p>
                <a:r>
                  <a:rPr lang="en-CA">
                    <a:noFill/>
                  </a:rPr>
                  <a:t> </a:t>
                </a:r>
              </a:p>
            </p:txBody>
          </p:sp>
        </mc:Fallback>
      </mc:AlternateContent>
      <p:sp>
        <p:nvSpPr>
          <p:cNvPr id="4" name="TextBox 3">
            <a:extLst>
              <a:ext uri="{FF2B5EF4-FFF2-40B4-BE49-F238E27FC236}">
                <a16:creationId xmlns:a16="http://schemas.microsoft.com/office/drawing/2014/main" id="{75402227-5288-3241-E276-48544D27192E}"/>
              </a:ext>
            </a:extLst>
          </p:cNvPr>
          <p:cNvSpPr txBox="1"/>
          <p:nvPr/>
        </p:nvSpPr>
        <p:spPr>
          <a:xfrm>
            <a:off x="5057645" y="4697999"/>
            <a:ext cx="1927117" cy="400110"/>
          </a:xfrm>
          <a:prstGeom prst="rect">
            <a:avLst/>
          </a:prstGeom>
          <a:noFill/>
        </p:spPr>
        <p:txBody>
          <a:bodyPr wrap="square" rtlCol="0">
            <a:spAutoFit/>
          </a:bodyPr>
          <a:lstStyle/>
          <a:p>
            <a:r>
              <a:rPr lang="en-CA" sz="2000" dirty="0">
                <a:solidFill>
                  <a:srgbClr val="FF0000"/>
                </a:solidFill>
              </a:rPr>
              <a:t>Field state</a:t>
            </a:r>
          </a:p>
        </p:txBody>
      </p:sp>
      <p:sp>
        <p:nvSpPr>
          <p:cNvPr id="8" name="TextBox 7">
            <a:extLst>
              <a:ext uri="{FF2B5EF4-FFF2-40B4-BE49-F238E27FC236}">
                <a16:creationId xmlns:a16="http://schemas.microsoft.com/office/drawing/2014/main" id="{521632FA-C040-A6FC-0ECB-0AEEBDF0E4EA}"/>
              </a:ext>
            </a:extLst>
          </p:cNvPr>
          <p:cNvSpPr txBox="1"/>
          <p:nvPr/>
        </p:nvSpPr>
        <p:spPr>
          <a:xfrm>
            <a:off x="192212" y="5572731"/>
            <a:ext cx="1809667" cy="400110"/>
          </a:xfrm>
          <a:prstGeom prst="rect">
            <a:avLst/>
          </a:prstGeom>
          <a:noFill/>
        </p:spPr>
        <p:txBody>
          <a:bodyPr wrap="square" rtlCol="0">
            <a:spAutoFit/>
          </a:bodyPr>
          <a:lstStyle/>
          <a:p>
            <a:r>
              <a:rPr lang="en-CA" sz="2000" dirty="0"/>
              <a:t>worldlines</a:t>
            </a:r>
          </a:p>
        </p:txBody>
      </p:sp>
      <p:sp>
        <p:nvSpPr>
          <p:cNvPr id="9" name="Left Brace 8">
            <a:extLst>
              <a:ext uri="{FF2B5EF4-FFF2-40B4-BE49-F238E27FC236}">
                <a16:creationId xmlns:a16="http://schemas.microsoft.com/office/drawing/2014/main" id="{A36DECD5-61A8-D98D-F10E-F424A964AD13}"/>
              </a:ext>
            </a:extLst>
          </p:cNvPr>
          <p:cNvSpPr/>
          <p:nvPr/>
        </p:nvSpPr>
        <p:spPr>
          <a:xfrm rot="17564063">
            <a:off x="2333978" y="4776416"/>
            <a:ext cx="166798" cy="1866118"/>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sz="2600">
              <a:latin typeface="+mj-lt"/>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76B325C-1BB2-0535-F163-579CE7FCFCA9}"/>
                  </a:ext>
                </a:extLst>
              </p:cNvPr>
              <p:cNvSpPr txBox="1"/>
              <p:nvPr/>
            </p:nvSpPr>
            <p:spPr>
              <a:xfrm>
                <a:off x="1360515" y="5559456"/>
                <a:ext cx="911316" cy="4361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r>
                        <a:rPr lang="en-CA" sz="2000" i="1" dirty="0">
                          <a:latin typeface="Cambria Math" panose="02040503050406030204" pitchFamily="18" charset="0"/>
                        </a:rPr>
                        <m:t>(</m:t>
                      </m:r>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r>
                        <a:rPr lang="en-CA" sz="2000" i="1" dirty="0">
                          <a:latin typeface="Cambria Math" panose="02040503050406030204" pitchFamily="18" charset="0"/>
                        </a:rPr>
                        <m:t>) </m:t>
                      </m:r>
                    </m:oMath>
                  </m:oMathPara>
                </a14:m>
                <a:endParaRPr lang="en-CA" sz="2000" dirty="0">
                  <a:latin typeface="+mj-lt"/>
                </a:endParaRPr>
              </a:p>
            </p:txBody>
          </p:sp>
        </mc:Choice>
        <mc:Fallback xmlns="">
          <p:sp>
            <p:nvSpPr>
              <p:cNvPr id="16" name="TextBox 15">
                <a:extLst>
                  <a:ext uri="{FF2B5EF4-FFF2-40B4-BE49-F238E27FC236}">
                    <a16:creationId xmlns:a16="http://schemas.microsoft.com/office/drawing/2014/main" id="{376B325C-1BB2-0535-F163-579CE7FCFCA9}"/>
                  </a:ext>
                </a:extLst>
              </p:cNvPr>
              <p:cNvSpPr txBox="1">
                <a:spLocks noRot="1" noChangeAspect="1" noMove="1" noResize="1" noEditPoints="1" noAdjustHandles="1" noChangeArrowheads="1" noChangeShapeType="1" noTextEdit="1"/>
              </p:cNvSpPr>
              <p:nvPr/>
            </p:nvSpPr>
            <p:spPr>
              <a:xfrm>
                <a:off x="1360515" y="5559456"/>
                <a:ext cx="911316" cy="436145"/>
              </a:xfrm>
              <a:prstGeom prst="rect">
                <a:avLst/>
              </a:prstGeom>
              <a:blipFill>
                <a:blip r:embed="rId8"/>
                <a:stretch>
                  <a:fillRect r="-4110" b="-1111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5AEA314-FAC8-9A45-F483-4847CCA11697}"/>
                  </a:ext>
                </a:extLst>
              </p:cNvPr>
              <p:cNvSpPr txBox="1"/>
              <p:nvPr/>
            </p:nvSpPr>
            <p:spPr>
              <a:xfrm>
                <a:off x="392590" y="3868360"/>
                <a:ext cx="16498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oMath>
                  </m:oMathPara>
                </a14:m>
                <a:endParaRPr lang="en-CA" sz="2000" dirty="0">
                  <a:latin typeface="+mj-lt"/>
                </a:endParaRPr>
              </a:p>
            </p:txBody>
          </p:sp>
        </mc:Choice>
        <mc:Fallback xmlns="">
          <p:sp>
            <p:nvSpPr>
              <p:cNvPr id="17" name="TextBox 16">
                <a:extLst>
                  <a:ext uri="{FF2B5EF4-FFF2-40B4-BE49-F238E27FC236}">
                    <a16:creationId xmlns:a16="http://schemas.microsoft.com/office/drawing/2014/main" id="{05AEA314-FAC8-9A45-F483-4847CCA11697}"/>
                  </a:ext>
                </a:extLst>
              </p:cNvPr>
              <p:cNvSpPr txBox="1">
                <a:spLocks noRot="1" noChangeAspect="1" noMove="1" noResize="1" noEditPoints="1" noAdjustHandles="1" noChangeArrowheads="1" noChangeShapeType="1" noTextEdit="1"/>
              </p:cNvSpPr>
              <p:nvPr/>
            </p:nvSpPr>
            <p:spPr>
              <a:xfrm>
                <a:off x="392590" y="3868360"/>
                <a:ext cx="164981" cy="307777"/>
              </a:xfrm>
              <a:prstGeom prst="rect">
                <a:avLst/>
              </a:prstGeom>
              <a:blipFill>
                <a:blip r:embed="rId9"/>
                <a:stretch>
                  <a:fillRect l="-28571" r="-28571" b="-4000"/>
                </a:stretch>
              </a:blipFill>
            </p:spPr>
            <p:txBody>
              <a:bodyPr/>
              <a:lstStyle/>
              <a:p>
                <a:r>
                  <a:rPr lang="en-CA">
                    <a:noFill/>
                  </a:rPr>
                  <a:t> </a:t>
                </a:r>
              </a:p>
            </p:txBody>
          </p:sp>
        </mc:Fallback>
      </mc:AlternateContent>
      <p:cxnSp>
        <p:nvCxnSpPr>
          <p:cNvPr id="18" name="Straight Arrow Connector 17">
            <a:extLst>
              <a:ext uri="{FF2B5EF4-FFF2-40B4-BE49-F238E27FC236}">
                <a16:creationId xmlns:a16="http://schemas.microsoft.com/office/drawing/2014/main" id="{C0545CDE-4626-FD56-7EC5-5F98747016CA}"/>
              </a:ext>
            </a:extLst>
          </p:cNvPr>
          <p:cNvCxnSpPr/>
          <p:nvPr/>
        </p:nvCxnSpPr>
        <p:spPr>
          <a:xfrm flipV="1">
            <a:off x="615384" y="3638201"/>
            <a:ext cx="0" cy="768096"/>
          </a:xfrm>
          <a:prstGeom prst="straightConnector1">
            <a:avLst/>
          </a:prstGeom>
          <a:ln w="25400">
            <a:tailEnd type="triangle" w="lg"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27C5B93-3578-D976-28FA-92F414A1F738}"/>
                  </a:ext>
                </a:extLst>
              </p:cNvPr>
              <p:cNvSpPr txBox="1"/>
              <p:nvPr/>
            </p:nvSpPr>
            <p:spPr>
              <a:xfrm>
                <a:off x="898147" y="4015696"/>
                <a:ext cx="20172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CA" sz="2000" dirty="0">
                  <a:latin typeface="+mj-lt"/>
                </a:endParaRPr>
              </a:p>
            </p:txBody>
          </p:sp>
        </mc:Choice>
        <mc:Fallback xmlns="">
          <p:sp>
            <p:nvSpPr>
              <p:cNvPr id="20" name="TextBox 19">
                <a:extLst>
                  <a:ext uri="{FF2B5EF4-FFF2-40B4-BE49-F238E27FC236}">
                    <a16:creationId xmlns:a16="http://schemas.microsoft.com/office/drawing/2014/main" id="{927C5B93-3578-D976-28FA-92F414A1F738}"/>
                  </a:ext>
                </a:extLst>
              </p:cNvPr>
              <p:cNvSpPr txBox="1">
                <a:spLocks noRot="1" noChangeAspect="1" noMove="1" noResize="1" noEditPoints="1" noAdjustHandles="1" noChangeArrowheads="1" noChangeShapeType="1" noTextEdit="1"/>
              </p:cNvSpPr>
              <p:nvPr/>
            </p:nvSpPr>
            <p:spPr>
              <a:xfrm>
                <a:off x="898147" y="4015696"/>
                <a:ext cx="201722" cy="307777"/>
              </a:xfrm>
              <a:prstGeom prst="rect">
                <a:avLst/>
              </a:prstGeom>
              <a:blipFill>
                <a:blip r:embed="rId10"/>
                <a:stretch>
                  <a:fillRect l="-17647" r="-11765"/>
                </a:stretch>
              </a:blipFill>
            </p:spPr>
            <p:txBody>
              <a:bodyPr/>
              <a:lstStyle/>
              <a:p>
                <a:r>
                  <a:rPr lang="en-CA">
                    <a:noFill/>
                  </a:rPr>
                  <a:t> </a:t>
                </a:r>
              </a:p>
            </p:txBody>
          </p:sp>
        </mc:Fallback>
      </mc:AlternateContent>
      <p:cxnSp>
        <p:nvCxnSpPr>
          <p:cNvPr id="23" name="Straight Arrow Connector 22">
            <a:extLst>
              <a:ext uri="{FF2B5EF4-FFF2-40B4-BE49-F238E27FC236}">
                <a16:creationId xmlns:a16="http://schemas.microsoft.com/office/drawing/2014/main" id="{B49DF307-06B4-C3C3-C243-F9324B45B804}"/>
              </a:ext>
            </a:extLst>
          </p:cNvPr>
          <p:cNvCxnSpPr>
            <a:cxnSpLocks/>
          </p:cNvCxnSpPr>
          <p:nvPr/>
        </p:nvCxnSpPr>
        <p:spPr>
          <a:xfrm flipV="1">
            <a:off x="623943" y="3789839"/>
            <a:ext cx="548408" cy="605656"/>
          </a:xfrm>
          <a:prstGeom prst="straightConnector1">
            <a:avLst/>
          </a:prstGeom>
          <a:ln w="25400">
            <a:tailEnd type="triangle" w="lg" len="med"/>
          </a:ln>
        </p:spPr>
        <p:style>
          <a:lnRef idx="1">
            <a:schemeClr val="dk1"/>
          </a:lnRef>
          <a:fillRef idx="0">
            <a:schemeClr val="dk1"/>
          </a:fillRef>
          <a:effectRef idx="0">
            <a:schemeClr val="dk1"/>
          </a:effectRef>
          <a:fontRef idx="minor">
            <a:schemeClr val="tx1"/>
          </a:fontRef>
        </p:style>
      </p:cxnSp>
      <p:sp>
        <p:nvSpPr>
          <p:cNvPr id="25" name="Connector 24">
            <a:extLst>
              <a:ext uri="{FF2B5EF4-FFF2-40B4-BE49-F238E27FC236}">
                <a16:creationId xmlns:a16="http://schemas.microsoft.com/office/drawing/2014/main" id="{EFECD022-E541-1F5A-8283-06837DFF3C9A}"/>
              </a:ext>
            </a:extLst>
          </p:cNvPr>
          <p:cNvSpPr/>
          <p:nvPr/>
        </p:nvSpPr>
        <p:spPr>
          <a:xfrm>
            <a:off x="1400063" y="1719854"/>
            <a:ext cx="2981904" cy="1930820"/>
          </a:xfrm>
          <a:prstGeom prst="flowChartConnector">
            <a:avLst/>
          </a:prstGeom>
          <a:noFill/>
          <a:ln w="31750">
            <a:prstDash val="dash"/>
          </a:ln>
          <a:scene3d>
            <a:camera prst="orthographicFront">
              <a:rot lat="19210946" lon="21349022" rev="39093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600" dirty="0">
              <a:latin typeface="+mj-lt"/>
            </a:endParaRPr>
          </a:p>
        </p:txBody>
      </p:sp>
      <p:sp>
        <p:nvSpPr>
          <p:cNvPr id="27" name="Connector 26">
            <a:extLst>
              <a:ext uri="{FF2B5EF4-FFF2-40B4-BE49-F238E27FC236}">
                <a16:creationId xmlns:a16="http://schemas.microsoft.com/office/drawing/2014/main" id="{023590DD-D789-3A57-72E9-35A6F76B3D9F}"/>
              </a:ext>
            </a:extLst>
          </p:cNvPr>
          <p:cNvSpPr/>
          <p:nvPr/>
        </p:nvSpPr>
        <p:spPr>
          <a:xfrm>
            <a:off x="5596755" y="4196567"/>
            <a:ext cx="424449" cy="333958"/>
          </a:xfrm>
          <a:prstGeom prst="flowChartConnector">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600">
              <a:latin typeface="+mj-lt"/>
            </a:endParaRPr>
          </a:p>
        </p:txBody>
      </p:sp>
      <p:sp>
        <p:nvSpPr>
          <p:cNvPr id="28" name="TextBox 27">
            <a:extLst>
              <a:ext uri="{FF2B5EF4-FFF2-40B4-BE49-F238E27FC236}">
                <a16:creationId xmlns:a16="http://schemas.microsoft.com/office/drawing/2014/main" id="{B11FCF47-7EE3-178D-7A4F-B34966A64598}"/>
              </a:ext>
            </a:extLst>
          </p:cNvPr>
          <p:cNvSpPr txBox="1"/>
          <p:nvPr/>
        </p:nvSpPr>
        <p:spPr>
          <a:xfrm>
            <a:off x="232620" y="1461160"/>
            <a:ext cx="2039211" cy="1015663"/>
          </a:xfrm>
          <a:prstGeom prst="rect">
            <a:avLst/>
          </a:prstGeom>
          <a:noFill/>
        </p:spPr>
        <p:txBody>
          <a:bodyPr wrap="square" rtlCol="0">
            <a:spAutoFit/>
          </a:bodyPr>
          <a:lstStyle/>
          <a:p>
            <a:r>
              <a:rPr lang="en-CA" sz="2000" dirty="0"/>
              <a:t>System-field interaction regions</a:t>
            </a:r>
          </a:p>
        </p:txBody>
      </p:sp>
    </p:spTree>
    <p:custDataLst>
      <p:tags r:id="rId1"/>
    </p:custDataLst>
    <p:extLst>
      <p:ext uri="{BB962C8B-B14F-4D97-AF65-F5344CB8AC3E}">
        <p14:creationId xmlns:p14="http://schemas.microsoft.com/office/powerpoint/2010/main" val="75670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3.7"/>
</p:tagLst>
</file>

<file path=ppt/tags/tag2.xml><?xml version="1.0" encoding="utf-8"?>
<p:tagLst xmlns:a="http://schemas.openxmlformats.org/drawingml/2006/main" xmlns:r="http://schemas.openxmlformats.org/officeDocument/2006/relationships" xmlns:p="http://schemas.openxmlformats.org/presentationml/2006/main">
  <p:tag name="TIMING" val="|33.7"/>
</p:tagLst>
</file>

<file path=ppt/tags/tag3.xml><?xml version="1.0" encoding="utf-8"?>
<p:tagLst xmlns:a="http://schemas.openxmlformats.org/drawingml/2006/main" xmlns:r="http://schemas.openxmlformats.org/officeDocument/2006/relationships" xmlns:p="http://schemas.openxmlformats.org/presentationml/2006/main">
  <p:tag name="TIMING" val="|33.7"/>
</p:tagLst>
</file>

<file path=ppt/tags/tag4.xml><?xml version="1.0" encoding="utf-8"?>
<p:tagLst xmlns:a="http://schemas.openxmlformats.org/drawingml/2006/main" xmlns:r="http://schemas.openxmlformats.org/officeDocument/2006/relationships" xmlns:p="http://schemas.openxmlformats.org/presentationml/2006/main">
  <p:tag name="TIMING" val="|33.7"/>
</p:tagLst>
</file>

<file path=ppt/tags/tag5.xml><?xml version="1.0" encoding="utf-8"?>
<p:tagLst xmlns:a="http://schemas.openxmlformats.org/drawingml/2006/main" xmlns:r="http://schemas.openxmlformats.org/officeDocument/2006/relationships" xmlns:p="http://schemas.openxmlformats.org/presentationml/2006/main">
  <p:tag name="TIMING" val="|33.7"/>
</p:tagLst>
</file>

<file path=ppt/tags/tag6.xml><?xml version="1.0" encoding="utf-8"?>
<p:tagLst xmlns:a="http://schemas.openxmlformats.org/drawingml/2006/main" xmlns:r="http://schemas.openxmlformats.org/officeDocument/2006/relationships" xmlns:p="http://schemas.openxmlformats.org/presentationml/2006/main">
  <p:tag name="TIMING" val="|33.7"/>
</p:tagLst>
</file>

<file path=ppt/tags/tag7.xml><?xml version="1.0" encoding="utf-8"?>
<p:tagLst xmlns:a="http://schemas.openxmlformats.org/drawingml/2006/main" xmlns:r="http://schemas.openxmlformats.org/officeDocument/2006/relationships" xmlns:p="http://schemas.openxmlformats.org/presentationml/2006/main">
  <p:tag name="TIMING" val="|33.7"/>
</p:tagLst>
</file>

<file path=ppt/tags/tag8.xml><?xml version="1.0" encoding="utf-8"?>
<p:tagLst xmlns:a="http://schemas.openxmlformats.org/drawingml/2006/main" xmlns:r="http://schemas.openxmlformats.org/officeDocument/2006/relationships" xmlns:p="http://schemas.openxmlformats.org/presentationml/2006/main">
  <p:tag name="TIMING" val="|33.7"/>
</p:tagLst>
</file>

<file path=ppt/tags/tag9.xml><?xml version="1.0" encoding="utf-8"?>
<p:tagLst xmlns:a="http://schemas.openxmlformats.org/drawingml/2006/main" xmlns:r="http://schemas.openxmlformats.org/officeDocument/2006/relationships" xmlns:p="http://schemas.openxmlformats.org/presentationml/2006/main">
  <p:tag name="TIMING" val="|33.7"/>
</p:tagLst>
</file>

<file path=ppt/tags/tag10.xml><?xml version="1.0" encoding="utf-8"?>
<p:tagLst xmlns:a="http://schemas.openxmlformats.org/drawingml/2006/main" xmlns:r="http://schemas.openxmlformats.org/officeDocument/2006/relationships" xmlns:p="http://schemas.openxmlformats.org/presentationml/2006/main">
  <p:tag name="TIMING" val="|33.7"/>
</p:tagLst>
</file>

<file path=ppt/tags/tag11.xml><?xml version="1.0" encoding="utf-8"?>
<p:tagLst xmlns:a="http://schemas.openxmlformats.org/drawingml/2006/main" xmlns:r="http://schemas.openxmlformats.org/officeDocument/2006/relationships" xmlns:p="http://schemas.openxmlformats.org/presentationml/2006/main">
  <p:tag name="TIMING" val="|33.7"/>
</p:tagLst>
</file>

<file path=ppt/tags/tag12.xml><?xml version="1.0" encoding="utf-8"?>
<p:tagLst xmlns:a="http://schemas.openxmlformats.org/drawingml/2006/main" xmlns:r="http://schemas.openxmlformats.org/officeDocument/2006/relationships" xmlns:p="http://schemas.openxmlformats.org/presentationml/2006/main">
  <p:tag name="TIMING" val="|33.7"/>
</p:tagLst>
</file>

<file path=ppt/tags/tag13.xml><?xml version="1.0" encoding="utf-8"?>
<p:tagLst xmlns:a="http://schemas.openxmlformats.org/drawingml/2006/main" xmlns:r="http://schemas.openxmlformats.org/officeDocument/2006/relationships" xmlns:p="http://schemas.openxmlformats.org/presentationml/2006/main">
  <p:tag name="TIMING" val="|33.7"/>
</p:tagLst>
</file>

<file path=ppt/tags/tag14.xml><?xml version="1.0" encoding="utf-8"?>
<p:tagLst xmlns:a="http://schemas.openxmlformats.org/drawingml/2006/main" xmlns:r="http://schemas.openxmlformats.org/officeDocument/2006/relationships" xmlns:p="http://schemas.openxmlformats.org/presentationml/2006/main">
  <p:tag name="TIMING" val="|33.7"/>
</p:tagLst>
</file>

<file path=ppt/tags/tag15.xml><?xml version="1.0" encoding="utf-8"?>
<p:tagLst xmlns:a="http://schemas.openxmlformats.org/drawingml/2006/main" xmlns:r="http://schemas.openxmlformats.org/officeDocument/2006/relationships" xmlns:p="http://schemas.openxmlformats.org/presentationml/2006/main">
  <p:tag name="TIMING" val="|33.7"/>
</p:tagLst>
</file>

<file path=ppt/tags/tag16.xml><?xml version="1.0" encoding="utf-8"?>
<p:tagLst xmlns:a="http://schemas.openxmlformats.org/drawingml/2006/main" xmlns:r="http://schemas.openxmlformats.org/officeDocument/2006/relationships" xmlns:p="http://schemas.openxmlformats.org/presentationml/2006/main">
  <p:tag name="TIMING" val="|33.7"/>
</p:tagLst>
</file>

<file path=ppt/tags/tag17.xml><?xml version="1.0" encoding="utf-8"?>
<p:tagLst xmlns:a="http://schemas.openxmlformats.org/drawingml/2006/main" xmlns:r="http://schemas.openxmlformats.org/officeDocument/2006/relationships" xmlns:p="http://schemas.openxmlformats.org/presentationml/2006/main">
  <p:tag name="TIMING" val="|33.7"/>
</p:tagLst>
</file>

<file path=ppt/tags/tag18.xml><?xml version="1.0" encoding="utf-8"?>
<p:tagLst xmlns:a="http://schemas.openxmlformats.org/drawingml/2006/main" xmlns:r="http://schemas.openxmlformats.org/officeDocument/2006/relationships" xmlns:p="http://schemas.openxmlformats.org/presentationml/2006/main">
  <p:tag name="TIMING" val="|33.7"/>
</p:tagLst>
</file>

<file path=ppt/tags/tag19.xml><?xml version="1.0" encoding="utf-8"?>
<p:tagLst xmlns:a="http://schemas.openxmlformats.org/drawingml/2006/main" xmlns:r="http://schemas.openxmlformats.org/officeDocument/2006/relationships" xmlns:p="http://schemas.openxmlformats.org/presentationml/2006/main">
  <p:tag name="TIMING" val="|33.7"/>
</p:tagLst>
</file>

<file path=ppt/tags/tag20.xml><?xml version="1.0" encoding="utf-8"?>
<p:tagLst xmlns:a="http://schemas.openxmlformats.org/drawingml/2006/main" xmlns:r="http://schemas.openxmlformats.org/officeDocument/2006/relationships" xmlns:p="http://schemas.openxmlformats.org/presentationml/2006/main">
  <p:tag name="TIMING" val="|33.7"/>
</p:tagLst>
</file>

<file path=ppt/tags/tag21.xml><?xml version="1.0" encoding="utf-8"?>
<p:tagLst xmlns:a="http://schemas.openxmlformats.org/drawingml/2006/main" xmlns:r="http://schemas.openxmlformats.org/officeDocument/2006/relationships" xmlns:p="http://schemas.openxmlformats.org/presentationml/2006/main">
  <p:tag name="TIMING" val="|33.7"/>
</p:tagLst>
</file>

<file path=ppt/tags/tag22.xml><?xml version="1.0" encoding="utf-8"?>
<p:tagLst xmlns:a="http://schemas.openxmlformats.org/drawingml/2006/main" xmlns:r="http://schemas.openxmlformats.org/officeDocument/2006/relationships" xmlns:p="http://schemas.openxmlformats.org/presentationml/2006/main">
  <p:tag name="TIMING" val="|33.7"/>
</p:tagLst>
</file>

<file path=ppt/tags/tag23.xml><?xml version="1.0" encoding="utf-8"?>
<p:tagLst xmlns:a="http://schemas.openxmlformats.org/drawingml/2006/main" xmlns:r="http://schemas.openxmlformats.org/officeDocument/2006/relationships" xmlns:p="http://schemas.openxmlformats.org/presentationml/2006/main">
  <p:tag name="TIMING" val="|33.7"/>
</p:tagLst>
</file>

<file path=ppt/tags/tag24.xml><?xml version="1.0" encoding="utf-8"?>
<p:tagLst xmlns:a="http://schemas.openxmlformats.org/drawingml/2006/main" xmlns:r="http://schemas.openxmlformats.org/officeDocument/2006/relationships" xmlns:p="http://schemas.openxmlformats.org/presentationml/2006/main">
  <p:tag name="TIMING" val="|33.7"/>
</p:tagLst>
</file>

<file path=ppt/tags/tag25.xml><?xml version="1.0" encoding="utf-8"?>
<p:tagLst xmlns:a="http://schemas.openxmlformats.org/drawingml/2006/main" xmlns:r="http://schemas.openxmlformats.org/officeDocument/2006/relationships" xmlns:p="http://schemas.openxmlformats.org/presentationml/2006/main">
  <p:tag name="TIMING" val="|33.7"/>
</p:tagLst>
</file>

<file path=ppt/tags/tag26.xml><?xml version="1.0" encoding="utf-8"?>
<p:tagLst xmlns:a="http://schemas.openxmlformats.org/drawingml/2006/main" xmlns:r="http://schemas.openxmlformats.org/officeDocument/2006/relationships" xmlns:p="http://schemas.openxmlformats.org/presentationml/2006/main">
  <p:tag name="TIMING" val="|33.7"/>
</p:tagLst>
</file>

<file path=ppt/tags/tag27.xml><?xml version="1.0" encoding="utf-8"?>
<p:tagLst xmlns:a="http://schemas.openxmlformats.org/drawingml/2006/main" xmlns:r="http://schemas.openxmlformats.org/officeDocument/2006/relationships" xmlns:p="http://schemas.openxmlformats.org/presentationml/2006/main">
  <p:tag name="TIMING" val="|33.7"/>
</p:tagLst>
</file>

<file path=ppt/tags/tag28.xml><?xml version="1.0" encoding="utf-8"?>
<p:tagLst xmlns:a="http://schemas.openxmlformats.org/drawingml/2006/main" xmlns:r="http://schemas.openxmlformats.org/officeDocument/2006/relationships" xmlns:p="http://schemas.openxmlformats.org/presentationml/2006/main">
  <p:tag name="TIMING" val="|3|6.4|14|13.7|20.4"/>
</p:tagLst>
</file>

<file path=ppt/tags/tag29.xml><?xml version="1.0" encoding="utf-8"?>
<p:tagLst xmlns:a="http://schemas.openxmlformats.org/drawingml/2006/main" xmlns:r="http://schemas.openxmlformats.org/officeDocument/2006/relationships" xmlns:p="http://schemas.openxmlformats.org/presentationml/2006/main">
  <p:tag name="TIMING" val="|33.7"/>
</p:tagLst>
</file>

<file path=ppt/tags/tag30.xml><?xml version="1.0" encoding="utf-8"?>
<p:tagLst xmlns:a="http://schemas.openxmlformats.org/drawingml/2006/main" xmlns:r="http://schemas.openxmlformats.org/officeDocument/2006/relationships" xmlns:p="http://schemas.openxmlformats.org/presentationml/2006/main">
  <p:tag name="TIMING" val="|33.7"/>
</p:tagLst>
</file>

<file path=ppt/tags/tag31.xml><?xml version="1.0" encoding="utf-8"?>
<p:tagLst xmlns:a="http://schemas.openxmlformats.org/drawingml/2006/main" xmlns:r="http://schemas.openxmlformats.org/officeDocument/2006/relationships" xmlns:p="http://schemas.openxmlformats.org/presentationml/2006/main">
  <p:tag name="TIMING" val="|33.7"/>
</p:tagLst>
</file>

<file path=ppt/tags/tag32.xml><?xml version="1.0" encoding="utf-8"?>
<p:tagLst xmlns:a="http://schemas.openxmlformats.org/drawingml/2006/main" xmlns:r="http://schemas.openxmlformats.org/officeDocument/2006/relationships" xmlns:p="http://schemas.openxmlformats.org/presentationml/2006/main">
  <p:tag name="TIMING" val="|33.7"/>
</p:tagLst>
</file>

<file path=ppt/tags/tag33.xml><?xml version="1.0" encoding="utf-8"?>
<p:tagLst xmlns:a="http://schemas.openxmlformats.org/drawingml/2006/main" xmlns:r="http://schemas.openxmlformats.org/officeDocument/2006/relationships" xmlns:p="http://schemas.openxmlformats.org/presentationml/2006/main">
  <p:tag name="TIMING" val="|33.7"/>
</p:tagLst>
</file>

<file path=ppt/tags/tag34.xml><?xml version="1.0" encoding="utf-8"?>
<p:tagLst xmlns:a="http://schemas.openxmlformats.org/drawingml/2006/main" xmlns:r="http://schemas.openxmlformats.org/officeDocument/2006/relationships" xmlns:p="http://schemas.openxmlformats.org/presentationml/2006/main">
  <p:tag name="TIMING" val="|33.7"/>
</p:tagLst>
</file>

<file path=ppt/theme/theme1.xml><?xml version="1.0" encoding="utf-8"?>
<a:theme xmlns:a="http://schemas.openxmlformats.org/drawingml/2006/main" name="Office">
  <a:themeElements>
    <a:clrScheme name="UIBK">
      <a:dk1>
        <a:sysClr val="windowText" lastClr="000000"/>
      </a:dk1>
      <a:lt1>
        <a:sysClr val="window" lastClr="FFFFFF"/>
      </a:lt1>
      <a:dk2>
        <a:srgbClr val="44546A"/>
      </a:dk2>
      <a:lt2>
        <a:srgbClr val="E7E6E6"/>
      </a:lt2>
      <a:accent1>
        <a:srgbClr val="003361"/>
      </a:accent1>
      <a:accent2>
        <a:srgbClr val="F39200"/>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BK Vorlage.potx" id="{58FE73E0-1F97-4983-8CCE-E0D27B996328}" vid="{0FC2F37A-9B86-4E8E-9FF9-7FC6DC429F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104750</TotalTime>
  <Words>10412</Words>
  <Application>Microsoft Macintosh PowerPoint</Application>
  <PresentationFormat>Widescreen</PresentationFormat>
  <Paragraphs>537</Paragraphs>
  <Slides>36</Slides>
  <Notes>36</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vt:lpstr>
      <vt:lpstr>Arial</vt:lpstr>
      <vt:lpstr>Calibri</vt:lpstr>
      <vt:lpstr>Calibri Light</vt:lpstr>
      <vt:lpstr>Cambria Math</vt:lpstr>
      <vt:lpstr>Wingdings</vt:lpstr>
      <vt:lpstr>Office</vt:lpstr>
      <vt:lpstr>Harvesting Contextuality from the Vacuum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attention!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L</dc:creator>
  <cp:lastModifiedBy>Mark L</cp:lastModifiedBy>
  <cp:revision>399</cp:revision>
  <dcterms:created xsi:type="dcterms:W3CDTF">2024-02-16T21:19:37Z</dcterms:created>
  <dcterms:modified xsi:type="dcterms:W3CDTF">2026-05-19T14:39:19Z</dcterms:modified>
</cp:coreProperties>
</file>