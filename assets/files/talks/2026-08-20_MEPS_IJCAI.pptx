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4.xml" ContentType="application/vnd.openxmlformats-officedocument.presentationml.tags+xml"/>
  <Override PartName="/ppt/notesSlides/notesSlide6.xml" ContentType="application/vnd.openxmlformats-officedocument.presentationml.notesSlide+xml"/>
  <Override PartName="/ppt/tags/tag5.xml" ContentType="application/vnd.openxmlformats-officedocument.presentationml.tags+xml"/>
  <Override PartName="/ppt/notesSlides/notesSlide7.xml" ContentType="application/vnd.openxmlformats-officedocument.presentationml.notesSlide+xml"/>
  <Override PartName="/ppt/tags/tag6.xml" ContentType="application/vnd.openxmlformats-officedocument.presentationml.tags+xml"/>
  <Override PartName="/ppt/notesSlides/notesSlide8.xml" ContentType="application/vnd.openxmlformats-officedocument.presentationml.notesSlide+xml"/>
  <Override PartName="/ppt/tags/tag7.xml" ContentType="application/vnd.openxmlformats-officedocument.presentationml.tags+xml"/>
  <Override PartName="/ppt/notesSlides/notesSlide9.xml" ContentType="application/vnd.openxmlformats-officedocument.presentationml.notesSlide+xml"/>
  <Override PartName="/ppt/tags/tag8.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9.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10.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20"/>
  </p:notesMasterIdLst>
  <p:sldIdLst>
    <p:sldId id="260" r:id="rId2"/>
    <p:sldId id="286" r:id="rId3"/>
    <p:sldId id="279" r:id="rId4"/>
    <p:sldId id="288" r:id="rId5"/>
    <p:sldId id="284" r:id="rId6"/>
    <p:sldId id="271" r:id="rId7"/>
    <p:sldId id="272" r:id="rId8"/>
    <p:sldId id="273" r:id="rId9"/>
    <p:sldId id="276" r:id="rId10"/>
    <p:sldId id="275" r:id="rId11"/>
    <p:sldId id="277" r:id="rId12"/>
    <p:sldId id="289" r:id="rId13"/>
    <p:sldId id="278" r:id="rId14"/>
    <p:sldId id="274" r:id="rId15"/>
    <p:sldId id="282" r:id="rId16"/>
    <p:sldId id="285" r:id="rId17"/>
    <p:sldId id="267" r:id="rId18"/>
    <p:sldId id="270"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CFAC1"/>
    <a:srgbClr val="000AFF"/>
    <a:srgbClr val="FF524D"/>
    <a:srgbClr val="FF7972"/>
    <a:srgbClr val="FF908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229"/>
    <p:restoredTop sz="83193"/>
  </p:normalViewPr>
  <p:slideViewPr>
    <p:cSldViewPr snapToGrid="0">
      <p:cViewPr varScale="1">
        <p:scale>
          <a:sx n="102" d="100"/>
          <a:sy n="102" d="100"/>
        </p:scale>
        <p:origin x="408" y="184"/>
      </p:cViewPr>
      <p:guideLst/>
    </p:cSldViewPr>
  </p:slideViewPr>
  <p:notesTextViewPr>
    <p:cViewPr>
      <p:scale>
        <a:sx n="85" d="100"/>
        <a:sy n="8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6D1FF0-3E54-6E47-B0C8-5E62699D42EE}" type="datetimeFigureOut">
              <a:rPr lang="en-CA" smtClean="0"/>
              <a:t>2026-08-18</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0720B4-AB10-0342-9541-2DF5352E8B38}" type="slidenum">
              <a:rPr lang="en-CA" smtClean="0"/>
              <a:t>‹#›</a:t>
            </a:fld>
            <a:endParaRPr lang="en-CA"/>
          </a:p>
        </p:txBody>
      </p:sp>
    </p:spTree>
    <p:extLst>
      <p:ext uri="{BB962C8B-B14F-4D97-AF65-F5344CB8AC3E}">
        <p14:creationId xmlns:p14="http://schemas.microsoft.com/office/powerpoint/2010/main" val="36430106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Hi everyone, thanks for coming to my presentation. My name is Phil and I am a PhD student from the University of Innsbruck in the group of Hans Briegel. Today I will be talking about Multi-Excitation Projective Simulation.</a:t>
            </a:r>
          </a:p>
          <a:p>
            <a:endParaRPr lang="en-CA" dirty="0"/>
          </a:p>
          <a:p>
            <a:r>
              <a:rPr lang="en-CA" dirty="0"/>
              <a:t>Timing: 0:00-0:30. Open by saying that the talk first has to make Projective Simulation concrete. The paper's contribution is not just another reinforcement-learning benchmark; it changes the object that moves through the Projective Simulation memory. In the computer-maintenance setting, this lets a deliberation path expose symptoms, hypothesized component-cause pairs, and chosen fixes as part of one interpretable chain.</a:t>
            </a:r>
          </a:p>
          <a:p>
            <a:r>
              <a:rPr lang="en-CA" dirty="0"/>
              <a:t>[Sources]</a:t>
            </a:r>
          </a:p>
          <a:p>
            <a:r>
              <a:rPr lang="en-CA" dirty="0"/>
              <a:t>- Philip A. </a:t>
            </a:r>
            <a:r>
              <a:rPr lang="en-CA" dirty="0" err="1"/>
              <a:t>LeMaitre</a:t>
            </a:r>
            <a:r>
              <a:rPr lang="en-CA" dirty="0"/>
              <a:t>, Marius Krumm, Hans J. Briegel, "Multi-excitation projective simulation with a many-body physics-inspired inductive bias," Artificial Intelligence 352, article 104489, DOI: 10.1016/j.artint.2026.104489.</a:t>
            </a:r>
          </a:p>
          <a:p>
            <a:r>
              <a:rPr lang="en-CA" dirty="0"/>
              <a:t>- arXiv:2402.10192v4, last revised February 4, 2026.</a:t>
            </a:r>
          </a:p>
        </p:txBody>
      </p:sp>
      <p:sp>
        <p:nvSpPr>
          <p:cNvPr id="4" name="Slide Number Placeholder 3"/>
          <p:cNvSpPr>
            <a:spLocks noGrp="1"/>
          </p:cNvSpPr>
          <p:nvPr>
            <p:ph type="sldNum" sz="quarter" idx="5"/>
          </p:nvPr>
        </p:nvSpPr>
        <p:spPr/>
        <p:txBody>
          <a:bodyPr/>
          <a:lstStyle/>
          <a:p>
            <a:fld id="{E40720B4-AB10-0342-9541-2DF5352E8B38}" type="slidenum">
              <a:rPr lang="en-CA" smtClean="0"/>
              <a:t>1</a:t>
            </a:fld>
            <a:endParaRPr lang="en-CA"/>
          </a:p>
        </p:txBody>
      </p:sp>
    </p:spTree>
    <p:extLst>
      <p:ext uri="{BB962C8B-B14F-4D97-AF65-F5344CB8AC3E}">
        <p14:creationId xmlns:p14="http://schemas.microsoft.com/office/powerpoint/2010/main" val="17474244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Why should people care about this work? What is the take home message? Does it address an interesting problem? What has been done before in this area? What did those works struggle with that yours addresses?</a:t>
            </a:r>
          </a:p>
          <a:p>
            <a:endParaRPr lang="en-CA"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In this work we make an explainable AI model more robust and improve its performance using a quantum-inspired inductive bias, then we outline the quantum version</a:t>
            </a:r>
          </a:p>
          <a:p>
            <a:endParaRPr lang="en-CA" dirty="0"/>
          </a:p>
        </p:txBody>
      </p:sp>
      <p:sp>
        <p:nvSpPr>
          <p:cNvPr id="4" name="Slide Number Placeholder 3"/>
          <p:cNvSpPr>
            <a:spLocks noGrp="1"/>
          </p:cNvSpPr>
          <p:nvPr>
            <p:ph type="sldNum" sz="quarter" idx="5"/>
          </p:nvPr>
        </p:nvSpPr>
        <p:spPr/>
        <p:txBody>
          <a:bodyPr/>
          <a:lstStyle/>
          <a:p>
            <a:fld id="{E40720B4-AB10-0342-9541-2DF5352E8B38}" type="slidenum">
              <a:rPr lang="en-CA" smtClean="0"/>
              <a:t>2</a:t>
            </a:fld>
            <a:endParaRPr lang="en-CA"/>
          </a:p>
        </p:txBody>
      </p:sp>
    </p:spTree>
    <p:extLst>
      <p:ext uri="{BB962C8B-B14F-4D97-AF65-F5344CB8AC3E}">
        <p14:creationId xmlns:p14="http://schemas.microsoft.com/office/powerpoint/2010/main" val="28578265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CA" sz="1800" noProof="0" dirty="0">
                <a:effectLst/>
              </a:rPr>
              <a:t>Timing: 0:30-1:35. Introduce Projective Simulation without assuming the audience has seen it. The Episodic and Compositional Memory is a weighted directed graph. Its vertices are clips, which have semantic content. Its edges carry h-values, the trainable parameters. Given a current clip, the agent converts outgoing h-values into transition probabilities and samples the next clip. A deliberation is the resulting random walk from percept clips to action clips. Once the environment gives a reward, the h-values along the sampled path are updated, with glow and forgetting available for delayed reward and adaptation.</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CA" sz="1800" noProof="0" dirty="0">
                <a:effectLst/>
              </a:rPr>
              <a:t>[Sources]</a:t>
            </a:r>
          </a:p>
          <a:p>
            <a:pPr marL="285750" marR="0" lvl="0" indent="-285750" algn="l" defTabSz="914400" rtl="0" eaLnBrk="0" fontAlgn="base" latinLnBrk="0" hangingPunct="0">
              <a:lnSpc>
                <a:spcPct val="100000"/>
              </a:lnSpc>
              <a:spcBef>
                <a:spcPct val="30000"/>
              </a:spcBef>
              <a:spcAft>
                <a:spcPct val="0"/>
              </a:spcAft>
              <a:buClrTx/>
              <a:buSzTx/>
              <a:buFontTx/>
              <a:buChar char="-"/>
              <a:tabLst/>
              <a:defRPr/>
            </a:pPr>
            <a:r>
              <a:rPr lang="en-CA" sz="1800" noProof="0" dirty="0" err="1">
                <a:effectLst/>
              </a:rPr>
              <a:t>AIJ_new.tex</a:t>
            </a:r>
            <a:r>
              <a:rPr lang="en-CA" sz="1800" noProof="0" dirty="0">
                <a:effectLst/>
              </a:rPr>
              <a:t> lines 190-226 introduce PS, the ECM as a weighted directed graph, clips, h-values, transition probabilities, percept/action coupling, and the standard PS update rule.</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CA" sz="1800" noProof="0" dirty="0">
              <a:effectLst/>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CA" sz="1800" noProof="0" dirty="0">
                <a:effectLst/>
              </a:rPr>
              <a:t>Focus on meaning of clips: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CA" sz="1800" noProof="0" dirty="0">
                <a:effectLst/>
              </a:rPr>
              <a:t>- Percept: Customer walks in to café and orders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CA" sz="1800" noProof="0" dirty="0">
                <a:effectLst/>
              </a:rPr>
              <a:t>- Clip 1: Get food ready quickly to keep customer happy</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CA" sz="1800" noProof="0" dirty="0">
                <a:effectLst/>
              </a:rPr>
              <a:t>- Clip 2: Feed cats so they are happy</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CA" sz="1800" noProof="0" dirty="0">
                <a:effectLst/>
              </a:rPr>
              <a:t>- Clip 4: Make sure customers get to interact with cats so they are happy</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CA" sz="1800" noProof="0" dirty="0">
                <a:effectLst/>
              </a:rPr>
              <a:t>- Clip 6: Give food to cats and customers, then position cats at customer table</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CA" sz="1800" noProof="0" dirty="0">
              <a:effectLst/>
            </a:endParaRPr>
          </a:p>
          <a:p>
            <a:pPr algn="l"/>
            <a:r>
              <a:rPr lang="en-US" sz="1800" b="0" i="0" dirty="0">
                <a:solidFill>
                  <a:srgbClr val="ECECEC"/>
                </a:solidFill>
                <a:effectLst/>
                <a:latin typeface="Söhne"/>
              </a:rPr>
              <a:t>Imagine an AI agent whose task is to manage a cat café, a cozy place where people come to enjoy coffee and the company of resident cats. The reinforcement learning model is tasked with maximizing customer satisfaction and cat well-being. This setup provides a rich, humorous context for exploring complex decision-making and the importance of </a:t>
            </a:r>
            <a:r>
              <a:rPr lang="en-US" sz="1800" b="0" i="0" dirty="0" err="1">
                <a:solidFill>
                  <a:srgbClr val="ECECEC"/>
                </a:solidFill>
                <a:effectLst/>
                <a:latin typeface="Söhne"/>
              </a:rPr>
              <a:t>explainability</a:t>
            </a:r>
            <a:r>
              <a:rPr lang="en-US" sz="1800" b="0" i="0" dirty="0">
                <a:solidFill>
                  <a:srgbClr val="ECECEC"/>
                </a:solidFill>
                <a:effectLst/>
                <a:latin typeface="Söhne"/>
              </a:rPr>
              <a:t> in AI. Here's how it could unfold:</a:t>
            </a:r>
          </a:p>
          <a:p>
            <a:pPr algn="l">
              <a:buFont typeface="Arial" panose="020B0604020202020204" pitchFamily="34" charset="0"/>
              <a:buChar char="•"/>
            </a:pPr>
            <a:r>
              <a:rPr lang="en-US" sz="1800" b="1" i="0" dirty="0">
                <a:solidFill>
                  <a:srgbClr val="ECECEC"/>
                </a:solidFill>
                <a:effectLst/>
                <a:latin typeface="Söhne"/>
              </a:rPr>
              <a:t>Objective:</a:t>
            </a:r>
            <a:r>
              <a:rPr lang="en-US" sz="1800" b="0" i="0" dirty="0">
                <a:solidFill>
                  <a:srgbClr val="ECECEC"/>
                </a:solidFill>
                <a:effectLst/>
                <a:latin typeface="Söhne"/>
              </a:rPr>
              <a:t> Keep both the cats and the customers happy. The AI must learn to balance the needs of the cats (feeding, playtime, rest) with the desires of the customers (interaction with cats, a peaceful environment, and quality café service).</a:t>
            </a:r>
          </a:p>
          <a:p>
            <a:pPr algn="l">
              <a:buFont typeface="Arial" panose="020B0604020202020204" pitchFamily="34" charset="0"/>
              <a:buChar char="•"/>
            </a:pPr>
            <a:r>
              <a:rPr lang="en-US" sz="1800" b="1" i="0" dirty="0">
                <a:solidFill>
                  <a:srgbClr val="ECECEC"/>
                </a:solidFill>
                <a:effectLst/>
                <a:latin typeface="Söhne"/>
              </a:rPr>
              <a:t>Rewards:</a:t>
            </a:r>
            <a:r>
              <a:rPr lang="en-US" sz="1800" b="0" i="0" dirty="0">
                <a:solidFill>
                  <a:srgbClr val="ECECEC"/>
                </a:solidFill>
                <a:effectLst/>
                <a:latin typeface="Söhne"/>
              </a:rPr>
              <a:t> The AI receives positive feedback for satisfied customers (measured by their dwell time and reviews) and content cats (measured by their health and behavior). Negative feedback comes from unhappy customers or stressed cats.</a:t>
            </a:r>
          </a:p>
          <a:p>
            <a:pPr algn="l">
              <a:buFont typeface="Arial" panose="020B0604020202020204" pitchFamily="34" charset="0"/>
              <a:buChar char="•"/>
            </a:pPr>
            <a:r>
              <a:rPr lang="en-US" sz="1800" b="1" i="0" dirty="0">
                <a:solidFill>
                  <a:srgbClr val="ECECEC"/>
                </a:solidFill>
                <a:effectLst/>
                <a:latin typeface="Söhne"/>
              </a:rPr>
              <a:t>Challenges:</a:t>
            </a:r>
            <a:r>
              <a:rPr lang="en-US" sz="1800" b="0" i="0" dirty="0">
                <a:solidFill>
                  <a:srgbClr val="ECECEC"/>
                </a:solidFill>
                <a:effectLst/>
                <a:latin typeface="Söhne"/>
              </a:rPr>
              <a:t> The AI faces unpredictable scenarios, such as a cat deciding to nap in the middle of the café floor, a sudden rush of customers, or a coffee spill. Each scenario requires the AI to make decisions that could have complex implications.</a:t>
            </a:r>
          </a:p>
          <a:p>
            <a:pPr algn="l">
              <a:buFont typeface="Arial" panose="020B0604020202020204" pitchFamily="34" charset="0"/>
              <a:buChar char="•"/>
            </a:pPr>
            <a:r>
              <a:rPr lang="en-US" sz="1800" b="1" i="0" dirty="0" err="1">
                <a:solidFill>
                  <a:srgbClr val="ECECEC"/>
                </a:solidFill>
                <a:effectLst/>
                <a:latin typeface="Söhne"/>
              </a:rPr>
              <a:t>Explainability</a:t>
            </a:r>
            <a:r>
              <a:rPr lang="en-US" sz="1800" b="1" i="0" dirty="0">
                <a:solidFill>
                  <a:srgbClr val="ECECEC"/>
                </a:solidFill>
                <a:effectLst/>
                <a:latin typeface="Söhne"/>
              </a:rPr>
              <a:t> Aspect:</a:t>
            </a:r>
            <a:r>
              <a:rPr lang="en-US" sz="1800" b="0" i="0" dirty="0">
                <a:solidFill>
                  <a:srgbClr val="ECECEC"/>
                </a:solidFill>
                <a:effectLst/>
                <a:latin typeface="Söhne"/>
              </a:rPr>
              <a:t> The presentation can humorously explore how the AI makes its decisions and the importance of being able to explain those decisions to the café owner, the customers, and perhaps even the cats! For example, why did the AI choose to play a particular type of music, or why did it decide to create a play area for the cats at a specific spot in the café?</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CA" sz="1200" baseline="0" noProof="0" dirty="0">
              <a:solidFill>
                <a:schemeClr val="tx1"/>
              </a:solidFill>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CA" sz="1200" baseline="0" noProof="0" dirty="0">
              <a:solidFill>
                <a:schemeClr val="tx1"/>
              </a:solidFill>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CA" sz="1200" baseline="0" noProof="0" dirty="0">
                <a:solidFill>
                  <a:schemeClr val="tx1"/>
                </a:solidFill>
              </a:rPr>
              <a:t>The CENTRAL FEATURE of this framework is a type of EPISODIC MEMORY (remembering = a dynamic process) which the agent uses for deliberation and learning.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CA" sz="1200" baseline="0" noProof="0" dirty="0">
                <a:solidFill>
                  <a:schemeClr val="tx1"/>
                </a:solidFill>
              </a:rPr>
              <a:t>- The DELIBERATION process corresponds to a RANDOM WALK on a WEIGHTED GRAPH, or network, with a special semantics.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CA" sz="1200" baseline="0" noProof="0" dirty="0">
                <a:solidFill>
                  <a:schemeClr val="tx1"/>
                </a:solidFill>
              </a:rPr>
              <a:t>- LEARNING is realized by adapting both the WEIGHTS and the TOPOLOGY of the graph over time. </a:t>
            </a:r>
          </a:p>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n-US" b="0" i="0" u="none" strike="noStrike" kern="1200" cap="none" spc="0" normalizeH="0" baseline="0" noProof="0" dirty="0">
                <a:ln>
                  <a:noFill/>
                </a:ln>
                <a:solidFill>
                  <a:srgbClr val="000000"/>
                </a:solidFill>
                <a:effectLst/>
                <a:uLnTx/>
                <a:uFillTx/>
                <a:latin typeface="Calibri" panose="020F0502020204030204"/>
                <a:cs typeface="Arial" panose="020B0604020202020204" pitchFamily="34" charset="0"/>
              </a:rPr>
              <a:t>Forgetting parameter allows agent to </a:t>
            </a:r>
            <a:r>
              <a:rPr kumimoji="0" lang="en-US" b="0" i="1" u="none" strike="noStrike" kern="1200" cap="none" spc="0" normalizeH="0" baseline="0" noProof="0" dirty="0">
                <a:ln>
                  <a:noFill/>
                </a:ln>
                <a:solidFill>
                  <a:srgbClr val="0000FF"/>
                </a:solidFill>
                <a:effectLst/>
                <a:uLnTx/>
                <a:uFillTx/>
                <a:latin typeface="Calibri" panose="020F0502020204030204"/>
                <a:cs typeface="Arial" panose="020B0604020202020204" pitchFamily="34" charset="0"/>
              </a:rPr>
              <a:t>forget </a:t>
            </a:r>
            <a:r>
              <a:rPr kumimoji="0" lang="en-US" b="0" i="0" u="none" strike="noStrike" kern="1200" cap="none" spc="0" normalizeH="0" baseline="0" noProof="0" dirty="0">
                <a:ln>
                  <a:noFill/>
                </a:ln>
                <a:solidFill>
                  <a:srgbClr val="000000"/>
                </a:solidFill>
                <a:effectLst/>
                <a:uLnTx/>
                <a:uFillTx/>
                <a:latin typeface="Calibri" panose="020F0502020204030204"/>
                <a:cs typeface="Arial" panose="020B0604020202020204" pitchFamily="34" charset="0"/>
              </a:rPr>
              <a:t>past experiences; useful when environment changes. </a:t>
            </a:r>
            <a:endParaRPr lang="en-CA" sz="1200" baseline="0" noProof="0" dirty="0">
              <a:solidFill>
                <a:schemeClr val="tx1"/>
              </a:solidFill>
            </a:endParaRPr>
          </a:p>
          <a:p>
            <a:endParaRPr lang="en-CA" sz="1200" baseline="0" noProof="0" dirty="0">
              <a:solidFill>
                <a:schemeClr val="tx1"/>
              </a:solidFill>
            </a:endParaRPr>
          </a:p>
          <a:p>
            <a:r>
              <a:rPr lang="en-CA" sz="1200" baseline="0" noProof="0" dirty="0">
                <a:solidFill>
                  <a:schemeClr val="tx1"/>
                </a:solidFill>
              </a:rPr>
              <a:t>The model combines three important features:</a:t>
            </a:r>
          </a:p>
          <a:p>
            <a:endParaRPr lang="en-CA" sz="1200" baseline="0" noProof="0" dirty="0">
              <a:solidFill>
                <a:schemeClr val="tx1"/>
              </a:solidFill>
            </a:endParaRPr>
          </a:p>
          <a:p>
            <a:pPr marL="171450" indent="-171450">
              <a:buFont typeface="Arial" panose="020B0604020202020204" pitchFamily="34" charset="0"/>
              <a:buChar char="•"/>
            </a:pPr>
            <a:r>
              <a:rPr lang="en-CA" sz="1200" baseline="0" noProof="0" dirty="0">
                <a:solidFill>
                  <a:schemeClr val="tx1"/>
                </a:solidFill>
              </a:rPr>
              <a:t>It is INTERPRETABLE, </a:t>
            </a:r>
          </a:p>
          <a:p>
            <a:pPr marL="171450" indent="-171450">
              <a:buFont typeface="Arial" panose="020B0604020202020204" pitchFamily="34" charset="0"/>
              <a:buChar char="•"/>
            </a:pPr>
            <a:r>
              <a:rPr lang="en-CA" sz="1200" baseline="0" noProof="0" dirty="0">
                <a:solidFill>
                  <a:schemeClr val="tx1"/>
                </a:solidFill>
              </a:rPr>
              <a:t>it can be QUANTIZED (at least in its BASIC VERSION),</a:t>
            </a:r>
          </a:p>
          <a:p>
            <a:pPr marL="171450" indent="-171450">
              <a:buFont typeface="Arial" panose="020B0604020202020204" pitchFamily="34" charset="0"/>
              <a:buChar char="•"/>
            </a:pPr>
            <a:r>
              <a:rPr lang="en-CA" sz="1200" baseline="0" noProof="0" dirty="0">
                <a:solidFill>
                  <a:schemeClr val="tx1"/>
                </a:solidFill>
                <a:latin typeface="Calibri Light" panose="020F0302020204030204" pitchFamily="34" charset="0"/>
                <a:cs typeface="Calibri Light" panose="020F0302020204030204" pitchFamily="34" charset="0"/>
                <a:sym typeface="Wingdings" pitchFamily="2" charset="2"/>
              </a:rPr>
              <a:t>and it</a:t>
            </a:r>
            <a:r>
              <a:rPr lang="en-CA" noProof="0" dirty="0">
                <a:solidFill>
                  <a:schemeClr val="tx1"/>
                </a:solidFill>
                <a:latin typeface="Calibri Light" panose="020F0302020204030204" pitchFamily="34" charset="0"/>
                <a:cs typeface="Calibri Light" panose="020F0302020204030204" pitchFamily="34" charset="0"/>
                <a:sym typeface="Wingdings" pitchFamily="2" charset="2"/>
              </a:rPr>
              <a:t> can be </a:t>
            </a:r>
            <a:r>
              <a:rPr lang="en-CA" noProof="0" dirty="0">
                <a:solidFill>
                  <a:srgbClr val="0070C0"/>
                </a:solidFill>
                <a:latin typeface="Calibri Light" panose="020F0302020204030204" pitchFamily="34" charset="0"/>
                <a:cs typeface="Calibri Light" panose="020F0302020204030204" pitchFamily="34" charset="0"/>
                <a:sym typeface="Wingdings" pitchFamily="2" charset="2"/>
              </a:rPr>
              <a:t>extended</a:t>
            </a:r>
            <a:r>
              <a:rPr lang="en-CA" noProof="0" dirty="0">
                <a:solidFill>
                  <a:srgbClr val="006600"/>
                </a:solidFill>
                <a:latin typeface="Calibri Light" panose="020F0302020204030204" pitchFamily="34" charset="0"/>
                <a:cs typeface="Calibri Light" panose="020F0302020204030204" pitchFamily="34" charset="0"/>
                <a:sym typeface="Wingdings" pitchFamily="2" charset="2"/>
              </a:rPr>
              <a:t> </a:t>
            </a:r>
            <a:r>
              <a:rPr lang="en-CA" noProof="0" dirty="0">
                <a:solidFill>
                  <a:schemeClr val="tx1"/>
                </a:solidFill>
                <a:latin typeface="Calibri Light" panose="020F0302020204030204" pitchFamily="34" charset="0"/>
                <a:cs typeface="Calibri Light" panose="020F0302020204030204" pitchFamily="34" charset="0"/>
                <a:sym typeface="Wingdings" pitchFamily="2" charset="2"/>
              </a:rPr>
              <a:t>with other machinery from CS &amp; QI</a:t>
            </a:r>
          </a:p>
          <a:p>
            <a:endParaRPr lang="en-CA" sz="1200" baseline="0" noProof="0" dirty="0">
              <a:solidFill>
                <a:schemeClr val="tx1"/>
              </a:solidFill>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CA" sz="1200" baseline="0" noProof="0" dirty="0">
                <a:solidFill>
                  <a:schemeClr val="tx1"/>
                </a:solidFill>
              </a:rPr>
              <a:t>*The basic units are so-called CLIPS, and you may think of clips as excitations of a many-body </a:t>
            </a:r>
            <a:r>
              <a:rPr lang="en-CA" sz="1200" baseline="0" noProof="0" dirty="0" err="1">
                <a:solidFill>
                  <a:schemeClr val="tx1"/>
                </a:solidFill>
              </a:rPr>
              <a:t>hamiltonian</a:t>
            </a:r>
            <a:r>
              <a:rPr lang="en-CA" sz="1200" baseline="0" noProof="0" dirty="0">
                <a:solidFill>
                  <a:schemeClr val="tx1"/>
                </a:solidFill>
              </a:rPr>
              <a:t>, and of deliberation as propagation of such excitations in episodic memory.</a:t>
            </a:r>
          </a:p>
          <a:p>
            <a:endParaRPr lang="en-CA" sz="1200" baseline="0" noProof="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noProof="0" dirty="0">
                <a:solidFill>
                  <a:srgbClr val="FF0000"/>
                </a:solidFill>
              </a:rPr>
              <a:t>As far as the dynamics of decision making and learning concerned, there is a probability rule and a learning rule. The hopping probabilities</a:t>
            </a:r>
            <a:r>
              <a:rPr lang="en-CA" baseline="0" noProof="0" dirty="0">
                <a:solidFill>
                  <a:srgbClr val="FF0000"/>
                </a:solidFill>
              </a:rPr>
              <a:t> </a:t>
            </a:r>
            <a:r>
              <a:rPr lang="en-CA" noProof="0" dirty="0">
                <a:solidFill>
                  <a:srgbClr val="FF0000"/>
                </a:solidFill>
              </a:rPr>
              <a:t>are</a:t>
            </a:r>
            <a:r>
              <a:rPr lang="en-CA" baseline="0" noProof="0" dirty="0">
                <a:solidFill>
                  <a:srgbClr val="FF0000"/>
                </a:solidFill>
              </a:rPr>
              <a:t> determined by real WEIGHTS </a:t>
            </a:r>
            <a:r>
              <a:rPr lang="en-CA" sz="1200" noProof="0" dirty="0">
                <a:solidFill>
                  <a:srgbClr val="000000"/>
                </a:solidFill>
                <a:cs typeface="Arial" panose="020B0604020202020204" pitchFamily="34" charset="0"/>
              </a:rPr>
              <a:t>(</a:t>
            </a:r>
            <a:r>
              <a:rPr lang="en-CA" sz="1200" i="1" noProof="0" dirty="0">
                <a:solidFill>
                  <a:srgbClr val="000000"/>
                </a:solidFill>
                <a:cs typeface="Arial" panose="020B0604020202020204" pitchFamily="34" charset="0"/>
              </a:rPr>
              <a:t>h</a:t>
            </a:r>
            <a:r>
              <a:rPr lang="en-CA" sz="1200" noProof="0" dirty="0">
                <a:solidFill>
                  <a:srgbClr val="000000"/>
                </a:solidFill>
                <a:cs typeface="Arial" panose="020B0604020202020204" pitchFamily="34" charset="0"/>
              </a:rPr>
              <a:t>-values) </a:t>
            </a:r>
            <a:r>
              <a:rPr lang="en-CA" baseline="0" noProof="0" dirty="0">
                <a:solidFill>
                  <a:srgbClr val="FF0000"/>
                </a:solidFill>
              </a:rPr>
              <a:t>associated with the edges, which change after every interaction with the environment. </a:t>
            </a:r>
            <a:r>
              <a:rPr lang="en-CA" sz="1200" noProof="0" dirty="0">
                <a:solidFill>
                  <a:srgbClr val="000000"/>
                </a:solidFill>
                <a:cs typeface="Arial" panose="020B0604020202020204" pitchFamily="34" charset="0"/>
              </a:rPr>
              <a:t>Initially </a:t>
            </a:r>
            <a:r>
              <a:rPr lang="en-CA" sz="1200" i="1" noProof="0" dirty="0">
                <a:solidFill>
                  <a:srgbClr val="000000"/>
                </a:solidFill>
                <a:cs typeface="Arial" panose="020B0604020202020204" pitchFamily="34" charset="0"/>
              </a:rPr>
              <a:t>h = 1</a:t>
            </a:r>
            <a:r>
              <a:rPr lang="en-CA" sz="1200" noProof="0" dirty="0">
                <a:solidFill>
                  <a:srgbClr val="000000"/>
                </a:solidFill>
                <a:cs typeface="Arial" panose="020B0604020202020204" pitchFamily="34" charset="0"/>
              </a:rPr>
              <a:t> on all edges. </a:t>
            </a:r>
            <a:endParaRPr lang="en-CA" sz="1200" noProof="0" dirty="0"/>
          </a:p>
          <a:p>
            <a:endParaRPr lang="en-CA" baseline="0" noProof="0" dirty="0">
              <a:solidFill>
                <a:srgbClr val="FF0000"/>
              </a:solidFill>
            </a:endParaRPr>
          </a:p>
          <a:p>
            <a:endParaRPr lang="en-CA" baseline="0" noProof="0" dirty="0">
              <a:solidFill>
                <a:srgbClr val="FF0000"/>
              </a:solidFill>
            </a:endParaRPr>
          </a:p>
          <a:p>
            <a:r>
              <a:rPr lang="en-CA" baseline="0" noProof="0" dirty="0">
                <a:solidFill>
                  <a:srgbClr val="FF0000"/>
                </a:solidFill>
              </a:rPr>
              <a:t>The way the h-values change is described by a learning rule which, IN THE SIMPLEST CASE, is given here. Two terms, LOSS and GAIN.</a:t>
            </a:r>
          </a:p>
          <a:p>
            <a:endParaRPr lang="en-CA" baseline="0" noProof="0" dirty="0">
              <a:solidFill>
                <a:srgbClr val="FF0000"/>
              </a:solidFill>
            </a:endParaRPr>
          </a:p>
          <a:p>
            <a:r>
              <a:rPr lang="en-CA" baseline="0" noProof="0" dirty="0">
                <a:solidFill>
                  <a:srgbClr val="FF0000"/>
                </a:solidFill>
              </a:rPr>
              <a:t>Glow status (another real WEIGHT): </a:t>
            </a:r>
          </a:p>
          <a:p>
            <a:r>
              <a:rPr lang="en-CA" baseline="0" noProof="0" dirty="0">
                <a:solidFill>
                  <a:srgbClr val="FF0000"/>
                </a:solidFill>
              </a:rPr>
              <a:t>Imagine, all edges glow, more or less, depending on how long it has been since the transition was taken last time.</a:t>
            </a:r>
          </a:p>
          <a:p>
            <a:r>
              <a:rPr lang="en-CA" sz="1200" noProof="0" dirty="0">
                <a:solidFill>
                  <a:schemeClr val="tx1">
                    <a:lumMod val="65000"/>
                    <a:lumOff val="35000"/>
                  </a:schemeClr>
                </a:solidFill>
                <a:cs typeface="Arial" panose="020B0604020202020204" pitchFamily="34" charset="0"/>
              </a:rPr>
              <a:t>The glow mechanism strengthens edges that were visited, as part of the deliberation, a few steps before the rewarded action. </a:t>
            </a:r>
          </a:p>
          <a:p>
            <a:endParaRPr lang="en-CA" sz="1200" noProof="0" dirty="0">
              <a:solidFill>
                <a:schemeClr val="tx1">
                  <a:lumMod val="65000"/>
                  <a:lumOff val="35000"/>
                </a:schemeClr>
              </a:solidFill>
              <a:cs typeface="Arial" panose="020B0604020202020204" pitchFamily="34" charset="0"/>
            </a:endParaRPr>
          </a:p>
          <a:p>
            <a:r>
              <a:rPr lang="en-CA" sz="1200" noProof="0" dirty="0">
                <a:solidFill>
                  <a:schemeClr val="tx1">
                    <a:lumMod val="65000"/>
                    <a:lumOff val="35000"/>
                  </a:schemeClr>
                </a:solidFill>
                <a:cs typeface="Arial" panose="020B0604020202020204" pitchFamily="34" charset="0"/>
              </a:rPr>
              <a:t>Every time an edge is visited, the corresponding g-value is set to 1, after which it is decreased each time step with a rate of </a:t>
            </a:r>
            <a:r>
              <a:rPr lang="en-CA" sz="1200" i="1" noProof="0" dirty="0" err="1">
                <a:solidFill>
                  <a:schemeClr val="tx1">
                    <a:lumMod val="65000"/>
                    <a:lumOff val="35000"/>
                  </a:schemeClr>
                </a:solidFill>
                <a:cs typeface="Arial" panose="020B0604020202020204" pitchFamily="34" charset="0"/>
              </a:rPr>
              <a:t>η</a:t>
            </a:r>
            <a:r>
              <a:rPr lang="en-CA" sz="1200" noProof="0" dirty="0">
                <a:solidFill>
                  <a:schemeClr val="tx1">
                    <a:lumMod val="65000"/>
                    <a:lumOff val="35000"/>
                  </a:schemeClr>
                </a:solidFill>
                <a:cs typeface="Arial" panose="020B0604020202020204" pitchFamily="34" charset="0"/>
              </a:rPr>
              <a:t>.</a:t>
            </a:r>
          </a:p>
          <a:p>
            <a:endParaRPr lang="de-DE" sz="1200" baseline="0" dirty="0">
              <a:solidFill>
                <a:schemeClr val="tx1"/>
              </a:solidFill>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Arial" charset="0"/>
                <a:ea typeface="+mn-ea"/>
                <a:cs typeface="+mn-cs"/>
              </a:rPr>
              <a:t>DIFFERENCE between PS and standard RL.</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CA" sz="1200" kern="1200" noProof="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CA" sz="1200" kern="1200" noProof="0" dirty="0">
                <a:solidFill>
                  <a:schemeClr val="tx1"/>
                </a:solidFill>
                <a:effectLst/>
                <a:latin typeface="Arial" charset="0"/>
                <a:ea typeface="+mn-ea"/>
                <a:cs typeface="+mn-cs"/>
              </a:rPr>
              <a:t>In RL the FOCUS lies on the ENVIRONMENT in which the agent operates, which is usually described as a MARKOV DECISION PROCESS (MDP). The GOAL of the agent is to find a `solution' to the MDP, that is, a policy that maximizes the long-term expected return starting from any state s. …AND SO ON…</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CA" sz="1200" kern="1200" noProof="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CA" sz="1200" kern="1200" noProof="0" dirty="0">
                <a:solidFill>
                  <a:schemeClr val="tx1"/>
                </a:solidFill>
                <a:effectLst/>
                <a:latin typeface="Arial" charset="0"/>
                <a:ea typeface="+mn-ea"/>
                <a:cs typeface="+mn-cs"/>
              </a:rPr>
              <a:t>In PS, the focus is DIFFERENT. It lies on the MEMORY OF THE AGENT and on the INTERNAL structures of deliberation, which are described as a CLIP NETWORK (ECM). If we put a PS agent in an environment described by a MDP, we are not only interested in HOW FAST the agent learns the optimal policy. EQUALLY INTERESTING is the question how the structure of the MEMORY (NETWORK of CLIPS) develops as the agent learns, and how these changes affect the agent’s general behavior.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CA" sz="1200" kern="1200" noProof="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CA" sz="1200" kern="1200" noProof="0" dirty="0">
                <a:solidFill>
                  <a:schemeClr val="tx1"/>
                </a:solidFill>
                <a:effectLst/>
                <a:latin typeface="Arial" charset="0"/>
                <a:ea typeface="+mn-ea"/>
                <a:cs typeface="+mn-cs"/>
              </a:rPr>
              <a:t>NB: The structure of ECM /= structure of MDP. </a:t>
            </a:r>
            <a:r>
              <a:rPr lang="en-CA" sz="1200" kern="1200" noProof="0" dirty="0">
                <a:solidFill>
                  <a:schemeClr val="tx1"/>
                </a:solidFill>
                <a:effectLst/>
                <a:latin typeface="Times New Roman" pitchFamily="18" charset="0"/>
                <a:ea typeface="+mn-ea"/>
                <a:cs typeface="+mn-cs"/>
              </a:rPr>
              <a:t>Clips can represent states (the agent has perceived) and actions (it has taken) in the agent’s memory, but also more abstract entities; they can be created, erased, or modified as part of the agent’s learning history and deliberation.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CA" sz="1200" kern="1200" noProof="0" dirty="0">
              <a:solidFill>
                <a:schemeClr val="tx1"/>
              </a:solidFill>
              <a:effectLst/>
              <a:latin typeface="Times New Roman" pitchFamily="18"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CA" noProof="0" dirty="0">
                <a:effectLst/>
              </a:rPr>
              <a:t>Advantage in quantum reinforcement learning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CA" noProof="0" dirty="0">
                <a:effectLst/>
              </a:rPr>
              <a:t>- proven in PRL by Hans and </a:t>
            </a:r>
            <a:r>
              <a:rPr lang="en-CA" noProof="0" dirty="0" err="1">
                <a:effectLst/>
              </a:rPr>
              <a:t>Vedran</a:t>
            </a:r>
            <a:endParaRPr lang="en-CA" noProof="0" dirty="0">
              <a:effectLst/>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CA" noProof="0" dirty="0">
                <a:effectLst/>
              </a:rPr>
              <a:t>- also mention </a:t>
            </a:r>
            <a:r>
              <a:rPr lang="en-CA" noProof="0" dirty="0" err="1">
                <a:effectLst/>
              </a:rPr>
              <a:t>Fulvios</a:t>
            </a:r>
            <a:r>
              <a:rPr lang="en-CA" noProof="0" dirty="0">
                <a:effectLst/>
              </a:rPr>
              <a:t> paper</a:t>
            </a:r>
          </a:p>
        </p:txBody>
      </p:sp>
      <p:sp>
        <p:nvSpPr>
          <p:cNvPr id="4" name="Slide Number Placeholder 3"/>
          <p:cNvSpPr>
            <a:spLocks noGrp="1"/>
          </p:cNvSpPr>
          <p:nvPr>
            <p:ph type="sldNum" sz="quarter" idx="5"/>
          </p:nvPr>
        </p:nvSpPr>
        <p:spPr/>
        <p:txBody>
          <a:bodyPr/>
          <a:lstStyle/>
          <a:p>
            <a:fld id="{E40720B4-AB10-0342-9541-2DF5352E8B38}" type="slidenum">
              <a:rPr lang="en-CA" smtClean="0"/>
              <a:t>3</a:t>
            </a:fld>
            <a:endParaRPr lang="en-CA"/>
          </a:p>
        </p:txBody>
      </p:sp>
    </p:spTree>
    <p:extLst>
      <p:ext uri="{BB962C8B-B14F-4D97-AF65-F5344CB8AC3E}">
        <p14:creationId xmlns:p14="http://schemas.microsoft.com/office/powerpoint/2010/main" val="24038907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E40720B4-AB10-0342-9541-2DF5352E8B38}" type="slidenum">
              <a:rPr lang="en-CA" smtClean="0"/>
              <a:t>4</a:t>
            </a:fld>
            <a:endParaRPr lang="en-CA"/>
          </a:p>
        </p:txBody>
      </p:sp>
    </p:spTree>
    <p:extLst>
      <p:ext uri="{BB962C8B-B14F-4D97-AF65-F5344CB8AC3E}">
        <p14:creationId xmlns:p14="http://schemas.microsoft.com/office/powerpoint/2010/main" val="38795299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CA" sz="1200" baseline="0" noProof="0" dirty="0">
                <a:solidFill>
                  <a:schemeClr val="tx1"/>
                </a:solidFill>
              </a:rPr>
              <a:t>The CENTRAL FEATURE of this framework is a type of EPISODIC MEMORY (remembering = a dynamic process) which the agent uses for deliberation and learning.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CA" sz="1200" baseline="0" noProof="0" dirty="0">
                <a:solidFill>
                  <a:schemeClr val="tx1"/>
                </a:solidFill>
              </a:rPr>
              <a:t>- The DELIBERATION process corresponds to a RANDOM WALK on a WEIGHTED GRAPH, or network, with a special semantics.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CA" sz="1200" baseline="0" noProof="0" dirty="0">
                <a:solidFill>
                  <a:schemeClr val="tx1"/>
                </a:solidFill>
              </a:rPr>
              <a:t>- LEARNING is realized by adapting both the WEIGHTS and the TOPOLOGY of the graph over time. </a:t>
            </a:r>
          </a:p>
          <a:p>
            <a:endParaRPr lang="en-CA" sz="1200" baseline="0" noProof="0" dirty="0">
              <a:solidFill>
                <a:schemeClr val="tx1"/>
              </a:solidFill>
            </a:endParaRPr>
          </a:p>
          <a:p>
            <a:r>
              <a:rPr lang="en-CA" sz="1200" baseline="0" noProof="0" dirty="0">
                <a:solidFill>
                  <a:schemeClr val="tx1"/>
                </a:solidFill>
              </a:rPr>
              <a:t>The model combines three important features:</a:t>
            </a:r>
          </a:p>
          <a:p>
            <a:endParaRPr lang="en-CA" sz="1200" baseline="0" noProof="0" dirty="0">
              <a:solidFill>
                <a:schemeClr val="tx1"/>
              </a:solidFill>
            </a:endParaRPr>
          </a:p>
          <a:p>
            <a:pPr marL="171450" indent="-171450">
              <a:buFont typeface="Arial" panose="020B0604020202020204" pitchFamily="34" charset="0"/>
              <a:buChar char="•"/>
            </a:pPr>
            <a:r>
              <a:rPr lang="en-CA" sz="1200" baseline="0" noProof="0" dirty="0">
                <a:solidFill>
                  <a:schemeClr val="tx1"/>
                </a:solidFill>
              </a:rPr>
              <a:t>It is INTERPRETABLE, </a:t>
            </a:r>
          </a:p>
          <a:p>
            <a:pPr marL="171450" indent="-171450">
              <a:buFont typeface="Arial" panose="020B0604020202020204" pitchFamily="34" charset="0"/>
              <a:buChar char="•"/>
            </a:pPr>
            <a:r>
              <a:rPr lang="en-CA" sz="1200" baseline="0" noProof="0" dirty="0">
                <a:solidFill>
                  <a:schemeClr val="tx1"/>
                </a:solidFill>
              </a:rPr>
              <a:t>it can be QUANTIZED (at least in its BASIC VERSION),</a:t>
            </a:r>
          </a:p>
          <a:p>
            <a:pPr marL="171450" indent="-171450">
              <a:buFont typeface="Arial" panose="020B0604020202020204" pitchFamily="34" charset="0"/>
              <a:buChar char="•"/>
            </a:pPr>
            <a:r>
              <a:rPr lang="en-CA" sz="1200" baseline="0" noProof="0" dirty="0">
                <a:solidFill>
                  <a:schemeClr val="tx1"/>
                </a:solidFill>
                <a:latin typeface="Calibri Light" panose="020F0302020204030204" pitchFamily="34" charset="0"/>
                <a:cs typeface="Calibri Light" panose="020F0302020204030204" pitchFamily="34" charset="0"/>
                <a:sym typeface="Wingdings" pitchFamily="2" charset="2"/>
              </a:rPr>
              <a:t>and it</a:t>
            </a:r>
            <a:r>
              <a:rPr lang="en-CA" noProof="0" dirty="0">
                <a:solidFill>
                  <a:schemeClr val="tx1"/>
                </a:solidFill>
                <a:latin typeface="Calibri Light" panose="020F0302020204030204" pitchFamily="34" charset="0"/>
                <a:cs typeface="Calibri Light" panose="020F0302020204030204" pitchFamily="34" charset="0"/>
                <a:sym typeface="Wingdings" pitchFamily="2" charset="2"/>
              </a:rPr>
              <a:t> can be </a:t>
            </a:r>
            <a:r>
              <a:rPr lang="en-CA" noProof="0" dirty="0">
                <a:solidFill>
                  <a:srgbClr val="0070C0"/>
                </a:solidFill>
                <a:latin typeface="Calibri Light" panose="020F0302020204030204" pitchFamily="34" charset="0"/>
                <a:cs typeface="Calibri Light" panose="020F0302020204030204" pitchFamily="34" charset="0"/>
                <a:sym typeface="Wingdings" pitchFamily="2" charset="2"/>
              </a:rPr>
              <a:t>extended</a:t>
            </a:r>
            <a:r>
              <a:rPr lang="en-CA" noProof="0" dirty="0">
                <a:solidFill>
                  <a:srgbClr val="006600"/>
                </a:solidFill>
                <a:latin typeface="Calibri Light" panose="020F0302020204030204" pitchFamily="34" charset="0"/>
                <a:cs typeface="Calibri Light" panose="020F0302020204030204" pitchFamily="34" charset="0"/>
                <a:sym typeface="Wingdings" pitchFamily="2" charset="2"/>
              </a:rPr>
              <a:t> </a:t>
            </a:r>
            <a:r>
              <a:rPr lang="en-CA" noProof="0" dirty="0">
                <a:solidFill>
                  <a:schemeClr val="tx1"/>
                </a:solidFill>
                <a:latin typeface="Calibri Light" panose="020F0302020204030204" pitchFamily="34" charset="0"/>
                <a:cs typeface="Calibri Light" panose="020F0302020204030204" pitchFamily="34" charset="0"/>
                <a:sym typeface="Wingdings" pitchFamily="2" charset="2"/>
              </a:rPr>
              <a:t>with other machinery from CS &amp; QI</a:t>
            </a:r>
          </a:p>
          <a:p>
            <a:endParaRPr lang="en-CA" sz="1200" baseline="0" noProof="0" dirty="0">
              <a:solidFill>
                <a:schemeClr val="tx1"/>
              </a:solidFill>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CA" sz="1200" baseline="0" noProof="0" dirty="0">
                <a:solidFill>
                  <a:schemeClr val="tx1"/>
                </a:solidFill>
              </a:rPr>
              <a:t>*The basic units are so-called CLIPS, and you may think of clips as excitations of a many-body </a:t>
            </a:r>
            <a:r>
              <a:rPr lang="en-CA" sz="1200" baseline="0" noProof="0" dirty="0" err="1">
                <a:solidFill>
                  <a:schemeClr val="tx1"/>
                </a:solidFill>
              </a:rPr>
              <a:t>hamiltonian</a:t>
            </a:r>
            <a:r>
              <a:rPr lang="en-CA" sz="1200" baseline="0" noProof="0" dirty="0">
                <a:solidFill>
                  <a:schemeClr val="tx1"/>
                </a:solidFill>
              </a:rPr>
              <a:t>, and of deliberation as propagation of such excitations in episodic memory.</a:t>
            </a:r>
          </a:p>
          <a:p>
            <a:endParaRPr lang="en-CA" sz="1200" baseline="0" noProof="0" dirty="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noProof="0" dirty="0">
                <a:solidFill>
                  <a:srgbClr val="FF0000"/>
                </a:solidFill>
              </a:rPr>
              <a:t>As far as the dynamics of decision making and learning concerned, there is a probability rule and a learning rule. The hopping probabilities</a:t>
            </a:r>
            <a:r>
              <a:rPr lang="en-CA" baseline="0" noProof="0" dirty="0">
                <a:solidFill>
                  <a:srgbClr val="FF0000"/>
                </a:solidFill>
              </a:rPr>
              <a:t> </a:t>
            </a:r>
            <a:r>
              <a:rPr lang="en-CA" noProof="0" dirty="0">
                <a:solidFill>
                  <a:srgbClr val="FF0000"/>
                </a:solidFill>
              </a:rPr>
              <a:t>are</a:t>
            </a:r>
            <a:r>
              <a:rPr lang="en-CA" baseline="0" noProof="0" dirty="0">
                <a:solidFill>
                  <a:srgbClr val="FF0000"/>
                </a:solidFill>
              </a:rPr>
              <a:t> determined by real WEIGHTS </a:t>
            </a:r>
            <a:r>
              <a:rPr lang="en-CA" sz="1200" noProof="0" dirty="0">
                <a:solidFill>
                  <a:srgbClr val="000000"/>
                </a:solidFill>
                <a:cs typeface="Arial" panose="020B0604020202020204" pitchFamily="34" charset="0"/>
              </a:rPr>
              <a:t>(</a:t>
            </a:r>
            <a:r>
              <a:rPr lang="en-CA" sz="1200" i="1" noProof="0" dirty="0">
                <a:solidFill>
                  <a:srgbClr val="000000"/>
                </a:solidFill>
                <a:cs typeface="Arial" panose="020B0604020202020204" pitchFamily="34" charset="0"/>
              </a:rPr>
              <a:t>h</a:t>
            </a:r>
            <a:r>
              <a:rPr lang="en-CA" sz="1200" noProof="0" dirty="0">
                <a:solidFill>
                  <a:srgbClr val="000000"/>
                </a:solidFill>
                <a:cs typeface="Arial" panose="020B0604020202020204" pitchFamily="34" charset="0"/>
              </a:rPr>
              <a:t>-values) </a:t>
            </a:r>
            <a:r>
              <a:rPr lang="en-CA" baseline="0" noProof="0" dirty="0">
                <a:solidFill>
                  <a:srgbClr val="FF0000"/>
                </a:solidFill>
              </a:rPr>
              <a:t>associated with the edges, which change after every interaction with the environment. </a:t>
            </a:r>
            <a:r>
              <a:rPr lang="en-CA" sz="1200" noProof="0" dirty="0">
                <a:solidFill>
                  <a:srgbClr val="000000"/>
                </a:solidFill>
                <a:cs typeface="Arial" panose="020B0604020202020204" pitchFamily="34" charset="0"/>
              </a:rPr>
              <a:t>Initially </a:t>
            </a:r>
            <a:r>
              <a:rPr lang="en-CA" sz="1200" i="1" noProof="0" dirty="0">
                <a:solidFill>
                  <a:srgbClr val="000000"/>
                </a:solidFill>
                <a:cs typeface="Arial" panose="020B0604020202020204" pitchFamily="34" charset="0"/>
              </a:rPr>
              <a:t>h = 1</a:t>
            </a:r>
            <a:r>
              <a:rPr lang="en-CA" sz="1200" noProof="0" dirty="0">
                <a:solidFill>
                  <a:srgbClr val="000000"/>
                </a:solidFill>
                <a:cs typeface="Arial" panose="020B0604020202020204" pitchFamily="34" charset="0"/>
              </a:rPr>
              <a:t> on all edges. </a:t>
            </a:r>
            <a:endParaRPr lang="en-CA" sz="1200" noProof="0" dirty="0"/>
          </a:p>
          <a:p>
            <a:endParaRPr lang="en-CA" baseline="0" noProof="0" dirty="0">
              <a:solidFill>
                <a:srgbClr val="FF0000"/>
              </a:solidFill>
            </a:endParaRPr>
          </a:p>
          <a:p>
            <a:endParaRPr lang="en-CA" baseline="0" noProof="0" dirty="0">
              <a:solidFill>
                <a:srgbClr val="FF0000"/>
              </a:solidFill>
            </a:endParaRPr>
          </a:p>
          <a:p>
            <a:r>
              <a:rPr lang="en-CA" baseline="0" noProof="0" dirty="0">
                <a:solidFill>
                  <a:srgbClr val="FF0000"/>
                </a:solidFill>
              </a:rPr>
              <a:t>The way the h-values change is described by a learning rule which, IN THE SIMPLEST CASE, is given here. Two terms, LOSS and GAIN.</a:t>
            </a:r>
          </a:p>
          <a:p>
            <a:endParaRPr lang="en-CA" baseline="0" noProof="0" dirty="0">
              <a:solidFill>
                <a:srgbClr val="FF0000"/>
              </a:solidFill>
            </a:endParaRPr>
          </a:p>
          <a:p>
            <a:r>
              <a:rPr lang="en-CA" baseline="0" noProof="0" dirty="0">
                <a:solidFill>
                  <a:srgbClr val="FF0000"/>
                </a:solidFill>
              </a:rPr>
              <a:t>Glow status (another real WEIGHT): </a:t>
            </a:r>
          </a:p>
          <a:p>
            <a:r>
              <a:rPr lang="en-CA" baseline="0" noProof="0" dirty="0">
                <a:solidFill>
                  <a:srgbClr val="FF0000"/>
                </a:solidFill>
              </a:rPr>
              <a:t>Imagine, all edges glow, more or less, depending on how long it has been since the transition was taken last time.</a:t>
            </a:r>
          </a:p>
          <a:p>
            <a:r>
              <a:rPr lang="en-CA" sz="1200" noProof="0" dirty="0">
                <a:solidFill>
                  <a:schemeClr val="tx1">
                    <a:lumMod val="65000"/>
                    <a:lumOff val="35000"/>
                  </a:schemeClr>
                </a:solidFill>
                <a:cs typeface="Arial" panose="020B0604020202020204" pitchFamily="34" charset="0"/>
              </a:rPr>
              <a:t>The glow mechanism strengthens edges that were visited, as part of the deliberation, a few steps before the rewarded action. </a:t>
            </a:r>
          </a:p>
          <a:p>
            <a:endParaRPr lang="en-CA" sz="1200" noProof="0" dirty="0">
              <a:solidFill>
                <a:schemeClr val="tx1">
                  <a:lumMod val="65000"/>
                  <a:lumOff val="35000"/>
                </a:schemeClr>
              </a:solidFill>
              <a:cs typeface="Arial" panose="020B0604020202020204" pitchFamily="34" charset="0"/>
            </a:endParaRPr>
          </a:p>
          <a:p>
            <a:r>
              <a:rPr lang="en-CA" sz="1200" noProof="0" dirty="0">
                <a:solidFill>
                  <a:schemeClr val="tx1">
                    <a:lumMod val="65000"/>
                    <a:lumOff val="35000"/>
                  </a:schemeClr>
                </a:solidFill>
                <a:cs typeface="Arial" panose="020B0604020202020204" pitchFamily="34" charset="0"/>
              </a:rPr>
              <a:t>Every time an edge is visited, the corresponding g-value is set to 1, after which it is decreased each time step with a rate of </a:t>
            </a:r>
            <a:r>
              <a:rPr lang="en-CA" sz="1200" i="1" noProof="0" dirty="0" err="1">
                <a:solidFill>
                  <a:schemeClr val="tx1">
                    <a:lumMod val="65000"/>
                    <a:lumOff val="35000"/>
                  </a:schemeClr>
                </a:solidFill>
                <a:cs typeface="Arial" panose="020B0604020202020204" pitchFamily="34" charset="0"/>
              </a:rPr>
              <a:t>η</a:t>
            </a:r>
            <a:r>
              <a:rPr lang="en-CA" sz="1200" noProof="0" dirty="0">
                <a:solidFill>
                  <a:schemeClr val="tx1">
                    <a:lumMod val="65000"/>
                    <a:lumOff val="35000"/>
                  </a:schemeClr>
                </a:solidFill>
                <a:cs typeface="Arial" panose="020B0604020202020204" pitchFamily="34" charset="0"/>
              </a:rPr>
              <a:t>.</a:t>
            </a:r>
          </a:p>
          <a:p>
            <a:endParaRPr lang="de-DE" sz="1200" baseline="0" dirty="0">
              <a:solidFill>
                <a:schemeClr val="tx1"/>
              </a:solidFill>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Arial" charset="0"/>
                <a:ea typeface="+mn-ea"/>
                <a:cs typeface="+mn-cs"/>
              </a:rPr>
              <a:t>DIFFERENCE between PS and standard RL.</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CA" sz="1200" kern="1200" noProof="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CA" sz="1200" kern="1200" noProof="0" dirty="0">
                <a:solidFill>
                  <a:schemeClr val="tx1"/>
                </a:solidFill>
                <a:effectLst/>
                <a:latin typeface="Arial" charset="0"/>
                <a:ea typeface="+mn-ea"/>
                <a:cs typeface="+mn-cs"/>
              </a:rPr>
              <a:t>In RL the FOCUS lies on the ENVIRONMENT in which the agent operates, which is usually described as a MARKOV DECISION PROCESS (MDP). The GOAL of the agent is to find a `solution' to the MDP, that is, a policy that maximizes the long-term expected return starting from any state s. …AND SO ON…</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CA" sz="1200" kern="1200" noProof="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CA" sz="1200" kern="1200" noProof="0" dirty="0">
                <a:solidFill>
                  <a:schemeClr val="tx1"/>
                </a:solidFill>
                <a:effectLst/>
                <a:latin typeface="Arial" charset="0"/>
                <a:ea typeface="+mn-ea"/>
                <a:cs typeface="+mn-cs"/>
              </a:rPr>
              <a:t>In PS, the focus is DIFFERENT. It lies on the MEMORY OF THE AGENT and on the INTERNAL structures of deliberation, which are described as a CLIP NETWORK (ECM). If we put a PS agent in an environment described by a MDP, we are not only interested in HOW FAST the agent learns the optimal policy. EQUALLY INTERESTING is the question how the structure of the MEMORY (NETWORK of CLIPS) develops as the agent learns, and how these changes affect the agent’s general behavior.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CA" sz="1200" kern="1200" noProof="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CA" sz="1200" kern="1200" noProof="0" dirty="0">
                <a:solidFill>
                  <a:schemeClr val="tx1"/>
                </a:solidFill>
                <a:effectLst/>
                <a:latin typeface="Arial" charset="0"/>
                <a:ea typeface="+mn-ea"/>
                <a:cs typeface="+mn-cs"/>
              </a:rPr>
              <a:t>NB: The structure of ECM /= structure of MDP. </a:t>
            </a:r>
            <a:r>
              <a:rPr lang="en-CA" sz="1200" kern="1200" noProof="0" dirty="0">
                <a:solidFill>
                  <a:schemeClr val="tx1"/>
                </a:solidFill>
                <a:effectLst/>
                <a:latin typeface="Times New Roman" pitchFamily="18" charset="0"/>
                <a:ea typeface="+mn-ea"/>
                <a:cs typeface="+mn-cs"/>
              </a:rPr>
              <a:t>Clips can represent states (the agent has perceived) and actions (it has taken) in the agent’s memory, but also more abstract entities; they can be created, erased, or modified as part of the agent’s learning history and deliberation. </a:t>
            </a:r>
            <a:endParaRPr lang="en-CA" noProof="0" dirty="0">
              <a:effectLst/>
            </a:endParaRPr>
          </a:p>
        </p:txBody>
      </p:sp>
      <p:sp>
        <p:nvSpPr>
          <p:cNvPr id="4" name="Slide Number Placeholder 3"/>
          <p:cNvSpPr>
            <a:spLocks noGrp="1"/>
          </p:cNvSpPr>
          <p:nvPr>
            <p:ph type="sldNum" sz="quarter" idx="5"/>
          </p:nvPr>
        </p:nvSpPr>
        <p:spPr/>
        <p:txBody>
          <a:bodyPr/>
          <a:lstStyle/>
          <a:p>
            <a:fld id="{E40720B4-AB10-0342-9541-2DF5352E8B38}" type="slidenum">
              <a:rPr lang="en-CA" smtClean="0"/>
              <a:t>5</a:t>
            </a:fld>
            <a:endParaRPr lang="en-CA"/>
          </a:p>
        </p:txBody>
      </p:sp>
    </p:spTree>
    <p:extLst>
      <p:ext uri="{BB962C8B-B14F-4D97-AF65-F5344CB8AC3E}">
        <p14:creationId xmlns:p14="http://schemas.microsoft.com/office/powerpoint/2010/main" val="25398117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CA" noProof="0" dirty="0">
                <a:effectLst/>
              </a:rPr>
              <a:t>Timing: 2:25-3:15. Now define MEPS as the minimal modification of the PS picture. The vertices are still atomic clips. Instead of one current clip, the state is an excitation configuration, a set of active clips. A deliberation step samples the next configuration from the current one, so ordinary edges are replaced by directed hyperedges. The learning idea remains continuous with PS: h-values define transition probabilities and rewards update the sampled path.</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CA" noProof="0" dirty="0">
                <a:effectLst/>
              </a:rPr>
              <a:t>[Sources]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CA" noProof="0" dirty="0">
                <a:effectLst/>
              </a:rPr>
              <a:t>- Paper Figure 2, </a:t>
            </a:r>
            <a:r>
              <a:rPr lang="en-CA" noProof="0" dirty="0" err="1">
                <a:effectLst/>
              </a:rPr>
              <a:t>arXiv</a:t>
            </a:r>
            <a:r>
              <a:rPr lang="en-CA" noProof="0" dirty="0">
                <a:effectLst/>
              </a:rPr>
              <a:t> v4 source file </a:t>
            </a:r>
            <a:r>
              <a:rPr lang="en-CA" noProof="0" dirty="0" err="1">
                <a:effectLst/>
              </a:rPr>
              <a:t>Hypergraph.png</a:t>
            </a:r>
            <a:r>
              <a:rPr lang="en-CA" noProof="0" dirty="0">
                <a:effectLst/>
              </a:rPr>
              <a:t>.</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CA" noProof="0" dirty="0">
                <a:effectLst/>
              </a:rPr>
              <a:t>- </a:t>
            </a:r>
            <a:r>
              <a:rPr lang="en-CA" noProof="0" dirty="0" err="1">
                <a:effectLst/>
              </a:rPr>
              <a:t>AIJ_new.tex</a:t>
            </a:r>
            <a:r>
              <a:rPr lang="en-CA" noProof="0" dirty="0">
                <a:effectLst/>
              </a:rPr>
              <a:t> lines 228-319 define MEPS agents, excitation configurations, directed weighted hypergraphs, input/output coupling, random-walk steps, and the MEPS update rule.</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CA" noProof="0" dirty="0">
              <a:effectLst/>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CA" noProof="0" dirty="0">
                <a:effectLst/>
              </a:rPr>
              <a:t>*** This slide assumes you have already introduced PS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CA" noProof="0" dirty="0">
              <a:effectLst/>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CA" dirty="0" err="1"/>
              <a:t>mePS</a:t>
            </a:r>
            <a:r>
              <a:rPr lang="en-CA" dirty="0"/>
              <a:t> ECM is now hypergraph which is a graph where edges can join more than 2 vertices together; edges are now called hyperedges</a:t>
            </a:r>
            <a:endParaRPr lang="en-CA" noProof="0" dirty="0">
              <a:effectLst/>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CA" noProof="0" dirty="0">
              <a:effectLst/>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CA" noProof="0" dirty="0" err="1">
                <a:effectLst/>
              </a:rPr>
              <a:t>mePS</a:t>
            </a:r>
            <a:r>
              <a:rPr lang="en-CA" noProof="0" dirty="0">
                <a:effectLst/>
              </a:rPr>
              <a:t> agent is functionally identical to basic PS, just allowing groups of clips now as well. In particular, transition probabilities concern transitions between groups of clips.</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CA" noProof="0" dirty="0">
              <a:effectLst/>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CA" noProof="0" dirty="0">
                <a:effectLst/>
              </a:rPr>
              <a:t>Clips now represent elementary concepts, so we can look at composite structure and explicitly account for correlations between these elements</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CA" noProof="0" dirty="0">
              <a:effectLst/>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CA" noProof="0" dirty="0">
                <a:effectLst/>
              </a:rPr>
              <a:t>For hypergraph diagram:</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CA" noProof="0" dirty="0">
                <a:effectLst/>
              </a:rPr>
              <a:t>Capital letters denote a group of clips, which is one set of a hyperedge</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endParaRPr lang="en-CA" noProof="0" dirty="0">
              <a:effectLst/>
            </a:endParaRP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CA" noProof="0" dirty="0">
                <a:effectLst/>
              </a:rPr>
              <a:t>Reference previous PS example here</a:t>
            </a:r>
          </a:p>
        </p:txBody>
      </p:sp>
      <p:sp>
        <p:nvSpPr>
          <p:cNvPr id="4" name="Slide Number Placeholder 3"/>
          <p:cNvSpPr>
            <a:spLocks noGrp="1"/>
          </p:cNvSpPr>
          <p:nvPr>
            <p:ph type="sldNum" sz="quarter" idx="5"/>
          </p:nvPr>
        </p:nvSpPr>
        <p:spPr/>
        <p:txBody>
          <a:bodyPr/>
          <a:lstStyle/>
          <a:p>
            <a:fld id="{E40720B4-AB10-0342-9541-2DF5352E8B38}" type="slidenum">
              <a:rPr lang="en-CA" smtClean="0"/>
              <a:t>6</a:t>
            </a:fld>
            <a:endParaRPr lang="en-CA"/>
          </a:p>
        </p:txBody>
      </p:sp>
    </p:spTree>
    <p:extLst>
      <p:ext uri="{BB962C8B-B14F-4D97-AF65-F5344CB8AC3E}">
        <p14:creationId xmlns:p14="http://schemas.microsoft.com/office/powerpoint/2010/main" val="35066491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CA" noProof="0" dirty="0">
                <a:effectLst/>
              </a:rPr>
              <a:t>Timing: 3:15-4:00. The price of replacing one clip by a set of clips is that the unrestricted model wants to range over the power set of the clip set. The paper controls this with a many-body inductive bias: each elementary transition can involve only a bounded number of excitations. The same idea is used in the computer-maintenance agent by placing cutoffs on how many symptoms, components, causes, and fixes can participate. This is a tractability condition and also an explainability condition, since an explanation that activates everything is not a useful explanation.</a:t>
            </a: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CA" noProof="0" dirty="0">
                <a:effectLst/>
              </a:rPr>
              <a:t>[Sources]</a:t>
            </a: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CA" noProof="0" dirty="0">
                <a:effectLst/>
              </a:rPr>
              <a:t>- </a:t>
            </a:r>
            <a:r>
              <a:rPr lang="en-CA" noProof="0" dirty="0" err="1">
                <a:effectLst/>
              </a:rPr>
              <a:t>AIJ_new.tex</a:t>
            </a:r>
            <a:r>
              <a:rPr lang="en-CA" noProof="0" dirty="0">
                <a:effectLst/>
              </a:rPr>
              <a:t> lines 516-546 state the unrestricted scaling and Proposition 11, bounding trainable parameters by O(max I * max O * |V|^max IO).</a:t>
            </a: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CA" noProof="0" dirty="0">
                <a:effectLst/>
              </a:rPr>
              <a:t>- </a:t>
            </a:r>
            <a:r>
              <a:rPr lang="en-CA" noProof="0" dirty="0" err="1">
                <a:effectLst/>
              </a:rPr>
              <a:t>AIJ_new.tex</a:t>
            </a:r>
            <a:r>
              <a:rPr lang="en-CA" noProof="0" dirty="0">
                <a:effectLst/>
              </a:rPr>
              <a:t> lines 682-688 explain the computer-maintenance inductive-bias configuration and cutoffs for symptoms, components, causes, and fixes.</a:t>
            </a: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endParaRPr lang="en-CA" noProof="0" dirty="0">
              <a:effectLst/>
            </a:endParaRP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CA" noProof="0" dirty="0">
                <a:effectLst/>
              </a:rPr>
              <a:t>Naïve implementation of hypergraph leads to exponential size, so use quantum many-body physics as inspiration for classical inductive bias -&gt; many-body cutoff on # of excitations</a:t>
            </a: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endParaRPr lang="en-CA" noProof="0" dirty="0">
              <a:effectLst/>
            </a:endParaRPr>
          </a:p>
          <a:p>
            <a:pPr marL="0" marR="0" lvl="0" indent="0" algn="l" defTabSz="914400" rtl="0" eaLnBrk="0" fontAlgn="base" latinLnBrk="0" hangingPunct="0">
              <a:lnSpc>
                <a:spcPct val="100000"/>
              </a:lnSpc>
              <a:spcBef>
                <a:spcPct val="30000"/>
              </a:spcBef>
              <a:spcAft>
                <a:spcPct val="0"/>
              </a:spcAft>
              <a:buClrTx/>
              <a:buSzTx/>
              <a:buFont typeface="Arial" panose="020B0604020202020204" pitchFamily="34" charset="0"/>
              <a:buNone/>
              <a:tabLst/>
              <a:defRPr/>
            </a:pPr>
            <a:r>
              <a:rPr lang="en-CA" noProof="0" dirty="0">
                <a:effectLst/>
              </a:rPr>
              <a:t>For h-matrix decomposition diagram:</a:t>
            </a:r>
          </a:p>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n-CA" noProof="0" dirty="0">
                <a:effectLst/>
              </a:rPr>
              <a:t>Input set of clips is decomposed into its subsets up to the length of the many-body </a:t>
            </a:r>
            <a:r>
              <a:rPr lang="en-CA" noProof="0" dirty="0" err="1">
                <a:effectLst/>
              </a:rPr>
              <a:t>cutoff</a:t>
            </a:r>
            <a:endParaRPr lang="en-CA" noProof="0" dirty="0">
              <a:effectLst/>
            </a:endParaRPr>
          </a:p>
          <a:p>
            <a:endParaRPr lang="en-CA" dirty="0"/>
          </a:p>
          <a:p>
            <a:r>
              <a:rPr lang="en-CA" dirty="0"/>
              <a:t>The example shows 3 excitations at layer 1 and 1 excitation being chosen at layer 2. If the first of our inductive biases is applied then in this example, only one of the excitations in the first layer is selected.</a:t>
            </a:r>
          </a:p>
          <a:p>
            <a:endParaRPr lang="en-CA" dirty="0"/>
          </a:p>
          <a:p>
            <a:pPr marL="285750" indent="-285750">
              <a:buFont typeface="Arial" panose="020B0604020202020204" pitchFamily="34" charset="0"/>
              <a:buChar char="•"/>
            </a:pPr>
            <a:r>
              <a:rPr lang="en-US" dirty="0">
                <a:cs typeface="Arial" panose="020B0604020202020204" pitchFamily="34" charset="0"/>
              </a:rPr>
              <a:t>Reduces complexity from exponential to polynomial</a:t>
            </a:r>
          </a:p>
          <a:p>
            <a:pPr marL="285750" indent="-285750">
              <a:buFont typeface="Arial" panose="020B0604020202020204" pitchFamily="34" charset="0"/>
              <a:buChar char="•"/>
            </a:pPr>
            <a:r>
              <a:rPr lang="en-US" dirty="0">
                <a:cs typeface="Arial" panose="020B0604020202020204" pitchFamily="34" charset="0"/>
              </a:rPr>
              <a:t>Similar to how humans decompose information</a:t>
            </a:r>
            <a:endParaRPr lang="de-AT" dirty="0"/>
          </a:p>
          <a:p>
            <a:endParaRPr lang="en-CA" dirty="0"/>
          </a:p>
        </p:txBody>
      </p:sp>
      <p:sp>
        <p:nvSpPr>
          <p:cNvPr id="4" name="Slide Number Placeholder 3"/>
          <p:cNvSpPr>
            <a:spLocks noGrp="1"/>
          </p:cNvSpPr>
          <p:nvPr>
            <p:ph type="sldNum" sz="quarter" idx="5"/>
          </p:nvPr>
        </p:nvSpPr>
        <p:spPr/>
        <p:txBody>
          <a:bodyPr/>
          <a:lstStyle/>
          <a:p>
            <a:fld id="{E40720B4-AB10-0342-9541-2DF5352E8B38}" type="slidenum">
              <a:rPr lang="en-CA" smtClean="0"/>
              <a:t>8</a:t>
            </a:fld>
            <a:endParaRPr lang="en-CA"/>
          </a:p>
        </p:txBody>
      </p:sp>
    </p:spTree>
    <p:extLst>
      <p:ext uri="{BB962C8B-B14F-4D97-AF65-F5344CB8AC3E}">
        <p14:creationId xmlns:p14="http://schemas.microsoft.com/office/powerpoint/2010/main" val="29790731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Mention that we have another more complex environment that we successfully trained the agent on</a:t>
            </a:r>
          </a:p>
        </p:txBody>
      </p:sp>
      <p:sp>
        <p:nvSpPr>
          <p:cNvPr id="4" name="Slide Number Placeholder 3"/>
          <p:cNvSpPr>
            <a:spLocks noGrp="1"/>
          </p:cNvSpPr>
          <p:nvPr>
            <p:ph type="sldNum" sz="quarter" idx="5"/>
          </p:nvPr>
        </p:nvSpPr>
        <p:spPr/>
        <p:txBody>
          <a:bodyPr/>
          <a:lstStyle/>
          <a:p>
            <a:fld id="{E40720B4-AB10-0342-9541-2DF5352E8B38}" type="slidenum">
              <a:rPr lang="en-CA" smtClean="0"/>
              <a:t>10</a:t>
            </a:fld>
            <a:endParaRPr lang="en-CA"/>
          </a:p>
        </p:txBody>
      </p:sp>
    </p:spTree>
    <p:extLst>
      <p:ext uri="{BB962C8B-B14F-4D97-AF65-F5344CB8AC3E}">
        <p14:creationId xmlns:p14="http://schemas.microsoft.com/office/powerpoint/2010/main" val="3440406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noProof="0" dirty="0"/>
              <a:t>Demonstrate </a:t>
            </a:r>
            <a:r>
              <a:rPr lang="en-CA" noProof="0" dirty="0" err="1"/>
              <a:t>mePS</a:t>
            </a:r>
            <a:r>
              <a:rPr lang="en-CA" noProof="0" dirty="0"/>
              <a:t> and inductive bias on a real-world-inspired task: computer maintenance</a:t>
            </a:r>
          </a:p>
          <a:p>
            <a:endParaRPr lang="en-CA" noProof="0" dirty="0"/>
          </a:p>
          <a:p>
            <a:r>
              <a:rPr lang="en-CA" noProof="0" dirty="0"/>
              <a:t>Here we use a 3-layer agent where intermediate layer represents hypotheses about causes of problems</a:t>
            </a:r>
          </a:p>
          <a:p>
            <a:endParaRPr lang="en-CA" noProof="0" dirty="0"/>
          </a:p>
          <a:p>
            <a:r>
              <a:rPr lang="en-CA" noProof="0" dirty="0"/>
              <a:t>We get around credit assignment issues by using dual rewards that apply to different layers; one of these rewards (plausibility) encodes causal relations between causes and fixes, </a:t>
            </a:r>
          </a:p>
          <a:p>
            <a:r>
              <a:rPr lang="en-CA" noProof="0" dirty="0"/>
              <a:t>which provides weak generalization capability since transitions that are not associated with specific scenarios will get trained </a:t>
            </a:r>
          </a:p>
          <a:p>
            <a:endParaRPr lang="en-CA" noProof="0" dirty="0"/>
          </a:p>
          <a:p>
            <a:r>
              <a:rPr lang="en-CA" noProof="0" dirty="0"/>
              <a:t>For Computer diagram:</a:t>
            </a:r>
          </a:p>
          <a:p>
            <a:pPr marL="171450" indent="-171450">
              <a:buFont typeface="Arial" panose="020B0604020202020204" pitchFamily="34" charset="0"/>
              <a:buChar char="•"/>
            </a:pPr>
            <a:r>
              <a:rPr lang="en-CA" noProof="0" dirty="0"/>
              <a:t>The boxes denote pairs of hyperedges that the agent can transition to/from. </a:t>
            </a:r>
          </a:p>
          <a:p>
            <a:pPr marL="171450" indent="-171450">
              <a:buFont typeface="Arial" panose="020B0604020202020204" pitchFamily="34" charset="0"/>
              <a:buChar char="•"/>
            </a:pPr>
            <a:r>
              <a:rPr lang="en-CA" noProof="0" dirty="0"/>
              <a:t>The agent first observes a pair of symptoms that get coupled into a percept hyperedge $S_1$ which triggers deliberation through pairs of components/causes ($</a:t>
            </a:r>
            <a:r>
              <a:rPr lang="en-CA" noProof="0" dirty="0" err="1"/>
              <a:t>C_i</a:t>
            </a:r>
            <a:r>
              <a:rPr lang="en-CA" noProof="0" dirty="0"/>
              <a:t>, C^{'}_j$) and components/fixes ($</a:t>
            </a:r>
            <a:r>
              <a:rPr lang="en-CA" noProof="0" dirty="0" err="1"/>
              <a:t>C_i</a:t>
            </a:r>
            <a:r>
              <a:rPr lang="en-CA" noProof="0" dirty="0"/>
              <a:t>, </a:t>
            </a:r>
            <a:r>
              <a:rPr lang="en-CA" noProof="0" dirty="0" err="1"/>
              <a:t>A_j</a:t>
            </a:r>
            <a:r>
              <a:rPr lang="en-CA" noProof="0" dirty="0"/>
              <a:t>$), ending with a chain-of-thought that the agent then converts into an explanation to the customer who determines their reward. </a:t>
            </a:r>
          </a:p>
          <a:p>
            <a:pPr marL="171450" indent="-171450">
              <a:buFont typeface="Arial" panose="020B0604020202020204" pitchFamily="34" charset="0"/>
              <a:buChar char="•"/>
            </a:pPr>
            <a:r>
              <a:rPr lang="en-CA" noProof="0" dirty="0"/>
              <a:t>As an example, consider a clumsy owner who drops their computer on the ground, causing physical damage to the motherboard (</a:t>
            </a:r>
            <a:r>
              <a:rPr lang="en-CA" noProof="0" dirty="0" err="1"/>
              <a:t>MoBo</a:t>
            </a:r>
            <a:r>
              <a:rPr lang="en-CA" noProof="0" dirty="0"/>
              <a:t>) that results in a software error in the storage unit (SSD), leading to physical damage in the SSD, which then also causes physical damage to the </a:t>
            </a:r>
            <a:r>
              <a:rPr lang="en-CA" noProof="0" dirty="0" err="1"/>
              <a:t>MoBo</a:t>
            </a:r>
            <a:r>
              <a:rPr lang="en-CA" noProof="0" dirty="0"/>
              <a:t> in a feedback loop. Such a situation in which software interacts with hardware can occur when faulty programs overuse resources (resulting in heat or electrical damage to the computer) or create conflicting processes that lead to this. </a:t>
            </a:r>
          </a:p>
          <a:p>
            <a:pPr marL="628650" lvl="1" indent="-171450">
              <a:buFont typeface="Arial" panose="020B0604020202020204" pitchFamily="34" charset="0"/>
              <a:buChar char="•"/>
            </a:pPr>
            <a:r>
              <a:rPr lang="en-CA" noProof="0" dirty="0"/>
              <a:t>In the Computer Maintenance environment, this scenario would be coded as: [[`files disappearing', `visible markings on components'], [`</a:t>
            </a:r>
            <a:r>
              <a:rPr lang="en-CA" noProof="0" dirty="0" err="1"/>
              <a:t>MoBo</a:t>
            </a:r>
            <a:r>
              <a:rPr lang="en-CA" noProof="0" dirty="0"/>
              <a:t>', `SSD'], [`physical damage', `software damage'], [`replace components’]].</a:t>
            </a:r>
          </a:p>
          <a:p>
            <a:pPr marL="628650" lvl="1" indent="-171450">
              <a:buFont typeface="Arial" panose="020B0604020202020204" pitchFamily="34" charset="0"/>
              <a:buChar char="•"/>
            </a:pPr>
            <a:endParaRPr lang="en-CA" noProof="0" dirty="0"/>
          </a:p>
          <a:p>
            <a:pPr marL="628650" lvl="1" indent="-171450">
              <a:buFont typeface="Arial" panose="020B0604020202020204" pitchFamily="34" charset="0"/>
              <a:buChar char="•"/>
            </a:pPr>
            <a:endParaRPr lang="en-CA" noProof="0" dirty="0"/>
          </a:p>
          <a:p>
            <a:pPr marL="0" lvl="0" indent="0">
              <a:buFont typeface="Arial" panose="020B0604020202020204" pitchFamily="34" charset="0"/>
              <a:buNone/>
            </a:pPr>
            <a:r>
              <a:rPr lang="en-CA" noProof="0" dirty="0" err="1"/>
              <a:t>mePS</a:t>
            </a:r>
            <a:r>
              <a:rPr lang="en-CA" noProof="0" dirty="0"/>
              <a:t> agent can handle this complex environment well and inductive bias helps them to learn faster compared with unrestricted agent</a:t>
            </a:r>
          </a:p>
          <a:p>
            <a:endParaRPr lang="en-CA" dirty="0"/>
          </a:p>
        </p:txBody>
      </p:sp>
      <p:sp>
        <p:nvSpPr>
          <p:cNvPr id="4" name="Slide Number Placeholder 3"/>
          <p:cNvSpPr>
            <a:spLocks noGrp="1"/>
          </p:cNvSpPr>
          <p:nvPr>
            <p:ph type="sldNum" sz="quarter" idx="5"/>
          </p:nvPr>
        </p:nvSpPr>
        <p:spPr/>
        <p:txBody>
          <a:bodyPr/>
          <a:lstStyle/>
          <a:p>
            <a:fld id="{E40720B4-AB10-0342-9541-2DF5352E8B38}" type="slidenum">
              <a:rPr lang="en-CA" smtClean="0"/>
              <a:t>11</a:t>
            </a:fld>
            <a:endParaRPr lang="en-CA"/>
          </a:p>
        </p:txBody>
      </p:sp>
    </p:spTree>
    <p:extLst>
      <p:ext uri="{BB962C8B-B14F-4D97-AF65-F5344CB8AC3E}">
        <p14:creationId xmlns:p14="http://schemas.microsoft.com/office/powerpoint/2010/main" val="19125860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noProof="0" dirty="0"/>
              <a:t>Timing: 1:35-2:25. Introduce the single running example. In the computer-maintenance environment, the technician observes symptoms and has to infer components and causes before selecting fixes. A single-excitation PS path can still be readable, but its current clip must package the relevant short-term context. If files disappearing and visible markings indicate a coupled MoBo/SSD problem with physical and software damage, the representation we want is not one large composite label. We want the elementary facts to remain separate while still being part of the same deliberation.</a:t>
            </a:r>
          </a:p>
          <a:p>
            <a:r>
              <a:rPr lang="en-CA" noProof="0" dirty="0"/>
              <a:t>[Sources]</a:t>
            </a:r>
          </a:p>
          <a:p>
            <a:r>
              <a:rPr lang="en-CA" noProof="0" dirty="0"/>
              <a:t>- </a:t>
            </a:r>
            <a:r>
              <a:rPr lang="en-CA" noProof="0" dirty="0" err="1"/>
              <a:t>AIJ_new.tex</a:t>
            </a:r>
            <a:r>
              <a:rPr lang="en-CA" noProof="0" dirty="0"/>
              <a:t> lines 638-680 define the Computer Maintenance environment, the symptom/component/cause/fix sets, and the example scenario involving files disappearing, visible markings, MoBo, SSD, physical damage, software damage, and replace components.</a:t>
            </a:r>
          </a:p>
          <a:p>
            <a:r>
              <a:rPr lang="en-CA" noProof="0" dirty="0"/>
              <a:t>- </a:t>
            </a:r>
            <a:r>
              <a:rPr lang="en-CA" noProof="0" dirty="0" err="1"/>
              <a:t>AIJ_new.tex</a:t>
            </a:r>
            <a:r>
              <a:rPr lang="en-CA" noProof="0" dirty="0"/>
              <a:t> lines 228-236 motivate multiple excitations by noting that PS cannot naturally represent composite reasoning steps.</a:t>
            </a:r>
          </a:p>
          <a:p>
            <a:endParaRPr lang="en-CA" noProof="0" dirty="0"/>
          </a:p>
          <a:p>
            <a:endParaRPr lang="en-CA" noProof="0" dirty="0"/>
          </a:p>
          <a:p>
            <a:r>
              <a:rPr lang="en-CA" noProof="0" dirty="0"/>
              <a:t>Timing: 4:00-5:10. This is the only example slide to discuss in detail. The customer brings a broken computer. Symptoms enter as percepts. The MEPS agent moves through a hidden layer whose active clips encode component-cause hypotheses, and then moves to fixes. The explanation is not a post-hoc label attached after the action. It is the sampled sequence of active percepts, intermediate hypotheses, and fixes. The reward is split into hypothesis and plausibility parts so that the intermediate layer receives feedback as an explanation layer rather than becoming an opaque bridge.</a:t>
            </a:r>
          </a:p>
          <a:p>
            <a:r>
              <a:rPr lang="en-CA" noProof="0" dirty="0"/>
              <a:t>[Sources]</a:t>
            </a:r>
          </a:p>
          <a:p>
            <a:r>
              <a:rPr lang="en-CA" noProof="0" dirty="0"/>
              <a:t>- Paper Figure 8, </a:t>
            </a:r>
            <a:r>
              <a:rPr lang="en-CA" noProof="0" dirty="0" err="1"/>
              <a:t>arXiv</a:t>
            </a:r>
            <a:r>
              <a:rPr lang="en-CA" noProof="0" dirty="0"/>
              <a:t> v4 source file CompMaintenance_v2.png.</a:t>
            </a:r>
          </a:p>
          <a:p>
            <a:r>
              <a:rPr lang="en-CA" noProof="0" dirty="0"/>
              <a:t>- </a:t>
            </a:r>
            <a:r>
              <a:rPr lang="en-CA" noProof="0" dirty="0" err="1"/>
              <a:t>AIJ_new.tex</a:t>
            </a:r>
            <a:r>
              <a:rPr lang="en-CA" noProof="0" dirty="0"/>
              <a:t> lines 680-718 describe the hidden component-cause layer, the split hypothesis and plausibility rewards, and the role of internal consistency in the Computer Maintenance environment.</a:t>
            </a:r>
          </a:p>
          <a:p>
            <a:endParaRPr lang="en-CA" noProof="0" dirty="0"/>
          </a:p>
          <a:p>
            <a:endParaRPr lang="en-CA" noProof="0" dirty="0"/>
          </a:p>
          <a:p>
            <a:r>
              <a:rPr lang="en-CA" noProof="0" dirty="0"/>
              <a:t>Demonstrate </a:t>
            </a:r>
            <a:r>
              <a:rPr lang="en-CA" noProof="0" dirty="0" err="1"/>
              <a:t>mePS</a:t>
            </a:r>
            <a:r>
              <a:rPr lang="en-CA" noProof="0" dirty="0"/>
              <a:t> and inductive bias on a real-world-inspired task: computer maintenance</a:t>
            </a:r>
          </a:p>
          <a:p>
            <a:endParaRPr lang="en-CA" noProof="0" dirty="0"/>
          </a:p>
          <a:p>
            <a:r>
              <a:rPr lang="en-CA" noProof="0" dirty="0"/>
              <a:t>Here we use a 3-layer agent where intermediate layer represents hypotheses about causes of problems</a:t>
            </a:r>
          </a:p>
          <a:p>
            <a:endParaRPr lang="en-CA" noProof="0" dirty="0"/>
          </a:p>
          <a:p>
            <a:r>
              <a:rPr lang="en-CA" noProof="0" dirty="0"/>
              <a:t>We get around credit assignment issues by using dual rewards that apply to different layers; one of these rewards (plausibility) encodes causal relations between causes and fixes, </a:t>
            </a:r>
          </a:p>
          <a:p>
            <a:r>
              <a:rPr lang="en-CA" noProof="0" dirty="0"/>
              <a:t>which provides weak generalization capability since transitions that are not associated with specific scenarios will get trained </a:t>
            </a:r>
          </a:p>
          <a:p>
            <a:endParaRPr lang="en-CA" noProof="0" dirty="0"/>
          </a:p>
          <a:p>
            <a:r>
              <a:rPr lang="en-CA" noProof="0" dirty="0"/>
              <a:t>For Computer diagram:</a:t>
            </a:r>
          </a:p>
          <a:p>
            <a:pPr marL="171450" indent="-171450">
              <a:buFont typeface="Arial" panose="020B0604020202020204" pitchFamily="34" charset="0"/>
              <a:buChar char="•"/>
            </a:pPr>
            <a:r>
              <a:rPr lang="en-CA" noProof="0" dirty="0"/>
              <a:t>The boxes denote pairs of hyperedges that the agent can transition to/from. </a:t>
            </a:r>
          </a:p>
          <a:p>
            <a:pPr marL="171450" indent="-171450">
              <a:buFont typeface="Arial" panose="020B0604020202020204" pitchFamily="34" charset="0"/>
              <a:buChar char="•"/>
            </a:pPr>
            <a:r>
              <a:rPr lang="en-CA" noProof="0" dirty="0"/>
              <a:t>The agent first observes a pair of symptoms that get coupled into a percept hyperedge $S_1$ which triggers deliberation through pairs of components/causes ($</a:t>
            </a:r>
            <a:r>
              <a:rPr lang="en-CA" noProof="0" dirty="0" err="1"/>
              <a:t>C_i</a:t>
            </a:r>
            <a:r>
              <a:rPr lang="en-CA" noProof="0" dirty="0"/>
              <a:t>, C^{'}_j$) and components/fixes ($</a:t>
            </a:r>
            <a:r>
              <a:rPr lang="en-CA" noProof="0" dirty="0" err="1"/>
              <a:t>C_i</a:t>
            </a:r>
            <a:r>
              <a:rPr lang="en-CA" noProof="0" dirty="0"/>
              <a:t>, </a:t>
            </a:r>
            <a:r>
              <a:rPr lang="en-CA" noProof="0" dirty="0" err="1"/>
              <a:t>A_j</a:t>
            </a:r>
            <a:r>
              <a:rPr lang="en-CA" noProof="0" dirty="0"/>
              <a:t>$), ending with a chain-of-thought that the agent then converts into an explanation to the customer who determines their reward. </a:t>
            </a:r>
          </a:p>
          <a:p>
            <a:pPr marL="171450" indent="-171450">
              <a:buFont typeface="Arial" panose="020B0604020202020204" pitchFamily="34" charset="0"/>
              <a:buChar char="•"/>
            </a:pPr>
            <a:r>
              <a:rPr lang="en-CA" noProof="0" dirty="0"/>
              <a:t>As an example, consider a clumsy owner who drops their computer on the ground, causing physical damage to the motherboard (</a:t>
            </a:r>
            <a:r>
              <a:rPr lang="en-CA" noProof="0" dirty="0" err="1"/>
              <a:t>MoBo</a:t>
            </a:r>
            <a:r>
              <a:rPr lang="en-CA" noProof="0" dirty="0"/>
              <a:t>) that results in a software error in the storage unit (SSD), leading to physical damage in the SSD, which then also causes physical damage to the </a:t>
            </a:r>
            <a:r>
              <a:rPr lang="en-CA" noProof="0" dirty="0" err="1"/>
              <a:t>MoBo</a:t>
            </a:r>
            <a:r>
              <a:rPr lang="en-CA" noProof="0" dirty="0"/>
              <a:t> in a feedback loop. Such a situation in which software interacts with hardware can occur when faulty programs overuse resources (resulting in heat or electrical damage to the computer) or create conflicting processes that lead to this. </a:t>
            </a:r>
          </a:p>
          <a:p>
            <a:pPr marL="628650" lvl="1" indent="-171450">
              <a:buFont typeface="Arial" panose="020B0604020202020204" pitchFamily="34" charset="0"/>
              <a:buChar char="•"/>
            </a:pPr>
            <a:r>
              <a:rPr lang="en-CA" noProof="0" dirty="0"/>
              <a:t>In the Computer Maintenance environment, this scenario would be coded as: [[`files disappearing', `visible markings on components'], [`</a:t>
            </a:r>
            <a:r>
              <a:rPr lang="en-CA" noProof="0" dirty="0" err="1"/>
              <a:t>MoBo</a:t>
            </a:r>
            <a:r>
              <a:rPr lang="en-CA" noProof="0" dirty="0"/>
              <a:t>', `SSD'], [`physical damage', `software damage'], [`replace components’]].</a:t>
            </a:r>
          </a:p>
          <a:p>
            <a:pPr marL="628650" lvl="1" indent="-171450">
              <a:buFont typeface="Arial" panose="020B0604020202020204" pitchFamily="34" charset="0"/>
              <a:buChar char="•"/>
            </a:pPr>
            <a:endParaRPr lang="en-CA" noProof="0" dirty="0"/>
          </a:p>
          <a:p>
            <a:pPr marL="628650" lvl="1" indent="-171450">
              <a:buFont typeface="Arial" panose="020B0604020202020204" pitchFamily="34" charset="0"/>
              <a:buChar char="•"/>
            </a:pPr>
            <a:endParaRPr lang="en-CA" noProof="0" dirty="0"/>
          </a:p>
          <a:p>
            <a:pPr marL="0" lvl="0" indent="0">
              <a:buFont typeface="Arial" panose="020B0604020202020204" pitchFamily="34" charset="0"/>
              <a:buNone/>
            </a:pPr>
            <a:r>
              <a:rPr lang="en-CA" noProof="0" dirty="0" err="1"/>
              <a:t>mePS</a:t>
            </a:r>
            <a:r>
              <a:rPr lang="en-CA" noProof="0" dirty="0"/>
              <a:t> agent can handle this complex environment well and inductive bias helps them to learn faster compared with unrestricted agent</a:t>
            </a:r>
          </a:p>
          <a:p>
            <a:endParaRPr lang="en-CA" dirty="0"/>
          </a:p>
        </p:txBody>
      </p:sp>
      <p:sp>
        <p:nvSpPr>
          <p:cNvPr id="4" name="Slide Number Placeholder 3"/>
          <p:cNvSpPr>
            <a:spLocks noGrp="1"/>
          </p:cNvSpPr>
          <p:nvPr>
            <p:ph type="sldNum" sz="quarter" idx="5"/>
          </p:nvPr>
        </p:nvSpPr>
        <p:spPr/>
        <p:txBody>
          <a:bodyPr/>
          <a:lstStyle/>
          <a:p>
            <a:fld id="{E40720B4-AB10-0342-9541-2DF5352E8B38}" type="slidenum">
              <a:rPr lang="en-CA" smtClean="0"/>
              <a:t>12</a:t>
            </a:fld>
            <a:endParaRPr lang="en-CA"/>
          </a:p>
        </p:txBody>
      </p:sp>
    </p:spTree>
    <p:extLst>
      <p:ext uri="{BB962C8B-B14F-4D97-AF65-F5344CB8AC3E}">
        <p14:creationId xmlns:p14="http://schemas.microsoft.com/office/powerpoint/2010/main" val="2721581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lvl="0" indent="0">
                  <a:buFont typeface="Arial" panose="020B0604020202020204" pitchFamily="34" charset="0"/>
                  <a:buNone/>
                </a:pPr>
                <a:r>
                  <a:rPr lang="en-CA" noProof="0" dirty="0"/>
                  <a:t>Timing: 5:10-6:00. Close with only the computer-maintenance evidence. The inductive-bias MEPS agent uses 114,375 trainable parameters, while the unrestricted MEPS and tabular PS-inspired multi-layer Q-learning baselines use 1,429,968. The inductive-bias agent reaches near-optimal hypothesis and plausibility rewards with about 16,766 average steps to optimum, compared with 35,817 and 115,261 for the two baselines. Close by restating the conceptual message: MEPS preserves the PS random-walk interpretation, but the state of the walk is rich enough to represent several active concepts.</a:t>
                </a:r>
              </a:p>
              <a:p>
                <a:pPr marL="0" lvl="0" indent="0">
                  <a:buFont typeface="Arial" panose="020B0604020202020204" pitchFamily="34" charset="0"/>
                  <a:buNone/>
                </a:pPr>
                <a:r>
                  <a:rPr lang="en-CA" noProof="0" dirty="0"/>
                  <a:t>[Sources]</a:t>
                </a:r>
              </a:p>
              <a:p>
                <a:pPr marL="0" lvl="0" indent="0">
                  <a:buFont typeface="Arial" panose="020B0604020202020204" pitchFamily="34" charset="0"/>
                  <a:buNone/>
                </a:pPr>
                <a:r>
                  <a:rPr lang="en-CA" noProof="0" dirty="0"/>
                  <a:t>- Paper Figure 9, </a:t>
                </a:r>
                <a:r>
                  <a:rPr lang="en-CA" noProof="0" dirty="0" err="1"/>
                  <a:t>arXiv</a:t>
                </a:r>
                <a:r>
                  <a:rPr lang="en-CA" noProof="0" dirty="0"/>
                  <a:t> v4 source file BrokenComp_InductiveBiasandQ_Training_New2.png.</a:t>
                </a:r>
              </a:p>
              <a:p>
                <a:pPr marL="0" lvl="0" indent="0">
                  <a:buFont typeface="Arial" panose="020B0604020202020204" pitchFamily="34" charset="0"/>
                  <a:buNone/>
                </a:pPr>
                <a:r>
                  <a:rPr lang="en-CA" noProof="0" dirty="0"/>
                  <a:t>- </a:t>
                </a:r>
                <a:r>
                  <a:rPr lang="en-CA" noProof="0" dirty="0" err="1"/>
                  <a:t>AIJ_new.tex</a:t>
                </a:r>
                <a:r>
                  <a:rPr lang="en-CA" noProof="0" dirty="0"/>
                  <a:t> lines 688-718 give the 114,375 vs. 1,429,968 trainable parameter comparison and the average step totals 16,766, 35,817, and 115,261.</a:t>
                </a:r>
              </a:p>
              <a:p>
                <a:pPr marL="0" lvl="0" indent="0">
                  <a:buFont typeface="Arial" panose="020B0604020202020204" pitchFamily="34" charset="0"/>
                  <a:buNone/>
                </a:pPr>
                <a:r>
                  <a:rPr lang="en-CA" noProof="0" dirty="0"/>
                  <a:t>- </a:t>
                </a:r>
                <a:r>
                  <a:rPr lang="en-CA" noProof="0" dirty="0" err="1"/>
                  <a:t>MariusKrumm</a:t>
                </a:r>
                <a:r>
                  <a:rPr lang="en-CA" noProof="0" dirty="0"/>
                  <a:t>/</a:t>
                </a:r>
                <a:r>
                  <a:rPr lang="en-CA" noProof="0" dirty="0" err="1"/>
                  <a:t>ManyBodyMEPS</a:t>
                </a:r>
                <a:r>
                  <a:rPr lang="en-CA" noProof="0" dirty="0"/>
                  <a:t> GitHub repository provides code and results for the MEPS paper.</a:t>
                </a:r>
              </a:p>
              <a:p>
                <a:pPr marL="0" lvl="0" indent="0">
                  <a:buFont typeface="Arial" panose="020B0604020202020204" pitchFamily="34" charset="0"/>
                  <a:buNone/>
                </a:pPr>
                <a:endParaRPr lang="en-CA" noProof="0" dirty="0"/>
              </a:p>
              <a:p>
                <a:pPr marL="0" lvl="0" indent="0">
                  <a:buFont typeface="Arial" panose="020B0604020202020204" pitchFamily="34" charset="0"/>
                  <a:buNone/>
                </a:pPr>
                <a:r>
                  <a:rPr lang="en-CA" noProof="0" dirty="0" err="1"/>
                  <a:t>mePS</a:t>
                </a:r>
                <a:r>
                  <a:rPr lang="en-CA" noProof="0" dirty="0"/>
                  <a:t> agent can handle this complex environment well and inductive bias helps them to learn faster compared with unrestricted agent</a:t>
                </a:r>
              </a:p>
              <a:p>
                <a:pPr marL="0" lvl="0" indent="0">
                  <a:buFont typeface="Arial" panose="020B0604020202020204" pitchFamily="34" charset="0"/>
                  <a:buNone/>
                </a:pPr>
                <a:endParaRPr lang="en-CA" noProof="0"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cs typeface="Arial" panose="020B0604020202020204" pitchFamily="34" charset="0"/>
                  </a:rPr>
                  <a:t>Both inductive bias and unrestricted agents learn to fix many different computer problems near-optimally</a:t>
                </a:r>
                <a:endParaRPr lang="en-US" sz="800" dirty="0">
                  <a:cs typeface="Arial" panose="020B0604020202020204" pitchFamily="34" charset="0"/>
                </a:endParaRPr>
              </a:p>
              <a:p>
                <a:pPr marL="0" lvl="0" indent="0">
                  <a:buFont typeface="Arial" panose="020B0604020202020204" pitchFamily="34" charset="0"/>
                  <a:buNone/>
                </a:pPr>
                <a:endParaRPr lang="en-CA" noProof="0"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cs typeface="Arial" panose="020B0604020202020204" pitchFamily="34" charset="0"/>
                  </a:rPr>
                  <a:t>Inductive bias helps the agent to find the solution much faster</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cs typeface="Arial" panose="020B0604020202020204" pitchFamily="34" charset="0"/>
                  </a:rPr>
                  <a:t>- </a:t>
                </a:r>
                <a:r>
                  <a:rPr lang="en-CA" dirty="0"/>
                  <a:t>Difference of </a:t>
                </a:r>
                <a14:m>
                  <m:oMath xmlns:m="http://schemas.openxmlformats.org/officeDocument/2006/math">
                    <m:r>
                      <a:rPr lang="en-CA"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2700</m:t>
                    </m:r>
                  </m:oMath>
                </a14:m>
                <a:r>
                  <a:rPr lang="en-CA" dirty="0"/>
                  <a:t> steps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de-AT"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dirty="0"/>
                  <a:t>Comparable performance from inductive bias agent using 16x less parameters!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CA"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dirty="0"/>
                  <a:t>So what we have here is </a:t>
                </a:r>
              </a:p>
              <a:p>
                <a:pPr marL="0" lvl="0" indent="0">
                  <a:buFont typeface="Arial" panose="020B0604020202020204" pitchFamily="34" charset="0"/>
                  <a:buNone/>
                </a:pPr>
                <a:endParaRPr lang="en-CA" noProof="0" dirty="0"/>
              </a:p>
              <a:p>
                <a:endParaRPr lang="en-CA" dirty="0"/>
              </a:p>
              <a:p>
                <a:endParaRPr lang="en-CA" dirty="0"/>
              </a:p>
            </p:txBody>
          </p:sp>
        </mc:Choice>
        <mc:Fallback xmlns="">
          <p:sp>
            <p:nvSpPr>
              <p:cNvPr id="3" name="Notes Placeholder 2"/>
              <p:cNvSpPr>
                <a:spLocks noGrp="1"/>
              </p:cNvSpPr>
              <p:nvPr>
                <p:ph type="body" idx="1"/>
              </p:nvPr>
            </p:nvSpPr>
            <p:spPr/>
            <p:txBody>
              <a:bodyPr/>
              <a:lstStyle/>
              <a:p>
                <a:pPr marL="0" lvl="0" indent="0">
                  <a:buFont typeface="Arial" panose="020B0604020202020204" pitchFamily="34" charset="0"/>
                  <a:buNone/>
                </a:pPr>
                <a:r>
                  <a:rPr lang="en-CA" noProof="0" dirty="0" err="1"/>
                  <a:t>mePS</a:t>
                </a:r>
                <a:r>
                  <a:rPr lang="en-CA" noProof="0" dirty="0"/>
                  <a:t> agent can handle this complex environment well and inductive bias helps them to learn faster compared with unrestricted agent</a:t>
                </a:r>
              </a:p>
              <a:p>
                <a:pPr marL="0" lvl="0" indent="0">
                  <a:buFont typeface="Arial" panose="020B0604020202020204" pitchFamily="34" charset="0"/>
                  <a:buNone/>
                </a:pPr>
                <a:endParaRPr lang="en-CA" noProof="0"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cs typeface="Arial" panose="020B0604020202020204" pitchFamily="34" charset="0"/>
                  </a:rPr>
                  <a:t>Both inductive bias and unrestricted agents learn to fix many different computer problems near-optimally</a:t>
                </a:r>
                <a:endParaRPr lang="en-US" sz="800" dirty="0">
                  <a:cs typeface="Arial" panose="020B0604020202020204" pitchFamily="34" charset="0"/>
                </a:endParaRPr>
              </a:p>
              <a:p>
                <a:pPr marL="0" lvl="0" indent="0">
                  <a:buFont typeface="Arial" panose="020B0604020202020204" pitchFamily="34" charset="0"/>
                  <a:buNone/>
                </a:pPr>
                <a:endParaRPr lang="en-CA" noProof="0"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cs typeface="Arial" panose="020B0604020202020204" pitchFamily="34" charset="0"/>
                  </a:rPr>
                  <a:t>Inductive bias helps the agent to find the solution much faster</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cs typeface="Arial" panose="020B0604020202020204" pitchFamily="34" charset="0"/>
                  </a:rPr>
                  <a:t>- </a:t>
                </a:r>
                <a:r>
                  <a:rPr lang="en-CA" dirty="0"/>
                  <a:t>Difference of </a:t>
                </a:r>
                <a:r>
                  <a:rPr lang="en-CA" i="0">
                    <a:latin typeface="Cambria Math" panose="02040503050406030204" pitchFamily="18" charset="0"/>
                    <a:ea typeface="Cambria Math" panose="02040503050406030204" pitchFamily="18" charset="0"/>
                  </a:rPr>
                  <a:t>~</a:t>
                </a:r>
                <a:r>
                  <a:rPr lang="en-US" b="0" i="0">
                    <a:latin typeface="Cambria Math" panose="02040503050406030204" pitchFamily="18" charset="0"/>
                    <a:ea typeface="Cambria Math" panose="02040503050406030204" pitchFamily="18" charset="0"/>
                  </a:rPr>
                  <a:t>2700</a:t>
                </a:r>
                <a:r>
                  <a:rPr lang="en-CA" dirty="0"/>
                  <a:t> steps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de-AT"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dirty="0"/>
                  <a:t>Comparable performance from inductive bias agent using 16x less parameters!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CA"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CA" dirty="0"/>
                  <a:t>So what we have here is </a:t>
                </a:r>
              </a:p>
              <a:p>
                <a:pPr marL="0" lvl="0" indent="0">
                  <a:buFont typeface="Arial" panose="020B0604020202020204" pitchFamily="34" charset="0"/>
                  <a:buNone/>
                </a:pPr>
                <a:endParaRPr lang="en-CA" noProof="0" dirty="0"/>
              </a:p>
              <a:p>
                <a:endParaRPr lang="en-CA" dirty="0"/>
              </a:p>
              <a:p>
                <a:endParaRPr lang="en-CA" dirty="0"/>
              </a:p>
            </p:txBody>
          </p:sp>
        </mc:Fallback>
      </mc:AlternateContent>
      <p:sp>
        <p:nvSpPr>
          <p:cNvPr id="4" name="Slide Number Placeholder 3"/>
          <p:cNvSpPr>
            <a:spLocks noGrp="1"/>
          </p:cNvSpPr>
          <p:nvPr>
            <p:ph type="sldNum" sz="quarter" idx="5"/>
          </p:nvPr>
        </p:nvSpPr>
        <p:spPr/>
        <p:txBody>
          <a:bodyPr/>
          <a:lstStyle/>
          <a:p>
            <a:fld id="{E40720B4-AB10-0342-9541-2DF5352E8B38}" type="slidenum">
              <a:rPr lang="en-CA" smtClean="0"/>
              <a:t>13</a:t>
            </a:fld>
            <a:endParaRPr lang="en-CA"/>
          </a:p>
        </p:txBody>
      </p:sp>
    </p:spTree>
    <p:extLst>
      <p:ext uri="{BB962C8B-B14F-4D97-AF65-F5344CB8AC3E}">
        <p14:creationId xmlns:p14="http://schemas.microsoft.com/office/powerpoint/2010/main" val="35084377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14:m>
                  <m:oMathPara xmlns:m="http://schemas.openxmlformats.org/officeDocument/2006/math">
                    <m:oMathParaPr>
                      <m:jc m:val="centerGroup"/>
                    </m:oMathParaPr>
                    <m:oMath xmlns:m="http://schemas.openxmlformats.org/officeDocument/2006/math">
                      <m:acc>
                        <m:accPr>
                          <m:chr m:val="̂"/>
                          <m:ctrlPr>
                            <a:rPr lang="en-CA" sz="1200" i="1" dirty="0" smtClean="0">
                              <a:latin typeface="Cambria Math" panose="02040503050406030204" pitchFamily="18" charset="0"/>
                            </a:rPr>
                          </m:ctrlPr>
                        </m:accPr>
                        <m:e>
                          <m:r>
                            <a:rPr lang="en-CA" sz="1200" b="0" i="1" dirty="0" smtClean="0">
                              <a:latin typeface="Cambria Math" panose="02040503050406030204" pitchFamily="18" charset="0"/>
                            </a:rPr>
                            <m:t>𝑉</m:t>
                          </m:r>
                        </m:e>
                      </m:acc>
                      <m:d>
                        <m:dPr>
                          <m:ctrlPr>
                            <a:rPr lang="en-CA" sz="1200" i="1" dirty="0" smtClean="0">
                              <a:latin typeface="Cambria Math" panose="02040503050406030204" pitchFamily="18" charset="0"/>
                            </a:rPr>
                          </m:ctrlPr>
                        </m:dPr>
                        <m:e>
                          <m:r>
                            <a:rPr lang="en-CA" sz="1200" b="0" i="1" dirty="0" smtClean="0">
                              <a:latin typeface="Cambria Math" panose="02040503050406030204" pitchFamily="18" charset="0"/>
                            </a:rPr>
                            <m:t>𝜏</m:t>
                          </m:r>
                          <m:r>
                            <a:rPr lang="en-CA" sz="1200" b="0" i="1" dirty="0" smtClean="0">
                              <a:latin typeface="Cambria Math" panose="02040503050406030204" pitchFamily="18" charset="0"/>
                            </a:rPr>
                            <m:t>, </m:t>
                          </m:r>
                          <m:sSub>
                            <m:sSubPr>
                              <m:ctrlPr>
                                <a:rPr lang="en-CA" sz="1200" b="0" i="1" dirty="0" smtClean="0">
                                  <a:latin typeface="Cambria Math" panose="02040503050406030204" pitchFamily="18" charset="0"/>
                                </a:rPr>
                              </m:ctrlPr>
                            </m:sSubPr>
                            <m:e>
                              <m:r>
                                <a:rPr lang="en-CA" sz="1200" b="0" i="1" dirty="0" smtClean="0">
                                  <a:latin typeface="Cambria Math" panose="02040503050406030204" pitchFamily="18" charset="0"/>
                                </a:rPr>
                                <m:t>𝜏</m:t>
                              </m:r>
                            </m:e>
                            <m:sub>
                              <m:r>
                                <a:rPr lang="en-CA" sz="1200" b="0" i="1" dirty="0" smtClean="0">
                                  <a:latin typeface="Cambria Math" panose="02040503050406030204" pitchFamily="18" charset="0"/>
                                </a:rPr>
                                <m:t>0</m:t>
                              </m:r>
                            </m:sub>
                          </m:sSub>
                        </m:e>
                      </m:d>
                      <m:r>
                        <a:rPr lang="en-CA" sz="1200" i="1" dirty="0">
                          <a:latin typeface="Cambria Math" panose="02040503050406030204" pitchFamily="18" charset="0"/>
                        </a:rPr>
                        <m:t>=</m:t>
                      </m:r>
                      <m:r>
                        <a:rPr lang="en-CA" sz="1200" i="1" dirty="0" smtClean="0">
                          <a:latin typeface="Cambria Math" panose="02040503050406030204" pitchFamily="18" charset="0"/>
                        </a:rPr>
                        <m:t>𝒯</m:t>
                      </m:r>
                      <m:sSup>
                        <m:sSupPr>
                          <m:ctrlPr>
                            <a:rPr lang="en-CA" sz="1200" i="1" dirty="0">
                              <a:latin typeface="Cambria Math" panose="02040503050406030204" pitchFamily="18" charset="0"/>
                            </a:rPr>
                          </m:ctrlPr>
                        </m:sSupPr>
                        <m:e>
                          <m:r>
                            <a:rPr lang="en-CA" sz="1200" i="1" dirty="0">
                              <a:latin typeface="Cambria Math" panose="02040503050406030204" pitchFamily="18" charset="0"/>
                            </a:rPr>
                            <m:t>𝑒</m:t>
                          </m:r>
                        </m:e>
                        <m:sup>
                          <m:r>
                            <a:rPr lang="en-CA" sz="1200" i="1" dirty="0" err="1">
                              <a:latin typeface="Cambria Math" panose="02040503050406030204" pitchFamily="18" charset="0"/>
                            </a:rPr>
                            <m:t>𝑖</m:t>
                          </m:r>
                          <m:nary>
                            <m:naryPr>
                              <m:ctrlPr>
                                <a:rPr lang="en-CA" sz="1200" i="1" dirty="0" smtClean="0">
                                  <a:latin typeface="Cambria Math" panose="02040503050406030204" pitchFamily="18" charset="0"/>
                                </a:rPr>
                              </m:ctrlPr>
                            </m:naryPr>
                            <m:sub>
                              <m:sSub>
                                <m:sSubPr>
                                  <m:ctrlPr>
                                    <a:rPr lang="en-CA" sz="1200" b="0" i="1" dirty="0" smtClean="0">
                                      <a:latin typeface="Cambria Math" panose="02040503050406030204" pitchFamily="18" charset="0"/>
                                    </a:rPr>
                                  </m:ctrlPr>
                                </m:sSubPr>
                                <m:e>
                                  <m:r>
                                    <a:rPr lang="en-CA" sz="1200" b="0" i="1" dirty="0" smtClean="0">
                                      <a:latin typeface="Cambria Math" panose="02040503050406030204" pitchFamily="18" charset="0"/>
                                    </a:rPr>
                                    <m:t>𝜏</m:t>
                                  </m:r>
                                </m:e>
                                <m:sub>
                                  <m:r>
                                    <a:rPr lang="en-CA" sz="1200" b="0" i="1" dirty="0" smtClean="0">
                                      <a:latin typeface="Cambria Math" panose="02040503050406030204" pitchFamily="18" charset="0"/>
                                    </a:rPr>
                                    <m:t>0</m:t>
                                  </m:r>
                                </m:sub>
                              </m:sSub>
                            </m:sub>
                            <m:sup>
                              <m:r>
                                <a:rPr lang="en-CA" sz="1200" b="0" i="1" dirty="0" smtClean="0">
                                  <a:latin typeface="Cambria Math" panose="02040503050406030204" pitchFamily="18" charset="0"/>
                                </a:rPr>
                                <m:t>𝜏</m:t>
                              </m:r>
                            </m:sup>
                            <m:e>
                              <m:r>
                                <a:rPr lang="en-CA" sz="1200" b="0" i="1" dirty="0" smtClean="0">
                                  <a:latin typeface="Cambria Math" panose="02040503050406030204" pitchFamily="18" charset="0"/>
                                </a:rPr>
                                <m:t>𝑑𝑡</m:t>
                              </m:r>
                            </m:e>
                          </m:nary>
                          <m:acc>
                            <m:accPr>
                              <m:chr m:val="̂"/>
                              <m:ctrlPr>
                                <a:rPr lang="en-CA" sz="1200" i="1" dirty="0">
                                  <a:latin typeface="Cambria Math" panose="02040503050406030204" pitchFamily="18" charset="0"/>
                                </a:rPr>
                              </m:ctrlPr>
                            </m:accPr>
                            <m:e>
                              <m:r>
                                <a:rPr lang="en-CA" sz="1200" i="1" dirty="0">
                                  <a:latin typeface="Cambria Math" panose="02040503050406030204" pitchFamily="18" charset="0"/>
                                </a:rPr>
                                <m:t>𝐻</m:t>
                              </m:r>
                              <m:d>
                                <m:dPr>
                                  <m:ctrlPr>
                                    <a:rPr lang="en-CA" sz="1200" b="0" i="1" dirty="0" smtClean="0">
                                      <a:latin typeface="Cambria Math" panose="02040503050406030204" pitchFamily="18" charset="0"/>
                                    </a:rPr>
                                  </m:ctrlPr>
                                </m:dPr>
                                <m:e>
                                  <m:r>
                                    <a:rPr lang="en-CA" sz="1200" b="0" i="1" dirty="0" smtClean="0">
                                      <a:latin typeface="Cambria Math" panose="02040503050406030204" pitchFamily="18" charset="0"/>
                                    </a:rPr>
                                    <m:t>𝑡</m:t>
                                  </m:r>
                                </m:e>
                              </m:d>
                            </m:e>
                          </m:acc>
                        </m:sup>
                      </m:sSup>
                      <m:r>
                        <a:rPr lang="en-CA" sz="1200" b="0" i="1" dirty="0" smtClean="0">
                          <a:latin typeface="Cambria Math" panose="02040503050406030204" pitchFamily="18" charset="0"/>
                        </a:rPr>
                        <m:t>=</m:t>
                      </m:r>
                      <m:func>
                        <m:funcPr>
                          <m:ctrlPr>
                            <a:rPr lang="pt-BR" sz="1200" b="0" i="1" dirty="0" smtClean="0">
                              <a:latin typeface="Cambria Math" panose="02040503050406030204" pitchFamily="18" charset="0"/>
                            </a:rPr>
                          </m:ctrlPr>
                        </m:funcPr>
                        <m:fName>
                          <m:limLow>
                            <m:limLowPr>
                              <m:ctrlPr>
                                <a:rPr lang="pt-BR" sz="1200" b="0" i="1" dirty="0" smtClean="0">
                                  <a:latin typeface="Cambria Math" panose="02040503050406030204" pitchFamily="18" charset="0"/>
                                </a:rPr>
                              </m:ctrlPr>
                            </m:limLowPr>
                            <m:e>
                              <m:r>
                                <m:rPr>
                                  <m:sty m:val="p"/>
                                </m:rPr>
                                <a:rPr lang="pt-BR" sz="1200" b="0" i="0" dirty="0" smtClean="0">
                                  <a:latin typeface="Cambria Math" panose="02040503050406030204" pitchFamily="18" charset="0"/>
                                </a:rPr>
                                <m:t>lim</m:t>
                              </m:r>
                            </m:e>
                            <m:lim>
                              <m:r>
                                <a:rPr lang="en-CA" sz="1200" b="0" i="1" dirty="0" smtClean="0">
                                  <a:latin typeface="Cambria Math" panose="02040503050406030204" pitchFamily="18" charset="0"/>
                                </a:rPr>
                                <m:t>𝑁</m:t>
                              </m:r>
                              <m:r>
                                <a:rPr lang="pt-BR" sz="1200" b="0" i="1" dirty="0" smtClean="0">
                                  <a:latin typeface="Cambria Math" panose="02040503050406030204" pitchFamily="18" charset="0"/>
                                </a:rPr>
                                <m:t>→∞</m:t>
                              </m:r>
                            </m:lim>
                          </m:limLow>
                        </m:fName>
                        <m:e>
                          <m:func>
                            <m:funcPr>
                              <m:ctrlPr>
                                <a:rPr lang="pt-BR" sz="1200" b="0" i="1" dirty="0" smtClean="0">
                                  <a:latin typeface="Cambria Math" panose="02040503050406030204" pitchFamily="18" charset="0"/>
                                </a:rPr>
                              </m:ctrlPr>
                            </m:funcPr>
                            <m:fName>
                              <m:limLow>
                                <m:limLowPr>
                                  <m:ctrlPr>
                                    <a:rPr lang="pt-BR" sz="1200" b="0" i="1" dirty="0" smtClean="0">
                                      <a:latin typeface="Cambria Math" panose="02040503050406030204" pitchFamily="18" charset="0"/>
                                    </a:rPr>
                                  </m:ctrlPr>
                                </m:limLowPr>
                                <m:e>
                                  <m:r>
                                    <m:rPr>
                                      <m:sty m:val="p"/>
                                    </m:rPr>
                                    <a:rPr lang="pt-BR" sz="1200" b="0" i="0" dirty="0" smtClean="0">
                                      <a:latin typeface="Cambria Math" panose="02040503050406030204" pitchFamily="18" charset="0"/>
                                    </a:rPr>
                                    <m:t>lim</m:t>
                                  </m:r>
                                </m:e>
                                <m:lim>
                                  <m:r>
                                    <a:rPr lang="en-CA" sz="1200" b="0" i="1" dirty="0" smtClean="0">
                                      <a:latin typeface="Cambria Math" panose="02040503050406030204" pitchFamily="18" charset="0"/>
                                    </a:rPr>
                                    <m:t>𝑘</m:t>
                                  </m:r>
                                  <m:r>
                                    <a:rPr lang="en-CA" sz="1200" b="0" i="1" dirty="0" smtClean="0">
                                      <a:latin typeface="Cambria Math" panose="02040503050406030204" pitchFamily="18" charset="0"/>
                                    </a:rPr>
                                    <m:t>→∞</m:t>
                                  </m:r>
                                </m:lim>
                              </m:limLow>
                            </m:fName>
                            <m:e>
                              <m:nary>
                                <m:naryPr>
                                  <m:chr m:val="∏"/>
                                  <m:ctrlPr>
                                    <a:rPr lang="pt-BR" sz="1200" b="0" i="1" dirty="0" smtClean="0">
                                      <a:latin typeface="Cambria Math" panose="02040503050406030204" pitchFamily="18" charset="0"/>
                                    </a:rPr>
                                  </m:ctrlPr>
                                </m:naryPr>
                                <m:sub>
                                  <m:r>
                                    <m:rPr>
                                      <m:brk m:alnAt="23"/>
                                    </m:rPr>
                                    <a:rPr lang="en-CA" sz="1200" b="0" i="1" dirty="0" smtClean="0">
                                      <a:latin typeface="Cambria Math" panose="02040503050406030204" pitchFamily="18" charset="0"/>
                                    </a:rPr>
                                    <m:t>𝑛</m:t>
                                  </m:r>
                                </m:sub>
                                <m:sup>
                                  <m:r>
                                    <a:rPr lang="en-CA" sz="1200" b="0" i="1" dirty="0" smtClean="0">
                                      <a:latin typeface="Cambria Math" panose="02040503050406030204" pitchFamily="18" charset="0"/>
                                    </a:rPr>
                                    <m:t>𝑁</m:t>
                                  </m:r>
                                </m:sup>
                                <m:e>
                                  <m:sSup>
                                    <m:sSupPr>
                                      <m:ctrlPr>
                                        <a:rPr lang="en-CA" sz="1200" b="0" i="1" dirty="0" smtClean="0">
                                          <a:latin typeface="Cambria Math" panose="02040503050406030204" pitchFamily="18" charset="0"/>
                                        </a:rPr>
                                      </m:ctrlPr>
                                    </m:sSupPr>
                                    <m:e>
                                      <m:d>
                                        <m:dPr>
                                          <m:ctrlPr>
                                            <a:rPr lang="pt-BR" sz="1200" i="1" dirty="0">
                                              <a:latin typeface="Cambria Math" panose="02040503050406030204" pitchFamily="18" charset="0"/>
                                            </a:rPr>
                                          </m:ctrlPr>
                                        </m:dPr>
                                        <m:e>
                                          <m:r>
                                            <a:rPr lang="en-CA" sz="1200" b="0" i="1" dirty="0" smtClean="0">
                                              <a:latin typeface="Cambria Math" panose="02040503050406030204" pitchFamily="18" charset="0"/>
                                            </a:rPr>
                                            <m:t>𝐼</m:t>
                                          </m:r>
                                          <m:r>
                                            <a:rPr lang="pt-BR" sz="1200" i="1" dirty="0">
                                              <a:latin typeface="Cambria Math" panose="02040503050406030204" pitchFamily="18" charset="0"/>
                                            </a:rPr>
                                            <m:t>+</m:t>
                                          </m:r>
                                          <m:f>
                                            <m:fPr>
                                              <m:ctrlPr>
                                                <a:rPr lang="pt-BR" sz="1200" i="1" dirty="0">
                                                  <a:latin typeface="Cambria Math" panose="02040503050406030204" pitchFamily="18" charset="0"/>
                                                </a:rPr>
                                              </m:ctrlPr>
                                            </m:fPr>
                                            <m:num>
                                              <m:r>
                                                <a:rPr lang="en-CA" sz="1200" b="0" i="1" dirty="0" smtClean="0">
                                                  <a:latin typeface="Cambria Math" panose="02040503050406030204" pitchFamily="18" charset="0"/>
                                                </a:rPr>
                                                <m:t>𝑖</m:t>
                                              </m:r>
                                            </m:num>
                                            <m:den>
                                              <m:r>
                                                <a:rPr lang="en-CA" sz="1200" b="0" i="1" dirty="0" smtClean="0">
                                                  <a:latin typeface="Cambria Math" panose="02040503050406030204" pitchFamily="18" charset="0"/>
                                                </a:rPr>
                                                <m:t>𝑘</m:t>
                                              </m:r>
                                            </m:den>
                                          </m:f>
                                          <m:acc>
                                            <m:accPr>
                                              <m:chr m:val="̂"/>
                                              <m:ctrlPr>
                                                <a:rPr lang="pt-BR" sz="1200" i="1" dirty="0" smtClean="0">
                                                  <a:latin typeface="Cambria Math" panose="02040503050406030204" pitchFamily="18" charset="0"/>
                                                </a:rPr>
                                              </m:ctrlPr>
                                            </m:accPr>
                                            <m:e>
                                              <m:r>
                                                <a:rPr lang="en-CA" sz="1200" b="0" i="1" dirty="0" smtClean="0">
                                                  <a:latin typeface="Cambria Math" panose="02040503050406030204" pitchFamily="18" charset="0"/>
                                                </a:rPr>
                                                <m:t>𝐻</m:t>
                                              </m:r>
                                            </m:e>
                                          </m:acc>
                                          <m:d>
                                            <m:dPr>
                                              <m:ctrlPr>
                                                <a:rPr lang="en-CA" sz="1200" i="1" dirty="0">
                                                  <a:latin typeface="Cambria Math" panose="02040503050406030204" pitchFamily="18" charset="0"/>
                                                </a:rPr>
                                              </m:ctrlPr>
                                            </m:dPr>
                                            <m:e>
                                              <m:r>
                                                <a:rPr lang="en-CA" sz="1200" b="0" i="1" dirty="0" smtClean="0">
                                                  <a:latin typeface="Cambria Math" panose="02040503050406030204" pitchFamily="18" charset="0"/>
                                                </a:rPr>
                                                <m:t>𝑛𝑑</m:t>
                                              </m:r>
                                              <m:r>
                                                <a:rPr lang="en-CA" sz="1200" i="1" dirty="0">
                                                  <a:latin typeface="Cambria Math" panose="02040503050406030204" pitchFamily="18" charset="0"/>
                                                </a:rPr>
                                                <m:t>𝑡</m:t>
                                              </m:r>
                                            </m:e>
                                          </m:d>
                                          <m:r>
                                            <a:rPr lang="en-CA" sz="1200" b="0" i="1" dirty="0" smtClean="0">
                                              <a:latin typeface="Cambria Math" panose="02040503050406030204" pitchFamily="18" charset="0"/>
                                            </a:rPr>
                                            <m:t>𝑑𝑡</m:t>
                                          </m:r>
                                        </m:e>
                                      </m:d>
                                    </m:e>
                                    <m:sup>
                                      <m:r>
                                        <a:rPr lang="en-CA" sz="1200" b="0" i="1" dirty="0" smtClean="0">
                                          <a:latin typeface="Cambria Math" panose="02040503050406030204" pitchFamily="18" charset="0"/>
                                        </a:rPr>
                                        <m:t>𝑘</m:t>
                                      </m:r>
                                    </m:sup>
                                  </m:sSup>
                                </m:e>
                              </m:nary>
                            </m:e>
                          </m:func>
                        </m:e>
                      </m:func>
                    </m:oMath>
                  </m:oMathPara>
                </a14:m>
                <a:endParaRPr lang="en-CA" dirty="0"/>
              </a:p>
              <a:p>
                <a:pPr/>
                <a14:m>
                  <m:oMathPara xmlns:m="http://schemas.openxmlformats.org/officeDocument/2006/math">
                    <m:oMathParaPr>
                      <m:jc m:val="centerGroup"/>
                    </m:oMathParaPr>
                    <m:oMath xmlns:m="http://schemas.openxmlformats.org/officeDocument/2006/math">
                      <m:acc>
                        <m:accPr>
                          <m:chr m:val="̂"/>
                          <m:ctrlPr>
                            <a:rPr lang="en-CA" sz="1200" i="1" dirty="0" smtClean="0">
                              <a:latin typeface="Cambria Math" panose="02040503050406030204" pitchFamily="18" charset="0"/>
                            </a:rPr>
                          </m:ctrlPr>
                        </m:accPr>
                        <m:e>
                          <m:r>
                            <a:rPr lang="en-CA" sz="1200" b="0" i="1" dirty="0" smtClean="0">
                              <a:latin typeface="Cambria Math" panose="02040503050406030204" pitchFamily="18" charset="0"/>
                            </a:rPr>
                            <m:t>𝑉</m:t>
                          </m:r>
                        </m:e>
                      </m:acc>
                      <m:d>
                        <m:dPr>
                          <m:ctrlPr>
                            <a:rPr lang="en-CA" sz="1200" i="1" dirty="0" smtClean="0">
                              <a:latin typeface="Cambria Math" panose="02040503050406030204" pitchFamily="18" charset="0"/>
                            </a:rPr>
                          </m:ctrlPr>
                        </m:dPr>
                        <m:e>
                          <m:r>
                            <a:rPr lang="en-CA" sz="1200" i="1" dirty="0">
                              <a:latin typeface="Cambria Math" panose="02040503050406030204" pitchFamily="18" charset="0"/>
                              <a:ea typeface="Cambria Math" panose="02040503050406030204" pitchFamily="18" charset="0"/>
                            </a:rPr>
                            <m:t>∆</m:t>
                          </m:r>
                          <m:r>
                            <a:rPr lang="en-CA" sz="1200" i="1" dirty="0">
                              <a:latin typeface="Cambria Math" panose="02040503050406030204" pitchFamily="18" charset="0"/>
                            </a:rPr>
                            <m:t>𝑡</m:t>
                          </m:r>
                        </m:e>
                      </m:d>
                      <m:r>
                        <a:rPr lang="en-CA" sz="1200" b="0" i="1" dirty="0" smtClean="0">
                          <a:latin typeface="Cambria Math" panose="02040503050406030204" pitchFamily="18" charset="0"/>
                        </a:rPr>
                        <m:t>=</m:t>
                      </m:r>
                      <m:func>
                        <m:funcPr>
                          <m:ctrlPr>
                            <a:rPr lang="pt-BR" sz="1200" i="1" dirty="0">
                              <a:latin typeface="Cambria Math" panose="02040503050406030204" pitchFamily="18" charset="0"/>
                            </a:rPr>
                          </m:ctrlPr>
                        </m:funcPr>
                        <m:fName>
                          <m:limLow>
                            <m:limLowPr>
                              <m:ctrlPr>
                                <a:rPr lang="pt-BR" sz="1200" i="1" dirty="0">
                                  <a:latin typeface="Cambria Math" panose="02040503050406030204" pitchFamily="18" charset="0"/>
                                </a:rPr>
                              </m:ctrlPr>
                            </m:limLowPr>
                            <m:e>
                              <m:r>
                                <m:rPr>
                                  <m:sty m:val="p"/>
                                </m:rPr>
                                <a:rPr lang="pt-BR" sz="1200" dirty="0">
                                  <a:latin typeface="Cambria Math" panose="02040503050406030204" pitchFamily="18" charset="0"/>
                                </a:rPr>
                                <m:t>lim</m:t>
                              </m:r>
                            </m:e>
                            <m:lim>
                              <m:r>
                                <a:rPr lang="en-CA" sz="1200" i="1" dirty="0">
                                  <a:latin typeface="Cambria Math" panose="02040503050406030204" pitchFamily="18" charset="0"/>
                                </a:rPr>
                                <m:t>𝑘</m:t>
                              </m:r>
                              <m:r>
                                <a:rPr lang="en-CA" sz="1200" i="1" dirty="0">
                                  <a:latin typeface="Cambria Math" panose="02040503050406030204" pitchFamily="18" charset="0"/>
                                </a:rPr>
                                <m:t>→</m:t>
                              </m:r>
                              <m:r>
                                <a:rPr lang="en-CA" sz="1200" i="1" dirty="0">
                                  <a:latin typeface="Cambria Math" panose="02040503050406030204" pitchFamily="18" charset="0"/>
                                </a:rPr>
                                <m:t>𝐾</m:t>
                              </m:r>
                            </m:lim>
                          </m:limLow>
                        </m:fName>
                        <m:e>
                          <m:sSup>
                            <m:sSupPr>
                              <m:ctrlPr>
                                <a:rPr lang="en-CA" sz="1200" i="1" dirty="0">
                                  <a:latin typeface="Cambria Math" panose="02040503050406030204" pitchFamily="18" charset="0"/>
                                </a:rPr>
                              </m:ctrlPr>
                            </m:sSupPr>
                            <m:e>
                              <m:d>
                                <m:dPr>
                                  <m:ctrlPr>
                                    <a:rPr lang="pt-BR" sz="1200" i="1" dirty="0">
                                      <a:latin typeface="Cambria Math" panose="02040503050406030204" pitchFamily="18" charset="0"/>
                                    </a:rPr>
                                  </m:ctrlPr>
                                </m:dPr>
                                <m:e>
                                  <m:r>
                                    <a:rPr lang="en-CA" sz="1200" i="1" dirty="0">
                                      <a:latin typeface="Cambria Math" panose="02040503050406030204" pitchFamily="18" charset="0"/>
                                    </a:rPr>
                                    <m:t>𝐼</m:t>
                                  </m:r>
                                  <m:r>
                                    <a:rPr lang="pt-BR" sz="1200" i="1" dirty="0">
                                      <a:latin typeface="Cambria Math" panose="02040503050406030204" pitchFamily="18" charset="0"/>
                                    </a:rPr>
                                    <m:t>+</m:t>
                                  </m:r>
                                  <m:f>
                                    <m:fPr>
                                      <m:ctrlPr>
                                        <a:rPr lang="pt-BR" sz="1200" i="1" dirty="0">
                                          <a:latin typeface="Cambria Math" panose="02040503050406030204" pitchFamily="18" charset="0"/>
                                        </a:rPr>
                                      </m:ctrlPr>
                                    </m:fPr>
                                    <m:num>
                                      <m:r>
                                        <a:rPr lang="en-CA" sz="1200" i="1" dirty="0">
                                          <a:latin typeface="Cambria Math" panose="02040503050406030204" pitchFamily="18" charset="0"/>
                                        </a:rPr>
                                        <m:t>𝑖</m:t>
                                      </m:r>
                                      <m:r>
                                        <a:rPr lang="en-CA" sz="1200" i="1" dirty="0">
                                          <a:latin typeface="Cambria Math" panose="02040503050406030204" pitchFamily="18" charset="0"/>
                                          <a:ea typeface="Cambria Math" panose="02040503050406030204" pitchFamily="18" charset="0"/>
                                        </a:rPr>
                                        <m:t>∆</m:t>
                                      </m:r>
                                      <m:r>
                                        <a:rPr lang="en-CA" sz="1200" i="1" dirty="0">
                                          <a:latin typeface="Cambria Math" panose="02040503050406030204" pitchFamily="18" charset="0"/>
                                        </a:rPr>
                                        <m:t>𝑡</m:t>
                                      </m:r>
                                    </m:num>
                                    <m:den>
                                      <m:r>
                                        <a:rPr lang="en-CA" sz="1200" i="1" dirty="0">
                                          <a:latin typeface="Cambria Math" panose="02040503050406030204" pitchFamily="18" charset="0"/>
                                        </a:rPr>
                                        <m:t>𝑘</m:t>
                                      </m:r>
                                    </m:den>
                                  </m:f>
                                  <m:acc>
                                    <m:accPr>
                                      <m:chr m:val="̂"/>
                                      <m:ctrlPr>
                                        <a:rPr lang="pt-BR" sz="1200" i="1" dirty="0">
                                          <a:latin typeface="Cambria Math" panose="02040503050406030204" pitchFamily="18" charset="0"/>
                                        </a:rPr>
                                      </m:ctrlPr>
                                    </m:accPr>
                                    <m:e>
                                      <m:r>
                                        <a:rPr lang="en-CA" sz="1200" i="1" dirty="0">
                                          <a:latin typeface="Cambria Math" panose="02040503050406030204" pitchFamily="18" charset="0"/>
                                        </a:rPr>
                                        <m:t>𝐻</m:t>
                                      </m:r>
                                    </m:e>
                                  </m:acc>
                                </m:e>
                              </m:d>
                            </m:e>
                            <m:sup>
                              <m:r>
                                <a:rPr lang="en-CA" sz="1200" i="1" dirty="0">
                                  <a:latin typeface="Cambria Math" panose="02040503050406030204" pitchFamily="18" charset="0"/>
                                </a:rPr>
                                <m:t>𝑘</m:t>
                              </m:r>
                            </m:sup>
                          </m:sSup>
                        </m:e>
                      </m:func>
                    </m:oMath>
                  </m:oMathPara>
                </a14:m>
                <a:endParaRPr lang="en-CA" dirty="0"/>
              </a:p>
              <a:p>
                <a:pPr/>
                <a14:m>
                  <m:oMathPara xmlns:m="http://schemas.openxmlformats.org/officeDocument/2006/math">
                    <m:oMathParaPr>
                      <m:jc m:val="centerGroup"/>
                    </m:oMathParaPr>
                    <m:oMath xmlns:m="http://schemas.openxmlformats.org/officeDocument/2006/math">
                      <m:sSubSup>
                        <m:sSubSupPr>
                          <m:ctrlPr>
                            <a:rPr lang="en-US" i="1" dirty="0" smtClean="0">
                              <a:solidFill>
                                <a:prstClr val="black"/>
                              </a:solidFill>
                              <a:latin typeface="Cambria Math" panose="02040503050406030204" pitchFamily="18" charset="0"/>
                            </a:rPr>
                          </m:ctrlPr>
                        </m:sSubSupPr>
                        <m:e>
                          <m:r>
                            <a:rPr lang="en-US" i="1" dirty="0">
                              <a:solidFill>
                                <a:prstClr val="black"/>
                              </a:solidFill>
                              <a:latin typeface="Cambria Math" panose="02040503050406030204" pitchFamily="18" charset="0"/>
                            </a:rPr>
                            <m:t>𝑃</m:t>
                          </m:r>
                        </m:e>
                        <m:sub>
                          <m:d>
                            <m:dPr>
                              <m:begChr m:val="{"/>
                              <m:endChr m:val="}"/>
                              <m:ctrlPr>
                                <a:rPr lang="en-US" i="1" dirty="0">
                                  <a:solidFill>
                                    <a:prstClr val="black"/>
                                  </a:solidFill>
                                  <a:latin typeface="Cambria Math" panose="02040503050406030204" pitchFamily="18" charset="0"/>
                                </a:rPr>
                              </m:ctrlPr>
                            </m:dPr>
                            <m:e>
                              <m:r>
                                <a:rPr lang="en-US" b="0" i="1" dirty="0" smtClean="0">
                                  <a:solidFill>
                                    <a:prstClr val="black"/>
                                  </a:solidFill>
                                  <a:latin typeface="Cambria Math" panose="02040503050406030204" pitchFamily="18" charset="0"/>
                                </a:rPr>
                                <m:t>𝜏</m:t>
                              </m:r>
                              <m:r>
                                <a:rPr lang="ar-AE" i="1" dirty="0">
                                  <a:solidFill>
                                    <a:prstClr val="black"/>
                                  </a:solidFill>
                                  <a:latin typeface="Cambria Math" panose="02040503050406030204" pitchFamily="18" charset="0"/>
                                </a:rPr>
                                <m:t>, </m:t>
                              </m:r>
                              <m:sSub>
                                <m:sSubPr>
                                  <m:ctrlPr>
                                    <a:rPr lang="ar-AE" i="1" dirty="0">
                                      <a:solidFill>
                                        <a:prstClr val="black"/>
                                      </a:solidFill>
                                      <a:latin typeface="Cambria Math" panose="02040503050406030204" pitchFamily="18" charset="0"/>
                                    </a:rPr>
                                  </m:ctrlPr>
                                </m:sSubPr>
                                <m:e>
                                  <m:r>
                                    <a:rPr lang="ar-AE" i="1" dirty="0">
                                      <a:solidFill>
                                        <a:prstClr val="black"/>
                                      </a:solidFill>
                                      <a:latin typeface="Cambria Math" panose="02040503050406030204" pitchFamily="18" charset="0"/>
                                    </a:rPr>
                                    <m:t>𝜏</m:t>
                                  </m:r>
                                </m:e>
                                <m:sub>
                                  <m:r>
                                    <a:rPr lang="ar-AE" i="1" dirty="0">
                                      <a:solidFill>
                                        <a:prstClr val="black"/>
                                      </a:solidFill>
                                      <a:latin typeface="Cambria Math" panose="02040503050406030204" pitchFamily="18" charset="0"/>
                                    </a:rPr>
                                    <m:t>0</m:t>
                                  </m:r>
                                </m:sub>
                              </m:sSub>
                            </m:e>
                          </m:d>
                        </m:sub>
                        <m:sup>
                          <m:d>
                            <m:dPr>
                              <m:ctrlPr>
                                <a:rPr lang="en-US" i="1" dirty="0">
                                  <a:solidFill>
                                    <a:prstClr val="black"/>
                                  </a:solidFill>
                                  <a:latin typeface="Cambria Math" panose="02040503050406030204" pitchFamily="18" charset="0"/>
                                </a:rPr>
                              </m:ctrlPr>
                            </m:dPr>
                            <m:e>
                              <m:r>
                                <a:rPr lang="en-US" i="1" dirty="0">
                                  <a:solidFill>
                                    <a:prstClr val="black"/>
                                  </a:solidFill>
                                  <a:latin typeface="Cambria Math" panose="02040503050406030204" pitchFamily="18" charset="0"/>
                                </a:rPr>
                                <m:t>𝑛</m:t>
                              </m:r>
                            </m:e>
                          </m:d>
                        </m:sup>
                      </m:sSubSup>
                      <m:d>
                        <m:dPr>
                          <m:ctrlPr>
                            <a:rPr kumimoji="0" lang="ar-AE" sz="1200" b="0" i="1" u="none" strike="noStrike" kern="1200" cap="none" spc="0" normalizeH="0" baseline="0" noProof="0" dirty="0">
                              <a:ln>
                                <a:noFill/>
                              </a:ln>
                              <a:solidFill>
                                <a:prstClr val="black"/>
                              </a:solidFill>
                              <a:effectLst/>
                              <a:uLnTx/>
                              <a:uFillTx/>
                              <a:latin typeface="Cambria Math" panose="02040503050406030204" pitchFamily="18" charset="0"/>
                            </a:rPr>
                          </m:ctrlPr>
                        </m:dPr>
                        <m:e>
                          <m:sSub>
                            <m:sSubPr>
                              <m:ctrlP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ctrlPr>
                            </m:sSubPr>
                            <m:e>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t>𝐴</m:t>
                              </m:r>
                            </m:e>
                            <m:sub>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t>𝑗</m:t>
                              </m:r>
                            </m:sub>
                          </m:sSub>
                        </m:e>
                        <m:e>
                          <m:sSub>
                            <m:sSubPr>
                              <m:ctrlP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ctrlPr>
                            </m:sSubPr>
                            <m:e>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t>𝑆</m:t>
                              </m:r>
                            </m:e>
                            <m:sub>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t>𝑖</m:t>
                              </m:r>
                            </m:sub>
                          </m:sSub>
                        </m:e>
                      </m:d>
                      <m:r>
                        <a:rPr kumimoji="0" lang="ar-AE" sz="1200" b="0" i="1" u="none" strike="noStrike" kern="1200" cap="none" spc="0" normalizeH="0" baseline="0" noProof="0" dirty="0">
                          <a:ln>
                            <a:noFill/>
                          </a:ln>
                          <a:solidFill>
                            <a:prstClr val="black"/>
                          </a:solidFill>
                          <a:effectLst/>
                          <a:uLnTx/>
                          <a:uFillTx/>
                          <a:latin typeface="Cambria Math" panose="02040503050406030204" pitchFamily="18" charset="0"/>
                        </a:rPr>
                        <m:t>=</m:t>
                      </m:r>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t>𝑡𝑟</m:t>
                      </m:r>
                      <m:d>
                        <m:dPr>
                          <m:ctrlP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ctrlPr>
                        </m:dPr>
                        <m:e>
                          <m:sSub>
                            <m:sSubPr>
                              <m:ctrlP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ctrlPr>
                            </m:sSubPr>
                            <m:e>
                              <m:acc>
                                <m:accPr>
                                  <m:chr m:val="̂"/>
                                  <m:ctrlP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ctrlPr>
                                </m:accPr>
                                <m:e>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t>𝜌</m:t>
                                  </m:r>
                                </m:e>
                              </m:acc>
                            </m:e>
                            <m:sub>
                              <m:sSub>
                                <m:sSubPr>
                                  <m:ctrlPr>
                                    <a:rPr lang="en-US" b="0" i="1" dirty="0" smtClean="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𝑆</m:t>
                                  </m:r>
                                </m:e>
                                <m:sub>
                                  <m:r>
                                    <a:rPr lang="en-US" b="0" i="1" dirty="0" smtClean="0">
                                      <a:solidFill>
                                        <a:prstClr val="black"/>
                                      </a:solidFill>
                                      <a:latin typeface="Cambria Math" panose="02040503050406030204" pitchFamily="18" charset="0"/>
                                    </a:rPr>
                                    <m:t>𝑖</m:t>
                                  </m:r>
                                </m:sub>
                              </m:sSub>
                            </m:sub>
                          </m:sSub>
                          <m:d>
                            <m:dPr>
                              <m:ctrlPr>
                                <a:rPr lang="en-US" b="0" i="1" dirty="0" smtClean="0">
                                  <a:solidFill>
                                    <a:prstClr val="black"/>
                                  </a:solidFill>
                                  <a:latin typeface="Cambria Math" panose="02040503050406030204" pitchFamily="18" charset="0"/>
                                </a:rPr>
                              </m:ctrlPr>
                            </m:dPr>
                            <m:e>
                              <m:r>
                                <a:rPr lang="en-US" b="0" i="1" dirty="0" smtClean="0">
                                  <a:solidFill>
                                    <a:prstClr val="black"/>
                                  </a:solidFill>
                                  <a:latin typeface="Cambria Math" panose="02040503050406030204" pitchFamily="18" charset="0"/>
                                </a:rPr>
                                <m:t>𝜏</m:t>
                              </m:r>
                            </m:e>
                          </m:d>
                          <m:sSub>
                            <m:sSubPr>
                              <m:ctrlPr>
                                <a:rPr lang="en-US" b="0" i="1" dirty="0" smtClean="0">
                                  <a:solidFill>
                                    <a:prstClr val="black"/>
                                  </a:solidFill>
                                  <a:latin typeface="Cambria Math" panose="02040503050406030204" pitchFamily="18" charset="0"/>
                                </a:rPr>
                              </m:ctrlPr>
                            </m:sSubPr>
                            <m:e>
                              <m:acc>
                                <m:accPr>
                                  <m:chr m:val="̂"/>
                                  <m:ctrlPr>
                                    <a:rPr lang="en-US" b="0" i="1" dirty="0" smtClean="0">
                                      <a:solidFill>
                                        <a:prstClr val="black"/>
                                      </a:solidFill>
                                      <a:latin typeface="Cambria Math" panose="02040503050406030204" pitchFamily="18" charset="0"/>
                                    </a:rPr>
                                  </m:ctrlPr>
                                </m:accPr>
                                <m:e>
                                  <m:r>
                                    <m:rPr>
                                      <m:sty m:val="p"/>
                                    </m:rPr>
                                    <a:rPr lang="en-US" b="0" i="0" dirty="0" smtClean="0">
                                      <a:solidFill>
                                        <a:prstClr val="black"/>
                                      </a:solidFill>
                                      <a:latin typeface="Cambria Math" panose="02040503050406030204" pitchFamily="18" charset="0"/>
                                    </a:rPr>
                                    <m:t>Π</m:t>
                                  </m:r>
                                </m:e>
                              </m:acc>
                            </m:e>
                            <m:sub>
                              <m:sSub>
                                <m:sSubPr>
                                  <m:ctrlPr>
                                    <a:rPr lang="en-US" b="0" i="1" dirty="0" smtClean="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𝐴</m:t>
                                  </m:r>
                                </m:e>
                                <m:sub>
                                  <m:r>
                                    <a:rPr lang="en-US" b="0" i="1" dirty="0" smtClean="0">
                                      <a:solidFill>
                                        <a:prstClr val="black"/>
                                      </a:solidFill>
                                      <a:latin typeface="Cambria Math" panose="02040503050406030204" pitchFamily="18" charset="0"/>
                                    </a:rPr>
                                    <m:t>𝑗</m:t>
                                  </m:r>
                                </m:sub>
                              </m:sSub>
                            </m:sub>
                          </m:sSub>
                        </m:e>
                      </m:d>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t>=</m:t>
                      </m:r>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t>𝑡𝑟</m:t>
                      </m:r>
                      <m:d>
                        <m:dPr>
                          <m:ctrlP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ctrlPr>
                        </m:dPr>
                        <m:e>
                          <m:sSup>
                            <m:sSupPr>
                              <m:ctrlP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ctrlPr>
                            </m:sSupPr>
                            <m:e>
                              <m:acc>
                                <m:accPr>
                                  <m:chr m:val="̂"/>
                                  <m:ctrlP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ctrlPr>
                                </m:accPr>
                                <m:e>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t>𝑈</m:t>
                                  </m:r>
                                </m:e>
                              </m:acc>
                            </m:e>
                            <m:sup>
                              <m:r>
                                <a:rPr lang="en-US" i="1" dirty="0" smtClean="0">
                                  <a:solidFill>
                                    <a:prstClr val="black"/>
                                  </a:solidFill>
                                  <a:latin typeface="Cambria Math" panose="02040503050406030204" pitchFamily="18" charset="0"/>
                                  <a:ea typeface="Cambria Math" panose="02040503050406030204" pitchFamily="18" charset="0"/>
                                </a:rPr>
                                <m:t>†</m:t>
                              </m:r>
                            </m:sup>
                          </m:sSup>
                          <m:r>
                            <a:rPr lang="en-US" b="0" i="1" dirty="0" smtClean="0">
                              <a:solidFill>
                                <a:prstClr val="black"/>
                              </a:solidFill>
                              <a:latin typeface="Cambria Math" panose="02040503050406030204" pitchFamily="18" charset="0"/>
                            </a:rPr>
                            <m:t>(</m:t>
                          </m:r>
                          <m:r>
                            <a:rPr lang="en-US" b="0" i="1" dirty="0" smtClean="0">
                              <a:solidFill>
                                <a:prstClr val="black"/>
                              </a:solidFill>
                              <a:latin typeface="Cambria Math" panose="02040503050406030204" pitchFamily="18" charset="0"/>
                            </a:rPr>
                            <m:t>𝜏</m:t>
                          </m:r>
                          <m:r>
                            <a:rPr lang="en-US" b="0" i="1" dirty="0" smtClean="0">
                              <a:solidFill>
                                <a:prstClr val="black"/>
                              </a:solidFill>
                              <a:latin typeface="Cambria Math" panose="02040503050406030204" pitchFamily="18" charset="0"/>
                            </a:rPr>
                            <m:t>, </m:t>
                          </m:r>
                          <m:sSub>
                            <m:sSubPr>
                              <m:ctrlPr>
                                <a:rPr lang="en-US" b="0" i="1" dirty="0" smtClean="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𝜏</m:t>
                              </m:r>
                            </m:e>
                            <m:sub>
                              <m:r>
                                <a:rPr lang="en-US" b="0" i="1" dirty="0" smtClean="0">
                                  <a:solidFill>
                                    <a:prstClr val="black"/>
                                  </a:solidFill>
                                  <a:latin typeface="Cambria Math" panose="02040503050406030204" pitchFamily="18" charset="0"/>
                                </a:rPr>
                                <m:t>0</m:t>
                              </m:r>
                            </m:sub>
                          </m:sSub>
                          <m:r>
                            <a:rPr lang="en-US" b="0" i="1" dirty="0" smtClean="0">
                              <a:solidFill>
                                <a:prstClr val="black"/>
                              </a:solidFill>
                              <a:latin typeface="Cambria Math" panose="02040503050406030204" pitchFamily="18" charset="0"/>
                            </a:rPr>
                            <m:t>)</m:t>
                          </m:r>
                          <m:sSub>
                            <m:sSubPr>
                              <m:ctrlP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ctrlPr>
                            </m:sSubPr>
                            <m:e>
                              <m:acc>
                                <m:accPr>
                                  <m:chr m:val="̂"/>
                                  <m:ctrlP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ctrlPr>
                                </m:accPr>
                                <m:e>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t>𝜌</m:t>
                                  </m:r>
                                </m:e>
                              </m:acc>
                            </m:e>
                            <m:sub>
                              <m:sSub>
                                <m:sSubPr>
                                  <m:ctrlPr>
                                    <a:rPr lang="en-US" b="0" i="1" dirty="0" smtClean="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𝑆</m:t>
                                  </m:r>
                                </m:e>
                                <m:sub>
                                  <m:r>
                                    <a:rPr lang="en-US" b="0" i="1" dirty="0" smtClean="0">
                                      <a:solidFill>
                                        <a:prstClr val="black"/>
                                      </a:solidFill>
                                      <a:latin typeface="Cambria Math" panose="02040503050406030204" pitchFamily="18" charset="0"/>
                                    </a:rPr>
                                    <m:t>𝑖</m:t>
                                  </m:r>
                                </m:sub>
                              </m:sSub>
                            </m:sub>
                          </m:sSub>
                          <m:d>
                            <m:dPr>
                              <m:ctrlPr>
                                <a:rPr lang="en-US" b="0" i="1" dirty="0" smtClean="0">
                                  <a:solidFill>
                                    <a:prstClr val="black"/>
                                  </a:solidFill>
                                  <a:latin typeface="Cambria Math" panose="02040503050406030204" pitchFamily="18" charset="0"/>
                                </a:rPr>
                              </m:ctrlPr>
                            </m:dPr>
                            <m:e>
                              <m:sSub>
                                <m:sSubPr>
                                  <m:ctrlPr>
                                    <a:rPr lang="en-US" b="0" i="1" dirty="0" smtClean="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𝜏</m:t>
                                  </m:r>
                                </m:e>
                                <m:sub>
                                  <m:r>
                                    <a:rPr lang="en-US" b="0" i="1" dirty="0" smtClean="0">
                                      <a:solidFill>
                                        <a:prstClr val="black"/>
                                      </a:solidFill>
                                      <a:latin typeface="Cambria Math" panose="02040503050406030204" pitchFamily="18" charset="0"/>
                                    </a:rPr>
                                    <m:t>0</m:t>
                                  </m:r>
                                </m:sub>
                              </m:sSub>
                            </m:e>
                          </m:d>
                          <m:acc>
                            <m:accPr>
                              <m:chr m:val="̂"/>
                              <m:ctrlPr>
                                <a:rPr lang="en-US" b="0" i="1" dirty="0" smtClean="0">
                                  <a:solidFill>
                                    <a:prstClr val="black"/>
                                  </a:solidFill>
                                  <a:latin typeface="Cambria Math" panose="02040503050406030204" pitchFamily="18" charset="0"/>
                                </a:rPr>
                              </m:ctrlPr>
                            </m:accPr>
                            <m:e>
                              <m:r>
                                <a:rPr lang="en-US" b="0" i="1" dirty="0" smtClean="0">
                                  <a:solidFill>
                                    <a:prstClr val="black"/>
                                  </a:solidFill>
                                  <a:latin typeface="Cambria Math" panose="02040503050406030204" pitchFamily="18" charset="0"/>
                                </a:rPr>
                                <m:t>𝑈</m:t>
                              </m:r>
                            </m:e>
                          </m:acc>
                          <m:r>
                            <a:rPr lang="en-US" b="0" i="1" dirty="0" smtClean="0">
                              <a:solidFill>
                                <a:prstClr val="black"/>
                              </a:solidFill>
                              <a:latin typeface="Cambria Math" panose="02040503050406030204" pitchFamily="18" charset="0"/>
                            </a:rPr>
                            <m:t>(</m:t>
                          </m:r>
                          <m:r>
                            <a:rPr lang="en-US" b="0" i="1" dirty="0" smtClean="0">
                              <a:solidFill>
                                <a:prstClr val="black"/>
                              </a:solidFill>
                              <a:latin typeface="Cambria Math" panose="02040503050406030204" pitchFamily="18" charset="0"/>
                            </a:rPr>
                            <m:t>𝜏</m:t>
                          </m:r>
                          <m:r>
                            <a:rPr lang="en-US" b="0" i="1" dirty="0" smtClean="0">
                              <a:solidFill>
                                <a:prstClr val="black"/>
                              </a:solidFill>
                              <a:latin typeface="Cambria Math" panose="02040503050406030204" pitchFamily="18" charset="0"/>
                            </a:rPr>
                            <m:t>, </m:t>
                          </m:r>
                          <m:sSub>
                            <m:sSubPr>
                              <m:ctrlPr>
                                <a:rPr lang="en-US" b="0" i="1" dirty="0" smtClean="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𝜏</m:t>
                              </m:r>
                            </m:e>
                            <m:sub>
                              <m:r>
                                <a:rPr lang="en-US" b="0" i="1" dirty="0" smtClean="0">
                                  <a:solidFill>
                                    <a:prstClr val="black"/>
                                  </a:solidFill>
                                  <a:latin typeface="Cambria Math" panose="02040503050406030204" pitchFamily="18" charset="0"/>
                                </a:rPr>
                                <m:t>0</m:t>
                              </m:r>
                            </m:sub>
                          </m:sSub>
                          <m:r>
                            <a:rPr lang="en-US" b="0" i="1" dirty="0" smtClean="0">
                              <a:solidFill>
                                <a:prstClr val="black"/>
                              </a:solidFill>
                              <a:latin typeface="Cambria Math" panose="02040503050406030204" pitchFamily="18" charset="0"/>
                            </a:rPr>
                            <m:t>)</m:t>
                          </m:r>
                          <m:sSub>
                            <m:sSubPr>
                              <m:ctrlPr>
                                <a:rPr lang="en-US" b="0" i="1" dirty="0" smtClean="0">
                                  <a:solidFill>
                                    <a:prstClr val="black"/>
                                  </a:solidFill>
                                  <a:latin typeface="Cambria Math" panose="02040503050406030204" pitchFamily="18" charset="0"/>
                                </a:rPr>
                              </m:ctrlPr>
                            </m:sSubPr>
                            <m:e>
                              <m:acc>
                                <m:accPr>
                                  <m:chr m:val="̂"/>
                                  <m:ctrlPr>
                                    <a:rPr lang="en-US" b="0" i="1" dirty="0" smtClean="0">
                                      <a:solidFill>
                                        <a:prstClr val="black"/>
                                      </a:solidFill>
                                      <a:latin typeface="Cambria Math" panose="02040503050406030204" pitchFamily="18" charset="0"/>
                                    </a:rPr>
                                  </m:ctrlPr>
                                </m:accPr>
                                <m:e>
                                  <m:r>
                                    <m:rPr>
                                      <m:sty m:val="p"/>
                                    </m:rPr>
                                    <a:rPr lang="en-US" b="0" i="0" dirty="0" smtClean="0">
                                      <a:solidFill>
                                        <a:prstClr val="black"/>
                                      </a:solidFill>
                                      <a:latin typeface="Cambria Math" panose="02040503050406030204" pitchFamily="18" charset="0"/>
                                    </a:rPr>
                                    <m:t>Π</m:t>
                                  </m:r>
                                </m:e>
                              </m:acc>
                            </m:e>
                            <m:sub>
                              <m:sSub>
                                <m:sSubPr>
                                  <m:ctrlPr>
                                    <a:rPr lang="en-US" b="0" i="1" dirty="0" smtClean="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𝐴</m:t>
                                  </m:r>
                                </m:e>
                                <m:sub>
                                  <m:r>
                                    <a:rPr lang="en-US" b="0" i="1" dirty="0" smtClean="0">
                                      <a:solidFill>
                                        <a:prstClr val="black"/>
                                      </a:solidFill>
                                      <a:latin typeface="Cambria Math" panose="02040503050406030204" pitchFamily="18" charset="0"/>
                                    </a:rPr>
                                    <m:t>𝑗</m:t>
                                  </m:r>
                                </m:sub>
                              </m:sSub>
                            </m:sub>
                          </m:sSub>
                        </m:e>
                      </m:d>
                      <m:r>
                        <a:rPr lang="en-US" b="0" i="1" dirty="0" smtClean="0">
                          <a:solidFill>
                            <a:prstClr val="black"/>
                          </a:solidFill>
                          <a:latin typeface="Cambria Math" panose="02040503050406030204" pitchFamily="18" charset="0"/>
                        </a:rPr>
                        <m:t>=</m:t>
                      </m:r>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t>𝑡𝑟</m:t>
                      </m:r>
                      <m:d>
                        <m:dPr>
                          <m:ctrlP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ctrlPr>
                        </m:dPr>
                        <m:e>
                          <m:sSup>
                            <m:sSupPr>
                              <m:ctrlP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ctrlPr>
                            </m:sSupPr>
                            <m:e>
                              <m:acc>
                                <m:accPr>
                                  <m:chr m:val="̂"/>
                                  <m:ctrlP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ctrlPr>
                                </m:accPr>
                                <m:e>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t>𝑈</m:t>
                                  </m:r>
                                </m:e>
                              </m:acc>
                            </m:e>
                            <m:sup>
                              <m:r>
                                <a:rPr lang="en-US" i="1" dirty="0" smtClean="0">
                                  <a:solidFill>
                                    <a:prstClr val="black"/>
                                  </a:solidFill>
                                  <a:latin typeface="Cambria Math" panose="02040503050406030204" pitchFamily="18" charset="0"/>
                                  <a:ea typeface="Cambria Math" panose="02040503050406030204" pitchFamily="18" charset="0"/>
                                </a:rPr>
                                <m:t>†</m:t>
                              </m:r>
                            </m:sup>
                          </m:sSup>
                          <m:d>
                            <m:dPr>
                              <m:ctrlPr>
                                <a:rPr lang="en-US" b="0" i="1" dirty="0" smtClean="0">
                                  <a:solidFill>
                                    <a:prstClr val="black"/>
                                  </a:solidFill>
                                  <a:latin typeface="Cambria Math" panose="02040503050406030204" pitchFamily="18" charset="0"/>
                                  <a:ea typeface="Cambria Math" panose="02040503050406030204" pitchFamily="18" charset="0"/>
                                </a:rPr>
                              </m:ctrlPr>
                            </m:dPr>
                            <m:e>
                              <m:r>
                                <a:rPr lang="en-US" b="0" i="1" dirty="0" smtClean="0">
                                  <a:solidFill>
                                    <a:prstClr val="black"/>
                                  </a:solidFill>
                                  <a:latin typeface="Cambria Math" panose="02040503050406030204" pitchFamily="18" charset="0"/>
                                </a:rPr>
                                <m:t>𝜏</m:t>
                              </m:r>
                              <m:r>
                                <a:rPr lang="en-US" b="0" i="1" dirty="0" smtClean="0">
                                  <a:solidFill>
                                    <a:prstClr val="black"/>
                                  </a:solidFill>
                                  <a:latin typeface="Cambria Math" panose="02040503050406030204" pitchFamily="18" charset="0"/>
                                </a:rPr>
                                <m:t>, </m:t>
                              </m:r>
                              <m:sSub>
                                <m:sSubPr>
                                  <m:ctrlPr>
                                    <a:rPr lang="en-US" b="0" i="1" dirty="0" smtClean="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𝜏</m:t>
                                  </m:r>
                                </m:e>
                                <m:sub>
                                  <m:r>
                                    <a:rPr lang="en-US" b="0" i="1" dirty="0" smtClean="0">
                                      <a:solidFill>
                                        <a:prstClr val="black"/>
                                      </a:solidFill>
                                      <a:latin typeface="Cambria Math" panose="02040503050406030204" pitchFamily="18" charset="0"/>
                                    </a:rPr>
                                    <m:t>0</m:t>
                                  </m:r>
                                </m:sub>
                              </m:sSub>
                            </m:e>
                          </m:d>
                          <m:r>
                            <a:rPr lang="en-US" b="0" i="1" dirty="0" smtClean="0">
                              <a:solidFill>
                                <a:prstClr val="black"/>
                              </a:solidFill>
                              <a:latin typeface="Cambria Math" panose="02040503050406030204" pitchFamily="18" charset="0"/>
                            </a:rPr>
                            <m:t>|</m:t>
                          </m:r>
                          <m:sSub>
                            <m:sSubPr>
                              <m:ctrlPr>
                                <a:rPr lang="en-US" sz="1200" b="0" i="1" dirty="0" smtClean="0">
                                  <a:latin typeface="Cambria Math" panose="02040503050406030204" pitchFamily="18" charset="0"/>
                                </a:rPr>
                              </m:ctrlPr>
                            </m:sSubPr>
                            <m:e>
                              <m:r>
                                <a:rPr lang="en-US" sz="1200" b="0" i="1" dirty="0" smtClean="0">
                                  <a:latin typeface="Cambria Math" panose="02040503050406030204" pitchFamily="18" charset="0"/>
                                </a:rPr>
                                <m:t>𝑆</m:t>
                              </m:r>
                            </m:e>
                            <m:sub>
                              <m:r>
                                <a:rPr lang="en-US" sz="1200" b="0" i="1" dirty="0" smtClean="0">
                                  <a:latin typeface="Cambria Math" panose="02040503050406030204" pitchFamily="18" charset="0"/>
                                </a:rPr>
                                <m:t>𝑖</m:t>
                              </m:r>
                            </m:sub>
                          </m:sSub>
                          <m:r>
                            <a:rPr lang="en-US" sz="1200" b="0" i="1" dirty="0" smtClean="0">
                              <a:latin typeface="Cambria Math" panose="02040503050406030204" pitchFamily="18" charset="0"/>
                            </a:rPr>
                            <m:t>, </m:t>
                          </m:r>
                          <m:sSub>
                            <m:sSubPr>
                              <m:ctrlPr>
                                <a:rPr lang="en-US" sz="1200" b="0" i="1" dirty="0" smtClean="0">
                                  <a:latin typeface="Cambria Math" panose="02040503050406030204" pitchFamily="18" charset="0"/>
                                </a:rPr>
                              </m:ctrlPr>
                            </m:sSubPr>
                            <m:e>
                              <m:r>
                                <a:rPr lang="en-US" sz="1200" b="0" i="1" dirty="0" smtClean="0">
                                  <a:latin typeface="Cambria Math" panose="02040503050406030204" pitchFamily="18" charset="0"/>
                                </a:rPr>
                                <m:t>0</m:t>
                              </m:r>
                            </m:e>
                            <m:sub>
                              <m:r>
                                <a:rPr lang="en-US" sz="1200" b="0" i="1" dirty="0" smtClean="0">
                                  <a:latin typeface="Cambria Math" panose="02040503050406030204" pitchFamily="18" charset="0"/>
                                </a:rPr>
                                <m:t>𝑆</m:t>
                              </m:r>
                              <m:r>
                                <a:rPr lang="en-US" sz="1200" b="0" i="1" dirty="0" smtClean="0">
                                  <a:latin typeface="Cambria Math" panose="02040503050406030204" pitchFamily="18" charset="0"/>
                                </a:rPr>
                                <m:t>\</m:t>
                              </m:r>
                              <m:sSub>
                                <m:sSubPr>
                                  <m:ctrlPr>
                                    <a:rPr lang="en-US" sz="1200" b="0" i="1" dirty="0" smtClean="0">
                                      <a:latin typeface="Cambria Math" panose="02040503050406030204" pitchFamily="18" charset="0"/>
                                    </a:rPr>
                                  </m:ctrlPr>
                                </m:sSubPr>
                                <m:e>
                                  <m:r>
                                    <m:rPr>
                                      <m:sty m:val="p"/>
                                    </m:rPr>
                                    <a:rPr lang="en-US" sz="1200" b="0" i="1" dirty="0" smtClean="0">
                                      <a:latin typeface="Cambria Math" panose="02040503050406030204" pitchFamily="18" charset="0"/>
                                    </a:rPr>
                                    <m:t>S</m:t>
                                  </m:r>
                                </m:e>
                                <m:sub>
                                  <m:r>
                                    <a:rPr lang="en-US" sz="1200" b="0" i="1" dirty="0" smtClean="0">
                                      <a:latin typeface="Cambria Math" panose="02040503050406030204" pitchFamily="18" charset="0"/>
                                    </a:rPr>
                                    <m:t>𝑖</m:t>
                                  </m:r>
                                </m:sub>
                              </m:sSub>
                            </m:sub>
                          </m:sSub>
                          <m:r>
                            <a:rPr lang="en-US" sz="1200" b="0" i="1" dirty="0" smtClean="0">
                              <a:latin typeface="Cambria Math" panose="02040503050406030204" pitchFamily="18" charset="0"/>
                            </a:rPr>
                            <m:t>, </m:t>
                          </m:r>
                          <m:sSub>
                            <m:sSubPr>
                              <m:ctrlPr>
                                <a:rPr lang="en-US" sz="1200" b="0" i="1" dirty="0" smtClean="0">
                                  <a:latin typeface="Cambria Math" panose="02040503050406030204" pitchFamily="18" charset="0"/>
                                </a:rPr>
                              </m:ctrlPr>
                            </m:sSubPr>
                            <m:e>
                              <m:r>
                                <a:rPr lang="en-US" sz="1200" b="0" i="1" dirty="0" smtClean="0">
                                  <a:latin typeface="Cambria Math" panose="02040503050406030204" pitchFamily="18" charset="0"/>
                                </a:rPr>
                                <m:t>0</m:t>
                              </m:r>
                            </m:e>
                            <m:sub>
                              <m:r>
                                <a:rPr lang="en-US" sz="1200" b="0" i="1" dirty="0" smtClean="0">
                                  <a:latin typeface="Cambria Math" panose="02040503050406030204" pitchFamily="18" charset="0"/>
                                </a:rPr>
                                <m:t>𝐶</m:t>
                              </m:r>
                            </m:sub>
                          </m:sSub>
                          <m:r>
                            <a:rPr lang="en-US" sz="1200" b="0" i="1" dirty="0" smtClean="0">
                              <a:latin typeface="Cambria Math" panose="02040503050406030204" pitchFamily="18" charset="0"/>
                            </a:rPr>
                            <m:t>, </m:t>
                          </m:r>
                          <m:sSub>
                            <m:sSubPr>
                              <m:ctrlPr>
                                <a:rPr lang="en-US" sz="1200" b="0" i="1" dirty="0" smtClean="0">
                                  <a:latin typeface="Cambria Math" panose="02040503050406030204" pitchFamily="18" charset="0"/>
                                </a:rPr>
                              </m:ctrlPr>
                            </m:sSubPr>
                            <m:e>
                              <m:r>
                                <a:rPr lang="en-US" sz="1200" b="0" i="1" dirty="0" smtClean="0">
                                  <a:latin typeface="Cambria Math" panose="02040503050406030204" pitchFamily="18" charset="0"/>
                                </a:rPr>
                                <m:t>0</m:t>
                              </m:r>
                            </m:e>
                            <m:sub>
                              <m:r>
                                <a:rPr lang="en-US" sz="1200" b="0" i="1" dirty="0" smtClean="0">
                                  <a:latin typeface="Cambria Math" panose="02040503050406030204" pitchFamily="18" charset="0"/>
                                </a:rPr>
                                <m:t>𝐴</m:t>
                              </m:r>
                            </m:sub>
                          </m:sSub>
                          <m:r>
                            <a:rPr lang="en-US" b="0" i="1" dirty="0" smtClean="0">
                              <a:solidFill>
                                <a:prstClr val="black"/>
                              </a:solidFill>
                              <a:latin typeface="Cambria Math" panose="02040503050406030204" pitchFamily="18" charset="0"/>
                            </a:rPr>
                            <m:t>⟩⟨</m:t>
                          </m:r>
                          <m:sSub>
                            <m:sSubPr>
                              <m:ctrlPr>
                                <a:rPr lang="en-US" sz="1200" b="0" i="1" dirty="0" smtClean="0">
                                  <a:latin typeface="Cambria Math" panose="02040503050406030204" pitchFamily="18" charset="0"/>
                                </a:rPr>
                              </m:ctrlPr>
                            </m:sSubPr>
                            <m:e>
                              <m:r>
                                <a:rPr lang="en-US" sz="1200" b="0" i="1" dirty="0" smtClean="0">
                                  <a:latin typeface="Cambria Math" panose="02040503050406030204" pitchFamily="18" charset="0"/>
                                </a:rPr>
                                <m:t>𝑆</m:t>
                              </m:r>
                            </m:e>
                            <m:sub>
                              <m:r>
                                <a:rPr lang="en-US" sz="1200" b="0" i="1" dirty="0" smtClean="0">
                                  <a:latin typeface="Cambria Math" panose="02040503050406030204" pitchFamily="18" charset="0"/>
                                </a:rPr>
                                <m:t>𝑖</m:t>
                              </m:r>
                            </m:sub>
                          </m:sSub>
                          <m:r>
                            <a:rPr lang="en-US" sz="1200" b="0" i="1" dirty="0" smtClean="0">
                              <a:latin typeface="Cambria Math" panose="02040503050406030204" pitchFamily="18" charset="0"/>
                            </a:rPr>
                            <m:t>, </m:t>
                          </m:r>
                          <m:sSub>
                            <m:sSubPr>
                              <m:ctrlPr>
                                <a:rPr lang="en-US" sz="1200" b="0" i="1" dirty="0" smtClean="0">
                                  <a:latin typeface="Cambria Math" panose="02040503050406030204" pitchFamily="18" charset="0"/>
                                </a:rPr>
                              </m:ctrlPr>
                            </m:sSubPr>
                            <m:e>
                              <m:r>
                                <a:rPr lang="en-US" sz="1200" b="0" i="1" dirty="0" smtClean="0">
                                  <a:latin typeface="Cambria Math" panose="02040503050406030204" pitchFamily="18" charset="0"/>
                                </a:rPr>
                                <m:t>0</m:t>
                              </m:r>
                            </m:e>
                            <m:sub>
                              <m:r>
                                <a:rPr lang="en-US" sz="1200" b="0" i="1" dirty="0" smtClean="0">
                                  <a:latin typeface="Cambria Math" panose="02040503050406030204" pitchFamily="18" charset="0"/>
                                </a:rPr>
                                <m:t>𝑆</m:t>
                              </m:r>
                              <m:r>
                                <a:rPr lang="en-US" sz="1200" b="0" i="1" dirty="0" smtClean="0">
                                  <a:latin typeface="Cambria Math" panose="02040503050406030204" pitchFamily="18" charset="0"/>
                                </a:rPr>
                                <m:t>\</m:t>
                              </m:r>
                              <m:sSub>
                                <m:sSubPr>
                                  <m:ctrlPr>
                                    <a:rPr lang="en-US" sz="1200" b="0" i="1" dirty="0" smtClean="0">
                                      <a:latin typeface="Cambria Math" panose="02040503050406030204" pitchFamily="18" charset="0"/>
                                    </a:rPr>
                                  </m:ctrlPr>
                                </m:sSubPr>
                                <m:e>
                                  <m:r>
                                    <m:rPr>
                                      <m:sty m:val="p"/>
                                    </m:rPr>
                                    <a:rPr lang="en-US" sz="1200" b="0" i="1" dirty="0" smtClean="0">
                                      <a:latin typeface="Cambria Math" panose="02040503050406030204" pitchFamily="18" charset="0"/>
                                    </a:rPr>
                                    <m:t>S</m:t>
                                  </m:r>
                                </m:e>
                                <m:sub>
                                  <m:r>
                                    <a:rPr lang="en-US" sz="1200" b="0" i="1" dirty="0" smtClean="0">
                                      <a:latin typeface="Cambria Math" panose="02040503050406030204" pitchFamily="18" charset="0"/>
                                    </a:rPr>
                                    <m:t>𝑖</m:t>
                                  </m:r>
                                </m:sub>
                              </m:sSub>
                            </m:sub>
                          </m:sSub>
                          <m:r>
                            <a:rPr lang="en-US" sz="1200" b="0" i="1" dirty="0" smtClean="0">
                              <a:latin typeface="Cambria Math" panose="02040503050406030204" pitchFamily="18" charset="0"/>
                            </a:rPr>
                            <m:t>, </m:t>
                          </m:r>
                          <m:sSub>
                            <m:sSubPr>
                              <m:ctrlPr>
                                <a:rPr lang="en-US" sz="1200" b="0" i="1" dirty="0" smtClean="0">
                                  <a:latin typeface="Cambria Math" panose="02040503050406030204" pitchFamily="18" charset="0"/>
                                </a:rPr>
                              </m:ctrlPr>
                            </m:sSubPr>
                            <m:e>
                              <m:r>
                                <a:rPr lang="en-US" sz="1200" b="0" i="1" dirty="0" smtClean="0">
                                  <a:latin typeface="Cambria Math" panose="02040503050406030204" pitchFamily="18" charset="0"/>
                                </a:rPr>
                                <m:t>0</m:t>
                              </m:r>
                            </m:e>
                            <m:sub>
                              <m:r>
                                <a:rPr lang="en-US" sz="1200" b="0" i="1" dirty="0" smtClean="0">
                                  <a:latin typeface="Cambria Math" panose="02040503050406030204" pitchFamily="18" charset="0"/>
                                </a:rPr>
                                <m:t>𝐶</m:t>
                              </m:r>
                            </m:sub>
                          </m:sSub>
                          <m:r>
                            <a:rPr lang="en-US" sz="1200" b="0" i="1" dirty="0" smtClean="0">
                              <a:latin typeface="Cambria Math" panose="02040503050406030204" pitchFamily="18" charset="0"/>
                            </a:rPr>
                            <m:t>, </m:t>
                          </m:r>
                          <m:sSub>
                            <m:sSubPr>
                              <m:ctrlPr>
                                <a:rPr lang="en-US" sz="1200" b="0" i="1" dirty="0" smtClean="0">
                                  <a:latin typeface="Cambria Math" panose="02040503050406030204" pitchFamily="18" charset="0"/>
                                </a:rPr>
                              </m:ctrlPr>
                            </m:sSubPr>
                            <m:e>
                              <m:r>
                                <a:rPr lang="en-US" sz="1200" b="0" i="1" dirty="0" smtClean="0">
                                  <a:latin typeface="Cambria Math" panose="02040503050406030204" pitchFamily="18" charset="0"/>
                                </a:rPr>
                                <m:t>0</m:t>
                              </m:r>
                            </m:e>
                            <m:sub>
                              <m:r>
                                <a:rPr lang="en-US" sz="1200" b="0" i="1" dirty="0" smtClean="0">
                                  <a:latin typeface="Cambria Math" panose="02040503050406030204" pitchFamily="18" charset="0"/>
                                </a:rPr>
                                <m:t>𝐴</m:t>
                              </m:r>
                            </m:sub>
                          </m:sSub>
                          <m:r>
                            <a:rPr lang="en-US" b="0" i="1" dirty="0" smtClean="0">
                              <a:solidFill>
                                <a:prstClr val="black"/>
                              </a:solidFill>
                              <a:latin typeface="Cambria Math" panose="02040503050406030204" pitchFamily="18" charset="0"/>
                            </a:rPr>
                            <m:t>|</m:t>
                          </m:r>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t> </m:t>
                          </m:r>
                          <m:acc>
                            <m:accPr>
                              <m:chr m:val="̂"/>
                              <m:ctrlPr>
                                <a:rPr lang="en-US" b="0" i="1" dirty="0" smtClean="0">
                                  <a:solidFill>
                                    <a:prstClr val="black"/>
                                  </a:solidFill>
                                  <a:latin typeface="Cambria Math" panose="02040503050406030204" pitchFamily="18" charset="0"/>
                                </a:rPr>
                              </m:ctrlPr>
                            </m:accPr>
                            <m:e>
                              <m:r>
                                <a:rPr lang="en-US" b="0" i="1" dirty="0" smtClean="0">
                                  <a:solidFill>
                                    <a:prstClr val="black"/>
                                  </a:solidFill>
                                  <a:latin typeface="Cambria Math" panose="02040503050406030204" pitchFamily="18" charset="0"/>
                                </a:rPr>
                                <m:t>𝑈</m:t>
                              </m:r>
                            </m:e>
                          </m:acc>
                          <m:r>
                            <a:rPr lang="en-US" b="0" i="1" dirty="0" smtClean="0">
                              <a:solidFill>
                                <a:prstClr val="black"/>
                              </a:solidFill>
                              <a:latin typeface="Cambria Math" panose="02040503050406030204" pitchFamily="18" charset="0"/>
                            </a:rPr>
                            <m:t>(</m:t>
                          </m:r>
                          <m:r>
                            <a:rPr lang="en-US" b="0" i="1" dirty="0" smtClean="0">
                              <a:solidFill>
                                <a:prstClr val="black"/>
                              </a:solidFill>
                              <a:latin typeface="Cambria Math" panose="02040503050406030204" pitchFamily="18" charset="0"/>
                            </a:rPr>
                            <m:t>𝜏</m:t>
                          </m:r>
                          <m:r>
                            <a:rPr lang="en-US" b="0" i="1" dirty="0" smtClean="0">
                              <a:solidFill>
                                <a:prstClr val="black"/>
                              </a:solidFill>
                              <a:latin typeface="Cambria Math" panose="02040503050406030204" pitchFamily="18" charset="0"/>
                            </a:rPr>
                            <m:t>, </m:t>
                          </m:r>
                          <m:sSub>
                            <m:sSubPr>
                              <m:ctrlPr>
                                <a:rPr lang="en-US" b="0" i="1" dirty="0" smtClean="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𝜏</m:t>
                              </m:r>
                            </m:e>
                            <m:sub>
                              <m:r>
                                <a:rPr lang="en-US" b="0" i="1" dirty="0" smtClean="0">
                                  <a:solidFill>
                                    <a:prstClr val="black"/>
                                  </a:solidFill>
                                  <a:latin typeface="Cambria Math" panose="02040503050406030204" pitchFamily="18" charset="0"/>
                                </a:rPr>
                                <m:t>0</m:t>
                              </m:r>
                            </m:sub>
                          </m:sSub>
                          <m:r>
                            <a:rPr lang="en-US" b="0" i="1" dirty="0" smtClean="0">
                              <a:solidFill>
                                <a:prstClr val="black"/>
                              </a:solidFill>
                              <a:latin typeface="Cambria Math" panose="02040503050406030204" pitchFamily="18" charset="0"/>
                            </a:rPr>
                            <m:t>)</m:t>
                          </m:r>
                          <m:sSub>
                            <m:sSubPr>
                              <m:ctrlPr>
                                <a:rPr lang="en-US" b="0" i="1" dirty="0" smtClean="0">
                                  <a:solidFill>
                                    <a:prstClr val="black"/>
                                  </a:solidFill>
                                  <a:latin typeface="Cambria Math" panose="02040503050406030204" pitchFamily="18" charset="0"/>
                                </a:rPr>
                              </m:ctrlPr>
                            </m:sSubPr>
                            <m:e>
                              <m:acc>
                                <m:accPr>
                                  <m:chr m:val="̂"/>
                                  <m:ctrlPr>
                                    <a:rPr lang="en-US" b="0" i="1" dirty="0" smtClean="0">
                                      <a:solidFill>
                                        <a:prstClr val="black"/>
                                      </a:solidFill>
                                      <a:latin typeface="Cambria Math" panose="02040503050406030204" pitchFamily="18" charset="0"/>
                                    </a:rPr>
                                  </m:ctrlPr>
                                </m:accPr>
                                <m:e>
                                  <m:r>
                                    <m:rPr>
                                      <m:sty m:val="p"/>
                                    </m:rPr>
                                    <a:rPr lang="en-US" b="0" i="0" dirty="0" smtClean="0">
                                      <a:solidFill>
                                        <a:prstClr val="black"/>
                                      </a:solidFill>
                                      <a:latin typeface="Cambria Math" panose="02040503050406030204" pitchFamily="18" charset="0"/>
                                    </a:rPr>
                                    <m:t>Π</m:t>
                                  </m:r>
                                </m:e>
                              </m:acc>
                            </m:e>
                            <m:sub>
                              <m:sSub>
                                <m:sSubPr>
                                  <m:ctrlPr>
                                    <a:rPr lang="en-US" b="0" i="1" dirty="0" smtClean="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𝐴</m:t>
                                  </m:r>
                                </m:e>
                                <m:sub>
                                  <m:r>
                                    <a:rPr lang="en-US" b="0" i="1" dirty="0" smtClean="0">
                                      <a:solidFill>
                                        <a:prstClr val="black"/>
                                      </a:solidFill>
                                      <a:latin typeface="Cambria Math" panose="02040503050406030204" pitchFamily="18" charset="0"/>
                                    </a:rPr>
                                    <m:t>𝑗</m:t>
                                  </m:r>
                                </m:sub>
                              </m:sSub>
                            </m:sub>
                          </m:sSub>
                        </m:e>
                      </m:d>
                      <m:r>
                        <a:rPr lang="en-US" b="0" i="1" dirty="0" smtClean="0">
                          <a:solidFill>
                            <a:prstClr val="black"/>
                          </a:solidFill>
                          <a:latin typeface="Cambria Math" panose="02040503050406030204" pitchFamily="18" charset="0"/>
                        </a:rPr>
                        <m:t>=</m:t>
                      </m:r>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t>𝑡𝑟</m:t>
                      </m:r>
                      <m:d>
                        <m:dPr>
                          <m:ctrlP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ctrlPr>
                        </m:dPr>
                        <m:e>
                          <m:sSup>
                            <m:sSupPr>
                              <m:ctrlP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ctrlPr>
                            </m:sSupPr>
                            <m:e>
                              <m:acc>
                                <m:accPr>
                                  <m:chr m:val="̂"/>
                                  <m:ctrlP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ctrlPr>
                                </m:accPr>
                                <m:e>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t>𝑈</m:t>
                                  </m:r>
                                </m:e>
                              </m:acc>
                            </m:e>
                            <m:sup>
                              <m:r>
                                <a:rPr lang="en-US" i="1" dirty="0" smtClean="0">
                                  <a:solidFill>
                                    <a:prstClr val="black"/>
                                  </a:solidFill>
                                  <a:latin typeface="Cambria Math" panose="02040503050406030204" pitchFamily="18" charset="0"/>
                                  <a:ea typeface="Cambria Math" panose="02040503050406030204" pitchFamily="18" charset="0"/>
                                </a:rPr>
                                <m:t>†</m:t>
                              </m:r>
                            </m:sup>
                          </m:sSup>
                          <m:d>
                            <m:dPr>
                              <m:ctrlPr>
                                <a:rPr lang="en-US" b="0" i="1" dirty="0" smtClean="0">
                                  <a:solidFill>
                                    <a:prstClr val="black"/>
                                  </a:solidFill>
                                  <a:latin typeface="Cambria Math" panose="02040503050406030204" pitchFamily="18" charset="0"/>
                                  <a:ea typeface="Cambria Math" panose="02040503050406030204" pitchFamily="18" charset="0"/>
                                </a:rPr>
                              </m:ctrlPr>
                            </m:dPr>
                            <m:e>
                              <m:r>
                                <a:rPr lang="en-US" b="0" i="1" dirty="0" smtClean="0">
                                  <a:solidFill>
                                    <a:prstClr val="black"/>
                                  </a:solidFill>
                                  <a:latin typeface="Cambria Math" panose="02040503050406030204" pitchFamily="18" charset="0"/>
                                </a:rPr>
                                <m:t>𝜏</m:t>
                              </m:r>
                              <m:r>
                                <a:rPr lang="en-US" b="0" i="1" dirty="0" smtClean="0">
                                  <a:solidFill>
                                    <a:prstClr val="black"/>
                                  </a:solidFill>
                                  <a:latin typeface="Cambria Math" panose="02040503050406030204" pitchFamily="18" charset="0"/>
                                </a:rPr>
                                <m:t>, </m:t>
                              </m:r>
                              <m:sSub>
                                <m:sSubPr>
                                  <m:ctrlPr>
                                    <a:rPr lang="en-US" b="0" i="1" dirty="0" smtClean="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𝜏</m:t>
                                  </m:r>
                                </m:e>
                                <m:sub>
                                  <m:r>
                                    <a:rPr lang="en-US" b="0" i="1" dirty="0" smtClean="0">
                                      <a:solidFill>
                                        <a:prstClr val="black"/>
                                      </a:solidFill>
                                      <a:latin typeface="Cambria Math" panose="02040503050406030204" pitchFamily="18" charset="0"/>
                                    </a:rPr>
                                    <m:t>0</m:t>
                                  </m:r>
                                </m:sub>
                              </m:sSub>
                            </m:e>
                          </m:d>
                          <m:sSubSup>
                            <m:sSubSupPr>
                              <m:ctrlPr>
                                <a:rPr lang="en-US" b="0" i="1" dirty="0" smtClean="0">
                                  <a:solidFill>
                                    <a:prstClr val="black"/>
                                  </a:solidFill>
                                  <a:latin typeface="Cambria Math" panose="02040503050406030204" pitchFamily="18" charset="0"/>
                                </a:rPr>
                              </m:ctrlPr>
                            </m:sSubSupPr>
                            <m:e>
                              <m:acc>
                                <m:accPr>
                                  <m:chr m:val="̂"/>
                                  <m:ctrlPr>
                                    <a:rPr lang="en-US" b="0" i="1" dirty="0" smtClean="0">
                                      <a:solidFill>
                                        <a:prstClr val="black"/>
                                      </a:solidFill>
                                      <a:latin typeface="Cambria Math" panose="02040503050406030204" pitchFamily="18" charset="0"/>
                                    </a:rPr>
                                  </m:ctrlPr>
                                </m:accPr>
                                <m:e>
                                  <m:r>
                                    <m:rPr>
                                      <m:sty m:val="p"/>
                                    </m:rPr>
                                    <a:rPr lang="en-US" b="0" i="0" dirty="0" smtClean="0">
                                      <a:solidFill>
                                        <a:prstClr val="black"/>
                                      </a:solidFill>
                                      <a:latin typeface="Cambria Math" panose="02040503050406030204" pitchFamily="18" charset="0"/>
                                    </a:rPr>
                                    <m:t>Ω</m:t>
                                  </m:r>
                                </m:e>
                              </m:acc>
                            </m:e>
                            <m:sub>
                              <m:sSub>
                                <m:sSubPr>
                                  <m:ctrlPr>
                                    <a:rPr lang="en-US" b="0" i="1" dirty="0" smtClean="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𝑆</m:t>
                                  </m:r>
                                </m:e>
                                <m:sub>
                                  <m:r>
                                    <a:rPr lang="en-US" b="0" i="1" dirty="0" smtClean="0">
                                      <a:solidFill>
                                        <a:prstClr val="black"/>
                                      </a:solidFill>
                                      <a:latin typeface="Cambria Math" panose="02040503050406030204" pitchFamily="18" charset="0"/>
                                    </a:rPr>
                                    <m:t>𝑖</m:t>
                                  </m:r>
                                </m:sub>
                              </m:sSub>
                            </m:sub>
                            <m:sup>
                              <m:r>
                                <a:rPr lang="en-US" i="1" dirty="0" smtClean="0">
                                  <a:solidFill>
                                    <a:prstClr val="black"/>
                                  </a:solidFill>
                                  <a:latin typeface="Cambria Math" panose="02040503050406030204" pitchFamily="18" charset="0"/>
                                  <a:ea typeface="Cambria Math" panose="02040503050406030204" pitchFamily="18" charset="0"/>
                                </a:rPr>
                                <m:t>†</m:t>
                              </m:r>
                            </m:sup>
                          </m:sSubSup>
                          <m:r>
                            <a:rPr lang="en-US" b="0" i="1" dirty="0" smtClean="0">
                              <a:solidFill>
                                <a:prstClr val="black"/>
                              </a:solidFill>
                              <a:latin typeface="Cambria Math" panose="02040503050406030204" pitchFamily="18" charset="0"/>
                            </a:rPr>
                            <m:t>|</m:t>
                          </m:r>
                          <m:r>
                            <a:rPr lang="en-US" b="0" i="1" dirty="0" smtClean="0">
                              <a:solidFill>
                                <a:prstClr val="black"/>
                              </a:solidFill>
                              <a:latin typeface="Cambria Math" panose="02040503050406030204" pitchFamily="18" charset="0"/>
                            </a:rPr>
                            <m:t>𝑣𝑎𝑐</m:t>
                          </m:r>
                          <m:r>
                            <a:rPr lang="en-US" b="0" i="1" dirty="0" smtClean="0">
                              <a:solidFill>
                                <a:prstClr val="black"/>
                              </a:solidFill>
                              <a:latin typeface="Cambria Math" panose="02040503050406030204" pitchFamily="18" charset="0"/>
                            </a:rPr>
                            <m:t>⟩⟨</m:t>
                          </m:r>
                          <m:r>
                            <a:rPr lang="en-US" b="0" i="1" dirty="0" smtClean="0">
                              <a:solidFill>
                                <a:prstClr val="black"/>
                              </a:solidFill>
                              <a:latin typeface="Cambria Math" panose="02040503050406030204" pitchFamily="18" charset="0"/>
                            </a:rPr>
                            <m:t>𝑣𝑎𝑐</m:t>
                          </m:r>
                          <m:r>
                            <a:rPr lang="en-US" b="0" i="1" dirty="0" smtClean="0">
                              <a:solidFill>
                                <a:prstClr val="black"/>
                              </a:solidFill>
                              <a:latin typeface="Cambria Math" panose="02040503050406030204" pitchFamily="18" charset="0"/>
                            </a:rPr>
                            <m:t>|</m:t>
                          </m:r>
                          <m:sSub>
                            <m:sSubPr>
                              <m:ctrlPr>
                                <a:rPr lang="en-US" b="0" i="1" dirty="0" smtClean="0">
                                  <a:solidFill>
                                    <a:prstClr val="black"/>
                                  </a:solidFill>
                                  <a:latin typeface="Cambria Math" panose="02040503050406030204" pitchFamily="18" charset="0"/>
                                  <a:ea typeface="Cambria Math" panose="02040503050406030204" pitchFamily="18" charset="0"/>
                                </a:rPr>
                              </m:ctrlPr>
                            </m:sSubPr>
                            <m:e>
                              <m:acc>
                                <m:accPr>
                                  <m:chr m:val="̂"/>
                                  <m:ctrlPr>
                                    <a:rPr lang="en-US" i="1" dirty="0" smtClean="0">
                                      <a:solidFill>
                                        <a:prstClr val="black"/>
                                      </a:solidFill>
                                      <a:latin typeface="Cambria Math" panose="02040503050406030204" pitchFamily="18" charset="0"/>
                                    </a:rPr>
                                  </m:ctrlPr>
                                </m:accPr>
                                <m:e>
                                  <m:r>
                                    <m:rPr>
                                      <m:sty m:val="p"/>
                                    </m:rPr>
                                    <a:rPr lang="en-US" b="0" i="0" dirty="0" smtClean="0">
                                      <a:solidFill>
                                        <a:prstClr val="black"/>
                                      </a:solidFill>
                                      <a:latin typeface="Cambria Math" panose="02040503050406030204" pitchFamily="18" charset="0"/>
                                    </a:rPr>
                                    <m:t>Ω</m:t>
                                  </m:r>
                                </m:e>
                              </m:acc>
                            </m:e>
                            <m:sub>
                              <m:sSub>
                                <m:sSubPr>
                                  <m:ctrlPr>
                                    <a:rPr lang="en-US" b="0" i="1" dirty="0" smtClean="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𝑆</m:t>
                                  </m:r>
                                </m:e>
                                <m:sub>
                                  <m:r>
                                    <a:rPr lang="en-US" b="0" i="1" dirty="0" smtClean="0">
                                      <a:solidFill>
                                        <a:prstClr val="black"/>
                                      </a:solidFill>
                                      <a:latin typeface="Cambria Math" panose="02040503050406030204" pitchFamily="18" charset="0"/>
                                    </a:rPr>
                                    <m:t>𝑖</m:t>
                                  </m:r>
                                </m:sub>
                              </m:sSub>
                            </m:sub>
                          </m:sSub>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t> </m:t>
                          </m:r>
                          <m:acc>
                            <m:accPr>
                              <m:chr m:val="̂"/>
                              <m:ctrlPr>
                                <a:rPr lang="en-US" b="0" i="1" dirty="0" smtClean="0">
                                  <a:solidFill>
                                    <a:prstClr val="black"/>
                                  </a:solidFill>
                                  <a:latin typeface="Cambria Math" panose="02040503050406030204" pitchFamily="18" charset="0"/>
                                </a:rPr>
                              </m:ctrlPr>
                            </m:accPr>
                            <m:e>
                              <m:r>
                                <a:rPr lang="en-US" b="0" i="1" dirty="0" smtClean="0">
                                  <a:solidFill>
                                    <a:prstClr val="black"/>
                                  </a:solidFill>
                                  <a:latin typeface="Cambria Math" panose="02040503050406030204" pitchFamily="18" charset="0"/>
                                </a:rPr>
                                <m:t>𝑈</m:t>
                              </m:r>
                            </m:e>
                          </m:acc>
                          <m:r>
                            <a:rPr lang="en-US" b="0" i="1" dirty="0" smtClean="0">
                              <a:solidFill>
                                <a:prstClr val="black"/>
                              </a:solidFill>
                              <a:latin typeface="Cambria Math" panose="02040503050406030204" pitchFamily="18" charset="0"/>
                            </a:rPr>
                            <m:t>(</m:t>
                          </m:r>
                          <m:r>
                            <a:rPr lang="en-US" b="0" i="1" dirty="0" smtClean="0">
                              <a:solidFill>
                                <a:prstClr val="black"/>
                              </a:solidFill>
                              <a:latin typeface="Cambria Math" panose="02040503050406030204" pitchFamily="18" charset="0"/>
                            </a:rPr>
                            <m:t>𝜏</m:t>
                          </m:r>
                          <m:r>
                            <a:rPr lang="en-US" b="0" i="1" dirty="0" smtClean="0">
                              <a:solidFill>
                                <a:prstClr val="black"/>
                              </a:solidFill>
                              <a:latin typeface="Cambria Math" panose="02040503050406030204" pitchFamily="18" charset="0"/>
                            </a:rPr>
                            <m:t>, </m:t>
                          </m:r>
                          <m:sSub>
                            <m:sSubPr>
                              <m:ctrlPr>
                                <a:rPr lang="en-US" b="0" i="1" dirty="0" smtClean="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𝜏</m:t>
                              </m:r>
                            </m:e>
                            <m:sub>
                              <m:r>
                                <a:rPr lang="en-US" b="0" i="1" dirty="0" smtClean="0">
                                  <a:solidFill>
                                    <a:prstClr val="black"/>
                                  </a:solidFill>
                                  <a:latin typeface="Cambria Math" panose="02040503050406030204" pitchFamily="18" charset="0"/>
                                </a:rPr>
                                <m:t>0</m:t>
                              </m:r>
                            </m:sub>
                          </m:sSub>
                          <m:r>
                            <a:rPr lang="en-US" b="0" i="1" dirty="0" smtClean="0">
                              <a:solidFill>
                                <a:prstClr val="black"/>
                              </a:solidFill>
                              <a:latin typeface="Cambria Math" panose="02040503050406030204" pitchFamily="18" charset="0"/>
                            </a:rPr>
                            <m:t>)</m:t>
                          </m:r>
                          <m:sSub>
                            <m:sSubPr>
                              <m:ctrlPr>
                                <a:rPr lang="en-US" b="0" i="1" dirty="0" smtClean="0">
                                  <a:solidFill>
                                    <a:prstClr val="black"/>
                                  </a:solidFill>
                                  <a:latin typeface="Cambria Math" panose="02040503050406030204" pitchFamily="18" charset="0"/>
                                </a:rPr>
                              </m:ctrlPr>
                            </m:sSubPr>
                            <m:e>
                              <m:acc>
                                <m:accPr>
                                  <m:chr m:val="̂"/>
                                  <m:ctrlPr>
                                    <a:rPr lang="en-US" b="0" i="1" dirty="0" smtClean="0">
                                      <a:solidFill>
                                        <a:prstClr val="black"/>
                                      </a:solidFill>
                                      <a:latin typeface="Cambria Math" panose="02040503050406030204" pitchFamily="18" charset="0"/>
                                    </a:rPr>
                                  </m:ctrlPr>
                                </m:accPr>
                                <m:e>
                                  <m:r>
                                    <m:rPr>
                                      <m:sty m:val="p"/>
                                    </m:rPr>
                                    <a:rPr lang="en-US" b="0" i="0" dirty="0" smtClean="0">
                                      <a:solidFill>
                                        <a:prstClr val="black"/>
                                      </a:solidFill>
                                      <a:latin typeface="Cambria Math" panose="02040503050406030204" pitchFamily="18" charset="0"/>
                                    </a:rPr>
                                    <m:t>Π</m:t>
                                  </m:r>
                                </m:e>
                              </m:acc>
                            </m:e>
                            <m:sub>
                              <m:sSub>
                                <m:sSubPr>
                                  <m:ctrlPr>
                                    <a:rPr lang="en-US" b="0" i="1" dirty="0" smtClean="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𝐴</m:t>
                                  </m:r>
                                </m:e>
                                <m:sub>
                                  <m:r>
                                    <a:rPr lang="en-US" b="0" i="1" dirty="0" smtClean="0">
                                      <a:solidFill>
                                        <a:prstClr val="black"/>
                                      </a:solidFill>
                                      <a:latin typeface="Cambria Math" panose="02040503050406030204" pitchFamily="18" charset="0"/>
                                    </a:rPr>
                                    <m:t>𝑗</m:t>
                                  </m:r>
                                </m:sub>
                              </m:sSub>
                            </m:sub>
                          </m:sSub>
                        </m:e>
                      </m:d>
                    </m:oMath>
                  </m:oMathPara>
                </a14:m>
                <a:endParaRPr lang="en-CA" dirty="0"/>
              </a:p>
              <a:p>
                <a:r>
                  <a:rPr lang="en-CA" dirty="0"/>
                  <a:t>Where </a:t>
                </a:r>
                <a14:m>
                  <m:oMath xmlns:m="http://schemas.openxmlformats.org/officeDocument/2006/math">
                    <m:sSub>
                      <m:sSubPr>
                        <m:ctrlPr>
                          <a:rPr lang="en-US" b="0" i="1" smtClean="0">
                            <a:latin typeface="Cambria Math" panose="02040503050406030204" pitchFamily="18" charset="0"/>
                          </a:rPr>
                        </m:ctrlPr>
                      </m:sSubPr>
                      <m:e>
                        <m:acc>
                          <m:accPr>
                            <m:chr m:val="̂"/>
                            <m:ctrlPr>
                              <a:rPr lang="en-CA" i="1" smtClean="0">
                                <a:latin typeface="Cambria Math" panose="02040503050406030204" pitchFamily="18" charset="0"/>
                              </a:rPr>
                            </m:ctrlPr>
                          </m:accPr>
                          <m:e>
                            <m:r>
                              <m:rPr>
                                <m:sty m:val="p"/>
                              </m:rPr>
                              <a:rPr lang="en-US" b="0" i="0" smtClean="0">
                                <a:latin typeface="Cambria Math" panose="02040503050406030204" pitchFamily="18" charset="0"/>
                              </a:rPr>
                              <m:t>Π</m:t>
                            </m:r>
                          </m:e>
                        </m:acc>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𝑗</m:t>
                            </m:r>
                          </m:sub>
                        </m:sSub>
                      </m:sub>
                    </m:sSub>
                    <m:r>
                      <a:rPr lang="en-US" b="0" i="1" smtClean="0">
                        <a:latin typeface="Cambria Math" panose="02040503050406030204" pitchFamily="18" charset="0"/>
                      </a:rPr>
                      <m:t>=</m:t>
                    </m:r>
                    <m:sSubSup>
                      <m:sSubSupPr>
                        <m:ctrlPr>
                          <a:rPr lang="en-US" b="0" i="1" dirty="0" smtClean="0">
                            <a:solidFill>
                              <a:prstClr val="black"/>
                            </a:solidFill>
                            <a:latin typeface="Cambria Math" panose="02040503050406030204" pitchFamily="18" charset="0"/>
                          </a:rPr>
                        </m:ctrlPr>
                      </m:sSubSupPr>
                      <m:e>
                        <m:acc>
                          <m:accPr>
                            <m:chr m:val="̂"/>
                            <m:ctrlPr>
                              <a:rPr lang="en-US" b="0" i="1" dirty="0" smtClean="0">
                                <a:solidFill>
                                  <a:prstClr val="black"/>
                                </a:solidFill>
                                <a:latin typeface="Cambria Math" panose="02040503050406030204" pitchFamily="18" charset="0"/>
                              </a:rPr>
                            </m:ctrlPr>
                          </m:accPr>
                          <m:e>
                            <m:r>
                              <m:rPr>
                                <m:sty m:val="p"/>
                              </m:rPr>
                              <a:rPr lang="en-US" b="0" i="0" dirty="0" smtClean="0">
                                <a:solidFill>
                                  <a:prstClr val="black"/>
                                </a:solidFill>
                                <a:latin typeface="Cambria Math" panose="02040503050406030204" pitchFamily="18" charset="0"/>
                              </a:rPr>
                              <m:t>Ω</m:t>
                            </m:r>
                          </m:e>
                        </m:acc>
                      </m:e>
                      <m:sub>
                        <m:sSub>
                          <m:sSubPr>
                            <m:ctrlPr>
                              <a:rPr lang="en-US" b="0" i="1" dirty="0" smtClean="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𝐴</m:t>
                            </m:r>
                          </m:e>
                          <m:sub>
                            <m:r>
                              <a:rPr lang="en-US" b="0" i="1" dirty="0" smtClean="0">
                                <a:solidFill>
                                  <a:prstClr val="black"/>
                                </a:solidFill>
                                <a:latin typeface="Cambria Math" panose="02040503050406030204" pitchFamily="18" charset="0"/>
                              </a:rPr>
                              <m:t>𝑗</m:t>
                            </m:r>
                          </m:sub>
                        </m:sSub>
                      </m:sub>
                      <m:sup>
                        <m:r>
                          <a:rPr lang="en-US" i="1" dirty="0" smtClean="0">
                            <a:solidFill>
                              <a:prstClr val="black"/>
                            </a:solidFill>
                            <a:latin typeface="Cambria Math" panose="02040503050406030204" pitchFamily="18" charset="0"/>
                            <a:ea typeface="Cambria Math" panose="02040503050406030204" pitchFamily="18" charset="0"/>
                          </a:rPr>
                          <m:t>†</m:t>
                        </m:r>
                      </m:sup>
                    </m:sSubSup>
                    <m:r>
                      <a:rPr lang="en-US" b="0" i="1" dirty="0" smtClean="0">
                        <a:solidFill>
                          <a:prstClr val="black"/>
                        </a:solidFill>
                        <a:latin typeface="Cambria Math" panose="02040503050406030204" pitchFamily="18" charset="0"/>
                      </a:rPr>
                      <m:t>|</m:t>
                    </m:r>
                    <m:r>
                      <a:rPr lang="en-US" b="0" i="1" dirty="0" smtClean="0">
                        <a:solidFill>
                          <a:prstClr val="black"/>
                        </a:solidFill>
                        <a:latin typeface="Cambria Math" panose="02040503050406030204" pitchFamily="18" charset="0"/>
                      </a:rPr>
                      <m:t>𝑣𝑎𝑐</m:t>
                    </m:r>
                    <m:r>
                      <a:rPr lang="en-US" b="0" i="1" dirty="0" smtClean="0">
                        <a:solidFill>
                          <a:prstClr val="black"/>
                        </a:solidFill>
                        <a:latin typeface="Cambria Math" panose="02040503050406030204" pitchFamily="18" charset="0"/>
                      </a:rPr>
                      <m:t>⟩⟨</m:t>
                    </m:r>
                    <m:r>
                      <a:rPr lang="en-US" b="0" i="1" dirty="0" smtClean="0">
                        <a:solidFill>
                          <a:prstClr val="black"/>
                        </a:solidFill>
                        <a:latin typeface="Cambria Math" panose="02040503050406030204" pitchFamily="18" charset="0"/>
                      </a:rPr>
                      <m:t>𝑣𝑎𝑐</m:t>
                    </m:r>
                    <m:r>
                      <a:rPr lang="en-US" b="0" i="1" dirty="0" smtClean="0">
                        <a:solidFill>
                          <a:prstClr val="black"/>
                        </a:solidFill>
                        <a:latin typeface="Cambria Math" panose="02040503050406030204" pitchFamily="18" charset="0"/>
                      </a:rPr>
                      <m:t>|</m:t>
                    </m:r>
                    <m:sSub>
                      <m:sSubPr>
                        <m:ctrlPr>
                          <a:rPr lang="en-US" b="0" i="1" dirty="0" smtClean="0">
                            <a:solidFill>
                              <a:prstClr val="black"/>
                            </a:solidFill>
                            <a:latin typeface="Cambria Math" panose="02040503050406030204" pitchFamily="18" charset="0"/>
                            <a:ea typeface="Cambria Math" panose="02040503050406030204" pitchFamily="18" charset="0"/>
                          </a:rPr>
                        </m:ctrlPr>
                      </m:sSubPr>
                      <m:e>
                        <m:acc>
                          <m:accPr>
                            <m:chr m:val="̂"/>
                            <m:ctrlPr>
                              <a:rPr lang="en-US" i="1" dirty="0" smtClean="0">
                                <a:solidFill>
                                  <a:prstClr val="black"/>
                                </a:solidFill>
                                <a:latin typeface="Cambria Math" panose="02040503050406030204" pitchFamily="18" charset="0"/>
                              </a:rPr>
                            </m:ctrlPr>
                          </m:accPr>
                          <m:e>
                            <m:r>
                              <m:rPr>
                                <m:sty m:val="p"/>
                              </m:rPr>
                              <a:rPr lang="en-US" b="0" i="0" dirty="0" smtClean="0">
                                <a:solidFill>
                                  <a:prstClr val="black"/>
                                </a:solidFill>
                                <a:latin typeface="Cambria Math" panose="02040503050406030204" pitchFamily="18" charset="0"/>
                              </a:rPr>
                              <m:t>Ω</m:t>
                            </m:r>
                          </m:e>
                        </m:acc>
                      </m:e>
                      <m:sub>
                        <m:sSub>
                          <m:sSubPr>
                            <m:ctrlPr>
                              <a:rPr lang="en-US" b="0" i="1" dirty="0" smtClean="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𝐴</m:t>
                            </m:r>
                          </m:e>
                          <m:sub>
                            <m:r>
                              <a:rPr lang="en-US" b="0" i="1" dirty="0" smtClean="0">
                                <a:solidFill>
                                  <a:prstClr val="black"/>
                                </a:solidFill>
                                <a:latin typeface="Cambria Math" panose="02040503050406030204" pitchFamily="18" charset="0"/>
                              </a:rPr>
                              <m:t>𝑗</m:t>
                            </m:r>
                          </m:sub>
                        </m:sSub>
                      </m:sub>
                    </m:sSub>
                  </m:oMath>
                </a14:m>
                <a:r>
                  <a:rPr lang="en-CA" dirty="0"/>
                  <a:t> is a projective measurement of the action modes corresponding to action hyperedge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𝑗</m:t>
                        </m:r>
                      </m:sub>
                    </m:sSub>
                  </m:oMath>
                </a14:m>
                <a:r>
                  <a:rPr lang="en-CA" dirty="0"/>
                  <a:t>. In practice however,</a:t>
                </a:r>
                <a:r>
                  <a:rPr lang="en-CA" baseline="0" dirty="0"/>
                  <a:t> one could just use the projector for all action modes and then couple out all the actions (or some subset of them; i.e. the subset generation that happens in </a:t>
                </a:r>
                <a:r>
                  <a:rPr lang="en-CA" baseline="0" dirty="0" err="1"/>
                  <a:t>mePS</a:t>
                </a:r>
                <a:r>
                  <a:rPr lang="en-CA" baseline="0" dirty="0"/>
                  <a:t>, but with some consistency constraints) that have nonzero excitations.</a:t>
                </a:r>
              </a:p>
              <a:p>
                <a:r>
                  <a:rPr lang="en-CA" baseline="0" dirty="0"/>
                  <a:t>	- How to decide which action hyperedges get coupled out? We can first apply consistency condition to punish and/or eliminate conflicting actions, then apply a probability distribution to all subsets of the remaining actions and sample one subset (basically another 2-layer PS).</a:t>
                </a:r>
              </a:p>
              <a:p>
                <a:r>
                  <a:rPr lang="en-CA" baseline="0" dirty="0"/>
                  <a:t>	- What to do when none of the measured modes are action modes? We can just reset the deliberation until we get action modes, or we can dilate the space with many copies of the actions so that action modes are guaranteed to be measured.</a:t>
                </a:r>
              </a:p>
              <a:p>
                <a:r>
                  <a:rPr lang="en-CA" baseline="0" dirty="0"/>
                  <a:t>	</a:t>
                </a:r>
                <a:endParaRPr lang="en-CA" dirty="0"/>
              </a:p>
              <a:p>
                <a:endParaRPr lang="en-CA" dirty="0"/>
              </a:p>
              <a:p>
                <a:r>
                  <a:rPr lang="en-CA" dirty="0"/>
                  <a:t>Can we teleport the chosen action states to a new state that is then the input for a circuit that represents the environment and then repeat this procedure but for the environment circuit so that we have quantum interactions only?</a:t>
                </a:r>
              </a:p>
            </p:txBody>
          </p:sp>
        </mc:Choice>
        <mc:Fallback xmlns="">
          <p:sp>
            <p:nvSpPr>
              <p:cNvPr id="3" name="Notes Placeholder 2"/>
              <p:cNvSpPr>
                <a:spLocks noGrp="1"/>
              </p:cNvSpPr>
              <p:nvPr>
                <p:ph type="body" idx="1"/>
              </p:nvPr>
            </p:nvSpPr>
            <p:spPr/>
            <p:txBody>
              <a:bodyPr/>
              <a:lstStyle/>
              <a:p>
                <a:r>
                  <a:rPr lang="en-CA" sz="1200" b="0" i="0" dirty="0">
                    <a:latin typeface="Cambria Math" panose="02040503050406030204" pitchFamily="18" charset="0"/>
                  </a:rPr>
                  <a:t>𝑉 ̂</a:t>
                </a:r>
                <a:r>
                  <a:rPr lang="en-CA" sz="1200" i="0" dirty="0">
                    <a:latin typeface="Cambria Math" panose="02040503050406030204" pitchFamily="18" charset="0"/>
                  </a:rPr>
                  <a:t>(</a:t>
                </a:r>
                <a:r>
                  <a:rPr lang="en-CA" sz="1200" b="0" i="0" dirty="0">
                    <a:latin typeface="Cambria Math" panose="02040503050406030204" pitchFamily="18" charset="0"/>
                  </a:rPr>
                  <a:t>𝜏, 𝜏_0 )</a:t>
                </a:r>
                <a:r>
                  <a:rPr lang="en-CA" sz="1200" i="0" dirty="0">
                    <a:latin typeface="Cambria Math" panose="02040503050406030204" pitchFamily="18" charset="0"/>
                  </a:rPr>
                  <a:t>=𝒯𝑒^(</a:t>
                </a:r>
                <a:r>
                  <a:rPr lang="en-CA" sz="1200" i="0" dirty="0" err="1">
                    <a:latin typeface="Cambria Math" panose="02040503050406030204" pitchFamily="18" charset="0"/>
                  </a:rPr>
                  <a:t>𝑖</a:t>
                </a:r>
                <a:r>
                  <a:rPr lang="en-CA" sz="1200" i="0" dirty="0">
                    <a:latin typeface="Cambria Math" panose="02040503050406030204" pitchFamily="18" charset="0"/>
                  </a:rPr>
                  <a:t>∫</a:t>
                </a:r>
                <a:r>
                  <a:rPr lang="en-CA" sz="1200" b="0" i="0" dirty="0">
                    <a:latin typeface="Cambria Math" panose="02040503050406030204" pitchFamily="18" charset="0"/>
                  </a:rPr>
                  <a:t>_(𝜏_0)^𝜏▒𝑑𝑡 (</a:t>
                </a:r>
                <a:r>
                  <a:rPr lang="en-CA" sz="1200" i="0" dirty="0">
                    <a:latin typeface="Cambria Math" panose="02040503050406030204" pitchFamily="18" charset="0"/>
                  </a:rPr>
                  <a:t>𝐻</a:t>
                </a:r>
                <a:r>
                  <a:rPr lang="en-CA" sz="1200" b="0" i="0" dirty="0">
                    <a:latin typeface="Cambria Math" panose="02040503050406030204" pitchFamily="18" charset="0"/>
                  </a:rPr>
                  <a:t>(𝑡) ) ̂ )=</a:t>
                </a:r>
                <a:r>
                  <a:rPr lang="pt-BR" sz="1200" b="0" i="0" dirty="0">
                    <a:latin typeface="Cambria Math" panose="02040503050406030204" pitchFamily="18" charset="0"/>
                  </a:rPr>
                  <a:t>lim┬(</a:t>
                </a:r>
                <a:r>
                  <a:rPr lang="en-CA" sz="1200" b="0" i="0" dirty="0">
                    <a:latin typeface="Cambria Math" panose="02040503050406030204" pitchFamily="18" charset="0"/>
                  </a:rPr>
                  <a:t>𝑁</a:t>
                </a:r>
                <a:r>
                  <a:rPr lang="pt-BR" sz="1200" b="0" i="0" dirty="0">
                    <a:latin typeface="Cambria Math" panose="02040503050406030204" pitchFamily="18" charset="0"/>
                  </a:rPr>
                  <a:t>→∞)⁡lim┬(</a:t>
                </a:r>
                <a:r>
                  <a:rPr lang="en-CA" sz="1200" b="0" i="0" dirty="0">
                    <a:latin typeface="Cambria Math" panose="02040503050406030204" pitchFamily="18" charset="0"/>
                  </a:rPr>
                  <a:t>𝑘→∞</a:t>
                </a:r>
                <a:r>
                  <a:rPr lang="pt-BR" sz="1200" b="0" i="0" dirty="0">
                    <a:latin typeface="Cambria Math" panose="02040503050406030204" pitchFamily="18" charset="0"/>
                  </a:rPr>
                  <a:t>)⁡∏</a:t>
                </a:r>
                <a:r>
                  <a:rPr lang="en-CA" sz="1200" b="0" i="0" dirty="0">
                    <a:latin typeface="Cambria Math" panose="02040503050406030204" pitchFamily="18" charset="0"/>
                  </a:rPr>
                  <a:t>_𝑛^𝑁▒</a:t>
                </a:r>
                <a:r>
                  <a:rPr lang="pt-BR" sz="1200" b="0" i="0" dirty="0">
                    <a:latin typeface="Cambria Math" panose="02040503050406030204" pitchFamily="18" charset="0"/>
                  </a:rPr>
                  <a:t>(</a:t>
                </a:r>
                <a:r>
                  <a:rPr lang="en-CA" sz="1200" b="0" i="0" dirty="0">
                    <a:latin typeface="Cambria Math" panose="02040503050406030204" pitchFamily="18" charset="0"/>
                  </a:rPr>
                  <a:t>𝐼</a:t>
                </a:r>
                <a:r>
                  <a:rPr lang="pt-BR" sz="1200" i="0" dirty="0">
                    <a:latin typeface="Cambria Math" panose="02040503050406030204" pitchFamily="18" charset="0"/>
                  </a:rPr>
                  <a:t>+</a:t>
                </a:r>
                <a:r>
                  <a:rPr lang="en-CA" sz="1200" b="0" i="0" dirty="0">
                    <a:latin typeface="Cambria Math" panose="02040503050406030204" pitchFamily="18" charset="0"/>
                  </a:rPr>
                  <a:t>𝑖</a:t>
                </a:r>
                <a:r>
                  <a:rPr lang="pt-BR" sz="1200" b="0" i="0" dirty="0">
                    <a:latin typeface="Cambria Math" panose="02040503050406030204" pitchFamily="18" charset="0"/>
                  </a:rPr>
                  <a:t>/</a:t>
                </a:r>
                <a:r>
                  <a:rPr lang="en-CA" sz="1200" b="0" i="0" dirty="0">
                    <a:latin typeface="Cambria Math" panose="02040503050406030204" pitchFamily="18" charset="0"/>
                  </a:rPr>
                  <a:t>𝑘</a:t>
                </a:r>
                <a:r>
                  <a:rPr lang="pt-BR" sz="1200" b="0" i="0" dirty="0">
                    <a:latin typeface="Cambria Math" panose="02040503050406030204" pitchFamily="18" charset="0"/>
                  </a:rPr>
                  <a:t> </a:t>
                </a:r>
                <a:r>
                  <a:rPr lang="en-CA" sz="1200" b="0" i="0" dirty="0">
                    <a:latin typeface="Cambria Math" panose="02040503050406030204" pitchFamily="18" charset="0"/>
                  </a:rPr>
                  <a:t>𝐻</a:t>
                </a:r>
                <a:r>
                  <a:rPr lang="pt-BR" sz="1200" b="0" i="0" dirty="0">
                    <a:latin typeface="Cambria Math" panose="02040503050406030204" pitchFamily="18" charset="0"/>
                  </a:rPr>
                  <a:t> ̂</a:t>
                </a:r>
                <a:r>
                  <a:rPr lang="en-CA" sz="1200" b="0" i="0" dirty="0">
                    <a:latin typeface="Cambria Math" panose="02040503050406030204" pitchFamily="18" charset="0"/>
                  </a:rPr>
                  <a:t>(𝑛𝑑</a:t>
                </a:r>
                <a:r>
                  <a:rPr lang="en-CA" sz="1200" i="0" dirty="0">
                    <a:latin typeface="Cambria Math" panose="02040503050406030204" pitchFamily="18" charset="0"/>
                  </a:rPr>
                  <a:t>𝑡)</a:t>
                </a:r>
                <a:r>
                  <a:rPr lang="en-CA" sz="1200" b="0" i="0" dirty="0">
                    <a:latin typeface="Cambria Math" panose="02040503050406030204" pitchFamily="18" charset="0"/>
                  </a:rPr>
                  <a:t>𝑑𝑡)^𝑘  </a:t>
                </a:r>
                <a:endParaRPr lang="en-CA" dirty="0"/>
              </a:p>
              <a:p>
                <a:r>
                  <a:rPr lang="en-CA" sz="1200" b="0" i="0" dirty="0">
                    <a:latin typeface="Cambria Math" panose="02040503050406030204" pitchFamily="18" charset="0"/>
                  </a:rPr>
                  <a:t>𝑉 ̂</a:t>
                </a:r>
                <a:r>
                  <a:rPr lang="en-CA" sz="1200" i="0" dirty="0">
                    <a:latin typeface="Cambria Math" panose="02040503050406030204" pitchFamily="18" charset="0"/>
                  </a:rPr>
                  <a:t>(</a:t>
                </a:r>
                <a:r>
                  <a:rPr lang="en-CA" sz="1200" i="0" dirty="0">
                    <a:latin typeface="Cambria Math" panose="02040503050406030204" pitchFamily="18" charset="0"/>
                    <a:ea typeface="Cambria Math" panose="02040503050406030204" pitchFamily="18" charset="0"/>
                  </a:rPr>
                  <a:t>∆</a:t>
                </a:r>
                <a:r>
                  <a:rPr lang="en-CA" sz="1200" i="0" dirty="0">
                    <a:latin typeface="Cambria Math" panose="02040503050406030204" pitchFamily="18" charset="0"/>
                  </a:rPr>
                  <a:t>𝑡)</a:t>
                </a:r>
                <a:r>
                  <a:rPr lang="en-CA" sz="1200" b="0" i="0" dirty="0">
                    <a:latin typeface="Cambria Math" panose="02040503050406030204" pitchFamily="18" charset="0"/>
                  </a:rPr>
                  <a:t>=</a:t>
                </a:r>
                <a:r>
                  <a:rPr lang="pt-BR" sz="1200" i="0" dirty="0">
                    <a:latin typeface="Cambria Math" panose="02040503050406030204" pitchFamily="18" charset="0"/>
                  </a:rPr>
                  <a:t>lim┬(</a:t>
                </a:r>
                <a:r>
                  <a:rPr lang="en-CA" sz="1200" i="0" dirty="0">
                    <a:latin typeface="Cambria Math" panose="02040503050406030204" pitchFamily="18" charset="0"/>
                  </a:rPr>
                  <a:t>𝑘→𝐾</a:t>
                </a:r>
                <a:r>
                  <a:rPr lang="pt-BR" sz="1200" i="0" dirty="0">
                    <a:latin typeface="Cambria Math" panose="02040503050406030204" pitchFamily="18" charset="0"/>
                  </a:rPr>
                  <a:t>)⁡〖(</a:t>
                </a:r>
                <a:r>
                  <a:rPr lang="en-CA" sz="1200" i="0" dirty="0">
                    <a:latin typeface="Cambria Math" panose="02040503050406030204" pitchFamily="18" charset="0"/>
                  </a:rPr>
                  <a:t>𝐼</a:t>
                </a:r>
                <a:r>
                  <a:rPr lang="pt-BR" sz="1200" i="0" dirty="0">
                    <a:latin typeface="Cambria Math" panose="02040503050406030204" pitchFamily="18" charset="0"/>
                  </a:rPr>
                  <a:t>+</a:t>
                </a:r>
                <a:r>
                  <a:rPr lang="en-CA" sz="1200" i="0" dirty="0">
                    <a:latin typeface="Cambria Math" panose="02040503050406030204" pitchFamily="18" charset="0"/>
                  </a:rPr>
                  <a:t>𝑖</a:t>
                </a:r>
                <a:r>
                  <a:rPr lang="en-CA" sz="1200" i="0" dirty="0">
                    <a:latin typeface="Cambria Math" panose="02040503050406030204" pitchFamily="18" charset="0"/>
                    <a:ea typeface="Cambria Math" panose="02040503050406030204" pitchFamily="18" charset="0"/>
                  </a:rPr>
                  <a:t>∆</a:t>
                </a:r>
                <a:r>
                  <a:rPr lang="en-CA" sz="1200" i="0" dirty="0">
                    <a:latin typeface="Cambria Math" panose="02040503050406030204" pitchFamily="18" charset="0"/>
                  </a:rPr>
                  <a:t>𝑡</a:t>
                </a:r>
                <a:r>
                  <a:rPr lang="pt-BR" sz="1200" i="0" dirty="0">
                    <a:latin typeface="Cambria Math" panose="02040503050406030204" pitchFamily="18" charset="0"/>
                  </a:rPr>
                  <a:t>/</a:t>
                </a:r>
                <a:r>
                  <a:rPr lang="en-CA" sz="1200" i="0" dirty="0">
                    <a:latin typeface="Cambria Math" panose="02040503050406030204" pitchFamily="18" charset="0"/>
                  </a:rPr>
                  <a:t>𝑘</a:t>
                </a:r>
                <a:r>
                  <a:rPr lang="pt-BR" sz="1200" i="0" dirty="0">
                    <a:latin typeface="Cambria Math" panose="02040503050406030204" pitchFamily="18" charset="0"/>
                  </a:rPr>
                  <a:t> </a:t>
                </a:r>
                <a:r>
                  <a:rPr lang="en-CA" sz="1200" i="0" dirty="0">
                    <a:latin typeface="Cambria Math" panose="02040503050406030204" pitchFamily="18" charset="0"/>
                  </a:rPr>
                  <a:t>𝐻</a:t>
                </a:r>
                <a:r>
                  <a:rPr lang="pt-BR" sz="1200" i="0" dirty="0">
                    <a:latin typeface="Cambria Math" panose="02040503050406030204" pitchFamily="18" charset="0"/>
                  </a:rPr>
                  <a:t> ̂</a:t>
                </a:r>
                <a:r>
                  <a:rPr lang="en-CA" sz="1200" i="0" dirty="0">
                    <a:latin typeface="Cambria Math" panose="02040503050406030204" pitchFamily="18" charset="0"/>
                  </a:rPr>
                  <a:t> )^𝑘 </a:t>
                </a:r>
                <a:r>
                  <a:rPr lang="pt-BR" sz="1200" i="0" dirty="0">
                    <a:latin typeface="Cambria Math" panose="02040503050406030204" pitchFamily="18" charset="0"/>
                  </a:rPr>
                  <a:t>〗</a:t>
                </a:r>
                <a:endParaRPr lang="en-CA" dirty="0"/>
              </a:p>
              <a:p>
                <a:r>
                  <a:rPr lang="en-US" i="0" dirty="0">
                    <a:solidFill>
                      <a:prstClr val="black"/>
                    </a:solidFill>
                    <a:latin typeface="Cambria Math" panose="02040503050406030204" pitchFamily="18" charset="0"/>
                  </a:rPr>
                  <a:t>𝑃_{</a:t>
                </a:r>
                <a:r>
                  <a:rPr lang="en-US" b="0" i="0" dirty="0">
                    <a:solidFill>
                      <a:prstClr val="black"/>
                    </a:solidFill>
                    <a:latin typeface="Cambria Math" panose="02040503050406030204" pitchFamily="18" charset="0"/>
                  </a:rPr>
                  <a:t>𝜏</a:t>
                </a:r>
                <a:r>
                  <a:rPr lang="ar-AE" i="0" dirty="0">
                    <a:solidFill>
                      <a:prstClr val="black"/>
                    </a:solidFill>
                    <a:latin typeface="Cambria Math" panose="02040503050406030204" pitchFamily="18" charset="0"/>
                  </a:rPr>
                  <a:t>, 𝜏_0 }^</a:t>
                </a:r>
                <a:r>
                  <a:rPr lang="en-US" i="0" dirty="0">
                    <a:solidFill>
                      <a:prstClr val="black"/>
                    </a:solidFill>
                    <a:latin typeface="Cambria Math" panose="02040503050406030204" pitchFamily="18" charset="0"/>
                  </a:rPr>
                  <a:t>((𝑛) )</a:t>
                </a:r>
                <a:r>
                  <a:rPr kumimoji="0" lang="ar-AE" sz="1200" b="0" i="0" u="none" strike="noStrike" kern="1200" cap="none" spc="0" normalizeH="0" baseline="0" noProof="0" dirty="0">
                    <a:ln>
                      <a:noFill/>
                    </a:ln>
                    <a:solidFill>
                      <a:prstClr val="black"/>
                    </a:solidFill>
                    <a:effectLst/>
                    <a:uLnTx/>
                    <a:uFillTx/>
                    <a:latin typeface="Cambria Math" panose="02040503050406030204" pitchFamily="18" charset="0"/>
                  </a:rPr>
                  <a:t> (</a:t>
                </a:r>
                <a:r>
                  <a:rPr kumimoji="0" lang="en-US" sz="1200" b="0" i="0" u="none" strike="noStrike" kern="1200" cap="none" spc="0" normalizeH="0" baseline="0" noProof="0" dirty="0">
                    <a:ln>
                      <a:noFill/>
                    </a:ln>
                    <a:solidFill>
                      <a:prstClr val="black"/>
                    </a:solidFill>
                    <a:effectLst/>
                    <a:uLnTx/>
                    <a:uFillTx/>
                    <a:latin typeface="Cambria Math" panose="02040503050406030204" pitchFamily="18" charset="0"/>
                  </a:rPr>
                  <a:t>𝐴_𝑗│𝑆_𝑖</a:t>
                </a:r>
                <a:r>
                  <a:rPr kumimoji="0" lang="ar-AE" sz="1200" b="0" i="0" u="none" strike="noStrike" kern="1200" cap="none" spc="0" normalizeH="0" baseline="0" noProof="0" dirty="0">
                    <a:ln>
                      <a:noFill/>
                    </a:ln>
                    <a:solidFill>
                      <a:prstClr val="black"/>
                    </a:solidFill>
                    <a:effectLst/>
                    <a:uLnTx/>
                    <a:uFillTx/>
                    <a:latin typeface="Cambria Math" panose="02040503050406030204" pitchFamily="18" charset="0"/>
                  </a:rPr>
                  <a:t> )=</a:t>
                </a:r>
                <a:r>
                  <a:rPr kumimoji="0" lang="en-US" sz="1200" b="0" i="0" u="none" strike="noStrike" kern="1200" cap="none" spc="0" normalizeH="0" baseline="0" noProof="0" dirty="0">
                    <a:ln>
                      <a:noFill/>
                    </a:ln>
                    <a:solidFill>
                      <a:prstClr val="black"/>
                    </a:solidFill>
                    <a:effectLst/>
                    <a:uLnTx/>
                    <a:uFillTx/>
                    <a:latin typeface="Cambria Math" panose="02040503050406030204" pitchFamily="18" charset="0"/>
                  </a:rPr>
                  <a:t>𝑡𝑟(𝜌 ̂_(</a:t>
                </a:r>
                <a:r>
                  <a:rPr lang="en-US" b="0" i="0" dirty="0">
                    <a:solidFill>
                      <a:prstClr val="black"/>
                    </a:solidFill>
                    <a:latin typeface="Cambria Math" panose="02040503050406030204" pitchFamily="18" charset="0"/>
                  </a:rPr>
                  <a:t>𝑆_𝑖 </a:t>
                </a:r>
                <a:r>
                  <a:rPr kumimoji="0" lang="en-US" sz="1200" b="0" i="0" u="none" strike="noStrike" kern="1200" cap="none" spc="0" normalizeH="0" baseline="0" noProof="0" dirty="0">
                    <a:ln>
                      <a:noFill/>
                    </a:ln>
                    <a:solidFill>
                      <a:prstClr val="black"/>
                    </a:solidFill>
                    <a:effectLst/>
                    <a:uLnTx/>
                    <a:uFillTx/>
                    <a:latin typeface="Cambria Math" panose="02040503050406030204" pitchFamily="18" charset="0"/>
                  </a:rPr>
                  <a:t>) (</a:t>
                </a:r>
                <a:r>
                  <a:rPr lang="en-US" b="0" i="0" dirty="0">
                    <a:solidFill>
                      <a:prstClr val="black"/>
                    </a:solidFill>
                    <a:latin typeface="Cambria Math" panose="02040503050406030204" pitchFamily="18" charset="0"/>
                  </a:rPr>
                  <a:t>𝜏) Π ̂_(𝐴_𝑗 )</a:t>
                </a:r>
                <a:r>
                  <a:rPr kumimoji="0" lang="en-US" sz="1200" b="0" i="0" u="none" strike="noStrike" kern="1200" cap="none" spc="0" normalizeH="0" baseline="0" noProof="0" dirty="0">
                    <a:ln>
                      <a:noFill/>
                    </a:ln>
                    <a:solidFill>
                      <a:prstClr val="black"/>
                    </a:solidFill>
                    <a:effectLst/>
                    <a:uLnTx/>
                    <a:uFillTx/>
                    <a:latin typeface="Cambria Math" panose="02040503050406030204" pitchFamily="18" charset="0"/>
                  </a:rPr>
                  <a:t> )=𝑡𝑟(𝑈 ̂^</a:t>
                </a:r>
                <a:r>
                  <a:rPr lang="en-US" i="0" dirty="0">
                    <a:solidFill>
                      <a:prstClr val="black"/>
                    </a:solidFill>
                    <a:latin typeface="Cambria Math" panose="02040503050406030204" pitchFamily="18" charset="0"/>
                    <a:ea typeface="Cambria Math" panose="02040503050406030204" pitchFamily="18" charset="0"/>
                  </a:rPr>
                  <a:t>†</a:t>
                </a:r>
                <a:r>
                  <a:rPr lang="en-US" b="0" i="0" dirty="0">
                    <a:solidFill>
                      <a:prstClr val="black"/>
                    </a:solidFill>
                    <a:latin typeface="Cambria Math" panose="02040503050406030204" pitchFamily="18" charset="0"/>
                    <a:ea typeface="Cambria Math" panose="02040503050406030204" pitchFamily="18" charset="0"/>
                  </a:rPr>
                  <a:t> </a:t>
                </a:r>
                <a:r>
                  <a:rPr lang="en-US" b="0" i="0" dirty="0">
                    <a:solidFill>
                      <a:prstClr val="black"/>
                    </a:solidFill>
                    <a:latin typeface="Cambria Math" panose="02040503050406030204" pitchFamily="18" charset="0"/>
                  </a:rPr>
                  <a:t>(𝜏, 𝜏_0)</a:t>
                </a:r>
                <a:r>
                  <a:rPr kumimoji="0" lang="en-US" sz="1200" b="0" i="0" u="none" strike="noStrike" kern="1200" cap="none" spc="0" normalizeH="0" baseline="0" noProof="0" dirty="0">
                    <a:ln>
                      <a:noFill/>
                    </a:ln>
                    <a:solidFill>
                      <a:prstClr val="black"/>
                    </a:solidFill>
                    <a:effectLst/>
                    <a:uLnTx/>
                    <a:uFillTx/>
                    <a:latin typeface="Cambria Math" panose="02040503050406030204" pitchFamily="18" charset="0"/>
                  </a:rPr>
                  <a:t>𝜌 ̂_(</a:t>
                </a:r>
                <a:r>
                  <a:rPr lang="en-US" b="0" i="0" dirty="0">
                    <a:solidFill>
                      <a:prstClr val="black"/>
                    </a:solidFill>
                    <a:latin typeface="Cambria Math" panose="02040503050406030204" pitchFamily="18" charset="0"/>
                  </a:rPr>
                  <a:t>𝑆_𝑖 </a:t>
                </a:r>
                <a:r>
                  <a:rPr kumimoji="0" lang="en-US" sz="1200" b="0" i="0" u="none" strike="noStrike" kern="1200" cap="none" spc="0" normalizeH="0" baseline="0" noProof="0" dirty="0">
                    <a:ln>
                      <a:noFill/>
                    </a:ln>
                    <a:solidFill>
                      <a:prstClr val="black"/>
                    </a:solidFill>
                    <a:effectLst/>
                    <a:uLnTx/>
                    <a:uFillTx/>
                    <a:latin typeface="Cambria Math" panose="02040503050406030204" pitchFamily="18" charset="0"/>
                  </a:rPr>
                  <a:t>) (</a:t>
                </a:r>
                <a:r>
                  <a:rPr lang="en-US" b="0" i="0" dirty="0">
                    <a:solidFill>
                      <a:prstClr val="black"/>
                    </a:solidFill>
                    <a:latin typeface="Cambria Math" panose="02040503050406030204" pitchFamily="18" charset="0"/>
                  </a:rPr>
                  <a:t>𝜏_0 ) 𝑈 ̂(𝜏, 𝜏_0)Π ̂_(𝐴_𝑗 ) )=</a:t>
                </a:r>
                <a:r>
                  <a:rPr kumimoji="0" lang="en-US" sz="1200" b="0" i="0" u="none" strike="noStrike" kern="1200" cap="none" spc="0" normalizeH="0" baseline="0" noProof="0" dirty="0">
                    <a:ln>
                      <a:noFill/>
                    </a:ln>
                    <a:solidFill>
                      <a:prstClr val="black"/>
                    </a:solidFill>
                    <a:effectLst/>
                    <a:uLnTx/>
                    <a:uFillTx/>
                    <a:latin typeface="Cambria Math" panose="02040503050406030204" pitchFamily="18" charset="0"/>
                  </a:rPr>
                  <a:t>𝑡𝑟(𝑈 ̂^</a:t>
                </a:r>
                <a:r>
                  <a:rPr lang="en-US" i="0" dirty="0">
                    <a:solidFill>
                      <a:prstClr val="black"/>
                    </a:solidFill>
                    <a:latin typeface="Cambria Math" panose="02040503050406030204" pitchFamily="18" charset="0"/>
                    <a:ea typeface="Cambria Math" panose="02040503050406030204" pitchFamily="18" charset="0"/>
                  </a:rPr>
                  <a:t>†</a:t>
                </a:r>
                <a:r>
                  <a:rPr lang="en-US" b="0" i="0" dirty="0">
                    <a:solidFill>
                      <a:prstClr val="black"/>
                    </a:solidFill>
                    <a:latin typeface="Cambria Math" panose="02040503050406030204" pitchFamily="18" charset="0"/>
                    <a:ea typeface="Cambria Math" panose="02040503050406030204" pitchFamily="18" charset="0"/>
                  </a:rPr>
                  <a:t> (</a:t>
                </a:r>
                <a:r>
                  <a:rPr lang="en-US" b="0" i="0" dirty="0">
                    <a:solidFill>
                      <a:prstClr val="black"/>
                    </a:solidFill>
                    <a:latin typeface="Cambria Math" panose="02040503050406030204" pitchFamily="18" charset="0"/>
                  </a:rPr>
                  <a:t>𝜏, 𝜏_0 )|</a:t>
                </a:r>
                <a:r>
                  <a:rPr lang="en-US" sz="1200" b="0" i="0" dirty="0">
                    <a:latin typeface="Cambria Math" panose="02040503050406030204" pitchFamily="18" charset="0"/>
                  </a:rPr>
                  <a:t>𝑆_𝑖, 0_(𝑆\S_𝑖 ), 0_𝐶, 0_𝐴</a:t>
                </a:r>
                <a:r>
                  <a:rPr lang="en-US" b="0" i="0" dirty="0">
                    <a:solidFill>
                      <a:prstClr val="black"/>
                    </a:solidFill>
                    <a:latin typeface="Cambria Math" panose="02040503050406030204" pitchFamily="18" charset="0"/>
                  </a:rPr>
                  <a:t>⟩⟨</a:t>
                </a:r>
                <a:r>
                  <a:rPr lang="en-US" sz="1200" b="0" i="0" dirty="0">
                    <a:latin typeface="Cambria Math" panose="02040503050406030204" pitchFamily="18" charset="0"/>
                  </a:rPr>
                  <a:t>𝑆_𝑖, 0_(𝑆\S_𝑖 ), 0_𝐶, 0_𝐴</a:t>
                </a:r>
                <a:r>
                  <a:rPr lang="en-US" sz="1200" b="0" i="0" dirty="0">
                    <a:solidFill>
                      <a:prstClr val="black"/>
                    </a:solidFill>
                    <a:latin typeface="Cambria Math" panose="02040503050406030204" pitchFamily="18" charset="0"/>
                  </a:rPr>
                  <a:t> </a:t>
                </a:r>
                <a:r>
                  <a:rPr lang="en-US" b="0" i="0" dirty="0">
                    <a:solidFill>
                      <a:prstClr val="black"/>
                    </a:solidFill>
                    <a:latin typeface="Cambria Math" panose="02040503050406030204" pitchFamily="18" charset="0"/>
                  </a:rPr>
                  <a:t>|</a:t>
                </a:r>
                <a:r>
                  <a:rPr kumimoji="0" lang="en-US" sz="1200" b="0" i="0" u="none" strike="noStrike" kern="1200" cap="none" spc="0" normalizeH="0" baseline="0" noProof="0" dirty="0">
                    <a:ln>
                      <a:noFill/>
                    </a:ln>
                    <a:solidFill>
                      <a:prstClr val="black"/>
                    </a:solidFill>
                    <a:effectLst/>
                    <a:uLnTx/>
                    <a:uFillTx/>
                    <a:latin typeface="Cambria Math" panose="02040503050406030204" pitchFamily="18" charset="0"/>
                  </a:rPr>
                  <a:t> </a:t>
                </a:r>
                <a:r>
                  <a:rPr lang="en-US" b="0" i="0" dirty="0">
                    <a:solidFill>
                      <a:prstClr val="black"/>
                    </a:solidFill>
                    <a:latin typeface="Cambria Math" panose="02040503050406030204" pitchFamily="18" charset="0"/>
                  </a:rPr>
                  <a:t>𝑈 ̂(𝜏, 𝜏_0)Π ̂_(𝐴_𝑗 ) )=</a:t>
                </a:r>
                <a:r>
                  <a:rPr kumimoji="0" lang="en-US" sz="1200" b="0" i="0" u="none" strike="noStrike" kern="1200" cap="none" spc="0" normalizeH="0" baseline="0" noProof="0" dirty="0">
                    <a:ln>
                      <a:noFill/>
                    </a:ln>
                    <a:solidFill>
                      <a:prstClr val="black"/>
                    </a:solidFill>
                    <a:effectLst/>
                    <a:uLnTx/>
                    <a:uFillTx/>
                    <a:latin typeface="Cambria Math" panose="02040503050406030204" pitchFamily="18" charset="0"/>
                  </a:rPr>
                  <a:t>𝑡𝑟(𝑈 ̂^</a:t>
                </a:r>
                <a:r>
                  <a:rPr lang="en-US" i="0" dirty="0">
                    <a:solidFill>
                      <a:prstClr val="black"/>
                    </a:solidFill>
                    <a:latin typeface="Cambria Math" panose="02040503050406030204" pitchFamily="18" charset="0"/>
                    <a:ea typeface="Cambria Math" panose="02040503050406030204" pitchFamily="18" charset="0"/>
                  </a:rPr>
                  <a:t>†</a:t>
                </a:r>
                <a:r>
                  <a:rPr lang="en-US" b="0" i="0" dirty="0">
                    <a:solidFill>
                      <a:prstClr val="black"/>
                    </a:solidFill>
                    <a:latin typeface="Cambria Math" panose="02040503050406030204" pitchFamily="18" charset="0"/>
                    <a:ea typeface="Cambria Math" panose="02040503050406030204" pitchFamily="18" charset="0"/>
                  </a:rPr>
                  <a:t> (</a:t>
                </a:r>
                <a:r>
                  <a:rPr lang="en-US" b="0" i="0" dirty="0">
                    <a:solidFill>
                      <a:prstClr val="black"/>
                    </a:solidFill>
                    <a:latin typeface="Cambria Math" panose="02040503050406030204" pitchFamily="18" charset="0"/>
                  </a:rPr>
                  <a:t>𝜏, 𝜏_0 ) Ω ̂_(𝑆_𝑖)^</a:t>
                </a:r>
                <a:r>
                  <a:rPr lang="en-US" i="0" dirty="0">
                    <a:solidFill>
                      <a:prstClr val="black"/>
                    </a:solidFill>
                    <a:latin typeface="Cambria Math" panose="02040503050406030204" pitchFamily="18" charset="0"/>
                    <a:ea typeface="Cambria Math" panose="02040503050406030204" pitchFamily="18" charset="0"/>
                  </a:rPr>
                  <a:t>†</a:t>
                </a:r>
                <a:r>
                  <a:rPr lang="en-US" b="0" i="0" dirty="0">
                    <a:solidFill>
                      <a:prstClr val="black"/>
                    </a:solidFill>
                    <a:latin typeface="Cambria Math" panose="02040503050406030204" pitchFamily="18" charset="0"/>
                    <a:ea typeface="Cambria Math" panose="02040503050406030204" pitchFamily="18" charset="0"/>
                  </a:rPr>
                  <a:t> </a:t>
                </a:r>
                <a:r>
                  <a:rPr lang="en-US" b="0" i="0" dirty="0">
                    <a:solidFill>
                      <a:prstClr val="black"/>
                    </a:solidFill>
                    <a:latin typeface="Cambria Math" panose="02040503050406030204" pitchFamily="18" charset="0"/>
                  </a:rPr>
                  <a:t>|𝑣𝑎𝑐⟩⟨𝑣𝑎𝑐|Ω ̂</a:t>
                </a:r>
                <a:r>
                  <a:rPr lang="en-US" b="0" i="0" dirty="0">
                    <a:solidFill>
                      <a:prstClr val="black"/>
                    </a:solidFill>
                    <a:latin typeface="Cambria Math" panose="02040503050406030204" pitchFamily="18" charset="0"/>
                    <a:ea typeface="Cambria Math" panose="02040503050406030204" pitchFamily="18" charset="0"/>
                  </a:rPr>
                  <a:t>_(</a:t>
                </a:r>
                <a:r>
                  <a:rPr lang="en-US" b="0" i="0" dirty="0">
                    <a:solidFill>
                      <a:prstClr val="black"/>
                    </a:solidFill>
                    <a:latin typeface="Cambria Math" panose="02040503050406030204" pitchFamily="18" charset="0"/>
                  </a:rPr>
                  <a:t>𝑆_𝑖 </a:t>
                </a:r>
                <a:r>
                  <a:rPr lang="en-US" b="0" i="0" dirty="0">
                    <a:solidFill>
                      <a:prstClr val="black"/>
                    </a:solidFill>
                    <a:latin typeface="Cambria Math" panose="02040503050406030204" pitchFamily="18" charset="0"/>
                    <a:ea typeface="Cambria Math" panose="02040503050406030204" pitchFamily="18" charset="0"/>
                  </a:rPr>
                  <a:t>)</a:t>
                </a:r>
                <a:r>
                  <a:rPr kumimoji="0" lang="en-US" sz="12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rPr>
                  <a:t> </a:t>
                </a:r>
                <a:r>
                  <a:rPr kumimoji="0" lang="en-US" sz="1200" b="0" i="0" u="none" strike="noStrike" kern="1200" cap="none" spc="0" normalizeH="0" baseline="0" noProof="0" dirty="0">
                    <a:ln>
                      <a:noFill/>
                    </a:ln>
                    <a:solidFill>
                      <a:prstClr val="black"/>
                    </a:solidFill>
                    <a:effectLst/>
                    <a:uLnTx/>
                    <a:uFillTx/>
                    <a:latin typeface="Cambria Math" panose="02040503050406030204" pitchFamily="18" charset="0"/>
                  </a:rPr>
                  <a:t> </a:t>
                </a:r>
                <a:r>
                  <a:rPr lang="en-US" b="0" i="0" dirty="0">
                    <a:solidFill>
                      <a:prstClr val="black"/>
                    </a:solidFill>
                    <a:latin typeface="Cambria Math" panose="02040503050406030204" pitchFamily="18" charset="0"/>
                  </a:rPr>
                  <a:t>𝑈 ̂(𝜏, 𝜏_0)Π ̂_(𝐴_𝑗 ) )</a:t>
                </a:r>
                <a:endParaRPr lang="en-CA" dirty="0"/>
              </a:p>
              <a:p>
                <a:r>
                  <a:rPr lang="en-CA" dirty="0"/>
                  <a:t>Where </a:t>
                </a:r>
                <a:r>
                  <a:rPr lang="en-US" b="0" i="0">
                    <a:latin typeface="Cambria Math" panose="02040503050406030204" pitchFamily="18" charset="0"/>
                  </a:rPr>
                  <a:t>Π</a:t>
                </a:r>
                <a:r>
                  <a:rPr lang="en-CA" b="0" i="0">
                    <a:latin typeface="Cambria Math" panose="02040503050406030204" pitchFamily="18" charset="0"/>
                  </a:rPr>
                  <a:t> ̂</a:t>
                </a:r>
                <a:r>
                  <a:rPr lang="en-US" b="0" i="0">
                    <a:latin typeface="Cambria Math" panose="02040503050406030204" pitchFamily="18" charset="0"/>
                  </a:rPr>
                  <a:t>_(𝐴_𝑗 )=</a:t>
                </a:r>
                <a:r>
                  <a:rPr lang="en-US" b="0" i="0" dirty="0">
                    <a:solidFill>
                      <a:prstClr val="black"/>
                    </a:solidFill>
                    <a:latin typeface="Cambria Math" panose="02040503050406030204" pitchFamily="18" charset="0"/>
                  </a:rPr>
                  <a:t>Ω ̂_(𝐴_𝑗)^</a:t>
                </a:r>
                <a:r>
                  <a:rPr lang="en-US" i="0" dirty="0">
                    <a:solidFill>
                      <a:prstClr val="black"/>
                    </a:solidFill>
                    <a:latin typeface="Cambria Math" panose="02040503050406030204" pitchFamily="18" charset="0"/>
                    <a:ea typeface="Cambria Math" panose="02040503050406030204" pitchFamily="18" charset="0"/>
                  </a:rPr>
                  <a:t>†</a:t>
                </a:r>
                <a:r>
                  <a:rPr lang="en-US" b="0" i="0" dirty="0">
                    <a:solidFill>
                      <a:prstClr val="black"/>
                    </a:solidFill>
                    <a:latin typeface="Cambria Math" panose="02040503050406030204" pitchFamily="18" charset="0"/>
                    <a:ea typeface="Cambria Math" panose="02040503050406030204" pitchFamily="18" charset="0"/>
                  </a:rPr>
                  <a:t> </a:t>
                </a:r>
                <a:r>
                  <a:rPr lang="en-US" b="0" i="0" dirty="0">
                    <a:solidFill>
                      <a:prstClr val="black"/>
                    </a:solidFill>
                    <a:latin typeface="Cambria Math" panose="02040503050406030204" pitchFamily="18" charset="0"/>
                  </a:rPr>
                  <a:t>|𝑣𝑎𝑐⟩⟨𝑣𝑎𝑐|Ω ̂</a:t>
                </a:r>
                <a:r>
                  <a:rPr lang="en-US" b="0" i="0" dirty="0">
                    <a:solidFill>
                      <a:prstClr val="black"/>
                    </a:solidFill>
                    <a:latin typeface="Cambria Math" panose="02040503050406030204" pitchFamily="18" charset="0"/>
                    <a:ea typeface="Cambria Math" panose="02040503050406030204" pitchFamily="18" charset="0"/>
                  </a:rPr>
                  <a:t>_(</a:t>
                </a:r>
                <a:r>
                  <a:rPr lang="en-US" b="0" i="0" dirty="0">
                    <a:solidFill>
                      <a:prstClr val="black"/>
                    </a:solidFill>
                    <a:latin typeface="Cambria Math" panose="02040503050406030204" pitchFamily="18" charset="0"/>
                  </a:rPr>
                  <a:t>𝐴_𝑗 </a:t>
                </a:r>
                <a:r>
                  <a:rPr lang="en-US" b="0" i="0" dirty="0">
                    <a:solidFill>
                      <a:prstClr val="black"/>
                    </a:solidFill>
                    <a:latin typeface="Cambria Math" panose="02040503050406030204" pitchFamily="18" charset="0"/>
                    <a:ea typeface="Cambria Math" panose="02040503050406030204" pitchFamily="18" charset="0"/>
                  </a:rPr>
                  <a:t>)</a:t>
                </a:r>
                <a:r>
                  <a:rPr lang="en-CA" dirty="0"/>
                  <a:t> is a projective measurement of the action modes corresponding to action hyperedge </a:t>
                </a:r>
                <a:r>
                  <a:rPr lang="en-US" b="0" i="0">
                    <a:latin typeface="Cambria Math" panose="02040503050406030204" pitchFamily="18" charset="0"/>
                  </a:rPr>
                  <a:t>𝐴_𝑗</a:t>
                </a:r>
                <a:r>
                  <a:rPr lang="en-CA" dirty="0"/>
                  <a:t>. In practice however,</a:t>
                </a:r>
                <a:r>
                  <a:rPr lang="en-CA" baseline="0" dirty="0"/>
                  <a:t> one could just use the projector for all action modes and then couple out all the actions (or some subset of them; i.e. the subset generation that happens in </a:t>
                </a:r>
                <a:r>
                  <a:rPr lang="en-CA" baseline="0" dirty="0" err="1"/>
                  <a:t>mePS</a:t>
                </a:r>
                <a:r>
                  <a:rPr lang="en-CA" baseline="0" dirty="0"/>
                  <a:t>, but with some consistency constraints) that have nonzero excitations.</a:t>
                </a:r>
              </a:p>
              <a:p>
                <a:r>
                  <a:rPr lang="en-CA" baseline="0" dirty="0"/>
                  <a:t>	- How to decide which action hyperedges get coupled out? We can first apply consistency condition to punish and/or eliminate conflicting actions, then apply a probability distribution to all subsets of the remaining actions and sample one subset (basically another 2-layer PS).</a:t>
                </a:r>
              </a:p>
              <a:p>
                <a:r>
                  <a:rPr lang="en-CA" baseline="0" dirty="0"/>
                  <a:t>	- What to do when none of the measured modes are action modes? We can just reset the deliberation until we get action modes, or we can dilate the space with many copies of the actions so that action modes are guaranteed to be measured.</a:t>
                </a:r>
              </a:p>
              <a:p>
                <a:r>
                  <a:rPr lang="en-CA" baseline="0" dirty="0"/>
                  <a:t>	</a:t>
                </a:r>
                <a:endParaRPr lang="en-CA" dirty="0"/>
              </a:p>
              <a:p>
                <a:endParaRPr lang="en-CA" dirty="0"/>
              </a:p>
              <a:p>
                <a:r>
                  <a:rPr lang="en-CA" dirty="0"/>
                  <a:t>Can we teleport the chosen action states to a new state that is then the input for a circuit that represents the environment and then repeat this procedure but for the environment circuit so that we have quantum interactions only?</a:t>
                </a:r>
              </a:p>
            </p:txBody>
          </p:sp>
        </mc:Fallback>
      </mc:AlternateContent>
      <p:sp>
        <p:nvSpPr>
          <p:cNvPr id="4" name="Slide Number Placeholder 3"/>
          <p:cNvSpPr>
            <a:spLocks noGrp="1"/>
          </p:cNvSpPr>
          <p:nvPr>
            <p:ph type="sldNum" sz="quarter" idx="5"/>
          </p:nvPr>
        </p:nvSpPr>
        <p:spPr/>
        <p:txBody>
          <a:bodyPr/>
          <a:lstStyle/>
          <a:p>
            <a:fld id="{E40720B4-AB10-0342-9541-2DF5352E8B38}" type="slidenum">
              <a:rPr lang="en-CA" smtClean="0"/>
              <a:t>14</a:t>
            </a:fld>
            <a:endParaRPr lang="en-CA"/>
          </a:p>
        </p:txBody>
      </p:sp>
    </p:spTree>
    <p:extLst>
      <p:ext uri="{BB962C8B-B14F-4D97-AF65-F5344CB8AC3E}">
        <p14:creationId xmlns:p14="http://schemas.microsoft.com/office/powerpoint/2010/main" val="23544587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14:m>
                  <m:oMathPara xmlns:m="http://schemas.openxmlformats.org/officeDocument/2006/math">
                    <m:oMathParaPr>
                      <m:jc m:val="centerGroup"/>
                    </m:oMathParaPr>
                    <m:oMath xmlns:m="http://schemas.openxmlformats.org/officeDocument/2006/math">
                      <m:acc>
                        <m:accPr>
                          <m:chr m:val="̂"/>
                          <m:ctrlPr>
                            <a:rPr lang="en-CA" sz="1200" i="1" dirty="0" smtClean="0">
                              <a:latin typeface="Cambria Math" panose="02040503050406030204" pitchFamily="18" charset="0"/>
                            </a:rPr>
                          </m:ctrlPr>
                        </m:accPr>
                        <m:e>
                          <m:r>
                            <a:rPr lang="en-CA" sz="1200" b="0" i="1" dirty="0" smtClean="0">
                              <a:latin typeface="Cambria Math" panose="02040503050406030204" pitchFamily="18" charset="0"/>
                            </a:rPr>
                            <m:t>𝑉</m:t>
                          </m:r>
                        </m:e>
                      </m:acc>
                      <m:d>
                        <m:dPr>
                          <m:ctrlPr>
                            <a:rPr lang="en-CA" sz="1200" i="1" dirty="0" smtClean="0">
                              <a:latin typeface="Cambria Math" panose="02040503050406030204" pitchFamily="18" charset="0"/>
                            </a:rPr>
                          </m:ctrlPr>
                        </m:dPr>
                        <m:e>
                          <m:r>
                            <a:rPr lang="en-CA" sz="1200" b="0" i="1" dirty="0" smtClean="0">
                              <a:latin typeface="Cambria Math" panose="02040503050406030204" pitchFamily="18" charset="0"/>
                            </a:rPr>
                            <m:t>𝜏</m:t>
                          </m:r>
                          <m:r>
                            <a:rPr lang="en-CA" sz="1200" b="0" i="1" dirty="0" smtClean="0">
                              <a:latin typeface="Cambria Math" panose="02040503050406030204" pitchFamily="18" charset="0"/>
                            </a:rPr>
                            <m:t>, </m:t>
                          </m:r>
                          <m:sSub>
                            <m:sSubPr>
                              <m:ctrlPr>
                                <a:rPr lang="en-CA" sz="1200" b="0" i="1" dirty="0" smtClean="0">
                                  <a:latin typeface="Cambria Math" panose="02040503050406030204" pitchFamily="18" charset="0"/>
                                </a:rPr>
                              </m:ctrlPr>
                            </m:sSubPr>
                            <m:e>
                              <m:r>
                                <a:rPr lang="en-CA" sz="1200" b="0" i="1" dirty="0" smtClean="0">
                                  <a:latin typeface="Cambria Math" panose="02040503050406030204" pitchFamily="18" charset="0"/>
                                </a:rPr>
                                <m:t>𝜏</m:t>
                              </m:r>
                            </m:e>
                            <m:sub>
                              <m:r>
                                <a:rPr lang="en-CA" sz="1200" b="0" i="1" dirty="0" smtClean="0">
                                  <a:latin typeface="Cambria Math" panose="02040503050406030204" pitchFamily="18" charset="0"/>
                                </a:rPr>
                                <m:t>0</m:t>
                              </m:r>
                            </m:sub>
                          </m:sSub>
                        </m:e>
                      </m:d>
                      <m:r>
                        <a:rPr lang="en-CA" sz="1200" i="1" dirty="0">
                          <a:latin typeface="Cambria Math" panose="02040503050406030204" pitchFamily="18" charset="0"/>
                        </a:rPr>
                        <m:t>=</m:t>
                      </m:r>
                      <m:r>
                        <a:rPr lang="en-CA" sz="1200" i="1" dirty="0" smtClean="0">
                          <a:latin typeface="Cambria Math" panose="02040503050406030204" pitchFamily="18" charset="0"/>
                        </a:rPr>
                        <m:t>𝒯</m:t>
                      </m:r>
                      <m:sSup>
                        <m:sSupPr>
                          <m:ctrlPr>
                            <a:rPr lang="en-CA" sz="1200" i="1" dirty="0">
                              <a:latin typeface="Cambria Math" panose="02040503050406030204" pitchFamily="18" charset="0"/>
                            </a:rPr>
                          </m:ctrlPr>
                        </m:sSupPr>
                        <m:e>
                          <m:r>
                            <a:rPr lang="en-CA" sz="1200" i="1" dirty="0">
                              <a:latin typeface="Cambria Math" panose="02040503050406030204" pitchFamily="18" charset="0"/>
                            </a:rPr>
                            <m:t>𝑒</m:t>
                          </m:r>
                        </m:e>
                        <m:sup>
                          <m:r>
                            <a:rPr lang="en-CA" sz="1200" i="1" dirty="0" err="1">
                              <a:latin typeface="Cambria Math" panose="02040503050406030204" pitchFamily="18" charset="0"/>
                            </a:rPr>
                            <m:t>𝑖</m:t>
                          </m:r>
                          <m:nary>
                            <m:naryPr>
                              <m:ctrlPr>
                                <a:rPr lang="en-CA" sz="1200" i="1" dirty="0" smtClean="0">
                                  <a:latin typeface="Cambria Math" panose="02040503050406030204" pitchFamily="18" charset="0"/>
                                </a:rPr>
                              </m:ctrlPr>
                            </m:naryPr>
                            <m:sub>
                              <m:sSub>
                                <m:sSubPr>
                                  <m:ctrlPr>
                                    <a:rPr lang="en-CA" sz="1200" b="0" i="1" dirty="0" smtClean="0">
                                      <a:latin typeface="Cambria Math" panose="02040503050406030204" pitchFamily="18" charset="0"/>
                                    </a:rPr>
                                  </m:ctrlPr>
                                </m:sSubPr>
                                <m:e>
                                  <m:r>
                                    <a:rPr lang="en-CA" sz="1200" b="0" i="1" dirty="0" smtClean="0">
                                      <a:latin typeface="Cambria Math" panose="02040503050406030204" pitchFamily="18" charset="0"/>
                                    </a:rPr>
                                    <m:t>𝜏</m:t>
                                  </m:r>
                                </m:e>
                                <m:sub>
                                  <m:r>
                                    <a:rPr lang="en-CA" sz="1200" b="0" i="1" dirty="0" smtClean="0">
                                      <a:latin typeface="Cambria Math" panose="02040503050406030204" pitchFamily="18" charset="0"/>
                                    </a:rPr>
                                    <m:t>0</m:t>
                                  </m:r>
                                </m:sub>
                              </m:sSub>
                            </m:sub>
                            <m:sup>
                              <m:r>
                                <a:rPr lang="en-CA" sz="1200" b="0" i="1" dirty="0" smtClean="0">
                                  <a:latin typeface="Cambria Math" panose="02040503050406030204" pitchFamily="18" charset="0"/>
                                </a:rPr>
                                <m:t>𝜏</m:t>
                              </m:r>
                            </m:sup>
                            <m:e>
                              <m:r>
                                <a:rPr lang="en-CA" sz="1200" b="0" i="1" dirty="0" smtClean="0">
                                  <a:latin typeface="Cambria Math" panose="02040503050406030204" pitchFamily="18" charset="0"/>
                                </a:rPr>
                                <m:t>𝑑𝑡</m:t>
                              </m:r>
                            </m:e>
                          </m:nary>
                          <m:acc>
                            <m:accPr>
                              <m:chr m:val="̂"/>
                              <m:ctrlPr>
                                <a:rPr lang="en-CA" sz="1200" i="1" dirty="0">
                                  <a:latin typeface="Cambria Math" panose="02040503050406030204" pitchFamily="18" charset="0"/>
                                </a:rPr>
                              </m:ctrlPr>
                            </m:accPr>
                            <m:e>
                              <m:r>
                                <a:rPr lang="en-CA" sz="1200" i="1" dirty="0">
                                  <a:latin typeface="Cambria Math" panose="02040503050406030204" pitchFamily="18" charset="0"/>
                                </a:rPr>
                                <m:t>𝐻</m:t>
                              </m:r>
                              <m:d>
                                <m:dPr>
                                  <m:ctrlPr>
                                    <a:rPr lang="en-CA" sz="1200" b="0" i="1" dirty="0" smtClean="0">
                                      <a:latin typeface="Cambria Math" panose="02040503050406030204" pitchFamily="18" charset="0"/>
                                    </a:rPr>
                                  </m:ctrlPr>
                                </m:dPr>
                                <m:e>
                                  <m:r>
                                    <a:rPr lang="en-CA" sz="1200" b="0" i="1" dirty="0" smtClean="0">
                                      <a:latin typeface="Cambria Math" panose="02040503050406030204" pitchFamily="18" charset="0"/>
                                    </a:rPr>
                                    <m:t>𝑡</m:t>
                                  </m:r>
                                </m:e>
                              </m:d>
                            </m:e>
                          </m:acc>
                        </m:sup>
                      </m:sSup>
                      <m:r>
                        <a:rPr lang="en-CA" sz="1200" b="0" i="1" dirty="0" smtClean="0">
                          <a:latin typeface="Cambria Math" panose="02040503050406030204" pitchFamily="18" charset="0"/>
                        </a:rPr>
                        <m:t>=</m:t>
                      </m:r>
                      <m:func>
                        <m:funcPr>
                          <m:ctrlPr>
                            <a:rPr lang="pt-BR" sz="1200" b="0" i="1" dirty="0" smtClean="0">
                              <a:latin typeface="Cambria Math" panose="02040503050406030204" pitchFamily="18" charset="0"/>
                            </a:rPr>
                          </m:ctrlPr>
                        </m:funcPr>
                        <m:fName>
                          <m:limLow>
                            <m:limLowPr>
                              <m:ctrlPr>
                                <a:rPr lang="pt-BR" sz="1200" b="0" i="1" dirty="0" smtClean="0">
                                  <a:latin typeface="Cambria Math" panose="02040503050406030204" pitchFamily="18" charset="0"/>
                                </a:rPr>
                              </m:ctrlPr>
                            </m:limLowPr>
                            <m:e>
                              <m:r>
                                <m:rPr>
                                  <m:sty m:val="p"/>
                                </m:rPr>
                                <a:rPr lang="pt-BR" sz="1200" b="0" i="0" dirty="0" smtClean="0">
                                  <a:latin typeface="Cambria Math" panose="02040503050406030204" pitchFamily="18" charset="0"/>
                                </a:rPr>
                                <m:t>lim</m:t>
                              </m:r>
                            </m:e>
                            <m:lim>
                              <m:r>
                                <a:rPr lang="en-CA" sz="1200" b="0" i="1" dirty="0" smtClean="0">
                                  <a:latin typeface="Cambria Math" panose="02040503050406030204" pitchFamily="18" charset="0"/>
                                </a:rPr>
                                <m:t>𝑁</m:t>
                              </m:r>
                              <m:r>
                                <a:rPr lang="pt-BR" sz="1200" b="0" i="1" dirty="0" smtClean="0">
                                  <a:latin typeface="Cambria Math" panose="02040503050406030204" pitchFamily="18" charset="0"/>
                                </a:rPr>
                                <m:t>→∞</m:t>
                              </m:r>
                            </m:lim>
                          </m:limLow>
                        </m:fName>
                        <m:e>
                          <m:func>
                            <m:funcPr>
                              <m:ctrlPr>
                                <a:rPr lang="pt-BR" sz="1200" b="0" i="1" dirty="0" smtClean="0">
                                  <a:latin typeface="Cambria Math" panose="02040503050406030204" pitchFamily="18" charset="0"/>
                                </a:rPr>
                              </m:ctrlPr>
                            </m:funcPr>
                            <m:fName>
                              <m:limLow>
                                <m:limLowPr>
                                  <m:ctrlPr>
                                    <a:rPr lang="pt-BR" sz="1200" b="0" i="1" dirty="0" smtClean="0">
                                      <a:latin typeface="Cambria Math" panose="02040503050406030204" pitchFamily="18" charset="0"/>
                                    </a:rPr>
                                  </m:ctrlPr>
                                </m:limLowPr>
                                <m:e>
                                  <m:r>
                                    <m:rPr>
                                      <m:sty m:val="p"/>
                                    </m:rPr>
                                    <a:rPr lang="pt-BR" sz="1200" b="0" i="0" dirty="0" smtClean="0">
                                      <a:latin typeface="Cambria Math" panose="02040503050406030204" pitchFamily="18" charset="0"/>
                                    </a:rPr>
                                    <m:t>lim</m:t>
                                  </m:r>
                                </m:e>
                                <m:lim>
                                  <m:r>
                                    <a:rPr lang="en-CA" sz="1200" b="0" i="1" dirty="0" smtClean="0">
                                      <a:latin typeface="Cambria Math" panose="02040503050406030204" pitchFamily="18" charset="0"/>
                                    </a:rPr>
                                    <m:t>𝑘</m:t>
                                  </m:r>
                                  <m:r>
                                    <a:rPr lang="en-CA" sz="1200" b="0" i="1" dirty="0" smtClean="0">
                                      <a:latin typeface="Cambria Math" panose="02040503050406030204" pitchFamily="18" charset="0"/>
                                    </a:rPr>
                                    <m:t>→∞</m:t>
                                  </m:r>
                                </m:lim>
                              </m:limLow>
                            </m:fName>
                            <m:e>
                              <m:nary>
                                <m:naryPr>
                                  <m:chr m:val="∏"/>
                                  <m:ctrlPr>
                                    <a:rPr lang="pt-BR" sz="1200" b="0" i="1" dirty="0" smtClean="0">
                                      <a:latin typeface="Cambria Math" panose="02040503050406030204" pitchFamily="18" charset="0"/>
                                    </a:rPr>
                                  </m:ctrlPr>
                                </m:naryPr>
                                <m:sub>
                                  <m:r>
                                    <m:rPr>
                                      <m:brk m:alnAt="23"/>
                                    </m:rPr>
                                    <a:rPr lang="en-CA" sz="1200" b="0" i="1" dirty="0" smtClean="0">
                                      <a:latin typeface="Cambria Math" panose="02040503050406030204" pitchFamily="18" charset="0"/>
                                    </a:rPr>
                                    <m:t>𝑛</m:t>
                                  </m:r>
                                </m:sub>
                                <m:sup>
                                  <m:r>
                                    <a:rPr lang="en-CA" sz="1200" b="0" i="1" dirty="0" smtClean="0">
                                      <a:latin typeface="Cambria Math" panose="02040503050406030204" pitchFamily="18" charset="0"/>
                                    </a:rPr>
                                    <m:t>𝑁</m:t>
                                  </m:r>
                                </m:sup>
                                <m:e>
                                  <m:sSup>
                                    <m:sSupPr>
                                      <m:ctrlPr>
                                        <a:rPr lang="en-CA" sz="1200" b="0" i="1" dirty="0" smtClean="0">
                                          <a:latin typeface="Cambria Math" panose="02040503050406030204" pitchFamily="18" charset="0"/>
                                        </a:rPr>
                                      </m:ctrlPr>
                                    </m:sSupPr>
                                    <m:e>
                                      <m:d>
                                        <m:dPr>
                                          <m:ctrlPr>
                                            <a:rPr lang="pt-BR" sz="1200" i="1" dirty="0">
                                              <a:latin typeface="Cambria Math" panose="02040503050406030204" pitchFamily="18" charset="0"/>
                                            </a:rPr>
                                          </m:ctrlPr>
                                        </m:dPr>
                                        <m:e>
                                          <m:r>
                                            <a:rPr lang="en-CA" sz="1200" b="0" i="1" dirty="0" smtClean="0">
                                              <a:latin typeface="Cambria Math" panose="02040503050406030204" pitchFamily="18" charset="0"/>
                                            </a:rPr>
                                            <m:t>𝐼</m:t>
                                          </m:r>
                                          <m:r>
                                            <a:rPr lang="pt-BR" sz="1200" i="1" dirty="0">
                                              <a:latin typeface="Cambria Math" panose="02040503050406030204" pitchFamily="18" charset="0"/>
                                            </a:rPr>
                                            <m:t>+</m:t>
                                          </m:r>
                                          <m:f>
                                            <m:fPr>
                                              <m:ctrlPr>
                                                <a:rPr lang="pt-BR" sz="1200" i="1" dirty="0">
                                                  <a:latin typeface="Cambria Math" panose="02040503050406030204" pitchFamily="18" charset="0"/>
                                                </a:rPr>
                                              </m:ctrlPr>
                                            </m:fPr>
                                            <m:num>
                                              <m:r>
                                                <a:rPr lang="en-CA" sz="1200" b="0" i="1" dirty="0" smtClean="0">
                                                  <a:latin typeface="Cambria Math" panose="02040503050406030204" pitchFamily="18" charset="0"/>
                                                </a:rPr>
                                                <m:t>𝑖</m:t>
                                              </m:r>
                                            </m:num>
                                            <m:den>
                                              <m:r>
                                                <a:rPr lang="en-CA" sz="1200" b="0" i="1" dirty="0" smtClean="0">
                                                  <a:latin typeface="Cambria Math" panose="02040503050406030204" pitchFamily="18" charset="0"/>
                                                </a:rPr>
                                                <m:t>𝑘</m:t>
                                              </m:r>
                                            </m:den>
                                          </m:f>
                                          <m:acc>
                                            <m:accPr>
                                              <m:chr m:val="̂"/>
                                              <m:ctrlPr>
                                                <a:rPr lang="pt-BR" sz="1200" i="1" dirty="0" smtClean="0">
                                                  <a:latin typeface="Cambria Math" panose="02040503050406030204" pitchFamily="18" charset="0"/>
                                                </a:rPr>
                                              </m:ctrlPr>
                                            </m:accPr>
                                            <m:e>
                                              <m:r>
                                                <a:rPr lang="en-CA" sz="1200" b="0" i="1" dirty="0" smtClean="0">
                                                  <a:latin typeface="Cambria Math" panose="02040503050406030204" pitchFamily="18" charset="0"/>
                                                </a:rPr>
                                                <m:t>𝐻</m:t>
                                              </m:r>
                                            </m:e>
                                          </m:acc>
                                          <m:d>
                                            <m:dPr>
                                              <m:ctrlPr>
                                                <a:rPr lang="en-CA" sz="1200" i="1" dirty="0">
                                                  <a:latin typeface="Cambria Math" panose="02040503050406030204" pitchFamily="18" charset="0"/>
                                                </a:rPr>
                                              </m:ctrlPr>
                                            </m:dPr>
                                            <m:e>
                                              <m:r>
                                                <a:rPr lang="en-CA" sz="1200" b="0" i="1" dirty="0" smtClean="0">
                                                  <a:latin typeface="Cambria Math" panose="02040503050406030204" pitchFamily="18" charset="0"/>
                                                </a:rPr>
                                                <m:t>𝑛𝑑</m:t>
                                              </m:r>
                                              <m:r>
                                                <a:rPr lang="en-CA" sz="1200" i="1" dirty="0">
                                                  <a:latin typeface="Cambria Math" panose="02040503050406030204" pitchFamily="18" charset="0"/>
                                                </a:rPr>
                                                <m:t>𝑡</m:t>
                                              </m:r>
                                            </m:e>
                                          </m:d>
                                          <m:r>
                                            <a:rPr lang="en-CA" sz="1200" b="0" i="1" dirty="0" smtClean="0">
                                              <a:latin typeface="Cambria Math" panose="02040503050406030204" pitchFamily="18" charset="0"/>
                                            </a:rPr>
                                            <m:t>𝑑𝑡</m:t>
                                          </m:r>
                                        </m:e>
                                      </m:d>
                                    </m:e>
                                    <m:sup>
                                      <m:r>
                                        <a:rPr lang="en-CA" sz="1200" b="0" i="1" dirty="0" smtClean="0">
                                          <a:latin typeface="Cambria Math" panose="02040503050406030204" pitchFamily="18" charset="0"/>
                                        </a:rPr>
                                        <m:t>𝑘</m:t>
                                      </m:r>
                                    </m:sup>
                                  </m:sSup>
                                </m:e>
                              </m:nary>
                            </m:e>
                          </m:func>
                        </m:e>
                      </m:func>
                    </m:oMath>
                  </m:oMathPara>
                </a14:m>
                <a:endParaRPr lang="en-CA" dirty="0"/>
              </a:p>
              <a:p>
                <a:pPr/>
                <a14:m>
                  <m:oMathPara xmlns:m="http://schemas.openxmlformats.org/officeDocument/2006/math">
                    <m:oMathParaPr>
                      <m:jc m:val="centerGroup"/>
                    </m:oMathParaPr>
                    <m:oMath xmlns:m="http://schemas.openxmlformats.org/officeDocument/2006/math">
                      <m:acc>
                        <m:accPr>
                          <m:chr m:val="̂"/>
                          <m:ctrlPr>
                            <a:rPr lang="en-CA" sz="1200" i="1" dirty="0" smtClean="0">
                              <a:latin typeface="Cambria Math" panose="02040503050406030204" pitchFamily="18" charset="0"/>
                            </a:rPr>
                          </m:ctrlPr>
                        </m:accPr>
                        <m:e>
                          <m:r>
                            <a:rPr lang="en-CA" sz="1200" b="0" i="1" dirty="0" smtClean="0">
                              <a:latin typeface="Cambria Math" panose="02040503050406030204" pitchFamily="18" charset="0"/>
                            </a:rPr>
                            <m:t>𝑉</m:t>
                          </m:r>
                        </m:e>
                      </m:acc>
                      <m:d>
                        <m:dPr>
                          <m:ctrlPr>
                            <a:rPr lang="en-CA" sz="1200" i="1" dirty="0" smtClean="0">
                              <a:latin typeface="Cambria Math" panose="02040503050406030204" pitchFamily="18" charset="0"/>
                            </a:rPr>
                          </m:ctrlPr>
                        </m:dPr>
                        <m:e>
                          <m:r>
                            <a:rPr lang="en-CA" sz="1200" i="1" dirty="0">
                              <a:latin typeface="Cambria Math" panose="02040503050406030204" pitchFamily="18" charset="0"/>
                              <a:ea typeface="Cambria Math" panose="02040503050406030204" pitchFamily="18" charset="0"/>
                            </a:rPr>
                            <m:t>∆</m:t>
                          </m:r>
                          <m:r>
                            <a:rPr lang="en-CA" sz="1200" i="1" dirty="0">
                              <a:latin typeface="Cambria Math" panose="02040503050406030204" pitchFamily="18" charset="0"/>
                            </a:rPr>
                            <m:t>𝑡</m:t>
                          </m:r>
                        </m:e>
                      </m:d>
                      <m:r>
                        <a:rPr lang="en-CA" sz="1200" b="0" i="1" dirty="0" smtClean="0">
                          <a:latin typeface="Cambria Math" panose="02040503050406030204" pitchFamily="18" charset="0"/>
                        </a:rPr>
                        <m:t>=</m:t>
                      </m:r>
                      <m:func>
                        <m:funcPr>
                          <m:ctrlPr>
                            <a:rPr lang="pt-BR" sz="1200" i="1" dirty="0">
                              <a:latin typeface="Cambria Math" panose="02040503050406030204" pitchFamily="18" charset="0"/>
                            </a:rPr>
                          </m:ctrlPr>
                        </m:funcPr>
                        <m:fName>
                          <m:limLow>
                            <m:limLowPr>
                              <m:ctrlPr>
                                <a:rPr lang="pt-BR" sz="1200" i="1" dirty="0">
                                  <a:latin typeface="Cambria Math" panose="02040503050406030204" pitchFamily="18" charset="0"/>
                                </a:rPr>
                              </m:ctrlPr>
                            </m:limLowPr>
                            <m:e>
                              <m:r>
                                <m:rPr>
                                  <m:sty m:val="p"/>
                                </m:rPr>
                                <a:rPr lang="pt-BR" sz="1200" dirty="0">
                                  <a:latin typeface="Cambria Math" panose="02040503050406030204" pitchFamily="18" charset="0"/>
                                </a:rPr>
                                <m:t>lim</m:t>
                              </m:r>
                            </m:e>
                            <m:lim>
                              <m:r>
                                <a:rPr lang="en-CA" sz="1200" i="1" dirty="0">
                                  <a:latin typeface="Cambria Math" panose="02040503050406030204" pitchFamily="18" charset="0"/>
                                </a:rPr>
                                <m:t>𝑘</m:t>
                              </m:r>
                              <m:r>
                                <a:rPr lang="en-CA" sz="1200" i="1" dirty="0">
                                  <a:latin typeface="Cambria Math" panose="02040503050406030204" pitchFamily="18" charset="0"/>
                                </a:rPr>
                                <m:t>→</m:t>
                              </m:r>
                              <m:r>
                                <a:rPr lang="en-CA" sz="1200" i="1" dirty="0">
                                  <a:latin typeface="Cambria Math" panose="02040503050406030204" pitchFamily="18" charset="0"/>
                                </a:rPr>
                                <m:t>𝐾</m:t>
                              </m:r>
                            </m:lim>
                          </m:limLow>
                        </m:fName>
                        <m:e>
                          <m:sSup>
                            <m:sSupPr>
                              <m:ctrlPr>
                                <a:rPr lang="en-CA" sz="1200" i="1" dirty="0">
                                  <a:latin typeface="Cambria Math" panose="02040503050406030204" pitchFamily="18" charset="0"/>
                                </a:rPr>
                              </m:ctrlPr>
                            </m:sSupPr>
                            <m:e>
                              <m:d>
                                <m:dPr>
                                  <m:ctrlPr>
                                    <a:rPr lang="pt-BR" sz="1200" i="1" dirty="0">
                                      <a:latin typeface="Cambria Math" panose="02040503050406030204" pitchFamily="18" charset="0"/>
                                    </a:rPr>
                                  </m:ctrlPr>
                                </m:dPr>
                                <m:e>
                                  <m:r>
                                    <a:rPr lang="en-CA" sz="1200" i="1" dirty="0">
                                      <a:latin typeface="Cambria Math" panose="02040503050406030204" pitchFamily="18" charset="0"/>
                                    </a:rPr>
                                    <m:t>𝐼</m:t>
                                  </m:r>
                                  <m:r>
                                    <a:rPr lang="pt-BR" sz="1200" i="1" dirty="0">
                                      <a:latin typeface="Cambria Math" panose="02040503050406030204" pitchFamily="18" charset="0"/>
                                    </a:rPr>
                                    <m:t>+</m:t>
                                  </m:r>
                                  <m:f>
                                    <m:fPr>
                                      <m:ctrlPr>
                                        <a:rPr lang="pt-BR" sz="1200" i="1" dirty="0">
                                          <a:latin typeface="Cambria Math" panose="02040503050406030204" pitchFamily="18" charset="0"/>
                                        </a:rPr>
                                      </m:ctrlPr>
                                    </m:fPr>
                                    <m:num>
                                      <m:r>
                                        <a:rPr lang="en-CA" sz="1200" i="1" dirty="0">
                                          <a:latin typeface="Cambria Math" panose="02040503050406030204" pitchFamily="18" charset="0"/>
                                        </a:rPr>
                                        <m:t>𝑖</m:t>
                                      </m:r>
                                      <m:r>
                                        <a:rPr lang="en-CA" sz="1200" i="1" dirty="0">
                                          <a:latin typeface="Cambria Math" panose="02040503050406030204" pitchFamily="18" charset="0"/>
                                          <a:ea typeface="Cambria Math" panose="02040503050406030204" pitchFamily="18" charset="0"/>
                                        </a:rPr>
                                        <m:t>∆</m:t>
                                      </m:r>
                                      <m:r>
                                        <a:rPr lang="en-CA" sz="1200" i="1" dirty="0">
                                          <a:latin typeface="Cambria Math" panose="02040503050406030204" pitchFamily="18" charset="0"/>
                                        </a:rPr>
                                        <m:t>𝑡</m:t>
                                      </m:r>
                                    </m:num>
                                    <m:den>
                                      <m:r>
                                        <a:rPr lang="en-CA" sz="1200" i="1" dirty="0">
                                          <a:latin typeface="Cambria Math" panose="02040503050406030204" pitchFamily="18" charset="0"/>
                                        </a:rPr>
                                        <m:t>𝑘</m:t>
                                      </m:r>
                                    </m:den>
                                  </m:f>
                                  <m:acc>
                                    <m:accPr>
                                      <m:chr m:val="̂"/>
                                      <m:ctrlPr>
                                        <a:rPr lang="pt-BR" sz="1200" i="1" dirty="0">
                                          <a:latin typeface="Cambria Math" panose="02040503050406030204" pitchFamily="18" charset="0"/>
                                        </a:rPr>
                                      </m:ctrlPr>
                                    </m:accPr>
                                    <m:e>
                                      <m:r>
                                        <a:rPr lang="en-CA" sz="1200" i="1" dirty="0">
                                          <a:latin typeface="Cambria Math" panose="02040503050406030204" pitchFamily="18" charset="0"/>
                                        </a:rPr>
                                        <m:t>𝐻</m:t>
                                      </m:r>
                                    </m:e>
                                  </m:acc>
                                </m:e>
                              </m:d>
                            </m:e>
                            <m:sup>
                              <m:r>
                                <a:rPr lang="en-CA" sz="1200" i="1" dirty="0">
                                  <a:latin typeface="Cambria Math" panose="02040503050406030204" pitchFamily="18" charset="0"/>
                                </a:rPr>
                                <m:t>𝑘</m:t>
                              </m:r>
                            </m:sup>
                          </m:sSup>
                        </m:e>
                      </m:func>
                    </m:oMath>
                  </m:oMathPara>
                </a14:m>
                <a:endParaRPr lang="en-CA" dirty="0"/>
              </a:p>
              <a:p>
                <a:pPr/>
                <a14:m>
                  <m:oMathPara xmlns:m="http://schemas.openxmlformats.org/officeDocument/2006/math">
                    <m:oMathParaPr>
                      <m:jc m:val="centerGroup"/>
                    </m:oMathParaPr>
                    <m:oMath xmlns:m="http://schemas.openxmlformats.org/officeDocument/2006/math">
                      <m:sSubSup>
                        <m:sSubSupPr>
                          <m:ctrlPr>
                            <a:rPr lang="en-US" i="1" dirty="0" smtClean="0">
                              <a:solidFill>
                                <a:prstClr val="black"/>
                              </a:solidFill>
                              <a:latin typeface="Cambria Math" panose="02040503050406030204" pitchFamily="18" charset="0"/>
                            </a:rPr>
                          </m:ctrlPr>
                        </m:sSubSupPr>
                        <m:e>
                          <m:r>
                            <a:rPr lang="en-US" i="1" dirty="0">
                              <a:solidFill>
                                <a:prstClr val="black"/>
                              </a:solidFill>
                              <a:latin typeface="Cambria Math" panose="02040503050406030204" pitchFamily="18" charset="0"/>
                            </a:rPr>
                            <m:t>𝑃</m:t>
                          </m:r>
                        </m:e>
                        <m:sub>
                          <m:d>
                            <m:dPr>
                              <m:begChr m:val="{"/>
                              <m:endChr m:val="}"/>
                              <m:ctrlPr>
                                <a:rPr lang="en-US" i="1" dirty="0">
                                  <a:solidFill>
                                    <a:prstClr val="black"/>
                                  </a:solidFill>
                                  <a:latin typeface="Cambria Math" panose="02040503050406030204" pitchFamily="18" charset="0"/>
                                </a:rPr>
                              </m:ctrlPr>
                            </m:dPr>
                            <m:e>
                              <m:r>
                                <a:rPr lang="en-US" b="0" i="1" dirty="0" smtClean="0">
                                  <a:solidFill>
                                    <a:prstClr val="black"/>
                                  </a:solidFill>
                                  <a:latin typeface="Cambria Math" panose="02040503050406030204" pitchFamily="18" charset="0"/>
                                </a:rPr>
                                <m:t>𝜏</m:t>
                              </m:r>
                              <m:r>
                                <a:rPr lang="ar-AE" i="1" dirty="0">
                                  <a:solidFill>
                                    <a:prstClr val="black"/>
                                  </a:solidFill>
                                  <a:latin typeface="Cambria Math" panose="02040503050406030204" pitchFamily="18" charset="0"/>
                                </a:rPr>
                                <m:t>, </m:t>
                              </m:r>
                              <m:sSub>
                                <m:sSubPr>
                                  <m:ctrlPr>
                                    <a:rPr lang="ar-AE" i="1" dirty="0">
                                      <a:solidFill>
                                        <a:prstClr val="black"/>
                                      </a:solidFill>
                                      <a:latin typeface="Cambria Math" panose="02040503050406030204" pitchFamily="18" charset="0"/>
                                    </a:rPr>
                                  </m:ctrlPr>
                                </m:sSubPr>
                                <m:e>
                                  <m:r>
                                    <a:rPr lang="ar-AE" i="1" dirty="0">
                                      <a:solidFill>
                                        <a:prstClr val="black"/>
                                      </a:solidFill>
                                      <a:latin typeface="Cambria Math" panose="02040503050406030204" pitchFamily="18" charset="0"/>
                                    </a:rPr>
                                    <m:t>𝜏</m:t>
                                  </m:r>
                                </m:e>
                                <m:sub>
                                  <m:r>
                                    <a:rPr lang="ar-AE" i="1" dirty="0">
                                      <a:solidFill>
                                        <a:prstClr val="black"/>
                                      </a:solidFill>
                                      <a:latin typeface="Cambria Math" panose="02040503050406030204" pitchFamily="18" charset="0"/>
                                    </a:rPr>
                                    <m:t>0</m:t>
                                  </m:r>
                                </m:sub>
                              </m:sSub>
                            </m:e>
                          </m:d>
                        </m:sub>
                        <m:sup>
                          <m:d>
                            <m:dPr>
                              <m:ctrlPr>
                                <a:rPr lang="en-US" i="1" dirty="0">
                                  <a:solidFill>
                                    <a:prstClr val="black"/>
                                  </a:solidFill>
                                  <a:latin typeface="Cambria Math" panose="02040503050406030204" pitchFamily="18" charset="0"/>
                                </a:rPr>
                              </m:ctrlPr>
                            </m:dPr>
                            <m:e>
                              <m:r>
                                <a:rPr lang="en-US" i="1" dirty="0">
                                  <a:solidFill>
                                    <a:prstClr val="black"/>
                                  </a:solidFill>
                                  <a:latin typeface="Cambria Math" panose="02040503050406030204" pitchFamily="18" charset="0"/>
                                </a:rPr>
                                <m:t>𝑛</m:t>
                              </m:r>
                            </m:e>
                          </m:d>
                        </m:sup>
                      </m:sSubSup>
                      <m:d>
                        <m:dPr>
                          <m:ctrlPr>
                            <a:rPr kumimoji="0" lang="ar-AE" sz="1200" b="0" i="1" u="none" strike="noStrike" kern="1200" cap="none" spc="0" normalizeH="0" baseline="0" noProof="0" dirty="0">
                              <a:ln>
                                <a:noFill/>
                              </a:ln>
                              <a:solidFill>
                                <a:prstClr val="black"/>
                              </a:solidFill>
                              <a:effectLst/>
                              <a:uLnTx/>
                              <a:uFillTx/>
                              <a:latin typeface="Cambria Math" panose="02040503050406030204" pitchFamily="18" charset="0"/>
                            </a:rPr>
                          </m:ctrlPr>
                        </m:dPr>
                        <m:e>
                          <m:sSub>
                            <m:sSubPr>
                              <m:ctrlP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ctrlPr>
                            </m:sSubPr>
                            <m:e>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t>𝐴</m:t>
                              </m:r>
                            </m:e>
                            <m:sub>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t>𝑗</m:t>
                              </m:r>
                            </m:sub>
                          </m:sSub>
                        </m:e>
                        <m:e>
                          <m:sSub>
                            <m:sSubPr>
                              <m:ctrlP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ctrlPr>
                            </m:sSubPr>
                            <m:e>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t>𝑆</m:t>
                              </m:r>
                            </m:e>
                            <m:sub>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t>𝑖</m:t>
                              </m:r>
                            </m:sub>
                          </m:sSub>
                        </m:e>
                      </m:d>
                      <m:r>
                        <a:rPr kumimoji="0" lang="ar-AE" sz="1200" b="0" i="1" u="none" strike="noStrike" kern="1200" cap="none" spc="0" normalizeH="0" baseline="0" noProof="0" dirty="0">
                          <a:ln>
                            <a:noFill/>
                          </a:ln>
                          <a:solidFill>
                            <a:prstClr val="black"/>
                          </a:solidFill>
                          <a:effectLst/>
                          <a:uLnTx/>
                          <a:uFillTx/>
                          <a:latin typeface="Cambria Math" panose="02040503050406030204" pitchFamily="18" charset="0"/>
                        </a:rPr>
                        <m:t>=</m:t>
                      </m:r>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t>𝑡𝑟</m:t>
                      </m:r>
                      <m:d>
                        <m:dPr>
                          <m:ctrlP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ctrlPr>
                        </m:dPr>
                        <m:e>
                          <m:sSub>
                            <m:sSubPr>
                              <m:ctrlP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ctrlPr>
                            </m:sSubPr>
                            <m:e>
                              <m:acc>
                                <m:accPr>
                                  <m:chr m:val="̂"/>
                                  <m:ctrlP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ctrlPr>
                                </m:accPr>
                                <m:e>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t>𝜌</m:t>
                                  </m:r>
                                </m:e>
                              </m:acc>
                            </m:e>
                            <m:sub>
                              <m:sSub>
                                <m:sSubPr>
                                  <m:ctrlPr>
                                    <a:rPr lang="en-US" b="0" i="1" dirty="0" smtClean="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𝑆</m:t>
                                  </m:r>
                                </m:e>
                                <m:sub>
                                  <m:r>
                                    <a:rPr lang="en-US" b="0" i="1" dirty="0" smtClean="0">
                                      <a:solidFill>
                                        <a:prstClr val="black"/>
                                      </a:solidFill>
                                      <a:latin typeface="Cambria Math" panose="02040503050406030204" pitchFamily="18" charset="0"/>
                                    </a:rPr>
                                    <m:t>𝑖</m:t>
                                  </m:r>
                                </m:sub>
                              </m:sSub>
                            </m:sub>
                          </m:sSub>
                          <m:d>
                            <m:dPr>
                              <m:ctrlPr>
                                <a:rPr lang="en-US" b="0" i="1" dirty="0" smtClean="0">
                                  <a:solidFill>
                                    <a:prstClr val="black"/>
                                  </a:solidFill>
                                  <a:latin typeface="Cambria Math" panose="02040503050406030204" pitchFamily="18" charset="0"/>
                                </a:rPr>
                              </m:ctrlPr>
                            </m:dPr>
                            <m:e>
                              <m:r>
                                <a:rPr lang="en-US" b="0" i="1" dirty="0" smtClean="0">
                                  <a:solidFill>
                                    <a:prstClr val="black"/>
                                  </a:solidFill>
                                  <a:latin typeface="Cambria Math" panose="02040503050406030204" pitchFamily="18" charset="0"/>
                                </a:rPr>
                                <m:t>𝜏</m:t>
                              </m:r>
                            </m:e>
                          </m:d>
                          <m:sSub>
                            <m:sSubPr>
                              <m:ctrlPr>
                                <a:rPr lang="en-US" b="0" i="1" dirty="0" smtClean="0">
                                  <a:solidFill>
                                    <a:prstClr val="black"/>
                                  </a:solidFill>
                                  <a:latin typeface="Cambria Math" panose="02040503050406030204" pitchFamily="18" charset="0"/>
                                </a:rPr>
                              </m:ctrlPr>
                            </m:sSubPr>
                            <m:e>
                              <m:acc>
                                <m:accPr>
                                  <m:chr m:val="̂"/>
                                  <m:ctrlPr>
                                    <a:rPr lang="en-US" b="0" i="1" dirty="0" smtClean="0">
                                      <a:solidFill>
                                        <a:prstClr val="black"/>
                                      </a:solidFill>
                                      <a:latin typeface="Cambria Math" panose="02040503050406030204" pitchFamily="18" charset="0"/>
                                    </a:rPr>
                                  </m:ctrlPr>
                                </m:accPr>
                                <m:e>
                                  <m:r>
                                    <m:rPr>
                                      <m:sty m:val="p"/>
                                    </m:rPr>
                                    <a:rPr lang="en-US" b="0" i="0" dirty="0" smtClean="0">
                                      <a:solidFill>
                                        <a:prstClr val="black"/>
                                      </a:solidFill>
                                      <a:latin typeface="Cambria Math" panose="02040503050406030204" pitchFamily="18" charset="0"/>
                                    </a:rPr>
                                    <m:t>Π</m:t>
                                  </m:r>
                                </m:e>
                              </m:acc>
                            </m:e>
                            <m:sub>
                              <m:sSub>
                                <m:sSubPr>
                                  <m:ctrlPr>
                                    <a:rPr lang="en-US" b="0" i="1" dirty="0" smtClean="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𝐴</m:t>
                                  </m:r>
                                </m:e>
                                <m:sub>
                                  <m:r>
                                    <a:rPr lang="en-US" b="0" i="1" dirty="0" smtClean="0">
                                      <a:solidFill>
                                        <a:prstClr val="black"/>
                                      </a:solidFill>
                                      <a:latin typeface="Cambria Math" panose="02040503050406030204" pitchFamily="18" charset="0"/>
                                    </a:rPr>
                                    <m:t>𝑗</m:t>
                                  </m:r>
                                </m:sub>
                              </m:sSub>
                            </m:sub>
                          </m:sSub>
                        </m:e>
                      </m:d>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t>=</m:t>
                      </m:r>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t>𝑡𝑟</m:t>
                      </m:r>
                      <m:d>
                        <m:dPr>
                          <m:ctrlP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ctrlPr>
                        </m:dPr>
                        <m:e>
                          <m:acc>
                            <m:accPr>
                              <m:chr m:val="̂"/>
                              <m:ctrlPr>
                                <a:rPr lang="en-US" b="0" i="1" dirty="0" smtClean="0">
                                  <a:solidFill>
                                    <a:prstClr val="black"/>
                                  </a:solidFill>
                                  <a:latin typeface="Cambria Math" panose="02040503050406030204" pitchFamily="18" charset="0"/>
                                </a:rPr>
                              </m:ctrlPr>
                            </m:accPr>
                            <m:e>
                              <m:r>
                                <a:rPr lang="en-US" b="0" i="1" dirty="0" smtClean="0">
                                  <a:solidFill>
                                    <a:prstClr val="black"/>
                                  </a:solidFill>
                                  <a:latin typeface="Cambria Math" panose="02040503050406030204" pitchFamily="18" charset="0"/>
                                </a:rPr>
                                <m:t>𝑈</m:t>
                              </m:r>
                            </m:e>
                          </m:acc>
                          <m:r>
                            <a:rPr lang="en-US" b="0" i="1" dirty="0" smtClean="0">
                              <a:solidFill>
                                <a:prstClr val="black"/>
                              </a:solidFill>
                              <a:latin typeface="Cambria Math" panose="02040503050406030204" pitchFamily="18" charset="0"/>
                            </a:rPr>
                            <m:t>(</m:t>
                          </m:r>
                          <m:r>
                            <a:rPr lang="en-US" b="0" i="1" dirty="0" smtClean="0">
                              <a:solidFill>
                                <a:prstClr val="black"/>
                              </a:solidFill>
                              <a:latin typeface="Cambria Math" panose="02040503050406030204" pitchFamily="18" charset="0"/>
                            </a:rPr>
                            <m:t>𝜏</m:t>
                          </m:r>
                          <m:r>
                            <a:rPr lang="en-US" b="0" i="1" dirty="0" smtClean="0">
                              <a:solidFill>
                                <a:prstClr val="black"/>
                              </a:solidFill>
                              <a:latin typeface="Cambria Math" panose="02040503050406030204" pitchFamily="18" charset="0"/>
                            </a:rPr>
                            <m:t>, </m:t>
                          </m:r>
                          <m:sSub>
                            <m:sSubPr>
                              <m:ctrlPr>
                                <a:rPr lang="en-US" b="0" i="1" dirty="0" smtClean="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𝜏</m:t>
                              </m:r>
                            </m:e>
                            <m:sub>
                              <m:r>
                                <a:rPr lang="en-US" b="0" i="1" dirty="0" smtClean="0">
                                  <a:solidFill>
                                    <a:prstClr val="black"/>
                                  </a:solidFill>
                                  <a:latin typeface="Cambria Math" panose="02040503050406030204" pitchFamily="18" charset="0"/>
                                </a:rPr>
                                <m:t>0</m:t>
                              </m:r>
                            </m:sub>
                          </m:sSub>
                          <m:r>
                            <a:rPr lang="en-US" b="0" i="1" dirty="0" smtClean="0">
                              <a:solidFill>
                                <a:prstClr val="black"/>
                              </a:solidFill>
                              <a:latin typeface="Cambria Math" panose="02040503050406030204" pitchFamily="18" charset="0"/>
                            </a:rPr>
                            <m:t>)</m:t>
                          </m:r>
                          <m:sSub>
                            <m:sSubPr>
                              <m:ctrlP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ctrlPr>
                            </m:sSubPr>
                            <m:e>
                              <m:acc>
                                <m:accPr>
                                  <m:chr m:val="̂"/>
                                  <m:ctrlP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ctrlPr>
                                </m:accPr>
                                <m:e>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t>𝜌</m:t>
                                  </m:r>
                                </m:e>
                              </m:acc>
                            </m:e>
                            <m:sub>
                              <m:sSub>
                                <m:sSubPr>
                                  <m:ctrlPr>
                                    <a:rPr lang="en-US" b="0" i="1" dirty="0" smtClean="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𝑆</m:t>
                                  </m:r>
                                </m:e>
                                <m:sub>
                                  <m:r>
                                    <a:rPr lang="en-US" b="0" i="1" dirty="0" smtClean="0">
                                      <a:solidFill>
                                        <a:prstClr val="black"/>
                                      </a:solidFill>
                                      <a:latin typeface="Cambria Math" panose="02040503050406030204" pitchFamily="18" charset="0"/>
                                    </a:rPr>
                                    <m:t>𝑖</m:t>
                                  </m:r>
                                </m:sub>
                              </m:sSub>
                            </m:sub>
                          </m:sSub>
                          <m:d>
                            <m:dPr>
                              <m:ctrlPr>
                                <a:rPr lang="en-US" b="0" i="1" dirty="0" smtClean="0">
                                  <a:solidFill>
                                    <a:prstClr val="black"/>
                                  </a:solidFill>
                                  <a:latin typeface="Cambria Math" panose="02040503050406030204" pitchFamily="18" charset="0"/>
                                </a:rPr>
                              </m:ctrlPr>
                            </m:dPr>
                            <m:e>
                              <m:sSub>
                                <m:sSubPr>
                                  <m:ctrlPr>
                                    <a:rPr lang="en-US" b="0" i="1" dirty="0" smtClean="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𝜏</m:t>
                                  </m:r>
                                </m:e>
                                <m:sub>
                                  <m:r>
                                    <a:rPr lang="en-US" b="0" i="1" dirty="0" smtClean="0">
                                      <a:solidFill>
                                        <a:prstClr val="black"/>
                                      </a:solidFill>
                                      <a:latin typeface="Cambria Math" panose="02040503050406030204" pitchFamily="18" charset="0"/>
                                    </a:rPr>
                                    <m:t>0</m:t>
                                  </m:r>
                                </m:sub>
                              </m:sSub>
                            </m:e>
                          </m:d>
                          <m:sSup>
                            <m:sSupPr>
                              <m:ctrlP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ctrlPr>
                            </m:sSupPr>
                            <m:e>
                              <m:acc>
                                <m:accPr>
                                  <m:chr m:val="̂"/>
                                  <m:ctrlP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ctrlPr>
                                </m:accPr>
                                <m:e>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t>𝑈</m:t>
                                  </m:r>
                                </m:e>
                              </m:acc>
                            </m:e>
                            <m:sup>
                              <m:r>
                                <a:rPr lang="en-US" i="1" dirty="0" smtClean="0">
                                  <a:solidFill>
                                    <a:prstClr val="black"/>
                                  </a:solidFill>
                                  <a:latin typeface="Cambria Math" panose="02040503050406030204" pitchFamily="18" charset="0"/>
                                  <a:ea typeface="Cambria Math" panose="02040503050406030204" pitchFamily="18" charset="0"/>
                                </a:rPr>
                                <m:t>†</m:t>
                              </m:r>
                            </m:sup>
                          </m:sSup>
                          <m:r>
                            <a:rPr lang="en-US" b="0" i="1" dirty="0" smtClean="0">
                              <a:solidFill>
                                <a:prstClr val="black"/>
                              </a:solidFill>
                              <a:latin typeface="Cambria Math" panose="02040503050406030204" pitchFamily="18" charset="0"/>
                            </a:rPr>
                            <m:t>(</m:t>
                          </m:r>
                          <m:r>
                            <a:rPr lang="en-US" b="0" i="1" dirty="0" smtClean="0">
                              <a:solidFill>
                                <a:prstClr val="black"/>
                              </a:solidFill>
                              <a:latin typeface="Cambria Math" panose="02040503050406030204" pitchFamily="18" charset="0"/>
                            </a:rPr>
                            <m:t>𝜏</m:t>
                          </m:r>
                          <m:r>
                            <a:rPr lang="en-US" b="0" i="1" dirty="0" smtClean="0">
                              <a:solidFill>
                                <a:prstClr val="black"/>
                              </a:solidFill>
                              <a:latin typeface="Cambria Math" panose="02040503050406030204" pitchFamily="18" charset="0"/>
                            </a:rPr>
                            <m:t>, </m:t>
                          </m:r>
                          <m:sSub>
                            <m:sSubPr>
                              <m:ctrlPr>
                                <a:rPr lang="en-US" b="0" i="1" dirty="0" smtClean="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𝜏</m:t>
                              </m:r>
                            </m:e>
                            <m:sub>
                              <m:r>
                                <a:rPr lang="en-US" b="0" i="1" dirty="0" smtClean="0">
                                  <a:solidFill>
                                    <a:prstClr val="black"/>
                                  </a:solidFill>
                                  <a:latin typeface="Cambria Math" panose="02040503050406030204" pitchFamily="18" charset="0"/>
                                </a:rPr>
                                <m:t>0</m:t>
                              </m:r>
                            </m:sub>
                          </m:sSub>
                          <m:r>
                            <a:rPr lang="en-US" b="0" i="1" dirty="0" smtClean="0">
                              <a:solidFill>
                                <a:prstClr val="black"/>
                              </a:solidFill>
                              <a:latin typeface="Cambria Math" panose="02040503050406030204" pitchFamily="18" charset="0"/>
                            </a:rPr>
                            <m:t>) </m:t>
                          </m:r>
                          <m:sSub>
                            <m:sSubPr>
                              <m:ctrlPr>
                                <a:rPr lang="en-US" b="0" i="1" dirty="0" smtClean="0">
                                  <a:solidFill>
                                    <a:prstClr val="black"/>
                                  </a:solidFill>
                                  <a:latin typeface="Cambria Math" panose="02040503050406030204" pitchFamily="18" charset="0"/>
                                </a:rPr>
                              </m:ctrlPr>
                            </m:sSubPr>
                            <m:e>
                              <m:acc>
                                <m:accPr>
                                  <m:chr m:val="̂"/>
                                  <m:ctrlPr>
                                    <a:rPr lang="en-US" b="0" i="1" dirty="0" smtClean="0">
                                      <a:solidFill>
                                        <a:prstClr val="black"/>
                                      </a:solidFill>
                                      <a:latin typeface="Cambria Math" panose="02040503050406030204" pitchFamily="18" charset="0"/>
                                    </a:rPr>
                                  </m:ctrlPr>
                                </m:accPr>
                                <m:e>
                                  <m:r>
                                    <m:rPr>
                                      <m:sty m:val="p"/>
                                    </m:rPr>
                                    <a:rPr lang="en-US" b="0" i="0" dirty="0" smtClean="0">
                                      <a:solidFill>
                                        <a:prstClr val="black"/>
                                      </a:solidFill>
                                      <a:latin typeface="Cambria Math" panose="02040503050406030204" pitchFamily="18" charset="0"/>
                                    </a:rPr>
                                    <m:t>Π</m:t>
                                  </m:r>
                                </m:e>
                              </m:acc>
                            </m:e>
                            <m:sub>
                              <m:sSub>
                                <m:sSubPr>
                                  <m:ctrlPr>
                                    <a:rPr lang="en-US" b="0" i="1" dirty="0" smtClean="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𝐴</m:t>
                                  </m:r>
                                </m:e>
                                <m:sub>
                                  <m:r>
                                    <a:rPr lang="en-US" b="0" i="1" dirty="0" smtClean="0">
                                      <a:solidFill>
                                        <a:prstClr val="black"/>
                                      </a:solidFill>
                                      <a:latin typeface="Cambria Math" panose="02040503050406030204" pitchFamily="18" charset="0"/>
                                    </a:rPr>
                                    <m:t>𝑗</m:t>
                                  </m:r>
                                </m:sub>
                              </m:sSub>
                            </m:sub>
                          </m:sSub>
                        </m:e>
                      </m:d>
                      <m:r>
                        <a:rPr lang="en-US" b="0" i="1" dirty="0" smtClean="0">
                          <a:solidFill>
                            <a:prstClr val="black"/>
                          </a:solidFill>
                          <a:latin typeface="Cambria Math" panose="02040503050406030204" pitchFamily="18" charset="0"/>
                        </a:rPr>
                        <m:t>=</m:t>
                      </m:r>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t>𝑡𝑟</m:t>
                      </m:r>
                      <m:d>
                        <m:dPr>
                          <m:ctrlP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ctrlPr>
                        </m:dPr>
                        <m:e>
                          <m:acc>
                            <m:accPr>
                              <m:chr m:val="̂"/>
                              <m:ctrlPr>
                                <a:rPr lang="en-US" b="0" i="1" dirty="0" smtClean="0">
                                  <a:solidFill>
                                    <a:prstClr val="black"/>
                                  </a:solidFill>
                                  <a:latin typeface="Cambria Math" panose="02040503050406030204" pitchFamily="18" charset="0"/>
                                </a:rPr>
                              </m:ctrlPr>
                            </m:accPr>
                            <m:e>
                              <m:r>
                                <a:rPr lang="en-US" b="0" i="1" dirty="0" smtClean="0">
                                  <a:solidFill>
                                    <a:prstClr val="black"/>
                                  </a:solidFill>
                                  <a:latin typeface="Cambria Math" panose="02040503050406030204" pitchFamily="18" charset="0"/>
                                </a:rPr>
                                <m:t>𝑈</m:t>
                              </m:r>
                            </m:e>
                          </m:acc>
                          <m:r>
                            <a:rPr lang="en-US" b="0" i="1" dirty="0" smtClean="0">
                              <a:solidFill>
                                <a:prstClr val="black"/>
                              </a:solidFill>
                              <a:latin typeface="Cambria Math" panose="02040503050406030204" pitchFamily="18" charset="0"/>
                            </a:rPr>
                            <m:t>(</m:t>
                          </m:r>
                          <m:r>
                            <a:rPr lang="en-US" b="0" i="1" dirty="0" smtClean="0">
                              <a:solidFill>
                                <a:prstClr val="black"/>
                              </a:solidFill>
                              <a:latin typeface="Cambria Math" panose="02040503050406030204" pitchFamily="18" charset="0"/>
                            </a:rPr>
                            <m:t>𝜏</m:t>
                          </m:r>
                          <m:r>
                            <a:rPr lang="en-US" b="0" i="1" dirty="0" smtClean="0">
                              <a:solidFill>
                                <a:prstClr val="black"/>
                              </a:solidFill>
                              <a:latin typeface="Cambria Math" panose="02040503050406030204" pitchFamily="18" charset="0"/>
                            </a:rPr>
                            <m:t>, </m:t>
                          </m:r>
                          <m:sSub>
                            <m:sSubPr>
                              <m:ctrlPr>
                                <a:rPr lang="en-US" b="0" i="1" dirty="0" smtClean="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𝜏</m:t>
                              </m:r>
                            </m:e>
                            <m:sub>
                              <m:r>
                                <a:rPr lang="en-US" b="0" i="1" dirty="0" smtClean="0">
                                  <a:solidFill>
                                    <a:prstClr val="black"/>
                                  </a:solidFill>
                                  <a:latin typeface="Cambria Math" panose="02040503050406030204" pitchFamily="18" charset="0"/>
                                </a:rPr>
                                <m:t>0</m:t>
                              </m:r>
                            </m:sub>
                          </m:sSub>
                          <m:r>
                            <a:rPr lang="en-US" b="0" i="1" dirty="0" smtClean="0">
                              <a:solidFill>
                                <a:prstClr val="black"/>
                              </a:solidFill>
                              <a:latin typeface="Cambria Math" panose="02040503050406030204" pitchFamily="18" charset="0"/>
                            </a:rPr>
                            <m:t>)</m:t>
                          </m:r>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t> </m:t>
                          </m:r>
                          <m:r>
                            <a:rPr lang="en-US" b="0" i="1" dirty="0" smtClean="0">
                              <a:solidFill>
                                <a:prstClr val="black"/>
                              </a:solidFill>
                              <a:latin typeface="Cambria Math" panose="02040503050406030204" pitchFamily="18" charset="0"/>
                            </a:rPr>
                            <m:t>|</m:t>
                          </m:r>
                          <m:sSub>
                            <m:sSubPr>
                              <m:ctrlPr>
                                <a:rPr lang="en-US" sz="1200" b="0" i="1" dirty="0" smtClean="0">
                                  <a:latin typeface="Cambria Math" panose="02040503050406030204" pitchFamily="18" charset="0"/>
                                </a:rPr>
                              </m:ctrlPr>
                            </m:sSubPr>
                            <m:e>
                              <m:r>
                                <a:rPr lang="en-US" sz="1200" b="0" i="1" dirty="0" smtClean="0">
                                  <a:latin typeface="Cambria Math" panose="02040503050406030204" pitchFamily="18" charset="0"/>
                                </a:rPr>
                                <m:t>𝑆</m:t>
                              </m:r>
                            </m:e>
                            <m:sub>
                              <m:r>
                                <a:rPr lang="en-US" sz="1200" b="0" i="1" dirty="0" smtClean="0">
                                  <a:latin typeface="Cambria Math" panose="02040503050406030204" pitchFamily="18" charset="0"/>
                                </a:rPr>
                                <m:t>𝑖</m:t>
                              </m:r>
                            </m:sub>
                          </m:sSub>
                          <m:r>
                            <a:rPr lang="en-US" sz="1200" b="0" i="1" dirty="0" smtClean="0">
                              <a:latin typeface="Cambria Math" panose="02040503050406030204" pitchFamily="18" charset="0"/>
                            </a:rPr>
                            <m:t>, </m:t>
                          </m:r>
                          <m:sSub>
                            <m:sSubPr>
                              <m:ctrlPr>
                                <a:rPr lang="en-US" sz="1200" b="0" i="1" dirty="0" smtClean="0">
                                  <a:latin typeface="Cambria Math" panose="02040503050406030204" pitchFamily="18" charset="0"/>
                                </a:rPr>
                              </m:ctrlPr>
                            </m:sSubPr>
                            <m:e>
                              <m:r>
                                <a:rPr lang="en-US" sz="1200" b="0" i="1" dirty="0" smtClean="0">
                                  <a:latin typeface="Cambria Math" panose="02040503050406030204" pitchFamily="18" charset="0"/>
                                </a:rPr>
                                <m:t>0</m:t>
                              </m:r>
                            </m:e>
                            <m:sub>
                              <m:r>
                                <a:rPr lang="en-US" sz="1200" b="0" i="1" dirty="0" smtClean="0">
                                  <a:latin typeface="Cambria Math" panose="02040503050406030204" pitchFamily="18" charset="0"/>
                                </a:rPr>
                                <m:t>𝑆</m:t>
                              </m:r>
                              <m:r>
                                <a:rPr lang="en-US" sz="1200" b="0" i="1" dirty="0" smtClean="0">
                                  <a:latin typeface="Cambria Math" panose="02040503050406030204" pitchFamily="18" charset="0"/>
                                </a:rPr>
                                <m:t>\</m:t>
                              </m:r>
                              <m:sSub>
                                <m:sSubPr>
                                  <m:ctrlPr>
                                    <a:rPr lang="en-US" sz="1200" b="0" i="1" dirty="0" smtClean="0">
                                      <a:latin typeface="Cambria Math" panose="02040503050406030204" pitchFamily="18" charset="0"/>
                                    </a:rPr>
                                  </m:ctrlPr>
                                </m:sSubPr>
                                <m:e>
                                  <m:r>
                                    <m:rPr>
                                      <m:sty m:val="p"/>
                                    </m:rPr>
                                    <a:rPr lang="en-US" sz="1200" b="0" i="1" dirty="0" smtClean="0">
                                      <a:latin typeface="Cambria Math" panose="02040503050406030204" pitchFamily="18" charset="0"/>
                                    </a:rPr>
                                    <m:t>S</m:t>
                                  </m:r>
                                </m:e>
                                <m:sub>
                                  <m:r>
                                    <a:rPr lang="en-US" sz="1200" b="0" i="1" dirty="0" smtClean="0">
                                      <a:latin typeface="Cambria Math" panose="02040503050406030204" pitchFamily="18" charset="0"/>
                                    </a:rPr>
                                    <m:t>𝑖</m:t>
                                  </m:r>
                                </m:sub>
                              </m:sSub>
                            </m:sub>
                          </m:sSub>
                          <m:r>
                            <a:rPr lang="en-US" sz="1200" b="0" i="1" dirty="0" smtClean="0">
                              <a:latin typeface="Cambria Math" panose="02040503050406030204" pitchFamily="18" charset="0"/>
                            </a:rPr>
                            <m:t>, </m:t>
                          </m:r>
                          <m:sSub>
                            <m:sSubPr>
                              <m:ctrlPr>
                                <a:rPr lang="en-US" sz="1200" b="0" i="1" dirty="0" smtClean="0">
                                  <a:latin typeface="Cambria Math" panose="02040503050406030204" pitchFamily="18" charset="0"/>
                                </a:rPr>
                              </m:ctrlPr>
                            </m:sSubPr>
                            <m:e>
                              <m:r>
                                <a:rPr lang="en-US" sz="1200" b="0" i="1" dirty="0" smtClean="0">
                                  <a:latin typeface="Cambria Math" panose="02040503050406030204" pitchFamily="18" charset="0"/>
                                </a:rPr>
                                <m:t>0</m:t>
                              </m:r>
                            </m:e>
                            <m:sub>
                              <m:r>
                                <a:rPr lang="en-US" sz="1200" b="0" i="1" dirty="0" smtClean="0">
                                  <a:latin typeface="Cambria Math" panose="02040503050406030204" pitchFamily="18" charset="0"/>
                                </a:rPr>
                                <m:t>𝐶</m:t>
                              </m:r>
                            </m:sub>
                          </m:sSub>
                          <m:r>
                            <a:rPr lang="en-US" sz="1200" b="0" i="1" dirty="0" smtClean="0">
                              <a:latin typeface="Cambria Math" panose="02040503050406030204" pitchFamily="18" charset="0"/>
                            </a:rPr>
                            <m:t>, </m:t>
                          </m:r>
                          <m:sSub>
                            <m:sSubPr>
                              <m:ctrlPr>
                                <a:rPr lang="en-US" sz="1200" b="0" i="1" dirty="0" smtClean="0">
                                  <a:latin typeface="Cambria Math" panose="02040503050406030204" pitchFamily="18" charset="0"/>
                                </a:rPr>
                              </m:ctrlPr>
                            </m:sSubPr>
                            <m:e>
                              <m:r>
                                <a:rPr lang="en-US" sz="1200" b="0" i="1" dirty="0" smtClean="0">
                                  <a:latin typeface="Cambria Math" panose="02040503050406030204" pitchFamily="18" charset="0"/>
                                </a:rPr>
                                <m:t>0</m:t>
                              </m:r>
                            </m:e>
                            <m:sub>
                              <m:r>
                                <a:rPr lang="en-US" sz="1200" b="0" i="1" dirty="0" smtClean="0">
                                  <a:latin typeface="Cambria Math" panose="02040503050406030204" pitchFamily="18" charset="0"/>
                                </a:rPr>
                                <m:t>𝐴</m:t>
                              </m:r>
                            </m:sub>
                          </m:sSub>
                          <m:r>
                            <a:rPr lang="en-US" b="0" i="1" dirty="0" smtClean="0">
                              <a:solidFill>
                                <a:prstClr val="black"/>
                              </a:solidFill>
                              <a:latin typeface="Cambria Math" panose="02040503050406030204" pitchFamily="18" charset="0"/>
                            </a:rPr>
                            <m:t>⟩⟨</m:t>
                          </m:r>
                          <m:sSub>
                            <m:sSubPr>
                              <m:ctrlPr>
                                <a:rPr lang="en-US" sz="1200" b="0" i="1" dirty="0" smtClean="0">
                                  <a:latin typeface="Cambria Math" panose="02040503050406030204" pitchFamily="18" charset="0"/>
                                </a:rPr>
                              </m:ctrlPr>
                            </m:sSubPr>
                            <m:e>
                              <m:r>
                                <a:rPr lang="en-US" sz="1200" b="0" i="1" dirty="0" smtClean="0">
                                  <a:latin typeface="Cambria Math" panose="02040503050406030204" pitchFamily="18" charset="0"/>
                                </a:rPr>
                                <m:t>𝑆</m:t>
                              </m:r>
                            </m:e>
                            <m:sub>
                              <m:r>
                                <a:rPr lang="en-US" sz="1200" b="0" i="1" dirty="0" smtClean="0">
                                  <a:latin typeface="Cambria Math" panose="02040503050406030204" pitchFamily="18" charset="0"/>
                                </a:rPr>
                                <m:t>𝑖</m:t>
                              </m:r>
                            </m:sub>
                          </m:sSub>
                          <m:r>
                            <a:rPr lang="en-US" sz="1200" b="0" i="1" dirty="0" smtClean="0">
                              <a:latin typeface="Cambria Math" panose="02040503050406030204" pitchFamily="18" charset="0"/>
                            </a:rPr>
                            <m:t>, </m:t>
                          </m:r>
                          <m:sSub>
                            <m:sSubPr>
                              <m:ctrlPr>
                                <a:rPr lang="en-US" sz="1200" b="0" i="1" dirty="0" smtClean="0">
                                  <a:latin typeface="Cambria Math" panose="02040503050406030204" pitchFamily="18" charset="0"/>
                                </a:rPr>
                              </m:ctrlPr>
                            </m:sSubPr>
                            <m:e>
                              <m:r>
                                <a:rPr lang="en-US" sz="1200" b="0" i="1" dirty="0" smtClean="0">
                                  <a:latin typeface="Cambria Math" panose="02040503050406030204" pitchFamily="18" charset="0"/>
                                </a:rPr>
                                <m:t>0</m:t>
                              </m:r>
                            </m:e>
                            <m:sub>
                              <m:r>
                                <a:rPr lang="en-US" sz="1200" b="0" i="1" dirty="0" smtClean="0">
                                  <a:latin typeface="Cambria Math" panose="02040503050406030204" pitchFamily="18" charset="0"/>
                                </a:rPr>
                                <m:t>𝑆</m:t>
                              </m:r>
                              <m:r>
                                <a:rPr lang="en-US" sz="1200" b="0" i="1" dirty="0" smtClean="0">
                                  <a:latin typeface="Cambria Math" panose="02040503050406030204" pitchFamily="18" charset="0"/>
                                </a:rPr>
                                <m:t>\</m:t>
                              </m:r>
                              <m:sSub>
                                <m:sSubPr>
                                  <m:ctrlPr>
                                    <a:rPr lang="en-US" sz="1200" b="0" i="1" dirty="0" smtClean="0">
                                      <a:latin typeface="Cambria Math" panose="02040503050406030204" pitchFamily="18" charset="0"/>
                                    </a:rPr>
                                  </m:ctrlPr>
                                </m:sSubPr>
                                <m:e>
                                  <m:r>
                                    <m:rPr>
                                      <m:sty m:val="p"/>
                                    </m:rPr>
                                    <a:rPr lang="en-US" sz="1200" b="0" i="1" dirty="0" smtClean="0">
                                      <a:latin typeface="Cambria Math" panose="02040503050406030204" pitchFamily="18" charset="0"/>
                                    </a:rPr>
                                    <m:t>S</m:t>
                                  </m:r>
                                </m:e>
                                <m:sub>
                                  <m:r>
                                    <a:rPr lang="en-US" sz="1200" b="0" i="1" dirty="0" smtClean="0">
                                      <a:latin typeface="Cambria Math" panose="02040503050406030204" pitchFamily="18" charset="0"/>
                                    </a:rPr>
                                    <m:t>𝑖</m:t>
                                  </m:r>
                                </m:sub>
                              </m:sSub>
                            </m:sub>
                          </m:sSub>
                          <m:r>
                            <a:rPr lang="en-US" sz="1200" b="0" i="1" dirty="0" smtClean="0">
                              <a:latin typeface="Cambria Math" panose="02040503050406030204" pitchFamily="18" charset="0"/>
                            </a:rPr>
                            <m:t>, </m:t>
                          </m:r>
                          <m:sSub>
                            <m:sSubPr>
                              <m:ctrlPr>
                                <a:rPr lang="en-US" sz="1200" b="0" i="1" dirty="0" smtClean="0">
                                  <a:latin typeface="Cambria Math" panose="02040503050406030204" pitchFamily="18" charset="0"/>
                                </a:rPr>
                              </m:ctrlPr>
                            </m:sSubPr>
                            <m:e>
                              <m:r>
                                <a:rPr lang="en-US" sz="1200" b="0" i="1" dirty="0" smtClean="0">
                                  <a:latin typeface="Cambria Math" panose="02040503050406030204" pitchFamily="18" charset="0"/>
                                </a:rPr>
                                <m:t>0</m:t>
                              </m:r>
                            </m:e>
                            <m:sub>
                              <m:r>
                                <a:rPr lang="en-US" sz="1200" b="0" i="1" dirty="0" smtClean="0">
                                  <a:latin typeface="Cambria Math" panose="02040503050406030204" pitchFamily="18" charset="0"/>
                                </a:rPr>
                                <m:t>𝐶</m:t>
                              </m:r>
                            </m:sub>
                          </m:sSub>
                          <m:r>
                            <a:rPr lang="en-US" sz="1200" b="0" i="1" dirty="0" smtClean="0">
                              <a:latin typeface="Cambria Math" panose="02040503050406030204" pitchFamily="18" charset="0"/>
                            </a:rPr>
                            <m:t>, </m:t>
                          </m:r>
                          <m:sSub>
                            <m:sSubPr>
                              <m:ctrlPr>
                                <a:rPr lang="en-US" sz="1200" b="0" i="1" dirty="0" smtClean="0">
                                  <a:latin typeface="Cambria Math" panose="02040503050406030204" pitchFamily="18" charset="0"/>
                                </a:rPr>
                              </m:ctrlPr>
                            </m:sSubPr>
                            <m:e>
                              <m:r>
                                <a:rPr lang="en-US" sz="1200" b="0" i="1" dirty="0" smtClean="0">
                                  <a:latin typeface="Cambria Math" panose="02040503050406030204" pitchFamily="18" charset="0"/>
                                </a:rPr>
                                <m:t>0</m:t>
                              </m:r>
                            </m:e>
                            <m:sub>
                              <m:r>
                                <a:rPr lang="en-US" sz="1200" b="0" i="1" dirty="0" smtClean="0">
                                  <a:latin typeface="Cambria Math" panose="02040503050406030204" pitchFamily="18" charset="0"/>
                                </a:rPr>
                                <m:t>𝐴</m:t>
                              </m:r>
                            </m:sub>
                          </m:sSub>
                          <m:r>
                            <a:rPr lang="en-US" b="0" i="1" dirty="0" smtClean="0">
                              <a:solidFill>
                                <a:prstClr val="black"/>
                              </a:solidFill>
                              <a:latin typeface="Cambria Math" panose="02040503050406030204" pitchFamily="18" charset="0"/>
                            </a:rPr>
                            <m:t>|</m:t>
                          </m:r>
                          <m:sSup>
                            <m:sSupPr>
                              <m:ctrlP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ctrlPr>
                            </m:sSupPr>
                            <m:e>
                              <m:acc>
                                <m:accPr>
                                  <m:chr m:val="̂"/>
                                  <m:ctrlP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ctrlPr>
                                </m:accPr>
                                <m:e>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t>𝑈</m:t>
                                  </m:r>
                                </m:e>
                              </m:acc>
                            </m:e>
                            <m:sup>
                              <m:r>
                                <a:rPr lang="en-US" i="1" dirty="0" smtClean="0">
                                  <a:solidFill>
                                    <a:prstClr val="black"/>
                                  </a:solidFill>
                                  <a:latin typeface="Cambria Math" panose="02040503050406030204" pitchFamily="18" charset="0"/>
                                  <a:ea typeface="Cambria Math" panose="02040503050406030204" pitchFamily="18" charset="0"/>
                                </a:rPr>
                                <m:t>†</m:t>
                              </m:r>
                            </m:sup>
                          </m:sSup>
                          <m:d>
                            <m:dPr>
                              <m:ctrlPr>
                                <a:rPr lang="en-US" b="0" i="1" dirty="0" smtClean="0">
                                  <a:solidFill>
                                    <a:prstClr val="black"/>
                                  </a:solidFill>
                                  <a:latin typeface="Cambria Math" panose="02040503050406030204" pitchFamily="18" charset="0"/>
                                  <a:ea typeface="Cambria Math" panose="02040503050406030204" pitchFamily="18" charset="0"/>
                                </a:rPr>
                              </m:ctrlPr>
                            </m:dPr>
                            <m:e>
                              <m:r>
                                <a:rPr lang="en-US" b="0" i="1" dirty="0" smtClean="0">
                                  <a:solidFill>
                                    <a:prstClr val="black"/>
                                  </a:solidFill>
                                  <a:latin typeface="Cambria Math" panose="02040503050406030204" pitchFamily="18" charset="0"/>
                                </a:rPr>
                                <m:t>𝜏</m:t>
                              </m:r>
                              <m:r>
                                <a:rPr lang="en-US" b="0" i="1" dirty="0" smtClean="0">
                                  <a:solidFill>
                                    <a:prstClr val="black"/>
                                  </a:solidFill>
                                  <a:latin typeface="Cambria Math" panose="02040503050406030204" pitchFamily="18" charset="0"/>
                                </a:rPr>
                                <m:t>, </m:t>
                              </m:r>
                              <m:sSub>
                                <m:sSubPr>
                                  <m:ctrlPr>
                                    <a:rPr lang="en-US" b="0" i="1" dirty="0" smtClean="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𝜏</m:t>
                                  </m:r>
                                </m:e>
                                <m:sub>
                                  <m:r>
                                    <a:rPr lang="en-US" b="0" i="1" dirty="0" smtClean="0">
                                      <a:solidFill>
                                        <a:prstClr val="black"/>
                                      </a:solidFill>
                                      <a:latin typeface="Cambria Math" panose="02040503050406030204" pitchFamily="18" charset="0"/>
                                    </a:rPr>
                                    <m:t>0</m:t>
                                  </m:r>
                                </m:sub>
                              </m:sSub>
                            </m:e>
                          </m:d>
                          <m:sSub>
                            <m:sSubPr>
                              <m:ctrlPr>
                                <a:rPr lang="en-US" b="0" i="1" dirty="0" smtClean="0">
                                  <a:solidFill>
                                    <a:prstClr val="black"/>
                                  </a:solidFill>
                                  <a:latin typeface="Cambria Math" panose="02040503050406030204" pitchFamily="18" charset="0"/>
                                </a:rPr>
                              </m:ctrlPr>
                            </m:sSubPr>
                            <m:e>
                              <m:acc>
                                <m:accPr>
                                  <m:chr m:val="̂"/>
                                  <m:ctrlPr>
                                    <a:rPr lang="en-US" b="0" i="1" dirty="0" smtClean="0">
                                      <a:solidFill>
                                        <a:prstClr val="black"/>
                                      </a:solidFill>
                                      <a:latin typeface="Cambria Math" panose="02040503050406030204" pitchFamily="18" charset="0"/>
                                    </a:rPr>
                                  </m:ctrlPr>
                                </m:accPr>
                                <m:e>
                                  <m:r>
                                    <m:rPr>
                                      <m:sty m:val="p"/>
                                    </m:rPr>
                                    <a:rPr lang="en-US" b="0" i="0" dirty="0" smtClean="0">
                                      <a:solidFill>
                                        <a:prstClr val="black"/>
                                      </a:solidFill>
                                      <a:latin typeface="Cambria Math" panose="02040503050406030204" pitchFamily="18" charset="0"/>
                                    </a:rPr>
                                    <m:t>Π</m:t>
                                  </m:r>
                                </m:e>
                              </m:acc>
                            </m:e>
                            <m:sub>
                              <m:sSub>
                                <m:sSubPr>
                                  <m:ctrlPr>
                                    <a:rPr lang="en-US" b="0" i="1" dirty="0" smtClean="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𝐴</m:t>
                                  </m:r>
                                </m:e>
                                <m:sub>
                                  <m:r>
                                    <a:rPr lang="en-US" b="0" i="1" dirty="0" smtClean="0">
                                      <a:solidFill>
                                        <a:prstClr val="black"/>
                                      </a:solidFill>
                                      <a:latin typeface="Cambria Math" panose="02040503050406030204" pitchFamily="18" charset="0"/>
                                    </a:rPr>
                                    <m:t>𝑗</m:t>
                                  </m:r>
                                </m:sub>
                              </m:sSub>
                            </m:sub>
                          </m:sSub>
                        </m:e>
                      </m:d>
                      <m:r>
                        <a:rPr lang="en-US" b="0" i="1" dirty="0" smtClean="0">
                          <a:solidFill>
                            <a:prstClr val="black"/>
                          </a:solidFill>
                          <a:latin typeface="Cambria Math" panose="02040503050406030204" pitchFamily="18" charset="0"/>
                        </a:rPr>
                        <m:t>=</m:t>
                      </m:r>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t>𝑡𝑟</m:t>
                      </m:r>
                      <m:d>
                        <m:dPr>
                          <m:ctrlP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ctrlPr>
                        </m:dPr>
                        <m:e>
                          <m:acc>
                            <m:accPr>
                              <m:chr m:val="̂"/>
                              <m:ctrlPr>
                                <a:rPr lang="en-US" b="0" i="1" dirty="0" smtClean="0">
                                  <a:solidFill>
                                    <a:prstClr val="black"/>
                                  </a:solidFill>
                                  <a:latin typeface="Cambria Math" panose="02040503050406030204" pitchFamily="18" charset="0"/>
                                </a:rPr>
                              </m:ctrlPr>
                            </m:accPr>
                            <m:e>
                              <m:r>
                                <a:rPr lang="en-US" b="0" i="1" dirty="0" smtClean="0">
                                  <a:solidFill>
                                    <a:prstClr val="black"/>
                                  </a:solidFill>
                                  <a:latin typeface="Cambria Math" panose="02040503050406030204" pitchFamily="18" charset="0"/>
                                </a:rPr>
                                <m:t>𝑈</m:t>
                              </m:r>
                            </m:e>
                          </m:acc>
                          <m:r>
                            <a:rPr lang="en-US" b="0" i="1" dirty="0" smtClean="0">
                              <a:solidFill>
                                <a:prstClr val="black"/>
                              </a:solidFill>
                              <a:latin typeface="Cambria Math" panose="02040503050406030204" pitchFamily="18" charset="0"/>
                            </a:rPr>
                            <m:t>(</m:t>
                          </m:r>
                          <m:r>
                            <a:rPr lang="en-US" b="0" i="1" dirty="0" smtClean="0">
                              <a:solidFill>
                                <a:prstClr val="black"/>
                              </a:solidFill>
                              <a:latin typeface="Cambria Math" panose="02040503050406030204" pitchFamily="18" charset="0"/>
                            </a:rPr>
                            <m:t>𝜏</m:t>
                          </m:r>
                          <m:r>
                            <a:rPr lang="en-US" b="0" i="1" dirty="0" smtClean="0">
                              <a:solidFill>
                                <a:prstClr val="black"/>
                              </a:solidFill>
                              <a:latin typeface="Cambria Math" panose="02040503050406030204" pitchFamily="18" charset="0"/>
                            </a:rPr>
                            <m:t>, </m:t>
                          </m:r>
                          <m:sSub>
                            <m:sSubPr>
                              <m:ctrlPr>
                                <a:rPr lang="en-US" b="0" i="1" dirty="0" smtClean="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𝜏</m:t>
                              </m:r>
                            </m:e>
                            <m:sub>
                              <m:r>
                                <a:rPr lang="en-US" b="0" i="1" dirty="0" smtClean="0">
                                  <a:solidFill>
                                    <a:prstClr val="black"/>
                                  </a:solidFill>
                                  <a:latin typeface="Cambria Math" panose="02040503050406030204" pitchFamily="18" charset="0"/>
                                </a:rPr>
                                <m:t>0</m:t>
                              </m:r>
                            </m:sub>
                          </m:sSub>
                          <m:r>
                            <a:rPr lang="en-US" b="0" i="1" dirty="0" smtClean="0">
                              <a:solidFill>
                                <a:prstClr val="black"/>
                              </a:solidFill>
                              <a:latin typeface="Cambria Math" panose="02040503050406030204" pitchFamily="18" charset="0"/>
                            </a:rPr>
                            <m:t>)</m:t>
                          </m:r>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t> </m:t>
                          </m:r>
                          <m:sSubSup>
                            <m:sSubSupPr>
                              <m:ctrlPr>
                                <a:rPr lang="en-US" b="0" i="1" dirty="0" smtClean="0">
                                  <a:solidFill>
                                    <a:prstClr val="black"/>
                                  </a:solidFill>
                                  <a:latin typeface="Cambria Math" panose="02040503050406030204" pitchFamily="18" charset="0"/>
                                </a:rPr>
                              </m:ctrlPr>
                            </m:sSubSupPr>
                            <m:e>
                              <m:acc>
                                <m:accPr>
                                  <m:chr m:val="̂"/>
                                  <m:ctrlPr>
                                    <a:rPr lang="en-US" b="0" i="1" dirty="0" smtClean="0">
                                      <a:solidFill>
                                        <a:prstClr val="black"/>
                                      </a:solidFill>
                                      <a:latin typeface="Cambria Math" panose="02040503050406030204" pitchFamily="18" charset="0"/>
                                    </a:rPr>
                                  </m:ctrlPr>
                                </m:accPr>
                                <m:e>
                                  <m:r>
                                    <m:rPr>
                                      <m:sty m:val="p"/>
                                    </m:rPr>
                                    <a:rPr lang="en-US" b="0" i="0" dirty="0" smtClean="0">
                                      <a:solidFill>
                                        <a:prstClr val="black"/>
                                      </a:solidFill>
                                      <a:latin typeface="Cambria Math" panose="02040503050406030204" pitchFamily="18" charset="0"/>
                                    </a:rPr>
                                    <m:t>Ω</m:t>
                                  </m:r>
                                </m:e>
                              </m:acc>
                            </m:e>
                            <m:sub>
                              <m:sSub>
                                <m:sSubPr>
                                  <m:ctrlPr>
                                    <a:rPr lang="en-US" b="0" i="1" dirty="0" smtClean="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𝑆</m:t>
                                  </m:r>
                                </m:e>
                                <m:sub>
                                  <m:r>
                                    <a:rPr lang="en-US" b="0" i="1" dirty="0" smtClean="0">
                                      <a:solidFill>
                                        <a:prstClr val="black"/>
                                      </a:solidFill>
                                      <a:latin typeface="Cambria Math" panose="02040503050406030204" pitchFamily="18" charset="0"/>
                                    </a:rPr>
                                    <m:t>𝑖</m:t>
                                  </m:r>
                                </m:sub>
                              </m:sSub>
                            </m:sub>
                            <m:sup>
                              <m:r>
                                <a:rPr lang="en-US" i="1" dirty="0" smtClean="0">
                                  <a:solidFill>
                                    <a:prstClr val="black"/>
                                  </a:solidFill>
                                  <a:latin typeface="Cambria Math" panose="02040503050406030204" pitchFamily="18" charset="0"/>
                                  <a:ea typeface="Cambria Math" panose="02040503050406030204" pitchFamily="18" charset="0"/>
                                </a:rPr>
                                <m:t>†</m:t>
                              </m:r>
                            </m:sup>
                          </m:sSubSup>
                          <m:r>
                            <a:rPr lang="en-US" b="0" i="1" dirty="0" smtClean="0">
                              <a:solidFill>
                                <a:prstClr val="black"/>
                              </a:solidFill>
                              <a:latin typeface="Cambria Math" panose="02040503050406030204" pitchFamily="18" charset="0"/>
                            </a:rPr>
                            <m:t>|</m:t>
                          </m:r>
                          <m:r>
                            <a:rPr lang="en-US" b="0" i="1" dirty="0" smtClean="0">
                              <a:solidFill>
                                <a:prstClr val="black"/>
                              </a:solidFill>
                              <a:latin typeface="Cambria Math" panose="02040503050406030204" pitchFamily="18" charset="0"/>
                            </a:rPr>
                            <m:t>𝑣𝑎𝑐</m:t>
                          </m:r>
                          <m:r>
                            <a:rPr lang="en-US" b="0" i="1" dirty="0" smtClean="0">
                              <a:solidFill>
                                <a:prstClr val="black"/>
                              </a:solidFill>
                              <a:latin typeface="Cambria Math" panose="02040503050406030204" pitchFamily="18" charset="0"/>
                            </a:rPr>
                            <m:t>⟩⟨</m:t>
                          </m:r>
                          <m:r>
                            <a:rPr lang="en-US" b="0" i="1" dirty="0" smtClean="0">
                              <a:solidFill>
                                <a:prstClr val="black"/>
                              </a:solidFill>
                              <a:latin typeface="Cambria Math" panose="02040503050406030204" pitchFamily="18" charset="0"/>
                            </a:rPr>
                            <m:t>𝑣𝑎𝑐</m:t>
                          </m:r>
                          <m:r>
                            <a:rPr lang="en-US" b="0" i="1" dirty="0" smtClean="0">
                              <a:solidFill>
                                <a:prstClr val="black"/>
                              </a:solidFill>
                              <a:latin typeface="Cambria Math" panose="02040503050406030204" pitchFamily="18" charset="0"/>
                            </a:rPr>
                            <m:t>|</m:t>
                          </m:r>
                          <m:sSub>
                            <m:sSubPr>
                              <m:ctrlPr>
                                <a:rPr lang="en-US" b="0" i="1" dirty="0" smtClean="0">
                                  <a:solidFill>
                                    <a:prstClr val="black"/>
                                  </a:solidFill>
                                  <a:latin typeface="Cambria Math" panose="02040503050406030204" pitchFamily="18" charset="0"/>
                                  <a:ea typeface="Cambria Math" panose="02040503050406030204" pitchFamily="18" charset="0"/>
                                </a:rPr>
                              </m:ctrlPr>
                            </m:sSubPr>
                            <m:e>
                              <m:acc>
                                <m:accPr>
                                  <m:chr m:val="̂"/>
                                  <m:ctrlPr>
                                    <a:rPr lang="en-US" i="1" dirty="0" smtClean="0">
                                      <a:solidFill>
                                        <a:prstClr val="black"/>
                                      </a:solidFill>
                                      <a:latin typeface="Cambria Math" panose="02040503050406030204" pitchFamily="18" charset="0"/>
                                    </a:rPr>
                                  </m:ctrlPr>
                                </m:accPr>
                                <m:e>
                                  <m:r>
                                    <m:rPr>
                                      <m:sty m:val="p"/>
                                    </m:rPr>
                                    <a:rPr lang="en-US" b="0" i="0" dirty="0" smtClean="0">
                                      <a:solidFill>
                                        <a:prstClr val="black"/>
                                      </a:solidFill>
                                      <a:latin typeface="Cambria Math" panose="02040503050406030204" pitchFamily="18" charset="0"/>
                                    </a:rPr>
                                    <m:t>Ω</m:t>
                                  </m:r>
                                </m:e>
                              </m:acc>
                            </m:e>
                            <m:sub>
                              <m:sSub>
                                <m:sSubPr>
                                  <m:ctrlPr>
                                    <a:rPr lang="en-US" b="0" i="1" dirty="0" smtClean="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𝑆</m:t>
                                  </m:r>
                                </m:e>
                                <m:sub>
                                  <m:r>
                                    <a:rPr lang="en-US" b="0" i="1" dirty="0" smtClean="0">
                                      <a:solidFill>
                                        <a:prstClr val="black"/>
                                      </a:solidFill>
                                      <a:latin typeface="Cambria Math" panose="02040503050406030204" pitchFamily="18" charset="0"/>
                                    </a:rPr>
                                    <m:t>𝑖</m:t>
                                  </m:r>
                                </m:sub>
                              </m:sSub>
                            </m:sub>
                          </m:sSub>
                          <m:sSup>
                            <m:sSupPr>
                              <m:ctrlP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ctrlPr>
                            </m:sSupPr>
                            <m:e>
                              <m:acc>
                                <m:accPr>
                                  <m:chr m:val="̂"/>
                                  <m:ctrlP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ctrlPr>
                                </m:accPr>
                                <m:e>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t>𝑈</m:t>
                                  </m:r>
                                </m:e>
                              </m:acc>
                            </m:e>
                            <m:sup>
                              <m:r>
                                <a:rPr lang="en-US" i="1" dirty="0" smtClean="0">
                                  <a:solidFill>
                                    <a:prstClr val="black"/>
                                  </a:solidFill>
                                  <a:latin typeface="Cambria Math" panose="02040503050406030204" pitchFamily="18" charset="0"/>
                                  <a:ea typeface="Cambria Math" panose="02040503050406030204" pitchFamily="18" charset="0"/>
                                </a:rPr>
                                <m:t>†</m:t>
                              </m:r>
                            </m:sup>
                          </m:sSup>
                          <m:d>
                            <m:dPr>
                              <m:ctrlPr>
                                <a:rPr lang="en-US" b="0" i="1" dirty="0" smtClean="0">
                                  <a:solidFill>
                                    <a:prstClr val="black"/>
                                  </a:solidFill>
                                  <a:latin typeface="Cambria Math" panose="02040503050406030204" pitchFamily="18" charset="0"/>
                                  <a:ea typeface="Cambria Math" panose="02040503050406030204" pitchFamily="18" charset="0"/>
                                </a:rPr>
                              </m:ctrlPr>
                            </m:dPr>
                            <m:e>
                              <m:r>
                                <a:rPr lang="en-US" b="0" i="1" dirty="0" smtClean="0">
                                  <a:solidFill>
                                    <a:prstClr val="black"/>
                                  </a:solidFill>
                                  <a:latin typeface="Cambria Math" panose="02040503050406030204" pitchFamily="18" charset="0"/>
                                </a:rPr>
                                <m:t>𝜏</m:t>
                              </m:r>
                              <m:r>
                                <a:rPr lang="en-US" b="0" i="1" dirty="0" smtClean="0">
                                  <a:solidFill>
                                    <a:prstClr val="black"/>
                                  </a:solidFill>
                                  <a:latin typeface="Cambria Math" panose="02040503050406030204" pitchFamily="18" charset="0"/>
                                </a:rPr>
                                <m:t>, </m:t>
                              </m:r>
                              <m:sSub>
                                <m:sSubPr>
                                  <m:ctrlPr>
                                    <a:rPr lang="en-US" b="0" i="1" dirty="0" smtClean="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𝜏</m:t>
                                  </m:r>
                                </m:e>
                                <m:sub>
                                  <m:r>
                                    <a:rPr lang="en-US" b="0" i="1" dirty="0" smtClean="0">
                                      <a:solidFill>
                                        <a:prstClr val="black"/>
                                      </a:solidFill>
                                      <a:latin typeface="Cambria Math" panose="02040503050406030204" pitchFamily="18" charset="0"/>
                                    </a:rPr>
                                    <m:t>0</m:t>
                                  </m:r>
                                </m:sub>
                              </m:sSub>
                            </m:e>
                          </m:d>
                          <m:sSub>
                            <m:sSubPr>
                              <m:ctrlPr>
                                <a:rPr lang="en-US" b="0" i="1" dirty="0" smtClean="0">
                                  <a:solidFill>
                                    <a:prstClr val="black"/>
                                  </a:solidFill>
                                  <a:latin typeface="Cambria Math" panose="02040503050406030204" pitchFamily="18" charset="0"/>
                                </a:rPr>
                              </m:ctrlPr>
                            </m:sSubPr>
                            <m:e>
                              <m:acc>
                                <m:accPr>
                                  <m:chr m:val="̂"/>
                                  <m:ctrlPr>
                                    <a:rPr lang="en-US" b="0" i="1" dirty="0" smtClean="0">
                                      <a:solidFill>
                                        <a:prstClr val="black"/>
                                      </a:solidFill>
                                      <a:latin typeface="Cambria Math" panose="02040503050406030204" pitchFamily="18" charset="0"/>
                                    </a:rPr>
                                  </m:ctrlPr>
                                </m:accPr>
                                <m:e>
                                  <m:r>
                                    <m:rPr>
                                      <m:sty m:val="p"/>
                                    </m:rPr>
                                    <a:rPr lang="en-US" b="0" i="0" dirty="0" smtClean="0">
                                      <a:solidFill>
                                        <a:prstClr val="black"/>
                                      </a:solidFill>
                                      <a:latin typeface="Cambria Math" panose="02040503050406030204" pitchFamily="18" charset="0"/>
                                    </a:rPr>
                                    <m:t>Π</m:t>
                                  </m:r>
                                </m:e>
                              </m:acc>
                            </m:e>
                            <m:sub>
                              <m:sSub>
                                <m:sSubPr>
                                  <m:ctrlPr>
                                    <a:rPr lang="en-US" b="0" i="1" dirty="0" smtClean="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𝐴</m:t>
                                  </m:r>
                                </m:e>
                                <m:sub>
                                  <m:r>
                                    <a:rPr lang="en-US" b="0" i="1" dirty="0" smtClean="0">
                                      <a:solidFill>
                                        <a:prstClr val="black"/>
                                      </a:solidFill>
                                      <a:latin typeface="Cambria Math" panose="02040503050406030204" pitchFamily="18" charset="0"/>
                                    </a:rPr>
                                    <m:t>𝑗</m:t>
                                  </m:r>
                                </m:sub>
                              </m:sSub>
                            </m:sub>
                          </m:sSub>
                        </m:e>
                      </m:d>
                    </m:oMath>
                  </m:oMathPara>
                </a14:m>
                <a:endParaRPr lang="en-CA" dirty="0"/>
              </a:p>
              <a:p>
                <a:r>
                  <a:rPr lang="en-CA" dirty="0"/>
                  <a:t>Where </a:t>
                </a:r>
                <a14:m>
                  <m:oMath xmlns:m="http://schemas.openxmlformats.org/officeDocument/2006/math">
                    <m:sSub>
                      <m:sSubPr>
                        <m:ctrlPr>
                          <a:rPr lang="en-US" b="0" i="1" smtClean="0">
                            <a:latin typeface="Cambria Math" panose="02040503050406030204" pitchFamily="18" charset="0"/>
                          </a:rPr>
                        </m:ctrlPr>
                      </m:sSubPr>
                      <m:e>
                        <m:acc>
                          <m:accPr>
                            <m:chr m:val="̂"/>
                            <m:ctrlPr>
                              <a:rPr lang="en-CA" i="1" smtClean="0">
                                <a:latin typeface="Cambria Math" panose="02040503050406030204" pitchFamily="18" charset="0"/>
                              </a:rPr>
                            </m:ctrlPr>
                          </m:accPr>
                          <m:e>
                            <m:r>
                              <m:rPr>
                                <m:sty m:val="p"/>
                              </m:rPr>
                              <a:rPr lang="en-US" b="0" i="0" smtClean="0">
                                <a:latin typeface="Cambria Math" panose="02040503050406030204" pitchFamily="18" charset="0"/>
                              </a:rPr>
                              <m:t>Π</m:t>
                            </m:r>
                          </m:e>
                        </m:acc>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𝑗</m:t>
                            </m:r>
                          </m:sub>
                        </m:sSub>
                      </m:sub>
                    </m:sSub>
                    <m:r>
                      <a:rPr lang="en-US" b="0" i="1" smtClean="0">
                        <a:latin typeface="Cambria Math" panose="02040503050406030204" pitchFamily="18" charset="0"/>
                      </a:rPr>
                      <m:t>=</m:t>
                    </m:r>
                    <m:sSubSup>
                      <m:sSubSupPr>
                        <m:ctrlPr>
                          <a:rPr lang="en-US" b="0" i="1" dirty="0" smtClean="0">
                            <a:solidFill>
                              <a:prstClr val="black"/>
                            </a:solidFill>
                            <a:latin typeface="Cambria Math" panose="02040503050406030204" pitchFamily="18" charset="0"/>
                          </a:rPr>
                        </m:ctrlPr>
                      </m:sSubSupPr>
                      <m:e>
                        <m:acc>
                          <m:accPr>
                            <m:chr m:val="̂"/>
                            <m:ctrlPr>
                              <a:rPr lang="en-US" b="0" i="1" dirty="0" smtClean="0">
                                <a:solidFill>
                                  <a:prstClr val="black"/>
                                </a:solidFill>
                                <a:latin typeface="Cambria Math" panose="02040503050406030204" pitchFamily="18" charset="0"/>
                              </a:rPr>
                            </m:ctrlPr>
                          </m:accPr>
                          <m:e>
                            <m:r>
                              <m:rPr>
                                <m:sty m:val="p"/>
                              </m:rPr>
                              <a:rPr lang="en-US" b="0" i="0" dirty="0" smtClean="0">
                                <a:solidFill>
                                  <a:prstClr val="black"/>
                                </a:solidFill>
                                <a:latin typeface="Cambria Math" panose="02040503050406030204" pitchFamily="18" charset="0"/>
                              </a:rPr>
                              <m:t>Ω</m:t>
                            </m:r>
                          </m:e>
                        </m:acc>
                      </m:e>
                      <m:sub>
                        <m:sSub>
                          <m:sSubPr>
                            <m:ctrlPr>
                              <a:rPr lang="en-US" b="0" i="1" dirty="0" smtClean="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𝐴</m:t>
                            </m:r>
                          </m:e>
                          <m:sub>
                            <m:r>
                              <a:rPr lang="en-US" b="0" i="1" dirty="0" smtClean="0">
                                <a:solidFill>
                                  <a:prstClr val="black"/>
                                </a:solidFill>
                                <a:latin typeface="Cambria Math" panose="02040503050406030204" pitchFamily="18" charset="0"/>
                              </a:rPr>
                              <m:t>𝑗</m:t>
                            </m:r>
                          </m:sub>
                        </m:sSub>
                      </m:sub>
                      <m:sup>
                        <m:r>
                          <a:rPr lang="en-US" i="1" dirty="0" smtClean="0">
                            <a:solidFill>
                              <a:prstClr val="black"/>
                            </a:solidFill>
                            <a:latin typeface="Cambria Math" panose="02040503050406030204" pitchFamily="18" charset="0"/>
                            <a:ea typeface="Cambria Math" panose="02040503050406030204" pitchFamily="18" charset="0"/>
                          </a:rPr>
                          <m:t>†</m:t>
                        </m:r>
                      </m:sup>
                    </m:sSubSup>
                    <m:r>
                      <a:rPr lang="en-US" b="0" i="1" dirty="0" smtClean="0">
                        <a:solidFill>
                          <a:prstClr val="black"/>
                        </a:solidFill>
                        <a:latin typeface="Cambria Math" panose="02040503050406030204" pitchFamily="18" charset="0"/>
                      </a:rPr>
                      <m:t>|</m:t>
                    </m:r>
                    <m:r>
                      <a:rPr lang="en-US" b="0" i="1" dirty="0" smtClean="0">
                        <a:solidFill>
                          <a:prstClr val="black"/>
                        </a:solidFill>
                        <a:latin typeface="Cambria Math" panose="02040503050406030204" pitchFamily="18" charset="0"/>
                      </a:rPr>
                      <m:t>𝑣𝑎𝑐</m:t>
                    </m:r>
                    <m:r>
                      <a:rPr lang="en-US" b="0" i="1" dirty="0" smtClean="0">
                        <a:solidFill>
                          <a:prstClr val="black"/>
                        </a:solidFill>
                        <a:latin typeface="Cambria Math" panose="02040503050406030204" pitchFamily="18" charset="0"/>
                      </a:rPr>
                      <m:t>⟩⟨</m:t>
                    </m:r>
                    <m:r>
                      <a:rPr lang="en-US" b="0" i="1" dirty="0" smtClean="0">
                        <a:solidFill>
                          <a:prstClr val="black"/>
                        </a:solidFill>
                        <a:latin typeface="Cambria Math" panose="02040503050406030204" pitchFamily="18" charset="0"/>
                      </a:rPr>
                      <m:t>𝑣𝑎𝑐</m:t>
                    </m:r>
                    <m:r>
                      <a:rPr lang="en-US" b="0" i="1" dirty="0" smtClean="0">
                        <a:solidFill>
                          <a:prstClr val="black"/>
                        </a:solidFill>
                        <a:latin typeface="Cambria Math" panose="02040503050406030204" pitchFamily="18" charset="0"/>
                      </a:rPr>
                      <m:t>|</m:t>
                    </m:r>
                    <m:sSub>
                      <m:sSubPr>
                        <m:ctrlPr>
                          <a:rPr lang="en-US" b="0" i="1" dirty="0" smtClean="0">
                            <a:solidFill>
                              <a:prstClr val="black"/>
                            </a:solidFill>
                            <a:latin typeface="Cambria Math" panose="02040503050406030204" pitchFamily="18" charset="0"/>
                            <a:ea typeface="Cambria Math" panose="02040503050406030204" pitchFamily="18" charset="0"/>
                          </a:rPr>
                        </m:ctrlPr>
                      </m:sSubPr>
                      <m:e>
                        <m:acc>
                          <m:accPr>
                            <m:chr m:val="̂"/>
                            <m:ctrlPr>
                              <a:rPr lang="en-US" i="1" dirty="0" smtClean="0">
                                <a:solidFill>
                                  <a:prstClr val="black"/>
                                </a:solidFill>
                                <a:latin typeface="Cambria Math" panose="02040503050406030204" pitchFamily="18" charset="0"/>
                              </a:rPr>
                            </m:ctrlPr>
                          </m:accPr>
                          <m:e>
                            <m:r>
                              <m:rPr>
                                <m:sty m:val="p"/>
                              </m:rPr>
                              <a:rPr lang="en-US" b="0" i="0" dirty="0" smtClean="0">
                                <a:solidFill>
                                  <a:prstClr val="black"/>
                                </a:solidFill>
                                <a:latin typeface="Cambria Math" panose="02040503050406030204" pitchFamily="18" charset="0"/>
                              </a:rPr>
                              <m:t>Ω</m:t>
                            </m:r>
                          </m:e>
                        </m:acc>
                      </m:e>
                      <m:sub>
                        <m:sSub>
                          <m:sSubPr>
                            <m:ctrlPr>
                              <a:rPr lang="en-US" b="0" i="1" dirty="0" smtClean="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𝐴</m:t>
                            </m:r>
                          </m:e>
                          <m:sub>
                            <m:r>
                              <a:rPr lang="en-US" b="0" i="1" dirty="0" smtClean="0">
                                <a:solidFill>
                                  <a:prstClr val="black"/>
                                </a:solidFill>
                                <a:latin typeface="Cambria Math" panose="02040503050406030204" pitchFamily="18" charset="0"/>
                              </a:rPr>
                              <m:t>𝑗</m:t>
                            </m:r>
                          </m:sub>
                        </m:sSub>
                      </m:sub>
                    </m:sSub>
                  </m:oMath>
                </a14:m>
                <a:r>
                  <a:rPr lang="en-CA" dirty="0"/>
                  <a:t> is a projective measurement of the action modes corresponding to action hyperedge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𝑗</m:t>
                        </m:r>
                      </m:sub>
                    </m:sSub>
                  </m:oMath>
                </a14:m>
                <a:r>
                  <a:rPr lang="en-CA" dirty="0"/>
                  <a:t>. In practice however,</a:t>
                </a:r>
                <a:r>
                  <a:rPr lang="en-CA" baseline="0" dirty="0"/>
                  <a:t> one could just use the projector for all action modes and then couple out all the actions (or some subset of them; i.e. the subset generation that happens in </a:t>
                </a:r>
                <a:r>
                  <a:rPr lang="en-CA" baseline="0" dirty="0" err="1"/>
                  <a:t>mePS</a:t>
                </a:r>
                <a:r>
                  <a:rPr lang="en-CA" baseline="0" dirty="0"/>
                  <a:t>, but with some consistency constraints) that have nonzero excitations.</a:t>
                </a:r>
              </a:p>
              <a:p>
                <a:r>
                  <a:rPr lang="en-CA" baseline="0" dirty="0"/>
                  <a:t>	- How to decide which action hyperedges get coupled out? We can first apply consistency condition to punish and/or eliminate conflicting actions, then apply a probability distribution to all subsets of the remaining actions and sample one subset (basically another 2-layer PS).</a:t>
                </a:r>
              </a:p>
              <a:p>
                <a:r>
                  <a:rPr lang="en-CA" baseline="0" dirty="0"/>
                  <a:t>	- What to do when none of the measured modes are action modes? We can just reset the deliberation until we get action modes, or we can dilate the space with many copies of the actions so that action modes are guaranteed to be measured.</a:t>
                </a:r>
              </a:p>
              <a:p>
                <a:r>
                  <a:rPr lang="en-CA" baseline="0" dirty="0"/>
                  <a:t>	</a:t>
                </a:r>
                <a:endParaRPr lang="en-CA" dirty="0"/>
              </a:p>
              <a:p>
                <a:endParaRPr lang="en-CA" dirty="0"/>
              </a:p>
              <a:p>
                <a:r>
                  <a:rPr lang="en-CA" dirty="0"/>
                  <a:t>Can we teleport the chosen action states to a new state that is then the input for a circuit that represents the environment and then repeat this procedure but for the environment circuit so that we have quantum interactions only?</a:t>
                </a:r>
              </a:p>
            </p:txBody>
          </p:sp>
        </mc:Choice>
        <mc:Fallback xmlns="">
          <p:sp>
            <p:nvSpPr>
              <p:cNvPr id="3" name="Notes Placeholder 2"/>
              <p:cNvSpPr>
                <a:spLocks noGrp="1"/>
              </p:cNvSpPr>
              <p:nvPr>
                <p:ph type="body" idx="1"/>
              </p:nvPr>
            </p:nvSpPr>
            <p:spPr/>
            <p:txBody>
              <a:bodyPr/>
              <a:lstStyle/>
              <a:p>
                <a:pPr/>
                <a:r>
                  <a:rPr lang="en-CA" sz="1200" b="0" i="0" dirty="0">
                    <a:latin typeface="Cambria Math" panose="02040503050406030204" pitchFamily="18" charset="0"/>
                  </a:rPr>
                  <a:t>𝑉 ̂</a:t>
                </a:r>
                <a:r>
                  <a:rPr lang="en-CA" sz="1200" i="0" dirty="0">
                    <a:latin typeface="Cambria Math" panose="02040503050406030204" pitchFamily="18" charset="0"/>
                  </a:rPr>
                  <a:t>(</a:t>
                </a:r>
                <a:r>
                  <a:rPr lang="en-CA" sz="1200" b="0" i="0" dirty="0">
                    <a:latin typeface="Cambria Math" panose="02040503050406030204" pitchFamily="18" charset="0"/>
                  </a:rPr>
                  <a:t>𝜏, 𝜏_0 )</a:t>
                </a:r>
                <a:r>
                  <a:rPr lang="en-CA" sz="1200" i="0" dirty="0">
                    <a:latin typeface="Cambria Math" panose="02040503050406030204" pitchFamily="18" charset="0"/>
                  </a:rPr>
                  <a:t>=𝒯𝑒^(</a:t>
                </a:r>
                <a:r>
                  <a:rPr lang="en-CA" sz="1200" i="0" dirty="0" err="1">
                    <a:latin typeface="Cambria Math" panose="02040503050406030204" pitchFamily="18" charset="0"/>
                  </a:rPr>
                  <a:t>𝑖</a:t>
                </a:r>
                <a:r>
                  <a:rPr lang="en-CA" sz="1200" i="0" dirty="0">
                    <a:latin typeface="Cambria Math" panose="02040503050406030204" pitchFamily="18" charset="0"/>
                  </a:rPr>
                  <a:t>∫</a:t>
                </a:r>
                <a:r>
                  <a:rPr lang="en-CA" sz="1200" b="0" i="0" dirty="0">
                    <a:latin typeface="Cambria Math" panose="02040503050406030204" pitchFamily="18" charset="0"/>
                  </a:rPr>
                  <a:t>_(𝜏_0)^𝜏▒𝑑𝑡 (</a:t>
                </a:r>
                <a:r>
                  <a:rPr lang="en-CA" sz="1200" i="0" dirty="0">
                    <a:latin typeface="Cambria Math" panose="02040503050406030204" pitchFamily="18" charset="0"/>
                  </a:rPr>
                  <a:t>𝐻</a:t>
                </a:r>
                <a:r>
                  <a:rPr lang="en-CA" sz="1200" b="0" i="0" dirty="0">
                    <a:latin typeface="Cambria Math" panose="02040503050406030204" pitchFamily="18" charset="0"/>
                  </a:rPr>
                  <a:t>(𝑡) ) ̂ )=</a:t>
                </a:r>
                <a:r>
                  <a:rPr lang="pt-BR" sz="1200" b="0" i="0" dirty="0">
                    <a:latin typeface="Cambria Math" panose="02040503050406030204" pitchFamily="18" charset="0"/>
                  </a:rPr>
                  <a:t>lim┬(</a:t>
                </a:r>
                <a:r>
                  <a:rPr lang="en-CA" sz="1200" b="0" i="0" dirty="0">
                    <a:latin typeface="Cambria Math" panose="02040503050406030204" pitchFamily="18" charset="0"/>
                  </a:rPr>
                  <a:t>𝑁</a:t>
                </a:r>
                <a:r>
                  <a:rPr lang="pt-BR" sz="1200" b="0" i="0" dirty="0">
                    <a:latin typeface="Cambria Math" panose="02040503050406030204" pitchFamily="18" charset="0"/>
                  </a:rPr>
                  <a:t>→∞)⁡lim┬(</a:t>
                </a:r>
                <a:r>
                  <a:rPr lang="en-CA" sz="1200" b="0" i="0" dirty="0">
                    <a:latin typeface="Cambria Math" panose="02040503050406030204" pitchFamily="18" charset="0"/>
                  </a:rPr>
                  <a:t>𝑘→∞</a:t>
                </a:r>
                <a:r>
                  <a:rPr lang="pt-BR" sz="1200" b="0" i="0" dirty="0">
                    <a:latin typeface="Cambria Math" panose="02040503050406030204" pitchFamily="18" charset="0"/>
                  </a:rPr>
                  <a:t>)⁡∏</a:t>
                </a:r>
                <a:r>
                  <a:rPr lang="en-CA" sz="1200" b="0" i="0" dirty="0">
                    <a:latin typeface="Cambria Math" panose="02040503050406030204" pitchFamily="18" charset="0"/>
                  </a:rPr>
                  <a:t>_𝑛^𝑁▒</a:t>
                </a:r>
                <a:r>
                  <a:rPr lang="pt-BR" sz="1200" b="0" i="0" dirty="0">
                    <a:latin typeface="Cambria Math" panose="02040503050406030204" pitchFamily="18" charset="0"/>
                  </a:rPr>
                  <a:t>(</a:t>
                </a:r>
                <a:r>
                  <a:rPr lang="en-CA" sz="1200" b="0" i="0" dirty="0">
                    <a:latin typeface="Cambria Math" panose="02040503050406030204" pitchFamily="18" charset="0"/>
                  </a:rPr>
                  <a:t>𝐼</a:t>
                </a:r>
                <a:r>
                  <a:rPr lang="pt-BR" sz="1200" i="0" dirty="0">
                    <a:latin typeface="Cambria Math" panose="02040503050406030204" pitchFamily="18" charset="0"/>
                  </a:rPr>
                  <a:t>+</a:t>
                </a:r>
                <a:r>
                  <a:rPr lang="en-CA" sz="1200" b="0" i="0" dirty="0">
                    <a:latin typeface="Cambria Math" panose="02040503050406030204" pitchFamily="18" charset="0"/>
                  </a:rPr>
                  <a:t>𝑖</a:t>
                </a:r>
                <a:r>
                  <a:rPr lang="pt-BR" sz="1200" b="0" i="0" dirty="0">
                    <a:latin typeface="Cambria Math" panose="02040503050406030204" pitchFamily="18" charset="0"/>
                  </a:rPr>
                  <a:t>/</a:t>
                </a:r>
                <a:r>
                  <a:rPr lang="en-CA" sz="1200" b="0" i="0" dirty="0">
                    <a:latin typeface="Cambria Math" panose="02040503050406030204" pitchFamily="18" charset="0"/>
                  </a:rPr>
                  <a:t>𝑘</a:t>
                </a:r>
                <a:r>
                  <a:rPr lang="pt-BR" sz="1200" b="0" i="0" dirty="0">
                    <a:latin typeface="Cambria Math" panose="02040503050406030204" pitchFamily="18" charset="0"/>
                  </a:rPr>
                  <a:t> </a:t>
                </a:r>
                <a:r>
                  <a:rPr lang="en-CA" sz="1200" b="0" i="0" dirty="0">
                    <a:latin typeface="Cambria Math" panose="02040503050406030204" pitchFamily="18" charset="0"/>
                  </a:rPr>
                  <a:t>𝐻</a:t>
                </a:r>
                <a:r>
                  <a:rPr lang="pt-BR" sz="1200" b="0" i="0" dirty="0">
                    <a:latin typeface="Cambria Math" panose="02040503050406030204" pitchFamily="18" charset="0"/>
                  </a:rPr>
                  <a:t> ̂</a:t>
                </a:r>
                <a:r>
                  <a:rPr lang="en-CA" sz="1200" b="0" i="0" dirty="0">
                    <a:latin typeface="Cambria Math" panose="02040503050406030204" pitchFamily="18" charset="0"/>
                  </a:rPr>
                  <a:t>(𝑛𝑑</a:t>
                </a:r>
                <a:r>
                  <a:rPr lang="en-CA" sz="1200" i="0" dirty="0">
                    <a:latin typeface="Cambria Math" panose="02040503050406030204" pitchFamily="18" charset="0"/>
                  </a:rPr>
                  <a:t>𝑡)</a:t>
                </a:r>
                <a:r>
                  <a:rPr lang="en-CA" sz="1200" b="0" i="0" dirty="0">
                    <a:latin typeface="Cambria Math" panose="02040503050406030204" pitchFamily="18" charset="0"/>
                  </a:rPr>
                  <a:t>𝑑𝑡)^𝑘  </a:t>
                </a:r>
                <a:endParaRPr lang="en-CA" dirty="0"/>
              </a:p>
              <a:p>
                <a:pPr/>
                <a:r>
                  <a:rPr lang="en-CA" sz="1200" b="0" i="0" dirty="0">
                    <a:latin typeface="Cambria Math" panose="02040503050406030204" pitchFamily="18" charset="0"/>
                  </a:rPr>
                  <a:t>𝑉 ̂</a:t>
                </a:r>
                <a:r>
                  <a:rPr lang="en-CA" sz="1200" i="0" dirty="0">
                    <a:latin typeface="Cambria Math" panose="02040503050406030204" pitchFamily="18" charset="0"/>
                  </a:rPr>
                  <a:t>(</a:t>
                </a:r>
                <a:r>
                  <a:rPr lang="en-CA" sz="1200" i="0" dirty="0">
                    <a:latin typeface="Cambria Math" panose="02040503050406030204" pitchFamily="18" charset="0"/>
                    <a:ea typeface="Cambria Math" panose="02040503050406030204" pitchFamily="18" charset="0"/>
                  </a:rPr>
                  <a:t>∆</a:t>
                </a:r>
                <a:r>
                  <a:rPr lang="en-CA" sz="1200" i="0" dirty="0">
                    <a:latin typeface="Cambria Math" panose="02040503050406030204" pitchFamily="18" charset="0"/>
                  </a:rPr>
                  <a:t>𝑡)</a:t>
                </a:r>
                <a:r>
                  <a:rPr lang="en-CA" sz="1200" b="0" i="0" dirty="0">
                    <a:latin typeface="Cambria Math" panose="02040503050406030204" pitchFamily="18" charset="0"/>
                  </a:rPr>
                  <a:t>=</a:t>
                </a:r>
                <a:r>
                  <a:rPr lang="pt-BR" sz="1200" i="0" dirty="0">
                    <a:latin typeface="Cambria Math" panose="02040503050406030204" pitchFamily="18" charset="0"/>
                  </a:rPr>
                  <a:t>lim┬(</a:t>
                </a:r>
                <a:r>
                  <a:rPr lang="en-CA" sz="1200" i="0" dirty="0">
                    <a:latin typeface="Cambria Math" panose="02040503050406030204" pitchFamily="18" charset="0"/>
                  </a:rPr>
                  <a:t>𝑘→𝐾</a:t>
                </a:r>
                <a:r>
                  <a:rPr lang="pt-BR" sz="1200" i="0" dirty="0">
                    <a:latin typeface="Cambria Math" panose="02040503050406030204" pitchFamily="18" charset="0"/>
                  </a:rPr>
                  <a:t>)⁡〖(</a:t>
                </a:r>
                <a:r>
                  <a:rPr lang="en-CA" sz="1200" i="0" dirty="0">
                    <a:latin typeface="Cambria Math" panose="02040503050406030204" pitchFamily="18" charset="0"/>
                  </a:rPr>
                  <a:t>𝐼</a:t>
                </a:r>
                <a:r>
                  <a:rPr lang="pt-BR" sz="1200" i="0" dirty="0">
                    <a:latin typeface="Cambria Math" panose="02040503050406030204" pitchFamily="18" charset="0"/>
                  </a:rPr>
                  <a:t>+</a:t>
                </a:r>
                <a:r>
                  <a:rPr lang="en-CA" sz="1200" i="0" dirty="0">
                    <a:latin typeface="Cambria Math" panose="02040503050406030204" pitchFamily="18" charset="0"/>
                  </a:rPr>
                  <a:t>𝑖</a:t>
                </a:r>
                <a:r>
                  <a:rPr lang="en-CA" sz="1200" i="0" dirty="0">
                    <a:latin typeface="Cambria Math" panose="02040503050406030204" pitchFamily="18" charset="0"/>
                    <a:ea typeface="Cambria Math" panose="02040503050406030204" pitchFamily="18" charset="0"/>
                  </a:rPr>
                  <a:t>∆</a:t>
                </a:r>
                <a:r>
                  <a:rPr lang="en-CA" sz="1200" i="0" dirty="0">
                    <a:latin typeface="Cambria Math" panose="02040503050406030204" pitchFamily="18" charset="0"/>
                  </a:rPr>
                  <a:t>𝑡</a:t>
                </a:r>
                <a:r>
                  <a:rPr lang="pt-BR" sz="1200" i="0" dirty="0">
                    <a:latin typeface="Cambria Math" panose="02040503050406030204" pitchFamily="18" charset="0"/>
                  </a:rPr>
                  <a:t>/</a:t>
                </a:r>
                <a:r>
                  <a:rPr lang="en-CA" sz="1200" i="0" dirty="0">
                    <a:latin typeface="Cambria Math" panose="02040503050406030204" pitchFamily="18" charset="0"/>
                  </a:rPr>
                  <a:t>𝑘</a:t>
                </a:r>
                <a:r>
                  <a:rPr lang="pt-BR" sz="1200" i="0" dirty="0">
                    <a:latin typeface="Cambria Math" panose="02040503050406030204" pitchFamily="18" charset="0"/>
                  </a:rPr>
                  <a:t> </a:t>
                </a:r>
                <a:r>
                  <a:rPr lang="en-CA" sz="1200" i="0" dirty="0">
                    <a:latin typeface="Cambria Math" panose="02040503050406030204" pitchFamily="18" charset="0"/>
                  </a:rPr>
                  <a:t>𝐻</a:t>
                </a:r>
                <a:r>
                  <a:rPr lang="pt-BR" sz="1200" i="0" dirty="0">
                    <a:latin typeface="Cambria Math" panose="02040503050406030204" pitchFamily="18" charset="0"/>
                  </a:rPr>
                  <a:t> ̂</a:t>
                </a:r>
                <a:r>
                  <a:rPr lang="en-CA" sz="1200" i="0" dirty="0">
                    <a:latin typeface="Cambria Math" panose="02040503050406030204" pitchFamily="18" charset="0"/>
                  </a:rPr>
                  <a:t> )^𝑘 </a:t>
                </a:r>
                <a:r>
                  <a:rPr lang="pt-BR" sz="1200" i="0" dirty="0">
                    <a:latin typeface="Cambria Math" panose="02040503050406030204" pitchFamily="18" charset="0"/>
                  </a:rPr>
                  <a:t>〗</a:t>
                </a:r>
                <a:endParaRPr lang="en-CA" dirty="0"/>
              </a:p>
              <a:p>
                <a:pPr/>
                <a:r>
                  <a:rPr lang="en-US" i="0" dirty="0">
                    <a:solidFill>
                      <a:prstClr val="black"/>
                    </a:solidFill>
                    <a:latin typeface="Cambria Math" panose="02040503050406030204" pitchFamily="18" charset="0"/>
                  </a:rPr>
                  <a:t>𝑃_{</a:t>
                </a:r>
                <a:r>
                  <a:rPr lang="en-US" b="0" i="0" dirty="0">
                    <a:solidFill>
                      <a:prstClr val="black"/>
                    </a:solidFill>
                    <a:latin typeface="Cambria Math" panose="02040503050406030204" pitchFamily="18" charset="0"/>
                  </a:rPr>
                  <a:t>𝜏</a:t>
                </a:r>
                <a:r>
                  <a:rPr lang="ar-AE" i="0" dirty="0">
                    <a:solidFill>
                      <a:prstClr val="black"/>
                    </a:solidFill>
                    <a:latin typeface="Cambria Math" panose="02040503050406030204" pitchFamily="18" charset="0"/>
                  </a:rPr>
                  <a:t>, 𝜏_0 }^</a:t>
                </a:r>
                <a:r>
                  <a:rPr lang="en-US" i="0" dirty="0">
                    <a:solidFill>
                      <a:prstClr val="black"/>
                    </a:solidFill>
                    <a:latin typeface="Cambria Math" panose="02040503050406030204" pitchFamily="18" charset="0"/>
                  </a:rPr>
                  <a:t>((𝑛) )</a:t>
                </a:r>
                <a:r>
                  <a:rPr kumimoji="0" lang="ar-AE" sz="1200" b="0" i="0" u="none" strike="noStrike" kern="1200" cap="none" spc="0" normalizeH="0" baseline="0" noProof="0" dirty="0">
                    <a:ln>
                      <a:noFill/>
                    </a:ln>
                    <a:solidFill>
                      <a:prstClr val="black"/>
                    </a:solidFill>
                    <a:effectLst/>
                    <a:uLnTx/>
                    <a:uFillTx/>
                    <a:latin typeface="Cambria Math" panose="02040503050406030204" pitchFamily="18" charset="0"/>
                  </a:rPr>
                  <a:t> (</a:t>
                </a:r>
                <a:r>
                  <a:rPr kumimoji="0" lang="en-US" sz="1200" b="0" i="0" u="none" strike="noStrike" kern="1200" cap="none" spc="0" normalizeH="0" baseline="0" noProof="0" dirty="0">
                    <a:ln>
                      <a:noFill/>
                    </a:ln>
                    <a:solidFill>
                      <a:prstClr val="black"/>
                    </a:solidFill>
                    <a:effectLst/>
                    <a:uLnTx/>
                    <a:uFillTx/>
                    <a:latin typeface="Cambria Math" panose="02040503050406030204" pitchFamily="18" charset="0"/>
                  </a:rPr>
                  <a:t>𝐴_𝑗│𝑆_𝑖 )</a:t>
                </a:r>
                <a:r>
                  <a:rPr kumimoji="0" lang="ar-AE" sz="1200" b="0" i="0" u="none" strike="noStrike" kern="1200" cap="none" spc="0" normalizeH="0" baseline="0" noProof="0" dirty="0">
                    <a:ln>
                      <a:noFill/>
                    </a:ln>
                    <a:solidFill>
                      <a:prstClr val="black"/>
                    </a:solidFill>
                    <a:effectLst/>
                    <a:uLnTx/>
                    <a:uFillTx/>
                    <a:latin typeface="Cambria Math" panose="02040503050406030204" pitchFamily="18" charset="0"/>
                  </a:rPr>
                  <a:t>=</a:t>
                </a:r>
                <a:r>
                  <a:rPr kumimoji="0" lang="en-US" sz="1200" b="0" i="0" u="none" strike="noStrike" kern="1200" cap="none" spc="0" normalizeH="0" baseline="0" noProof="0" dirty="0">
                    <a:ln>
                      <a:noFill/>
                    </a:ln>
                    <a:solidFill>
                      <a:prstClr val="black"/>
                    </a:solidFill>
                    <a:effectLst/>
                    <a:uLnTx/>
                    <a:uFillTx/>
                    <a:latin typeface="Cambria Math" panose="02040503050406030204" pitchFamily="18" charset="0"/>
                  </a:rPr>
                  <a:t>𝑡𝑟(𝜌 ̂_(</a:t>
                </a:r>
                <a:r>
                  <a:rPr lang="en-US" b="0" i="0" dirty="0">
                    <a:solidFill>
                      <a:prstClr val="black"/>
                    </a:solidFill>
                    <a:latin typeface="Cambria Math" panose="02040503050406030204" pitchFamily="18" charset="0"/>
                  </a:rPr>
                  <a:t>𝑆_𝑖 </a:t>
                </a:r>
                <a:r>
                  <a:rPr kumimoji="0" lang="en-US" sz="1200" b="0" i="0" u="none" strike="noStrike" kern="1200" cap="none" spc="0" normalizeH="0" baseline="0" noProof="0" dirty="0">
                    <a:ln>
                      <a:noFill/>
                    </a:ln>
                    <a:solidFill>
                      <a:prstClr val="black"/>
                    </a:solidFill>
                    <a:effectLst/>
                    <a:uLnTx/>
                    <a:uFillTx/>
                    <a:latin typeface="Cambria Math" panose="02040503050406030204" pitchFamily="18" charset="0"/>
                  </a:rPr>
                  <a:t>) (</a:t>
                </a:r>
                <a:r>
                  <a:rPr lang="en-US" b="0" i="0" dirty="0">
                    <a:solidFill>
                      <a:prstClr val="black"/>
                    </a:solidFill>
                    <a:latin typeface="Cambria Math" panose="02040503050406030204" pitchFamily="18" charset="0"/>
                  </a:rPr>
                  <a:t>𝜏) Π ̂_(𝐴_𝑗 ) )</a:t>
                </a:r>
                <a:r>
                  <a:rPr kumimoji="0" lang="en-US" sz="1200" b="0" i="0" u="none" strike="noStrike" kern="1200" cap="none" spc="0" normalizeH="0" baseline="0" noProof="0" dirty="0">
                    <a:ln>
                      <a:noFill/>
                    </a:ln>
                    <a:solidFill>
                      <a:prstClr val="black"/>
                    </a:solidFill>
                    <a:effectLst/>
                    <a:uLnTx/>
                    <a:uFillTx/>
                    <a:latin typeface="Cambria Math" panose="02040503050406030204" pitchFamily="18" charset="0"/>
                  </a:rPr>
                  <a:t>=𝑡𝑟(</a:t>
                </a:r>
                <a:r>
                  <a:rPr lang="en-US" b="0" i="0" dirty="0">
                    <a:solidFill>
                      <a:prstClr val="black"/>
                    </a:solidFill>
                    <a:latin typeface="Cambria Math" panose="02040503050406030204" pitchFamily="18" charset="0"/>
                  </a:rPr>
                  <a:t>𝑈 ̂(𝜏, 𝜏_0)</a:t>
                </a:r>
                <a:r>
                  <a:rPr kumimoji="0" lang="en-US" sz="1200" b="0" i="0" u="none" strike="noStrike" kern="1200" cap="none" spc="0" normalizeH="0" baseline="0" noProof="0" dirty="0">
                    <a:ln>
                      <a:noFill/>
                    </a:ln>
                    <a:solidFill>
                      <a:prstClr val="black"/>
                    </a:solidFill>
                    <a:effectLst/>
                    <a:uLnTx/>
                    <a:uFillTx/>
                    <a:latin typeface="Cambria Math" panose="02040503050406030204" pitchFamily="18" charset="0"/>
                  </a:rPr>
                  <a:t>𝜌 ̂_(</a:t>
                </a:r>
                <a:r>
                  <a:rPr lang="en-US" b="0" i="0" dirty="0">
                    <a:solidFill>
                      <a:prstClr val="black"/>
                    </a:solidFill>
                    <a:latin typeface="Cambria Math" panose="02040503050406030204" pitchFamily="18" charset="0"/>
                  </a:rPr>
                  <a:t>𝑆_𝑖 </a:t>
                </a:r>
                <a:r>
                  <a:rPr kumimoji="0" lang="en-US" sz="1200" b="0" i="0" u="none" strike="noStrike" kern="1200" cap="none" spc="0" normalizeH="0" baseline="0" noProof="0" dirty="0">
                    <a:ln>
                      <a:noFill/>
                    </a:ln>
                    <a:solidFill>
                      <a:prstClr val="black"/>
                    </a:solidFill>
                    <a:effectLst/>
                    <a:uLnTx/>
                    <a:uFillTx/>
                    <a:latin typeface="Cambria Math" panose="02040503050406030204" pitchFamily="18" charset="0"/>
                  </a:rPr>
                  <a:t>) (</a:t>
                </a:r>
                <a:r>
                  <a:rPr lang="en-US" b="0" i="0" dirty="0">
                    <a:solidFill>
                      <a:prstClr val="black"/>
                    </a:solidFill>
                    <a:latin typeface="Cambria Math" panose="02040503050406030204" pitchFamily="18" charset="0"/>
                  </a:rPr>
                  <a:t>𝜏_0 )</a:t>
                </a:r>
                <a:r>
                  <a:rPr kumimoji="0" lang="en-US" sz="1200" b="0" i="0" u="none" strike="noStrike" kern="1200" cap="none" spc="0" normalizeH="0" baseline="0" noProof="0" dirty="0">
                    <a:ln>
                      <a:noFill/>
                    </a:ln>
                    <a:solidFill>
                      <a:prstClr val="black"/>
                    </a:solidFill>
                    <a:effectLst/>
                    <a:uLnTx/>
                    <a:uFillTx/>
                    <a:latin typeface="Cambria Math" panose="02040503050406030204" pitchFamily="18" charset="0"/>
                  </a:rPr>
                  <a:t> 𝑈 ̂^</a:t>
                </a:r>
                <a:r>
                  <a:rPr lang="en-US" i="0" dirty="0">
                    <a:solidFill>
                      <a:prstClr val="black"/>
                    </a:solidFill>
                    <a:latin typeface="Cambria Math" panose="02040503050406030204" pitchFamily="18" charset="0"/>
                    <a:ea typeface="Cambria Math" panose="02040503050406030204" pitchFamily="18" charset="0"/>
                  </a:rPr>
                  <a:t>†</a:t>
                </a:r>
                <a:r>
                  <a:rPr lang="en-US" b="0" i="0" dirty="0">
                    <a:solidFill>
                      <a:prstClr val="black"/>
                    </a:solidFill>
                    <a:latin typeface="Cambria Math" panose="02040503050406030204" pitchFamily="18" charset="0"/>
                    <a:ea typeface="Cambria Math" panose="02040503050406030204" pitchFamily="18" charset="0"/>
                  </a:rPr>
                  <a:t> </a:t>
                </a:r>
                <a:r>
                  <a:rPr lang="en-US" b="0" i="0" dirty="0">
                    <a:solidFill>
                      <a:prstClr val="black"/>
                    </a:solidFill>
                    <a:latin typeface="Cambria Math" panose="02040503050406030204" pitchFamily="18" charset="0"/>
                  </a:rPr>
                  <a:t>(𝜏, 𝜏_0) Π ̂_(𝐴_𝑗 ) )=</a:t>
                </a:r>
                <a:r>
                  <a:rPr kumimoji="0" lang="en-US" sz="1200" b="0" i="0" u="none" strike="noStrike" kern="1200" cap="none" spc="0" normalizeH="0" baseline="0" noProof="0" dirty="0">
                    <a:ln>
                      <a:noFill/>
                    </a:ln>
                    <a:solidFill>
                      <a:prstClr val="black"/>
                    </a:solidFill>
                    <a:effectLst/>
                    <a:uLnTx/>
                    <a:uFillTx/>
                    <a:latin typeface="Cambria Math" panose="02040503050406030204" pitchFamily="18" charset="0"/>
                  </a:rPr>
                  <a:t>𝑡𝑟(</a:t>
                </a:r>
                <a:r>
                  <a:rPr lang="en-US" b="0" i="0" dirty="0">
                    <a:solidFill>
                      <a:prstClr val="black"/>
                    </a:solidFill>
                    <a:latin typeface="Cambria Math" panose="02040503050406030204" pitchFamily="18" charset="0"/>
                  </a:rPr>
                  <a:t>𝑈 ̂(𝜏, 𝜏_0)</a:t>
                </a:r>
                <a:r>
                  <a:rPr kumimoji="0" lang="en-US" sz="1200" b="0" i="0" u="none" strike="noStrike" kern="1200" cap="none" spc="0" normalizeH="0" baseline="0" noProof="0" dirty="0">
                    <a:ln>
                      <a:noFill/>
                    </a:ln>
                    <a:solidFill>
                      <a:prstClr val="black"/>
                    </a:solidFill>
                    <a:effectLst/>
                    <a:uLnTx/>
                    <a:uFillTx/>
                    <a:latin typeface="Cambria Math" panose="02040503050406030204" pitchFamily="18" charset="0"/>
                  </a:rPr>
                  <a:t> </a:t>
                </a:r>
                <a:r>
                  <a:rPr lang="en-US" b="0" i="0" dirty="0">
                    <a:solidFill>
                      <a:prstClr val="black"/>
                    </a:solidFill>
                    <a:latin typeface="Cambria Math" panose="02040503050406030204" pitchFamily="18" charset="0"/>
                  </a:rPr>
                  <a:t>|</a:t>
                </a:r>
                <a:r>
                  <a:rPr lang="en-US" sz="1200" b="0" i="0" dirty="0">
                    <a:latin typeface="Cambria Math" panose="02040503050406030204" pitchFamily="18" charset="0"/>
                  </a:rPr>
                  <a:t>𝑆_𝑖, 0_(𝑆\S_𝑖 ), 0_𝐶, 0_𝐴</a:t>
                </a:r>
                <a:r>
                  <a:rPr lang="en-US" b="0" i="0" dirty="0">
                    <a:solidFill>
                      <a:prstClr val="black"/>
                    </a:solidFill>
                    <a:latin typeface="Cambria Math" panose="02040503050406030204" pitchFamily="18" charset="0"/>
                  </a:rPr>
                  <a:t>⟩⟨</a:t>
                </a:r>
                <a:r>
                  <a:rPr lang="en-US" sz="1200" b="0" i="0" dirty="0">
                    <a:latin typeface="Cambria Math" panose="02040503050406030204" pitchFamily="18" charset="0"/>
                  </a:rPr>
                  <a:t>𝑆_𝑖, 0_(𝑆\S_𝑖 ), 0_𝐶, 0_𝐴</a:t>
                </a:r>
                <a:r>
                  <a:rPr lang="en-US" sz="1200" b="0" i="0" dirty="0">
                    <a:solidFill>
                      <a:prstClr val="black"/>
                    </a:solidFill>
                    <a:latin typeface="Cambria Math" panose="02040503050406030204" pitchFamily="18" charset="0"/>
                  </a:rPr>
                  <a:t> </a:t>
                </a:r>
                <a:r>
                  <a:rPr lang="en-US" b="0" i="0" dirty="0">
                    <a:solidFill>
                      <a:prstClr val="black"/>
                    </a:solidFill>
                    <a:latin typeface="Cambria Math" panose="02040503050406030204" pitchFamily="18" charset="0"/>
                  </a:rPr>
                  <a:t>|</a:t>
                </a:r>
                <a:r>
                  <a:rPr kumimoji="0" lang="en-US" sz="1200" b="0" i="0" u="none" strike="noStrike" kern="1200" cap="none" spc="0" normalizeH="0" baseline="0" noProof="0" dirty="0">
                    <a:ln>
                      <a:noFill/>
                    </a:ln>
                    <a:solidFill>
                      <a:prstClr val="black"/>
                    </a:solidFill>
                    <a:effectLst/>
                    <a:uLnTx/>
                    <a:uFillTx/>
                    <a:latin typeface="Cambria Math" panose="02040503050406030204" pitchFamily="18" charset="0"/>
                  </a:rPr>
                  <a:t>𝑈 ̂^</a:t>
                </a:r>
                <a:r>
                  <a:rPr lang="en-US" i="0" dirty="0">
                    <a:solidFill>
                      <a:prstClr val="black"/>
                    </a:solidFill>
                    <a:latin typeface="Cambria Math" panose="02040503050406030204" pitchFamily="18" charset="0"/>
                    <a:ea typeface="Cambria Math" panose="02040503050406030204" pitchFamily="18" charset="0"/>
                  </a:rPr>
                  <a:t>†</a:t>
                </a:r>
                <a:r>
                  <a:rPr lang="en-US" b="0" i="0" dirty="0">
                    <a:solidFill>
                      <a:prstClr val="black"/>
                    </a:solidFill>
                    <a:latin typeface="Cambria Math" panose="02040503050406030204" pitchFamily="18" charset="0"/>
                    <a:ea typeface="Cambria Math" panose="02040503050406030204" pitchFamily="18" charset="0"/>
                  </a:rPr>
                  <a:t> (</a:t>
                </a:r>
                <a:r>
                  <a:rPr lang="en-US" b="0" i="0" dirty="0">
                    <a:solidFill>
                      <a:prstClr val="black"/>
                    </a:solidFill>
                    <a:latin typeface="Cambria Math" panose="02040503050406030204" pitchFamily="18" charset="0"/>
                  </a:rPr>
                  <a:t>𝜏, 𝜏_0 ) Π ̂_(𝐴_𝑗 ) )=</a:t>
                </a:r>
                <a:r>
                  <a:rPr kumimoji="0" lang="en-US" sz="1200" b="0" i="0" u="none" strike="noStrike" kern="1200" cap="none" spc="0" normalizeH="0" baseline="0" noProof="0" dirty="0">
                    <a:ln>
                      <a:noFill/>
                    </a:ln>
                    <a:solidFill>
                      <a:prstClr val="black"/>
                    </a:solidFill>
                    <a:effectLst/>
                    <a:uLnTx/>
                    <a:uFillTx/>
                    <a:latin typeface="Cambria Math" panose="02040503050406030204" pitchFamily="18" charset="0"/>
                  </a:rPr>
                  <a:t>𝑡𝑟(</a:t>
                </a:r>
                <a:r>
                  <a:rPr lang="en-US" b="0" i="0" dirty="0">
                    <a:solidFill>
                      <a:prstClr val="black"/>
                    </a:solidFill>
                    <a:latin typeface="Cambria Math" panose="02040503050406030204" pitchFamily="18" charset="0"/>
                  </a:rPr>
                  <a:t>𝑈 ̂(𝜏, 𝜏_0)</a:t>
                </a:r>
                <a:r>
                  <a:rPr kumimoji="0" lang="en-US" sz="1200" b="0" i="0" u="none" strike="noStrike" kern="1200" cap="none" spc="0" normalizeH="0" baseline="0" noProof="0" dirty="0">
                    <a:ln>
                      <a:noFill/>
                    </a:ln>
                    <a:solidFill>
                      <a:prstClr val="black"/>
                    </a:solidFill>
                    <a:effectLst/>
                    <a:uLnTx/>
                    <a:uFillTx/>
                    <a:latin typeface="Cambria Math" panose="02040503050406030204" pitchFamily="18" charset="0"/>
                  </a:rPr>
                  <a:t> </a:t>
                </a:r>
                <a:r>
                  <a:rPr lang="en-US" b="0" i="0" dirty="0">
                    <a:solidFill>
                      <a:prstClr val="black"/>
                    </a:solidFill>
                    <a:latin typeface="Cambria Math" panose="02040503050406030204" pitchFamily="18" charset="0"/>
                  </a:rPr>
                  <a:t>Ω ̂_(𝑆_𝑖)^</a:t>
                </a:r>
                <a:r>
                  <a:rPr lang="en-US" i="0" dirty="0">
                    <a:solidFill>
                      <a:prstClr val="black"/>
                    </a:solidFill>
                    <a:latin typeface="Cambria Math" panose="02040503050406030204" pitchFamily="18" charset="0"/>
                    <a:ea typeface="Cambria Math" panose="02040503050406030204" pitchFamily="18" charset="0"/>
                  </a:rPr>
                  <a:t>†</a:t>
                </a:r>
                <a:r>
                  <a:rPr lang="en-US" b="0" i="0" dirty="0">
                    <a:solidFill>
                      <a:prstClr val="black"/>
                    </a:solidFill>
                    <a:latin typeface="Cambria Math" panose="02040503050406030204" pitchFamily="18" charset="0"/>
                    <a:ea typeface="Cambria Math" panose="02040503050406030204" pitchFamily="18" charset="0"/>
                  </a:rPr>
                  <a:t> </a:t>
                </a:r>
                <a:r>
                  <a:rPr lang="en-US" b="0" i="0" dirty="0">
                    <a:solidFill>
                      <a:prstClr val="black"/>
                    </a:solidFill>
                    <a:latin typeface="Cambria Math" panose="02040503050406030204" pitchFamily="18" charset="0"/>
                  </a:rPr>
                  <a:t>|𝑣𝑎𝑐⟩⟨𝑣𝑎𝑐|Ω ̂</a:t>
                </a:r>
                <a:r>
                  <a:rPr lang="en-US" b="0" i="0" dirty="0">
                    <a:solidFill>
                      <a:prstClr val="black"/>
                    </a:solidFill>
                    <a:latin typeface="Cambria Math" panose="02040503050406030204" pitchFamily="18" charset="0"/>
                    <a:ea typeface="Cambria Math" panose="02040503050406030204" pitchFamily="18" charset="0"/>
                  </a:rPr>
                  <a:t>_(</a:t>
                </a:r>
                <a:r>
                  <a:rPr lang="en-US" b="0" i="0" dirty="0">
                    <a:solidFill>
                      <a:prstClr val="black"/>
                    </a:solidFill>
                    <a:latin typeface="Cambria Math" panose="02040503050406030204" pitchFamily="18" charset="0"/>
                  </a:rPr>
                  <a:t>𝑆_𝑖 </a:t>
                </a:r>
                <a:r>
                  <a:rPr lang="en-US" b="0" i="0" dirty="0">
                    <a:solidFill>
                      <a:prstClr val="black"/>
                    </a:solidFill>
                    <a:latin typeface="Cambria Math" panose="02040503050406030204" pitchFamily="18" charset="0"/>
                    <a:ea typeface="Cambria Math" panose="02040503050406030204" pitchFamily="18" charset="0"/>
                  </a:rPr>
                  <a:t>)</a:t>
                </a:r>
                <a:r>
                  <a:rPr kumimoji="0" lang="en-US" sz="12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rPr>
                  <a:t> </a:t>
                </a:r>
                <a:r>
                  <a:rPr kumimoji="0" lang="en-US" sz="1200" b="0" i="0" u="none" strike="noStrike" kern="1200" cap="none" spc="0" normalizeH="0" baseline="0" noProof="0" dirty="0">
                    <a:ln>
                      <a:noFill/>
                    </a:ln>
                    <a:solidFill>
                      <a:prstClr val="black"/>
                    </a:solidFill>
                    <a:effectLst/>
                    <a:uLnTx/>
                    <a:uFillTx/>
                    <a:latin typeface="Cambria Math" panose="02040503050406030204" pitchFamily="18" charset="0"/>
                  </a:rPr>
                  <a:t>𝑈 ̂^</a:t>
                </a:r>
                <a:r>
                  <a:rPr lang="en-US" i="0" dirty="0">
                    <a:solidFill>
                      <a:prstClr val="black"/>
                    </a:solidFill>
                    <a:latin typeface="Cambria Math" panose="02040503050406030204" pitchFamily="18" charset="0"/>
                    <a:ea typeface="Cambria Math" panose="02040503050406030204" pitchFamily="18" charset="0"/>
                  </a:rPr>
                  <a:t>†</a:t>
                </a:r>
                <a:r>
                  <a:rPr lang="en-US" b="0" i="0" dirty="0">
                    <a:solidFill>
                      <a:prstClr val="black"/>
                    </a:solidFill>
                    <a:latin typeface="Cambria Math" panose="02040503050406030204" pitchFamily="18" charset="0"/>
                    <a:ea typeface="Cambria Math" panose="02040503050406030204" pitchFamily="18" charset="0"/>
                  </a:rPr>
                  <a:t> (</a:t>
                </a:r>
                <a:r>
                  <a:rPr lang="en-US" b="0" i="0" dirty="0">
                    <a:solidFill>
                      <a:prstClr val="black"/>
                    </a:solidFill>
                    <a:latin typeface="Cambria Math" panose="02040503050406030204" pitchFamily="18" charset="0"/>
                  </a:rPr>
                  <a:t>𝜏, 𝜏_0 ) Π ̂_(𝐴_𝑗 ) )</a:t>
                </a:r>
                <a:endParaRPr lang="en-CA" dirty="0"/>
              </a:p>
              <a:p>
                <a:r>
                  <a:rPr lang="en-CA" dirty="0"/>
                  <a:t>Where </a:t>
                </a:r>
                <a:r>
                  <a:rPr lang="en-US" b="0" i="0">
                    <a:latin typeface="Cambria Math" panose="02040503050406030204" pitchFamily="18" charset="0"/>
                  </a:rPr>
                  <a:t>Π</a:t>
                </a:r>
                <a:r>
                  <a:rPr lang="en-CA" b="0" i="0">
                    <a:latin typeface="Cambria Math" panose="02040503050406030204" pitchFamily="18" charset="0"/>
                  </a:rPr>
                  <a:t> ̂</a:t>
                </a:r>
                <a:r>
                  <a:rPr lang="en-US" b="0" i="0">
                    <a:latin typeface="Cambria Math" panose="02040503050406030204" pitchFamily="18" charset="0"/>
                  </a:rPr>
                  <a:t>_(𝐴_𝑗 )=</a:t>
                </a:r>
                <a:r>
                  <a:rPr lang="en-US" b="0" i="0" dirty="0">
                    <a:solidFill>
                      <a:prstClr val="black"/>
                    </a:solidFill>
                    <a:latin typeface="Cambria Math" panose="02040503050406030204" pitchFamily="18" charset="0"/>
                  </a:rPr>
                  <a:t>Ω ̂_(𝐴_𝑗)^</a:t>
                </a:r>
                <a:r>
                  <a:rPr lang="en-US" i="0" dirty="0">
                    <a:solidFill>
                      <a:prstClr val="black"/>
                    </a:solidFill>
                    <a:latin typeface="Cambria Math" panose="02040503050406030204" pitchFamily="18" charset="0"/>
                    <a:ea typeface="Cambria Math" panose="02040503050406030204" pitchFamily="18" charset="0"/>
                  </a:rPr>
                  <a:t>†</a:t>
                </a:r>
                <a:r>
                  <a:rPr lang="en-US" b="0" i="0" dirty="0">
                    <a:solidFill>
                      <a:prstClr val="black"/>
                    </a:solidFill>
                    <a:latin typeface="Cambria Math" panose="02040503050406030204" pitchFamily="18" charset="0"/>
                    <a:ea typeface="Cambria Math" panose="02040503050406030204" pitchFamily="18" charset="0"/>
                  </a:rPr>
                  <a:t> </a:t>
                </a:r>
                <a:r>
                  <a:rPr lang="en-US" b="0" i="0" dirty="0">
                    <a:solidFill>
                      <a:prstClr val="black"/>
                    </a:solidFill>
                    <a:latin typeface="Cambria Math" panose="02040503050406030204" pitchFamily="18" charset="0"/>
                  </a:rPr>
                  <a:t>|𝑣𝑎𝑐⟩⟨𝑣𝑎𝑐|Ω ̂</a:t>
                </a:r>
                <a:r>
                  <a:rPr lang="en-US" b="0" i="0" dirty="0">
                    <a:solidFill>
                      <a:prstClr val="black"/>
                    </a:solidFill>
                    <a:latin typeface="Cambria Math" panose="02040503050406030204" pitchFamily="18" charset="0"/>
                    <a:ea typeface="Cambria Math" panose="02040503050406030204" pitchFamily="18" charset="0"/>
                  </a:rPr>
                  <a:t>_(</a:t>
                </a:r>
                <a:r>
                  <a:rPr lang="en-US" b="0" i="0" dirty="0">
                    <a:solidFill>
                      <a:prstClr val="black"/>
                    </a:solidFill>
                    <a:latin typeface="Cambria Math" panose="02040503050406030204" pitchFamily="18" charset="0"/>
                  </a:rPr>
                  <a:t>𝐴_𝑗 </a:t>
                </a:r>
                <a:r>
                  <a:rPr lang="en-US" b="0" i="0" dirty="0">
                    <a:solidFill>
                      <a:prstClr val="black"/>
                    </a:solidFill>
                    <a:latin typeface="Cambria Math" panose="02040503050406030204" pitchFamily="18" charset="0"/>
                    <a:ea typeface="Cambria Math" panose="02040503050406030204" pitchFamily="18" charset="0"/>
                  </a:rPr>
                  <a:t>)</a:t>
                </a:r>
                <a:r>
                  <a:rPr lang="en-CA" dirty="0"/>
                  <a:t> is a projective measurement of the action modes corresponding to action hyperedge </a:t>
                </a:r>
                <a:r>
                  <a:rPr lang="en-US" b="0" i="0">
                    <a:latin typeface="Cambria Math" panose="02040503050406030204" pitchFamily="18" charset="0"/>
                  </a:rPr>
                  <a:t>𝐴_𝑗</a:t>
                </a:r>
                <a:r>
                  <a:rPr lang="en-CA" dirty="0"/>
                  <a:t>. In practice however,</a:t>
                </a:r>
                <a:r>
                  <a:rPr lang="en-CA" baseline="0" dirty="0"/>
                  <a:t> one could just use the projector for all action modes and then couple out all the actions (or some subset of them; i.e. the subset generation that happens in </a:t>
                </a:r>
                <a:r>
                  <a:rPr lang="en-CA" baseline="0" dirty="0" err="1"/>
                  <a:t>mePS</a:t>
                </a:r>
                <a:r>
                  <a:rPr lang="en-CA" baseline="0" dirty="0"/>
                  <a:t>, but with some consistency constraints) that have nonzero excitations.</a:t>
                </a:r>
              </a:p>
              <a:p>
                <a:r>
                  <a:rPr lang="en-CA" baseline="0" dirty="0"/>
                  <a:t>	- How to decide which action hyperedges get coupled out? We can first apply consistency condition to punish and/or eliminate conflicting actions, then apply a probability distribution to all subsets of the remaining actions and sample one subset (basically another 2-layer PS).</a:t>
                </a:r>
              </a:p>
              <a:p>
                <a:r>
                  <a:rPr lang="en-CA" baseline="0" dirty="0"/>
                  <a:t>	- What to do when none of the measured modes are action modes? We can just reset the deliberation until we get action modes, or we can dilate the space with many copies of the actions so that action modes are guaranteed to be measured.</a:t>
                </a:r>
              </a:p>
              <a:p>
                <a:r>
                  <a:rPr lang="en-CA" baseline="0" dirty="0"/>
                  <a:t>	</a:t>
                </a:r>
                <a:endParaRPr lang="en-CA" dirty="0"/>
              </a:p>
              <a:p>
                <a:endParaRPr lang="en-CA" dirty="0"/>
              </a:p>
              <a:p>
                <a:r>
                  <a:rPr lang="en-CA" dirty="0"/>
                  <a:t>Can we teleport the chosen action states to a new state that is then the input for a circuit that represents the environment and then repeat this procedure but for the environment circuit so that we have quantum interactions only?</a:t>
                </a:r>
              </a:p>
            </p:txBody>
          </p:sp>
        </mc:Fallback>
      </mc:AlternateContent>
      <p:sp>
        <p:nvSpPr>
          <p:cNvPr id="4" name="Slide Number Placeholder 3"/>
          <p:cNvSpPr>
            <a:spLocks noGrp="1"/>
          </p:cNvSpPr>
          <p:nvPr>
            <p:ph type="sldNum" sz="quarter" idx="5"/>
          </p:nvPr>
        </p:nvSpPr>
        <p:spPr/>
        <p:txBody>
          <a:bodyPr/>
          <a:lstStyle/>
          <a:p>
            <a:fld id="{E40720B4-AB10-0342-9541-2DF5352E8B38}" type="slidenum">
              <a:rPr lang="en-CA" smtClean="0"/>
              <a:t>15</a:t>
            </a:fld>
            <a:endParaRPr lang="en-CA"/>
          </a:p>
        </p:txBody>
      </p:sp>
    </p:spTree>
    <p:extLst>
      <p:ext uri="{BB962C8B-B14F-4D97-AF65-F5344CB8AC3E}">
        <p14:creationId xmlns:p14="http://schemas.microsoft.com/office/powerpoint/2010/main" val="34207371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14:m>
                  <m:oMathPara xmlns:m="http://schemas.openxmlformats.org/officeDocument/2006/math">
                    <m:oMathParaPr>
                      <m:jc m:val="centerGroup"/>
                    </m:oMathParaPr>
                    <m:oMath xmlns:m="http://schemas.openxmlformats.org/officeDocument/2006/math">
                      <m:acc>
                        <m:accPr>
                          <m:chr m:val="̂"/>
                          <m:ctrlPr>
                            <a:rPr lang="en-CA" sz="1200" i="1" dirty="0" smtClean="0">
                              <a:latin typeface="Cambria Math" panose="02040503050406030204" pitchFamily="18" charset="0"/>
                            </a:rPr>
                          </m:ctrlPr>
                        </m:accPr>
                        <m:e>
                          <m:r>
                            <a:rPr lang="en-CA" sz="1200" b="0" i="1" dirty="0" smtClean="0">
                              <a:latin typeface="Cambria Math" panose="02040503050406030204" pitchFamily="18" charset="0"/>
                            </a:rPr>
                            <m:t>𝑉</m:t>
                          </m:r>
                        </m:e>
                      </m:acc>
                      <m:d>
                        <m:dPr>
                          <m:ctrlPr>
                            <a:rPr lang="en-CA" sz="1200" i="1" dirty="0" smtClean="0">
                              <a:latin typeface="Cambria Math" panose="02040503050406030204" pitchFamily="18" charset="0"/>
                            </a:rPr>
                          </m:ctrlPr>
                        </m:dPr>
                        <m:e>
                          <m:r>
                            <a:rPr lang="en-CA" sz="1200" b="0" i="1" dirty="0" smtClean="0">
                              <a:latin typeface="Cambria Math" panose="02040503050406030204" pitchFamily="18" charset="0"/>
                            </a:rPr>
                            <m:t>𝜏</m:t>
                          </m:r>
                          <m:r>
                            <a:rPr lang="en-CA" sz="1200" b="0" i="1" dirty="0" smtClean="0">
                              <a:latin typeface="Cambria Math" panose="02040503050406030204" pitchFamily="18" charset="0"/>
                            </a:rPr>
                            <m:t>, </m:t>
                          </m:r>
                          <m:sSub>
                            <m:sSubPr>
                              <m:ctrlPr>
                                <a:rPr lang="en-CA" sz="1200" b="0" i="1" dirty="0" smtClean="0">
                                  <a:latin typeface="Cambria Math" panose="02040503050406030204" pitchFamily="18" charset="0"/>
                                </a:rPr>
                              </m:ctrlPr>
                            </m:sSubPr>
                            <m:e>
                              <m:r>
                                <a:rPr lang="en-CA" sz="1200" b="0" i="1" dirty="0" smtClean="0">
                                  <a:latin typeface="Cambria Math" panose="02040503050406030204" pitchFamily="18" charset="0"/>
                                </a:rPr>
                                <m:t>𝜏</m:t>
                              </m:r>
                            </m:e>
                            <m:sub>
                              <m:r>
                                <a:rPr lang="en-CA" sz="1200" b="0" i="1" dirty="0" smtClean="0">
                                  <a:latin typeface="Cambria Math" panose="02040503050406030204" pitchFamily="18" charset="0"/>
                                </a:rPr>
                                <m:t>0</m:t>
                              </m:r>
                            </m:sub>
                          </m:sSub>
                        </m:e>
                      </m:d>
                      <m:r>
                        <a:rPr lang="en-CA" sz="1200" i="1" dirty="0">
                          <a:latin typeface="Cambria Math" panose="02040503050406030204" pitchFamily="18" charset="0"/>
                        </a:rPr>
                        <m:t>=</m:t>
                      </m:r>
                      <m:r>
                        <a:rPr lang="en-CA" sz="1200" i="1" dirty="0" smtClean="0">
                          <a:latin typeface="Cambria Math" panose="02040503050406030204" pitchFamily="18" charset="0"/>
                        </a:rPr>
                        <m:t>𝒯</m:t>
                      </m:r>
                      <m:sSup>
                        <m:sSupPr>
                          <m:ctrlPr>
                            <a:rPr lang="en-CA" sz="1200" i="1" dirty="0">
                              <a:latin typeface="Cambria Math" panose="02040503050406030204" pitchFamily="18" charset="0"/>
                            </a:rPr>
                          </m:ctrlPr>
                        </m:sSupPr>
                        <m:e>
                          <m:r>
                            <a:rPr lang="en-CA" sz="1200" i="1" dirty="0">
                              <a:latin typeface="Cambria Math" panose="02040503050406030204" pitchFamily="18" charset="0"/>
                            </a:rPr>
                            <m:t>𝑒</m:t>
                          </m:r>
                        </m:e>
                        <m:sup>
                          <m:r>
                            <a:rPr lang="en-CA" sz="1200" i="1" dirty="0" err="1">
                              <a:latin typeface="Cambria Math" panose="02040503050406030204" pitchFamily="18" charset="0"/>
                            </a:rPr>
                            <m:t>𝑖</m:t>
                          </m:r>
                          <m:nary>
                            <m:naryPr>
                              <m:ctrlPr>
                                <a:rPr lang="en-CA" sz="1200" i="1" dirty="0" smtClean="0">
                                  <a:latin typeface="Cambria Math" panose="02040503050406030204" pitchFamily="18" charset="0"/>
                                </a:rPr>
                              </m:ctrlPr>
                            </m:naryPr>
                            <m:sub>
                              <m:sSub>
                                <m:sSubPr>
                                  <m:ctrlPr>
                                    <a:rPr lang="en-CA" sz="1200" b="0" i="1" dirty="0" smtClean="0">
                                      <a:latin typeface="Cambria Math" panose="02040503050406030204" pitchFamily="18" charset="0"/>
                                    </a:rPr>
                                  </m:ctrlPr>
                                </m:sSubPr>
                                <m:e>
                                  <m:r>
                                    <a:rPr lang="en-CA" sz="1200" b="0" i="1" dirty="0" smtClean="0">
                                      <a:latin typeface="Cambria Math" panose="02040503050406030204" pitchFamily="18" charset="0"/>
                                    </a:rPr>
                                    <m:t>𝜏</m:t>
                                  </m:r>
                                </m:e>
                                <m:sub>
                                  <m:r>
                                    <a:rPr lang="en-CA" sz="1200" b="0" i="1" dirty="0" smtClean="0">
                                      <a:latin typeface="Cambria Math" panose="02040503050406030204" pitchFamily="18" charset="0"/>
                                    </a:rPr>
                                    <m:t>0</m:t>
                                  </m:r>
                                </m:sub>
                              </m:sSub>
                            </m:sub>
                            <m:sup>
                              <m:r>
                                <a:rPr lang="en-CA" sz="1200" b="0" i="1" dirty="0" smtClean="0">
                                  <a:latin typeface="Cambria Math" panose="02040503050406030204" pitchFamily="18" charset="0"/>
                                </a:rPr>
                                <m:t>𝜏</m:t>
                              </m:r>
                            </m:sup>
                            <m:e>
                              <m:r>
                                <a:rPr lang="en-CA" sz="1200" b="0" i="1" dirty="0" smtClean="0">
                                  <a:latin typeface="Cambria Math" panose="02040503050406030204" pitchFamily="18" charset="0"/>
                                </a:rPr>
                                <m:t>𝑑𝑡</m:t>
                              </m:r>
                            </m:e>
                          </m:nary>
                          <m:acc>
                            <m:accPr>
                              <m:chr m:val="̂"/>
                              <m:ctrlPr>
                                <a:rPr lang="en-CA" sz="1200" i="1" dirty="0">
                                  <a:latin typeface="Cambria Math" panose="02040503050406030204" pitchFamily="18" charset="0"/>
                                </a:rPr>
                              </m:ctrlPr>
                            </m:accPr>
                            <m:e>
                              <m:r>
                                <a:rPr lang="en-CA" sz="1200" i="1" dirty="0">
                                  <a:latin typeface="Cambria Math" panose="02040503050406030204" pitchFamily="18" charset="0"/>
                                </a:rPr>
                                <m:t>𝐻</m:t>
                              </m:r>
                              <m:d>
                                <m:dPr>
                                  <m:ctrlPr>
                                    <a:rPr lang="en-CA" sz="1200" b="0" i="1" dirty="0" smtClean="0">
                                      <a:latin typeface="Cambria Math" panose="02040503050406030204" pitchFamily="18" charset="0"/>
                                    </a:rPr>
                                  </m:ctrlPr>
                                </m:dPr>
                                <m:e>
                                  <m:r>
                                    <a:rPr lang="en-CA" sz="1200" b="0" i="1" dirty="0" smtClean="0">
                                      <a:latin typeface="Cambria Math" panose="02040503050406030204" pitchFamily="18" charset="0"/>
                                    </a:rPr>
                                    <m:t>𝑡</m:t>
                                  </m:r>
                                </m:e>
                              </m:d>
                            </m:e>
                          </m:acc>
                        </m:sup>
                      </m:sSup>
                      <m:r>
                        <a:rPr lang="en-CA" sz="1200" b="0" i="1" dirty="0" smtClean="0">
                          <a:latin typeface="Cambria Math" panose="02040503050406030204" pitchFamily="18" charset="0"/>
                        </a:rPr>
                        <m:t>=</m:t>
                      </m:r>
                      <m:func>
                        <m:funcPr>
                          <m:ctrlPr>
                            <a:rPr lang="pt-BR" sz="1200" b="0" i="1" dirty="0" smtClean="0">
                              <a:latin typeface="Cambria Math" panose="02040503050406030204" pitchFamily="18" charset="0"/>
                            </a:rPr>
                          </m:ctrlPr>
                        </m:funcPr>
                        <m:fName>
                          <m:limLow>
                            <m:limLowPr>
                              <m:ctrlPr>
                                <a:rPr lang="pt-BR" sz="1200" b="0" i="1" dirty="0" smtClean="0">
                                  <a:latin typeface="Cambria Math" panose="02040503050406030204" pitchFamily="18" charset="0"/>
                                </a:rPr>
                              </m:ctrlPr>
                            </m:limLowPr>
                            <m:e>
                              <m:r>
                                <m:rPr>
                                  <m:sty m:val="p"/>
                                </m:rPr>
                                <a:rPr lang="pt-BR" sz="1200" b="0" i="0" dirty="0" smtClean="0">
                                  <a:latin typeface="Cambria Math" panose="02040503050406030204" pitchFamily="18" charset="0"/>
                                </a:rPr>
                                <m:t>lim</m:t>
                              </m:r>
                            </m:e>
                            <m:lim>
                              <m:r>
                                <a:rPr lang="en-CA" sz="1200" b="0" i="1" dirty="0" smtClean="0">
                                  <a:latin typeface="Cambria Math" panose="02040503050406030204" pitchFamily="18" charset="0"/>
                                </a:rPr>
                                <m:t>𝑁</m:t>
                              </m:r>
                              <m:r>
                                <a:rPr lang="pt-BR" sz="1200" b="0" i="1" dirty="0" smtClean="0">
                                  <a:latin typeface="Cambria Math" panose="02040503050406030204" pitchFamily="18" charset="0"/>
                                </a:rPr>
                                <m:t>→∞</m:t>
                              </m:r>
                            </m:lim>
                          </m:limLow>
                        </m:fName>
                        <m:e>
                          <m:func>
                            <m:funcPr>
                              <m:ctrlPr>
                                <a:rPr lang="pt-BR" sz="1200" b="0" i="1" dirty="0" smtClean="0">
                                  <a:latin typeface="Cambria Math" panose="02040503050406030204" pitchFamily="18" charset="0"/>
                                </a:rPr>
                              </m:ctrlPr>
                            </m:funcPr>
                            <m:fName>
                              <m:limLow>
                                <m:limLowPr>
                                  <m:ctrlPr>
                                    <a:rPr lang="pt-BR" sz="1200" b="0" i="1" dirty="0" smtClean="0">
                                      <a:latin typeface="Cambria Math" panose="02040503050406030204" pitchFamily="18" charset="0"/>
                                    </a:rPr>
                                  </m:ctrlPr>
                                </m:limLowPr>
                                <m:e>
                                  <m:r>
                                    <m:rPr>
                                      <m:sty m:val="p"/>
                                    </m:rPr>
                                    <a:rPr lang="pt-BR" sz="1200" b="0" i="0" dirty="0" smtClean="0">
                                      <a:latin typeface="Cambria Math" panose="02040503050406030204" pitchFamily="18" charset="0"/>
                                    </a:rPr>
                                    <m:t>lim</m:t>
                                  </m:r>
                                </m:e>
                                <m:lim>
                                  <m:r>
                                    <a:rPr lang="en-CA" sz="1200" b="0" i="1" dirty="0" smtClean="0">
                                      <a:latin typeface="Cambria Math" panose="02040503050406030204" pitchFamily="18" charset="0"/>
                                    </a:rPr>
                                    <m:t>𝑘</m:t>
                                  </m:r>
                                  <m:r>
                                    <a:rPr lang="en-CA" sz="1200" b="0" i="1" dirty="0" smtClean="0">
                                      <a:latin typeface="Cambria Math" panose="02040503050406030204" pitchFamily="18" charset="0"/>
                                    </a:rPr>
                                    <m:t>→∞</m:t>
                                  </m:r>
                                </m:lim>
                              </m:limLow>
                            </m:fName>
                            <m:e>
                              <m:nary>
                                <m:naryPr>
                                  <m:chr m:val="∏"/>
                                  <m:ctrlPr>
                                    <a:rPr lang="pt-BR" sz="1200" b="0" i="1" dirty="0" smtClean="0">
                                      <a:latin typeface="Cambria Math" panose="02040503050406030204" pitchFamily="18" charset="0"/>
                                    </a:rPr>
                                  </m:ctrlPr>
                                </m:naryPr>
                                <m:sub>
                                  <m:r>
                                    <m:rPr>
                                      <m:brk m:alnAt="23"/>
                                    </m:rPr>
                                    <a:rPr lang="en-CA" sz="1200" b="0" i="1" dirty="0" smtClean="0">
                                      <a:latin typeface="Cambria Math" panose="02040503050406030204" pitchFamily="18" charset="0"/>
                                    </a:rPr>
                                    <m:t>𝑛</m:t>
                                  </m:r>
                                </m:sub>
                                <m:sup>
                                  <m:r>
                                    <a:rPr lang="en-CA" sz="1200" b="0" i="1" dirty="0" smtClean="0">
                                      <a:latin typeface="Cambria Math" panose="02040503050406030204" pitchFamily="18" charset="0"/>
                                    </a:rPr>
                                    <m:t>𝑁</m:t>
                                  </m:r>
                                </m:sup>
                                <m:e>
                                  <m:sSup>
                                    <m:sSupPr>
                                      <m:ctrlPr>
                                        <a:rPr lang="en-CA" sz="1200" b="0" i="1" dirty="0" smtClean="0">
                                          <a:latin typeface="Cambria Math" panose="02040503050406030204" pitchFamily="18" charset="0"/>
                                        </a:rPr>
                                      </m:ctrlPr>
                                    </m:sSupPr>
                                    <m:e>
                                      <m:d>
                                        <m:dPr>
                                          <m:ctrlPr>
                                            <a:rPr lang="pt-BR" sz="1200" i="1" dirty="0">
                                              <a:latin typeface="Cambria Math" panose="02040503050406030204" pitchFamily="18" charset="0"/>
                                            </a:rPr>
                                          </m:ctrlPr>
                                        </m:dPr>
                                        <m:e>
                                          <m:r>
                                            <a:rPr lang="en-CA" sz="1200" b="0" i="1" dirty="0" smtClean="0">
                                              <a:latin typeface="Cambria Math" panose="02040503050406030204" pitchFamily="18" charset="0"/>
                                            </a:rPr>
                                            <m:t>𝐼</m:t>
                                          </m:r>
                                          <m:r>
                                            <a:rPr lang="pt-BR" sz="1200" i="1" dirty="0">
                                              <a:latin typeface="Cambria Math" panose="02040503050406030204" pitchFamily="18" charset="0"/>
                                            </a:rPr>
                                            <m:t>+</m:t>
                                          </m:r>
                                          <m:f>
                                            <m:fPr>
                                              <m:ctrlPr>
                                                <a:rPr lang="pt-BR" sz="1200" i="1" dirty="0">
                                                  <a:latin typeface="Cambria Math" panose="02040503050406030204" pitchFamily="18" charset="0"/>
                                                </a:rPr>
                                              </m:ctrlPr>
                                            </m:fPr>
                                            <m:num>
                                              <m:r>
                                                <a:rPr lang="en-CA" sz="1200" b="0" i="1" dirty="0" smtClean="0">
                                                  <a:latin typeface="Cambria Math" panose="02040503050406030204" pitchFamily="18" charset="0"/>
                                                </a:rPr>
                                                <m:t>𝑖</m:t>
                                              </m:r>
                                            </m:num>
                                            <m:den>
                                              <m:r>
                                                <a:rPr lang="en-CA" sz="1200" b="0" i="1" dirty="0" smtClean="0">
                                                  <a:latin typeface="Cambria Math" panose="02040503050406030204" pitchFamily="18" charset="0"/>
                                                </a:rPr>
                                                <m:t>𝑘</m:t>
                                              </m:r>
                                            </m:den>
                                          </m:f>
                                          <m:acc>
                                            <m:accPr>
                                              <m:chr m:val="̂"/>
                                              <m:ctrlPr>
                                                <a:rPr lang="pt-BR" sz="1200" i="1" dirty="0" smtClean="0">
                                                  <a:latin typeface="Cambria Math" panose="02040503050406030204" pitchFamily="18" charset="0"/>
                                                </a:rPr>
                                              </m:ctrlPr>
                                            </m:accPr>
                                            <m:e>
                                              <m:r>
                                                <a:rPr lang="en-CA" sz="1200" b="0" i="1" dirty="0" smtClean="0">
                                                  <a:latin typeface="Cambria Math" panose="02040503050406030204" pitchFamily="18" charset="0"/>
                                                </a:rPr>
                                                <m:t>𝐻</m:t>
                                              </m:r>
                                            </m:e>
                                          </m:acc>
                                          <m:d>
                                            <m:dPr>
                                              <m:ctrlPr>
                                                <a:rPr lang="en-CA" sz="1200" i="1" dirty="0">
                                                  <a:latin typeface="Cambria Math" panose="02040503050406030204" pitchFamily="18" charset="0"/>
                                                </a:rPr>
                                              </m:ctrlPr>
                                            </m:dPr>
                                            <m:e>
                                              <m:r>
                                                <a:rPr lang="en-CA" sz="1200" b="0" i="1" dirty="0" smtClean="0">
                                                  <a:latin typeface="Cambria Math" panose="02040503050406030204" pitchFamily="18" charset="0"/>
                                                </a:rPr>
                                                <m:t>𝑛𝑑</m:t>
                                              </m:r>
                                              <m:r>
                                                <a:rPr lang="en-CA" sz="1200" i="1" dirty="0">
                                                  <a:latin typeface="Cambria Math" panose="02040503050406030204" pitchFamily="18" charset="0"/>
                                                </a:rPr>
                                                <m:t>𝑡</m:t>
                                              </m:r>
                                            </m:e>
                                          </m:d>
                                          <m:r>
                                            <a:rPr lang="en-CA" sz="1200" b="0" i="1" dirty="0" smtClean="0">
                                              <a:latin typeface="Cambria Math" panose="02040503050406030204" pitchFamily="18" charset="0"/>
                                            </a:rPr>
                                            <m:t>𝑑𝑡</m:t>
                                          </m:r>
                                        </m:e>
                                      </m:d>
                                    </m:e>
                                    <m:sup>
                                      <m:r>
                                        <a:rPr lang="en-CA" sz="1200" b="0" i="1" dirty="0" smtClean="0">
                                          <a:latin typeface="Cambria Math" panose="02040503050406030204" pitchFamily="18" charset="0"/>
                                        </a:rPr>
                                        <m:t>𝑘</m:t>
                                      </m:r>
                                    </m:sup>
                                  </m:sSup>
                                </m:e>
                              </m:nary>
                            </m:e>
                          </m:func>
                        </m:e>
                      </m:func>
                    </m:oMath>
                  </m:oMathPara>
                </a14:m>
                <a:endParaRPr lang="en-CA" dirty="0"/>
              </a:p>
              <a:p>
                <a:pPr/>
                <a14:m>
                  <m:oMathPara xmlns:m="http://schemas.openxmlformats.org/officeDocument/2006/math">
                    <m:oMathParaPr>
                      <m:jc m:val="centerGroup"/>
                    </m:oMathParaPr>
                    <m:oMath xmlns:m="http://schemas.openxmlformats.org/officeDocument/2006/math">
                      <m:acc>
                        <m:accPr>
                          <m:chr m:val="̂"/>
                          <m:ctrlPr>
                            <a:rPr lang="en-CA" sz="1200" i="1" dirty="0" smtClean="0">
                              <a:latin typeface="Cambria Math" panose="02040503050406030204" pitchFamily="18" charset="0"/>
                            </a:rPr>
                          </m:ctrlPr>
                        </m:accPr>
                        <m:e>
                          <m:r>
                            <a:rPr lang="en-CA" sz="1200" b="0" i="1" dirty="0" smtClean="0">
                              <a:latin typeface="Cambria Math" panose="02040503050406030204" pitchFamily="18" charset="0"/>
                            </a:rPr>
                            <m:t>𝑉</m:t>
                          </m:r>
                        </m:e>
                      </m:acc>
                      <m:d>
                        <m:dPr>
                          <m:ctrlPr>
                            <a:rPr lang="en-CA" sz="1200" i="1" dirty="0" smtClean="0">
                              <a:latin typeface="Cambria Math" panose="02040503050406030204" pitchFamily="18" charset="0"/>
                            </a:rPr>
                          </m:ctrlPr>
                        </m:dPr>
                        <m:e>
                          <m:r>
                            <a:rPr lang="en-CA" sz="1200" i="1" dirty="0">
                              <a:latin typeface="Cambria Math" panose="02040503050406030204" pitchFamily="18" charset="0"/>
                              <a:ea typeface="Cambria Math" panose="02040503050406030204" pitchFamily="18" charset="0"/>
                            </a:rPr>
                            <m:t>∆</m:t>
                          </m:r>
                          <m:r>
                            <a:rPr lang="en-CA" sz="1200" i="1" dirty="0">
                              <a:latin typeface="Cambria Math" panose="02040503050406030204" pitchFamily="18" charset="0"/>
                            </a:rPr>
                            <m:t>𝑡</m:t>
                          </m:r>
                        </m:e>
                      </m:d>
                      <m:r>
                        <a:rPr lang="en-CA" sz="1200" b="0" i="1" dirty="0" smtClean="0">
                          <a:latin typeface="Cambria Math" panose="02040503050406030204" pitchFamily="18" charset="0"/>
                        </a:rPr>
                        <m:t>=</m:t>
                      </m:r>
                      <m:func>
                        <m:funcPr>
                          <m:ctrlPr>
                            <a:rPr lang="pt-BR" sz="1200" i="1" dirty="0">
                              <a:latin typeface="Cambria Math" panose="02040503050406030204" pitchFamily="18" charset="0"/>
                            </a:rPr>
                          </m:ctrlPr>
                        </m:funcPr>
                        <m:fName>
                          <m:limLow>
                            <m:limLowPr>
                              <m:ctrlPr>
                                <a:rPr lang="pt-BR" sz="1200" i="1" dirty="0">
                                  <a:latin typeface="Cambria Math" panose="02040503050406030204" pitchFamily="18" charset="0"/>
                                </a:rPr>
                              </m:ctrlPr>
                            </m:limLowPr>
                            <m:e>
                              <m:r>
                                <m:rPr>
                                  <m:sty m:val="p"/>
                                </m:rPr>
                                <a:rPr lang="pt-BR" sz="1200" dirty="0">
                                  <a:latin typeface="Cambria Math" panose="02040503050406030204" pitchFamily="18" charset="0"/>
                                </a:rPr>
                                <m:t>lim</m:t>
                              </m:r>
                            </m:e>
                            <m:lim>
                              <m:r>
                                <a:rPr lang="en-CA" sz="1200" i="1" dirty="0">
                                  <a:latin typeface="Cambria Math" panose="02040503050406030204" pitchFamily="18" charset="0"/>
                                </a:rPr>
                                <m:t>𝑘</m:t>
                              </m:r>
                              <m:r>
                                <a:rPr lang="en-CA" sz="1200" i="1" dirty="0">
                                  <a:latin typeface="Cambria Math" panose="02040503050406030204" pitchFamily="18" charset="0"/>
                                </a:rPr>
                                <m:t>→</m:t>
                              </m:r>
                              <m:r>
                                <a:rPr lang="en-CA" sz="1200" i="1" dirty="0">
                                  <a:latin typeface="Cambria Math" panose="02040503050406030204" pitchFamily="18" charset="0"/>
                                </a:rPr>
                                <m:t>𝐾</m:t>
                              </m:r>
                            </m:lim>
                          </m:limLow>
                        </m:fName>
                        <m:e>
                          <m:sSup>
                            <m:sSupPr>
                              <m:ctrlPr>
                                <a:rPr lang="en-CA" sz="1200" i="1" dirty="0">
                                  <a:latin typeface="Cambria Math" panose="02040503050406030204" pitchFamily="18" charset="0"/>
                                </a:rPr>
                              </m:ctrlPr>
                            </m:sSupPr>
                            <m:e>
                              <m:d>
                                <m:dPr>
                                  <m:ctrlPr>
                                    <a:rPr lang="pt-BR" sz="1200" i="1" dirty="0">
                                      <a:latin typeface="Cambria Math" panose="02040503050406030204" pitchFamily="18" charset="0"/>
                                    </a:rPr>
                                  </m:ctrlPr>
                                </m:dPr>
                                <m:e>
                                  <m:r>
                                    <a:rPr lang="en-CA" sz="1200" i="1" dirty="0">
                                      <a:latin typeface="Cambria Math" panose="02040503050406030204" pitchFamily="18" charset="0"/>
                                    </a:rPr>
                                    <m:t>𝐼</m:t>
                                  </m:r>
                                  <m:r>
                                    <a:rPr lang="pt-BR" sz="1200" i="1" dirty="0">
                                      <a:latin typeface="Cambria Math" panose="02040503050406030204" pitchFamily="18" charset="0"/>
                                    </a:rPr>
                                    <m:t>+</m:t>
                                  </m:r>
                                  <m:f>
                                    <m:fPr>
                                      <m:ctrlPr>
                                        <a:rPr lang="pt-BR" sz="1200" i="1" dirty="0">
                                          <a:latin typeface="Cambria Math" panose="02040503050406030204" pitchFamily="18" charset="0"/>
                                        </a:rPr>
                                      </m:ctrlPr>
                                    </m:fPr>
                                    <m:num>
                                      <m:r>
                                        <a:rPr lang="en-CA" sz="1200" i="1" dirty="0">
                                          <a:latin typeface="Cambria Math" panose="02040503050406030204" pitchFamily="18" charset="0"/>
                                        </a:rPr>
                                        <m:t>𝑖</m:t>
                                      </m:r>
                                      <m:r>
                                        <a:rPr lang="en-CA" sz="1200" i="1" dirty="0">
                                          <a:latin typeface="Cambria Math" panose="02040503050406030204" pitchFamily="18" charset="0"/>
                                          <a:ea typeface="Cambria Math" panose="02040503050406030204" pitchFamily="18" charset="0"/>
                                        </a:rPr>
                                        <m:t>∆</m:t>
                                      </m:r>
                                      <m:r>
                                        <a:rPr lang="en-CA" sz="1200" i="1" dirty="0">
                                          <a:latin typeface="Cambria Math" panose="02040503050406030204" pitchFamily="18" charset="0"/>
                                        </a:rPr>
                                        <m:t>𝑡</m:t>
                                      </m:r>
                                    </m:num>
                                    <m:den>
                                      <m:r>
                                        <a:rPr lang="en-CA" sz="1200" i="1" dirty="0">
                                          <a:latin typeface="Cambria Math" panose="02040503050406030204" pitchFamily="18" charset="0"/>
                                        </a:rPr>
                                        <m:t>𝑘</m:t>
                                      </m:r>
                                    </m:den>
                                  </m:f>
                                  <m:acc>
                                    <m:accPr>
                                      <m:chr m:val="̂"/>
                                      <m:ctrlPr>
                                        <a:rPr lang="pt-BR" sz="1200" i="1" dirty="0">
                                          <a:latin typeface="Cambria Math" panose="02040503050406030204" pitchFamily="18" charset="0"/>
                                        </a:rPr>
                                      </m:ctrlPr>
                                    </m:accPr>
                                    <m:e>
                                      <m:r>
                                        <a:rPr lang="en-CA" sz="1200" i="1" dirty="0">
                                          <a:latin typeface="Cambria Math" panose="02040503050406030204" pitchFamily="18" charset="0"/>
                                        </a:rPr>
                                        <m:t>𝐻</m:t>
                                      </m:r>
                                    </m:e>
                                  </m:acc>
                                </m:e>
                              </m:d>
                            </m:e>
                            <m:sup>
                              <m:r>
                                <a:rPr lang="en-CA" sz="1200" i="1" dirty="0">
                                  <a:latin typeface="Cambria Math" panose="02040503050406030204" pitchFamily="18" charset="0"/>
                                </a:rPr>
                                <m:t>𝑘</m:t>
                              </m:r>
                            </m:sup>
                          </m:sSup>
                        </m:e>
                      </m:func>
                    </m:oMath>
                  </m:oMathPara>
                </a14:m>
                <a:endParaRPr lang="en-CA" dirty="0"/>
              </a:p>
              <a:p>
                <a:pPr/>
                <a14:m>
                  <m:oMathPara xmlns:m="http://schemas.openxmlformats.org/officeDocument/2006/math">
                    <m:oMathParaPr>
                      <m:jc m:val="centerGroup"/>
                    </m:oMathParaPr>
                    <m:oMath xmlns:m="http://schemas.openxmlformats.org/officeDocument/2006/math">
                      <m:sSubSup>
                        <m:sSubSupPr>
                          <m:ctrlPr>
                            <a:rPr lang="en-US" i="1" dirty="0" smtClean="0">
                              <a:solidFill>
                                <a:prstClr val="black"/>
                              </a:solidFill>
                              <a:latin typeface="Cambria Math" panose="02040503050406030204" pitchFamily="18" charset="0"/>
                            </a:rPr>
                          </m:ctrlPr>
                        </m:sSubSupPr>
                        <m:e>
                          <m:r>
                            <a:rPr lang="en-US" i="1" dirty="0">
                              <a:solidFill>
                                <a:prstClr val="black"/>
                              </a:solidFill>
                              <a:latin typeface="Cambria Math" panose="02040503050406030204" pitchFamily="18" charset="0"/>
                            </a:rPr>
                            <m:t>𝑃</m:t>
                          </m:r>
                        </m:e>
                        <m:sub>
                          <m:d>
                            <m:dPr>
                              <m:begChr m:val="{"/>
                              <m:endChr m:val="}"/>
                              <m:ctrlPr>
                                <a:rPr lang="en-US" i="1" dirty="0">
                                  <a:solidFill>
                                    <a:prstClr val="black"/>
                                  </a:solidFill>
                                  <a:latin typeface="Cambria Math" panose="02040503050406030204" pitchFamily="18" charset="0"/>
                                </a:rPr>
                              </m:ctrlPr>
                            </m:dPr>
                            <m:e>
                              <m:r>
                                <a:rPr lang="en-US" b="0" i="1" dirty="0" smtClean="0">
                                  <a:solidFill>
                                    <a:prstClr val="black"/>
                                  </a:solidFill>
                                  <a:latin typeface="Cambria Math" panose="02040503050406030204" pitchFamily="18" charset="0"/>
                                </a:rPr>
                                <m:t>𝜏</m:t>
                              </m:r>
                              <m:r>
                                <a:rPr lang="ar-AE" i="1" dirty="0">
                                  <a:solidFill>
                                    <a:prstClr val="black"/>
                                  </a:solidFill>
                                  <a:latin typeface="Cambria Math" panose="02040503050406030204" pitchFamily="18" charset="0"/>
                                </a:rPr>
                                <m:t>, </m:t>
                              </m:r>
                              <m:sSub>
                                <m:sSubPr>
                                  <m:ctrlPr>
                                    <a:rPr lang="ar-AE" i="1" dirty="0">
                                      <a:solidFill>
                                        <a:prstClr val="black"/>
                                      </a:solidFill>
                                      <a:latin typeface="Cambria Math" panose="02040503050406030204" pitchFamily="18" charset="0"/>
                                    </a:rPr>
                                  </m:ctrlPr>
                                </m:sSubPr>
                                <m:e>
                                  <m:r>
                                    <a:rPr lang="ar-AE" i="1" dirty="0">
                                      <a:solidFill>
                                        <a:prstClr val="black"/>
                                      </a:solidFill>
                                      <a:latin typeface="Cambria Math" panose="02040503050406030204" pitchFamily="18" charset="0"/>
                                    </a:rPr>
                                    <m:t>𝜏</m:t>
                                  </m:r>
                                </m:e>
                                <m:sub>
                                  <m:r>
                                    <a:rPr lang="ar-AE" i="1" dirty="0">
                                      <a:solidFill>
                                        <a:prstClr val="black"/>
                                      </a:solidFill>
                                      <a:latin typeface="Cambria Math" panose="02040503050406030204" pitchFamily="18" charset="0"/>
                                    </a:rPr>
                                    <m:t>0</m:t>
                                  </m:r>
                                </m:sub>
                              </m:sSub>
                            </m:e>
                          </m:d>
                        </m:sub>
                        <m:sup>
                          <m:d>
                            <m:dPr>
                              <m:ctrlPr>
                                <a:rPr lang="en-US" i="1" dirty="0">
                                  <a:solidFill>
                                    <a:prstClr val="black"/>
                                  </a:solidFill>
                                  <a:latin typeface="Cambria Math" panose="02040503050406030204" pitchFamily="18" charset="0"/>
                                </a:rPr>
                              </m:ctrlPr>
                            </m:dPr>
                            <m:e>
                              <m:r>
                                <a:rPr lang="en-US" i="1" dirty="0">
                                  <a:solidFill>
                                    <a:prstClr val="black"/>
                                  </a:solidFill>
                                  <a:latin typeface="Cambria Math" panose="02040503050406030204" pitchFamily="18" charset="0"/>
                                </a:rPr>
                                <m:t>𝑛</m:t>
                              </m:r>
                            </m:e>
                          </m:d>
                        </m:sup>
                      </m:sSubSup>
                      <m:d>
                        <m:dPr>
                          <m:ctrlPr>
                            <a:rPr kumimoji="0" lang="ar-AE" sz="1200" b="0" i="1" u="none" strike="noStrike" kern="1200" cap="none" spc="0" normalizeH="0" baseline="0" noProof="0" dirty="0">
                              <a:ln>
                                <a:noFill/>
                              </a:ln>
                              <a:solidFill>
                                <a:prstClr val="black"/>
                              </a:solidFill>
                              <a:effectLst/>
                              <a:uLnTx/>
                              <a:uFillTx/>
                              <a:latin typeface="Cambria Math" panose="02040503050406030204" pitchFamily="18" charset="0"/>
                            </a:rPr>
                          </m:ctrlPr>
                        </m:dPr>
                        <m:e>
                          <m:sSub>
                            <m:sSubPr>
                              <m:ctrlP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ctrlPr>
                            </m:sSubPr>
                            <m:e>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t>𝐴</m:t>
                              </m:r>
                            </m:e>
                            <m:sub>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t>𝑗</m:t>
                              </m:r>
                            </m:sub>
                          </m:sSub>
                        </m:e>
                        <m:e>
                          <m:sSub>
                            <m:sSubPr>
                              <m:ctrlP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ctrlPr>
                            </m:sSubPr>
                            <m:e>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t>𝑆</m:t>
                              </m:r>
                            </m:e>
                            <m:sub>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t>𝑖</m:t>
                              </m:r>
                            </m:sub>
                          </m:sSub>
                        </m:e>
                      </m:d>
                      <m:r>
                        <a:rPr kumimoji="0" lang="ar-AE" sz="1200" b="0" i="1" u="none" strike="noStrike" kern="1200" cap="none" spc="0" normalizeH="0" baseline="0" noProof="0" dirty="0">
                          <a:ln>
                            <a:noFill/>
                          </a:ln>
                          <a:solidFill>
                            <a:prstClr val="black"/>
                          </a:solidFill>
                          <a:effectLst/>
                          <a:uLnTx/>
                          <a:uFillTx/>
                          <a:latin typeface="Cambria Math" panose="02040503050406030204" pitchFamily="18" charset="0"/>
                        </a:rPr>
                        <m:t>=</m:t>
                      </m:r>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t>𝑡𝑟</m:t>
                      </m:r>
                      <m:d>
                        <m:dPr>
                          <m:ctrlP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ctrlPr>
                        </m:dPr>
                        <m:e>
                          <m:sSub>
                            <m:sSubPr>
                              <m:ctrlP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ctrlPr>
                            </m:sSubPr>
                            <m:e>
                              <m:acc>
                                <m:accPr>
                                  <m:chr m:val="̂"/>
                                  <m:ctrlP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ctrlPr>
                                </m:accPr>
                                <m:e>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t>𝜌</m:t>
                                  </m:r>
                                </m:e>
                              </m:acc>
                            </m:e>
                            <m:sub>
                              <m:sSub>
                                <m:sSubPr>
                                  <m:ctrlPr>
                                    <a:rPr lang="en-US" b="0" i="1" dirty="0" smtClean="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𝑆</m:t>
                                  </m:r>
                                </m:e>
                                <m:sub>
                                  <m:r>
                                    <a:rPr lang="en-US" b="0" i="1" dirty="0" smtClean="0">
                                      <a:solidFill>
                                        <a:prstClr val="black"/>
                                      </a:solidFill>
                                      <a:latin typeface="Cambria Math" panose="02040503050406030204" pitchFamily="18" charset="0"/>
                                    </a:rPr>
                                    <m:t>𝑖</m:t>
                                  </m:r>
                                </m:sub>
                              </m:sSub>
                            </m:sub>
                          </m:sSub>
                          <m:d>
                            <m:dPr>
                              <m:ctrlPr>
                                <a:rPr lang="en-US" b="0" i="1" dirty="0" smtClean="0">
                                  <a:solidFill>
                                    <a:prstClr val="black"/>
                                  </a:solidFill>
                                  <a:latin typeface="Cambria Math" panose="02040503050406030204" pitchFamily="18" charset="0"/>
                                </a:rPr>
                              </m:ctrlPr>
                            </m:dPr>
                            <m:e>
                              <m:r>
                                <a:rPr lang="en-US" b="0" i="1" dirty="0" smtClean="0">
                                  <a:solidFill>
                                    <a:prstClr val="black"/>
                                  </a:solidFill>
                                  <a:latin typeface="Cambria Math" panose="02040503050406030204" pitchFamily="18" charset="0"/>
                                </a:rPr>
                                <m:t>𝜏</m:t>
                              </m:r>
                            </m:e>
                          </m:d>
                          <m:sSub>
                            <m:sSubPr>
                              <m:ctrlPr>
                                <a:rPr lang="en-US" b="0" i="1" dirty="0" smtClean="0">
                                  <a:solidFill>
                                    <a:prstClr val="black"/>
                                  </a:solidFill>
                                  <a:latin typeface="Cambria Math" panose="02040503050406030204" pitchFamily="18" charset="0"/>
                                </a:rPr>
                              </m:ctrlPr>
                            </m:sSubPr>
                            <m:e>
                              <m:acc>
                                <m:accPr>
                                  <m:chr m:val="̂"/>
                                  <m:ctrlPr>
                                    <a:rPr lang="en-US" b="0" i="1" dirty="0" smtClean="0">
                                      <a:solidFill>
                                        <a:prstClr val="black"/>
                                      </a:solidFill>
                                      <a:latin typeface="Cambria Math" panose="02040503050406030204" pitchFamily="18" charset="0"/>
                                    </a:rPr>
                                  </m:ctrlPr>
                                </m:accPr>
                                <m:e>
                                  <m:r>
                                    <m:rPr>
                                      <m:sty m:val="p"/>
                                    </m:rPr>
                                    <a:rPr lang="en-US" b="0" i="0" dirty="0" smtClean="0">
                                      <a:solidFill>
                                        <a:prstClr val="black"/>
                                      </a:solidFill>
                                      <a:latin typeface="Cambria Math" panose="02040503050406030204" pitchFamily="18" charset="0"/>
                                    </a:rPr>
                                    <m:t>Π</m:t>
                                  </m:r>
                                </m:e>
                              </m:acc>
                            </m:e>
                            <m:sub>
                              <m:sSub>
                                <m:sSubPr>
                                  <m:ctrlPr>
                                    <a:rPr lang="en-US" b="0" i="1" dirty="0" smtClean="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𝐴</m:t>
                                  </m:r>
                                </m:e>
                                <m:sub>
                                  <m:r>
                                    <a:rPr lang="en-US" b="0" i="1" dirty="0" smtClean="0">
                                      <a:solidFill>
                                        <a:prstClr val="black"/>
                                      </a:solidFill>
                                      <a:latin typeface="Cambria Math" panose="02040503050406030204" pitchFamily="18" charset="0"/>
                                    </a:rPr>
                                    <m:t>𝑗</m:t>
                                  </m:r>
                                </m:sub>
                              </m:sSub>
                            </m:sub>
                          </m:sSub>
                        </m:e>
                      </m:d>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t>=</m:t>
                      </m:r>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t>𝑡𝑟</m:t>
                      </m:r>
                      <m:d>
                        <m:dPr>
                          <m:ctrlP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ctrlPr>
                        </m:dPr>
                        <m:e>
                          <m:acc>
                            <m:accPr>
                              <m:chr m:val="̂"/>
                              <m:ctrlPr>
                                <a:rPr lang="en-US" b="0" i="1" dirty="0" smtClean="0">
                                  <a:solidFill>
                                    <a:prstClr val="black"/>
                                  </a:solidFill>
                                  <a:latin typeface="Cambria Math" panose="02040503050406030204" pitchFamily="18" charset="0"/>
                                </a:rPr>
                              </m:ctrlPr>
                            </m:accPr>
                            <m:e>
                              <m:r>
                                <a:rPr lang="en-US" b="0" i="1" dirty="0" smtClean="0">
                                  <a:solidFill>
                                    <a:prstClr val="black"/>
                                  </a:solidFill>
                                  <a:latin typeface="Cambria Math" panose="02040503050406030204" pitchFamily="18" charset="0"/>
                                </a:rPr>
                                <m:t>𝑈</m:t>
                              </m:r>
                            </m:e>
                          </m:acc>
                          <m:r>
                            <a:rPr lang="en-US" b="0" i="1" dirty="0" smtClean="0">
                              <a:solidFill>
                                <a:prstClr val="black"/>
                              </a:solidFill>
                              <a:latin typeface="Cambria Math" panose="02040503050406030204" pitchFamily="18" charset="0"/>
                            </a:rPr>
                            <m:t>(</m:t>
                          </m:r>
                          <m:r>
                            <a:rPr lang="en-US" b="0" i="1" dirty="0" smtClean="0">
                              <a:solidFill>
                                <a:prstClr val="black"/>
                              </a:solidFill>
                              <a:latin typeface="Cambria Math" panose="02040503050406030204" pitchFamily="18" charset="0"/>
                            </a:rPr>
                            <m:t>𝜏</m:t>
                          </m:r>
                          <m:r>
                            <a:rPr lang="en-US" b="0" i="1" dirty="0" smtClean="0">
                              <a:solidFill>
                                <a:prstClr val="black"/>
                              </a:solidFill>
                              <a:latin typeface="Cambria Math" panose="02040503050406030204" pitchFamily="18" charset="0"/>
                            </a:rPr>
                            <m:t>, </m:t>
                          </m:r>
                          <m:sSub>
                            <m:sSubPr>
                              <m:ctrlPr>
                                <a:rPr lang="en-US" b="0" i="1" dirty="0" smtClean="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𝜏</m:t>
                              </m:r>
                            </m:e>
                            <m:sub>
                              <m:r>
                                <a:rPr lang="en-US" b="0" i="1" dirty="0" smtClean="0">
                                  <a:solidFill>
                                    <a:prstClr val="black"/>
                                  </a:solidFill>
                                  <a:latin typeface="Cambria Math" panose="02040503050406030204" pitchFamily="18" charset="0"/>
                                </a:rPr>
                                <m:t>0</m:t>
                              </m:r>
                            </m:sub>
                          </m:sSub>
                          <m:r>
                            <a:rPr lang="en-US" b="0" i="1" dirty="0" smtClean="0">
                              <a:solidFill>
                                <a:prstClr val="black"/>
                              </a:solidFill>
                              <a:latin typeface="Cambria Math" panose="02040503050406030204" pitchFamily="18" charset="0"/>
                            </a:rPr>
                            <m:t>)</m:t>
                          </m:r>
                          <m:sSub>
                            <m:sSubPr>
                              <m:ctrlP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ctrlPr>
                            </m:sSubPr>
                            <m:e>
                              <m:acc>
                                <m:accPr>
                                  <m:chr m:val="̂"/>
                                  <m:ctrlP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ctrlPr>
                                </m:accPr>
                                <m:e>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t>𝜌</m:t>
                                  </m:r>
                                </m:e>
                              </m:acc>
                            </m:e>
                            <m:sub>
                              <m:sSub>
                                <m:sSubPr>
                                  <m:ctrlPr>
                                    <a:rPr lang="en-US" b="0" i="1" dirty="0" smtClean="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𝑆</m:t>
                                  </m:r>
                                </m:e>
                                <m:sub>
                                  <m:r>
                                    <a:rPr lang="en-US" b="0" i="1" dirty="0" smtClean="0">
                                      <a:solidFill>
                                        <a:prstClr val="black"/>
                                      </a:solidFill>
                                      <a:latin typeface="Cambria Math" panose="02040503050406030204" pitchFamily="18" charset="0"/>
                                    </a:rPr>
                                    <m:t>𝑖</m:t>
                                  </m:r>
                                </m:sub>
                              </m:sSub>
                            </m:sub>
                          </m:sSub>
                          <m:d>
                            <m:dPr>
                              <m:ctrlPr>
                                <a:rPr lang="en-US" b="0" i="1" dirty="0" smtClean="0">
                                  <a:solidFill>
                                    <a:prstClr val="black"/>
                                  </a:solidFill>
                                  <a:latin typeface="Cambria Math" panose="02040503050406030204" pitchFamily="18" charset="0"/>
                                </a:rPr>
                              </m:ctrlPr>
                            </m:dPr>
                            <m:e>
                              <m:sSub>
                                <m:sSubPr>
                                  <m:ctrlPr>
                                    <a:rPr lang="en-US" b="0" i="1" dirty="0" smtClean="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𝜏</m:t>
                                  </m:r>
                                </m:e>
                                <m:sub>
                                  <m:r>
                                    <a:rPr lang="en-US" b="0" i="1" dirty="0" smtClean="0">
                                      <a:solidFill>
                                        <a:prstClr val="black"/>
                                      </a:solidFill>
                                      <a:latin typeface="Cambria Math" panose="02040503050406030204" pitchFamily="18" charset="0"/>
                                    </a:rPr>
                                    <m:t>0</m:t>
                                  </m:r>
                                </m:sub>
                              </m:sSub>
                            </m:e>
                          </m:d>
                          <m:sSup>
                            <m:sSupPr>
                              <m:ctrlP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ctrlPr>
                            </m:sSupPr>
                            <m:e>
                              <m:acc>
                                <m:accPr>
                                  <m:chr m:val="̂"/>
                                  <m:ctrlP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ctrlPr>
                                </m:accPr>
                                <m:e>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t>𝑈</m:t>
                                  </m:r>
                                </m:e>
                              </m:acc>
                            </m:e>
                            <m:sup>
                              <m:r>
                                <a:rPr lang="en-US" i="1" dirty="0" smtClean="0">
                                  <a:solidFill>
                                    <a:prstClr val="black"/>
                                  </a:solidFill>
                                  <a:latin typeface="Cambria Math" panose="02040503050406030204" pitchFamily="18" charset="0"/>
                                  <a:ea typeface="Cambria Math" panose="02040503050406030204" pitchFamily="18" charset="0"/>
                                </a:rPr>
                                <m:t>†</m:t>
                              </m:r>
                            </m:sup>
                          </m:sSup>
                          <m:r>
                            <a:rPr lang="en-US" b="0" i="1" dirty="0" smtClean="0">
                              <a:solidFill>
                                <a:prstClr val="black"/>
                              </a:solidFill>
                              <a:latin typeface="Cambria Math" panose="02040503050406030204" pitchFamily="18" charset="0"/>
                            </a:rPr>
                            <m:t>(</m:t>
                          </m:r>
                          <m:r>
                            <a:rPr lang="en-US" b="0" i="1" dirty="0" smtClean="0">
                              <a:solidFill>
                                <a:prstClr val="black"/>
                              </a:solidFill>
                              <a:latin typeface="Cambria Math" panose="02040503050406030204" pitchFamily="18" charset="0"/>
                            </a:rPr>
                            <m:t>𝜏</m:t>
                          </m:r>
                          <m:r>
                            <a:rPr lang="en-US" b="0" i="1" dirty="0" smtClean="0">
                              <a:solidFill>
                                <a:prstClr val="black"/>
                              </a:solidFill>
                              <a:latin typeface="Cambria Math" panose="02040503050406030204" pitchFamily="18" charset="0"/>
                            </a:rPr>
                            <m:t>, </m:t>
                          </m:r>
                          <m:sSub>
                            <m:sSubPr>
                              <m:ctrlPr>
                                <a:rPr lang="en-US" b="0" i="1" dirty="0" smtClean="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𝜏</m:t>
                              </m:r>
                            </m:e>
                            <m:sub>
                              <m:r>
                                <a:rPr lang="en-US" b="0" i="1" dirty="0" smtClean="0">
                                  <a:solidFill>
                                    <a:prstClr val="black"/>
                                  </a:solidFill>
                                  <a:latin typeface="Cambria Math" panose="02040503050406030204" pitchFamily="18" charset="0"/>
                                </a:rPr>
                                <m:t>0</m:t>
                              </m:r>
                            </m:sub>
                          </m:sSub>
                          <m:r>
                            <a:rPr lang="en-US" b="0" i="1" dirty="0" smtClean="0">
                              <a:solidFill>
                                <a:prstClr val="black"/>
                              </a:solidFill>
                              <a:latin typeface="Cambria Math" panose="02040503050406030204" pitchFamily="18" charset="0"/>
                            </a:rPr>
                            <m:t>) </m:t>
                          </m:r>
                          <m:sSub>
                            <m:sSubPr>
                              <m:ctrlPr>
                                <a:rPr lang="en-US" b="0" i="1" dirty="0" smtClean="0">
                                  <a:solidFill>
                                    <a:prstClr val="black"/>
                                  </a:solidFill>
                                  <a:latin typeface="Cambria Math" panose="02040503050406030204" pitchFamily="18" charset="0"/>
                                </a:rPr>
                              </m:ctrlPr>
                            </m:sSubPr>
                            <m:e>
                              <m:acc>
                                <m:accPr>
                                  <m:chr m:val="̂"/>
                                  <m:ctrlPr>
                                    <a:rPr lang="en-US" b="0" i="1" dirty="0" smtClean="0">
                                      <a:solidFill>
                                        <a:prstClr val="black"/>
                                      </a:solidFill>
                                      <a:latin typeface="Cambria Math" panose="02040503050406030204" pitchFamily="18" charset="0"/>
                                    </a:rPr>
                                  </m:ctrlPr>
                                </m:accPr>
                                <m:e>
                                  <m:r>
                                    <m:rPr>
                                      <m:sty m:val="p"/>
                                    </m:rPr>
                                    <a:rPr lang="en-US" b="0" i="0" dirty="0" smtClean="0">
                                      <a:solidFill>
                                        <a:prstClr val="black"/>
                                      </a:solidFill>
                                      <a:latin typeface="Cambria Math" panose="02040503050406030204" pitchFamily="18" charset="0"/>
                                    </a:rPr>
                                    <m:t>Π</m:t>
                                  </m:r>
                                </m:e>
                              </m:acc>
                            </m:e>
                            <m:sub>
                              <m:sSub>
                                <m:sSubPr>
                                  <m:ctrlPr>
                                    <a:rPr lang="en-US" b="0" i="1" dirty="0" smtClean="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𝐴</m:t>
                                  </m:r>
                                </m:e>
                                <m:sub>
                                  <m:r>
                                    <a:rPr lang="en-US" b="0" i="1" dirty="0" smtClean="0">
                                      <a:solidFill>
                                        <a:prstClr val="black"/>
                                      </a:solidFill>
                                      <a:latin typeface="Cambria Math" panose="02040503050406030204" pitchFamily="18" charset="0"/>
                                    </a:rPr>
                                    <m:t>𝑗</m:t>
                                  </m:r>
                                </m:sub>
                              </m:sSub>
                            </m:sub>
                          </m:sSub>
                        </m:e>
                      </m:d>
                      <m:r>
                        <a:rPr lang="en-US" b="0" i="1" dirty="0" smtClean="0">
                          <a:solidFill>
                            <a:prstClr val="black"/>
                          </a:solidFill>
                          <a:latin typeface="Cambria Math" panose="02040503050406030204" pitchFamily="18" charset="0"/>
                        </a:rPr>
                        <m:t>=</m:t>
                      </m:r>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t>𝑡𝑟</m:t>
                      </m:r>
                      <m:d>
                        <m:dPr>
                          <m:ctrlP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ctrlPr>
                        </m:dPr>
                        <m:e>
                          <m:acc>
                            <m:accPr>
                              <m:chr m:val="̂"/>
                              <m:ctrlPr>
                                <a:rPr lang="en-US" b="0" i="1" dirty="0" smtClean="0">
                                  <a:solidFill>
                                    <a:prstClr val="black"/>
                                  </a:solidFill>
                                  <a:latin typeface="Cambria Math" panose="02040503050406030204" pitchFamily="18" charset="0"/>
                                </a:rPr>
                              </m:ctrlPr>
                            </m:accPr>
                            <m:e>
                              <m:r>
                                <a:rPr lang="en-US" b="0" i="1" dirty="0" smtClean="0">
                                  <a:solidFill>
                                    <a:prstClr val="black"/>
                                  </a:solidFill>
                                  <a:latin typeface="Cambria Math" panose="02040503050406030204" pitchFamily="18" charset="0"/>
                                </a:rPr>
                                <m:t>𝑈</m:t>
                              </m:r>
                            </m:e>
                          </m:acc>
                          <m:r>
                            <a:rPr lang="en-US" b="0" i="1" dirty="0" smtClean="0">
                              <a:solidFill>
                                <a:prstClr val="black"/>
                              </a:solidFill>
                              <a:latin typeface="Cambria Math" panose="02040503050406030204" pitchFamily="18" charset="0"/>
                            </a:rPr>
                            <m:t>(</m:t>
                          </m:r>
                          <m:r>
                            <a:rPr lang="en-US" b="0" i="1" dirty="0" smtClean="0">
                              <a:solidFill>
                                <a:prstClr val="black"/>
                              </a:solidFill>
                              <a:latin typeface="Cambria Math" panose="02040503050406030204" pitchFamily="18" charset="0"/>
                            </a:rPr>
                            <m:t>𝜏</m:t>
                          </m:r>
                          <m:r>
                            <a:rPr lang="en-US" b="0" i="1" dirty="0" smtClean="0">
                              <a:solidFill>
                                <a:prstClr val="black"/>
                              </a:solidFill>
                              <a:latin typeface="Cambria Math" panose="02040503050406030204" pitchFamily="18" charset="0"/>
                            </a:rPr>
                            <m:t>, </m:t>
                          </m:r>
                          <m:sSub>
                            <m:sSubPr>
                              <m:ctrlPr>
                                <a:rPr lang="en-US" b="0" i="1" dirty="0" smtClean="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𝜏</m:t>
                              </m:r>
                            </m:e>
                            <m:sub>
                              <m:r>
                                <a:rPr lang="en-US" b="0" i="1" dirty="0" smtClean="0">
                                  <a:solidFill>
                                    <a:prstClr val="black"/>
                                  </a:solidFill>
                                  <a:latin typeface="Cambria Math" panose="02040503050406030204" pitchFamily="18" charset="0"/>
                                </a:rPr>
                                <m:t>0</m:t>
                              </m:r>
                            </m:sub>
                          </m:sSub>
                          <m:r>
                            <a:rPr lang="en-US" b="0" i="1" dirty="0" smtClean="0">
                              <a:solidFill>
                                <a:prstClr val="black"/>
                              </a:solidFill>
                              <a:latin typeface="Cambria Math" panose="02040503050406030204" pitchFamily="18" charset="0"/>
                            </a:rPr>
                            <m:t>)</m:t>
                          </m:r>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t> </m:t>
                          </m:r>
                          <m:r>
                            <a:rPr lang="en-US" b="0" i="1" dirty="0" smtClean="0">
                              <a:solidFill>
                                <a:prstClr val="black"/>
                              </a:solidFill>
                              <a:latin typeface="Cambria Math" panose="02040503050406030204" pitchFamily="18" charset="0"/>
                            </a:rPr>
                            <m:t>|</m:t>
                          </m:r>
                          <m:sSub>
                            <m:sSubPr>
                              <m:ctrlPr>
                                <a:rPr lang="en-US" sz="1200" b="0" i="1" dirty="0" smtClean="0">
                                  <a:latin typeface="Cambria Math" panose="02040503050406030204" pitchFamily="18" charset="0"/>
                                </a:rPr>
                              </m:ctrlPr>
                            </m:sSubPr>
                            <m:e>
                              <m:r>
                                <a:rPr lang="en-US" sz="1200" b="0" i="1" dirty="0" smtClean="0">
                                  <a:latin typeface="Cambria Math" panose="02040503050406030204" pitchFamily="18" charset="0"/>
                                </a:rPr>
                                <m:t>𝑆</m:t>
                              </m:r>
                            </m:e>
                            <m:sub>
                              <m:r>
                                <a:rPr lang="en-US" sz="1200" b="0" i="1" dirty="0" smtClean="0">
                                  <a:latin typeface="Cambria Math" panose="02040503050406030204" pitchFamily="18" charset="0"/>
                                </a:rPr>
                                <m:t>𝑖</m:t>
                              </m:r>
                            </m:sub>
                          </m:sSub>
                          <m:r>
                            <a:rPr lang="en-US" sz="1200" b="0" i="1" dirty="0" smtClean="0">
                              <a:latin typeface="Cambria Math" panose="02040503050406030204" pitchFamily="18" charset="0"/>
                            </a:rPr>
                            <m:t>, </m:t>
                          </m:r>
                          <m:sSub>
                            <m:sSubPr>
                              <m:ctrlPr>
                                <a:rPr lang="en-US" sz="1200" b="0" i="1" dirty="0" smtClean="0">
                                  <a:latin typeface="Cambria Math" panose="02040503050406030204" pitchFamily="18" charset="0"/>
                                </a:rPr>
                              </m:ctrlPr>
                            </m:sSubPr>
                            <m:e>
                              <m:r>
                                <a:rPr lang="en-US" sz="1200" b="0" i="1" dirty="0" smtClean="0">
                                  <a:latin typeface="Cambria Math" panose="02040503050406030204" pitchFamily="18" charset="0"/>
                                </a:rPr>
                                <m:t>0</m:t>
                              </m:r>
                            </m:e>
                            <m:sub>
                              <m:r>
                                <a:rPr lang="en-US" sz="1200" b="0" i="1" dirty="0" smtClean="0">
                                  <a:latin typeface="Cambria Math" panose="02040503050406030204" pitchFamily="18" charset="0"/>
                                </a:rPr>
                                <m:t>𝑆</m:t>
                              </m:r>
                              <m:r>
                                <a:rPr lang="en-US" sz="1200" b="0" i="1" dirty="0" smtClean="0">
                                  <a:latin typeface="Cambria Math" panose="02040503050406030204" pitchFamily="18" charset="0"/>
                                </a:rPr>
                                <m:t>\</m:t>
                              </m:r>
                              <m:sSub>
                                <m:sSubPr>
                                  <m:ctrlPr>
                                    <a:rPr lang="en-US" sz="1200" b="0" i="1" dirty="0" smtClean="0">
                                      <a:latin typeface="Cambria Math" panose="02040503050406030204" pitchFamily="18" charset="0"/>
                                    </a:rPr>
                                  </m:ctrlPr>
                                </m:sSubPr>
                                <m:e>
                                  <m:r>
                                    <m:rPr>
                                      <m:sty m:val="p"/>
                                    </m:rPr>
                                    <a:rPr lang="en-US" sz="1200" b="0" i="1" dirty="0" smtClean="0">
                                      <a:latin typeface="Cambria Math" panose="02040503050406030204" pitchFamily="18" charset="0"/>
                                    </a:rPr>
                                    <m:t>S</m:t>
                                  </m:r>
                                </m:e>
                                <m:sub>
                                  <m:r>
                                    <a:rPr lang="en-US" sz="1200" b="0" i="1" dirty="0" smtClean="0">
                                      <a:latin typeface="Cambria Math" panose="02040503050406030204" pitchFamily="18" charset="0"/>
                                    </a:rPr>
                                    <m:t>𝑖</m:t>
                                  </m:r>
                                </m:sub>
                              </m:sSub>
                            </m:sub>
                          </m:sSub>
                          <m:r>
                            <a:rPr lang="en-US" sz="1200" b="0" i="1" dirty="0" smtClean="0">
                              <a:latin typeface="Cambria Math" panose="02040503050406030204" pitchFamily="18" charset="0"/>
                            </a:rPr>
                            <m:t>, </m:t>
                          </m:r>
                          <m:sSub>
                            <m:sSubPr>
                              <m:ctrlPr>
                                <a:rPr lang="en-US" sz="1200" b="0" i="1" dirty="0" smtClean="0">
                                  <a:latin typeface="Cambria Math" panose="02040503050406030204" pitchFamily="18" charset="0"/>
                                </a:rPr>
                              </m:ctrlPr>
                            </m:sSubPr>
                            <m:e>
                              <m:r>
                                <a:rPr lang="en-US" sz="1200" b="0" i="1" dirty="0" smtClean="0">
                                  <a:latin typeface="Cambria Math" panose="02040503050406030204" pitchFamily="18" charset="0"/>
                                </a:rPr>
                                <m:t>0</m:t>
                              </m:r>
                            </m:e>
                            <m:sub>
                              <m:r>
                                <a:rPr lang="en-US" sz="1200" b="0" i="1" dirty="0" smtClean="0">
                                  <a:latin typeface="Cambria Math" panose="02040503050406030204" pitchFamily="18" charset="0"/>
                                </a:rPr>
                                <m:t>𝐶</m:t>
                              </m:r>
                            </m:sub>
                          </m:sSub>
                          <m:r>
                            <a:rPr lang="en-US" sz="1200" b="0" i="1" dirty="0" smtClean="0">
                              <a:latin typeface="Cambria Math" panose="02040503050406030204" pitchFamily="18" charset="0"/>
                            </a:rPr>
                            <m:t>, </m:t>
                          </m:r>
                          <m:sSub>
                            <m:sSubPr>
                              <m:ctrlPr>
                                <a:rPr lang="en-US" sz="1200" b="0" i="1" dirty="0" smtClean="0">
                                  <a:latin typeface="Cambria Math" panose="02040503050406030204" pitchFamily="18" charset="0"/>
                                </a:rPr>
                              </m:ctrlPr>
                            </m:sSubPr>
                            <m:e>
                              <m:r>
                                <a:rPr lang="en-US" sz="1200" b="0" i="1" dirty="0" smtClean="0">
                                  <a:latin typeface="Cambria Math" panose="02040503050406030204" pitchFamily="18" charset="0"/>
                                </a:rPr>
                                <m:t>0</m:t>
                              </m:r>
                            </m:e>
                            <m:sub>
                              <m:r>
                                <a:rPr lang="en-US" sz="1200" b="0" i="1" dirty="0" smtClean="0">
                                  <a:latin typeface="Cambria Math" panose="02040503050406030204" pitchFamily="18" charset="0"/>
                                </a:rPr>
                                <m:t>𝐴</m:t>
                              </m:r>
                            </m:sub>
                          </m:sSub>
                          <m:r>
                            <a:rPr lang="en-US" b="0" i="1" dirty="0" smtClean="0">
                              <a:solidFill>
                                <a:prstClr val="black"/>
                              </a:solidFill>
                              <a:latin typeface="Cambria Math" panose="02040503050406030204" pitchFamily="18" charset="0"/>
                            </a:rPr>
                            <m:t>⟩⟨</m:t>
                          </m:r>
                          <m:sSub>
                            <m:sSubPr>
                              <m:ctrlPr>
                                <a:rPr lang="en-US" sz="1200" b="0" i="1" dirty="0" smtClean="0">
                                  <a:latin typeface="Cambria Math" panose="02040503050406030204" pitchFamily="18" charset="0"/>
                                </a:rPr>
                              </m:ctrlPr>
                            </m:sSubPr>
                            <m:e>
                              <m:r>
                                <a:rPr lang="en-US" sz="1200" b="0" i="1" dirty="0" smtClean="0">
                                  <a:latin typeface="Cambria Math" panose="02040503050406030204" pitchFamily="18" charset="0"/>
                                </a:rPr>
                                <m:t>𝑆</m:t>
                              </m:r>
                            </m:e>
                            <m:sub>
                              <m:r>
                                <a:rPr lang="en-US" sz="1200" b="0" i="1" dirty="0" smtClean="0">
                                  <a:latin typeface="Cambria Math" panose="02040503050406030204" pitchFamily="18" charset="0"/>
                                </a:rPr>
                                <m:t>𝑖</m:t>
                              </m:r>
                            </m:sub>
                          </m:sSub>
                          <m:r>
                            <a:rPr lang="en-US" sz="1200" b="0" i="1" dirty="0" smtClean="0">
                              <a:latin typeface="Cambria Math" panose="02040503050406030204" pitchFamily="18" charset="0"/>
                            </a:rPr>
                            <m:t>, </m:t>
                          </m:r>
                          <m:sSub>
                            <m:sSubPr>
                              <m:ctrlPr>
                                <a:rPr lang="en-US" sz="1200" b="0" i="1" dirty="0" smtClean="0">
                                  <a:latin typeface="Cambria Math" panose="02040503050406030204" pitchFamily="18" charset="0"/>
                                </a:rPr>
                              </m:ctrlPr>
                            </m:sSubPr>
                            <m:e>
                              <m:r>
                                <a:rPr lang="en-US" sz="1200" b="0" i="1" dirty="0" smtClean="0">
                                  <a:latin typeface="Cambria Math" panose="02040503050406030204" pitchFamily="18" charset="0"/>
                                </a:rPr>
                                <m:t>0</m:t>
                              </m:r>
                            </m:e>
                            <m:sub>
                              <m:r>
                                <a:rPr lang="en-US" sz="1200" b="0" i="1" dirty="0" smtClean="0">
                                  <a:latin typeface="Cambria Math" panose="02040503050406030204" pitchFamily="18" charset="0"/>
                                </a:rPr>
                                <m:t>𝑆</m:t>
                              </m:r>
                              <m:r>
                                <a:rPr lang="en-US" sz="1200" b="0" i="1" dirty="0" smtClean="0">
                                  <a:latin typeface="Cambria Math" panose="02040503050406030204" pitchFamily="18" charset="0"/>
                                </a:rPr>
                                <m:t>\</m:t>
                              </m:r>
                              <m:sSub>
                                <m:sSubPr>
                                  <m:ctrlPr>
                                    <a:rPr lang="en-US" sz="1200" b="0" i="1" dirty="0" smtClean="0">
                                      <a:latin typeface="Cambria Math" panose="02040503050406030204" pitchFamily="18" charset="0"/>
                                    </a:rPr>
                                  </m:ctrlPr>
                                </m:sSubPr>
                                <m:e>
                                  <m:r>
                                    <m:rPr>
                                      <m:sty m:val="p"/>
                                    </m:rPr>
                                    <a:rPr lang="en-US" sz="1200" b="0" i="1" dirty="0" smtClean="0">
                                      <a:latin typeface="Cambria Math" panose="02040503050406030204" pitchFamily="18" charset="0"/>
                                    </a:rPr>
                                    <m:t>S</m:t>
                                  </m:r>
                                </m:e>
                                <m:sub>
                                  <m:r>
                                    <a:rPr lang="en-US" sz="1200" b="0" i="1" dirty="0" smtClean="0">
                                      <a:latin typeface="Cambria Math" panose="02040503050406030204" pitchFamily="18" charset="0"/>
                                    </a:rPr>
                                    <m:t>𝑖</m:t>
                                  </m:r>
                                </m:sub>
                              </m:sSub>
                            </m:sub>
                          </m:sSub>
                          <m:r>
                            <a:rPr lang="en-US" sz="1200" b="0" i="1" dirty="0" smtClean="0">
                              <a:latin typeface="Cambria Math" panose="02040503050406030204" pitchFamily="18" charset="0"/>
                            </a:rPr>
                            <m:t>, </m:t>
                          </m:r>
                          <m:sSub>
                            <m:sSubPr>
                              <m:ctrlPr>
                                <a:rPr lang="en-US" sz="1200" b="0" i="1" dirty="0" smtClean="0">
                                  <a:latin typeface="Cambria Math" panose="02040503050406030204" pitchFamily="18" charset="0"/>
                                </a:rPr>
                              </m:ctrlPr>
                            </m:sSubPr>
                            <m:e>
                              <m:r>
                                <a:rPr lang="en-US" sz="1200" b="0" i="1" dirty="0" smtClean="0">
                                  <a:latin typeface="Cambria Math" panose="02040503050406030204" pitchFamily="18" charset="0"/>
                                </a:rPr>
                                <m:t>0</m:t>
                              </m:r>
                            </m:e>
                            <m:sub>
                              <m:r>
                                <a:rPr lang="en-US" sz="1200" b="0" i="1" dirty="0" smtClean="0">
                                  <a:latin typeface="Cambria Math" panose="02040503050406030204" pitchFamily="18" charset="0"/>
                                </a:rPr>
                                <m:t>𝐶</m:t>
                              </m:r>
                            </m:sub>
                          </m:sSub>
                          <m:r>
                            <a:rPr lang="en-US" sz="1200" b="0" i="1" dirty="0" smtClean="0">
                              <a:latin typeface="Cambria Math" panose="02040503050406030204" pitchFamily="18" charset="0"/>
                            </a:rPr>
                            <m:t>, </m:t>
                          </m:r>
                          <m:sSub>
                            <m:sSubPr>
                              <m:ctrlPr>
                                <a:rPr lang="en-US" sz="1200" b="0" i="1" dirty="0" smtClean="0">
                                  <a:latin typeface="Cambria Math" panose="02040503050406030204" pitchFamily="18" charset="0"/>
                                </a:rPr>
                              </m:ctrlPr>
                            </m:sSubPr>
                            <m:e>
                              <m:r>
                                <a:rPr lang="en-US" sz="1200" b="0" i="1" dirty="0" smtClean="0">
                                  <a:latin typeface="Cambria Math" panose="02040503050406030204" pitchFamily="18" charset="0"/>
                                </a:rPr>
                                <m:t>0</m:t>
                              </m:r>
                            </m:e>
                            <m:sub>
                              <m:r>
                                <a:rPr lang="en-US" sz="1200" b="0" i="1" dirty="0" smtClean="0">
                                  <a:latin typeface="Cambria Math" panose="02040503050406030204" pitchFamily="18" charset="0"/>
                                </a:rPr>
                                <m:t>𝐴</m:t>
                              </m:r>
                            </m:sub>
                          </m:sSub>
                          <m:r>
                            <a:rPr lang="en-US" b="0" i="1" dirty="0" smtClean="0">
                              <a:solidFill>
                                <a:prstClr val="black"/>
                              </a:solidFill>
                              <a:latin typeface="Cambria Math" panose="02040503050406030204" pitchFamily="18" charset="0"/>
                            </a:rPr>
                            <m:t>|</m:t>
                          </m:r>
                          <m:sSup>
                            <m:sSupPr>
                              <m:ctrlP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ctrlPr>
                            </m:sSupPr>
                            <m:e>
                              <m:acc>
                                <m:accPr>
                                  <m:chr m:val="̂"/>
                                  <m:ctrlP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ctrlPr>
                                </m:accPr>
                                <m:e>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t>𝑈</m:t>
                                  </m:r>
                                </m:e>
                              </m:acc>
                            </m:e>
                            <m:sup>
                              <m:r>
                                <a:rPr lang="en-US" i="1" dirty="0" smtClean="0">
                                  <a:solidFill>
                                    <a:prstClr val="black"/>
                                  </a:solidFill>
                                  <a:latin typeface="Cambria Math" panose="02040503050406030204" pitchFamily="18" charset="0"/>
                                  <a:ea typeface="Cambria Math" panose="02040503050406030204" pitchFamily="18" charset="0"/>
                                </a:rPr>
                                <m:t>†</m:t>
                              </m:r>
                            </m:sup>
                          </m:sSup>
                          <m:d>
                            <m:dPr>
                              <m:ctrlPr>
                                <a:rPr lang="en-US" b="0" i="1" dirty="0" smtClean="0">
                                  <a:solidFill>
                                    <a:prstClr val="black"/>
                                  </a:solidFill>
                                  <a:latin typeface="Cambria Math" panose="02040503050406030204" pitchFamily="18" charset="0"/>
                                  <a:ea typeface="Cambria Math" panose="02040503050406030204" pitchFamily="18" charset="0"/>
                                </a:rPr>
                              </m:ctrlPr>
                            </m:dPr>
                            <m:e>
                              <m:r>
                                <a:rPr lang="en-US" b="0" i="1" dirty="0" smtClean="0">
                                  <a:solidFill>
                                    <a:prstClr val="black"/>
                                  </a:solidFill>
                                  <a:latin typeface="Cambria Math" panose="02040503050406030204" pitchFamily="18" charset="0"/>
                                </a:rPr>
                                <m:t>𝜏</m:t>
                              </m:r>
                              <m:r>
                                <a:rPr lang="en-US" b="0" i="1" dirty="0" smtClean="0">
                                  <a:solidFill>
                                    <a:prstClr val="black"/>
                                  </a:solidFill>
                                  <a:latin typeface="Cambria Math" panose="02040503050406030204" pitchFamily="18" charset="0"/>
                                </a:rPr>
                                <m:t>, </m:t>
                              </m:r>
                              <m:sSub>
                                <m:sSubPr>
                                  <m:ctrlPr>
                                    <a:rPr lang="en-US" b="0" i="1" dirty="0" smtClean="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𝜏</m:t>
                                  </m:r>
                                </m:e>
                                <m:sub>
                                  <m:r>
                                    <a:rPr lang="en-US" b="0" i="1" dirty="0" smtClean="0">
                                      <a:solidFill>
                                        <a:prstClr val="black"/>
                                      </a:solidFill>
                                      <a:latin typeface="Cambria Math" panose="02040503050406030204" pitchFamily="18" charset="0"/>
                                    </a:rPr>
                                    <m:t>0</m:t>
                                  </m:r>
                                </m:sub>
                              </m:sSub>
                            </m:e>
                          </m:d>
                          <m:sSub>
                            <m:sSubPr>
                              <m:ctrlPr>
                                <a:rPr lang="en-US" b="0" i="1" dirty="0" smtClean="0">
                                  <a:solidFill>
                                    <a:prstClr val="black"/>
                                  </a:solidFill>
                                  <a:latin typeface="Cambria Math" panose="02040503050406030204" pitchFamily="18" charset="0"/>
                                </a:rPr>
                              </m:ctrlPr>
                            </m:sSubPr>
                            <m:e>
                              <m:acc>
                                <m:accPr>
                                  <m:chr m:val="̂"/>
                                  <m:ctrlPr>
                                    <a:rPr lang="en-US" b="0" i="1" dirty="0" smtClean="0">
                                      <a:solidFill>
                                        <a:prstClr val="black"/>
                                      </a:solidFill>
                                      <a:latin typeface="Cambria Math" panose="02040503050406030204" pitchFamily="18" charset="0"/>
                                    </a:rPr>
                                  </m:ctrlPr>
                                </m:accPr>
                                <m:e>
                                  <m:r>
                                    <m:rPr>
                                      <m:sty m:val="p"/>
                                    </m:rPr>
                                    <a:rPr lang="en-US" b="0" i="0" dirty="0" smtClean="0">
                                      <a:solidFill>
                                        <a:prstClr val="black"/>
                                      </a:solidFill>
                                      <a:latin typeface="Cambria Math" panose="02040503050406030204" pitchFamily="18" charset="0"/>
                                    </a:rPr>
                                    <m:t>Π</m:t>
                                  </m:r>
                                </m:e>
                              </m:acc>
                            </m:e>
                            <m:sub>
                              <m:sSub>
                                <m:sSubPr>
                                  <m:ctrlPr>
                                    <a:rPr lang="en-US" b="0" i="1" dirty="0" smtClean="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𝐴</m:t>
                                  </m:r>
                                </m:e>
                                <m:sub>
                                  <m:r>
                                    <a:rPr lang="en-US" b="0" i="1" dirty="0" smtClean="0">
                                      <a:solidFill>
                                        <a:prstClr val="black"/>
                                      </a:solidFill>
                                      <a:latin typeface="Cambria Math" panose="02040503050406030204" pitchFamily="18" charset="0"/>
                                    </a:rPr>
                                    <m:t>𝑗</m:t>
                                  </m:r>
                                </m:sub>
                              </m:sSub>
                            </m:sub>
                          </m:sSub>
                        </m:e>
                      </m:d>
                      <m:r>
                        <a:rPr lang="en-US" b="0" i="1" dirty="0" smtClean="0">
                          <a:solidFill>
                            <a:prstClr val="black"/>
                          </a:solidFill>
                          <a:latin typeface="Cambria Math" panose="02040503050406030204" pitchFamily="18" charset="0"/>
                        </a:rPr>
                        <m:t>=</m:t>
                      </m:r>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t>𝑡𝑟</m:t>
                      </m:r>
                      <m:d>
                        <m:dPr>
                          <m:ctrlP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ctrlPr>
                        </m:dPr>
                        <m:e>
                          <m:acc>
                            <m:accPr>
                              <m:chr m:val="̂"/>
                              <m:ctrlPr>
                                <a:rPr lang="en-US" b="0" i="1" dirty="0" smtClean="0">
                                  <a:solidFill>
                                    <a:prstClr val="black"/>
                                  </a:solidFill>
                                  <a:latin typeface="Cambria Math" panose="02040503050406030204" pitchFamily="18" charset="0"/>
                                </a:rPr>
                              </m:ctrlPr>
                            </m:accPr>
                            <m:e>
                              <m:r>
                                <a:rPr lang="en-US" b="0" i="1" dirty="0" smtClean="0">
                                  <a:solidFill>
                                    <a:prstClr val="black"/>
                                  </a:solidFill>
                                  <a:latin typeface="Cambria Math" panose="02040503050406030204" pitchFamily="18" charset="0"/>
                                </a:rPr>
                                <m:t>𝑈</m:t>
                              </m:r>
                            </m:e>
                          </m:acc>
                          <m:r>
                            <a:rPr lang="en-US" b="0" i="1" dirty="0" smtClean="0">
                              <a:solidFill>
                                <a:prstClr val="black"/>
                              </a:solidFill>
                              <a:latin typeface="Cambria Math" panose="02040503050406030204" pitchFamily="18" charset="0"/>
                            </a:rPr>
                            <m:t>(</m:t>
                          </m:r>
                          <m:r>
                            <a:rPr lang="en-US" b="0" i="1" dirty="0" smtClean="0">
                              <a:solidFill>
                                <a:prstClr val="black"/>
                              </a:solidFill>
                              <a:latin typeface="Cambria Math" panose="02040503050406030204" pitchFamily="18" charset="0"/>
                            </a:rPr>
                            <m:t>𝜏</m:t>
                          </m:r>
                          <m:r>
                            <a:rPr lang="en-US" b="0" i="1" dirty="0" smtClean="0">
                              <a:solidFill>
                                <a:prstClr val="black"/>
                              </a:solidFill>
                              <a:latin typeface="Cambria Math" panose="02040503050406030204" pitchFamily="18" charset="0"/>
                            </a:rPr>
                            <m:t>, </m:t>
                          </m:r>
                          <m:sSub>
                            <m:sSubPr>
                              <m:ctrlPr>
                                <a:rPr lang="en-US" b="0" i="1" dirty="0" smtClean="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𝜏</m:t>
                              </m:r>
                            </m:e>
                            <m:sub>
                              <m:r>
                                <a:rPr lang="en-US" b="0" i="1" dirty="0" smtClean="0">
                                  <a:solidFill>
                                    <a:prstClr val="black"/>
                                  </a:solidFill>
                                  <a:latin typeface="Cambria Math" panose="02040503050406030204" pitchFamily="18" charset="0"/>
                                </a:rPr>
                                <m:t>0</m:t>
                              </m:r>
                            </m:sub>
                          </m:sSub>
                          <m:r>
                            <a:rPr lang="en-US" b="0" i="1" dirty="0" smtClean="0">
                              <a:solidFill>
                                <a:prstClr val="black"/>
                              </a:solidFill>
                              <a:latin typeface="Cambria Math" panose="02040503050406030204" pitchFamily="18" charset="0"/>
                            </a:rPr>
                            <m:t>)</m:t>
                          </m:r>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t> </m:t>
                          </m:r>
                          <m:sSubSup>
                            <m:sSubSupPr>
                              <m:ctrlPr>
                                <a:rPr lang="en-US" b="0" i="1" dirty="0" smtClean="0">
                                  <a:solidFill>
                                    <a:prstClr val="black"/>
                                  </a:solidFill>
                                  <a:latin typeface="Cambria Math" panose="02040503050406030204" pitchFamily="18" charset="0"/>
                                </a:rPr>
                              </m:ctrlPr>
                            </m:sSubSupPr>
                            <m:e>
                              <m:acc>
                                <m:accPr>
                                  <m:chr m:val="̂"/>
                                  <m:ctrlPr>
                                    <a:rPr lang="en-US" b="0" i="1" dirty="0" smtClean="0">
                                      <a:solidFill>
                                        <a:prstClr val="black"/>
                                      </a:solidFill>
                                      <a:latin typeface="Cambria Math" panose="02040503050406030204" pitchFamily="18" charset="0"/>
                                    </a:rPr>
                                  </m:ctrlPr>
                                </m:accPr>
                                <m:e>
                                  <m:r>
                                    <m:rPr>
                                      <m:sty m:val="p"/>
                                    </m:rPr>
                                    <a:rPr lang="en-US" b="0" i="0" dirty="0" smtClean="0">
                                      <a:solidFill>
                                        <a:prstClr val="black"/>
                                      </a:solidFill>
                                      <a:latin typeface="Cambria Math" panose="02040503050406030204" pitchFamily="18" charset="0"/>
                                    </a:rPr>
                                    <m:t>Ω</m:t>
                                  </m:r>
                                </m:e>
                              </m:acc>
                            </m:e>
                            <m:sub>
                              <m:sSub>
                                <m:sSubPr>
                                  <m:ctrlPr>
                                    <a:rPr lang="en-US" b="0" i="1" dirty="0" smtClean="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𝑆</m:t>
                                  </m:r>
                                </m:e>
                                <m:sub>
                                  <m:r>
                                    <a:rPr lang="en-US" b="0" i="1" dirty="0" smtClean="0">
                                      <a:solidFill>
                                        <a:prstClr val="black"/>
                                      </a:solidFill>
                                      <a:latin typeface="Cambria Math" panose="02040503050406030204" pitchFamily="18" charset="0"/>
                                    </a:rPr>
                                    <m:t>𝑖</m:t>
                                  </m:r>
                                </m:sub>
                              </m:sSub>
                            </m:sub>
                            <m:sup>
                              <m:r>
                                <a:rPr lang="en-US" i="1" dirty="0" smtClean="0">
                                  <a:solidFill>
                                    <a:prstClr val="black"/>
                                  </a:solidFill>
                                  <a:latin typeface="Cambria Math" panose="02040503050406030204" pitchFamily="18" charset="0"/>
                                  <a:ea typeface="Cambria Math" panose="02040503050406030204" pitchFamily="18" charset="0"/>
                                </a:rPr>
                                <m:t>†</m:t>
                              </m:r>
                            </m:sup>
                          </m:sSubSup>
                          <m:r>
                            <a:rPr lang="en-US" b="0" i="1" dirty="0" smtClean="0">
                              <a:solidFill>
                                <a:prstClr val="black"/>
                              </a:solidFill>
                              <a:latin typeface="Cambria Math" panose="02040503050406030204" pitchFamily="18" charset="0"/>
                            </a:rPr>
                            <m:t>|</m:t>
                          </m:r>
                          <m:r>
                            <a:rPr lang="en-US" b="0" i="1" dirty="0" smtClean="0">
                              <a:solidFill>
                                <a:prstClr val="black"/>
                              </a:solidFill>
                              <a:latin typeface="Cambria Math" panose="02040503050406030204" pitchFamily="18" charset="0"/>
                            </a:rPr>
                            <m:t>𝑣𝑎𝑐</m:t>
                          </m:r>
                          <m:r>
                            <a:rPr lang="en-US" b="0" i="1" dirty="0" smtClean="0">
                              <a:solidFill>
                                <a:prstClr val="black"/>
                              </a:solidFill>
                              <a:latin typeface="Cambria Math" panose="02040503050406030204" pitchFamily="18" charset="0"/>
                            </a:rPr>
                            <m:t>⟩⟨</m:t>
                          </m:r>
                          <m:r>
                            <a:rPr lang="en-US" b="0" i="1" dirty="0" smtClean="0">
                              <a:solidFill>
                                <a:prstClr val="black"/>
                              </a:solidFill>
                              <a:latin typeface="Cambria Math" panose="02040503050406030204" pitchFamily="18" charset="0"/>
                            </a:rPr>
                            <m:t>𝑣𝑎𝑐</m:t>
                          </m:r>
                          <m:r>
                            <a:rPr lang="en-US" b="0" i="1" dirty="0" smtClean="0">
                              <a:solidFill>
                                <a:prstClr val="black"/>
                              </a:solidFill>
                              <a:latin typeface="Cambria Math" panose="02040503050406030204" pitchFamily="18" charset="0"/>
                            </a:rPr>
                            <m:t>|</m:t>
                          </m:r>
                          <m:sSub>
                            <m:sSubPr>
                              <m:ctrlPr>
                                <a:rPr lang="en-US" b="0" i="1" dirty="0" smtClean="0">
                                  <a:solidFill>
                                    <a:prstClr val="black"/>
                                  </a:solidFill>
                                  <a:latin typeface="Cambria Math" panose="02040503050406030204" pitchFamily="18" charset="0"/>
                                  <a:ea typeface="Cambria Math" panose="02040503050406030204" pitchFamily="18" charset="0"/>
                                </a:rPr>
                              </m:ctrlPr>
                            </m:sSubPr>
                            <m:e>
                              <m:acc>
                                <m:accPr>
                                  <m:chr m:val="̂"/>
                                  <m:ctrlPr>
                                    <a:rPr lang="en-US" i="1" dirty="0" smtClean="0">
                                      <a:solidFill>
                                        <a:prstClr val="black"/>
                                      </a:solidFill>
                                      <a:latin typeface="Cambria Math" panose="02040503050406030204" pitchFamily="18" charset="0"/>
                                    </a:rPr>
                                  </m:ctrlPr>
                                </m:accPr>
                                <m:e>
                                  <m:r>
                                    <m:rPr>
                                      <m:sty m:val="p"/>
                                    </m:rPr>
                                    <a:rPr lang="en-US" b="0" i="0" dirty="0" smtClean="0">
                                      <a:solidFill>
                                        <a:prstClr val="black"/>
                                      </a:solidFill>
                                      <a:latin typeface="Cambria Math" panose="02040503050406030204" pitchFamily="18" charset="0"/>
                                    </a:rPr>
                                    <m:t>Ω</m:t>
                                  </m:r>
                                </m:e>
                              </m:acc>
                            </m:e>
                            <m:sub>
                              <m:sSub>
                                <m:sSubPr>
                                  <m:ctrlPr>
                                    <a:rPr lang="en-US" b="0" i="1" dirty="0" smtClean="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𝑆</m:t>
                                  </m:r>
                                </m:e>
                                <m:sub>
                                  <m:r>
                                    <a:rPr lang="en-US" b="0" i="1" dirty="0" smtClean="0">
                                      <a:solidFill>
                                        <a:prstClr val="black"/>
                                      </a:solidFill>
                                      <a:latin typeface="Cambria Math" panose="02040503050406030204" pitchFamily="18" charset="0"/>
                                    </a:rPr>
                                    <m:t>𝑖</m:t>
                                  </m:r>
                                </m:sub>
                              </m:sSub>
                            </m:sub>
                          </m:sSub>
                          <m:sSup>
                            <m:sSupPr>
                              <m:ctrlP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ctrlPr>
                            </m:sSupPr>
                            <m:e>
                              <m:acc>
                                <m:accPr>
                                  <m:chr m:val="̂"/>
                                  <m:ctrlP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ctrlPr>
                                </m:accPr>
                                <m:e>
                                  <m:r>
                                    <a:rPr kumimoji="0" lang="en-US" sz="1200" b="0" i="1" u="none" strike="noStrike" kern="1200" cap="none" spc="0" normalizeH="0" baseline="0" noProof="0" dirty="0" smtClean="0">
                                      <a:ln>
                                        <a:noFill/>
                                      </a:ln>
                                      <a:solidFill>
                                        <a:prstClr val="black"/>
                                      </a:solidFill>
                                      <a:effectLst/>
                                      <a:uLnTx/>
                                      <a:uFillTx/>
                                      <a:latin typeface="Cambria Math" panose="02040503050406030204" pitchFamily="18" charset="0"/>
                                    </a:rPr>
                                    <m:t>𝑈</m:t>
                                  </m:r>
                                </m:e>
                              </m:acc>
                            </m:e>
                            <m:sup>
                              <m:r>
                                <a:rPr lang="en-US" i="1" dirty="0" smtClean="0">
                                  <a:solidFill>
                                    <a:prstClr val="black"/>
                                  </a:solidFill>
                                  <a:latin typeface="Cambria Math" panose="02040503050406030204" pitchFamily="18" charset="0"/>
                                  <a:ea typeface="Cambria Math" panose="02040503050406030204" pitchFamily="18" charset="0"/>
                                </a:rPr>
                                <m:t>†</m:t>
                              </m:r>
                            </m:sup>
                          </m:sSup>
                          <m:d>
                            <m:dPr>
                              <m:ctrlPr>
                                <a:rPr lang="en-US" b="0" i="1" dirty="0" smtClean="0">
                                  <a:solidFill>
                                    <a:prstClr val="black"/>
                                  </a:solidFill>
                                  <a:latin typeface="Cambria Math" panose="02040503050406030204" pitchFamily="18" charset="0"/>
                                  <a:ea typeface="Cambria Math" panose="02040503050406030204" pitchFamily="18" charset="0"/>
                                </a:rPr>
                              </m:ctrlPr>
                            </m:dPr>
                            <m:e>
                              <m:r>
                                <a:rPr lang="en-US" b="0" i="1" dirty="0" smtClean="0">
                                  <a:solidFill>
                                    <a:prstClr val="black"/>
                                  </a:solidFill>
                                  <a:latin typeface="Cambria Math" panose="02040503050406030204" pitchFamily="18" charset="0"/>
                                </a:rPr>
                                <m:t>𝜏</m:t>
                              </m:r>
                              <m:r>
                                <a:rPr lang="en-US" b="0" i="1" dirty="0" smtClean="0">
                                  <a:solidFill>
                                    <a:prstClr val="black"/>
                                  </a:solidFill>
                                  <a:latin typeface="Cambria Math" panose="02040503050406030204" pitchFamily="18" charset="0"/>
                                </a:rPr>
                                <m:t>, </m:t>
                              </m:r>
                              <m:sSub>
                                <m:sSubPr>
                                  <m:ctrlPr>
                                    <a:rPr lang="en-US" b="0" i="1" dirty="0" smtClean="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𝜏</m:t>
                                  </m:r>
                                </m:e>
                                <m:sub>
                                  <m:r>
                                    <a:rPr lang="en-US" b="0" i="1" dirty="0" smtClean="0">
                                      <a:solidFill>
                                        <a:prstClr val="black"/>
                                      </a:solidFill>
                                      <a:latin typeface="Cambria Math" panose="02040503050406030204" pitchFamily="18" charset="0"/>
                                    </a:rPr>
                                    <m:t>0</m:t>
                                  </m:r>
                                </m:sub>
                              </m:sSub>
                            </m:e>
                          </m:d>
                          <m:sSub>
                            <m:sSubPr>
                              <m:ctrlPr>
                                <a:rPr lang="en-US" b="0" i="1" dirty="0" smtClean="0">
                                  <a:solidFill>
                                    <a:prstClr val="black"/>
                                  </a:solidFill>
                                  <a:latin typeface="Cambria Math" panose="02040503050406030204" pitchFamily="18" charset="0"/>
                                </a:rPr>
                              </m:ctrlPr>
                            </m:sSubPr>
                            <m:e>
                              <m:acc>
                                <m:accPr>
                                  <m:chr m:val="̂"/>
                                  <m:ctrlPr>
                                    <a:rPr lang="en-US" b="0" i="1" dirty="0" smtClean="0">
                                      <a:solidFill>
                                        <a:prstClr val="black"/>
                                      </a:solidFill>
                                      <a:latin typeface="Cambria Math" panose="02040503050406030204" pitchFamily="18" charset="0"/>
                                    </a:rPr>
                                  </m:ctrlPr>
                                </m:accPr>
                                <m:e>
                                  <m:r>
                                    <m:rPr>
                                      <m:sty m:val="p"/>
                                    </m:rPr>
                                    <a:rPr lang="en-US" b="0" i="0" dirty="0" smtClean="0">
                                      <a:solidFill>
                                        <a:prstClr val="black"/>
                                      </a:solidFill>
                                      <a:latin typeface="Cambria Math" panose="02040503050406030204" pitchFamily="18" charset="0"/>
                                    </a:rPr>
                                    <m:t>Π</m:t>
                                  </m:r>
                                </m:e>
                              </m:acc>
                            </m:e>
                            <m:sub>
                              <m:sSub>
                                <m:sSubPr>
                                  <m:ctrlPr>
                                    <a:rPr lang="en-US" b="0" i="1" dirty="0" smtClean="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𝐴</m:t>
                                  </m:r>
                                </m:e>
                                <m:sub>
                                  <m:r>
                                    <a:rPr lang="en-US" b="0" i="1" dirty="0" smtClean="0">
                                      <a:solidFill>
                                        <a:prstClr val="black"/>
                                      </a:solidFill>
                                      <a:latin typeface="Cambria Math" panose="02040503050406030204" pitchFamily="18" charset="0"/>
                                    </a:rPr>
                                    <m:t>𝑗</m:t>
                                  </m:r>
                                </m:sub>
                              </m:sSub>
                            </m:sub>
                          </m:sSub>
                        </m:e>
                      </m:d>
                    </m:oMath>
                  </m:oMathPara>
                </a14:m>
                <a:endParaRPr lang="en-CA" dirty="0"/>
              </a:p>
              <a:p>
                <a:r>
                  <a:rPr lang="en-CA" dirty="0"/>
                  <a:t>Where </a:t>
                </a:r>
                <a14:m>
                  <m:oMath xmlns:m="http://schemas.openxmlformats.org/officeDocument/2006/math">
                    <m:sSub>
                      <m:sSubPr>
                        <m:ctrlPr>
                          <a:rPr lang="en-US" b="0" i="1" smtClean="0">
                            <a:latin typeface="Cambria Math" panose="02040503050406030204" pitchFamily="18" charset="0"/>
                          </a:rPr>
                        </m:ctrlPr>
                      </m:sSubPr>
                      <m:e>
                        <m:acc>
                          <m:accPr>
                            <m:chr m:val="̂"/>
                            <m:ctrlPr>
                              <a:rPr lang="en-CA" i="1" smtClean="0">
                                <a:latin typeface="Cambria Math" panose="02040503050406030204" pitchFamily="18" charset="0"/>
                              </a:rPr>
                            </m:ctrlPr>
                          </m:accPr>
                          <m:e>
                            <m:r>
                              <m:rPr>
                                <m:sty m:val="p"/>
                              </m:rPr>
                              <a:rPr lang="en-US" b="0" i="0" smtClean="0">
                                <a:latin typeface="Cambria Math" panose="02040503050406030204" pitchFamily="18" charset="0"/>
                              </a:rPr>
                              <m:t>Π</m:t>
                            </m:r>
                          </m:e>
                        </m:acc>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𝑗</m:t>
                            </m:r>
                          </m:sub>
                        </m:sSub>
                      </m:sub>
                    </m:sSub>
                    <m:r>
                      <a:rPr lang="en-US" b="0" i="1" smtClean="0">
                        <a:latin typeface="Cambria Math" panose="02040503050406030204" pitchFamily="18" charset="0"/>
                      </a:rPr>
                      <m:t>=</m:t>
                    </m:r>
                    <m:sSubSup>
                      <m:sSubSupPr>
                        <m:ctrlPr>
                          <a:rPr lang="en-US" b="0" i="1" dirty="0" smtClean="0">
                            <a:solidFill>
                              <a:prstClr val="black"/>
                            </a:solidFill>
                            <a:latin typeface="Cambria Math" panose="02040503050406030204" pitchFamily="18" charset="0"/>
                          </a:rPr>
                        </m:ctrlPr>
                      </m:sSubSupPr>
                      <m:e>
                        <m:acc>
                          <m:accPr>
                            <m:chr m:val="̂"/>
                            <m:ctrlPr>
                              <a:rPr lang="en-US" b="0" i="1" dirty="0" smtClean="0">
                                <a:solidFill>
                                  <a:prstClr val="black"/>
                                </a:solidFill>
                                <a:latin typeface="Cambria Math" panose="02040503050406030204" pitchFamily="18" charset="0"/>
                              </a:rPr>
                            </m:ctrlPr>
                          </m:accPr>
                          <m:e>
                            <m:r>
                              <m:rPr>
                                <m:sty m:val="p"/>
                              </m:rPr>
                              <a:rPr lang="en-US" b="0" i="0" dirty="0" smtClean="0">
                                <a:solidFill>
                                  <a:prstClr val="black"/>
                                </a:solidFill>
                                <a:latin typeface="Cambria Math" panose="02040503050406030204" pitchFamily="18" charset="0"/>
                              </a:rPr>
                              <m:t>Ω</m:t>
                            </m:r>
                          </m:e>
                        </m:acc>
                      </m:e>
                      <m:sub>
                        <m:sSub>
                          <m:sSubPr>
                            <m:ctrlPr>
                              <a:rPr lang="en-US" b="0" i="1" dirty="0" smtClean="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𝐴</m:t>
                            </m:r>
                          </m:e>
                          <m:sub>
                            <m:r>
                              <a:rPr lang="en-US" b="0" i="1" dirty="0" smtClean="0">
                                <a:solidFill>
                                  <a:prstClr val="black"/>
                                </a:solidFill>
                                <a:latin typeface="Cambria Math" panose="02040503050406030204" pitchFamily="18" charset="0"/>
                              </a:rPr>
                              <m:t>𝑗</m:t>
                            </m:r>
                          </m:sub>
                        </m:sSub>
                      </m:sub>
                      <m:sup>
                        <m:r>
                          <a:rPr lang="en-US" i="1" dirty="0" smtClean="0">
                            <a:solidFill>
                              <a:prstClr val="black"/>
                            </a:solidFill>
                            <a:latin typeface="Cambria Math" panose="02040503050406030204" pitchFamily="18" charset="0"/>
                            <a:ea typeface="Cambria Math" panose="02040503050406030204" pitchFamily="18" charset="0"/>
                          </a:rPr>
                          <m:t>†</m:t>
                        </m:r>
                      </m:sup>
                    </m:sSubSup>
                    <m:r>
                      <a:rPr lang="en-US" b="0" i="1" dirty="0" smtClean="0">
                        <a:solidFill>
                          <a:prstClr val="black"/>
                        </a:solidFill>
                        <a:latin typeface="Cambria Math" panose="02040503050406030204" pitchFamily="18" charset="0"/>
                      </a:rPr>
                      <m:t>|</m:t>
                    </m:r>
                    <m:r>
                      <a:rPr lang="en-US" b="0" i="1" dirty="0" smtClean="0">
                        <a:solidFill>
                          <a:prstClr val="black"/>
                        </a:solidFill>
                        <a:latin typeface="Cambria Math" panose="02040503050406030204" pitchFamily="18" charset="0"/>
                      </a:rPr>
                      <m:t>𝑣𝑎𝑐</m:t>
                    </m:r>
                    <m:r>
                      <a:rPr lang="en-US" b="0" i="1" dirty="0" smtClean="0">
                        <a:solidFill>
                          <a:prstClr val="black"/>
                        </a:solidFill>
                        <a:latin typeface="Cambria Math" panose="02040503050406030204" pitchFamily="18" charset="0"/>
                      </a:rPr>
                      <m:t>⟩⟨</m:t>
                    </m:r>
                    <m:r>
                      <a:rPr lang="en-US" b="0" i="1" dirty="0" smtClean="0">
                        <a:solidFill>
                          <a:prstClr val="black"/>
                        </a:solidFill>
                        <a:latin typeface="Cambria Math" panose="02040503050406030204" pitchFamily="18" charset="0"/>
                      </a:rPr>
                      <m:t>𝑣𝑎𝑐</m:t>
                    </m:r>
                    <m:r>
                      <a:rPr lang="en-US" b="0" i="1" dirty="0" smtClean="0">
                        <a:solidFill>
                          <a:prstClr val="black"/>
                        </a:solidFill>
                        <a:latin typeface="Cambria Math" panose="02040503050406030204" pitchFamily="18" charset="0"/>
                      </a:rPr>
                      <m:t>|</m:t>
                    </m:r>
                    <m:sSub>
                      <m:sSubPr>
                        <m:ctrlPr>
                          <a:rPr lang="en-US" b="0" i="1" dirty="0" smtClean="0">
                            <a:solidFill>
                              <a:prstClr val="black"/>
                            </a:solidFill>
                            <a:latin typeface="Cambria Math" panose="02040503050406030204" pitchFamily="18" charset="0"/>
                            <a:ea typeface="Cambria Math" panose="02040503050406030204" pitchFamily="18" charset="0"/>
                          </a:rPr>
                        </m:ctrlPr>
                      </m:sSubPr>
                      <m:e>
                        <m:acc>
                          <m:accPr>
                            <m:chr m:val="̂"/>
                            <m:ctrlPr>
                              <a:rPr lang="en-US" i="1" dirty="0" smtClean="0">
                                <a:solidFill>
                                  <a:prstClr val="black"/>
                                </a:solidFill>
                                <a:latin typeface="Cambria Math" panose="02040503050406030204" pitchFamily="18" charset="0"/>
                              </a:rPr>
                            </m:ctrlPr>
                          </m:accPr>
                          <m:e>
                            <m:r>
                              <m:rPr>
                                <m:sty m:val="p"/>
                              </m:rPr>
                              <a:rPr lang="en-US" b="0" i="0" dirty="0" smtClean="0">
                                <a:solidFill>
                                  <a:prstClr val="black"/>
                                </a:solidFill>
                                <a:latin typeface="Cambria Math" panose="02040503050406030204" pitchFamily="18" charset="0"/>
                              </a:rPr>
                              <m:t>Ω</m:t>
                            </m:r>
                          </m:e>
                        </m:acc>
                      </m:e>
                      <m:sub>
                        <m:sSub>
                          <m:sSubPr>
                            <m:ctrlPr>
                              <a:rPr lang="en-US" b="0" i="1" dirty="0" smtClean="0">
                                <a:solidFill>
                                  <a:prstClr val="black"/>
                                </a:solidFill>
                                <a:latin typeface="Cambria Math" panose="02040503050406030204" pitchFamily="18" charset="0"/>
                              </a:rPr>
                            </m:ctrlPr>
                          </m:sSubPr>
                          <m:e>
                            <m:r>
                              <a:rPr lang="en-US" b="0" i="1" dirty="0" smtClean="0">
                                <a:solidFill>
                                  <a:prstClr val="black"/>
                                </a:solidFill>
                                <a:latin typeface="Cambria Math" panose="02040503050406030204" pitchFamily="18" charset="0"/>
                              </a:rPr>
                              <m:t>𝐴</m:t>
                            </m:r>
                          </m:e>
                          <m:sub>
                            <m:r>
                              <a:rPr lang="en-US" b="0" i="1" dirty="0" smtClean="0">
                                <a:solidFill>
                                  <a:prstClr val="black"/>
                                </a:solidFill>
                                <a:latin typeface="Cambria Math" panose="02040503050406030204" pitchFamily="18" charset="0"/>
                              </a:rPr>
                              <m:t>𝑗</m:t>
                            </m:r>
                          </m:sub>
                        </m:sSub>
                      </m:sub>
                    </m:sSub>
                  </m:oMath>
                </a14:m>
                <a:r>
                  <a:rPr lang="en-CA" dirty="0"/>
                  <a:t> is a projective measurement of the action modes corresponding to action hyperedge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𝑗</m:t>
                        </m:r>
                      </m:sub>
                    </m:sSub>
                  </m:oMath>
                </a14:m>
                <a:r>
                  <a:rPr lang="en-CA" dirty="0"/>
                  <a:t>. In practice however,</a:t>
                </a:r>
                <a:r>
                  <a:rPr lang="en-CA" baseline="0" dirty="0"/>
                  <a:t> one could just use the projector for all action modes and then couple out all the actions (or some subset of them; i.e. the subset generation that happens in </a:t>
                </a:r>
                <a:r>
                  <a:rPr lang="en-CA" baseline="0" dirty="0" err="1"/>
                  <a:t>mePS</a:t>
                </a:r>
                <a:r>
                  <a:rPr lang="en-CA" baseline="0" dirty="0"/>
                  <a:t>, but with some consistency constraints) that have nonzero excitations.</a:t>
                </a:r>
              </a:p>
              <a:p>
                <a:r>
                  <a:rPr lang="en-CA" baseline="0" dirty="0"/>
                  <a:t>	- How to decide which action hyperedges get coupled out? We can first apply consistency condition to punish and/or eliminate conflicting actions, then apply a probability distribution to all subsets of the remaining actions and sample one subset (basically another 2-layer PS).</a:t>
                </a:r>
              </a:p>
              <a:p>
                <a:r>
                  <a:rPr lang="en-CA" baseline="0" dirty="0"/>
                  <a:t>	- What to do when none of the measured modes are action modes? We can just reset the deliberation until we get action modes, or we can dilate the space with many copies of the actions so that action modes are guaranteed to be measured.</a:t>
                </a:r>
              </a:p>
              <a:p>
                <a:r>
                  <a:rPr lang="en-CA" baseline="0" dirty="0"/>
                  <a:t>	</a:t>
                </a:r>
                <a:endParaRPr lang="en-CA" dirty="0"/>
              </a:p>
              <a:p>
                <a:endParaRPr lang="en-CA" dirty="0"/>
              </a:p>
              <a:p>
                <a:r>
                  <a:rPr lang="en-CA" dirty="0"/>
                  <a:t>Can we teleport the chosen action states to a new state that is then the input for a circuit that represents the environment and then repeat this procedure but for the environment circuit so that we have quantum interactions only?</a:t>
                </a:r>
              </a:p>
            </p:txBody>
          </p:sp>
        </mc:Choice>
        <mc:Fallback xmlns="">
          <p:sp>
            <p:nvSpPr>
              <p:cNvPr id="3" name="Notes Placeholder 2"/>
              <p:cNvSpPr>
                <a:spLocks noGrp="1"/>
              </p:cNvSpPr>
              <p:nvPr>
                <p:ph type="body" idx="1"/>
              </p:nvPr>
            </p:nvSpPr>
            <p:spPr/>
            <p:txBody>
              <a:bodyPr/>
              <a:lstStyle/>
              <a:p>
                <a:pPr/>
                <a:r>
                  <a:rPr lang="en-CA" sz="1200" b="0" i="0" dirty="0">
                    <a:latin typeface="Cambria Math" panose="02040503050406030204" pitchFamily="18" charset="0"/>
                  </a:rPr>
                  <a:t>𝑉 ̂</a:t>
                </a:r>
                <a:r>
                  <a:rPr lang="en-CA" sz="1200" i="0" dirty="0">
                    <a:latin typeface="Cambria Math" panose="02040503050406030204" pitchFamily="18" charset="0"/>
                  </a:rPr>
                  <a:t>(</a:t>
                </a:r>
                <a:r>
                  <a:rPr lang="en-CA" sz="1200" b="0" i="0" dirty="0">
                    <a:latin typeface="Cambria Math" panose="02040503050406030204" pitchFamily="18" charset="0"/>
                  </a:rPr>
                  <a:t>𝜏, 𝜏_0 )</a:t>
                </a:r>
                <a:r>
                  <a:rPr lang="en-CA" sz="1200" i="0" dirty="0">
                    <a:latin typeface="Cambria Math" panose="02040503050406030204" pitchFamily="18" charset="0"/>
                  </a:rPr>
                  <a:t>=𝒯𝑒^(</a:t>
                </a:r>
                <a:r>
                  <a:rPr lang="en-CA" sz="1200" i="0" dirty="0" err="1">
                    <a:latin typeface="Cambria Math" panose="02040503050406030204" pitchFamily="18" charset="0"/>
                  </a:rPr>
                  <a:t>𝑖</a:t>
                </a:r>
                <a:r>
                  <a:rPr lang="en-CA" sz="1200" i="0" dirty="0">
                    <a:latin typeface="Cambria Math" panose="02040503050406030204" pitchFamily="18" charset="0"/>
                  </a:rPr>
                  <a:t>∫</a:t>
                </a:r>
                <a:r>
                  <a:rPr lang="en-CA" sz="1200" b="0" i="0" dirty="0">
                    <a:latin typeface="Cambria Math" panose="02040503050406030204" pitchFamily="18" charset="0"/>
                  </a:rPr>
                  <a:t>_(𝜏_0)^𝜏▒𝑑𝑡 (</a:t>
                </a:r>
                <a:r>
                  <a:rPr lang="en-CA" sz="1200" i="0" dirty="0">
                    <a:latin typeface="Cambria Math" panose="02040503050406030204" pitchFamily="18" charset="0"/>
                  </a:rPr>
                  <a:t>𝐻</a:t>
                </a:r>
                <a:r>
                  <a:rPr lang="en-CA" sz="1200" b="0" i="0" dirty="0">
                    <a:latin typeface="Cambria Math" panose="02040503050406030204" pitchFamily="18" charset="0"/>
                  </a:rPr>
                  <a:t>(𝑡) ) ̂ )=</a:t>
                </a:r>
                <a:r>
                  <a:rPr lang="pt-BR" sz="1200" b="0" i="0" dirty="0">
                    <a:latin typeface="Cambria Math" panose="02040503050406030204" pitchFamily="18" charset="0"/>
                  </a:rPr>
                  <a:t>lim┬(</a:t>
                </a:r>
                <a:r>
                  <a:rPr lang="en-CA" sz="1200" b="0" i="0" dirty="0">
                    <a:latin typeface="Cambria Math" panose="02040503050406030204" pitchFamily="18" charset="0"/>
                  </a:rPr>
                  <a:t>𝑁</a:t>
                </a:r>
                <a:r>
                  <a:rPr lang="pt-BR" sz="1200" b="0" i="0" dirty="0">
                    <a:latin typeface="Cambria Math" panose="02040503050406030204" pitchFamily="18" charset="0"/>
                  </a:rPr>
                  <a:t>→∞)⁡lim┬(</a:t>
                </a:r>
                <a:r>
                  <a:rPr lang="en-CA" sz="1200" b="0" i="0" dirty="0">
                    <a:latin typeface="Cambria Math" panose="02040503050406030204" pitchFamily="18" charset="0"/>
                  </a:rPr>
                  <a:t>𝑘→∞</a:t>
                </a:r>
                <a:r>
                  <a:rPr lang="pt-BR" sz="1200" b="0" i="0" dirty="0">
                    <a:latin typeface="Cambria Math" panose="02040503050406030204" pitchFamily="18" charset="0"/>
                  </a:rPr>
                  <a:t>)⁡∏</a:t>
                </a:r>
                <a:r>
                  <a:rPr lang="en-CA" sz="1200" b="0" i="0" dirty="0">
                    <a:latin typeface="Cambria Math" panose="02040503050406030204" pitchFamily="18" charset="0"/>
                  </a:rPr>
                  <a:t>_𝑛^𝑁▒</a:t>
                </a:r>
                <a:r>
                  <a:rPr lang="pt-BR" sz="1200" b="0" i="0" dirty="0">
                    <a:latin typeface="Cambria Math" panose="02040503050406030204" pitchFamily="18" charset="0"/>
                  </a:rPr>
                  <a:t>(</a:t>
                </a:r>
                <a:r>
                  <a:rPr lang="en-CA" sz="1200" b="0" i="0" dirty="0">
                    <a:latin typeface="Cambria Math" panose="02040503050406030204" pitchFamily="18" charset="0"/>
                  </a:rPr>
                  <a:t>𝐼</a:t>
                </a:r>
                <a:r>
                  <a:rPr lang="pt-BR" sz="1200" i="0" dirty="0">
                    <a:latin typeface="Cambria Math" panose="02040503050406030204" pitchFamily="18" charset="0"/>
                  </a:rPr>
                  <a:t>+</a:t>
                </a:r>
                <a:r>
                  <a:rPr lang="en-CA" sz="1200" b="0" i="0" dirty="0">
                    <a:latin typeface="Cambria Math" panose="02040503050406030204" pitchFamily="18" charset="0"/>
                  </a:rPr>
                  <a:t>𝑖</a:t>
                </a:r>
                <a:r>
                  <a:rPr lang="pt-BR" sz="1200" b="0" i="0" dirty="0">
                    <a:latin typeface="Cambria Math" panose="02040503050406030204" pitchFamily="18" charset="0"/>
                  </a:rPr>
                  <a:t>/</a:t>
                </a:r>
                <a:r>
                  <a:rPr lang="en-CA" sz="1200" b="0" i="0" dirty="0">
                    <a:latin typeface="Cambria Math" panose="02040503050406030204" pitchFamily="18" charset="0"/>
                  </a:rPr>
                  <a:t>𝑘</a:t>
                </a:r>
                <a:r>
                  <a:rPr lang="pt-BR" sz="1200" b="0" i="0" dirty="0">
                    <a:latin typeface="Cambria Math" panose="02040503050406030204" pitchFamily="18" charset="0"/>
                  </a:rPr>
                  <a:t> </a:t>
                </a:r>
                <a:r>
                  <a:rPr lang="en-CA" sz="1200" b="0" i="0" dirty="0">
                    <a:latin typeface="Cambria Math" panose="02040503050406030204" pitchFamily="18" charset="0"/>
                  </a:rPr>
                  <a:t>𝐻</a:t>
                </a:r>
                <a:r>
                  <a:rPr lang="pt-BR" sz="1200" b="0" i="0" dirty="0">
                    <a:latin typeface="Cambria Math" panose="02040503050406030204" pitchFamily="18" charset="0"/>
                  </a:rPr>
                  <a:t> ̂</a:t>
                </a:r>
                <a:r>
                  <a:rPr lang="en-CA" sz="1200" b="0" i="0" dirty="0">
                    <a:latin typeface="Cambria Math" panose="02040503050406030204" pitchFamily="18" charset="0"/>
                  </a:rPr>
                  <a:t>(𝑛𝑑</a:t>
                </a:r>
                <a:r>
                  <a:rPr lang="en-CA" sz="1200" i="0" dirty="0">
                    <a:latin typeface="Cambria Math" panose="02040503050406030204" pitchFamily="18" charset="0"/>
                  </a:rPr>
                  <a:t>𝑡)</a:t>
                </a:r>
                <a:r>
                  <a:rPr lang="en-CA" sz="1200" b="0" i="0" dirty="0">
                    <a:latin typeface="Cambria Math" panose="02040503050406030204" pitchFamily="18" charset="0"/>
                  </a:rPr>
                  <a:t>𝑑𝑡)^𝑘  </a:t>
                </a:r>
                <a:endParaRPr lang="en-CA" dirty="0"/>
              </a:p>
              <a:p>
                <a:pPr/>
                <a:r>
                  <a:rPr lang="en-CA" sz="1200" b="0" i="0" dirty="0">
                    <a:latin typeface="Cambria Math" panose="02040503050406030204" pitchFamily="18" charset="0"/>
                  </a:rPr>
                  <a:t>𝑉 ̂</a:t>
                </a:r>
                <a:r>
                  <a:rPr lang="en-CA" sz="1200" i="0" dirty="0">
                    <a:latin typeface="Cambria Math" panose="02040503050406030204" pitchFamily="18" charset="0"/>
                  </a:rPr>
                  <a:t>(</a:t>
                </a:r>
                <a:r>
                  <a:rPr lang="en-CA" sz="1200" i="0" dirty="0">
                    <a:latin typeface="Cambria Math" panose="02040503050406030204" pitchFamily="18" charset="0"/>
                    <a:ea typeface="Cambria Math" panose="02040503050406030204" pitchFamily="18" charset="0"/>
                  </a:rPr>
                  <a:t>∆</a:t>
                </a:r>
                <a:r>
                  <a:rPr lang="en-CA" sz="1200" i="0" dirty="0">
                    <a:latin typeface="Cambria Math" panose="02040503050406030204" pitchFamily="18" charset="0"/>
                  </a:rPr>
                  <a:t>𝑡)</a:t>
                </a:r>
                <a:r>
                  <a:rPr lang="en-CA" sz="1200" b="0" i="0" dirty="0">
                    <a:latin typeface="Cambria Math" panose="02040503050406030204" pitchFamily="18" charset="0"/>
                  </a:rPr>
                  <a:t>=</a:t>
                </a:r>
                <a:r>
                  <a:rPr lang="pt-BR" sz="1200" i="0" dirty="0">
                    <a:latin typeface="Cambria Math" panose="02040503050406030204" pitchFamily="18" charset="0"/>
                  </a:rPr>
                  <a:t>lim┬(</a:t>
                </a:r>
                <a:r>
                  <a:rPr lang="en-CA" sz="1200" i="0" dirty="0">
                    <a:latin typeface="Cambria Math" panose="02040503050406030204" pitchFamily="18" charset="0"/>
                  </a:rPr>
                  <a:t>𝑘→𝐾</a:t>
                </a:r>
                <a:r>
                  <a:rPr lang="pt-BR" sz="1200" i="0" dirty="0">
                    <a:latin typeface="Cambria Math" panose="02040503050406030204" pitchFamily="18" charset="0"/>
                  </a:rPr>
                  <a:t>)⁡〖(</a:t>
                </a:r>
                <a:r>
                  <a:rPr lang="en-CA" sz="1200" i="0" dirty="0">
                    <a:latin typeface="Cambria Math" panose="02040503050406030204" pitchFamily="18" charset="0"/>
                  </a:rPr>
                  <a:t>𝐼</a:t>
                </a:r>
                <a:r>
                  <a:rPr lang="pt-BR" sz="1200" i="0" dirty="0">
                    <a:latin typeface="Cambria Math" panose="02040503050406030204" pitchFamily="18" charset="0"/>
                  </a:rPr>
                  <a:t>+</a:t>
                </a:r>
                <a:r>
                  <a:rPr lang="en-CA" sz="1200" i="0" dirty="0">
                    <a:latin typeface="Cambria Math" panose="02040503050406030204" pitchFamily="18" charset="0"/>
                  </a:rPr>
                  <a:t>𝑖</a:t>
                </a:r>
                <a:r>
                  <a:rPr lang="en-CA" sz="1200" i="0" dirty="0">
                    <a:latin typeface="Cambria Math" panose="02040503050406030204" pitchFamily="18" charset="0"/>
                    <a:ea typeface="Cambria Math" panose="02040503050406030204" pitchFamily="18" charset="0"/>
                  </a:rPr>
                  <a:t>∆</a:t>
                </a:r>
                <a:r>
                  <a:rPr lang="en-CA" sz="1200" i="0" dirty="0">
                    <a:latin typeface="Cambria Math" panose="02040503050406030204" pitchFamily="18" charset="0"/>
                  </a:rPr>
                  <a:t>𝑡</a:t>
                </a:r>
                <a:r>
                  <a:rPr lang="pt-BR" sz="1200" i="0" dirty="0">
                    <a:latin typeface="Cambria Math" panose="02040503050406030204" pitchFamily="18" charset="0"/>
                  </a:rPr>
                  <a:t>/</a:t>
                </a:r>
                <a:r>
                  <a:rPr lang="en-CA" sz="1200" i="0" dirty="0">
                    <a:latin typeface="Cambria Math" panose="02040503050406030204" pitchFamily="18" charset="0"/>
                  </a:rPr>
                  <a:t>𝑘</a:t>
                </a:r>
                <a:r>
                  <a:rPr lang="pt-BR" sz="1200" i="0" dirty="0">
                    <a:latin typeface="Cambria Math" panose="02040503050406030204" pitchFamily="18" charset="0"/>
                  </a:rPr>
                  <a:t> </a:t>
                </a:r>
                <a:r>
                  <a:rPr lang="en-CA" sz="1200" i="0" dirty="0">
                    <a:latin typeface="Cambria Math" panose="02040503050406030204" pitchFamily="18" charset="0"/>
                  </a:rPr>
                  <a:t>𝐻</a:t>
                </a:r>
                <a:r>
                  <a:rPr lang="pt-BR" sz="1200" i="0" dirty="0">
                    <a:latin typeface="Cambria Math" panose="02040503050406030204" pitchFamily="18" charset="0"/>
                  </a:rPr>
                  <a:t> ̂</a:t>
                </a:r>
                <a:r>
                  <a:rPr lang="en-CA" sz="1200" i="0" dirty="0">
                    <a:latin typeface="Cambria Math" panose="02040503050406030204" pitchFamily="18" charset="0"/>
                  </a:rPr>
                  <a:t> )^𝑘 </a:t>
                </a:r>
                <a:r>
                  <a:rPr lang="pt-BR" sz="1200" i="0" dirty="0">
                    <a:latin typeface="Cambria Math" panose="02040503050406030204" pitchFamily="18" charset="0"/>
                  </a:rPr>
                  <a:t>〗</a:t>
                </a:r>
                <a:endParaRPr lang="en-CA" dirty="0"/>
              </a:p>
              <a:p>
                <a:pPr/>
                <a:r>
                  <a:rPr lang="en-US" i="0" dirty="0">
                    <a:solidFill>
                      <a:prstClr val="black"/>
                    </a:solidFill>
                    <a:latin typeface="Cambria Math" panose="02040503050406030204" pitchFamily="18" charset="0"/>
                  </a:rPr>
                  <a:t>𝑃_{</a:t>
                </a:r>
                <a:r>
                  <a:rPr lang="en-US" b="0" i="0" dirty="0">
                    <a:solidFill>
                      <a:prstClr val="black"/>
                    </a:solidFill>
                    <a:latin typeface="Cambria Math" panose="02040503050406030204" pitchFamily="18" charset="0"/>
                  </a:rPr>
                  <a:t>𝜏</a:t>
                </a:r>
                <a:r>
                  <a:rPr lang="ar-AE" i="0" dirty="0">
                    <a:solidFill>
                      <a:prstClr val="black"/>
                    </a:solidFill>
                    <a:latin typeface="Cambria Math" panose="02040503050406030204" pitchFamily="18" charset="0"/>
                  </a:rPr>
                  <a:t>, 𝜏_0 }^</a:t>
                </a:r>
                <a:r>
                  <a:rPr lang="en-US" i="0" dirty="0">
                    <a:solidFill>
                      <a:prstClr val="black"/>
                    </a:solidFill>
                    <a:latin typeface="Cambria Math" panose="02040503050406030204" pitchFamily="18" charset="0"/>
                  </a:rPr>
                  <a:t>((𝑛) )</a:t>
                </a:r>
                <a:r>
                  <a:rPr kumimoji="0" lang="ar-AE" sz="1200" b="0" i="0" u="none" strike="noStrike" kern="1200" cap="none" spc="0" normalizeH="0" baseline="0" noProof="0" dirty="0">
                    <a:ln>
                      <a:noFill/>
                    </a:ln>
                    <a:solidFill>
                      <a:prstClr val="black"/>
                    </a:solidFill>
                    <a:effectLst/>
                    <a:uLnTx/>
                    <a:uFillTx/>
                    <a:latin typeface="Cambria Math" panose="02040503050406030204" pitchFamily="18" charset="0"/>
                  </a:rPr>
                  <a:t> (</a:t>
                </a:r>
                <a:r>
                  <a:rPr kumimoji="0" lang="en-US" sz="1200" b="0" i="0" u="none" strike="noStrike" kern="1200" cap="none" spc="0" normalizeH="0" baseline="0" noProof="0" dirty="0">
                    <a:ln>
                      <a:noFill/>
                    </a:ln>
                    <a:solidFill>
                      <a:prstClr val="black"/>
                    </a:solidFill>
                    <a:effectLst/>
                    <a:uLnTx/>
                    <a:uFillTx/>
                    <a:latin typeface="Cambria Math" panose="02040503050406030204" pitchFamily="18" charset="0"/>
                  </a:rPr>
                  <a:t>𝐴_𝑗│𝑆_𝑖 )</a:t>
                </a:r>
                <a:r>
                  <a:rPr kumimoji="0" lang="ar-AE" sz="1200" b="0" i="0" u="none" strike="noStrike" kern="1200" cap="none" spc="0" normalizeH="0" baseline="0" noProof="0" dirty="0">
                    <a:ln>
                      <a:noFill/>
                    </a:ln>
                    <a:solidFill>
                      <a:prstClr val="black"/>
                    </a:solidFill>
                    <a:effectLst/>
                    <a:uLnTx/>
                    <a:uFillTx/>
                    <a:latin typeface="Cambria Math" panose="02040503050406030204" pitchFamily="18" charset="0"/>
                  </a:rPr>
                  <a:t>=</a:t>
                </a:r>
                <a:r>
                  <a:rPr kumimoji="0" lang="en-US" sz="1200" b="0" i="0" u="none" strike="noStrike" kern="1200" cap="none" spc="0" normalizeH="0" baseline="0" noProof="0" dirty="0">
                    <a:ln>
                      <a:noFill/>
                    </a:ln>
                    <a:solidFill>
                      <a:prstClr val="black"/>
                    </a:solidFill>
                    <a:effectLst/>
                    <a:uLnTx/>
                    <a:uFillTx/>
                    <a:latin typeface="Cambria Math" panose="02040503050406030204" pitchFamily="18" charset="0"/>
                  </a:rPr>
                  <a:t>𝑡𝑟(𝜌 ̂_(</a:t>
                </a:r>
                <a:r>
                  <a:rPr lang="en-US" b="0" i="0" dirty="0">
                    <a:solidFill>
                      <a:prstClr val="black"/>
                    </a:solidFill>
                    <a:latin typeface="Cambria Math" panose="02040503050406030204" pitchFamily="18" charset="0"/>
                  </a:rPr>
                  <a:t>𝑆_𝑖 </a:t>
                </a:r>
                <a:r>
                  <a:rPr kumimoji="0" lang="en-US" sz="1200" b="0" i="0" u="none" strike="noStrike" kern="1200" cap="none" spc="0" normalizeH="0" baseline="0" noProof="0" dirty="0">
                    <a:ln>
                      <a:noFill/>
                    </a:ln>
                    <a:solidFill>
                      <a:prstClr val="black"/>
                    </a:solidFill>
                    <a:effectLst/>
                    <a:uLnTx/>
                    <a:uFillTx/>
                    <a:latin typeface="Cambria Math" panose="02040503050406030204" pitchFamily="18" charset="0"/>
                  </a:rPr>
                  <a:t>) (</a:t>
                </a:r>
                <a:r>
                  <a:rPr lang="en-US" b="0" i="0" dirty="0">
                    <a:solidFill>
                      <a:prstClr val="black"/>
                    </a:solidFill>
                    <a:latin typeface="Cambria Math" panose="02040503050406030204" pitchFamily="18" charset="0"/>
                  </a:rPr>
                  <a:t>𝜏) Π ̂_(𝐴_𝑗 ) )</a:t>
                </a:r>
                <a:r>
                  <a:rPr kumimoji="0" lang="en-US" sz="1200" b="0" i="0" u="none" strike="noStrike" kern="1200" cap="none" spc="0" normalizeH="0" baseline="0" noProof="0" dirty="0">
                    <a:ln>
                      <a:noFill/>
                    </a:ln>
                    <a:solidFill>
                      <a:prstClr val="black"/>
                    </a:solidFill>
                    <a:effectLst/>
                    <a:uLnTx/>
                    <a:uFillTx/>
                    <a:latin typeface="Cambria Math" panose="02040503050406030204" pitchFamily="18" charset="0"/>
                  </a:rPr>
                  <a:t>=𝑡𝑟(</a:t>
                </a:r>
                <a:r>
                  <a:rPr lang="en-US" b="0" i="0" dirty="0">
                    <a:solidFill>
                      <a:prstClr val="black"/>
                    </a:solidFill>
                    <a:latin typeface="Cambria Math" panose="02040503050406030204" pitchFamily="18" charset="0"/>
                  </a:rPr>
                  <a:t>𝑈 ̂(𝜏, 𝜏_0)</a:t>
                </a:r>
                <a:r>
                  <a:rPr kumimoji="0" lang="en-US" sz="1200" b="0" i="0" u="none" strike="noStrike" kern="1200" cap="none" spc="0" normalizeH="0" baseline="0" noProof="0" dirty="0">
                    <a:ln>
                      <a:noFill/>
                    </a:ln>
                    <a:solidFill>
                      <a:prstClr val="black"/>
                    </a:solidFill>
                    <a:effectLst/>
                    <a:uLnTx/>
                    <a:uFillTx/>
                    <a:latin typeface="Cambria Math" panose="02040503050406030204" pitchFamily="18" charset="0"/>
                  </a:rPr>
                  <a:t>𝜌 ̂_(</a:t>
                </a:r>
                <a:r>
                  <a:rPr lang="en-US" b="0" i="0" dirty="0">
                    <a:solidFill>
                      <a:prstClr val="black"/>
                    </a:solidFill>
                    <a:latin typeface="Cambria Math" panose="02040503050406030204" pitchFamily="18" charset="0"/>
                  </a:rPr>
                  <a:t>𝑆_𝑖 </a:t>
                </a:r>
                <a:r>
                  <a:rPr kumimoji="0" lang="en-US" sz="1200" b="0" i="0" u="none" strike="noStrike" kern="1200" cap="none" spc="0" normalizeH="0" baseline="0" noProof="0" dirty="0">
                    <a:ln>
                      <a:noFill/>
                    </a:ln>
                    <a:solidFill>
                      <a:prstClr val="black"/>
                    </a:solidFill>
                    <a:effectLst/>
                    <a:uLnTx/>
                    <a:uFillTx/>
                    <a:latin typeface="Cambria Math" panose="02040503050406030204" pitchFamily="18" charset="0"/>
                  </a:rPr>
                  <a:t>) (</a:t>
                </a:r>
                <a:r>
                  <a:rPr lang="en-US" b="0" i="0" dirty="0">
                    <a:solidFill>
                      <a:prstClr val="black"/>
                    </a:solidFill>
                    <a:latin typeface="Cambria Math" panose="02040503050406030204" pitchFamily="18" charset="0"/>
                  </a:rPr>
                  <a:t>𝜏_0 )</a:t>
                </a:r>
                <a:r>
                  <a:rPr kumimoji="0" lang="en-US" sz="1200" b="0" i="0" u="none" strike="noStrike" kern="1200" cap="none" spc="0" normalizeH="0" baseline="0" noProof="0" dirty="0">
                    <a:ln>
                      <a:noFill/>
                    </a:ln>
                    <a:solidFill>
                      <a:prstClr val="black"/>
                    </a:solidFill>
                    <a:effectLst/>
                    <a:uLnTx/>
                    <a:uFillTx/>
                    <a:latin typeface="Cambria Math" panose="02040503050406030204" pitchFamily="18" charset="0"/>
                  </a:rPr>
                  <a:t> 𝑈 ̂^</a:t>
                </a:r>
                <a:r>
                  <a:rPr lang="en-US" i="0" dirty="0">
                    <a:solidFill>
                      <a:prstClr val="black"/>
                    </a:solidFill>
                    <a:latin typeface="Cambria Math" panose="02040503050406030204" pitchFamily="18" charset="0"/>
                    <a:ea typeface="Cambria Math" panose="02040503050406030204" pitchFamily="18" charset="0"/>
                  </a:rPr>
                  <a:t>†</a:t>
                </a:r>
                <a:r>
                  <a:rPr lang="en-US" b="0" i="0" dirty="0">
                    <a:solidFill>
                      <a:prstClr val="black"/>
                    </a:solidFill>
                    <a:latin typeface="Cambria Math" panose="02040503050406030204" pitchFamily="18" charset="0"/>
                    <a:ea typeface="Cambria Math" panose="02040503050406030204" pitchFamily="18" charset="0"/>
                  </a:rPr>
                  <a:t> </a:t>
                </a:r>
                <a:r>
                  <a:rPr lang="en-US" b="0" i="0" dirty="0">
                    <a:solidFill>
                      <a:prstClr val="black"/>
                    </a:solidFill>
                    <a:latin typeface="Cambria Math" panose="02040503050406030204" pitchFamily="18" charset="0"/>
                  </a:rPr>
                  <a:t>(𝜏, 𝜏_0) Π ̂_(𝐴_𝑗 ) )=</a:t>
                </a:r>
                <a:r>
                  <a:rPr kumimoji="0" lang="en-US" sz="1200" b="0" i="0" u="none" strike="noStrike" kern="1200" cap="none" spc="0" normalizeH="0" baseline="0" noProof="0" dirty="0">
                    <a:ln>
                      <a:noFill/>
                    </a:ln>
                    <a:solidFill>
                      <a:prstClr val="black"/>
                    </a:solidFill>
                    <a:effectLst/>
                    <a:uLnTx/>
                    <a:uFillTx/>
                    <a:latin typeface="Cambria Math" panose="02040503050406030204" pitchFamily="18" charset="0"/>
                  </a:rPr>
                  <a:t>𝑡𝑟(</a:t>
                </a:r>
                <a:r>
                  <a:rPr lang="en-US" b="0" i="0" dirty="0">
                    <a:solidFill>
                      <a:prstClr val="black"/>
                    </a:solidFill>
                    <a:latin typeface="Cambria Math" panose="02040503050406030204" pitchFamily="18" charset="0"/>
                  </a:rPr>
                  <a:t>𝑈 ̂(𝜏, 𝜏_0)</a:t>
                </a:r>
                <a:r>
                  <a:rPr kumimoji="0" lang="en-US" sz="1200" b="0" i="0" u="none" strike="noStrike" kern="1200" cap="none" spc="0" normalizeH="0" baseline="0" noProof="0" dirty="0">
                    <a:ln>
                      <a:noFill/>
                    </a:ln>
                    <a:solidFill>
                      <a:prstClr val="black"/>
                    </a:solidFill>
                    <a:effectLst/>
                    <a:uLnTx/>
                    <a:uFillTx/>
                    <a:latin typeface="Cambria Math" panose="02040503050406030204" pitchFamily="18" charset="0"/>
                  </a:rPr>
                  <a:t> </a:t>
                </a:r>
                <a:r>
                  <a:rPr lang="en-US" b="0" i="0" dirty="0">
                    <a:solidFill>
                      <a:prstClr val="black"/>
                    </a:solidFill>
                    <a:latin typeface="Cambria Math" panose="02040503050406030204" pitchFamily="18" charset="0"/>
                  </a:rPr>
                  <a:t>|</a:t>
                </a:r>
                <a:r>
                  <a:rPr lang="en-US" sz="1200" b="0" i="0" dirty="0">
                    <a:latin typeface="Cambria Math" panose="02040503050406030204" pitchFamily="18" charset="0"/>
                  </a:rPr>
                  <a:t>𝑆_𝑖, 0_(𝑆\S_𝑖 ), 0_𝐶, 0_𝐴</a:t>
                </a:r>
                <a:r>
                  <a:rPr lang="en-US" b="0" i="0" dirty="0">
                    <a:solidFill>
                      <a:prstClr val="black"/>
                    </a:solidFill>
                    <a:latin typeface="Cambria Math" panose="02040503050406030204" pitchFamily="18" charset="0"/>
                  </a:rPr>
                  <a:t>⟩⟨</a:t>
                </a:r>
                <a:r>
                  <a:rPr lang="en-US" sz="1200" b="0" i="0" dirty="0">
                    <a:latin typeface="Cambria Math" panose="02040503050406030204" pitchFamily="18" charset="0"/>
                  </a:rPr>
                  <a:t>𝑆_𝑖, 0_(𝑆\S_𝑖 ), 0_𝐶, 0_𝐴</a:t>
                </a:r>
                <a:r>
                  <a:rPr lang="en-US" sz="1200" b="0" i="0" dirty="0">
                    <a:solidFill>
                      <a:prstClr val="black"/>
                    </a:solidFill>
                    <a:latin typeface="Cambria Math" panose="02040503050406030204" pitchFamily="18" charset="0"/>
                  </a:rPr>
                  <a:t> </a:t>
                </a:r>
                <a:r>
                  <a:rPr lang="en-US" b="0" i="0" dirty="0">
                    <a:solidFill>
                      <a:prstClr val="black"/>
                    </a:solidFill>
                    <a:latin typeface="Cambria Math" panose="02040503050406030204" pitchFamily="18" charset="0"/>
                  </a:rPr>
                  <a:t>|</a:t>
                </a:r>
                <a:r>
                  <a:rPr kumimoji="0" lang="en-US" sz="1200" b="0" i="0" u="none" strike="noStrike" kern="1200" cap="none" spc="0" normalizeH="0" baseline="0" noProof="0" dirty="0">
                    <a:ln>
                      <a:noFill/>
                    </a:ln>
                    <a:solidFill>
                      <a:prstClr val="black"/>
                    </a:solidFill>
                    <a:effectLst/>
                    <a:uLnTx/>
                    <a:uFillTx/>
                    <a:latin typeface="Cambria Math" panose="02040503050406030204" pitchFamily="18" charset="0"/>
                  </a:rPr>
                  <a:t>𝑈 ̂^</a:t>
                </a:r>
                <a:r>
                  <a:rPr lang="en-US" i="0" dirty="0">
                    <a:solidFill>
                      <a:prstClr val="black"/>
                    </a:solidFill>
                    <a:latin typeface="Cambria Math" panose="02040503050406030204" pitchFamily="18" charset="0"/>
                    <a:ea typeface="Cambria Math" panose="02040503050406030204" pitchFamily="18" charset="0"/>
                  </a:rPr>
                  <a:t>†</a:t>
                </a:r>
                <a:r>
                  <a:rPr lang="en-US" b="0" i="0" dirty="0">
                    <a:solidFill>
                      <a:prstClr val="black"/>
                    </a:solidFill>
                    <a:latin typeface="Cambria Math" panose="02040503050406030204" pitchFamily="18" charset="0"/>
                    <a:ea typeface="Cambria Math" panose="02040503050406030204" pitchFamily="18" charset="0"/>
                  </a:rPr>
                  <a:t> (</a:t>
                </a:r>
                <a:r>
                  <a:rPr lang="en-US" b="0" i="0" dirty="0">
                    <a:solidFill>
                      <a:prstClr val="black"/>
                    </a:solidFill>
                    <a:latin typeface="Cambria Math" panose="02040503050406030204" pitchFamily="18" charset="0"/>
                  </a:rPr>
                  <a:t>𝜏, 𝜏_0 ) Π ̂_(𝐴_𝑗 ) )=</a:t>
                </a:r>
                <a:r>
                  <a:rPr kumimoji="0" lang="en-US" sz="1200" b="0" i="0" u="none" strike="noStrike" kern="1200" cap="none" spc="0" normalizeH="0" baseline="0" noProof="0" dirty="0">
                    <a:ln>
                      <a:noFill/>
                    </a:ln>
                    <a:solidFill>
                      <a:prstClr val="black"/>
                    </a:solidFill>
                    <a:effectLst/>
                    <a:uLnTx/>
                    <a:uFillTx/>
                    <a:latin typeface="Cambria Math" panose="02040503050406030204" pitchFamily="18" charset="0"/>
                  </a:rPr>
                  <a:t>𝑡𝑟(</a:t>
                </a:r>
                <a:r>
                  <a:rPr lang="en-US" b="0" i="0" dirty="0">
                    <a:solidFill>
                      <a:prstClr val="black"/>
                    </a:solidFill>
                    <a:latin typeface="Cambria Math" panose="02040503050406030204" pitchFamily="18" charset="0"/>
                  </a:rPr>
                  <a:t>𝑈 ̂(𝜏, 𝜏_0)</a:t>
                </a:r>
                <a:r>
                  <a:rPr kumimoji="0" lang="en-US" sz="1200" b="0" i="0" u="none" strike="noStrike" kern="1200" cap="none" spc="0" normalizeH="0" baseline="0" noProof="0" dirty="0">
                    <a:ln>
                      <a:noFill/>
                    </a:ln>
                    <a:solidFill>
                      <a:prstClr val="black"/>
                    </a:solidFill>
                    <a:effectLst/>
                    <a:uLnTx/>
                    <a:uFillTx/>
                    <a:latin typeface="Cambria Math" panose="02040503050406030204" pitchFamily="18" charset="0"/>
                  </a:rPr>
                  <a:t> </a:t>
                </a:r>
                <a:r>
                  <a:rPr lang="en-US" b="0" i="0" dirty="0">
                    <a:solidFill>
                      <a:prstClr val="black"/>
                    </a:solidFill>
                    <a:latin typeface="Cambria Math" panose="02040503050406030204" pitchFamily="18" charset="0"/>
                  </a:rPr>
                  <a:t>Ω ̂_(𝑆_𝑖)^</a:t>
                </a:r>
                <a:r>
                  <a:rPr lang="en-US" i="0" dirty="0">
                    <a:solidFill>
                      <a:prstClr val="black"/>
                    </a:solidFill>
                    <a:latin typeface="Cambria Math" panose="02040503050406030204" pitchFamily="18" charset="0"/>
                    <a:ea typeface="Cambria Math" panose="02040503050406030204" pitchFamily="18" charset="0"/>
                  </a:rPr>
                  <a:t>†</a:t>
                </a:r>
                <a:r>
                  <a:rPr lang="en-US" b="0" i="0" dirty="0">
                    <a:solidFill>
                      <a:prstClr val="black"/>
                    </a:solidFill>
                    <a:latin typeface="Cambria Math" panose="02040503050406030204" pitchFamily="18" charset="0"/>
                    <a:ea typeface="Cambria Math" panose="02040503050406030204" pitchFamily="18" charset="0"/>
                  </a:rPr>
                  <a:t> </a:t>
                </a:r>
                <a:r>
                  <a:rPr lang="en-US" b="0" i="0" dirty="0">
                    <a:solidFill>
                      <a:prstClr val="black"/>
                    </a:solidFill>
                    <a:latin typeface="Cambria Math" panose="02040503050406030204" pitchFamily="18" charset="0"/>
                  </a:rPr>
                  <a:t>|𝑣𝑎𝑐⟩⟨𝑣𝑎𝑐|Ω ̂</a:t>
                </a:r>
                <a:r>
                  <a:rPr lang="en-US" b="0" i="0" dirty="0">
                    <a:solidFill>
                      <a:prstClr val="black"/>
                    </a:solidFill>
                    <a:latin typeface="Cambria Math" panose="02040503050406030204" pitchFamily="18" charset="0"/>
                    <a:ea typeface="Cambria Math" panose="02040503050406030204" pitchFamily="18" charset="0"/>
                  </a:rPr>
                  <a:t>_(</a:t>
                </a:r>
                <a:r>
                  <a:rPr lang="en-US" b="0" i="0" dirty="0">
                    <a:solidFill>
                      <a:prstClr val="black"/>
                    </a:solidFill>
                    <a:latin typeface="Cambria Math" panose="02040503050406030204" pitchFamily="18" charset="0"/>
                  </a:rPr>
                  <a:t>𝑆_𝑖 </a:t>
                </a:r>
                <a:r>
                  <a:rPr lang="en-US" b="0" i="0" dirty="0">
                    <a:solidFill>
                      <a:prstClr val="black"/>
                    </a:solidFill>
                    <a:latin typeface="Cambria Math" panose="02040503050406030204" pitchFamily="18" charset="0"/>
                    <a:ea typeface="Cambria Math" panose="02040503050406030204" pitchFamily="18" charset="0"/>
                  </a:rPr>
                  <a:t>)</a:t>
                </a:r>
                <a:r>
                  <a:rPr kumimoji="0" lang="en-US" sz="1200" b="0" i="0" u="none" strike="noStrike" kern="1200" cap="none" spc="0" normalizeH="0" baseline="0" noProof="0" dirty="0">
                    <a:ln>
                      <a:noFill/>
                    </a:ln>
                    <a:solidFill>
                      <a:prstClr val="black"/>
                    </a:solidFill>
                    <a:effectLst/>
                    <a:uLnTx/>
                    <a:uFillTx/>
                    <a:latin typeface="Cambria Math" panose="02040503050406030204" pitchFamily="18" charset="0"/>
                    <a:ea typeface="Cambria Math" panose="02040503050406030204" pitchFamily="18" charset="0"/>
                  </a:rPr>
                  <a:t> </a:t>
                </a:r>
                <a:r>
                  <a:rPr kumimoji="0" lang="en-US" sz="1200" b="0" i="0" u="none" strike="noStrike" kern="1200" cap="none" spc="0" normalizeH="0" baseline="0" noProof="0" dirty="0">
                    <a:ln>
                      <a:noFill/>
                    </a:ln>
                    <a:solidFill>
                      <a:prstClr val="black"/>
                    </a:solidFill>
                    <a:effectLst/>
                    <a:uLnTx/>
                    <a:uFillTx/>
                    <a:latin typeface="Cambria Math" panose="02040503050406030204" pitchFamily="18" charset="0"/>
                  </a:rPr>
                  <a:t>𝑈 ̂^</a:t>
                </a:r>
                <a:r>
                  <a:rPr lang="en-US" i="0" dirty="0">
                    <a:solidFill>
                      <a:prstClr val="black"/>
                    </a:solidFill>
                    <a:latin typeface="Cambria Math" panose="02040503050406030204" pitchFamily="18" charset="0"/>
                    <a:ea typeface="Cambria Math" panose="02040503050406030204" pitchFamily="18" charset="0"/>
                  </a:rPr>
                  <a:t>†</a:t>
                </a:r>
                <a:r>
                  <a:rPr lang="en-US" b="0" i="0" dirty="0">
                    <a:solidFill>
                      <a:prstClr val="black"/>
                    </a:solidFill>
                    <a:latin typeface="Cambria Math" panose="02040503050406030204" pitchFamily="18" charset="0"/>
                    <a:ea typeface="Cambria Math" panose="02040503050406030204" pitchFamily="18" charset="0"/>
                  </a:rPr>
                  <a:t> (</a:t>
                </a:r>
                <a:r>
                  <a:rPr lang="en-US" b="0" i="0" dirty="0">
                    <a:solidFill>
                      <a:prstClr val="black"/>
                    </a:solidFill>
                    <a:latin typeface="Cambria Math" panose="02040503050406030204" pitchFamily="18" charset="0"/>
                  </a:rPr>
                  <a:t>𝜏, 𝜏_0 ) Π ̂_(𝐴_𝑗 ) )</a:t>
                </a:r>
                <a:endParaRPr lang="en-CA" dirty="0"/>
              </a:p>
              <a:p>
                <a:r>
                  <a:rPr lang="en-CA" dirty="0"/>
                  <a:t>Where </a:t>
                </a:r>
                <a:r>
                  <a:rPr lang="en-US" b="0" i="0">
                    <a:latin typeface="Cambria Math" panose="02040503050406030204" pitchFamily="18" charset="0"/>
                  </a:rPr>
                  <a:t>Π</a:t>
                </a:r>
                <a:r>
                  <a:rPr lang="en-CA" b="0" i="0">
                    <a:latin typeface="Cambria Math" panose="02040503050406030204" pitchFamily="18" charset="0"/>
                  </a:rPr>
                  <a:t> ̂</a:t>
                </a:r>
                <a:r>
                  <a:rPr lang="en-US" b="0" i="0">
                    <a:latin typeface="Cambria Math" panose="02040503050406030204" pitchFamily="18" charset="0"/>
                  </a:rPr>
                  <a:t>_(𝐴_𝑗 )=</a:t>
                </a:r>
                <a:r>
                  <a:rPr lang="en-US" b="0" i="0" dirty="0">
                    <a:solidFill>
                      <a:prstClr val="black"/>
                    </a:solidFill>
                    <a:latin typeface="Cambria Math" panose="02040503050406030204" pitchFamily="18" charset="0"/>
                  </a:rPr>
                  <a:t>Ω ̂_(𝐴_𝑗)^</a:t>
                </a:r>
                <a:r>
                  <a:rPr lang="en-US" i="0" dirty="0">
                    <a:solidFill>
                      <a:prstClr val="black"/>
                    </a:solidFill>
                    <a:latin typeface="Cambria Math" panose="02040503050406030204" pitchFamily="18" charset="0"/>
                    <a:ea typeface="Cambria Math" panose="02040503050406030204" pitchFamily="18" charset="0"/>
                  </a:rPr>
                  <a:t>†</a:t>
                </a:r>
                <a:r>
                  <a:rPr lang="en-US" b="0" i="0" dirty="0">
                    <a:solidFill>
                      <a:prstClr val="black"/>
                    </a:solidFill>
                    <a:latin typeface="Cambria Math" panose="02040503050406030204" pitchFamily="18" charset="0"/>
                    <a:ea typeface="Cambria Math" panose="02040503050406030204" pitchFamily="18" charset="0"/>
                  </a:rPr>
                  <a:t> </a:t>
                </a:r>
                <a:r>
                  <a:rPr lang="en-US" b="0" i="0" dirty="0">
                    <a:solidFill>
                      <a:prstClr val="black"/>
                    </a:solidFill>
                    <a:latin typeface="Cambria Math" panose="02040503050406030204" pitchFamily="18" charset="0"/>
                  </a:rPr>
                  <a:t>|𝑣𝑎𝑐⟩⟨𝑣𝑎𝑐|Ω ̂</a:t>
                </a:r>
                <a:r>
                  <a:rPr lang="en-US" b="0" i="0" dirty="0">
                    <a:solidFill>
                      <a:prstClr val="black"/>
                    </a:solidFill>
                    <a:latin typeface="Cambria Math" panose="02040503050406030204" pitchFamily="18" charset="0"/>
                    <a:ea typeface="Cambria Math" panose="02040503050406030204" pitchFamily="18" charset="0"/>
                  </a:rPr>
                  <a:t>_(</a:t>
                </a:r>
                <a:r>
                  <a:rPr lang="en-US" b="0" i="0" dirty="0">
                    <a:solidFill>
                      <a:prstClr val="black"/>
                    </a:solidFill>
                    <a:latin typeface="Cambria Math" panose="02040503050406030204" pitchFamily="18" charset="0"/>
                  </a:rPr>
                  <a:t>𝐴_𝑗 </a:t>
                </a:r>
                <a:r>
                  <a:rPr lang="en-US" b="0" i="0" dirty="0">
                    <a:solidFill>
                      <a:prstClr val="black"/>
                    </a:solidFill>
                    <a:latin typeface="Cambria Math" panose="02040503050406030204" pitchFamily="18" charset="0"/>
                    <a:ea typeface="Cambria Math" panose="02040503050406030204" pitchFamily="18" charset="0"/>
                  </a:rPr>
                  <a:t>)</a:t>
                </a:r>
                <a:r>
                  <a:rPr lang="en-CA" dirty="0"/>
                  <a:t> is a projective measurement of the action modes corresponding to action hyperedge </a:t>
                </a:r>
                <a:r>
                  <a:rPr lang="en-US" b="0" i="0">
                    <a:latin typeface="Cambria Math" panose="02040503050406030204" pitchFamily="18" charset="0"/>
                  </a:rPr>
                  <a:t>𝐴_𝑗</a:t>
                </a:r>
                <a:r>
                  <a:rPr lang="en-CA" dirty="0"/>
                  <a:t>. In practice however,</a:t>
                </a:r>
                <a:r>
                  <a:rPr lang="en-CA" baseline="0" dirty="0"/>
                  <a:t> one could just use the projector for all action modes and then couple out all the actions (or some subset of them; i.e. the subset generation that happens in </a:t>
                </a:r>
                <a:r>
                  <a:rPr lang="en-CA" baseline="0" dirty="0" err="1"/>
                  <a:t>mePS</a:t>
                </a:r>
                <a:r>
                  <a:rPr lang="en-CA" baseline="0" dirty="0"/>
                  <a:t>, but with some consistency constraints) that have nonzero excitations.</a:t>
                </a:r>
              </a:p>
              <a:p>
                <a:r>
                  <a:rPr lang="en-CA" baseline="0" dirty="0"/>
                  <a:t>	- How to decide which action hyperedges get coupled out? We can first apply consistency condition to punish and/or eliminate conflicting actions, then apply a probability distribution to all subsets of the remaining actions and sample one subset (basically another 2-layer PS).</a:t>
                </a:r>
              </a:p>
              <a:p>
                <a:r>
                  <a:rPr lang="en-CA" baseline="0" dirty="0"/>
                  <a:t>	- What to do when none of the measured modes are action modes? We can just reset the deliberation until we get action modes, or we can dilate the space with many copies of the actions so that action modes are guaranteed to be measured.</a:t>
                </a:r>
              </a:p>
              <a:p>
                <a:r>
                  <a:rPr lang="en-CA" baseline="0" dirty="0"/>
                  <a:t>	</a:t>
                </a:r>
                <a:endParaRPr lang="en-CA" dirty="0"/>
              </a:p>
              <a:p>
                <a:endParaRPr lang="en-CA" dirty="0"/>
              </a:p>
              <a:p>
                <a:r>
                  <a:rPr lang="en-CA" dirty="0"/>
                  <a:t>Can we teleport the chosen action states to a new state that is then the input for a circuit that represents the environment and then repeat this procedure but for the environment circuit so that we have quantum interactions only?</a:t>
                </a:r>
              </a:p>
            </p:txBody>
          </p:sp>
        </mc:Fallback>
      </mc:AlternateContent>
      <p:sp>
        <p:nvSpPr>
          <p:cNvPr id="4" name="Slide Number Placeholder 3"/>
          <p:cNvSpPr>
            <a:spLocks noGrp="1"/>
          </p:cNvSpPr>
          <p:nvPr>
            <p:ph type="sldNum" sz="quarter" idx="5"/>
          </p:nvPr>
        </p:nvSpPr>
        <p:spPr/>
        <p:txBody>
          <a:bodyPr/>
          <a:lstStyle/>
          <a:p>
            <a:fld id="{E40720B4-AB10-0342-9541-2DF5352E8B38}" type="slidenum">
              <a:rPr lang="en-CA" smtClean="0"/>
              <a:t>16</a:t>
            </a:fld>
            <a:endParaRPr lang="en-CA"/>
          </a:p>
        </p:txBody>
      </p:sp>
    </p:spTree>
    <p:extLst>
      <p:ext uri="{BB962C8B-B14F-4D97-AF65-F5344CB8AC3E}">
        <p14:creationId xmlns:p14="http://schemas.microsoft.com/office/powerpoint/2010/main" val="531687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CA" dirty="0"/>
              <a:t>PS has already been successfully applied to modelling animal foraging and behaviour patterns</a:t>
            </a:r>
          </a:p>
          <a:p>
            <a:pPr marL="628650" lvl="1" indent="-171450">
              <a:buFont typeface="Arial" panose="020B0604020202020204" pitchFamily="34" charset="0"/>
              <a:buChar char="•"/>
            </a:pPr>
            <a:r>
              <a:rPr lang="en-CA" dirty="0"/>
              <a:t>Flexibility of </a:t>
            </a:r>
            <a:r>
              <a:rPr lang="en-CA" dirty="0" err="1"/>
              <a:t>mePS</a:t>
            </a:r>
            <a:r>
              <a:rPr lang="en-CA" dirty="0"/>
              <a:t> would be beneficial</a:t>
            </a:r>
          </a:p>
          <a:p>
            <a:pPr marL="285750" indent="-285750">
              <a:buFont typeface="Arial" panose="020B0604020202020204" pitchFamily="34" charset="0"/>
              <a:buChar char="•"/>
            </a:pPr>
            <a:r>
              <a:rPr lang="en-CA" dirty="0"/>
              <a:t>Further incorporate many-body features into inductive bias such as Pauli-exclusion </a:t>
            </a:r>
          </a:p>
          <a:p>
            <a:pPr marL="742950" lvl="1" indent="-285750">
              <a:buFont typeface="Arial" panose="020B0604020202020204" pitchFamily="34" charset="0"/>
              <a:buChar char="•"/>
            </a:pPr>
            <a:r>
              <a:rPr lang="en-CA" dirty="0"/>
              <a:t>Would also be interesting to explore effect of particle statistics on deliberation</a:t>
            </a:r>
          </a:p>
          <a:p>
            <a:pPr marL="285750" indent="-285750">
              <a:buFont typeface="Arial" panose="020B0604020202020204" pitchFamily="34" charset="0"/>
              <a:buChar char="•"/>
            </a:pPr>
            <a:r>
              <a:rPr lang="en-CA" dirty="0"/>
              <a:t>Incorporate more advanced results from hypergraph literature to improve </a:t>
            </a:r>
            <a:r>
              <a:rPr lang="en-CA" dirty="0" err="1"/>
              <a:t>mePS</a:t>
            </a:r>
            <a:r>
              <a:rPr lang="en-CA" dirty="0"/>
              <a:t> scalability</a:t>
            </a:r>
          </a:p>
          <a:p>
            <a:pPr marL="285750" indent="-285750">
              <a:buFont typeface="Arial" panose="020B0604020202020204" pitchFamily="34" charset="0"/>
              <a:buChar char="•"/>
            </a:pPr>
            <a:r>
              <a:rPr lang="en-CA" dirty="0"/>
              <a:t>Explore possible connections with Neuro-Symbolic logic </a:t>
            </a:r>
          </a:p>
          <a:p>
            <a:pPr marL="285750" indent="-285750">
              <a:buFont typeface="Arial" panose="020B0604020202020204" pitchFamily="34" charset="0"/>
              <a:buChar char="•"/>
            </a:pPr>
            <a:r>
              <a:rPr lang="en-CA" dirty="0"/>
              <a:t>Further develop quantum </a:t>
            </a:r>
            <a:r>
              <a:rPr lang="en-CA" dirty="0" err="1"/>
              <a:t>mePS</a:t>
            </a:r>
            <a:r>
              <a:rPr lang="en-CA" dirty="0"/>
              <a:t> and find useful application where quantum advantage can be achieved</a:t>
            </a:r>
          </a:p>
          <a:p>
            <a:pPr marL="171450" lvl="0" indent="-171450">
              <a:buFont typeface="Arial" panose="020B0604020202020204" pitchFamily="34" charset="0"/>
              <a:buChar char="•"/>
            </a:pPr>
            <a:endParaRPr lang="en-CA" dirty="0"/>
          </a:p>
          <a:p>
            <a:pPr marL="171450" indent="-171450">
              <a:buFont typeface="Arial" panose="020B0604020202020204" pitchFamily="34" charset="0"/>
              <a:buChar char="•"/>
            </a:pPr>
            <a:endParaRPr lang="en-CA" dirty="0"/>
          </a:p>
        </p:txBody>
      </p:sp>
      <p:sp>
        <p:nvSpPr>
          <p:cNvPr id="4" name="Slide Number Placeholder 3"/>
          <p:cNvSpPr>
            <a:spLocks noGrp="1"/>
          </p:cNvSpPr>
          <p:nvPr>
            <p:ph type="sldNum" sz="quarter" idx="5"/>
          </p:nvPr>
        </p:nvSpPr>
        <p:spPr/>
        <p:txBody>
          <a:bodyPr/>
          <a:lstStyle/>
          <a:p>
            <a:fld id="{E40720B4-AB10-0342-9541-2DF5352E8B38}" type="slidenum">
              <a:rPr lang="en-CA" smtClean="0"/>
              <a:t>17</a:t>
            </a:fld>
            <a:endParaRPr lang="en-CA"/>
          </a:p>
        </p:txBody>
      </p:sp>
    </p:spTree>
    <p:extLst>
      <p:ext uri="{BB962C8B-B14F-4D97-AF65-F5344CB8AC3E}">
        <p14:creationId xmlns:p14="http://schemas.microsoft.com/office/powerpoint/2010/main" val="36206350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How is MEPS interpretable beyond ANNs:</a:t>
            </a:r>
          </a:p>
          <a:p>
            <a:pPr marL="171450" indent="-171450">
              <a:buFontTx/>
              <a:buChar char="-"/>
            </a:pPr>
            <a:r>
              <a:rPr lang="en-CA" dirty="0"/>
              <a:t>Update rule is local and it is clear what each term means and how each weight is reinforced</a:t>
            </a:r>
          </a:p>
          <a:p>
            <a:pPr marL="171450" indent="-171450">
              <a:buFontTx/>
              <a:buChar char="-"/>
            </a:pPr>
            <a:r>
              <a:rPr lang="en-CA" dirty="0"/>
              <a:t>Clips have clear semantics and composite structure</a:t>
            </a:r>
          </a:p>
          <a:p>
            <a:pPr marL="171450" indent="-171450">
              <a:buFontTx/>
              <a:buChar char="-"/>
            </a:pPr>
            <a:r>
              <a:rPr lang="en-CA" dirty="0"/>
              <a:t>Random walk coincides with a deliberative episode recall chain since clips have clear semantics</a:t>
            </a:r>
          </a:p>
          <a:p>
            <a:pPr marL="628650" lvl="1" indent="-171450">
              <a:buFontTx/>
              <a:buChar char="-"/>
            </a:pPr>
            <a:r>
              <a:rPr lang="en-CA" dirty="0"/>
              <a:t>Its really the case that the random walk is actually the path used by the agent during deliberation and this is inspectable, unlike for ANNs (although I guess you could also implement sampling in ANNs?)</a:t>
            </a:r>
          </a:p>
          <a:p>
            <a:pPr marL="628650" lvl="1" indent="-171450">
              <a:buFontTx/>
              <a:buChar char="-"/>
            </a:pPr>
            <a:r>
              <a:rPr lang="en-CA" dirty="0"/>
              <a:t>You can also inspect local alternatives in the deliberation chain to get explanation probabilities (due to clip semantics)</a:t>
            </a:r>
          </a:p>
        </p:txBody>
      </p:sp>
      <p:sp>
        <p:nvSpPr>
          <p:cNvPr id="4" name="Slide Number Placeholder 3"/>
          <p:cNvSpPr>
            <a:spLocks noGrp="1"/>
          </p:cNvSpPr>
          <p:nvPr>
            <p:ph type="sldNum" sz="quarter" idx="5"/>
          </p:nvPr>
        </p:nvSpPr>
        <p:spPr/>
        <p:txBody>
          <a:bodyPr/>
          <a:lstStyle/>
          <a:p>
            <a:fld id="{E40720B4-AB10-0342-9541-2DF5352E8B38}" type="slidenum">
              <a:rPr lang="en-CA" smtClean="0"/>
              <a:t>18</a:t>
            </a:fld>
            <a:endParaRPr lang="en-CA"/>
          </a:p>
        </p:txBody>
      </p:sp>
    </p:spTree>
    <p:extLst>
      <p:ext uri="{BB962C8B-B14F-4D97-AF65-F5344CB8AC3E}">
        <p14:creationId xmlns:p14="http://schemas.microsoft.com/office/powerpoint/2010/main" val="30768870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9F24CEA-727C-42BA-9AB0-2A391237A795}"/>
              </a:ext>
            </a:extLst>
          </p:cNvPr>
          <p:cNvSpPr>
            <a:spLocks noGrp="1"/>
          </p:cNvSpPr>
          <p:nvPr>
            <p:ph type="ctrTitle"/>
          </p:nvPr>
        </p:nvSpPr>
        <p:spPr>
          <a:xfrm>
            <a:off x="695399" y="5459104"/>
            <a:ext cx="10801201" cy="485302"/>
          </a:xfrm>
          <a:prstGeom prst="rect">
            <a:avLst/>
          </a:prstGeom>
        </p:spPr>
        <p:txBody>
          <a:bodyPr anchor="b">
            <a:normAutofit/>
          </a:bodyPr>
          <a:lstStyle>
            <a:lvl1pPr algn="l">
              <a:defRPr sz="2800" b="1"/>
            </a:lvl1pPr>
          </a:lstStyle>
          <a:p>
            <a:r>
              <a:rPr lang="en-US"/>
              <a:t>Click to edit Master title style</a:t>
            </a:r>
            <a:endParaRPr lang="de-AT" dirty="0"/>
          </a:p>
        </p:txBody>
      </p:sp>
      <p:sp>
        <p:nvSpPr>
          <p:cNvPr id="4" name="Textplatzhalter 2">
            <a:extLst>
              <a:ext uri="{FF2B5EF4-FFF2-40B4-BE49-F238E27FC236}">
                <a16:creationId xmlns:a16="http://schemas.microsoft.com/office/drawing/2014/main" id="{0441614C-8250-4D7B-A116-94B79E1492AA}"/>
              </a:ext>
            </a:extLst>
          </p:cNvPr>
          <p:cNvSpPr>
            <a:spLocks noGrp="1"/>
          </p:cNvSpPr>
          <p:nvPr>
            <p:ph type="body" idx="1"/>
          </p:nvPr>
        </p:nvSpPr>
        <p:spPr>
          <a:xfrm>
            <a:off x="695325" y="6021288"/>
            <a:ext cx="10801275" cy="485302"/>
          </a:xfrm>
        </p:spPr>
        <p:txBody>
          <a:bodyPr>
            <a:normAutofit/>
          </a:bodyPr>
          <a:lstStyle>
            <a:lvl1pPr marL="0" indent="0">
              <a:buNone/>
              <a:defRPr sz="15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1711976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1E7A02D9-28AC-4102-8D50-0161B6E6FF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AT"/>
          </a:p>
        </p:txBody>
      </p:sp>
      <p:sp>
        <p:nvSpPr>
          <p:cNvPr id="4" name="Datumsplatzhalter 3">
            <a:extLst>
              <a:ext uri="{FF2B5EF4-FFF2-40B4-BE49-F238E27FC236}">
                <a16:creationId xmlns:a16="http://schemas.microsoft.com/office/drawing/2014/main" id="{BFF02FDD-BF21-49A1-A6A4-CEE1B425A938}"/>
              </a:ext>
            </a:extLst>
          </p:cNvPr>
          <p:cNvSpPr>
            <a:spLocks noGrp="1"/>
          </p:cNvSpPr>
          <p:nvPr>
            <p:ph type="dt" sz="half" idx="10"/>
          </p:nvPr>
        </p:nvSpPr>
        <p:spPr/>
        <p:txBody>
          <a:bodyPr/>
          <a:lstStyle/>
          <a:p>
            <a:fld id="{64FF3185-DB75-3F4C-A4EF-0347B262A824}" type="datetime1">
              <a:rPr lang="en-US" smtClean="0"/>
              <a:t>8/18/26</a:t>
            </a:fld>
            <a:endParaRPr lang="de-AT"/>
          </a:p>
        </p:txBody>
      </p:sp>
      <p:sp>
        <p:nvSpPr>
          <p:cNvPr id="5" name="Fußzeilenplatzhalter 4">
            <a:extLst>
              <a:ext uri="{FF2B5EF4-FFF2-40B4-BE49-F238E27FC236}">
                <a16:creationId xmlns:a16="http://schemas.microsoft.com/office/drawing/2014/main" id="{83ACD104-2273-476A-B4D8-E834260F2594}"/>
              </a:ext>
            </a:extLst>
          </p:cNvPr>
          <p:cNvSpPr>
            <a:spLocks noGrp="1"/>
          </p:cNvSpPr>
          <p:nvPr>
            <p:ph type="ftr" sz="quarter" idx="11"/>
          </p:nvPr>
        </p:nvSpPr>
        <p:spPr/>
        <p:txBody>
          <a:bodyPr/>
          <a:lstStyle/>
          <a:p>
            <a:r>
              <a:rPr lang="de-AT"/>
              <a:t>IJCAI 2026, Bremen, Germany I Phil LeMaitre I 20.08.2026</a:t>
            </a:r>
          </a:p>
        </p:txBody>
      </p:sp>
      <p:sp>
        <p:nvSpPr>
          <p:cNvPr id="6" name="Foliennummernplatzhalter 5">
            <a:extLst>
              <a:ext uri="{FF2B5EF4-FFF2-40B4-BE49-F238E27FC236}">
                <a16:creationId xmlns:a16="http://schemas.microsoft.com/office/drawing/2014/main" id="{91AA336B-2E26-42E0-A00D-8E65CA4E7AE4}"/>
              </a:ext>
            </a:extLst>
          </p:cNvPr>
          <p:cNvSpPr>
            <a:spLocks noGrp="1"/>
          </p:cNvSpPr>
          <p:nvPr>
            <p:ph type="sldNum" sz="quarter" idx="12"/>
          </p:nvPr>
        </p:nvSpPr>
        <p:spPr/>
        <p:txBody>
          <a:bodyPr/>
          <a:lstStyle/>
          <a:p>
            <a:fld id="{D0617D14-1B55-43C0-819D-0D244AC23646}" type="slidenum">
              <a:rPr lang="de-AT" smtClean="0"/>
              <a:t>‹#›</a:t>
            </a:fld>
            <a:endParaRPr lang="de-AT"/>
          </a:p>
        </p:txBody>
      </p:sp>
      <p:sp>
        <p:nvSpPr>
          <p:cNvPr id="7" name="Titel 6">
            <a:extLst>
              <a:ext uri="{FF2B5EF4-FFF2-40B4-BE49-F238E27FC236}">
                <a16:creationId xmlns:a16="http://schemas.microsoft.com/office/drawing/2014/main" id="{1CDC1238-C893-4835-85CC-6C255E9F560B}"/>
              </a:ext>
            </a:extLst>
          </p:cNvPr>
          <p:cNvSpPr>
            <a:spLocks noGrp="1"/>
          </p:cNvSpPr>
          <p:nvPr>
            <p:ph type="title"/>
          </p:nvPr>
        </p:nvSpPr>
        <p:spPr/>
        <p:txBody>
          <a:bodyPr/>
          <a:lstStyle/>
          <a:p>
            <a:r>
              <a:rPr lang="en-US"/>
              <a:t>Click to edit Master title style</a:t>
            </a:r>
            <a:endParaRPr lang="de-AT"/>
          </a:p>
        </p:txBody>
      </p:sp>
    </p:spTree>
    <p:extLst>
      <p:ext uri="{BB962C8B-B14F-4D97-AF65-F5344CB8AC3E}">
        <p14:creationId xmlns:p14="http://schemas.microsoft.com/office/powerpoint/2010/main" val="5162320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7B8FDBD-31B4-4D04-8B83-083656EE5FCF}"/>
              </a:ext>
            </a:extLst>
          </p:cNvPr>
          <p:cNvSpPr>
            <a:spLocks noGrp="1"/>
          </p:cNvSpPr>
          <p:nvPr>
            <p:ph type="title"/>
          </p:nvPr>
        </p:nvSpPr>
        <p:spPr>
          <a:xfrm>
            <a:off x="695325" y="1709738"/>
            <a:ext cx="10801275" cy="2852737"/>
          </a:xfrm>
          <a:prstGeom prst="rect">
            <a:avLst/>
          </a:prstGeom>
        </p:spPr>
        <p:txBody>
          <a:bodyPr anchor="b">
            <a:normAutofit/>
          </a:bodyPr>
          <a:lstStyle>
            <a:lvl1pPr>
              <a:defRPr sz="3000"/>
            </a:lvl1pPr>
          </a:lstStyle>
          <a:p>
            <a:r>
              <a:rPr lang="en-US"/>
              <a:t>Click to edit Master title style</a:t>
            </a:r>
            <a:endParaRPr lang="de-AT"/>
          </a:p>
        </p:txBody>
      </p:sp>
      <p:sp>
        <p:nvSpPr>
          <p:cNvPr id="3" name="Textplatzhalter 2">
            <a:extLst>
              <a:ext uri="{FF2B5EF4-FFF2-40B4-BE49-F238E27FC236}">
                <a16:creationId xmlns:a16="http://schemas.microsoft.com/office/drawing/2014/main" id="{38CAB8A3-9F60-49BC-B437-6B4E2253C6F3}"/>
              </a:ext>
            </a:extLst>
          </p:cNvPr>
          <p:cNvSpPr>
            <a:spLocks noGrp="1"/>
          </p:cNvSpPr>
          <p:nvPr>
            <p:ph type="body" idx="1"/>
          </p:nvPr>
        </p:nvSpPr>
        <p:spPr>
          <a:xfrm>
            <a:off x="695325" y="4589463"/>
            <a:ext cx="10801275" cy="135981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umsplatzhalter 3">
            <a:extLst>
              <a:ext uri="{FF2B5EF4-FFF2-40B4-BE49-F238E27FC236}">
                <a16:creationId xmlns:a16="http://schemas.microsoft.com/office/drawing/2014/main" id="{EDF1D4AB-3EEA-4B02-82C9-F6BB9E0123C6}"/>
              </a:ext>
            </a:extLst>
          </p:cNvPr>
          <p:cNvSpPr>
            <a:spLocks noGrp="1"/>
          </p:cNvSpPr>
          <p:nvPr>
            <p:ph type="dt" sz="half" idx="10"/>
          </p:nvPr>
        </p:nvSpPr>
        <p:spPr/>
        <p:txBody>
          <a:bodyPr/>
          <a:lstStyle/>
          <a:p>
            <a:fld id="{463EDC64-8B5F-4A41-9ED5-5CFCED46FF50}" type="datetime1">
              <a:rPr lang="en-US" smtClean="0"/>
              <a:t>8/18/26</a:t>
            </a:fld>
            <a:endParaRPr lang="de-AT"/>
          </a:p>
        </p:txBody>
      </p:sp>
      <p:sp>
        <p:nvSpPr>
          <p:cNvPr id="5" name="Fußzeilenplatzhalter 4">
            <a:extLst>
              <a:ext uri="{FF2B5EF4-FFF2-40B4-BE49-F238E27FC236}">
                <a16:creationId xmlns:a16="http://schemas.microsoft.com/office/drawing/2014/main" id="{0233F298-7A96-4AF6-A2A2-1B8CCC54674A}"/>
              </a:ext>
            </a:extLst>
          </p:cNvPr>
          <p:cNvSpPr>
            <a:spLocks noGrp="1"/>
          </p:cNvSpPr>
          <p:nvPr>
            <p:ph type="ftr" sz="quarter" idx="11"/>
          </p:nvPr>
        </p:nvSpPr>
        <p:spPr/>
        <p:txBody>
          <a:bodyPr/>
          <a:lstStyle/>
          <a:p>
            <a:r>
              <a:rPr lang="de-AT"/>
              <a:t>IJCAI 2026, Bremen, Germany I Phil LeMaitre I 20.08.2026</a:t>
            </a:r>
          </a:p>
        </p:txBody>
      </p:sp>
      <p:sp>
        <p:nvSpPr>
          <p:cNvPr id="6" name="Foliennummernplatzhalter 5">
            <a:extLst>
              <a:ext uri="{FF2B5EF4-FFF2-40B4-BE49-F238E27FC236}">
                <a16:creationId xmlns:a16="http://schemas.microsoft.com/office/drawing/2014/main" id="{DEF18B5A-DEA1-4D52-885C-6807D3E0ABEB}"/>
              </a:ext>
            </a:extLst>
          </p:cNvPr>
          <p:cNvSpPr>
            <a:spLocks noGrp="1"/>
          </p:cNvSpPr>
          <p:nvPr>
            <p:ph type="sldNum" sz="quarter" idx="12"/>
          </p:nvPr>
        </p:nvSpPr>
        <p:spPr/>
        <p:txBody>
          <a:bodyPr/>
          <a:lstStyle/>
          <a:p>
            <a:fld id="{D0617D14-1B55-43C0-819D-0D244AC23646}" type="slidenum">
              <a:rPr lang="de-AT" smtClean="0"/>
              <a:t>‹#›</a:t>
            </a:fld>
            <a:endParaRPr lang="de-AT"/>
          </a:p>
        </p:txBody>
      </p:sp>
    </p:spTree>
    <p:extLst>
      <p:ext uri="{BB962C8B-B14F-4D97-AF65-F5344CB8AC3E}">
        <p14:creationId xmlns:p14="http://schemas.microsoft.com/office/powerpoint/2010/main" val="14479276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60BB3F39-69C5-491A-B23E-3EC5DFC98E34}"/>
              </a:ext>
            </a:extLst>
          </p:cNvPr>
          <p:cNvSpPr>
            <a:spLocks noGrp="1"/>
          </p:cNvSpPr>
          <p:nvPr>
            <p:ph sz="half" idx="1"/>
          </p:nvPr>
        </p:nvSpPr>
        <p:spPr>
          <a:xfrm>
            <a:off x="695399" y="1124744"/>
            <a:ext cx="5256585" cy="48245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AT"/>
          </a:p>
        </p:txBody>
      </p:sp>
      <p:sp>
        <p:nvSpPr>
          <p:cNvPr id="4" name="Inhaltsplatzhalter 3">
            <a:extLst>
              <a:ext uri="{FF2B5EF4-FFF2-40B4-BE49-F238E27FC236}">
                <a16:creationId xmlns:a16="http://schemas.microsoft.com/office/drawing/2014/main" id="{37030C33-F186-4007-B1CD-D018983D95EB}"/>
              </a:ext>
            </a:extLst>
          </p:cNvPr>
          <p:cNvSpPr>
            <a:spLocks noGrp="1"/>
          </p:cNvSpPr>
          <p:nvPr>
            <p:ph sz="half" idx="2"/>
          </p:nvPr>
        </p:nvSpPr>
        <p:spPr>
          <a:xfrm>
            <a:off x="6240014" y="1124744"/>
            <a:ext cx="5256585" cy="48245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AT"/>
          </a:p>
        </p:txBody>
      </p:sp>
      <p:sp>
        <p:nvSpPr>
          <p:cNvPr id="5" name="Datumsplatzhalter 4">
            <a:extLst>
              <a:ext uri="{FF2B5EF4-FFF2-40B4-BE49-F238E27FC236}">
                <a16:creationId xmlns:a16="http://schemas.microsoft.com/office/drawing/2014/main" id="{F6B61046-E478-4C18-A7A7-989009BBDB96}"/>
              </a:ext>
            </a:extLst>
          </p:cNvPr>
          <p:cNvSpPr>
            <a:spLocks noGrp="1"/>
          </p:cNvSpPr>
          <p:nvPr>
            <p:ph type="dt" sz="half" idx="10"/>
          </p:nvPr>
        </p:nvSpPr>
        <p:spPr/>
        <p:txBody>
          <a:bodyPr/>
          <a:lstStyle/>
          <a:p>
            <a:fld id="{A34FF8F8-58CD-4147-953F-47C274D37CE6}" type="datetime1">
              <a:rPr lang="en-US" smtClean="0"/>
              <a:t>8/18/26</a:t>
            </a:fld>
            <a:endParaRPr lang="de-AT"/>
          </a:p>
        </p:txBody>
      </p:sp>
      <p:sp>
        <p:nvSpPr>
          <p:cNvPr id="6" name="Fußzeilenplatzhalter 5">
            <a:extLst>
              <a:ext uri="{FF2B5EF4-FFF2-40B4-BE49-F238E27FC236}">
                <a16:creationId xmlns:a16="http://schemas.microsoft.com/office/drawing/2014/main" id="{6C0022B3-6375-4B24-A37E-9B4CFB067757}"/>
              </a:ext>
            </a:extLst>
          </p:cNvPr>
          <p:cNvSpPr>
            <a:spLocks noGrp="1"/>
          </p:cNvSpPr>
          <p:nvPr>
            <p:ph type="ftr" sz="quarter" idx="11"/>
          </p:nvPr>
        </p:nvSpPr>
        <p:spPr/>
        <p:txBody>
          <a:bodyPr/>
          <a:lstStyle/>
          <a:p>
            <a:r>
              <a:rPr lang="de-AT"/>
              <a:t>IJCAI 2026, Bremen, Germany I Phil LeMaitre I 20.08.2026</a:t>
            </a:r>
          </a:p>
        </p:txBody>
      </p:sp>
      <p:sp>
        <p:nvSpPr>
          <p:cNvPr id="7" name="Foliennummernplatzhalter 6">
            <a:extLst>
              <a:ext uri="{FF2B5EF4-FFF2-40B4-BE49-F238E27FC236}">
                <a16:creationId xmlns:a16="http://schemas.microsoft.com/office/drawing/2014/main" id="{A1F0E2EA-826C-45D2-ACC0-C9C5FEDF5657}"/>
              </a:ext>
            </a:extLst>
          </p:cNvPr>
          <p:cNvSpPr>
            <a:spLocks noGrp="1"/>
          </p:cNvSpPr>
          <p:nvPr>
            <p:ph type="sldNum" sz="quarter" idx="12"/>
          </p:nvPr>
        </p:nvSpPr>
        <p:spPr/>
        <p:txBody>
          <a:bodyPr/>
          <a:lstStyle/>
          <a:p>
            <a:fld id="{D0617D14-1B55-43C0-819D-0D244AC23646}" type="slidenum">
              <a:rPr lang="de-AT" smtClean="0"/>
              <a:t>‹#›</a:t>
            </a:fld>
            <a:endParaRPr lang="de-AT"/>
          </a:p>
        </p:txBody>
      </p:sp>
      <p:sp>
        <p:nvSpPr>
          <p:cNvPr id="8" name="Titel 7">
            <a:extLst>
              <a:ext uri="{FF2B5EF4-FFF2-40B4-BE49-F238E27FC236}">
                <a16:creationId xmlns:a16="http://schemas.microsoft.com/office/drawing/2014/main" id="{0B57E19A-F4B8-4DC2-8BFF-E77129F06D93}"/>
              </a:ext>
            </a:extLst>
          </p:cNvPr>
          <p:cNvSpPr>
            <a:spLocks noGrp="1"/>
          </p:cNvSpPr>
          <p:nvPr>
            <p:ph type="title"/>
          </p:nvPr>
        </p:nvSpPr>
        <p:spPr/>
        <p:txBody>
          <a:bodyPr/>
          <a:lstStyle/>
          <a:p>
            <a:r>
              <a:rPr lang="en-US"/>
              <a:t>Click to edit Master title style</a:t>
            </a:r>
            <a:endParaRPr lang="de-AT"/>
          </a:p>
        </p:txBody>
      </p:sp>
    </p:spTree>
    <p:extLst>
      <p:ext uri="{BB962C8B-B14F-4D97-AF65-F5344CB8AC3E}">
        <p14:creationId xmlns:p14="http://schemas.microsoft.com/office/powerpoint/2010/main" val="12895767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Vergleich">
    <p:spTree>
      <p:nvGrpSpPr>
        <p:cNvPr id="1" name=""/>
        <p:cNvGrpSpPr/>
        <p:nvPr/>
      </p:nvGrpSpPr>
      <p:grpSpPr>
        <a:xfrm>
          <a:off x="0" y="0"/>
          <a:ext cx="0" cy="0"/>
          <a:chOff x="0" y="0"/>
          <a:chExt cx="0" cy="0"/>
        </a:xfrm>
      </p:grpSpPr>
      <p:sp>
        <p:nvSpPr>
          <p:cNvPr id="3" name="Textplatzhalter 2">
            <a:extLst>
              <a:ext uri="{FF2B5EF4-FFF2-40B4-BE49-F238E27FC236}">
                <a16:creationId xmlns:a16="http://schemas.microsoft.com/office/drawing/2014/main" id="{0EBAB14F-6F2B-46CB-AB06-768840028F78}"/>
              </a:ext>
            </a:extLst>
          </p:cNvPr>
          <p:cNvSpPr>
            <a:spLocks noGrp="1"/>
          </p:cNvSpPr>
          <p:nvPr>
            <p:ph type="body" idx="1"/>
          </p:nvPr>
        </p:nvSpPr>
        <p:spPr>
          <a:xfrm>
            <a:off x="695325" y="1124744"/>
            <a:ext cx="5256659" cy="57606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Inhaltsplatzhalter 3">
            <a:extLst>
              <a:ext uri="{FF2B5EF4-FFF2-40B4-BE49-F238E27FC236}">
                <a16:creationId xmlns:a16="http://schemas.microsoft.com/office/drawing/2014/main" id="{642ADAC9-3884-480C-BE29-94657F38DBCA}"/>
              </a:ext>
            </a:extLst>
          </p:cNvPr>
          <p:cNvSpPr>
            <a:spLocks noGrp="1"/>
          </p:cNvSpPr>
          <p:nvPr>
            <p:ph sz="half" idx="2"/>
          </p:nvPr>
        </p:nvSpPr>
        <p:spPr>
          <a:xfrm>
            <a:off x="695325" y="1772816"/>
            <a:ext cx="5256659" cy="41764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AT"/>
          </a:p>
        </p:txBody>
      </p:sp>
      <p:sp>
        <p:nvSpPr>
          <p:cNvPr id="5" name="Textplatzhalter 4">
            <a:extLst>
              <a:ext uri="{FF2B5EF4-FFF2-40B4-BE49-F238E27FC236}">
                <a16:creationId xmlns:a16="http://schemas.microsoft.com/office/drawing/2014/main" id="{F56FDCD5-B563-4FC7-988F-9947EA2BD9B8}"/>
              </a:ext>
            </a:extLst>
          </p:cNvPr>
          <p:cNvSpPr>
            <a:spLocks noGrp="1"/>
          </p:cNvSpPr>
          <p:nvPr>
            <p:ph type="body" sz="quarter" idx="3"/>
          </p:nvPr>
        </p:nvSpPr>
        <p:spPr>
          <a:xfrm>
            <a:off x="6240014" y="1120296"/>
            <a:ext cx="5256585" cy="57606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Inhaltsplatzhalter 5">
            <a:extLst>
              <a:ext uri="{FF2B5EF4-FFF2-40B4-BE49-F238E27FC236}">
                <a16:creationId xmlns:a16="http://schemas.microsoft.com/office/drawing/2014/main" id="{659056A8-5F21-41F4-939D-6F8675D31C2E}"/>
              </a:ext>
            </a:extLst>
          </p:cNvPr>
          <p:cNvSpPr>
            <a:spLocks noGrp="1"/>
          </p:cNvSpPr>
          <p:nvPr>
            <p:ph sz="quarter" idx="4"/>
          </p:nvPr>
        </p:nvSpPr>
        <p:spPr>
          <a:xfrm>
            <a:off x="6240013" y="1769400"/>
            <a:ext cx="5256585" cy="41764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AT"/>
          </a:p>
        </p:txBody>
      </p:sp>
      <p:sp>
        <p:nvSpPr>
          <p:cNvPr id="7" name="Datumsplatzhalter 6">
            <a:extLst>
              <a:ext uri="{FF2B5EF4-FFF2-40B4-BE49-F238E27FC236}">
                <a16:creationId xmlns:a16="http://schemas.microsoft.com/office/drawing/2014/main" id="{9A263CFE-F881-4D85-86D9-85FA5842F427}"/>
              </a:ext>
            </a:extLst>
          </p:cNvPr>
          <p:cNvSpPr>
            <a:spLocks noGrp="1"/>
          </p:cNvSpPr>
          <p:nvPr>
            <p:ph type="dt" sz="half" idx="10"/>
          </p:nvPr>
        </p:nvSpPr>
        <p:spPr/>
        <p:txBody>
          <a:bodyPr/>
          <a:lstStyle/>
          <a:p>
            <a:fld id="{828A90ED-FD2B-9B47-A48C-43DFE33A7F5C}" type="datetime1">
              <a:rPr lang="en-US" smtClean="0"/>
              <a:t>8/18/26</a:t>
            </a:fld>
            <a:endParaRPr lang="de-AT"/>
          </a:p>
        </p:txBody>
      </p:sp>
      <p:sp>
        <p:nvSpPr>
          <p:cNvPr id="8" name="Fußzeilenplatzhalter 7">
            <a:extLst>
              <a:ext uri="{FF2B5EF4-FFF2-40B4-BE49-F238E27FC236}">
                <a16:creationId xmlns:a16="http://schemas.microsoft.com/office/drawing/2014/main" id="{FCC2BBAD-3480-48CA-A529-35992336D4A3}"/>
              </a:ext>
            </a:extLst>
          </p:cNvPr>
          <p:cNvSpPr>
            <a:spLocks noGrp="1"/>
          </p:cNvSpPr>
          <p:nvPr>
            <p:ph type="ftr" sz="quarter" idx="11"/>
          </p:nvPr>
        </p:nvSpPr>
        <p:spPr/>
        <p:txBody>
          <a:bodyPr/>
          <a:lstStyle/>
          <a:p>
            <a:r>
              <a:rPr lang="de-AT"/>
              <a:t>IJCAI 2026, Bremen, Germany I Phil LeMaitre I 20.08.2026</a:t>
            </a:r>
          </a:p>
        </p:txBody>
      </p:sp>
      <p:sp>
        <p:nvSpPr>
          <p:cNvPr id="9" name="Foliennummernplatzhalter 8">
            <a:extLst>
              <a:ext uri="{FF2B5EF4-FFF2-40B4-BE49-F238E27FC236}">
                <a16:creationId xmlns:a16="http://schemas.microsoft.com/office/drawing/2014/main" id="{31237708-2F44-402D-A07E-1A1D355A025C}"/>
              </a:ext>
            </a:extLst>
          </p:cNvPr>
          <p:cNvSpPr>
            <a:spLocks noGrp="1"/>
          </p:cNvSpPr>
          <p:nvPr>
            <p:ph type="sldNum" sz="quarter" idx="12"/>
          </p:nvPr>
        </p:nvSpPr>
        <p:spPr/>
        <p:txBody>
          <a:bodyPr/>
          <a:lstStyle/>
          <a:p>
            <a:fld id="{D0617D14-1B55-43C0-819D-0D244AC23646}" type="slidenum">
              <a:rPr lang="de-AT" smtClean="0"/>
              <a:t>‹#›</a:t>
            </a:fld>
            <a:endParaRPr lang="de-AT"/>
          </a:p>
        </p:txBody>
      </p:sp>
      <p:sp>
        <p:nvSpPr>
          <p:cNvPr id="10" name="Titel 9">
            <a:extLst>
              <a:ext uri="{FF2B5EF4-FFF2-40B4-BE49-F238E27FC236}">
                <a16:creationId xmlns:a16="http://schemas.microsoft.com/office/drawing/2014/main" id="{8184191F-B93B-44AA-8611-17F5295610ED}"/>
              </a:ext>
            </a:extLst>
          </p:cNvPr>
          <p:cNvSpPr>
            <a:spLocks noGrp="1"/>
          </p:cNvSpPr>
          <p:nvPr>
            <p:ph type="title"/>
          </p:nvPr>
        </p:nvSpPr>
        <p:spPr/>
        <p:txBody>
          <a:bodyPr/>
          <a:lstStyle/>
          <a:p>
            <a:r>
              <a:rPr lang="en-US"/>
              <a:t>Click to edit Master title style</a:t>
            </a:r>
            <a:endParaRPr lang="de-AT"/>
          </a:p>
        </p:txBody>
      </p:sp>
    </p:spTree>
    <p:extLst>
      <p:ext uri="{BB962C8B-B14F-4D97-AF65-F5344CB8AC3E}">
        <p14:creationId xmlns:p14="http://schemas.microsoft.com/office/powerpoint/2010/main" val="1188502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F1B10E69-4ECC-4600-9446-E89CD97F2F4A}"/>
              </a:ext>
            </a:extLst>
          </p:cNvPr>
          <p:cNvSpPr>
            <a:spLocks noGrp="1"/>
          </p:cNvSpPr>
          <p:nvPr>
            <p:ph type="dt" sz="half" idx="10"/>
          </p:nvPr>
        </p:nvSpPr>
        <p:spPr/>
        <p:txBody>
          <a:bodyPr/>
          <a:lstStyle/>
          <a:p>
            <a:fld id="{7E67E28F-626A-264B-9E50-D4852E09731A}" type="datetime1">
              <a:rPr lang="en-US" smtClean="0"/>
              <a:t>8/18/26</a:t>
            </a:fld>
            <a:endParaRPr lang="de-AT"/>
          </a:p>
        </p:txBody>
      </p:sp>
      <p:sp>
        <p:nvSpPr>
          <p:cNvPr id="4" name="Fußzeilenplatzhalter 3">
            <a:extLst>
              <a:ext uri="{FF2B5EF4-FFF2-40B4-BE49-F238E27FC236}">
                <a16:creationId xmlns:a16="http://schemas.microsoft.com/office/drawing/2014/main" id="{E6038B8C-7CF4-4BA9-96EA-E297A5DA88AE}"/>
              </a:ext>
            </a:extLst>
          </p:cNvPr>
          <p:cNvSpPr>
            <a:spLocks noGrp="1"/>
          </p:cNvSpPr>
          <p:nvPr>
            <p:ph type="ftr" sz="quarter" idx="11"/>
          </p:nvPr>
        </p:nvSpPr>
        <p:spPr/>
        <p:txBody>
          <a:bodyPr/>
          <a:lstStyle/>
          <a:p>
            <a:r>
              <a:rPr lang="de-AT"/>
              <a:t>IJCAI 2026, Bremen, Germany I Phil LeMaitre I 20.08.2026</a:t>
            </a:r>
          </a:p>
        </p:txBody>
      </p:sp>
      <p:sp>
        <p:nvSpPr>
          <p:cNvPr id="5" name="Foliennummernplatzhalter 4">
            <a:extLst>
              <a:ext uri="{FF2B5EF4-FFF2-40B4-BE49-F238E27FC236}">
                <a16:creationId xmlns:a16="http://schemas.microsoft.com/office/drawing/2014/main" id="{751118D6-5E56-4935-BA78-AF6BE9D12231}"/>
              </a:ext>
            </a:extLst>
          </p:cNvPr>
          <p:cNvSpPr>
            <a:spLocks noGrp="1"/>
          </p:cNvSpPr>
          <p:nvPr>
            <p:ph type="sldNum" sz="quarter" idx="12"/>
          </p:nvPr>
        </p:nvSpPr>
        <p:spPr/>
        <p:txBody>
          <a:bodyPr/>
          <a:lstStyle/>
          <a:p>
            <a:fld id="{D0617D14-1B55-43C0-819D-0D244AC23646}" type="slidenum">
              <a:rPr lang="de-AT" smtClean="0"/>
              <a:t>‹#›</a:t>
            </a:fld>
            <a:endParaRPr lang="de-AT"/>
          </a:p>
        </p:txBody>
      </p:sp>
      <p:sp>
        <p:nvSpPr>
          <p:cNvPr id="6" name="Titel 5">
            <a:extLst>
              <a:ext uri="{FF2B5EF4-FFF2-40B4-BE49-F238E27FC236}">
                <a16:creationId xmlns:a16="http://schemas.microsoft.com/office/drawing/2014/main" id="{DA2F99A1-CCA6-4863-8703-3807A8AD73B3}"/>
              </a:ext>
            </a:extLst>
          </p:cNvPr>
          <p:cNvSpPr>
            <a:spLocks noGrp="1"/>
          </p:cNvSpPr>
          <p:nvPr>
            <p:ph type="title"/>
          </p:nvPr>
        </p:nvSpPr>
        <p:spPr/>
        <p:txBody>
          <a:bodyPr/>
          <a:lstStyle/>
          <a:p>
            <a:r>
              <a:rPr lang="en-US"/>
              <a:t>Click to edit Master title style</a:t>
            </a:r>
            <a:endParaRPr lang="de-AT"/>
          </a:p>
        </p:txBody>
      </p:sp>
    </p:spTree>
    <p:extLst>
      <p:ext uri="{BB962C8B-B14F-4D97-AF65-F5344CB8AC3E}">
        <p14:creationId xmlns:p14="http://schemas.microsoft.com/office/powerpoint/2010/main" val="16713676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D33B1515-0EC6-4B84-92AF-159C2C422F36}"/>
              </a:ext>
            </a:extLst>
          </p:cNvPr>
          <p:cNvSpPr>
            <a:spLocks noGrp="1"/>
          </p:cNvSpPr>
          <p:nvPr>
            <p:ph type="dt" sz="half" idx="10"/>
          </p:nvPr>
        </p:nvSpPr>
        <p:spPr/>
        <p:txBody>
          <a:bodyPr/>
          <a:lstStyle/>
          <a:p>
            <a:fld id="{9E0772F6-424A-CF4D-AF58-964ECBA94E29}" type="datetime1">
              <a:rPr lang="en-US" smtClean="0"/>
              <a:t>8/18/26</a:t>
            </a:fld>
            <a:endParaRPr lang="de-AT"/>
          </a:p>
        </p:txBody>
      </p:sp>
      <p:sp>
        <p:nvSpPr>
          <p:cNvPr id="3" name="Fußzeilenplatzhalter 2">
            <a:extLst>
              <a:ext uri="{FF2B5EF4-FFF2-40B4-BE49-F238E27FC236}">
                <a16:creationId xmlns:a16="http://schemas.microsoft.com/office/drawing/2014/main" id="{4F6B6A2B-A4C8-4BCD-BFAF-2FF68AEAD7E0}"/>
              </a:ext>
            </a:extLst>
          </p:cNvPr>
          <p:cNvSpPr>
            <a:spLocks noGrp="1"/>
          </p:cNvSpPr>
          <p:nvPr>
            <p:ph type="ftr" sz="quarter" idx="11"/>
          </p:nvPr>
        </p:nvSpPr>
        <p:spPr/>
        <p:txBody>
          <a:bodyPr/>
          <a:lstStyle/>
          <a:p>
            <a:r>
              <a:rPr lang="de-AT"/>
              <a:t>IJCAI 2026, Bremen, Germany I Phil LeMaitre I 20.08.2026</a:t>
            </a:r>
          </a:p>
        </p:txBody>
      </p:sp>
      <p:sp>
        <p:nvSpPr>
          <p:cNvPr id="4" name="Foliennummernplatzhalter 3">
            <a:extLst>
              <a:ext uri="{FF2B5EF4-FFF2-40B4-BE49-F238E27FC236}">
                <a16:creationId xmlns:a16="http://schemas.microsoft.com/office/drawing/2014/main" id="{99138A11-1CD8-4E58-A751-07DAE449FD96}"/>
              </a:ext>
            </a:extLst>
          </p:cNvPr>
          <p:cNvSpPr>
            <a:spLocks noGrp="1"/>
          </p:cNvSpPr>
          <p:nvPr>
            <p:ph type="sldNum" sz="quarter" idx="12"/>
          </p:nvPr>
        </p:nvSpPr>
        <p:spPr/>
        <p:txBody>
          <a:bodyPr/>
          <a:lstStyle/>
          <a:p>
            <a:fld id="{D0617D14-1B55-43C0-819D-0D244AC23646}" type="slidenum">
              <a:rPr lang="de-AT" smtClean="0"/>
              <a:t>‹#›</a:t>
            </a:fld>
            <a:endParaRPr lang="de-AT"/>
          </a:p>
        </p:txBody>
      </p:sp>
    </p:spTree>
    <p:extLst>
      <p:ext uri="{BB962C8B-B14F-4D97-AF65-F5344CB8AC3E}">
        <p14:creationId xmlns:p14="http://schemas.microsoft.com/office/powerpoint/2010/main" val="3899171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3B835DC-1E16-4EDD-8F21-6C9F708B6161}"/>
              </a:ext>
            </a:extLst>
          </p:cNvPr>
          <p:cNvSpPr>
            <a:spLocks noGrp="1"/>
          </p:cNvSpPr>
          <p:nvPr>
            <p:ph type="title"/>
          </p:nvPr>
        </p:nvSpPr>
        <p:spPr>
          <a:xfrm>
            <a:off x="695326" y="333375"/>
            <a:ext cx="4104530" cy="1151409"/>
          </a:xfrm>
          <a:prstGeom prst="rect">
            <a:avLst/>
          </a:prstGeom>
        </p:spPr>
        <p:txBody>
          <a:bodyPr anchor="b">
            <a:normAutofit/>
          </a:bodyPr>
          <a:lstStyle>
            <a:lvl1pPr>
              <a:defRPr sz="2800"/>
            </a:lvl1pPr>
          </a:lstStyle>
          <a:p>
            <a:r>
              <a:rPr lang="en-US"/>
              <a:t>Click to edit Master title style</a:t>
            </a:r>
            <a:endParaRPr lang="de-AT" dirty="0"/>
          </a:p>
        </p:txBody>
      </p:sp>
      <p:sp>
        <p:nvSpPr>
          <p:cNvPr id="3" name="Inhaltsplatzhalter 2">
            <a:extLst>
              <a:ext uri="{FF2B5EF4-FFF2-40B4-BE49-F238E27FC236}">
                <a16:creationId xmlns:a16="http://schemas.microsoft.com/office/drawing/2014/main" id="{58C8C1CC-4F86-497F-9300-01063FC179DE}"/>
              </a:ext>
            </a:extLst>
          </p:cNvPr>
          <p:cNvSpPr>
            <a:spLocks noGrp="1"/>
          </p:cNvSpPr>
          <p:nvPr>
            <p:ph idx="1"/>
          </p:nvPr>
        </p:nvSpPr>
        <p:spPr>
          <a:xfrm>
            <a:off x="5087888" y="333375"/>
            <a:ext cx="6408712" cy="5615905"/>
          </a:xfrm>
        </p:spPr>
        <p:txBody>
          <a:bodyPr/>
          <a:lstStyle>
            <a:lvl1pPr>
              <a:defRPr sz="2400"/>
            </a:lvl1pPr>
            <a:lvl2pPr>
              <a:defRPr sz="20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AT" dirty="0"/>
          </a:p>
        </p:txBody>
      </p:sp>
      <p:sp>
        <p:nvSpPr>
          <p:cNvPr id="4" name="Textplatzhalter 3">
            <a:extLst>
              <a:ext uri="{FF2B5EF4-FFF2-40B4-BE49-F238E27FC236}">
                <a16:creationId xmlns:a16="http://schemas.microsoft.com/office/drawing/2014/main" id="{107D65E3-BA38-4663-80FD-629DAF4F96B8}"/>
              </a:ext>
            </a:extLst>
          </p:cNvPr>
          <p:cNvSpPr>
            <a:spLocks noGrp="1"/>
          </p:cNvSpPr>
          <p:nvPr>
            <p:ph type="body" sz="half" idx="2"/>
          </p:nvPr>
        </p:nvSpPr>
        <p:spPr>
          <a:xfrm>
            <a:off x="695326" y="1700808"/>
            <a:ext cx="4104530" cy="4248472"/>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umsplatzhalter 4">
            <a:extLst>
              <a:ext uri="{FF2B5EF4-FFF2-40B4-BE49-F238E27FC236}">
                <a16:creationId xmlns:a16="http://schemas.microsoft.com/office/drawing/2014/main" id="{DF117A17-1C4B-487E-812B-ACE0154104EB}"/>
              </a:ext>
            </a:extLst>
          </p:cNvPr>
          <p:cNvSpPr>
            <a:spLocks noGrp="1"/>
          </p:cNvSpPr>
          <p:nvPr>
            <p:ph type="dt" sz="half" idx="10"/>
          </p:nvPr>
        </p:nvSpPr>
        <p:spPr/>
        <p:txBody>
          <a:bodyPr/>
          <a:lstStyle/>
          <a:p>
            <a:fld id="{810E1C55-D53B-CE4A-B64B-B9DB7B3816B6}" type="datetime1">
              <a:rPr lang="en-US" smtClean="0"/>
              <a:t>8/18/26</a:t>
            </a:fld>
            <a:endParaRPr lang="de-AT"/>
          </a:p>
        </p:txBody>
      </p:sp>
      <p:sp>
        <p:nvSpPr>
          <p:cNvPr id="6" name="Fußzeilenplatzhalter 5">
            <a:extLst>
              <a:ext uri="{FF2B5EF4-FFF2-40B4-BE49-F238E27FC236}">
                <a16:creationId xmlns:a16="http://schemas.microsoft.com/office/drawing/2014/main" id="{08ECA08F-2904-4D77-A825-46BE30DE8E42}"/>
              </a:ext>
            </a:extLst>
          </p:cNvPr>
          <p:cNvSpPr>
            <a:spLocks noGrp="1"/>
          </p:cNvSpPr>
          <p:nvPr>
            <p:ph type="ftr" sz="quarter" idx="11"/>
          </p:nvPr>
        </p:nvSpPr>
        <p:spPr/>
        <p:txBody>
          <a:bodyPr/>
          <a:lstStyle/>
          <a:p>
            <a:r>
              <a:rPr lang="de-AT"/>
              <a:t>IJCAI 2026, Bremen, Germany I Phil LeMaitre I 20.08.2026</a:t>
            </a:r>
          </a:p>
        </p:txBody>
      </p:sp>
      <p:sp>
        <p:nvSpPr>
          <p:cNvPr id="7" name="Foliennummernplatzhalter 6">
            <a:extLst>
              <a:ext uri="{FF2B5EF4-FFF2-40B4-BE49-F238E27FC236}">
                <a16:creationId xmlns:a16="http://schemas.microsoft.com/office/drawing/2014/main" id="{6EC7F59D-8933-4ED7-AA87-863803A8B989}"/>
              </a:ext>
            </a:extLst>
          </p:cNvPr>
          <p:cNvSpPr>
            <a:spLocks noGrp="1"/>
          </p:cNvSpPr>
          <p:nvPr>
            <p:ph type="sldNum" sz="quarter" idx="12"/>
          </p:nvPr>
        </p:nvSpPr>
        <p:spPr/>
        <p:txBody>
          <a:bodyPr/>
          <a:lstStyle/>
          <a:p>
            <a:fld id="{D0617D14-1B55-43C0-819D-0D244AC23646}" type="slidenum">
              <a:rPr lang="de-AT" smtClean="0"/>
              <a:t>‹#›</a:t>
            </a:fld>
            <a:endParaRPr lang="de-AT"/>
          </a:p>
        </p:txBody>
      </p:sp>
    </p:spTree>
    <p:extLst>
      <p:ext uri="{BB962C8B-B14F-4D97-AF65-F5344CB8AC3E}">
        <p14:creationId xmlns:p14="http://schemas.microsoft.com/office/powerpoint/2010/main" val="12455885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F75EAE6-23BB-4FEA-852F-163D8E1669A3}"/>
              </a:ext>
            </a:extLst>
          </p:cNvPr>
          <p:cNvSpPr>
            <a:spLocks noGrp="1"/>
          </p:cNvSpPr>
          <p:nvPr>
            <p:ph type="title"/>
          </p:nvPr>
        </p:nvSpPr>
        <p:spPr>
          <a:xfrm>
            <a:off x="695324" y="333375"/>
            <a:ext cx="4104532" cy="1151409"/>
          </a:xfrm>
          <a:prstGeom prst="rect">
            <a:avLst/>
          </a:prstGeom>
        </p:spPr>
        <p:txBody>
          <a:bodyPr anchor="b">
            <a:normAutofit/>
          </a:bodyPr>
          <a:lstStyle>
            <a:lvl1pPr>
              <a:defRPr sz="2800"/>
            </a:lvl1pPr>
          </a:lstStyle>
          <a:p>
            <a:r>
              <a:rPr lang="en-US"/>
              <a:t>Click to edit Master title style</a:t>
            </a:r>
            <a:endParaRPr lang="de-AT"/>
          </a:p>
        </p:txBody>
      </p:sp>
      <p:sp>
        <p:nvSpPr>
          <p:cNvPr id="3" name="Bildplatzhalter 2">
            <a:extLst>
              <a:ext uri="{FF2B5EF4-FFF2-40B4-BE49-F238E27FC236}">
                <a16:creationId xmlns:a16="http://schemas.microsoft.com/office/drawing/2014/main" id="{D6586F6F-2E4F-4A36-96E3-6D497D84ECAE}"/>
              </a:ext>
            </a:extLst>
          </p:cNvPr>
          <p:cNvSpPr>
            <a:spLocks noGrp="1"/>
          </p:cNvSpPr>
          <p:nvPr>
            <p:ph type="pic" idx="1"/>
          </p:nvPr>
        </p:nvSpPr>
        <p:spPr>
          <a:xfrm>
            <a:off x="5087888" y="340226"/>
            <a:ext cx="6408712" cy="5609054"/>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de-AT"/>
          </a:p>
        </p:txBody>
      </p:sp>
      <p:sp>
        <p:nvSpPr>
          <p:cNvPr id="4" name="Textplatzhalter 3">
            <a:extLst>
              <a:ext uri="{FF2B5EF4-FFF2-40B4-BE49-F238E27FC236}">
                <a16:creationId xmlns:a16="http://schemas.microsoft.com/office/drawing/2014/main" id="{13D56DDB-FADF-49C5-9809-768422AD1492}"/>
              </a:ext>
            </a:extLst>
          </p:cNvPr>
          <p:cNvSpPr>
            <a:spLocks noGrp="1"/>
          </p:cNvSpPr>
          <p:nvPr>
            <p:ph type="body" sz="half" idx="2"/>
          </p:nvPr>
        </p:nvSpPr>
        <p:spPr>
          <a:xfrm>
            <a:off x="695325" y="1700808"/>
            <a:ext cx="4104531" cy="4248472"/>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umsplatzhalter 4">
            <a:extLst>
              <a:ext uri="{FF2B5EF4-FFF2-40B4-BE49-F238E27FC236}">
                <a16:creationId xmlns:a16="http://schemas.microsoft.com/office/drawing/2014/main" id="{12E4E76F-0F8F-4D3E-911C-356098EB7A01}"/>
              </a:ext>
            </a:extLst>
          </p:cNvPr>
          <p:cNvSpPr>
            <a:spLocks noGrp="1"/>
          </p:cNvSpPr>
          <p:nvPr>
            <p:ph type="dt" sz="half" idx="10"/>
          </p:nvPr>
        </p:nvSpPr>
        <p:spPr/>
        <p:txBody>
          <a:bodyPr/>
          <a:lstStyle/>
          <a:p>
            <a:fld id="{53E63EE5-DE8E-1B46-BC12-834EF17B1720}" type="datetime1">
              <a:rPr lang="en-US" smtClean="0"/>
              <a:t>8/18/26</a:t>
            </a:fld>
            <a:endParaRPr lang="de-AT"/>
          </a:p>
        </p:txBody>
      </p:sp>
      <p:sp>
        <p:nvSpPr>
          <p:cNvPr id="6" name="Fußzeilenplatzhalter 5">
            <a:extLst>
              <a:ext uri="{FF2B5EF4-FFF2-40B4-BE49-F238E27FC236}">
                <a16:creationId xmlns:a16="http://schemas.microsoft.com/office/drawing/2014/main" id="{BF32B37C-0987-4DBE-8AE5-F6BE2589D6F0}"/>
              </a:ext>
            </a:extLst>
          </p:cNvPr>
          <p:cNvSpPr>
            <a:spLocks noGrp="1"/>
          </p:cNvSpPr>
          <p:nvPr>
            <p:ph type="ftr" sz="quarter" idx="11"/>
          </p:nvPr>
        </p:nvSpPr>
        <p:spPr/>
        <p:txBody>
          <a:bodyPr/>
          <a:lstStyle/>
          <a:p>
            <a:r>
              <a:rPr lang="de-AT"/>
              <a:t>IJCAI 2026, Bremen, Germany I Phil LeMaitre I 20.08.2026</a:t>
            </a:r>
          </a:p>
        </p:txBody>
      </p:sp>
      <p:sp>
        <p:nvSpPr>
          <p:cNvPr id="7" name="Foliennummernplatzhalter 6">
            <a:extLst>
              <a:ext uri="{FF2B5EF4-FFF2-40B4-BE49-F238E27FC236}">
                <a16:creationId xmlns:a16="http://schemas.microsoft.com/office/drawing/2014/main" id="{2FE9802D-53D8-4ADF-A795-D77A3ED744FF}"/>
              </a:ext>
            </a:extLst>
          </p:cNvPr>
          <p:cNvSpPr>
            <a:spLocks noGrp="1"/>
          </p:cNvSpPr>
          <p:nvPr>
            <p:ph type="sldNum" sz="quarter" idx="12"/>
          </p:nvPr>
        </p:nvSpPr>
        <p:spPr/>
        <p:txBody>
          <a:bodyPr/>
          <a:lstStyle/>
          <a:p>
            <a:fld id="{D0617D14-1B55-43C0-819D-0D244AC23646}" type="slidenum">
              <a:rPr lang="de-AT" smtClean="0"/>
              <a:t>‹#›</a:t>
            </a:fld>
            <a:endParaRPr lang="de-AT"/>
          </a:p>
        </p:txBody>
      </p:sp>
    </p:spTree>
    <p:extLst>
      <p:ext uri="{BB962C8B-B14F-4D97-AF65-F5344CB8AC3E}">
        <p14:creationId xmlns:p14="http://schemas.microsoft.com/office/powerpoint/2010/main" val="6284830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el und vertikaler Text">
    <p:spTree>
      <p:nvGrpSpPr>
        <p:cNvPr id="1" name=""/>
        <p:cNvGrpSpPr/>
        <p:nvPr/>
      </p:nvGrpSpPr>
      <p:grpSpPr>
        <a:xfrm>
          <a:off x="0" y="0"/>
          <a:ext cx="0" cy="0"/>
          <a:chOff x="0" y="0"/>
          <a:chExt cx="0" cy="0"/>
        </a:xfrm>
      </p:grpSpPr>
      <p:sp>
        <p:nvSpPr>
          <p:cNvPr id="3" name="Vertikaler Textplatzhalter 2">
            <a:extLst>
              <a:ext uri="{FF2B5EF4-FFF2-40B4-BE49-F238E27FC236}">
                <a16:creationId xmlns:a16="http://schemas.microsoft.com/office/drawing/2014/main" id="{4C5EAB1F-B43A-4658-9581-D76D14F85F2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AT"/>
          </a:p>
        </p:txBody>
      </p:sp>
      <p:sp>
        <p:nvSpPr>
          <p:cNvPr id="4" name="Datumsplatzhalter 3">
            <a:extLst>
              <a:ext uri="{FF2B5EF4-FFF2-40B4-BE49-F238E27FC236}">
                <a16:creationId xmlns:a16="http://schemas.microsoft.com/office/drawing/2014/main" id="{3389A0FB-EEC3-4EF0-9ADD-A25306DA90FE}"/>
              </a:ext>
            </a:extLst>
          </p:cNvPr>
          <p:cNvSpPr>
            <a:spLocks noGrp="1"/>
          </p:cNvSpPr>
          <p:nvPr>
            <p:ph type="dt" sz="half" idx="10"/>
          </p:nvPr>
        </p:nvSpPr>
        <p:spPr/>
        <p:txBody>
          <a:bodyPr/>
          <a:lstStyle/>
          <a:p>
            <a:fld id="{E1B95723-C72D-0B43-A1A4-FA13C19C88D8}" type="datetime1">
              <a:rPr lang="en-US" smtClean="0"/>
              <a:t>8/18/26</a:t>
            </a:fld>
            <a:endParaRPr lang="de-AT"/>
          </a:p>
        </p:txBody>
      </p:sp>
      <p:sp>
        <p:nvSpPr>
          <p:cNvPr id="5" name="Fußzeilenplatzhalter 4">
            <a:extLst>
              <a:ext uri="{FF2B5EF4-FFF2-40B4-BE49-F238E27FC236}">
                <a16:creationId xmlns:a16="http://schemas.microsoft.com/office/drawing/2014/main" id="{BA7103B7-551F-4B50-A5D4-7E57DED5CE0A}"/>
              </a:ext>
            </a:extLst>
          </p:cNvPr>
          <p:cNvSpPr>
            <a:spLocks noGrp="1"/>
          </p:cNvSpPr>
          <p:nvPr>
            <p:ph type="ftr" sz="quarter" idx="11"/>
          </p:nvPr>
        </p:nvSpPr>
        <p:spPr/>
        <p:txBody>
          <a:bodyPr/>
          <a:lstStyle/>
          <a:p>
            <a:r>
              <a:rPr lang="de-AT"/>
              <a:t>IJCAI 2026, Bremen, Germany I Phil LeMaitre I 20.08.2026</a:t>
            </a:r>
          </a:p>
        </p:txBody>
      </p:sp>
      <p:sp>
        <p:nvSpPr>
          <p:cNvPr id="6" name="Foliennummernplatzhalter 5">
            <a:extLst>
              <a:ext uri="{FF2B5EF4-FFF2-40B4-BE49-F238E27FC236}">
                <a16:creationId xmlns:a16="http://schemas.microsoft.com/office/drawing/2014/main" id="{EA3FF2B3-2015-4796-82BE-B3575BED550E}"/>
              </a:ext>
            </a:extLst>
          </p:cNvPr>
          <p:cNvSpPr>
            <a:spLocks noGrp="1"/>
          </p:cNvSpPr>
          <p:nvPr>
            <p:ph type="sldNum" sz="quarter" idx="12"/>
          </p:nvPr>
        </p:nvSpPr>
        <p:spPr/>
        <p:txBody>
          <a:bodyPr/>
          <a:lstStyle/>
          <a:p>
            <a:fld id="{D0617D14-1B55-43C0-819D-0D244AC23646}" type="slidenum">
              <a:rPr lang="de-AT" smtClean="0"/>
              <a:t>‹#›</a:t>
            </a:fld>
            <a:endParaRPr lang="de-AT"/>
          </a:p>
        </p:txBody>
      </p:sp>
      <p:sp>
        <p:nvSpPr>
          <p:cNvPr id="7" name="Titel 6">
            <a:extLst>
              <a:ext uri="{FF2B5EF4-FFF2-40B4-BE49-F238E27FC236}">
                <a16:creationId xmlns:a16="http://schemas.microsoft.com/office/drawing/2014/main" id="{7B95CA12-F909-41D8-A784-E228C9072098}"/>
              </a:ext>
            </a:extLst>
          </p:cNvPr>
          <p:cNvSpPr>
            <a:spLocks noGrp="1"/>
          </p:cNvSpPr>
          <p:nvPr>
            <p:ph type="title"/>
          </p:nvPr>
        </p:nvSpPr>
        <p:spPr/>
        <p:txBody>
          <a:bodyPr/>
          <a:lstStyle/>
          <a:p>
            <a:r>
              <a:rPr lang="en-US"/>
              <a:t>Click to edit Master title style</a:t>
            </a:r>
            <a:endParaRPr lang="de-AT"/>
          </a:p>
        </p:txBody>
      </p:sp>
    </p:spTree>
    <p:extLst>
      <p:ext uri="{BB962C8B-B14F-4D97-AF65-F5344CB8AC3E}">
        <p14:creationId xmlns:p14="http://schemas.microsoft.com/office/powerpoint/2010/main" val="3759186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26A27B21-E248-4667-B1A8-91247D8BB80C}"/>
              </a:ext>
            </a:extLst>
          </p:cNvPr>
          <p:cNvSpPr>
            <a:spLocks noGrp="1"/>
          </p:cNvSpPr>
          <p:nvPr>
            <p:ph type="title" orient="vert"/>
          </p:nvPr>
        </p:nvSpPr>
        <p:spPr>
          <a:xfrm>
            <a:off x="8724900" y="333375"/>
            <a:ext cx="2771700" cy="5615905"/>
          </a:xfrm>
          <a:prstGeom prst="rect">
            <a:avLst/>
          </a:prstGeom>
        </p:spPr>
        <p:txBody>
          <a:bodyPr vert="eaVert"/>
          <a:lstStyle/>
          <a:p>
            <a:r>
              <a:rPr lang="en-US"/>
              <a:t>Click to edit Master title style</a:t>
            </a:r>
            <a:endParaRPr lang="de-AT"/>
          </a:p>
        </p:txBody>
      </p:sp>
      <p:sp>
        <p:nvSpPr>
          <p:cNvPr id="3" name="Vertikaler Textplatzhalter 2">
            <a:extLst>
              <a:ext uri="{FF2B5EF4-FFF2-40B4-BE49-F238E27FC236}">
                <a16:creationId xmlns:a16="http://schemas.microsoft.com/office/drawing/2014/main" id="{9BAC2EE9-BFB6-4286-BD71-DDE7114176DC}"/>
              </a:ext>
            </a:extLst>
          </p:cNvPr>
          <p:cNvSpPr>
            <a:spLocks noGrp="1"/>
          </p:cNvSpPr>
          <p:nvPr>
            <p:ph type="body" orient="vert" idx="1"/>
          </p:nvPr>
        </p:nvSpPr>
        <p:spPr>
          <a:xfrm>
            <a:off x="695325" y="333375"/>
            <a:ext cx="7877175" cy="561590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AT"/>
          </a:p>
        </p:txBody>
      </p:sp>
      <p:sp>
        <p:nvSpPr>
          <p:cNvPr id="4" name="Datumsplatzhalter 3">
            <a:extLst>
              <a:ext uri="{FF2B5EF4-FFF2-40B4-BE49-F238E27FC236}">
                <a16:creationId xmlns:a16="http://schemas.microsoft.com/office/drawing/2014/main" id="{77C7FD9C-CA6A-4C91-9817-8053D045C070}"/>
              </a:ext>
            </a:extLst>
          </p:cNvPr>
          <p:cNvSpPr>
            <a:spLocks noGrp="1"/>
          </p:cNvSpPr>
          <p:nvPr>
            <p:ph type="dt" sz="half" idx="10"/>
          </p:nvPr>
        </p:nvSpPr>
        <p:spPr/>
        <p:txBody>
          <a:bodyPr/>
          <a:lstStyle/>
          <a:p>
            <a:fld id="{005FA01E-88C0-C74F-94E1-A4F72B72662B}" type="datetime1">
              <a:rPr lang="en-US" smtClean="0"/>
              <a:t>8/18/26</a:t>
            </a:fld>
            <a:endParaRPr lang="de-AT"/>
          </a:p>
        </p:txBody>
      </p:sp>
      <p:sp>
        <p:nvSpPr>
          <p:cNvPr id="5" name="Fußzeilenplatzhalter 4">
            <a:extLst>
              <a:ext uri="{FF2B5EF4-FFF2-40B4-BE49-F238E27FC236}">
                <a16:creationId xmlns:a16="http://schemas.microsoft.com/office/drawing/2014/main" id="{43DCE2AE-61CC-4750-9C5D-FDF78A698002}"/>
              </a:ext>
            </a:extLst>
          </p:cNvPr>
          <p:cNvSpPr>
            <a:spLocks noGrp="1"/>
          </p:cNvSpPr>
          <p:nvPr>
            <p:ph type="ftr" sz="quarter" idx="11"/>
          </p:nvPr>
        </p:nvSpPr>
        <p:spPr/>
        <p:txBody>
          <a:bodyPr/>
          <a:lstStyle/>
          <a:p>
            <a:r>
              <a:rPr lang="de-AT"/>
              <a:t>IJCAI 2026, Bremen, Germany I Phil LeMaitre I 20.08.2026</a:t>
            </a:r>
          </a:p>
        </p:txBody>
      </p:sp>
      <p:sp>
        <p:nvSpPr>
          <p:cNvPr id="6" name="Foliennummernplatzhalter 5">
            <a:extLst>
              <a:ext uri="{FF2B5EF4-FFF2-40B4-BE49-F238E27FC236}">
                <a16:creationId xmlns:a16="http://schemas.microsoft.com/office/drawing/2014/main" id="{27BAD0E1-6707-4963-A804-E3B7549D6B7A}"/>
              </a:ext>
            </a:extLst>
          </p:cNvPr>
          <p:cNvSpPr>
            <a:spLocks noGrp="1"/>
          </p:cNvSpPr>
          <p:nvPr>
            <p:ph type="sldNum" sz="quarter" idx="12"/>
          </p:nvPr>
        </p:nvSpPr>
        <p:spPr/>
        <p:txBody>
          <a:bodyPr/>
          <a:lstStyle/>
          <a:p>
            <a:fld id="{D0617D14-1B55-43C0-819D-0D244AC23646}" type="slidenum">
              <a:rPr lang="de-AT" smtClean="0"/>
              <a:t>‹#›</a:t>
            </a:fld>
            <a:endParaRPr lang="de-AT"/>
          </a:p>
        </p:txBody>
      </p:sp>
    </p:spTree>
    <p:extLst>
      <p:ext uri="{BB962C8B-B14F-4D97-AF65-F5344CB8AC3E}">
        <p14:creationId xmlns:p14="http://schemas.microsoft.com/office/powerpoint/2010/main" val="1594298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Grafik 6">
            <a:extLst>
              <a:ext uri="{FF2B5EF4-FFF2-40B4-BE49-F238E27FC236}">
                <a16:creationId xmlns:a16="http://schemas.microsoft.com/office/drawing/2014/main" id="{8F077A78-823C-4FB1-A554-48EEEDB5B2BC}"/>
              </a:ext>
            </a:extLst>
          </p:cNvPr>
          <p:cNvPicPr>
            <a:picLocks noChangeAspect="1"/>
          </p:cNvPicPr>
          <p:nvPr userDrawn="1"/>
        </p:nvPicPr>
        <p:blipFill>
          <a:blip r:embed="rId13"/>
          <a:srcRect/>
          <a:stretch/>
        </p:blipFill>
        <p:spPr>
          <a:xfrm>
            <a:off x="0" y="0"/>
            <a:ext cx="12250813" cy="6891082"/>
          </a:xfrm>
          <a:prstGeom prst="rect">
            <a:avLst/>
          </a:prstGeom>
        </p:spPr>
      </p:pic>
      <p:sp>
        <p:nvSpPr>
          <p:cNvPr id="2" name="Titelplatzhalter 1">
            <a:extLst>
              <a:ext uri="{FF2B5EF4-FFF2-40B4-BE49-F238E27FC236}">
                <a16:creationId xmlns:a16="http://schemas.microsoft.com/office/drawing/2014/main" id="{BB2EF590-3470-459C-9316-671ECA281F27}"/>
              </a:ext>
            </a:extLst>
          </p:cNvPr>
          <p:cNvSpPr>
            <a:spLocks noGrp="1"/>
          </p:cNvSpPr>
          <p:nvPr>
            <p:ph type="title"/>
          </p:nvPr>
        </p:nvSpPr>
        <p:spPr>
          <a:xfrm>
            <a:off x="695400" y="332656"/>
            <a:ext cx="10801200" cy="576064"/>
          </a:xfrm>
          <a:prstGeom prst="rect">
            <a:avLst/>
          </a:prstGeom>
        </p:spPr>
        <p:txBody>
          <a:bodyPr vert="horz" lIns="91440" tIns="45720" rIns="91440" bIns="45720" rtlCol="0" anchor="b">
            <a:normAutofit/>
          </a:bodyPr>
          <a:lstStyle/>
          <a:p>
            <a:r>
              <a:rPr lang="de-DE" dirty="0"/>
              <a:t>Mastertitelformat bearbeiten</a:t>
            </a:r>
            <a:endParaRPr lang="de-AT" dirty="0"/>
          </a:p>
        </p:txBody>
      </p:sp>
      <p:sp>
        <p:nvSpPr>
          <p:cNvPr id="3" name="Textplatzhalter 2">
            <a:extLst>
              <a:ext uri="{FF2B5EF4-FFF2-40B4-BE49-F238E27FC236}">
                <a16:creationId xmlns:a16="http://schemas.microsoft.com/office/drawing/2014/main" id="{A68C32D3-9180-48A2-9E47-8252F5399794}"/>
              </a:ext>
            </a:extLst>
          </p:cNvPr>
          <p:cNvSpPr>
            <a:spLocks noGrp="1"/>
          </p:cNvSpPr>
          <p:nvPr>
            <p:ph type="body" idx="1"/>
          </p:nvPr>
        </p:nvSpPr>
        <p:spPr>
          <a:xfrm>
            <a:off x="695400" y="1124743"/>
            <a:ext cx="10801200" cy="4824537"/>
          </a:xfrm>
          <a:prstGeom prst="rect">
            <a:avLst/>
          </a:prstGeom>
        </p:spPr>
        <p:txBody>
          <a:bodyPr vert="horz" lIns="91440" tIns="45720" rIns="91440" bIns="45720" rtlCol="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de-AT" dirty="0"/>
          </a:p>
        </p:txBody>
      </p:sp>
      <p:sp>
        <p:nvSpPr>
          <p:cNvPr id="4" name="Datumsplatzhalter 3">
            <a:extLst>
              <a:ext uri="{FF2B5EF4-FFF2-40B4-BE49-F238E27FC236}">
                <a16:creationId xmlns:a16="http://schemas.microsoft.com/office/drawing/2014/main" id="{EC326DDF-8A21-4E62-B496-3854373C44F6}"/>
              </a:ext>
            </a:extLst>
          </p:cNvPr>
          <p:cNvSpPr>
            <a:spLocks noGrp="1"/>
          </p:cNvSpPr>
          <p:nvPr>
            <p:ph type="dt" sz="half" idx="2"/>
          </p:nvPr>
        </p:nvSpPr>
        <p:spPr>
          <a:xfrm>
            <a:off x="5159896" y="6310311"/>
            <a:ext cx="1080119" cy="365125"/>
          </a:xfrm>
          <a:prstGeom prst="rect">
            <a:avLst/>
          </a:prstGeom>
        </p:spPr>
        <p:txBody>
          <a:bodyPr vert="horz" lIns="91440" tIns="45720" rIns="91440" bIns="45720" rtlCol="0" anchor="ctr"/>
          <a:lstStyle>
            <a:lvl1pPr algn="l">
              <a:defRPr sz="900">
                <a:solidFill>
                  <a:schemeClr val="accent3"/>
                </a:solidFill>
              </a:defRPr>
            </a:lvl1pPr>
          </a:lstStyle>
          <a:p>
            <a:fld id="{F462030C-7929-DF48-B60B-3FF8B15A44EC}" type="datetime1">
              <a:rPr lang="en-US" smtClean="0"/>
              <a:t>8/18/26</a:t>
            </a:fld>
            <a:endParaRPr lang="de-AT" dirty="0"/>
          </a:p>
        </p:txBody>
      </p:sp>
      <p:sp>
        <p:nvSpPr>
          <p:cNvPr id="5" name="Fußzeilenplatzhalter 4">
            <a:extLst>
              <a:ext uri="{FF2B5EF4-FFF2-40B4-BE49-F238E27FC236}">
                <a16:creationId xmlns:a16="http://schemas.microsoft.com/office/drawing/2014/main" id="{0F6A1B67-E1AA-4B80-BE53-EEFBF856BAAC}"/>
              </a:ext>
            </a:extLst>
          </p:cNvPr>
          <p:cNvSpPr>
            <a:spLocks noGrp="1"/>
          </p:cNvSpPr>
          <p:nvPr>
            <p:ph type="ftr" sz="quarter" idx="3"/>
          </p:nvPr>
        </p:nvSpPr>
        <p:spPr>
          <a:xfrm>
            <a:off x="6456039" y="6310311"/>
            <a:ext cx="3744417" cy="365125"/>
          </a:xfrm>
          <a:prstGeom prst="rect">
            <a:avLst/>
          </a:prstGeom>
        </p:spPr>
        <p:txBody>
          <a:bodyPr vert="horz" lIns="91440" tIns="45720" rIns="91440" bIns="45720" rtlCol="0" anchor="ctr"/>
          <a:lstStyle>
            <a:lvl1pPr algn="ctr">
              <a:defRPr sz="900">
                <a:solidFill>
                  <a:schemeClr val="accent3"/>
                </a:solidFill>
              </a:defRPr>
            </a:lvl1pPr>
          </a:lstStyle>
          <a:p>
            <a:r>
              <a:rPr lang="de-AT"/>
              <a:t>IJCAI 2026, Bremen, Germany I Phil LeMaitre I 20.08.2026</a:t>
            </a:r>
            <a:endParaRPr lang="de-AT" dirty="0"/>
          </a:p>
        </p:txBody>
      </p:sp>
      <p:sp>
        <p:nvSpPr>
          <p:cNvPr id="6" name="Foliennummernplatzhalter 5">
            <a:extLst>
              <a:ext uri="{FF2B5EF4-FFF2-40B4-BE49-F238E27FC236}">
                <a16:creationId xmlns:a16="http://schemas.microsoft.com/office/drawing/2014/main" id="{482BB844-BB3C-4946-8814-43B26C37D90B}"/>
              </a:ext>
            </a:extLst>
          </p:cNvPr>
          <p:cNvSpPr>
            <a:spLocks noGrp="1"/>
          </p:cNvSpPr>
          <p:nvPr>
            <p:ph type="sldNum" sz="quarter" idx="4"/>
          </p:nvPr>
        </p:nvSpPr>
        <p:spPr>
          <a:xfrm>
            <a:off x="10416480" y="6310311"/>
            <a:ext cx="1080120" cy="365125"/>
          </a:xfrm>
          <a:prstGeom prst="rect">
            <a:avLst/>
          </a:prstGeom>
        </p:spPr>
        <p:txBody>
          <a:bodyPr vert="horz" lIns="91440" tIns="45720" rIns="91440" bIns="45720" rtlCol="0" anchor="ctr"/>
          <a:lstStyle>
            <a:lvl1pPr algn="r">
              <a:defRPr sz="900">
                <a:solidFill>
                  <a:schemeClr val="accent3"/>
                </a:solidFill>
              </a:defRPr>
            </a:lvl1pPr>
          </a:lstStyle>
          <a:p>
            <a:r>
              <a:rPr lang="de-AT"/>
              <a:t>Seite </a:t>
            </a:r>
            <a:fld id="{D0617D14-1B55-43C0-819D-0D244AC23646}" type="slidenum">
              <a:rPr lang="de-AT" smtClean="0"/>
              <a:pPr/>
              <a:t>‹#›</a:t>
            </a:fld>
            <a:endParaRPr lang="de-AT" dirty="0"/>
          </a:p>
        </p:txBody>
      </p:sp>
    </p:spTree>
    <p:extLst>
      <p:ext uri="{BB962C8B-B14F-4D97-AF65-F5344CB8AC3E}">
        <p14:creationId xmlns:p14="http://schemas.microsoft.com/office/powerpoint/2010/main" val="1515775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3000"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SzPct val="80000"/>
        <a:buFont typeface="Wingdings" panose="05000000000000000000" pitchFamily="2" charset="2"/>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SzPct val="80000"/>
        <a:buFont typeface="Wingdings" panose="05000000000000000000" pitchFamily="2" charset="2"/>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SzPct val="80000"/>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SzPct val="80000"/>
        <a:buFont typeface="Wingdings" panose="05000000000000000000" pitchFamily="2" charset="2"/>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SzPct val="80000"/>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438">
          <p15:clr>
            <a:srgbClr val="F26B43"/>
          </p15:clr>
        </p15:guide>
        <p15:guide id="4" orient="horz" pos="210">
          <p15:clr>
            <a:srgbClr val="F26B43"/>
          </p15:clr>
        </p15:guide>
        <p15:guide id="5" orient="horz" pos="57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65.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notesSlide" Target="../notesSlides/notesSlide3.xml"/><Relationship Id="rId7"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8.emf"/></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notesSlide" Target="../notesSlides/notesSlide4.xml"/><Relationship Id="rId7" Type="http://schemas.openxmlformats.org/officeDocument/2006/relationships/image" Target="../media/image16.png"/><Relationship Id="rId2" Type="http://schemas.openxmlformats.org/officeDocument/2006/relationships/slideLayout" Target="../slideLayouts/slideLayout2.xml"/><Relationship Id="rId1" Type="http://schemas.openxmlformats.org/officeDocument/2006/relationships/tags" Target="../tags/tag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9.svg"/></Relationships>
</file>

<file path=ppt/slides/_rels/slide5.xml.rels><?xml version="1.0" encoding="UTF-8" standalone="yes"?>
<Relationships xmlns="http://schemas.openxmlformats.org/package/2006/relationships"><Relationship Id="rId8" Type="http://schemas.openxmlformats.org/officeDocument/2006/relationships/image" Target="../media/image191.png"/><Relationship Id="rId3" Type="http://schemas.openxmlformats.org/officeDocument/2006/relationships/image" Target="../media/image7.png"/><Relationship Id="rId7" Type="http://schemas.openxmlformats.org/officeDocument/2006/relationships/image" Target="../media/image18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74.png"/><Relationship Id="rId11" Type="http://schemas.openxmlformats.org/officeDocument/2006/relationships/image" Target="../media/image22.png"/><Relationship Id="rId5" Type="http://schemas.openxmlformats.org/officeDocument/2006/relationships/image" Target="../media/image13.jpeg"/><Relationship Id="rId10" Type="http://schemas.openxmlformats.org/officeDocument/2006/relationships/image" Target="../media/image211.png"/><Relationship Id="rId4" Type="http://schemas.openxmlformats.org/officeDocument/2006/relationships/image" Target="../media/image12.png"/><Relationship Id="rId9" Type="http://schemas.openxmlformats.org/officeDocument/2006/relationships/image" Target="../media/image20.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13" Type="http://schemas.openxmlformats.org/officeDocument/2006/relationships/image" Target="../media/image1210.png"/><Relationship Id="rId18" Type="http://schemas.openxmlformats.org/officeDocument/2006/relationships/image" Target="../media/image170.png"/><Relationship Id="rId26" Type="http://schemas.openxmlformats.org/officeDocument/2006/relationships/image" Target="../media/image25.png"/><Relationship Id="rId39" Type="http://schemas.openxmlformats.org/officeDocument/2006/relationships/image" Target="../media/image38.png"/><Relationship Id="rId21" Type="http://schemas.openxmlformats.org/officeDocument/2006/relationships/image" Target="../media/image200.png"/><Relationship Id="rId34" Type="http://schemas.openxmlformats.org/officeDocument/2006/relationships/image" Target="../media/image33.png"/><Relationship Id="rId42" Type="http://schemas.openxmlformats.org/officeDocument/2006/relationships/image" Target="../media/image41.png"/><Relationship Id="rId47" Type="http://schemas.openxmlformats.org/officeDocument/2006/relationships/image" Target="../media/image46.png"/><Relationship Id="rId7" Type="http://schemas.openxmlformats.org/officeDocument/2006/relationships/image" Target="../media/image67.png"/><Relationship Id="rId2" Type="http://schemas.openxmlformats.org/officeDocument/2006/relationships/image" Target="../media/image1.png"/><Relationship Id="rId16" Type="http://schemas.openxmlformats.org/officeDocument/2006/relationships/image" Target="../media/image1510.png"/><Relationship Id="rId29" Type="http://schemas.openxmlformats.org/officeDocument/2006/relationships/image" Target="../media/image28.png"/><Relationship Id="rId11" Type="http://schemas.openxmlformats.org/officeDocument/2006/relationships/image" Target="../media/image1010.png"/><Relationship Id="rId24" Type="http://schemas.openxmlformats.org/officeDocument/2006/relationships/image" Target="../media/image230.png"/><Relationship Id="rId32" Type="http://schemas.openxmlformats.org/officeDocument/2006/relationships/image" Target="../media/image31.png"/><Relationship Id="rId37" Type="http://schemas.openxmlformats.org/officeDocument/2006/relationships/image" Target="../media/image36.png"/><Relationship Id="rId40" Type="http://schemas.openxmlformats.org/officeDocument/2006/relationships/image" Target="../media/image39.png"/><Relationship Id="rId45" Type="http://schemas.openxmlformats.org/officeDocument/2006/relationships/image" Target="../media/image44.png"/><Relationship Id="rId5" Type="http://schemas.openxmlformats.org/officeDocument/2006/relationships/image" Target="../media/image410.png"/><Relationship Id="rId15" Type="http://schemas.openxmlformats.org/officeDocument/2006/relationships/image" Target="../media/image1410.png"/><Relationship Id="rId23" Type="http://schemas.openxmlformats.org/officeDocument/2006/relationships/image" Target="../media/image220.png"/><Relationship Id="rId28" Type="http://schemas.openxmlformats.org/officeDocument/2006/relationships/image" Target="../media/image27.png"/><Relationship Id="rId36" Type="http://schemas.openxmlformats.org/officeDocument/2006/relationships/image" Target="../media/image35.png"/><Relationship Id="rId49" Type="http://schemas.openxmlformats.org/officeDocument/2006/relationships/image" Target="../media/image48.png"/><Relationship Id="rId10" Type="http://schemas.openxmlformats.org/officeDocument/2006/relationships/image" Target="../media/image910.png"/><Relationship Id="rId19" Type="http://schemas.openxmlformats.org/officeDocument/2006/relationships/image" Target="../media/image180.png"/><Relationship Id="rId31" Type="http://schemas.openxmlformats.org/officeDocument/2006/relationships/image" Target="../media/image30.png"/><Relationship Id="rId44" Type="http://schemas.openxmlformats.org/officeDocument/2006/relationships/image" Target="../media/image43.png"/><Relationship Id="rId4" Type="http://schemas.openxmlformats.org/officeDocument/2006/relationships/image" Target="../media/image310.png"/><Relationship Id="rId9" Type="http://schemas.openxmlformats.org/officeDocument/2006/relationships/image" Target="../media/image810.png"/><Relationship Id="rId14" Type="http://schemas.openxmlformats.org/officeDocument/2006/relationships/image" Target="../media/image1310.png"/><Relationship Id="rId22" Type="http://schemas.openxmlformats.org/officeDocument/2006/relationships/image" Target="../media/image210.png"/><Relationship Id="rId27" Type="http://schemas.openxmlformats.org/officeDocument/2006/relationships/image" Target="../media/image26.png"/><Relationship Id="rId30" Type="http://schemas.openxmlformats.org/officeDocument/2006/relationships/image" Target="../media/image29.png"/><Relationship Id="rId35" Type="http://schemas.openxmlformats.org/officeDocument/2006/relationships/image" Target="../media/image34.png"/><Relationship Id="rId43" Type="http://schemas.openxmlformats.org/officeDocument/2006/relationships/image" Target="../media/image42.png"/><Relationship Id="rId48" Type="http://schemas.openxmlformats.org/officeDocument/2006/relationships/image" Target="../media/image47.png"/><Relationship Id="rId8" Type="http://schemas.openxmlformats.org/officeDocument/2006/relationships/image" Target="../media/image710.png"/><Relationship Id="rId3" Type="http://schemas.openxmlformats.org/officeDocument/2006/relationships/image" Target="../media/image2.png"/><Relationship Id="rId12" Type="http://schemas.openxmlformats.org/officeDocument/2006/relationships/image" Target="../media/image1110.png"/><Relationship Id="rId17" Type="http://schemas.openxmlformats.org/officeDocument/2006/relationships/image" Target="../media/image169.png"/><Relationship Id="rId25" Type="http://schemas.openxmlformats.org/officeDocument/2006/relationships/image" Target="../media/image24.png"/><Relationship Id="rId33" Type="http://schemas.openxmlformats.org/officeDocument/2006/relationships/image" Target="../media/image32.png"/><Relationship Id="rId38" Type="http://schemas.openxmlformats.org/officeDocument/2006/relationships/image" Target="../media/image37.png"/><Relationship Id="rId46" Type="http://schemas.openxmlformats.org/officeDocument/2006/relationships/image" Target="../media/image45.png"/><Relationship Id="rId20" Type="http://schemas.openxmlformats.org/officeDocument/2006/relationships/image" Target="../media/image190.png"/><Relationship Id="rId41"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51.png"/></Relationships>
</file>

<file path=ppt/slides/_rels/slide8.xml.rels><?xml version="1.0" encoding="UTF-8" standalone="yes"?>
<Relationships xmlns="http://schemas.openxmlformats.org/package/2006/relationships"><Relationship Id="rId13" Type="http://schemas.openxmlformats.org/officeDocument/2006/relationships/image" Target="../media/image56.png"/><Relationship Id="rId18" Type="http://schemas.openxmlformats.org/officeDocument/2006/relationships/image" Target="../media/image61.png"/><Relationship Id="rId3" Type="http://schemas.openxmlformats.org/officeDocument/2006/relationships/notesSlide" Target="../notesSlides/notesSlide7.xml"/><Relationship Id="rId21" Type="http://schemas.openxmlformats.org/officeDocument/2006/relationships/image" Target="../media/image64.png"/><Relationship Id="rId7" Type="http://schemas.openxmlformats.org/officeDocument/2006/relationships/image" Target="../media/image50.png"/><Relationship Id="rId12" Type="http://schemas.openxmlformats.org/officeDocument/2006/relationships/image" Target="../media/image55.png"/><Relationship Id="rId17" Type="http://schemas.openxmlformats.org/officeDocument/2006/relationships/image" Target="../media/image60.png"/><Relationship Id="rId25" Type="http://schemas.openxmlformats.org/officeDocument/2006/relationships/image" Target="../media/image69.png"/><Relationship Id="rId2" Type="http://schemas.openxmlformats.org/officeDocument/2006/relationships/slideLayout" Target="../slideLayouts/slideLayout2.xml"/><Relationship Id="rId16" Type="http://schemas.openxmlformats.org/officeDocument/2006/relationships/image" Target="../media/image59.png"/><Relationship Id="rId20" Type="http://schemas.openxmlformats.org/officeDocument/2006/relationships/image" Target="../media/image63.png"/><Relationship Id="rId1" Type="http://schemas.openxmlformats.org/officeDocument/2006/relationships/tags" Target="../tags/tag5.xml"/><Relationship Id="rId6" Type="http://schemas.openxmlformats.org/officeDocument/2006/relationships/image" Target="../media/image49.png"/><Relationship Id="rId11" Type="http://schemas.openxmlformats.org/officeDocument/2006/relationships/image" Target="../media/image53.png"/><Relationship Id="rId24" Type="http://schemas.openxmlformats.org/officeDocument/2006/relationships/image" Target="../media/image68.png"/><Relationship Id="rId15" Type="http://schemas.openxmlformats.org/officeDocument/2006/relationships/image" Target="../media/image58.png"/><Relationship Id="rId23" Type="http://schemas.openxmlformats.org/officeDocument/2006/relationships/image" Target="../media/image66.png"/><Relationship Id="rId10" Type="http://schemas.openxmlformats.org/officeDocument/2006/relationships/image" Target="../media/image52.png"/><Relationship Id="rId19" Type="http://schemas.openxmlformats.org/officeDocument/2006/relationships/image" Target="../media/image62.png"/><Relationship Id="rId4" Type="http://schemas.openxmlformats.org/officeDocument/2006/relationships/image" Target="../media/image19.svg"/><Relationship Id="rId9" Type="http://schemas.openxmlformats.org/officeDocument/2006/relationships/image" Target="../media/image54.png"/><Relationship Id="rId14" Type="http://schemas.openxmlformats.org/officeDocument/2006/relationships/image" Target="../media/image57.png"/><Relationship Id="rId22" Type="http://schemas.openxmlformats.org/officeDocument/2006/relationships/image" Target="../media/image20.svg"/></Relationships>
</file>

<file path=ppt/slides/_rels/slide9.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2.xml"/><Relationship Id="rId6" Type="http://schemas.openxmlformats.org/officeDocument/2006/relationships/image" Target="../media/image89.png"/><Relationship Id="rId5" Type="http://schemas.openxmlformats.org/officeDocument/2006/relationships/image" Target="../media/image88.png"/><Relationship Id="rId4" Type="http://schemas.openxmlformats.org/officeDocument/2006/relationships/image" Target="../media/image87.png"/></Relationships>
</file>

<file path=ppt/slides/_rels/slide10.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notesSlide" Target="../notesSlides/notesSlide8.xml"/><Relationship Id="rId7" Type="http://schemas.openxmlformats.org/officeDocument/2006/relationships/image" Target="../media/image93.png"/><Relationship Id="rId2" Type="http://schemas.openxmlformats.org/officeDocument/2006/relationships/slideLayout" Target="../slideLayouts/slideLayout2.xml"/><Relationship Id="rId1" Type="http://schemas.openxmlformats.org/officeDocument/2006/relationships/tags" Target="../tags/tag6.xml"/><Relationship Id="rId6" Type="http://schemas.openxmlformats.org/officeDocument/2006/relationships/image" Target="../media/image92.png"/><Relationship Id="rId5" Type="http://schemas.openxmlformats.org/officeDocument/2006/relationships/image" Target="../media/image23.png"/><Relationship Id="rId4" Type="http://schemas.openxmlformats.org/officeDocument/2006/relationships/image" Target="../media/image21.png"/><Relationship Id="rId9" Type="http://schemas.openxmlformats.org/officeDocument/2006/relationships/image" Target="../media/image95.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70.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8.xml"/><Relationship Id="rId5" Type="http://schemas.openxmlformats.org/officeDocument/2006/relationships/image" Target="../media/image73.png"/><Relationship Id="rId4" Type="http://schemas.openxmlformats.org/officeDocument/2006/relationships/image" Target="../media/image70.png"/></Relationships>
</file>

<file path=ppt/slides/_rels/slide1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14.xml.rels><?xml version="1.0" encoding="UTF-8" standalone="yes"?>
<Relationships xmlns="http://schemas.openxmlformats.org/package/2006/relationships"><Relationship Id="rId8" Type="http://schemas.openxmlformats.org/officeDocument/2006/relationships/image" Target="../media/image106.png"/><Relationship Id="rId13" Type="http://schemas.openxmlformats.org/officeDocument/2006/relationships/image" Target="../media/image111.png"/><Relationship Id="rId3" Type="http://schemas.openxmlformats.org/officeDocument/2006/relationships/image" Target="../media/image1011.png"/><Relationship Id="rId7" Type="http://schemas.openxmlformats.org/officeDocument/2006/relationships/image" Target="../media/image105.png"/><Relationship Id="rId12" Type="http://schemas.openxmlformats.org/officeDocument/2006/relationships/image" Target="../media/image110.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04.png"/><Relationship Id="rId11" Type="http://schemas.openxmlformats.org/officeDocument/2006/relationships/image" Target="../media/image109.png"/><Relationship Id="rId5" Type="http://schemas.openxmlformats.org/officeDocument/2006/relationships/image" Target="../media/image103.png"/><Relationship Id="rId10" Type="http://schemas.openxmlformats.org/officeDocument/2006/relationships/image" Target="../media/image108.png"/><Relationship Id="rId4" Type="http://schemas.openxmlformats.org/officeDocument/2006/relationships/image" Target="../media/image1020.png"/><Relationship Id="rId9" Type="http://schemas.openxmlformats.org/officeDocument/2006/relationships/image" Target="../media/image107.png"/><Relationship Id="rId14" Type="http://schemas.openxmlformats.org/officeDocument/2006/relationships/image" Target="../media/image112.png"/></Relationships>
</file>

<file path=ppt/slides/_rels/slide15.xml.rels><?xml version="1.0" encoding="UTF-8" standalone="yes"?>
<Relationships xmlns="http://schemas.openxmlformats.org/package/2006/relationships"><Relationship Id="rId8" Type="http://schemas.openxmlformats.org/officeDocument/2006/relationships/image" Target="../media/image117.png"/><Relationship Id="rId13" Type="http://schemas.openxmlformats.org/officeDocument/2006/relationships/image" Target="../media/image122.png"/><Relationship Id="rId18" Type="http://schemas.openxmlformats.org/officeDocument/2006/relationships/image" Target="../media/image127.png"/><Relationship Id="rId3" Type="http://schemas.openxmlformats.org/officeDocument/2006/relationships/notesSlide" Target="../notesSlides/notesSlide13.xml"/><Relationship Id="rId7" Type="http://schemas.openxmlformats.org/officeDocument/2006/relationships/image" Target="../media/image116.png"/><Relationship Id="rId12" Type="http://schemas.openxmlformats.org/officeDocument/2006/relationships/image" Target="../media/image121.png"/><Relationship Id="rId17" Type="http://schemas.openxmlformats.org/officeDocument/2006/relationships/image" Target="../media/image126.png"/><Relationship Id="rId2" Type="http://schemas.openxmlformats.org/officeDocument/2006/relationships/slideLayout" Target="../slideLayouts/slideLayout2.xml"/><Relationship Id="rId16" Type="http://schemas.openxmlformats.org/officeDocument/2006/relationships/image" Target="../media/image125.png"/><Relationship Id="rId1" Type="http://schemas.openxmlformats.org/officeDocument/2006/relationships/tags" Target="../tags/tag9.xml"/><Relationship Id="rId6" Type="http://schemas.openxmlformats.org/officeDocument/2006/relationships/image" Target="../media/image74.png"/><Relationship Id="rId11" Type="http://schemas.openxmlformats.org/officeDocument/2006/relationships/image" Target="../media/image120.png"/><Relationship Id="rId5" Type="http://schemas.openxmlformats.org/officeDocument/2006/relationships/image" Target="../media/image114.png"/><Relationship Id="rId15" Type="http://schemas.openxmlformats.org/officeDocument/2006/relationships/image" Target="../media/image124.png"/><Relationship Id="rId10" Type="http://schemas.openxmlformats.org/officeDocument/2006/relationships/image" Target="../media/image119.png"/><Relationship Id="rId4" Type="http://schemas.openxmlformats.org/officeDocument/2006/relationships/image" Target="../media/image113.png"/><Relationship Id="rId9" Type="http://schemas.openxmlformats.org/officeDocument/2006/relationships/image" Target="../media/image118.png"/><Relationship Id="rId14" Type="http://schemas.openxmlformats.org/officeDocument/2006/relationships/image" Target="../media/image123.png"/></Relationships>
</file>

<file path=ppt/slides/_rels/slide16.xml.rels><?xml version="1.0" encoding="UTF-8" standalone="yes"?>
<Relationships xmlns="http://schemas.openxmlformats.org/package/2006/relationships"><Relationship Id="rId8" Type="http://schemas.openxmlformats.org/officeDocument/2006/relationships/image" Target="../media/image133.png"/><Relationship Id="rId13" Type="http://schemas.openxmlformats.org/officeDocument/2006/relationships/image" Target="../media/image138.png"/><Relationship Id="rId18" Type="http://schemas.openxmlformats.org/officeDocument/2006/relationships/image" Target="../media/image142.png"/><Relationship Id="rId3" Type="http://schemas.openxmlformats.org/officeDocument/2006/relationships/image" Target="../media/image128.png"/><Relationship Id="rId7" Type="http://schemas.openxmlformats.org/officeDocument/2006/relationships/image" Target="../media/image132.png"/><Relationship Id="rId12" Type="http://schemas.openxmlformats.org/officeDocument/2006/relationships/image" Target="../media/image137.png"/><Relationship Id="rId17" Type="http://schemas.openxmlformats.org/officeDocument/2006/relationships/image" Target="../media/image74.png"/><Relationship Id="rId2" Type="http://schemas.openxmlformats.org/officeDocument/2006/relationships/notesSlide" Target="../notesSlides/notesSlide14.xml"/><Relationship Id="rId16" Type="http://schemas.openxmlformats.org/officeDocument/2006/relationships/image" Target="../media/image141.png"/><Relationship Id="rId20" Type="http://schemas.openxmlformats.org/officeDocument/2006/relationships/image" Target="../media/image144.png"/><Relationship Id="rId1" Type="http://schemas.openxmlformats.org/officeDocument/2006/relationships/slideLayout" Target="../slideLayouts/slideLayout2.xml"/><Relationship Id="rId6" Type="http://schemas.openxmlformats.org/officeDocument/2006/relationships/image" Target="../media/image131.png"/><Relationship Id="rId11" Type="http://schemas.openxmlformats.org/officeDocument/2006/relationships/image" Target="../media/image136.png"/><Relationship Id="rId5" Type="http://schemas.openxmlformats.org/officeDocument/2006/relationships/image" Target="../media/image130.png"/><Relationship Id="rId15" Type="http://schemas.openxmlformats.org/officeDocument/2006/relationships/image" Target="../media/image140.png"/><Relationship Id="rId10" Type="http://schemas.openxmlformats.org/officeDocument/2006/relationships/image" Target="../media/image135.png"/><Relationship Id="rId19" Type="http://schemas.openxmlformats.org/officeDocument/2006/relationships/image" Target="../media/image143.png"/><Relationship Id="rId4" Type="http://schemas.openxmlformats.org/officeDocument/2006/relationships/image" Target="../media/image129.png"/><Relationship Id="rId9" Type="http://schemas.openxmlformats.org/officeDocument/2006/relationships/image" Target="../media/image134.png"/><Relationship Id="rId14" Type="http://schemas.openxmlformats.org/officeDocument/2006/relationships/image" Target="../media/image139.png"/></Relationships>
</file>

<file path=ppt/slides/_rels/slide17.xml.rels><?xml version="1.0" encoding="UTF-8" standalone="yes"?>
<Relationships xmlns="http://schemas.openxmlformats.org/package/2006/relationships"><Relationship Id="rId8" Type="http://schemas.openxmlformats.org/officeDocument/2006/relationships/image" Target="../media/image79.png"/><Relationship Id="rId3" Type="http://schemas.openxmlformats.org/officeDocument/2006/relationships/notesSlide" Target="../notesSlides/notesSlide15.xml"/><Relationship Id="rId7" Type="http://schemas.openxmlformats.org/officeDocument/2006/relationships/image" Target="../media/image78.svg"/><Relationship Id="rId2" Type="http://schemas.openxmlformats.org/officeDocument/2006/relationships/slideLayout" Target="../slideLayouts/slideLayout2.xml"/><Relationship Id="rId1" Type="http://schemas.openxmlformats.org/officeDocument/2006/relationships/tags" Target="../tags/tag10.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jpeg"/><Relationship Id="rId9" Type="http://schemas.openxmlformats.org/officeDocument/2006/relationships/image" Target="../media/image80.png"/></Relationships>
</file>

<file path=ppt/slides/_rels/slide18.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el 1">
            <a:extLst>
              <a:ext uri="{FF2B5EF4-FFF2-40B4-BE49-F238E27FC236}">
                <a16:creationId xmlns:a16="http://schemas.microsoft.com/office/drawing/2014/main" id="{48A768A2-9AF2-4905-34CE-EF3C06C5FBDE}"/>
              </a:ext>
            </a:extLst>
          </p:cNvPr>
          <p:cNvSpPr txBox="1">
            <a:spLocks/>
          </p:cNvSpPr>
          <p:nvPr/>
        </p:nvSpPr>
        <p:spPr bwMode="auto">
          <a:xfrm>
            <a:off x="3162528" y="0"/>
            <a:ext cx="9029472" cy="1014750"/>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endParaRPr lang="de-AT" sz="2800" kern="0" dirty="0">
              <a:solidFill>
                <a:schemeClr val="bg1"/>
              </a:solidFill>
              <a:latin typeface="Calibri Light" panose="020F0302020204030204" pitchFamily="34" charset="0"/>
              <a:cs typeface="Calibri Light" panose="020F0302020204030204" pitchFamily="34" charset="0"/>
            </a:endParaRPr>
          </a:p>
        </p:txBody>
      </p:sp>
      <p:sp>
        <p:nvSpPr>
          <p:cNvPr id="4" name="Titel 3">
            <a:extLst>
              <a:ext uri="{FF2B5EF4-FFF2-40B4-BE49-F238E27FC236}">
                <a16:creationId xmlns:a16="http://schemas.microsoft.com/office/drawing/2014/main" id="{7FC92962-78A1-41F8-8629-003DFB9D2A86}"/>
              </a:ext>
            </a:extLst>
          </p:cNvPr>
          <p:cNvSpPr>
            <a:spLocks noGrp="1"/>
          </p:cNvSpPr>
          <p:nvPr>
            <p:ph type="ctrTitle"/>
          </p:nvPr>
        </p:nvSpPr>
        <p:spPr>
          <a:xfrm>
            <a:off x="1968202" y="1737299"/>
            <a:ext cx="8232701" cy="1233251"/>
          </a:xfrm>
        </p:spPr>
        <p:txBody>
          <a:bodyPr>
            <a:noAutofit/>
          </a:bodyPr>
          <a:lstStyle/>
          <a:p>
            <a:pPr algn="ctr"/>
            <a:r>
              <a:rPr lang="en-US" sz="4400" dirty="0">
                <a:latin typeface="Helvetica Neue" panose="02000503000000020004" pitchFamily="2" charset="0"/>
                <a:ea typeface="Helvetica Neue" panose="02000503000000020004" pitchFamily="2" charset="0"/>
                <a:cs typeface="Helvetica Neue" panose="02000503000000020004" pitchFamily="2" charset="0"/>
              </a:rPr>
              <a:t>A Multi-Excitation Projective Simulation Agent</a:t>
            </a:r>
            <a:endParaRPr lang="de-AT" sz="4400"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2" name="Textfeld 1">
            <a:extLst>
              <a:ext uri="{FF2B5EF4-FFF2-40B4-BE49-F238E27FC236}">
                <a16:creationId xmlns:a16="http://schemas.microsoft.com/office/drawing/2014/main" id="{12020C8E-D6C1-0DB1-CBA5-7EC3660E52C8}"/>
              </a:ext>
            </a:extLst>
          </p:cNvPr>
          <p:cNvSpPr txBox="1"/>
          <p:nvPr/>
        </p:nvSpPr>
        <p:spPr>
          <a:xfrm>
            <a:off x="6084553" y="-11447"/>
            <a:ext cx="184731" cy="584775"/>
          </a:xfrm>
          <a:prstGeom prst="rect">
            <a:avLst/>
          </a:prstGeom>
          <a:noFill/>
        </p:spPr>
        <p:txBody>
          <a:bodyPr wrap="none" rtlCol="0">
            <a:spAutoFit/>
          </a:bodyPr>
          <a:lstStyle/>
          <a:p>
            <a:endParaRPr lang="de-DE" sz="3200" dirty="0"/>
          </a:p>
        </p:txBody>
      </p:sp>
      <p:pic>
        <p:nvPicPr>
          <p:cNvPr id="3" name="Immagine 7">
            <a:extLst>
              <a:ext uri="{FF2B5EF4-FFF2-40B4-BE49-F238E27FC236}">
                <a16:creationId xmlns:a16="http://schemas.microsoft.com/office/drawing/2014/main" id="{A809EC6E-AA20-F3C3-5997-7FABF74C75D8}"/>
              </a:ext>
            </a:extLst>
          </p:cNvPr>
          <p:cNvPicPr>
            <a:picLocks noChangeAspect="1"/>
          </p:cNvPicPr>
          <p:nvPr/>
        </p:nvPicPr>
        <p:blipFill rotWithShape="1">
          <a:blip r:embed="rId3">
            <a:extLst>
              <a:ext uri="{28A0092B-C50C-407E-A947-70E740481C1C}">
                <a14:useLocalDpi xmlns:a14="http://schemas.microsoft.com/office/drawing/2010/main"/>
              </a:ext>
            </a:extLst>
          </a:blip>
          <a:srcRect/>
          <a:stretch/>
        </p:blipFill>
        <p:spPr>
          <a:xfrm>
            <a:off x="0" y="0"/>
            <a:ext cx="3162528" cy="1014750"/>
          </a:xfrm>
          <a:prstGeom prst="rect">
            <a:avLst/>
          </a:prstGeom>
        </p:spPr>
      </p:pic>
      <p:sp>
        <p:nvSpPr>
          <p:cNvPr id="8" name="Subtitle 2">
            <a:extLst>
              <a:ext uri="{FF2B5EF4-FFF2-40B4-BE49-F238E27FC236}">
                <a16:creationId xmlns:a16="http://schemas.microsoft.com/office/drawing/2014/main" id="{8E9D1A80-420D-81AB-B33D-F10A07A5B90F}"/>
              </a:ext>
            </a:extLst>
          </p:cNvPr>
          <p:cNvSpPr txBox="1">
            <a:spLocks/>
          </p:cNvSpPr>
          <p:nvPr/>
        </p:nvSpPr>
        <p:spPr>
          <a:xfrm>
            <a:off x="1524000" y="3429000"/>
            <a:ext cx="9144000" cy="101475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SzPct val="80000"/>
              <a:buFont typeface="Wingdings" panose="05000000000000000000" pitchFamily="2" charset="2"/>
              <a:buNone/>
              <a:defRPr sz="15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SzPct val="80000"/>
              <a:buFont typeface="Wingdings" panose="05000000000000000000" pitchFamily="2" charset="2"/>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SzPct val="80000"/>
              <a:buFont typeface="Wingdings" panose="05000000000000000000" pitchFamily="2" charset="2"/>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SzPct val="80000"/>
              <a:buFont typeface="Wingdings" panose="05000000000000000000" pitchFamily="2" charset="2"/>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SzPct val="80000"/>
              <a:buFont typeface="Wingdings" panose="05000000000000000000" pitchFamily="2" charset="2"/>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lgn="ctr"/>
            <a:r>
              <a:rPr lang="en-US" sz="2400"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Philip A. </a:t>
            </a:r>
            <a:r>
              <a:rPr lang="en-US" sz="2400" dirty="0" err="1">
                <a:solidFill>
                  <a:schemeClr val="tx1"/>
                </a:solidFill>
                <a:latin typeface="Helvetica Neue" panose="02000503000000020004" pitchFamily="2" charset="0"/>
                <a:ea typeface="Helvetica Neue" panose="02000503000000020004" pitchFamily="2" charset="0"/>
                <a:cs typeface="Helvetica Neue" panose="02000503000000020004" pitchFamily="2" charset="0"/>
              </a:rPr>
              <a:t>LeMaitre</a:t>
            </a:r>
            <a:endParaRPr lang="en-US" sz="2400"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endParaRPr>
          </a:p>
          <a:p>
            <a:pPr algn="ctr"/>
            <a:r>
              <a:rPr lang="en-US" sz="2400"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rPr>
              <a:t>August 20, 2026</a:t>
            </a:r>
          </a:p>
        </p:txBody>
      </p:sp>
      <p:sp>
        <p:nvSpPr>
          <p:cNvPr id="10" name="Textfeld 20">
            <a:extLst>
              <a:ext uri="{FF2B5EF4-FFF2-40B4-BE49-F238E27FC236}">
                <a16:creationId xmlns:a16="http://schemas.microsoft.com/office/drawing/2014/main" id="{2AC05472-8872-D2A6-904C-C95A6EEAECB3}"/>
              </a:ext>
            </a:extLst>
          </p:cNvPr>
          <p:cNvSpPr txBox="1"/>
          <p:nvPr/>
        </p:nvSpPr>
        <p:spPr>
          <a:xfrm>
            <a:off x="3335081" y="4460880"/>
            <a:ext cx="6122070" cy="369332"/>
          </a:xfrm>
          <a:prstGeom prst="rect">
            <a:avLst/>
          </a:prstGeom>
          <a:noFill/>
        </p:spPr>
        <p:txBody>
          <a:bodyPr wrap="square">
            <a:spAutoFit/>
          </a:bodyPr>
          <a:lstStyle/>
          <a:p>
            <a:r>
              <a:rPr lang="de-DE" dirty="0">
                <a:solidFill>
                  <a:srgbClr val="0000FF"/>
                </a:solidFill>
                <a:latin typeface="Helvetica Neue" panose="02000503000000020004" pitchFamily="2" charset="0"/>
                <a:ea typeface="Helvetica Neue" panose="02000503000000020004" pitchFamily="2" charset="0"/>
                <a:cs typeface="Helvetica Neue" panose="02000503000000020004" pitchFamily="2" charset="0"/>
              </a:rPr>
              <a:t>In </a:t>
            </a:r>
            <a:r>
              <a:rPr lang="de-DE" dirty="0" err="1">
                <a:solidFill>
                  <a:srgbClr val="0000FF"/>
                </a:solidFill>
                <a:latin typeface="Helvetica Neue" panose="02000503000000020004" pitchFamily="2" charset="0"/>
                <a:ea typeface="Helvetica Neue" panose="02000503000000020004" pitchFamily="2" charset="0"/>
                <a:cs typeface="Helvetica Neue" panose="02000503000000020004" pitchFamily="2" charset="0"/>
              </a:rPr>
              <a:t>Collaboration</a:t>
            </a:r>
            <a:r>
              <a:rPr lang="de-DE" dirty="0">
                <a:solidFill>
                  <a:srgbClr val="0000FF"/>
                </a:solidFill>
                <a:latin typeface="Helvetica Neue" panose="02000503000000020004" pitchFamily="2" charset="0"/>
                <a:ea typeface="Helvetica Neue" panose="02000503000000020004" pitchFamily="2" charset="0"/>
                <a:cs typeface="Helvetica Neue" panose="02000503000000020004" pitchFamily="2" charset="0"/>
              </a:rPr>
              <a:t> </a:t>
            </a:r>
            <a:r>
              <a:rPr lang="de-DE" dirty="0" err="1">
                <a:solidFill>
                  <a:srgbClr val="0000FF"/>
                </a:solidFill>
                <a:latin typeface="Helvetica Neue" panose="02000503000000020004" pitchFamily="2" charset="0"/>
                <a:ea typeface="Helvetica Neue" panose="02000503000000020004" pitchFamily="2" charset="0"/>
                <a:cs typeface="Helvetica Neue" panose="02000503000000020004" pitchFamily="2" charset="0"/>
              </a:rPr>
              <a:t>with</a:t>
            </a:r>
            <a:r>
              <a:rPr lang="de-DE" dirty="0">
                <a:solidFill>
                  <a:srgbClr val="0000FF"/>
                </a:solidFill>
                <a:latin typeface="Helvetica Neue" panose="02000503000000020004" pitchFamily="2" charset="0"/>
                <a:ea typeface="Helvetica Neue" panose="02000503000000020004" pitchFamily="2" charset="0"/>
                <a:cs typeface="Helvetica Neue" panose="02000503000000020004" pitchFamily="2" charset="0"/>
              </a:rPr>
              <a:t> Marius Krumm and Hans J. Briegel</a:t>
            </a:r>
            <a:endParaRPr lang="de-DE" dirty="0">
              <a:latin typeface="Helvetica Neue" panose="02000503000000020004" pitchFamily="2" charset="0"/>
              <a:ea typeface="Helvetica Neue" panose="02000503000000020004" pitchFamily="2" charset="0"/>
              <a:cs typeface="Helvetica Neue" panose="02000503000000020004" pitchFamily="2" charset="0"/>
            </a:endParaRPr>
          </a:p>
        </p:txBody>
      </p:sp>
      <p:pic>
        <p:nvPicPr>
          <p:cNvPr id="5" name="Picture 4">
            <a:extLst>
              <a:ext uri="{FF2B5EF4-FFF2-40B4-BE49-F238E27FC236}">
                <a16:creationId xmlns:a16="http://schemas.microsoft.com/office/drawing/2014/main" id="{DCAA3EB6-5835-3FB8-1458-D6B61A75C48A}"/>
              </a:ext>
            </a:extLst>
          </p:cNvPr>
          <p:cNvPicPr>
            <a:picLocks noChangeAspect="1"/>
          </p:cNvPicPr>
          <p:nvPr/>
        </p:nvPicPr>
        <p:blipFill>
          <a:blip r:embed="rId4"/>
          <a:stretch>
            <a:fillRect/>
          </a:stretch>
        </p:blipFill>
        <p:spPr>
          <a:xfrm>
            <a:off x="3297272" y="5346867"/>
            <a:ext cx="1742839" cy="1307129"/>
          </a:xfrm>
          <a:prstGeom prst="rect">
            <a:avLst/>
          </a:prstGeom>
        </p:spPr>
      </p:pic>
      <p:pic>
        <p:nvPicPr>
          <p:cNvPr id="6" name="Picture 2">
            <a:extLst>
              <a:ext uri="{FF2B5EF4-FFF2-40B4-BE49-F238E27FC236}">
                <a16:creationId xmlns:a16="http://schemas.microsoft.com/office/drawing/2014/main" id="{116251D0-EE4D-38E4-A36F-772137F79AD3}"/>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7520360" y="5527473"/>
            <a:ext cx="2449178" cy="828849"/>
          </a:xfrm>
          <a:prstGeom prst="rect">
            <a:avLst/>
          </a:prstGeom>
          <a:noFill/>
          <a:extLst>
            <a:ext uri="{909E8E84-426E-40DD-AFC4-6F175D3DCCD1}">
              <a14:hiddenFill xmlns:a14="http://schemas.microsoft.com/office/drawing/2010/main">
                <a:solidFill>
                  <a:srgbClr val="FFFFFF"/>
                </a:solidFill>
              </a14:hiddenFill>
            </a:ext>
          </a:extLst>
        </p:spPr>
      </p:pic>
      <p:pic>
        <p:nvPicPr>
          <p:cNvPr id="7" name="Immagine 59" descr="Immagine che contiene screenshot&#10;&#10;Descrizione generata automaticamente">
            <a:extLst>
              <a:ext uri="{FF2B5EF4-FFF2-40B4-BE49-F238E27FC236}">
                <a16:creationId xmlns:a16="http://schemas.microsoft.com/office/drawing/2014/main" id="{22A443E8-F163-F98C-C097-26E5072C0867}"/>
              </a:ext>
            </a:extLst>
          </p:cNvPr>
          <p:cNvPicPr>
            <a:picLocks noChangeAspect="1"/>
          </p:cNvPicPr>
          <p:nvPr/>
        </p:nvPicPr>
        <p:blipFill rotWithShape="1">
          <a:blip r:embed="rId6">
            <a:extLst>
              <a:ext uri="{28A0092B-C50C-407E-A947-70E740481C1C}">
                <a14:useLocalDpi xmlns:a14="http://schemas.microsoft.com/office/drawing/2010/main"/>
              </a:ext>
            </a:extLst>
          </a:blip>
          <a:srcRect l="2427" t="13899" r="2389" b="23338"/>
          <a:stretch/>
        </p:blipFill>
        <p:spPr>
          <a:xfrm>
            <a:off x="5430415" y="5586006"/>
            <a:ext cx="1884375" cy="828849"/>
          </a:xfrm>
          <a:prstGeom prst="rect">
            <a:avLst/>
          </a:prstGeom>
        </p:spPr>
      </p:pic>
      <p:pic>
        <p:nvPicPr>
          <p:cNvPr id="11" name="Picture 10">
            <a:extLst>
              <a:ext uri="{FF2B5EF4-FFF2-40B4-BE49-F238E27FC236}">
                <a16:creationId xmlns:a16="http://schemas.microsoft.com/office/drawing/2014/main" id="{0912C035-D7F0-DDA6-89B4-D94EEDAFE496}"/>
              </a:ext>
            </a:extLst>
          </p:cNvPr>
          <p:cNvPicPr>
            <a:picLocks noChangeAspect="1"/>
          </p:cNvPicPr>
          <p:nvPr/>
        </p:nvPicPr>
        <p:blipFill>
          <a:blip r:embed="rId7"/>
          <a:stretch>
            <a:fillRect/>
          </a:stretch>
        </p:blipFill>
        <p:spPr>
          <a:xfrm>
            <a:off x="650552" y="3014003"/>
            <a:ext cx="1746896" cy="1746896"/>
          </a:xfrm>
          <a:prstGeom prst="rect">
            <a:avLst/>
          </a:prstGeom>
        </p:spPr>
      </p:pic>
      <p:sp>
        <p:nvSpPr>
          <p:cNvPr id="13" name="TextBox 12">
            <a:extLst>
              <a:ext uri="{FF2B5EF4-FFF2-40B4-BE49-F238E27FC236}">
                <a16:creationId xmlns:a16="http://schemas.microsoft.com/office/drawing/2014/main" id="{7F00E2F9-8954-B9D7-D980-1B6C5C475813}"/>
              </a:ext>
            </a:extLst>
          </p:cNvPr>
          <p:cNvSpPr txBox="1"/>
          <p:nvPr/>
        </p:nvSpPr>
        <p:spPr>
          <a:xfrm>
            <a:off x="478899" y="4760899"/>
            <a:ext cx="2517961" cy="646331"/>
          </a:xfrm>
          <a:prstGeom prst="rect">
            <a:avLst/>
          </a:prstGeom>
          <a:noFill/>
        </p:spPr>
        <p:txBody>
          <a:bodyPr wrap="square">
            <a:spAutoFit/>
          </a:bodyPr>
          <a:lstStyle/>
          <a:p>
            <a:r>
              <a:rPr lang="de-DE" i="1" dirty="0" err="1">
                <a:solidFill>
                  <a:srgbClr val="0000FF"/>
                </a:solidFill>
                <a:latin typeface="Helvetica Neue" panose="02000503000000020004" pitchFamily="2" charset="0"/>
                <a:ea typeface="Helvetica Neue" panose="02000503000000020004" pitchFamily="2" charset="0"/>
                <a:cs typeface="Helvetica Neue" panose="02000503000000020004" pitchFamily="2" charset="0"/>
              </a:rPr>
              <a:t>Artificial</a:t>
            </a:r>
            <a:r>
              <a:rPr lang="de-DE" i="1" dirty="0">
                <a:solidFill>
                  <a:srgbClr val="0000FF"/>
                </a:solidFill>
                <a:latin typeface="Helvetica Neue" panose="02000503000000020004" pitchFamily="2" charset="0"/>
                <a:ea typeface="Helvetica Neue" panose="02000503000000020004" pitchFamily="2" charset="0"/>
                <a:cs typeface="Helvetica Neue" panose="02000503000000020004" pitchFamily="2" charset="0"/>
              </a:rPr>
              <a:t> </a:t>
            </a:r>
            <a:r>
              <a:rPr lang="de-DE" i="1" dirty="0" err="1">
                <a:solidFill>
                  <a:srgbClr val="0000FF"/>
                </a:solidFill>
                <a:latin typeface="Helvetica Neue" panose="02000503000000020004" pitchFamily="2" charset="0"/>
                <a:ea typeface="Helvetica Neue" panose="02000503000000020004" pitchFamily="2" charset="0"/>
                <a:cs typeface="Helvetica Neue" panose="02000503000000020004" pitchFamily="2" charset="0"/>
              </a:rPr>
              <a:t>Intelligence</a:t>
            </a:r>
            <a:r>
              <a:rPr lang="de-DE" i="1" dirty="0">
                <a:solidFill>
                  <a:srgbClr val="0000FF"/>
                </a:solidFill>
                <a:latin typeface="Helvetica Neue" panose="02000503000000020004" pitchFamily="2" charset="0"/>
                <a:ea typeface="Helvetica Neue" panose="02000503000000020004" pitchFamily="2" charset="0"/>
                <a:cs typeface="Helvetica Neue" panose="02000503000000020004" pitchFamily="2" charset="0"/>
              </a:rPr>
              <a:t> </a:t>
            </a:r>
            <a:r>
              <a:rPr lang="de-DE" dirty="0">
                <a:solidFill>
                  <a:srgbClr val="0000FF"/>
                </a:solidFill>
                <a:latin typeface="Helvetica Neue" panose="02000503000000020004" pitchFamily="2" charset="0"/>
                <a:ea typeface="Helvetica Neue" panose="02000503000000020004" pitchFamily="2" charset="0"/>
                <a:cs typeface="Helvetica Neue" panose="02000503000000020004" pitchFamily="2" charset="0"/>
              </a:rPr>
              <a:t>352</a:t>
            </a:r>
            <a:r>
              <a:rPr lang="de-DE" i="1" dirty="0">
                <a:solidFill>
                  <a:srgbClr val="0000FF"/>
                </a:solidFill>
                <a:latin typeface="Helvetica Neue" panose="02000503000000020004" pitchFamily="2" charset="0"/>
                <a:ea typeface="Helvetica Neue" panose="02000503000000020004" pitchFamily="2" charset="0"/>
                <a:cs typeface="Helvetica Neue" panose="02000503000000020004" pitchFamily="2" charset="0"/>
              </a:rPr>
              <a:t>, </a:t>
            </a:r>
            <a:r>
              <a:rPr lang="de-DE" dirty="0">
                <a:solidFill>
                  <a:srgbClr val="0000FF"/>
                </a:solidFill>
                <a:latin typeface="Helvetica Neue" panose="02000503000000020004" pitchFamily="2" charset="0"/>
                <a:ea typeface="Helvetica Neue" panose="02000503000000020004" pitchFamily="2" charset="0"/>
                <a:cs typeface="Helvetica Neue" panose="02000503000000020004" pitchFamily="2" charset="0"/>
              </a:rPr>
              <a:t>104489</a:t>
            </a:r>
            <a:r>
              <a:rPr lang="en-US" dirty="0">
                <a:latin typeface="Helvetica Neue" panose="02000503000000020004" pitchFamily="2" charset="0"/>
                <a:ea typeface="Helvetica Neue" panose="02000503000000020004" pitchFamily="2" charset="0"/>
                <a:cs typeface="Helvetica Neue" panose="02000503000000020004" pitchFamily="2" charset="0"/>
              </a:rPr>
              <a:t> </a:t>
            </a:r>
            <a:r>
              <a:rPr lang="de-DE" dirty="0">
                <a:solidFill>
                  <a:srgbClr val="0000FF"/>
                </a:solidFill>
                <a:latin typeface="Helvetica Neue" panose="02000503000000020004" pitchFamily="2" charset="0"/>
                <a:ea typeface="Helvetica Neue" panose="02000503000000020004" pitchFamily="2" charset="0"/>
                <a:cs typeface="Helvetica Neue" panose="02000503000000020004" pitchFamily="2" charset="0"/>
              </a:rPr>
              <a:t>(2026) </a:t>
            </a:r>
            <a:endParaRPr lang="en-CA" dirty="0">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2451991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3" name="Rounded Rectangle 32">
            <a:extLst>
              <a:ext uri="{FF2B5EF4-FFF2-40B4-BE49-F238E27FC236}">
                <a16:creationId xmlns:a16="http://schemas.microsoft.com/office/drawing/2014/main" id="{3F056B67-AF35-C09B-B603-EF4F6BFF3F02}"/>
              </a:ext>
            </a:extLst>
          </p:cNvPr>
          <p:cNvSpPr/>
          <p:nvPr/>
        </p:nvSpPr>
        <p:spPr>
          <a:xfrm>
            <a:off x="6740448" y="4702386"/>
            <a:ext cx="4638598" cy="611831"/>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1" name="Rounded Rectangle 30">
            <a:extLst>
              <a:ext uri="{FF2B5EF4-FFF2-40B4-BE49-F238E27FC236}">
                <a16:creationId xmlns:a16="http://schemas.microsoft.com/office/drawing/2014/main" id="{84A561D0-8119-52EF-3155-0DCDA1967699}"/>
              </a:ext>
            </a:extLst>
          </p:cNvPr>
          <p:cNvSpPr/>
          <p:nvPr/>
        </p:nvSpPr>
        <p:spPr>
          <a:xfrm>
            <a:off x="6858002" y="1491238"/>
            <a:ext cx="4419600" cy="884861"/>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0" name="Rounded Rectangle 29">
            <a:extLst>
              <a:ext uri="{FF2B5EF4-FFF2-40B4-BE49-F238E27FC236}">
                <a16:creationId xmlns:a16="http://schemas.microsoft.com/office/drawing/2014/main" id="{2CF116E5-BA78-5F2E-0829-565204D563F2}"/>
              </a:ext>
            </a:extLst>
          </p:cNvPr>
          <p:cNvSpPr/>
          <p:nvPr/>
        </p:nvSpPr>
        <p:spPr>
          <a:xfrm>
            <a:off x="914400" y="2898734"/>
            <a:ext cx="4419600" cy="854330"/>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 name="Fußzeilenplatzhalter 1"/>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IJCAI 2026, Bremen, Germany I Phil LeMaitre I 20.08.2026</a:t>
            </a:r>
            <a:endParaRPr lang="de-DE" dirty="0"/>
          </a:p>
        </p:txBody>
      </p:sp>
      <p:sp>
        <p:nvSpPr>
          <p:cNvPr id="3" name="Titel 1">
            <a:extLst>
              <a:ext uri="{FF2B5EF4-FFF2-40B4-BE49-F238E27FC236}">
                <a16:creationId xmlns:a16="http://schemas.microsoft.com/office/drawing/2014/main" id="{8EA3482B-9788-BCB4-D810-065E821DE54B}"/>
              </a:ext>
            </a:extLst>
          </p:cNvPr>
          <p:cNvSpPr txBox="1">
            <a:spLocks/>
          </p:cNvSpPr>
          <p:nvPr/>
        </p:nvSpPr>
        <p:spPr bwMode="auto">
          <a:xfrm>
            <a:off x="0" y="0"/>
            <a:ext cx="12280900" cy="1014750"/>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Introduction and Motivation</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1F3F9579-06C2-517C-7BDF-0532851DAE76}"/>
              </a:ext>
            </a:extLst>
          </p:cNvPr>
          <p:cNvSpPr>
            <a:spLocks noGrp="1"/>
          </p:cNvSpPr>
          <p:nvPr>
            <p:ph type="sldNum" sz="quarter" idx="12"/>
          </p:nvPr>
        </p:nvSpPr>
        <p:spPr/>
        <p:txBody>
          <a:bodyPr/>
          <a:lstStyle/>
          <a:p>
            <a:fld id="{D0617D14-1B55-43C0-819D-0D244AC23646}" type="slidenum">
              <a:rPr lang="de-AT" smtClean="0"/>
              <a:t>2</a:t>
            </a:fld>
            <a:endParaRPr lang="de-AT"/>
          </a:p>
        </p:txBody>
      </p:sp>
      <p:sp>
        <p:nvSpPr>
          <p:cNvPr id="20" name="TextBox 19">
            <a:extLst>
              <a:ext uri="{FF2B5EF4-FFF2-40B4-BE49-F238E27FC236}">
                <a16:creationId xmlns:a16="http://schemas.microsoft.com/office/drawing/2014/main" id="{93F33BEB-E819-6CB2-F1D2-59AF8D5DCE8D}"/>
              </a:ext>
            </a:extLst>
          </p:cNvPr>
          <p:cNvSpPr txBox="1"/>
          <p:nvPr/>
        </p:nvSpPr>
        <p:spPr>
          <a:xfrm>
            <a:off x="977900" y="3917273"/>
            <a:ext cx="4292600" cy="369332"/>
          </a:xfrm>
          <a:prstGeom prst="rect">
            <a:avLst/>
          </a:prstGeom>
          <a:noFill/>
        </p:spPr>
        <p:txBody>
          <a:bodyPr wrap="square" rtlCol="0">
            <a:spAutoFit/>
          </a:bodyPr>
          <a:lstStyle/>
          <a:p>
            <a:pPr marL="285750" indent="-285750">
              <a:buFont typeface="Arial" panose="020B0604020202020204" pitchFamily="34" charset="0"/>
              <a:buChar char="•"/>
            </a:pPr>
            <a:r>
              <a:rPr lang="en-CA" dirty="0"/>
              <a:t>Quantum-inspired inductive biases </a:t>
            </a:r>
          </a:p>
        </p:txBody>
      </p:sp>
      <p:sp>
        <p:nvSpPr>
          <p:cNvPr id="25" name="TextBox 24">
            <a:extLst>
              <a:ext uri="{FF2B5EF4-FFF2-40B4-BE49-F238E27FC236}">
                <a16:creationId xmlns:a16="http://schemas.microsoft.com/office/drawing/2014/main" id="{D70BCE30-BAC5-9B44-4848-B25AD98FABFC}"/>
              </a:ext>
            </a:extLst>
          </p:cNvPr>
          <p:cNvSpPr txBox="1"/>
          <p:nvPr/>
        </p:nvSpPr>
        <p:spPr>
          <a:xfrm>
            <a:off x="1155700" y="3002733"/>
            <a:ext cx="3962400" cy="646331"/>
          </a:xfrm>
          <a:prstGeom prst="rect">
            <a:avLst/>
          </a:prstGeom>
          <a:noFill/>
        </p:spPr>
        <p:txBody>
          <a:bodyPr wrap="square" rtlCol="0">
            <a:spAutoFit/>
          </a:bodyPr>
          <a:lstStyle/>
          <a:p>
            <a:r>
              <a:rPr lang="en-CA" dirty="0"/>
              <a:t>Use ideas from quantum to improve classical ML!</a:t>
            </a:r>
          </a:p>
        </p:txBody>
      </p:sp>
      <p:sp>
        <p:nvSpPr>
          <p:cNvPr id="27" name="TextBox 26">
            <a:extLst>
              <a:ext uri="{FF2B5EF4-FFF2-40B4-BE49-F238E27FC236}">
                <a16:creationId xmlns:a16="http://schemas.microsoft.com/office/drawing/2014/main" id="{EB214005-47C9-B3A9-929B-A01D7A4940CE}"/>
              </a:ext>
            </a:extLst>
          </p:cNvPr>
          <p:cNvSpPr txBox="1"/>
          <p:nvPr/>
        </p:nvSpPr>
        <p:spPr>
          <a:xfrm>
            <a:off x="7010400" y="1628264"/>
            <a:ext cx="4203700" cy="646331"/>
          </a:xfrm>
          <a:prstGeom prst="rect">
            <a:avLst/>
          </a:prstGeom>
          <a:noFill/>
        </p:spPr>
        <p:txBody>
          <a:bodyPr wrap="square" rtlCol="0">
            <a:spAutoFit/>
          </a:bodyPr>
          <a:lstStyle/>
          <a:p>
            <a:r>
              <a:rPr lang="en-CA" dirty="0"/>
              <a:t>Why do AI agents make certain decisions? How can we explain them? </a:t>
            </a:r>
          </a:p>
        </p:txBody>
      </p:sp>
      <p:sp>
        <p:nvSpPr>
          <p:cNvPr id="28" name="Down Arrow 27">
            <a:extLst>
              <a:ext uri="{FF2B5EF4-FFF2-40B4-BE49-F238E27FC236}">
                <a16:creationId xmlns:a16="http://schemas.microsoft.com/office/drawing/2014/main" id="{39EADA7C-E150-7C04-8D53-0514524248D5}"/>
              </a:ext>
            </a:extLst>
          </p:cNvPr>
          <p:cNvSpPr/>
          <p:nvPr/>
        </p:nvSpPr>
        <p:spPr>
          <a:xfrm>
            <a:off x="2984500" y="2345568"/>
            <a:ext cx="279400" cy="51691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9" name="Rounded Rectangle 28">
            <a:extLst>
              <a:ext uri="{FF2B5EF4-FFF2-40B4-BE49-F238E27FC236}">
                <a16:creationId xmlns:a16="http://schemas.microsoft.com/office/drawing/2014/main" id="{7722A656-8CA3-AFC3-94DE-372FEF2DF417}"/>
              </a:ext>
            </a:extLst>
          </p:cNvPr>
          <p:cNvSpPr/>
          <p:nvPr/>
        </p:nvSpPr>
        <p:spPr>
          <a:xfrm>
            <a:off x="914400" y="1491238"/>
            <a:ext cx="4419600" cy="854330"/>
          </a:xfrm>
          <a:prstGeom prst="round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 name="TextBox 15">
            <a:extLst>
              <a:ext uri="{FF2B5EF4-FFF2-40B4-BE49-F238E27FC236}">
                <a16:creationId xmlns:a16="http://schemas.microsoft.com/office/drawing/2014/main" id="{D64871B6-A9C7-3B32-3FD4-C1110EFFFDFA}"/>
              </a:ext>
            </a:extLst>
          </p:cNvPr>
          <p:cNvSpPr txBox="1"/>
          <p:nvPr/>
        </p:nvSpPr>
        <p:spPr>
          <a:xfrm>
            <a:off x="977900" y="1595238"/>
            <a:ext cx="4292600" cy="646331"/>
          </a:xfrm>
          <a:prstGeom prst="rect">
            <a:avLst/>
          </a:prstGeom>
          <a:noFill/>
        </p:spPr>
        <p:txBody>
          <a:bodyPr wrap="square" rtlCol="0">
            <a:spAutoFit/>
          </a:bodyPr>
          <a:lstStyle/>
          <a:p>
            <a:r>
              <a:rPr lang="en-CA" dirty="0"/>
              <a:t>Quantum machine learning is great but currently limited compared to classical ML</a:t>
            </a:r>
          </a:p>
        </p:txBody>
      </p:sp>
      <p:sp>
        <p:nvSpPr>
          <p:cNvPr id="32" name="TextBox 31">
            <a:extLst>
              <a:ext uri="{FF2B5EF4-FFF2-40B4-BE49-F238E27FC236}">
                <a16:creationId xmlns:a16="http://schemas.microsoft.com/office/drawing/2014/main" id="{80FCFAEB-E709-3261-7A3F-A099A65E632E}"/>
              </a:ext>
            </a:extLst>
          </p:cNvPr>
          <p:cNvSpPr txBox="1"/>
          <p:nvPr/>
        </p:nvSpPr>
        <p:spPr>
          <a:xfrm>
            <a:off x="6740448" y="4823636"/>
            <a:ext cx="4756152" cy="369332"/>
          </a:xfrm>
          <a:prstGeom prst="rect">
            <a:avLst/>
          </a:prstGeom>
          <a:noFill/>
        </p:spPr>
        <p:txBody>
          <a:bodyPr wrap="square" rtlCol="0">
            <a:spAutoFit/>
          </a:bodyPr>
          <a:lstStyle/>
          <a:p>
            <a:r>
              <a:rPr lang="en-CA" dirty="0"/>
              <a:t>Explainable quantum-inspired machine learning</a:t>
            </a:r>
          </a:p>
        </p:txBody>
      </p:sp>
      <p:sp>
        <p:nvSpPr>
          <p:cNvPr id="34" name="Down Arrow 33">
            <a:extLst>
              <a:ext uri="{FF2B5EF4-FFF2-40B4-BE49-F238E27FC236}">
                <a16:creationId xmlns:a16="http://schemas.microsoft.com/office/drawing/2014/main" id="{F406D82C-17D0-A39A-CFC9-F54A7B4371F3}"/>
              </a:ext>
            </a:extLst>
          </p:cNvPr>
          <p:cNvSpPr/>
          <p:nvPr/>
        </p:nvSpPr>
        <p:spPr>
          <a:xfrm>
            <a:off x="9058198" y="2395845"/>
            <a:ext cx="279400" cy="229598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5" name="Down Arrow 34">
            <a:extLst>
              <a:ext uri="{FF2B5EF4-FFF2-40B4-BE49-F238E27FC236}">
                <a16:creationId xmlns:a16="http://schemas.microsoft.com/office/drawing/2014/main" id="{67B3AC20-E20D-8ECA-B89A-5981E4A64596}"/>
              </a:ext>
            </a:extLst>
          </p:cNvPr>
          <p:cNvSpPr/>
          <p:nvPr/>
        </p:nvSpPr>
        <p:spPr>
          <a:xfrm rot="16200000">
            <a:off x="6054478" y="4433358"/>
            <a:ext cx="295692" cy="107624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F9890BB5-E236-E3B0-149B-E8C38821FD21}"/>
                  </a:ext>
                </a:extLst>
              </p:cNvPr>
              <p:cNvSpPr txBox="1"/>
              <p:nvPr/>
            </p:nvSpPr>
            <p:spPr>
              <a:xfrm>
                <a:off x="1155700" y="4418604"/>
                <a:ext cx="7366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A" i="1" smtClean="0">
                          <a:latin typeface="Cambria Math" panose="02040503050406030204" pitchFamily="18" charset="0"/>
                          <a:ea typeface="Cambria Math" panose="02040503050406030204" pitchFamily="18" charset="0"/>
                        </a:rPr>
                        <m:t>→</m:t>
                      </m:r>
                    </m:oMath>
                  </m:oMathPara>
                </a14:m>
                <a:endParaRPr lang="en-CA" dirty="0"/>
              </a:p>
            </p:txBody>
          </p:sp>
        </mc:Choice>
        <mc:Fallback xmlns="">
          <p:sp>
            <p:nvSpPr>
              <p:cNvPr id="38" name="TextBox 37">
                <a:extLst>
                  <a:ext uri="{FF2B5EF4-FFF2-40B4-BE49-F238E27FC236}">
                    <a16:creationId xmlns:a16="http://schemas.microsoft.com/office/drawing/2014/main" id="{F9890BB5-E236-E3B0-149B-E8C38821FD21}"/>
                  </a:ext>
                </a:extLst>
              </p:cNvPr>
              <p:cNvSpPr txBox="1">
                <a:spLocks noRot="1" noChangeAspect="1" noMove="1" noResize="1" noEditPoints="1" noAdjustHandles="1" noChangeArrowheads="1" noChangeShapeType="1" noTextEdit="1"/>
              </p:cNvSpPr>
              <p:nvPr/>
            </p:nvSpPr>
            <p:spPr>
              <a:xfrm>
                <a:off x="1155700" y="4418604"/>
                <a:ext cx="736600" cy="369332"/>
              </a:xfrm>
              <a:prstGeom prst="rect">
                <a:avLst/>
              </a:prstGeom>
              <a:blipFill>
                <a:blip r:embed="rId4"/>
                <a:stretch>
                  <a:fillRect/>
                </a:stretch>
              </a:blipFill>
            </p:spPr>
            <p:txBody>
              <a:bodyPr/>
              <a:lstStyle/>
              <a:p>
                <a:r>
                  <a:rPr lang="en-CA">
                    <a:noFill/>
                  </a:rPr>
                  <a:t> </a:t>
                </a:r>
              </a:p>
            </p:txBody>
          </p:sp>
        </mc:Fallback>
      </mc:AlternateContent>
      <p:sp>
        <p:nvSpPr>
          <p:cNvPr id="39" name="TextBox 38">
            <a:extLst>
              <a:ext uri="{FF2B5EF4-FFF2-40B4-BE49-F238E27FC236}">
                <a16:creationId xmlns:a16="http://schemas.microsoft.com/office/drawing/2014/main" id="{4503599D-7982-5A56-7C65-6FEEC2979BC0}"/>
              </a:ext>
            </a:extLst>
          </p:cNvPr>
          <p:cNvSpPr txBox="1"/>
          <p:nvPr/>
        </p:nvSpPr>
        <p:spPr>
          <a:xfrm>
            <a:off x="1781252" y="4417750"/>
            <a:ext cx="2681566" cy="646331"/>
          </a:xfrm>
          <a:prstGeom prst="rect">
            <a:avLst/>
          </a:prstGeom>
          <a:noFill/>
        </p:spPr>
        <p:txBody>
          <a:bodyPr wrap="square" rtlCol="0">
            <a:spAutoFit/>
          </a:bodyPr>
          <a:lstStyle/>
          <a:p>
            <a:r>
              <a:rPr lang="en-CA" dirty="0"/>
              <a:t>Limits on interaction size of network nodes</a:t>
            </a:r>
          </a:p>
        </p:txBody>
      </p:sp>
    </p:spTree>
    <p:custDataLst>
      <p:tags r:id="rId1"/>
    </p:custDataLst>
    <p:extLst>
      <p:ext uri="{BB962C8B-B14F-4D97-AF65-F5344CB8AC3E}">
        <p14:creationId xmlns:p14="http://schemas.microsoft.com/office/powerpoint/2010/main" val="4053991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1" grpId="0" animBg="1"/>
      <p:bldP spid="30" grpId="0" animBg="1"/>
      <p:bldP spid="20" grpId="0"/>
      <p:bldP spid="25" grpId="0"/>
      <p:bldP spid="27" grpId="0"/>
      <p:bldP spid="28" grpId="0" animBg="1"/>
      <p:bldP spid="29" grpId="0" animBg="1"/>
      <p:bldP spid="16" grpId="0"/>
      <p:bldP spid="32" grpId="0"/>
      <p:bldP spid="34" grpId="0" animBg="1"/>
      <p:bldP spid="35" grpId="0" animBg="1"/>
      <p:bldP spid="38" grpId="0"/>
      <p:bldP spid="3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oup 28">
            <a:extLst>
              <a:ext uri="{FF2B5EF4-FFF2-40B4-BE49-F238E27FC236}">
                <a16:creationId xmlns:a16="http://schemas.microsoft.com/office/drawing/2014/main" id="{E895DA12-243B-0BDD-01FD-1761FA968C8F}"/>
              </a:ext>
            </a:extLst>
          </p:cNvPr>
          <p:cNvGrpSpPr/>
          <p:nvPr/>
        </p:nvGrpSpPr>
        <p:grpSpPr>
          <a:xfrm>
            <a:off x="7207918" y="2555418"/>
            <a:ext cx="4670436" cy="2378277"/>
            <a:chOff x="1684605" y="3759276"/>
            <a:chExt cx="3310382" cy="1553409"/>
          </a:xfrm>
        </p:grpSpPr>
        <p:grpSp>
          <p:nvGrpSpPr>
            <p:cNvPr id="9" name="Group 19">
              <a:extLst>
                <a:ext uri="{FF2B5EF4-FFF2-40B4-BE49-F238E27FC236}">
                  <a16:creationId xmlns:a16="http://schemas.microsoft.com/office/drawing/2014/main" id="{B4B0EF01-6B09-E9C8-79C6-9AFAE0F49CFC}"/>
                </a:ext>
              </a:extLst>
            </p:cNvPr>
            <p:cNvGrpSpPr>
              <a:grpSpLocks/>
            </p:cNvGrpSpPr>
            <p:nvPr/>
          </p:nvGrpSpPr>
          <p:grpSpPr bwMode="auto">
            <a:xfrm>
              <a:off x="1684605" y="3759276"/>
              <a:ext cx="3310382" cy="1553409"/>
              <a:chOff x="444" y="1035"/>
              <a:chExt cx="2779" cy="1174"/>
            </a:xfrm>
          </p:grpSpPr>
          <p:pic>
            <p:nvPicPr>
              <p:cNvPr id="11" name="Picture 6" descr="AgentGeneric">
                <a:extLst>
                  <a:ext uri="{FF2B5EF4-FFF2-40B4-BE49-F238E27FC236}">
                    <a16:creationId xmlns:a16="http://schemas.microsoft.com/office/drawing/2014/main" id="{D63D3AC0-13C5-D875-7BF2-1F51A03FD44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44" y="1035"/>
                <a:ext cx="2779" cy="1174"/>
              </a:xfrm>
              <a:prstGeom prst="rect">
                <a:avLst/>
              </a:prstGeom>
              <a:noFill/>
              <a:extLst>
                <a:ext uri="{909E8E84-426E-40DD-AFC4-6F175D3DCCD1}">
                  <a14:hiddenFill xmlns:a14="http://schemas.microsoft.com/office/drawing/2010/main">
                    <a:solidFill>
                      <a:srgbClr val="FFFFFF"/>
                    </a:solidFill>
                  </a14:hiddenFill>
                </a:ext>
              </a:extLst>
            </p:spPr>
          </p:pic>
          <p:sp>
            <p:nvSpPr>
              <p:cNvPr id="12" name="Text Box 18">
                <a:extLst>
                  <a:ext uri="{FF2B5EF4-FFF2-40B4-BE49-F238E27FC236}">
                    <a16:creationId xmlns:a16="http://schemas.microsoft.com/office/drawing/2014/main" id="{057E81BA-6CCB-35C7-00BD-660C5845EA2A}"/>
                  </a:ext>
                </a:extLst>
              </p:cNvPr>
              <p:cNvSpPr txBox="1">
                <a:spLocks noChangeArrowheads="1"/>
              </p:cNvSpPr>
              <p:nvPr/>
            </p:nvSpPr>
            <p:spPr bwMode="auto">
              <a:xfrm>
                <a:off x="911" y="1126"/>
                <a:ext cx="138" cy="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de-AT">
                  <a:latin typeface="Helvetica Neue" panose="02000503000000020004" pitchFamily="2" charset="0"/>
                  <a:ea typeface="Helvetica Neue" panose="02000503000000020004" pitchFamily="2" charset="0"/>
                  <a:cs typeface="Helvetica Neue" panose="02000503000000020004" pitchFamily="2" charset="0"/>
                </a:endParaRPr>
              </a:p>
            </p:txBody>
          </p:sp>
        </p:grpSp>
        <p:sp>
          <p:nvSpPr>
            <p:cNvPr id="19" name="Text Box 27">
              <a:extLst>
                <a:ext uri="{FF2B5EF4-FFF2-40B4-BE49-F238E27FC236}">
                  <a16:creationId xmlns:a16="http://schemas.microsoft.com/office/drawing/2014/main" id="{25CB32C6-F181-4F9B-8FAE-1A53AC492038}"/>
                </a:ext>
              </a:extLst>
            </p:cNvPr>
            <p:cNvSpPr txBox="1">
              <a:spLocks noChangeArrowheads="1"/>
            </p:cNvSpPr>
            <p:nvPr/>
          </p:nvSpPr>
          <p:spPr bwMode="auto">
            <a:xfrm>
              <a:off x="2049600" y="4764371"/>
              <a:ext cx="516001" cy="2598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1400" dirty="0">
                  <a:solidFill>
                    <a:srgbClr val="0000FF"/>
                  </a:solidFill>
                  <a:latin typeface="Helvetica Neue" panose="02000503000000020004" pitchFamily="2" charset="0"/>
                  <a:ea typeface="Helvetica Neue" panose="02000503000000020004" pitchFamily="2" charset="0"/>
                  <a:cs typeface="Helvetica Neue" panose="02000503000000020004" pitchFamily="2" charset="0"/>
                </a:rPr>
                <a:t>ECM</a:t>
              </a:r>
            </a:p>
          </p:txBody>
        </p:sp>
      </p:grpSp>
      <p:sp>
        <p:nvSpPr>
          <p:cNvPr id="2" name="Fußzeilenplatzhalter 1"/>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IJCAI 2026, Bremen, Germany I Phil LeMaitre I 20.08.2026</a:t>
            </a:r>
            <a:endParaRPr lang="de-DE" dirty="0"/>
          </a:p>
        </p:txBody>
      </p:sp>
      <p:sp>
        <p:nvSpPr>
          <p:cNvPr id="3" name="Titel 1">
            <a:extLst>
              <a:ext uri="{FF2B5EF4-FFF2-40B4-BE49-F238E27FC236}">
                <a16:creationId xmlns:a16="http://schemas.microsoft.com/office/drawing/2014/main" id="{8EA3482B-9788-BCB4-D810-065E821DE54B}"/>
              </a:ext>
            </a:extLst>
          </p:cNvPr>
          <p:cNvSpPr txBox="1">
            <a:spLocks/>
          </p:cNvSpPr>
          <p:nvPr/>
        </p:nvSpPr>
        <p:spPr bwMode="auto">
          <a:xfrm>
            <a:off x="0" y="0"/>
            <a:ext cx="12280900" cy="1014750"/>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Projective</a:t>
            </a:r>
            <a:r>
              <a:rPr lang="de-AT" sz="3200" kern="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 Simulation (PS)</a:t>
            </a:r>
          </a:p>
        </p:txBody>
      </p:sp>
      <p:sp>
        <p:nvSpPr>
          <p:cNvPr id="7" name="Slide Number Placeholder 6">
            <a:extLst>
              <a:ext uri="{FF2B5EF4-FFF2-40B4-BE49-F238E27FC236}">
                <a16:creationId xmlns:a16="http://schemas.microsoft.com/office/drawing/2014/main" id="{1F3F9579-06C2-517C-7BDF-0532851DAE76}"/>
              </a:ext>
            </a:extLst>
          </p:cNvPr>
          <p:cNvSpPr>
            <a:spLocks noGrp="1"/>
          </p:cNvSpPr>
          <p:nvPr>
            <p:ph type="sldNum" sz="quarter" idx="12"/>
          </p:nvPr>
        </p:nvSpPr>
        <p:spPr/>
        <p:txBody>
          <a:bodyPr/>
          <a:lstStyle/>
          <a:p>
            <a:fld id="{D0617D14-1B55-43C0-819D-0D244AC23646}" type="slidenum">
              <a:rPr lang="de-AT" smtClean="0"/>
              <a:t>3</a:t>
            </a:fld>
            <a:endParaRPr lang="de-AT"/>
          </a:p>
        </p:txBody>
      </p:sp>
      <p:cxnSp>
        <p:nvCxnSpPr>
          <p:cNvPr id="13" name="Straight Connector 12">
            <a:extLst>
              <a:ext uri="{FF2B5EF4-FFF2-40B4-BE49-F238E27FC236}">
                <a16:creationId xmlns:a16="http://schemas.microsoft.com/office/drawing/2014/main" id="{1B9F50CC-8DD9-C606-8DB8-B21C577F7A54}"/>
              </a:ext>
            </a:extLst>
          </p:cNvPr>
          <p:cNvCxnSpPr>
            <a:cxnSpLocks/>
          </p:cNvCxnSpPr>
          <p:nvPr/>
        </p:nvCxnSpPr>
        <p:spPr bwMode="auto">
          <a:xfrm>
            <a:off x="6551394" y="2917477"/>
            <a:ext cx="1251143" cy="565583"/>
          </a:xfrm>
          <a:prstGeom prst="line">
            <a:avLst/>
          </a:prstGeom>
          <a:noFill/>
          <a:ln w="9525" cap="flat" cmpd="sng" algn="ctr">
            <a:solidFill>
              <a:schemeClr val="tx1"/>
            </a:solidFill>
            <a:prstDash val="solid"/>
            <a:round/>
            <a:headEnd type="none" w="med" len="med"/>
            <a:tailEnd type="none" w="med" len="med"/>
          </a:ln>
          <a:effectLst/>
        </p:spPr>
      </p:cxnSp>
      <p:cxnSp>
        <p:nvCxnSpPr>
          <p:cNvPr id="14" name="Straight Connector 13">
            <a:extLst>
              <a:ext uri="{FF2B5EF4-FFF2-40B4-BE49-F238E27FC236}">
                <a16:creationId xmlns:a16="http://schemas.microsoft.com/office/drawing/2014/main" id="{8E5E9E32-0CF9-8160-953B-508A8A61BE85}"/>
              </a:ext>
            </a:extLst>
          </p:cNvPr>
          <p:cNvCxnSpPr>
            <a:cxnSpLocks/>
          </p:cNvCxnSpPr>
          <p:nvPr/>
        </p:nvCxnSpPr>
        <p:spPr bwMode="auto">
          <a:xfrm flipV="1">
            <a:off x="6638934" y="4042299"/>
            <a:ext cx="1156079" cy="521349"/>
          </a:xfrm>
          <a:prstGeom prst="line">
            <a:avLst/>
          </a:prstGeom>
          <a:noFill/>
          <a:ln w="9525" cap="flat" cmpd="sng" algn="ctr">
            <a:solidFill>
              <a:schemeClr val="tx1"/>
            </a:solidFill>
            <a:prstDash val="solid"/>
            <a:round/>
            <a:headEnd type="none" w="med" len="med"/>
            <a:tailEnd type="none" w="med" len="med"/>
          </a:ln>
          <a:effectLst/>
        </p:spPr>
      </p:cxnSp>
      <p:sp>
        <p:nvSpPr>
          <p:cNvPr id="15" name="Textfeld 21">
            <a:extLst>
              <a:ext uri="{FF2B5EF4-FFF2-40B4-BE49-F238E27FC236}">
                <a16:creationId xmlns:a16="http://schemas.microsoft.com/office/drawing/2014/main" id="{65F9CEAB-C457-1205-2BE0-5D5659E3963C}"/>
              </a:ext>
            </a:extLst>
          </p:cNvPr>
          <p:cNvSpPr txBox="1"/>
          <p:nvPr/>
        </p:nvSpPr>
        <p:spPr>
          <a:xfrm>
            <a:off x="7881565" y="2017371"/>
            <a:ext cx="1661571" cy="400110"/>
          </a:xfrm>
          <a:prstGeom prst="rect">
            <a:avLst/>
          </a:prstGeom>
          <a:noFill/>
        </p:spPr>
        <p:txBody>
          <a:bodyPr wrap="square">
            <a:spAutoFit/>
          </a:bodyPr>
          <a:lstStyle/>
          <a:p>
            <a:r>
              <a:rPr lang="en-CA" sz="2000"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sym typeface="Wingdings" pitchFamily="2" charset="2"/>
              </a:rPr>
              <a:t>PS agent</a:t>
            </a:r>
            <a:endParaRPr lang="en-CA" sz="2000"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6" name="Textfeld 25">
            <a:extLst>
              <a:ext uri="{FF2B5EF4-FFF2-40B4-BE49-F238E27FC236}">
                <a16:creationId xmlns:a16="http://schemas.microsoft.com/office/drawing/2014/main" id="{9585A369-B8D9-AF10-42BB-6CAEFC64DC10}"/>
              </a:ext>
            </a:extLst>
          </p:cNvPr>
          <p:cNvSpPr txBox="1"/>
          <p:nvPr/>
        </p:nvSpPr>
        <p:spPr>
          <a:xfrm>
            <a:off x="816488" y="1897590"/>
            <a:ext cx="5167024" cy="400110"/>
          </a:xfrm>
          <a:prstGeom prst="rect">
            <a:avLst/>
          </a:prstGeom>
          <a:noFill/>
        </p:spPr>
        <p:txBody>
          <a:bodyPr wrap="square">
            <a:spAutoFit/>
          </a:bodyPr>
          <a:lstStyle/>
          <a:p>
            <a:r>
              <a:rPr lang="en-CA" sz="2000" dirty="0">
                <a:latin typeface="Helvetica Neue" panose="02000503000000020004" pitchFamily="2" charset="0"/>
                <a:ea typeface="Helvetica Neue" panose="02000503000000020004" pitchFamily="2" charset="0"/>
                <a:cs typeface="Helvetica Neue" panose="02000503000000020004" pitchFamily="2" charset="0"/>
                <a:sym typeface="Wingdings" pitchFamily="2" charset="2"/>
              </a:rPr>
              <a:t>E</a:t>
            </a:r>
            <a:r>
              <a:rPr lang="en-CA" sz="2000"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sym typeface="Wingdings" pitchFamily="2" charset="2"/>
              </a:rPr>
              <a:t>pisodic and compositional memory (ECM)</a:t>
            </a:r>
            <a:endParaRPr lang="en-CA" sz="2000" dirty="0">
              <a:solidFill>
                <a:schemeClr val="tx1"/>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27" name="Rechteck 6">
            <a:extLst>
              <a:ext uri="{FF2B5EF4-FFF2-40B4-BE49-F238E27FC236}">
                <a16:creationId xmlns:a16="http://schemas.microsoft.com/office/drawing/2014/main" id="{CC5902CC-3BA9-381A-B8E1-C7A57AA71001}"/>
              </a:ext>
            </a:extLst>
          </p:cNvPr>
          <p:cNvSpPr/>
          <p:nvPr/>
        </p:nvSpPr>
        <p:spPr>
          <a:xfrm>
            <a:off x="10703306" y="1949979"/>
            <a:ext cx="1047335" cy="400110"/>
          </a:xfrm>
          <a:prstGeom prst="rect">
            <a:avLst/>
          </a:prstGeom>
        </p:spPr>
        <p:txBody>
          <a:bodyPr wrap="square">
            <a:spAutoFit/>
          </a:bodyPr>
          <a:lstStyle/>
          <a:p>
            <a:r>
              <a:rPr lang="en-US" sz="2000" dirty="0">
                <a:solidFill>
                  <a:schemeClr val="accent2"/>
                </a:solidFill>
                <a:latin typeface="Helvetica Neue" panose="02000503000000020004" pitchFamily="2" charset="0"/>
                <a:ea typeface="Helvetica Neue" panose="02000503000000020004" pitchFamily="2" charset="0"/>
                <a:cs typeface="Helvetica Neue" panose="02000503000000020004" pitchFamily="2" charset="0"/>
              </a:rPr>
              <a:t>Learn</a:t>
            </a:r>
          </a:p>
        </p:txBody>
      </p:sp>
      <p:sp>
        <p:nvSpPr>
          <p:cNvPr id="35" name="Textfeld 20">
            <a:extLst>
              <a:ext uri="{FF2B5EF4-FFF2-40B4-BE49-F238E27FC236}">
                <a16:creationId xmlns:a16="http://schemas.microsoft.com/office/drawing/2014/main" id="{A74DC60A-70B0-CAC2-6026-9A91FABBADC3}"/>
              </a:ext>
            </a:extLst>
          </p:cNvPr>
          <p:cNvSpPr txBox="1"/>
          <p:nvPr/>
        </p:nvSpPr>
        <p:spPr>
          <a:xfrm>
            <a:off x="78573" y="5804114"/>
            <a:ext cx="4768947" cy="307777"/>
          </a:xfrm>
          <a:prstGeom prst="rect">
            <a:avLst/>
          </a:prstGeom>
          <a:noFill/>
        </p:spPr>
        <p:txBody>
          <a:bodyPr wrap="square">
            <a:spAutoFit/>
          </a:bodyPr>
          <a:lstStyle/>
          <a:p>
            <a:r>
              <a:rPr lang="de-DE" sz="1400" dirty="0">
                <a:solidFill>
                  <a:srgbClr val="0000FF"/>
                </a:solidFill>
                <a:latin typeface="Helvetica Neue" panose="02000503000000020004" pitchFamily="2" charset="0"/>
                <a:ea typeface="Helvetica Neue" panose="02000503000000020004" pitchFamily="2" charset="0"/>
                <a:cs typeface="Helvetica Neue" panose="02000503000000020004" pitchFamily="2" charset="0"/>
              </a:rPr>
              <a:t>H. J. Briegel &amp; G. De las Cuevas</a:t>
            </a:r>
            <a:r>
              <a:rPr lang="de-DE" sz="1400" i="1" dirty="0">
                <a:solidFill>
                  <a:srgbClr val="0000FF"/>
                </a:solidFill>
                <a:latin typeface="Helvetica Neue" panose="02000503000000020004" pitchFamily="2" charset="0"/>
                <a:ea typeface="Helvetica Neue" panose="02000503000000020004" pitchFamily="2" charset="0"/>
                <a:cs typeface="Helvetica Neue" panose="02000503000000020004" pitchFamily="2" charset="0"/>
              </a:rPr>
              <a:t>, </a:t>
            </a:r>
            <a:r>
              <a:rPr lang="de-DE" sz="1400" i="1" dirty="0" err="1">
                <a:solidFill>
                  <a:srgbClr val="0000FF"/>
                </a:solidFill>
                <a:latin typeface="Helvetica Neue" panose="02000503000000020004" pitchFamily="2" charset="0"/>
                <a:ea typeface="Helvetica Neue" panose="02000503000000020004" pitchFamily="2" charset="0"/>
                <a:cs typeface="Helvetica Neue" panose="02000503000000020004" pitchFamily="2" charset="0"/>
              </a:rPr>
              <a:t>Sci</a:t>
            </a:r>
            <a:r>
              <a:rPr lang="de-DE" sz="1400" i="1" dirty="0">
                <a:solidFill>
                  <a:srgbClr val="0000FF"/>
                </a:solidFill>
                <a:latin typeface="Helvetica Neue" panose="02000503000000020004" pitchFamily="2" charset="0"/>
                <a:ea typeface="Helvetica Neue" panose="02000503000000020004" pitchFamily="2" charset="0"/>
                <a:cs typeface="Helvetica Neue" panose="02000503000000020004" pitchFamily="2" charset="0"/>
              </a:rPr>
              <a:t>. Rep., </a:t>
            </a:r>
            <a:r>
              <a:rPr lang="de-DE" sz="1400" dirty="0">
                <a:solidFill>
                  <a:srgbClr val="0000FF"/>
                </a:solidFill>
                <a:latin typeface="Helvetica Neue" panose="02000503000000020004" pitchFamily="2" charset="0"/>
                <a:ea typeface="Helvetica Neue" panose="02000503000000020004" pitchFamily="2" charset="0"/>
                <a:cs typeface="Helvetica Neue" panose="02000503000000020004" pitchFamily="2" charset="0"/>
              </a:rPr>
              <a:t>2, 400 (2012) </a:t>
            </a:r>
            <a:endParaRPr lang="de-DE" sz="1400"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3" name="Rechteck 3">
            <a:extLst>
              <a:ext uri="{FF2B5EF4-FFF2-40B4-BE49-F238E27FC236}">
                <a16:creationId xmlns:a16="http://schemas.microsoft.com/office/drawing/2014/main" id="{D1CE4648-7602-CB16-6244-7D968461BD86}"/>
              </a:ext>
            </a:extLst>
          </p:cNvPr>
          <p:cNvSpPr/>
          <p:nvPr/>
        </p:nvSpPr>
        <p:spPr>
          <a:xfrm>
            <a:off x="1090091" y="4933695"/>
            <a:ext cx="1351324" cy="400110"/>
          </a:xfrm>
          <a:prstGeom prst="rect">
            <a:avLst/>
          </a:prstGeom>
        </p:spPr>
        <p:txBody>
          <a:bodyPr wrap="square">
            <a:spAutoFit/>
          </a:bodyPr>
          <a:lstStyle/>
          <a:p>
            <a:r>
              <a:rPr lang="en-US" sz="2000" dirty="0">
                <a:solidFill>
                  <a:schemeClr val="accent2"/>
                </a:solidFill>
                <a:latin typeface="Helvetica Neue" panose="02000503000000020004" pitchFamily="2" charset="0"/>
                <a:ea typeface="Helvetica Neue" panose="02000503000000020004" pitchFamily="2" charset="0"/>
                <a:cs typeface="Helvetica Neue" panose="02000503000000020004" pitchFamily="2" charset="0"/>
              </a:rPr>
              <a:t>Deliberate</a:t>
            </a:r>
          </a:p>
        </p:txBody>
      </p:sp>
      <p:cxnSp>
        <p:nvCxnSpPr>
          <p:cNvPr id="34" name="Straight Connector 33">
            <a:extLst>
              <a:ext uri="{FF2B5EF4-FFF2-40B4-BE49-F238E27FC236}">
                <a16:creationId xmlns:a16="http://schemas.microsoft.com/office/drawing/2014/main" id="{06F6D424-926F-2D0D-3419-9656D72CDD12}"/>
              </a:ext>
            </a:extLst>
          </p:cNvPr>
          <p:cNvCxnSpPr>
            <a:cxnSpLocks/>
          </p:cNvCxnSpPr>
          <p:nvPr/>
        </p:nvCxnSpPr>
        <p:spPr bwMode="auto">
          <a:xfrm>
            <a:off x="9988936" y="3427567"/>
            <a:ext cx="1199317" cy="0"/>
          </a:xfrm>
          <a:prstGeom prst="line">
            <a:avLst/>
          </a:prstGeom>
          <a:noFill/>
          <a:ln w="22225" cap="flat" cmpd="sng" algn="ctr">
            <a:solidFill>
              <a:schemeClr val="tx1"/>
            </a:solidFill>
            <a:prstDash val="solid"/>
            <a:round/>
            <a:headEnd type="arrow" w="med" len="med"/>
            <a:tailEnd type="none" w="med" len="med"/>
          </a:ln>
          <a:effectLst/>
        </p:spPr>
      </p:cxnSp>
      <p:sp>
        <p:nvSpPr>
          <p:cNvPr id="45" name="TextBox 44">
            <a:extLst>
              <a:ext uri="{FF2B5EF4-FFF2-40B4-BE49-F238E27FC236}">
                <a16:creationId xmlns:a16="http://schemas.microsoft.com/office/drawing/2014/main" id="{E54C83DD-F6B2-D5BA-A8A6-E00231CFD45F}"/>
              </a:ext>
            </a:extLst>
          </p:cNvPr>
          <p:cNvSpPr txBox="1"/>
          <p:nvPr/>
        </p:nvSpPr>
        <p:spPr>
          <a:xfrm>
            <a:off x="10153439" y="3403484"/>
            <a:ext cx="1001559" cy="338554"/>
          </a:xfrm>
          <a:prstGeom prst="rect">
            <a:avLst/>
          </a:prstGeom>
          <a:noFill/>
        </p:spPr>
        <p:txBody>
          <a:bodyPr wrap="square" rtlCol="0">
            <a:spAutoFit/>
          </a:bodyPr>
          <a:lstStyle/>
          <a:p>
            <a:r>
              <a:rPr lang="en-CA" sz="1600" dirty="0">
                <a:latin typeface="Helvetica Neue" panose="02000503000000020004" pitchFamily="2" charset="0"/>
                <a:ea typeface="Helvetica Neue" panose="02000503000000020004" pitchFamily="2" charset="0"/>
                <a:cs typeface="Helvetica Neue" panose="02000503000000020004" pitchFamily="2" charset="0"/>
              </a:rPr>
              <a:t>Reward</a:t>
            </a:r>
          </a:p>
        </p:txBody>
      </p:sp>
      <p:sp>
        <p:nvSpPr>
          <p:cNvPr id="47" name="Curved Down Arrow 46">
            <a:extLst>
              <a:ext uri="{FF2B5EF4-FFF2-40B4-BE49-F238E27FC236}">
                <a16:creationId xmlns:a16="http://schemas.microsoft.com/office/drawing/2014/main" id="{1274F88D-66D1-056A-3330-704427C69166}"/>
              </a:ext>
            </a:extLst>
          </p:cNvPr>
          <p:cNvSpPr/>
          <p:nvPr/>
        </p:nvSpPr>
        <p:spPr>
          <a:xfrm rot="1817057" flipH="1">
            <a:off x="9829292" y="2083043"/>
            <a:ext cx="664338" cy="504835"/>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latin typeface="Helvetica Neue" panose="02000503000000020004" pitchFamily="2" charset="0"/>
              <a:ea typeface="Helvetica Neue" panose="02000503000000020004" pitchFamily="2" charset="0"/>
              <a:cs typeface="Helvetica Neue" panose="02000503000000020004" pitchFamily="2" charset="0"/>
            </a:endParaRPr>
          </a:p>
        </p:txBody>
      </p:sp>
      <p:grpSp>
        <p:nvGrpSpPr>
          <p:cNvPr id="121" name="Group 120">
            <a:extLst>
              <a:ext uri="{FF2B5EF4-FFF2-40B4-BE49-F238E27FC236}">
                <a16:creationId xmlns:a16="http://schemas.microsoft.com/office/drawing/2014/main" id="{6A5D75BC-E1E7-55D3-D67E-E4996B992CD8}"/>
              </a:ext>
            </a:extLst>
          </p:cNvPr>
          <p:cNvGrpSpPr/>
          <p:nvPr/>
        </p:nvGrpSpPr>
        <p:grpSpPr>
          <a:xfrm>
            <a:off x="176902" y="2697729"/>
            <a:ext cx="6698648" cy="2198810"/>
            <a:chOff x="444438" y="2603501"/>
            <a:chExt cx="6029732" cy="1539818"/>
          </a:xfrm>
        </p:grpSpPr>
        <p:sp>
          <p:nvSpPr>
            <p:cNvPr id="48" name="Oval 47">
              <a:extLst>
                <a:ext uri="{FF2B5EF4-FFF2-40B4-BE49-F238E27FC236}">
                  <a16:creationId xmlns:a16="http://schemas.microsoft.com/office/drawing/2014/main" id="{5B198D1D-7060-9DF7-C7F1-01224C5B6A60}"/>
                </a:ext>
              </a:extLst>
            </p:cNvPr>
            <p:cNvSpPr/>
            <p:nvPr/>
          </p:nvSpPr>
          <p:spPr>
            <a:xfrm>
              <a:off x="1898056" y="2791207"/>
              <a:ext cx="755650" cy="342900"/>
            </a:xfrm>
            <a:prstGeom prst="ellipse">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0" name="TextBox 49">
              <a:extLst>
                <a:ext uri="{FF2B5EF4-FFF2-40B4-BE49-F238E27FC236}">
                  <a16:creationId xmlns:a16="http://schemas.microsoft.com/office/drawing/2014/main" id="{F65537EE-2F31-DA9A-C9FA-71006279A751}"/>
                </a:ext>
              </a:extLst>
            </p:cNvPr>
            <p:cNvSpPr txBox="1"/>
            <p:nvPr/>
          </p:nvSpPr>
          <p:spPr>
            <a:xfrm>
              <a:off x="1987917" y="2826330"/>
              <a:ext cx="718820" cy="307777"/>
            </a:xfrm>
            <a:prstGeom prst="rect">
              <a:avLst/>
            </a:prstGeom>
            <a:noFill/>
          </p:spPr>
          <p:txBody>
            <a:bodyPr wrap="square" rtlCol="0">
              <a:spAutoFit/>
            </a:bodyPr>
            <a:lstStyle/>
            <a:p>
              <a:r>
                <a:rPr lang="en-CA" sz="1400" dirty="0">
                  <a:latin typeface="Helvetica Neue" panose="02000503000000020004" pitchFamily="2" charset="0"/>
                  <a:ea typeface="Helvetica Neue" panose="02000503000000020004" pitchFamily="2" charset="0"/>
                  <a:cs typeface="Helvetica Neue" panose="02000503000000020004" pitchFamily="2" charset="0"/>
                </a:rPr>
                <a:t>Clip 2</a:t>
              </a:r>
            </a:p>
          </p:txBody>
        </p:sp>
        <p:sp>
          <p:nvSpPr>
            <p:cNvPr id="51" name="Oval 50">
              <a:extLst>
                <a:ext uri="{FF2B5EF4-FFF2-40B4-BE49-F238E27FC236}">
                  <a16:creationId xmlns:a16="http://schemas.microsoft.com/office/drawing/2014/main" id="{9F814B09-5391-57FD-83D8-DC45440260E4}"/>
                </a:ext>
              </a:extLst>
            </p:cNvPr>
            <p:cNvSpPr/>
            <p:nvPr/>
          </p:nvSpPr>
          <p:spPr>
            <a:xfrm>
              <a:off x="3004288" y="3098829"/>
              <a:ext cx="755650" cy="342900"/>
            </a:xfrm>
            <a:prstGeom prst="ellipse">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2" name="TextBox 51">
              <a:extLst>
                <a:ext uri="{FF2B5EF4-FFF2-40B4-BE49-F238E27FC236}">
                  <a16:creationId xmlns:a16="http://schemas.microsoft.com/office/drawing/2014/main" id="{FAEEE39B-1545-9F36-299F-6A7D89AD90A8}"/>
                </a:ext>
              </a:extLst>
            </p:cNvPr>
            <p:cNvSpPr txBox="1"/>
            <p:nvPr/>
          </p:nvSpPr>
          <p:spPr>
            <a:xfrm>
              <a:off x="3094149" y="3133952"/>
              <a:ext cx="718820" cy="307777"/>
            </a:xfrm>
            <a:prstGeom prst="rect">
              <a:avLst/>
            </a:prstGeom>
            <a:noFill/>
          </p:spPr>
          <p:txBody>
            <a:bodyPr wrap="square" rtlCol="0">
              <a:spAutoFit/>
            </a:bodyPr>
            <a:lstStyle/>
            <a:p>
              <a:r>
                <a:rPr lang="en-CA" sz="1400" dirty="0">
                  <a:latin typeface="Helvetica Neue" panose="02000503000000020004" pitchFamily="2" charset="0"/>
                  <a:ea typeface="Helvetica Neue" panose="02000503000000020004" pitchFamily="2" charset="0"/>
                  <a:cs typeface="Helvetica Neue" panose="02000503000000020004" pitchFamily="2" charset="0"/>
                </a:rPr>
                <a:t>Clip 4</a:t>
              </a:r>
            </a:p>
          </p:txBody>
        </p:sp>
        <p:sp>
          <p:nvSpPr>
            <p:cNvPr id="54" name="Oval 53">
              <a:extLst>
                <a:ext uri="{FF2B5EF4-FFF2-40B4-BE49-F238E27FC236}">
                  <a16:creationId xmlns:a16="http://schemas.microsoft.com/office/drawing/2014/main" id="{800E9C63-88F3-AD3F-7B81-1F6E81B1452A}"/>
                </a:ext>
              </a:extLst>
            </p:cNvPr>
            <p:cNvSpPr/>
            <p:nvPr/>
          </p:nvSpPr>
          <p:spPr>
            <a:xfrm>
              <a:off x="4165705" y="2619757"/>
              <a:ext cx="755650" cy="342900"/>
            </a:xfrm>
            <a:prstGeom prst="ellipse">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7" name="TextBox 56">
              <a:extLst>
                <a:ext uri="{FF2B5EF4-FFF2-40B4-BE49-F238E27FC236}">
                  <a16:creationId xmlns:a16="http://schemas.microsoft.com/office/drawing/2014/main" id="{D9EB98BD-5522-D17E-CB5F-BB2188E839A7}"/>
                </a:ext>
              </a:extLst>
            </p:cNvPr>
            <p:cNvSpPr txBox="1"/>
            <p:nvPr/>
          </p:nvSpPr>
          <p:spPr>
            <a:xfrm>
              <a:off x="4404822" y="2603501"/>
              <a:ext cx="252382" cy="307777"/>
            </a:xfrm>
            <a:prstGeom prst="rect">
              <a:avLst/>
            </a:prstGeom>
            <a:noFill/>
          </p:spPr>
          <p:txBody>
            <a:bodyPr wrap="square" rtlCol="0">
              <a:spAutoFit/>
            </a:bodyPr>
            <a:lstStyle/>
            <a:p>
              <a:r>
                <a:rPr lang="en-CA" sz="1400" dirty="0">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58" name="Oval 57">
              <a:extLst>
                <a:ext uri="{FF2B5EF4-FFF2-40B4-BE49-F238E27FC236}">
                  <a16:creationId xmlns:a16="http://schemas.microsoft.com/office/drawing/2014/main" id="{C97DBD41-F8F4-8C7E-20B9-7BBD389F101A}"/>
                </a:ext>
              </a:extLst>
            </p:cNvPr>
            <p:cNvSpPr/>
            <p:nvPr/>
          </p:nvSpPr>
          <p:spPr>
            <a:xfrm>
              <a:off x="4862529" y="3107825"/>
              <a:ext cx="755650" cy="342900"/>
            </a:xfrm>
            <a:prstGeom prst="ellipse">
              <a:avLst/>
            </a:prstGeom>
            <a:solidFill>
              <a:schemeClr val="bg2"/>
            </a:solidFill>
            <a:ln>
              <a:solidFill>
                <a:srgbClr val="FF524D"/>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9" name="TextBox 58">
              <a:extLst>
                <a:ext uri="{FF2B5EF4-FFF2-40B4-BE49-F238E27FC236}">
                  <a16:creationId xmlns:a16="http://schemas.microsoft.com/office/drawing/2014/main" id="{8D5C6B88-933C-5E5D-E9F1-3495312F4DC2}"/>
                </a:ext>
              </a:extLst>
            </p:cNvPr>
            <p:cNvSpPr txBox="1"/>
            <p:nvPr/>
          </p:nvSpPr>
          <p:spPr>
            <a:xfrm>
              <a:off x="4952390" y="3142948"/>
              <a:ext cx="718820" cy="307777"/>
            </a:xfrm>
            <a:prstGeom prst="rect">
              <a:avLst/>
            </a:prstGeom>
            <a:noFill/>
          </p:spPr>
          <p:txBody>
            <a:bodyPr wrap="square" rtlCol="0">
              <a:spAutoFit/>
            </a:bodyPr>
            <a:lstStyle/>
            <a:p>
              <a:r>
                <a:rPr lang="en-CA" sz="1400" dirty="0">
                  <a:latin typeface="Helvetica Neue" panose="02000503000000020004" pitchFamily="2" charset="0"/>
                  <a:ea typeface="Helvetica Neue" panose="02000503000000020004" pitchFamily="2" charset="0"/>
                  <a:cs typeface="Helvetica Neue" panose="02000503000000020004" pitchFamily="2" charset="0"/>
                </a:rPr>
                <a:t>Clip 6</a:t>
              </a:r>
            </a:p>
          </p:txBody>
        </p:sp>
        <p:sp>
          <p:nvSpPr>
            <p:cNvPr id="60" name="Oval 59">
              <a:extLst>
                <a:ext uri="{FF2B5EF4-FFF2-40B4-BE49-F238E27FC236}">
                  <a16:creationId xmlns:a16="http://schemas.microsoft.com/office/drawing/2014/main" id="{4156C5FB-8688-C754-1E6D-9877E489C274}"/>
                </a:ext>
              </a:extLst>
            </p:cNvPr>
            <p:cNvSpPr/>
            <p:nvPr/>
          </p:nvSpPr>
          <p:spPr>
            <a:xfrm>
              <a:off x="2961383" y="3800419"/>
              <a:ext cx="755650" cy="342900"/>
            </a:xfrm>
            <a:prstGeom prst="ellipse">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61" name="TextBox 60">
              <a:extLst>
                <a:ext uri="{FF2B5EF4-FFF2-40B4-BE49-F238E27FC236}">
                  <a16:creationId xmlns:a16="http://schemas.microsoft.com/office/drawing/2014/main" id="{8D1A0EF3-C5CE-9417-33A7-272596AE6BA3}"/>
                </a:ext>
              </a:extLst>
            </p:cNvPr>
            <p:cNvSpPr txBox="1"/>
            <p:nvPr/>
          </p:nvSpPr>
          <p:spPr>
            <a:xfrm>
              <a:off x="3187859" y="3800419"/>
              <a:ext cx="236697" cy="307777"/>
            </a:xfrm>
            <a:prstGeom prst="rect">
              <a:avLst/>
            </a:prstGeom>
            <a:noFill/>
          </p:spPr>
          <p:txBody>
            <a:bodyPr wrap="square" rtlCol="0">
              <a:spAutoFit/>
            </a:bodyPr>
            <a:lstStyle/>
            <a:p>
              <a:r>
                <a:rPr lang="en-CA" sz="1400" dirty="0">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3" name="Oval 62">
              <a:extLst>
                <a:ext uri="{FF2B5EF4-FFF2-40B4-BE49-F238E27FC236}">
                  <a16:creationId xmlns:a16="http://schemas.microsoft.com/office/drawing/2014/main" id="{E6CD526D-9F42-8847-734C-22475A969053}"/>
                </a:ext>
              </a:extLst>
            </p:cNvPr>
            <p:cNvSpPr/>
            <p:nvPr/>
          </p:nvSpPr>
          <p:spPr>
            <a:xfrm>
              <a:off x="646249" y="3033651"/>
              <a:ext cx="755650" cy="342900"/>
            </a:xfrm>
            <a:prstGeom prst="ellipse">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65" name="TextBox 64">
              <a:extLst>
                <a:ext uri="{FF2B5EF4-FFF2-40B4-BE49-F238E27FC236}">
                  <a16:creationId xmlns:a16="http://schemas.microsoft.com/office/drawing/2014/main" id="{DF57B5E8-B2ED-B479-5754-BEB115AF22CC}"/>
                </a:ext>
              </a:extLst>
            </p:cNvPr>
            <p:cNvSpPr txBox="1"/>
            <p:nvPr/>
          </p:nvSpPr>
          <p:spPr>
            <a:xfrm>
              <a:off x="736110" y="3068774"/>
              <a:ext cx="718820" cy="307777"/>
            </a:xfrm>
            <a:prstGeom prst="rect">
              <a:avLst/>
            </a:prstGeom>
            <a:noFill/>
          </p:spPr>
          <p:txBody>
            <a:bodyPr wrap="square" rtlCol="0">
              <a:spAutoFit/>
            </a:bodyPr>
            <a:lstStyle/>
            <a:p>
              <a:r>
                <a:rPr lang="en-CA" sz="1400" dirty="0">
                  <a:latin typeface="Helvetica Neue" panose="02000503000000020004" pitchFamily="2" charset="0"/>
                  <a:ea typeface="Helvetica Neue" panose="02000503000000020004" pitchFamily="2" charset="0"/>
                  <a:cs typeface="Helvetica Neue" panose="02000503000000020004" pitchFamily="2" charset="0"/>
                </a:rPr>
                <a:t>Clip 1</a:t>
              </a:r>
            </a:p>
          </p:txBody>
        </p:sp>
        <p:sp>
          <p:nvSpPr>
            <p:cNvPr id="66" name="Oval 65">
              <a:extLst>
                <a:ext uri="{FF2B5EF4-FFF2-40B4-BE49-F238E27FC236}">
                  <a16:creationId xmlns:a16="http://schemas.microsoft.com/office/drawing/2014/main" id="{F364964E-4239-C239-3AC7-389BCFC0F796}"/>
                </a:ext>
              </a:extLst>
            </p:cNvPr>
            <p:cNvSpPr/>
            <p:nvPr/>
          </p:nvSpPr>
          <p:spPr>
            <a:xfrm>
              <a:off x="4165705" y="3681944"/>
              <a:ext cx="755650" cy="342900"/>
            </a:xfrm>
            <a:prstGeom prst="ellipse">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67" name="TextBox 66">
              <a:extLst>
                <a:ext uri="{FF2B5EF4-FFF2-40B4-BE49-F238E27FC236}">
                  <a16:creationId xmlns:a16="http://schemas.microsoft.com/office/drawing/2014/main" id="{76EDE012-EB07-2218-D9EA-BEC68B30BBDE}"/>
                </a:ext>
              </a:extLst>
            </p:cNvPr>
            <p:cNvSpPr txBox="1"/>
            <p:nvPr/>
          </p:nvSpPr>
          <p:spPr>
            <a:xfrm>
              <a:off x="4255566" y="3717067"/>
              <a:ext cx="718820" cy="307777"/>
            </a:xfrm>
            <a:prstGeom prst="rect">
              <a:avLst/>
            </a:prstGeom>
            <a:noFill/>
          </p:spPr>
          <p:txBody>
            <a:bodyPr wrap="square" rtlCol="0">
              <a:spAutoFit/>
            </a:bodyPr>
            <a:lstStyle/>
            <a:p>
              <a:r>
                <a:rPr lang="en-CA" sz="1400" dirty="0">
                  <a:latin typeface="Helvetica Neue" panose="02000503000000020004" pitchFamily="2" charset="0"/>
                  <a:ea typeface="Helvetica Neue" panose="02000503000000020004" pitchFamily="2" charset="0"/>
                  <a:cs typeface="Helvetica Neue" panose="02000503000000020004" pitchFamily="2" charset="0"/>
                </a:rPr>
                <a:t>Clip 5</a:t>
              </a:r>
            </a:p>
          </p:txBody>
        </p:sp>
        <p:sp>
          <p:nvSpPr>
            <p:cNvPr id="68" name="Oval 67">
              <a:extLst>
                <a:ext uri="{FF2B5EF4-FFF2-40B4-BE49-F238E27FC236}">
                  <a16:creationId xmlns:a16="http://schemas.microsoft.com/office/drawing/2014/main" id="{027EFD61-DF29-49D4-6021-2A81E98E415E}"/>
                </a:ext>
              </a:extLst>
            </p:cNvPr>
            <p:cNvSpPr/>
            <p:nvPr/>
          </p:nvSpPr>
          <p:spPr>
            <a:xfrm>
              <a:off x="1874823" y="3496681"/>
              <a:ext cx="755650" cy="342900"/>
            </a:xfrm>
            <a:prstGeom prst="ellipse">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72" name="TextBox 71">
              <a:extLst>
                <a:ext uri="{FF2B5EF4-FFF2-40B4-BE49-F238E27FC236}">
                  <a16:creationId xmlns:a16="http://schemas.microsoft.com/office/drawing/2014/main" id="{A1430BCE-A552-4F24-C9AB-BAC43AD8158D}"/>
                </a:ext>
              </a:extLst>
            </p:cNvPr>
            <p:cNvSpPr txBox="1"/>
            <p:nvPr/>
          </p:nvSpPr>
          <p:spPr>
            <a:xfrm>
              <a:off x="1964684" y="3531804"/>
              <a:ext cx="718820" cy="307777"/>
            </a:xfrm>
            <a:prstGeom prst="rect">
              <a:avLst/>
            </a:prstGeom>
            <a:noFill/>
          </p:spPr>
          <p:txBody>
            <a:bodyPr wrap="square" rtlCol="0">
              <a:spAutoFit/>
            </a:bodyPr>
            <a:lstStyle/>
            <a:p>
              <a:r>
                <a:rPr lang="en-CA" sz="1400" dirty="0">
                  <a:latin typeface="Helvetica Neue" panose="02000503000000020004" pitchFamily="2" charset="0"/>
                  <a:ea typeface="Helvetica Neue" panose="02000503000000020004" pitchFamily="2" charset="0"/>
                  <a:cs typeface="Helvetica Neue" panose="02000503000000020004" pitchFamily="2" charset="0"/>
                </a:rPr>
                <a:t>Clip 3</a:t>
              </a:r>
            </a:p>
          </p:txBody>
        </p:sp>
        <p:sp>
          <p:nvSpPr>
            <p:cNvPr id="73" name="TextBox 72">
              <a:extLst>
                <a:ext uri="{FF2B5EF4-FFF2-40B4-BE49-F238E27FC236}">
                  <a16:creationId xmlns:a16="http://schemas.microsoft.com/office/drawing/2014/main" id="{EAB91113-5DF0-EFBA-F370-6D927AF897DA}"/>
                </a:ext>
              </a:extLst>
            </p:cNvPr>
            <p:cNvSpPr txBox="1"/>
            <p:nvPr/>
          </p:nvSpPr>
          <p:spPr>
            <a:xfrm>
              <a:off x="444438" y="3698335"/>
              <a:ext cx="988013" cy="237088"/>
            </a:xfrm>
            <a:prstGeom prst="rect">
              <a:avLst/>
            </a:prstGeom>
            <a:noFill/>
          </p:spPr>
          <p:txBody>
            <a:bodyPr wrap="square" rtlCol="0">
              <a:spAutoFit/>
            </a:bodyPr>
            <a:lstStyle/>
            <a:p>
              <a:r>
                <a:rPr lang="en-CA" sz="1600" dirty="0">
                  <a:latin typeface="Helvetica Neue" panose="02000503000000020004" pitchFamily="2" charset="0"/>
                  <a:ea typeface="Helvetica Neue" panose="02000503000000020004" pitchFamily="2" charset="0"/>
                  <a:cs typeface="Helvetica Neue" panose="02000503000000020004" pitchFamily="2" charset="0"/>
                </a:rPr>
                <a:t>percept</a:t>
              </a:r>
            </a:p>
          </p:txBody>
        </p:sp>
        <p:sp>
          <p:nvSpPr>
            <p:cNvPr id="74" name="TextBox 73">
              <a:extLst>
                <a:ext uri="{FF2B5EF4-FFF2-40B4-BE49-F238E27FC236}">
                  <a16:creationId xmlns:a16="http://schemas.microsoft.com/office/drawing/2014/main" id="{796F5FEF-AEB5-8262-B641-8F7F58240DB2}"/>
                </a:ext>
              </a:extLst>
            </p:cNvPr>
            <p:cNvSpPr txBox="1"/>
            <p:nvPr/>
          </p:nvSpPr>
          <p:spPr>
            <a:xfrm>
              <a:off x="5555860" y="3579595"/>
              <a:ext cx="918310" cy="237088"/>
            </a:xfrm>
            <a:prstGeom prst="rect">
              <a:avLst/>
            </a:prstGeom>
            <a:noFill/>
          </p:spPr>
          <p:txBody>
            <a:bodyPr wrap="square" rtlCol="0">
              <a:spAutoFit/>
            </a:bodyPr>
            <a:lstStyle/>
            <a:p>
              <a:r>
                <a:rPr lang="en-CA" sz="1600" dirty="0">
                  <a:latin typeface="Helvetica Neue" panose="02000503000000020004" pitchFamily="2" charset="0"/>
                  <a:ea typeface="Helvetica Neue" panose="02000503000000020004" pitchFamily="2" charset="0"/>
                  <a:cs typeface="Helvetica Neue" panose="02000503000000020004" pitchFamily="2" charset="0"/>
                </a:rPr>
                <a:t>actuator</a:t>
              </a:r>
            </a:p>
          </p:txBody>
        </p:sp>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DC58352D-C695-031B-6465-19FB13507E5F}"/>
                    </a:ext>
                  </a:extLst>
                </p:cNvPr>
                <p:cNvSpPr txBox="1"/>
                <p:nvPr/>
              </p:nvSpPr>
              <p:spPr>
                <a:xfrm>
                  <a:off x="1266241" y="2826175"/>
                  <a:ext cx="673054"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𝑝</m:t>
                            </m:r>
                          </m:e>
                          <m:sub>
                            <m:r>
                              <a:rPr lang="en-US" sz="1400" b="0" i="1" smtClean="0">
                                <a:latin typeface="Cambria Math" panose="02040503050406030204" pitchFamily="18" charset="0"/>
                              </a:rPr>
                              <m:t>12</m:t>
                            </m:r>
                          </m:sub>
                        </m:sSub>
                      </m:oMath>
                    </m:oMathPara>
                  </a14:m>
                  <a:endParaRPr lang="en-CA" dirty="0">
                    <a:latin typeface="Helvetica Neue" panose="02000503000000020004" pitchFamily="2" charset="0"/>
                    <a:ea typeface="Helvetica Neue" panose="02000503000000020004" pitchFamily="2" charset="0"/>
                    <a:cs typeface="Helvetica Neue" panose="02000503000000020004" pitchFamily="2" charset="0"/>
                  </a:endParaRPr>
                </a:p>
              </p:txBody>
            </p:sp>
          </mc:Choice>
          <mc:Fallback xmlns="">
            <p:sp>
              <p:nvSpPr>
                <p:cNvPr id="75" name="TextBox 74">
                  <a:extLst>
                    <a:ext uri="{FF2B5EF4-FFF2-40B4-BE49-F238E27FC236}">
                      <a16:creationId xmlns:a16="http://schemas.microsoft.com/office/drawing/2014/main" id="{DC58352D-C695-031B-6465-19FB13507E5F}"/>
                    </a:ext>
                  </a:extLst>
                </p:cNvPr>
                <p:cNvSpPr txBox="1">
                  <a:spLocks noRot="1" noChangeAspect="1" noMove="1" noResize="1" noEditPoints="1" noAdjustHandles="1" noChangeArrowheads="1" noChangeShapeType="1" noTextEdit="1"/>
                </p:cNvSpPr>
                <p:nvPr/>
              </p:nvSpPr>
              <p:spPr>
                <a:xfrm>
                  <a:off x="1266241" y="2826175"/>
                  <a:ext cx="673054" cy="307777"/>
                </a:xfrm>
                <a:prstGeom prst="rect">
                  <a:avLst/>
                </a:prstGeom>
                <a:blipFill>
                  <a:blip r:embed="rId5"/>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C4906E98-6113-AD53-283F-1EFE56A8BD48}"/>
                    </a:ext>
                  </a:extLst>
                </p:cNvPr>
                <p:cNvSpPr txBox="1"/>
                <p:nvPr/>
              </p:nvSpPr>
              <p:spPr>
                <a:xfrm>
                  <a:off x="1169004" y="3346870"/>
                  <a:ext cx="673054"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𝑝</m:t>
                            </m:r>
                          </m:e>
                          <m:sub>
                            <m:r>
                              <a:rPr lang="en-US" sz="1400" b="0" i="1" smtClean="0">
                                <a:latin typeface="Cambria Math" panose="02040503050406030204" pitchFamily="18" charset="0"/>
                              </a:rPr>
                              <m:t>13</m:t>
                            </m:r>
                          </m:sub>
                        </m:sSub>
                      </m:oMath>
                    </m:oMathPara>
                  </a14:m>
                  <a:endParaRPr lang="en-CA" dirty="0">
                    <a:latin typeface="Helvetica Neue" panose="02000503000000020004" pitchFamily="2" charset="0"/>
                    <a:ea typeface="Helvetica Neue" panose="02000503000000020004" pitchFamily="2" charset="0"/>
                    <a:cs typeface="Helvetica Neue" panose="02000503000000020004" pitchFamily="2" charset="0"/>
                  </a:endParaRPr>
                </a:p>
              </p:txBody>
            </p:sp>
          </mc:Choice>
          <mc:Fallback xmlns="">
            <p:sp>
              <p:nvSpPr>
                <p:cNvPr id="76" name="TextBox 75">
                  <a:extLst>
                    <a:ext uri="{FF2B5EF4-FFF2-40B4-BE49-F238E27FC236}">
                      <a16:creationId xmlns:a16="http://schemas.microsoft.com/office/drawing/2014/main" id="{C4906E98-6113-AD53-283F-1EFE56A8BD48}"/>
                    </a:ext>
                  </a:extLst>
                </p:cNvPr>
                <p:cNvSpPr txBox="1">
                  <a:spLocks noRot="1" noChangeAspect="1" noMove="1" noResize="1" noEditPoints="1" noAdjustHandles="1" noChangeArrowheads="1" noChangeShapeType="1" noTextEdit="1"/>
                </p:cNvSpPr>
                <p:nvPr/>
              </p:nvSpPr>
              <p:spPr>
                <a:xfrm>
                  <a:off x="1169004" y="3346870"/>
                  <a:ext cx="673054" cy="307777"/>
                </a:xfrm>
                <a:prstGeom prst="rect">
                  <a:avLst/>
                </a:prstGeom>
                <a:blipFill>
                  <a:blip r:embed="rId6"/>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C7F69BE2-D8C2-DBC2-2CD6-F7A7BE726BCA}"/>
                    </a:ext>
                  </a:extLst>
                </p:cNvPr>
                <p:cNvSpPr txBox="1"/>
                <p:nvPr/>
              </p:nvSpPr>
              <p:spPr>
                <a:xfrm>
                  <a:off x="2716996" y="2885635"/>
                  <a:ext cx="673054"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𝑝</m:t>
                            </m:r>
                          </m:e>
                          <m:sub>
                            <m:r>
                              <a:rPr lang="en-US" sz="1400" b="0" i="1" smtClean="0">
                                <a:latin typeface="Cambria Math" panose="02040503050406030204" pitchFamily="18" charset="0"/>
                              </a:rPr>
                              <m:t>24</m:t>
                            </m:r>
                          </m:sub>
                        </m:sSub>
                      </m:oMath>
                    </m:oMathPara>
                  </a14:m>
                  <a:endParaRPr lang="en-CA" dirty="0">
                    <a:latin typeface="Helvetica Neue" panose="02000503000000020004" pitchFamily="2" charset="0"/>
                    <a:ea typeface="Helvetica Neue" panose="02000503000000020004" pitchFamily="2" charset="0"/>
                    <a:cs typeface="Helvetica Neue" panose="02000503000000020004" pitchFamily="2" charset="0"/>
                  </a:endParaRPr>
                </a:p>
              </p:txBody>
            </p:sp>
          </mc:Choice>
          <mc:Fallback xmlns="">
            <p:sp>
              <p:nvSpPr>
                <p:cNvPr id="77" name="TextBox 76">
                  <a:extLst>
                    <a:ext uri="{FF2B5EF4-FFF2-40B4-BE49-F238E27FC236}">
                      <a16:creationId xmlns:a16="http://schemas.microsoft.com/office/drawing/2014/main" id="{C7F69BE2-D8C2-DBC2-2CD6-F7A7BE726BCA}"/>
                    </a:ext>
                  </a:extLst>
                </p:cNvPr>
                <p:cNvSpPr txBox="1">
                  <a:spLocks noRot="1" noChangeAspect="1" noMove="1" noResize="1" noEditPoints="1" noAdjustHandles="1" noChangeArrowheads="1" noChangeShapeType="1" noTextEdit="1"/>
                </p:cNvSpPr>
                <p:nvPr/>
              </p:nvSpPr>
              <p:spPr>
                <a:xfrm>
                  <a:off x="2716996" y="2885635"/>
                  <a:ext cx="673054" cy="307777"/>
                </a:xfrm>
                <a:prstGeom prst="rect">
                  <a:avLst/>
                </a:prstGeom>
                <a:blipFill>
                  <a:blip r:embed="rId7"/>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06071F7A-4D7C-9162-4234-49CF28B639AB}"/>
                    </a:ext>
                  </a:extLst>
                </p:cNvPr>
                <p:cNvSpPr txBox="1"/>
                <p:nvPr/>
              </p:nvSpPr>
              <p:spPr>
                <a:xfrm>
                  <a:off x="3925957" y="3351579"/>
                  <a:ext cx="483231"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𝑝</m:t>
                            </m:r>
                          </m:e>
                          <m:sub>
                            <m:r>
                              <a:rPr lang="en-US" sz="1400" b="0" i="1" smtClean="0">
                                <a:latin typeface="Cambria Math" panose="02040503050406030204" pitchFamily="18" charset="0"/>
                              </a:rPr>
                              <m:t>45</m:t>
                            </m:r>
                          </m:sub>
                        </m:sSub>
                      </m:oMath>
                    </m:oMathPara>
                  </a14:m>
                  <a:endParaRPr lang="en-CA" dirty="0">
                    <a:latin typeface="Helvetica Neue" panose="02000503000000020004" pitchFamily="2" charset="0"/>
                    <a:ea typeface="Helvetica Neue" panose="02000503000000020004" pitchFamily="2" charset="0"/>
                    <a:cs typeface="Helvetica Neue" panose="02000503000000020004" pitchFamily="2" charset="0"/>
                  </a:endParaRPr>
                </a:p>
              </p:txBody>
            </p:sp>
          </mc:Choice>
          <mc:Fallback xmlns="">
            <p:sp>
              <p:nvSpPr>
                <p:cNvPr id="78" name="TextBox 77">
                  <a:extLst>
                    <a:ext uri="{FF2B5EF4-FFF2-40B4-BE49-F238E27FC236}">
                      <a16:creationId xmlns:a16="http://schemas.microsoft.com/office/drawing/2014/main" id="{06071F7A-4D7C-9162-4234-49CF28B639AB}"/>
                    </a:ext>
                  </a:extLst>
                </p:cNvPr>
                <p:cNvSpPr txBox="1">
                  <a:spLocks noRot="1" noChangeAspect="1" noMove="1" noResize="1" noEditPoints="1" noAdjustHandles="1" noChangeArrowheads="1" noChangeShapeType="1" noTextEdit="1"/>
                </p:cNvSpPr>
                <p:nvPr/>
              </p:nvSpPr>
              <p:spPr>
                <a:xfrm>
                  <a:off x="3925957" y="3351579"/>
                  <a:ext cx="483231" cy="307777"/>
                </a:xfrm>
                <a:prstGeom prst="rect">
                  <a:avLst/>
                </a:prstGeom>
                <a:blipFill>
                  <a:blip r:embed="rId8"/>
                  <a:stretch>
                    <a:fillRect/>
                  </a:stretch>
                </a:blipFill>
              </p:spPr>
              <p:txBody>
                <a:bodyPr/>
                <a:lstStyle/>
                <a:p>
                  <a:r>
                    <a:rPr lang="en-CA">
                      <a:noFill/>
                    </a:rPr>
                    <a:t> </a:t>
                  </a:r>
                </a:p>
              </p:txBody>
            </p:sp>
          </mc:Fallback>
        </mc:AlternateContent>
        <p:cxnSp>
          <p:nvCxnSpPr>
            <p:cNvPr id="80" name="Straight Arrow Connector 79">
              <a:extLst>
                <a:ext uri="{FF2B5EF4-FFF2-40B4-BE49-F238E27FC236}">
                  <a16:creationId xmlns:a16="http://schemas.microsoft.com/office/drawing/2014/main" id="{EA5BD88D-F425-0038-797B-3F0ACE9823C8}"/>
                </a:ext>
              </a:extLst>
            </p:cNvPr>
            <p:cNvCxnSpPr>
              <a:cxnSpLocks/>
            </p:cNvCxnSpPr>
            <p:nvPr/>
          </p:nvCxnSpPr>
          <p:spPr>
            <a:xfrm>
              <a:off x="5581541" y="3364707"/>
              <a:ext cx="309460" cy="220308"/>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0ADC55F9-3F38-E5E2-1CB1-34357598CF7D}"/>
                </a:ext>
              </a:extLst>
            </p:cNvPr>
            <p:cNvCxnSpPr>
              <a:cxnSpLocks/>
            </p:cNvCxnSpPr>
            <p:nvPr/>
          </p:nvCxnSpPr>
          <p:spPr>
            <a:xfrm flipV="1">
              <a:off x="824180" y="3384680"/>
              <a:ext cx="167097" cy="343280"/>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79C2D2D7-3C58-6DD2-CF47-0CC27A73B382}"/>
                </a:ext>
              </a:extLst>
            </p:cNvPr>
            <p:cNvCxnSpPr/>
            <p:nvPr/>
          </p:nvCxnSpPr>
          <p:spPr>
            <a:xfrm flipV="1">
              <a:off x="1405869" y="2997711"/>
              <a:ext cx="495300" cy="2000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2D507249-443A-A7F9-211B-716E5489F006}"/>
                </a:ext>
              </a:extLst>
            </p:cNvPr>
            <p:cNvCxnSpPr>
              <a:cxnSpLocks/>
            </p:cNvCxnSpPr>
            <p:nvPr/>
          </p:nvCxnSpPr>
          <p:spPr>
            <a:xfrm>
              <a:off x="1405654" y="3209496"/>
              <a:ext cx="469169" cy="4334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422082B2-2B6B-EEB6-2632-8D2967E31C7E}"/>
                </a:ext>
              </a:extLst>
            </p:cNvPr>
            <p:cNvCxnSpPr>
              <a:cxnSpLocks/>
            </p:cNvCxnSpPr>
            <p:nvPr/>
          </p:nvCxnSpPr>
          <p:spPr>
            <a:xfrm>
              <a:off x="2647991" y="2980218"/>
              <a:ext cx="440095" cy="1890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DC584072-4501-B20E-2A54-3354F90CD05C}"/>
                </a:ext>
              </a:extLst>
            </p:cNvPr>
            <p:cNvCxnSpPr>
              <a:cxnSpLocks/>
            </p:cNvCxnSpPr>
            <p:nvPr/>
          </p:nvCxnSpPr>
          <p:spPr>
            <a:xfrm>
              <a:off x="2620388" y="3728914"/>
              <a:ext cx="336643" cy="2094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6B91E612-993C-E576-1CF6-F08D6F41D3C8}"/>
                </a:ext>
              </a:extLst>
            </p:cNvPr>
            <p:cNvCxnSpPr>
              <a:cxnSpLocks/>
              <a:endCxn id="60" idx="1"/>
            </p:cNvCxnSpPr>
            <p:nvPr/>
          </p:nvCxnSpPr>
          <p:spPr>
            <a:xfrm>
              <a:off x="2519396" y="3089070"/>
              <a:ext cx="552649" cy="7615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DB4D658F-8569-D86A-8523-72369646A82C}"/>
                </a:ext>
              </a:extLst>
            </p:cNvPr>
            <p:cNvCxnSpPr>
              <a:cxnSpLocks/>
              <a:endCxn id="66" idx="2"/>
            </p:cNvCxnSpPr>
            <p:nvPr/>
          </p:nvCxnSpPr>
          <p:spPr>
            <a:xfrm flipV="1">
              <a:off x="3726899" y="3853394"/>
              <a:ext cx="438806" cy="1163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17F680D0-8540-0926-34DE-1F886361010E}"/>
                </a:ext>
              </a:extLst>
            </p:cNvPr>
            <p:cNvCxnSpPr>
              <a:cxnSpLocks/>
            </p:cNvCxnSpPr>
            <p:nvPr/>
          </p:nvCxnSpPr>
          <p:spPr>
            <a:xfrm>
              <a:off x="3725743" y="3345423"/>
              <a:ext cx="547893" cy="3822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286F0A6A-155B-A8E8-0B4E-CF2C72BDDB50}"/>
                </a:ext>
              </a:extLst>
            </p:cNvPr>
            <p:cNvCxnSpPr>
              <a:cxnSpLocks/>
            </p:cNvCxnSpPr>
            <p:nvPr/>
          </p:nvCxnSpPr>
          <p:spPr>
            <a:xfrm flipH="1">
              <a:off x="2647991" y="2781660"/>
              <a:ext cx="1510651" cy="1514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6" name="Straight Arrow Connector 105">
              <a:extLst>
                <a:ext uri="{FF2B5EF4-FFF2-40B4-BE49-F238E27FC236}">
                  <a16:creationId xmlns:a16="http://schemas.microsoft.com/office/drawing/2014/main" id="{4FA9479F-D1CC-58D8-8BE9-274B00894C70}"/>
                </a:ext>
              </a:extLst>
            </p:cNvPr>
            <p:cNvCxnSpPr>
              <a:cxnSpLocks/>
              <a:endCxn id="54" idx="3"/>
            </p:cNvCxnSpPr>
            <p:nvPr/>
          </p:nvCxnSpPr>
          <p:spPr>
            <a:xfrm flipV="1">
              <a:off x="3726448" y="2912440"/>
              <a:ext cx="549919" cy="2709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1B34FB19-8137-AAB6-FD3D-A17921E0EB59}"/>
                </a:ext>
              </a:extLst>
            </p:cNvPr>
            <p:cNvCxnSpPr>
              <a:cxnSpLocks/>
            </p:cNvCxnSpPr>
            <p:nvPr/>
          </p:nvCxnSpPr>
          <p:spPr>
            <a:xfrm>
              <a:off x="4854021" y="2887597"/>
              <a:ext cx="240730" cy="220228"/>
            </a:xfrm>
            <a:prstGeom prst="straightConnector1">
              <a:avLst/>
            </a:prstGeom>
            <a:ln>
              <a:solidFill>
                <a:srgbClr val="FF524D"/>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113" name="Straight Arrow Connector 112">
              <a:extLst>
                <a:ext uri="{FF2B5EF4-FFF2-40B4-BE49-F238E27FC236}">
                  <a16:creationId xmlns:a16="http://schemas.microsoft.com/office/drawing/2014/main" id="{F0F52EFE-A411-B47A-964C-FD3338EBC02F}"/>
                </a:ext>
              </a:extLst>
            </p:cNvPr>
            <p:cNvCxnSpPr>
              <a:cxnSpLocks/>
            </p:cNvCxnSpPr>
            <p:nvPr/>
          </p:nvCxnSpPr>
          <p:spPr>
            <a:xfrm flipV="1">
              <a:off x="3753318" y="3264680"/>
              <a:ext cx="1100703" cy="8755"/>
            </a:xfrm>
            <a:prstGeom prst="straightConnector1">
              <a:avLst/>
            </a:prstGeom>
            <a:ln>
              <a:solidFill>
                <a:srgbClr val="FF524D"/>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05F61181-7FF9-5740-D0F5-6A2B5778F70E}"/>
                </a:ext>
              </a:extLst>
            </p:cNvPr>
            <p:cNvCxnSpPr>
              <a:cxnSpLocks/>
            </p:cNvCxnSpPr>
            <p:nvPr/>
          </p:nvCxnSpPr>
          <p:spPr>
            <a:xfrm flipV="1">
              <a:off x="4809498" y="3419010"/>
              <a:ext cx="259645" cy="333738"/>
            </a:xfrm>
            <a:prstGeom prst="straightConnector1">
              <a:avLst/>
            </a:prstGeom>
            <a:ln>
              <a:solidFill>
                <a:srgbClr val="FF524D"/>
              </a:solidFill>
              <a:prstDash val="lgDash"/>
              <a:tailEnd type="triangle"/>
            </a:ln>
          </p:spPr>
          <p:style>
            <a:lnRef idx="1">
              <a:schemeClr val="accent1"/>
            </a:lnRef>
            <a:fillRef idx="0">
              <a:schemeClr val="accent1"/>
            </a:fillRef>
            <a:effectRef idx="0">
              <a:schemeClr val="accent1"/>
            </a:effectRef>
            <a:fontRef idx="minor">
              <a:schemeClr val="tx1"/>
            </a:fontRef>
          </p:style>
        </p:cxnSp>
      </p:grpSp>
      <p:sp>
        <p:nvSpPr>
          <p:cNvPr id="199" name="Rectangle 198">
            <a:extLst>
              <a:ext uri="{FF2B5EF4-FFF2-40B4-BE49-F238E27FC236}">
                <a16:creationId xmlns:a16="http://schemas.microsoft.com/office/drawing/2014/main" id="{EAF82DC7-1247-1193-3CC2-6B63BB984492}"/>
              </a:ext>
            </a:extLst>
          </p:cNvPr>
          <p:cNvSpPr/>
          <p:nvPr/>
        </p:nvSpPr>
        <p:spPr>
          <a:xfrm>
            <a:off x="7783424" y="3483060"/>
            <a:ext cx="1661571" cy="563409"/>
          </a:xfrm>
          <a:prstGeom prst="rect">
            <a:avLst/>
          </a:prstGeom>
          <a:solidFill>
            <a:schemeClr val="bg1"/>
          </a:solidFill>
          <a:ln>
            <a:solidFill>
              <a:srgbClr val="000A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latin typeface="Helvetica Neue" panose="02000503000000020004" pitchFamily="2" charset="0"/>
              <a:ea typeface="Helvetica Neue" panose="02000503000000020004" pitchFamily="2" charset="0"/>
              <a:cs typeface="Helvetica Neue" panose="02000503000000020004" pitchFamily="2" charset="0"/>
            </a:endParaRPr>
          </a:p>
        </p:txBody>
      </p:sp>
      <p:pic>
        <p:nvPicPr>
          <p:cNvPr id="197" name="Picture 196">
            <a:extLst>
              <a:ext uri="{FF2B5EF4-FFF2-40B4-BE49-F238E27FC236}">
                <a16:creationId xmlns:a16="http://schemas.microsoft.com/office/drawing/2014/main" id="{7D0CB268-3AA4-A56E-8DB3-C424424EB5D2}"/>
              </a:ext>
            </a:extLst>
          </p:cNvPr>
          <p:cNvPicPr>
            <a:picLocks noChangeAspect="1"/>
          </p:cNvPicPr>
          <p:nvPr/>
        </p:nvPicPr>
        <p:blipFill>
          <a:blip r:embed="rId9"/>
          <a:stretch>
            <a:fillRect/>
          </a:stretch>
        </p:blipFill>
        <p:spPr>
          <a:xfrm>
            <a:off x="7817390" y="3491774"/>
            <a:ext cx="1598836" cy="545389"/>
          </a:xfrm>
          <a:prstGeom prst="rect">
            <a:avLst/>
          </a:prstGeom>
        </p:spPr>
      </p:pic>
    </p:spTree>
    <p:custDataLst>
      <p:tags r:id="rId1"/>
    </p:custDataLst>
    <p:extLst>
      <p:ext uri="{BB962C8B-B14F-4D97-AF65-F5344CB8AC3E}">
        <p14:creationId xmlns:p14="http://schemas.microsoft.com/office/powerpoint/2010/main" val="26399000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ußzeilenplatzhalter 1"/>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IJCAI 2026, Bremen, Germany I Phil LeMaitre I 20.08.2026</a:t>
            </a:r>
            <a:endParaRPr lang="de-DE" dirty="0"/>
          </a:p>
        </p:txBody>
      </p:sp>
      <p:sp>
        <p:nvSpPr>
          <p:cNvPr id="3" name="Titel 1">
            <a:extLst>
              <a:ext uri="{FF2B5EF4-FFF2-40B4-BE49-F238E27FC236}">
                <a16:creationId xmlns:a16="http://schemas.microsoft.com/office/drawing/2014/main" id="{8EA3482B-9788-BCB4-D810-065E821DE54B}"/>
              </a:ext>
            </a:extLst>
          </p:cNvPr>
          <p:cNvSpPr txBox="1">
            <a:spLocks/>
          </p:cNvSpPr>
          <p:nvPr/>
        </p:nvSpPr>
        <p:spPr bwMode="auto">
          <a:xfrm>
            <a:off x="0" y="0"/>
            <a:ext cx="12280900" cy="1014750"/>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Limitations of PS</a:t>
            </a:r>
            <a:endParaRPr lang="de-AT" sz="3200" kern="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7" name="Slide Number Placeholder 6">
            <a:extLst>
              <a:ext uri="{FF2B5EF4-FFF2-40B4-BE49-F238E27FC236}">
                <a16:creationId xmlns:a16="http://schemas.microsoft.com/office/drawing/2014/main" id="{1F3F9579-06C2-517C-7BDF-0532851DAE76}"/>
              </a:ext>
            </a:extLst>
          </p:cNvPr>
          <p:cNvSpPr>
            <a:spLocks noGrp="1"/>
          </p:cNvSpPr>
          <p:nvPr>
            <p:ph type="sldNum" sz="quarter" idx="12"/>
          </p:nvPr>
        </p:nvSpPr>
        <p:spPr/>
        <p:txBody>
          <a:bodyPr/>
          <a:lstStyle/>
          <a:p>
            <a:fld id="{D0617D14-1B55-43C0-819D-0D244AC23646}" type="slidenum">
              <a:rPr lang="de-AT" smtClean="0"/>
              <a:t>4</a:t>
            </a:fld>
            <a:endParaRPr lang="de-AT"/>
          </a:p>
        </p:txBody>
      </p:sp>
      <p:sp>
        <p:nvSpPr>
          <p:cNvPr id="12" name="TextBox 11">
            <a:extLst>
              <a:ext uri="{FF2B5EF4-FFF2-40B4-BE49-F238E27FC236}">
                <a16:creationId xmlns:a16="http://schemas.microsoft.com/office/drawing/2014/main" id="{4121A796-7415-C3FC-BBFB-10C133F8B216}"/>
              </a:ext>
            </a:extLst>
          </p:cNvPr>
          <p:cNvSpPr txBox="1"/>
          <p:nvPr/>
        </p:nvSpPr>
        <p:spPr>
          <a:xfrm>
            <a:off x="7593153" y="3952453"/>
            <a:ext cx="4687747" cy="369332"/>
          </a:xfrm>
          <a:prstGeom prst="rect">
            <a:avLst/>
          </a:prstGeom>
          <a:noFill/>
        </p:spPr>
        <p:txBody>
          <a:bodyPr wrap="square" rtlCol="0">
            <a:spAutoFit/>
          </a:bodyPr>
          <a:lstStyle/>
          <a:p>
            <a:r>
              <a:rPr lang="en-CA" dirty="0">
                <a:latin typeface="Helvetica Neue" panose="02000503000000020004" pitchFamily="2" charset="0"/>
                <a:ea typeface="Helvetica Neue" panose="02000503000000020004" pitchFamily="2" charset="0"/>
                <a:cs typeface="Helvetica Neue" panose="02000503000000020004" pitchFamily="2" charset="0"/>
              </a:rPr>
              <a:t>Limited expressivity of chains-of-thought</a:t>
            </a:r>
          </a:p>
        </p:txBody>
      </p:sp>
      <p:sp>
        <p:nvSpPr>
          <p:cNvPr id="52" name="TextBox 51">
            <a:extLst>
              <a:ext uri="{FF2B5EF4-FFF2-40B4-BE49-F238E27FC236}">
                <a16:creationId xmlns:a16="http://schemas.microsoft.com/office/drawing/2014/main" id="{BF7DAD9E-C920-2AC5-ED0D-9549C944814B}"/>
              </a:ext>
            </a:extLst>
          </p:cNvPr>
          <p:cNvSpPr txBox="1"/>
          <p:nvPr/>
        </p:nvSpPr>
        <p:spPr>
          <a:xfrm>
            <a:off x="7334605" y="1693392"/>
            <a:ext cx="4244963" cy="646331"/>
          </a:xfrm>
          <a:prstGeom prst="rect">
            <a:avLst/>
          </a:prstGeom>
          <a:noFill/>
        </p:spPr>
        <p:txBody>
          <a:bodyPr wrap="square" rtlCol="0">
            <a:spAutoFit/>
          </a:bodyPr>
          <a:lstStyle/>
          <a:p>
            <a:pPr marL="285750" indent="-285750">
              <a:buFont typeface="Arial" panose="020B0604020202020204" pitchFamily="34" charset="0"/>
              <a:buChar char="•"/>
            </a:pPr>
            <a:r>
              <a:rPr lang="en-CA" dirty="0">
                <a:latin typeface="Helvetica Neue" panose="02000503000000020004" pitchFamily="2" charset="0"/>
                <a:ea typeface="Helvetica Neue" panose="02000503000000020004" pitchFamily="2" charset="0"/>
                <a:cs typeface="Helvetica Neue" panose="02000503000000020004" pitchFamily="2" charset="0"/>
              </a:rPr>
              <a:t>Clips have no composite structure here</a:t>
            </a:r>
          </a:p>
        </p:txBody>
      </p:sp>
      <p:sp>
        <p:nvSpPr>
          <p:cNvPr id="53" name="TextBox 52">
            <a:extLst>
              <a:ext uri="{FF2B5EF4-FFF2-40B4-BE49-F238E27FC236}">
                <a16:creationId xmlns:a16="http://schemas.microsoft.com/office/drawing/2014/main" id="{6F50E640-F75B-4CDD-6A20-74D65BC00BCE}"/>
              </a:ext>
            </a:extLst>
          </p:cNvPr>
          <p:cNvSpPr txBox="1"/>
          <p:nvPr/>
        </p:nvSpPr>
        <p:spPr>
          <a:xfrm>
            <a:off x="7334604" y="2403353"/>
            <a:ext cx="4908477" cy="646331"/>
          </a:xfrm>
          <a:prstGeom prst="rect">
            <a:avLst/>
          </a:prstGeom>
          <a:noFill/>
        </p:spPr>
        <p:txBody>
          <a:bodyPr wrap="square" rtlCol="0">
            <a:spAutoFit/>
          </a:bodyPr>
          <a:lstStyle/>
          <a:p>
            <a:pPr marL="285750" indent="-285750">
              <a:buFont typeface="Arial" panose="020B0604020202020204" pitchFamily="34" charset="0"/>
              <a:buChar char="•"/>
            </a:pPr>
            <a:r>
              <a:rPr lang="en-CA" dirty="0">
                <a:latin typeface="Helvetica Neue" panose="02000503000000020004" pitchFamily="2" charset="0"/>
                <a:ea typeface="Helvetica Neue" panose="02000503000000020004" pitchFamily="2" charset="0"/>
                <a:cs typeface="Helvetica Neue" panose="02000503000000020004" pitchFamily="2" charset="0"/>
              </a:rPr>
              <a:t>Only connections between two clips are accounted for</a:t>
            </a:r>
          </a:p>
        </p:txBody>
      </p:sp>
      <p:sp>
        <p:nvSpPr>
          <p:cNvPr id="54" name="Down Arrow 53">
            <a:extLst>
              <a:ext uri="{FF2B5EF4-FFF2-40B4-BE49-F238E27FC236}">
                <a16:creationId xmlns:a16="http://schemas.microsoft.com/office/drawing/2014/main" id="{5B1E2DC7-7009-3A07-17B4-83159BB19719}"/>
              </a:ext>
            </a:extLst>
          </p:cNvPr>
          <p:cNvSpPr/>
          <p:nvPr/>
        </p:nvSpPr>
        <p:spPr>
          <a:xfrm>
            <a:off x="9457086" y="3242872"/>
            <a:ext cx="331756" cy="575859"/>
          </a:xfrm>
          <a:prstGeom prst="downArrow">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latin typeface="Helvetica Neue" panose="02000503000000020004" pitchFamily="2" charset="0"/>
              <a:ea typeface="Helvetica Neue" panose="02000503000000020004" pitchFamily="2" charset="0"/>
              <a:cs typeface="Helvetica Neue" panose="02000503000000020004" pitchFamily="2" charset="0"/>
            </a:endParaRPr>
          </a:p>
        </p:txBody>
      </p:sp>
      <p:pic>
        <p:nvPicPr>
          <p:cNvPr id="56" name="Graphic 55" descr="Mountain scene with solid fill">
            <a:extLst>
              <a:ext uri="{FF2B5EF4-FFF2-40B4-BE49-F238E27FC236}">
                <a16:creationId xmlns:a16="http://schemas.microsoft.com/office/drawing/2014/main" id="{10D5693D-7686-77EB-DF8F-2BC4B2F3835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841955" y="1411862"/>
            <a:ext cx="1151833" cy="1151833"/>
          </a:xfrm>
          <a:prstGeom prst="rect">
            <a:avLst/>
          </a:prstGeom>
        </p:spPr>
      </p:pic>
      <p:cxnSp>
        <p:nvCxnSpPr>
          <p:cNvPr id="58" name="Straight Connector 57">
            <a:extLst>
              <a:ext uri="{FF2B5EF4-FFF2-40B4-BE49-F238E27FC236}">
                <a16:creationId xmlns:a16="http://schemas.microsoft.com/office/drawing/2014/main" id="{39BCB2BF-0328-B9CB-1723-A773A1839198}"/>
              </a:ext>
            </a:extLst>
          </p:cNvPr>
          <p:cNvCxnSpPr>
            <a:cxnSpLocks/>
          </p:cNvCxnSpPr>
          <p:nvPr/>
        </p:nvCxnSpPr>
        <p:spPr>
          <a:xfrm>
            <a:off x="1827643" y="2664409"/>
            <a:ext cx="351109" cy="556394"/>
          </a:xfrm>
          <a:prstGeom prst="line">
            <a:avLst/>
          </a:prstGeom>
          <a:ln w="12700"/>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043FED07-DF5E-A911-BB58-B7FB6257A2C8}"/>
              </a:ext>
            </a:extLst>
          </p:cNvPr>
          <p:cNvCxnSpPr>
            <a:cxnSpLocks/>
          </p:cNvCxnSpPr>
          <p:nvPr/>
        </p:nvCxnSpPr>
        <p:spPr>
          <a:xfrm flipH="1">
            <a:off x="2611850" y="2644461"/>
            <a:ext cx="336825" cy="576977"/>
          </a:xfrm>
          <a:prstGeom prst="line">
            <a:avLst/>
          </a:prstGeom>
          <a:ln w="12700"/>
        </p:spPr>
        <p:style>
          <a:lnRef idx="1">
            <a:schemeClr val="dk1"/>
          </a:lnRef>
          <a:fillRef idx="0">
            <a:schemeClr val="dk1"/>
          </a:fillRef>
          <a:effectRef idx="0">
            <a:schemeClr val="dk1"/>
          </a:effectRef>
          <a:fontRef idx="minor">
            <a:schemeClr val="tx1"/>
          </a:fontRef>
        </p:style>
      </p:cxnSp>
      <p:sp>
        <p:nvSpPr>
          <p:cNvPr id="2055" name="Alternate Process 2054">
            <a:extLst>
              <a:ext uri="{FF2B5EF4-FFF2-40B4-BE49-F238E27FC236}">
                <a16:creationId xmlns:a16="http://schemas.microsoft.com/office/drawing/2014/main" id="{7293FD0D-D2FD-01F2-1509-53EECEA0B8B2}"/>
              </a:ext>
            </a:extLst>
          </p:cNvPr>
          <p:cNvSpPr/>
          <p:nvPr/>
        </p:nvSpPr>
        <p:spPr>
          <a:xfrm>
            <a:off x="7780115" y="4848587"/>
            <a:ext cx="3896450" cy="767787"/>
          </a:xfrm>
          <a:prstGeom prst="flowChartAlternateProcess">
            <a:avLst/>
          </a:prstGeom>
          <a:solidFill>
            <a:srgbClr val="FCFAC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8" name="TextBox 7">
            <a:extLst>
              <a:ext uri="{FF2B5EF4-FFF2-40B4-BE49-F238E27FC236}">
                <a16:creationId xmlns:a16="http://schemas.microsoft.com/office/drawing/2014/main" id="{A9FC4C41-C446-0CBD-7CF3-9EB8703F3B10}"/>
              </a:ext>
            </a:extLst>
          </p:cNvPr>
          <p:cNvSpPr txBox="1"/>
          <p:nvPr/>
        </p:nvSpPr>
        <p:spPr>
          <a:xfrm>
            <a:off x="7901119" y="4878537"/>
            <a:ext cx="3775446" cy="707886"/>
          </a:xfrm>
          <a:prstGeom prst="rect">
            <a:avLst/>
          </a:prstGeom>
          <a:noFill/>
        </p:spPr>
        <p:txBody>
          <a:bodyPr wrap="square" rtlCol="0">
            <a:spAutoFit/>
          </a:bodyPr>
          <a:lstStyle/>
          <a:p>
            <a:r>
              <a:rPr lang="en-CA" sz="2000" dirty="0">
                <a:latin typeface="Helvetica Neue" panose="02000503000000020004" pitchFamily="2" charset="0"/>
                <a:ea typeface="Helvetica Neue" panose="02000503000000020004" pitchFamily="2" charset="0"/>
                <a:cs typeface="Helvetica Neue" panose="02000503000000020004" pitchFamily="2" charset="0"/>
              </a:rPr>
              <a:t>We need to extend PS to make it more robust and explainable!</a:t>
            </a:r>
          </a:p>
        </p:txBody>
      </p:sp>
      <p:grpSp>
        <p:nvGrpSpPr>
          <p:cNvPr id="4" name="Group 3">
            <a:extLst>
              <a:ext uri="{FF2B5EF4-FFF2-40B4-BE49-F238E27FC236}">
                <a16:creationId xmlns:a16="http://schemas.microsoft.com/office/drawing/2014/main" id="{724B7949-B49E-BD9A-C13D-008A181057BC}"/>
              </a:ext>
            </a:extLst>
          </p:cNvPr>
          <p:cNvGrpSpPr/>
          <p:nvPr/>
        </p:nvGrpSpPr>
        <p:grpSpPr>
          <a:xfrm>
            <a:off x="370412" y="2938842"/>
            <a:ext cx="6698648" cy="2198810"/>
            <a:chOff x="444438" y="2603501"/>
            <a:chExt cx="6029732" cy="1539818"/>
          </a:xfrm>
        </p:grpSpPr>
        <p:sp>
          <p:nvSpPr>
            <p:cNvPr id="5" name="Oval 4">
              <a:extLst>
                <a:ext uri="{FF2B5EF4-FFF2-40B4-BE49-F238E27FC236}">
                  <a16:creationId xmlns:a16="http://schemas.microsoft.com/office/drawing/2014/main" id="{3AE96121-1C11-5804-9E7C-77C82B8FFEAC}"/>
                </a:ext>
              </a:extLst>
            </p:cNvPr>
            <p:cNvSpPr/>
            <p:nvPr/>
          </p:nvSpPr>
          <p:spPr>
            <a:xfrm>
              <a:off x="1898056" y="2791207"/>
              <a:ext cx="755650" cy="342900"/>
            </a:xfrm>
            <a:prstGeom prst="ellipse">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6" name="TextBox 5">
              <a:extLst>
                <a:ext uri="{FF2B5EF4-FFF2-40B4-BE49-F238E27FC236}">
                  <a16:creationId xmlns:a16="http://schemas.microsoft.com/office/drawing/2014/main" id="{2559C64F-443A-2149-1475-63484DFAC00A}"/>
                </a:ext>
              </a:extLst>
            </p:cNvPr>
            <p:cNvSpPr txBox="1"/>
            <p:nvPr/>
          </p:nvSpPr>
          <p:spPr>
            <a:xfrm>
              <a:off x="1987917" y="2826330"/>
              <a:ext cx="718820" cy="307777"/>
            </a:xfrm>
            <a:prstGeom prst="rect">
              <a:avLst/>
            </a:prstGeom>
            <a:noFill/>
          </p:spPr>
          <p:txBody>
            <a:bodyPr wrap="square" rtlCol="0">
              <a:spAutoFit/>
            </a:bodyPr>
            <a:lstStyle/>
            <a:p>
              <a:r>
                <a:rPr lang="en-CA" sz="1400" dirty="0">
                  <a:latin typeface="Helvetica Neue" panose="02000503000000020004" pitchFamily="2" charset="0"/>
                  <a:ea typeface="Helvetica Neue" panose="02000503000000020004" pitchFamily="2" charset="0"/>
                  <a:cs typeface="Helvetica Neue" panose="02000503000000020004" pitchFamily="2" charset="0"/>
                </a:rPr>
                <a:t>Clip 2</a:t>
              </a:r>
            </a:p>
          </p:txBody>
        </p:sp>
        <p:sp>
          <p:nvSpPr>
            <p:cNvPr id="9" name="Oval 8">
              <a:extLst>
                <a:ext uri="{FF2B5EF4-FFF2-40B4-BE49-F238E27FC236}">
                  <a16:creationId xmlns:a16="http://schemas.microsoft.com/office/drawing/2014/main" id="{9417CE70-282D-A1BE-563D-C6C17CBDB4B3}"/>
                </a:ext>
              </a:extLst>
            </p:cNvPr>
            <p:cNvSpPr/>
            <p:nvPr/>
          </p:nvSpPr>
          <p:spPr>
            <a:xfrm>
              <a:off x="3004288" y="3098829"/>
              <a:ext cx="755650" cy="342900"/>
            </a:xfrm>
            <a:prstGeom prst="ellipse">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0" name="TextBox 9">
              <a:extLst>
                <a:ext uri="{FF2B5EF4-FFF2-40B4-BE49-F238E27FC236}">
                  <a16:creationId xmlns:a16="http://schemas.microsoft.com/office/drawing/2014/main" id="{E141A875-ACE1-4845-2928-4A8B88AE58E3}"/>
                </a:ext>
              </a:extLst>
            </p:cNvPr>
            <p:cNvSpPr txBox="1"/>
            <p:nvPr/>
          </p:nvSpPr>
          <p:spPr>
            <a:xfrm>
              <a:off x="3094149" y="3133952"/>
              <a:ext cx="718820" cy="307777"/>
            </a:xfrm>
            <a:prstGeom prst="rect">
              <a:avLst/>
            </a:prstGeom>
            <a:noFill/>
          </p:spPr>
          <p:txBody>
            <a:bodyPr wrap="square" rtlCol="0">
              <a:spAutoFit/>
            </a:bodyPr>
            <a:lstStyle/>
            <a:p>
              <a:r>
                <a:rPr lang="en-CA" sz="1400" dirty="0">
                  <a:latin typeface="Helvetica Neue" panose="02000503000000020004" pitchFamily="2" charset="0"/>
                  <a:ea typeface="Helvetica Neue" panose="02000503000000020004" pitchFamily="2" charset="0"/>
                  <a:cs typeface="Helvetica Neue" panose="02000503000000020004" pitchFamily="2" charset="0"/>
                </a:rPr>
                <a:t>Clip 4</a:t>
              </a:r>
            </a:p>
          </p:txBody>
        </p:sp>
        <p:sp>
          <p:nvSpPr>
            <p:cNvPr id="11" name="Oval 10">
              <a:extLst>
                <a:ext uri="{FF2B5EF4-FFF2-40B4-BE49-F238E27FC236}">
                  <a16:creationId xmlns:a16="http://schemas.microsoft.com/office/drawing/2014/main" id="{DF0CE23F-230E-1D84-CA42-E25B01676FED}"/>
                </a:ext>
              </a:extLst>
            </p:cNvPr>
            <p:cNvSpPr/>
            <p:nvPr/>
          </p:nvSpPr>
          <p:spPr>
            <a:xfrm>
              <a:off x="4165705" y="2619757"/>
              <a:ext cx="755650" cy="342900"/>
            </a:xfrm>
            <a:prstGeom prst="ellipse">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3" name="TextBox 12">
              <a:extLst>
                <a:ext uri="{FF2B5EF4-FFF2-40B4-BE49-F238E27FC236}">
                  <a16:creationId xmlns:a16="http://schemas.microsoft.com/office/drawing/2014/main" id="{FDCD7F24-387A-C8B0-1333-B0807D1BA02C}"/>
                </a:ext>
              </a:extLst>
            </p:cNvPr>
            <p:cNvSpPr txBox="1"/>
            <p:nvPr/>
          </p:nvSpPr>
          <p:spPr>
            <a:xfrm>
              <a:off x="4404822" y="2603501"/>
              <a:ext cx="252382" cy="307777"/>
            </a:xfrm>
            <a:prstGeom prst="rect">
              <a:avLst/>
            </a:prstGeom>
            <a:noFill/>
          </p:spPr>
          <p:txBody>
            <a:bodyPr wrap="square" rtlCol="0">
              <a:spAutoFit/>
            </a:bodyPr>
            <a:lstStyle/>
            <a:p>
              <a:r>
                <a:rPr lang="en-CA" sz="1400" dirty="0">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15" name="Oval 14">
              <a:extLst>
                <a:ext uri="{FF2B5EF4-FFF2-40B4-BE49-F238E27FC236}">
                  <a16:creationId xmlns:a16="http://schemas.microsoft.com/office/drawing/2014/main" id="{EF1438F3-CEE4-2FBA-A9B4-621351910678}"/>
                </a:ext>
              </a:extLst>
            </p:cNvPr>
            <p:cNvSpPr/>
            <p:nvPr/>
          </p:nvSpPr>
          <p:spPr>
            <a:xfrm>
              <a:off x="4862529" y="3107825"/>
              <a:ext cx="755650" cy="342900"/>
            </a:xfrm>
            <a:prstGeom prst="ellipse">
              <a:avLst/>
            </a:prstGeom>
            <a:solidFill>
              <a:schemeClr val="bg2"/>
            </a:solidFill>
            <a:ln>
              <a:solidFill>
                <a:srgbClr val="FF524D"/>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5" name="TextBox 54">
              <a:extLst>
                <a:ext uri="{FF2B5EF4-FFF2-40B4-BE49-F238E27FC236}">
                  <a16:creationId xmlns:a16="http://schemas.microsoft.com/office/drawing/2014/main" id="{AB84107A-A36B-4A8E-761D-6ADFC933C7E6}"/>
                </a:ext>
              </a:extLst>
            </p:cNvPr>
            <p:cNvSpPr txBox="1"/>
            <p:nvPr/>
          </p:nvSpPr>
          <p:spPr>
            <a:xfrm>
              <a:off x="4952390" y="3142948"/>
              <a:ext cx="718820" cy="307777"/>
            </a:xfrm>
            <a:prstGeom prst="rect">
              <a:avLst/>
            </a:prstGeom>
            <a:noFill/>
          </p:spPr>
          <p:txBody>
            <a:bodyPr wrap="square" rtlCol="0">
              <a:spAutoFit/>
            </a:bodyPr>
            <a:lstStyle/>
            <a:p>
              <a:r>
                <a:rPr lang="en-CA" sz="1400" dirty="0">
                  <a:latin typeface="Helvetica Neue" panose="02000503000000020004" pitchFamily="2" charset="0"/>
                  <a:ea typeface="Helvetica Neue" panose="02000503000000020004" pitchFamily="2" charset="0"/>
                  <a:cs typeface="Helvetica Neue" panose="02000503000000020004" pitchFamily="2" charset="0"/>
                </a:rPr>
                <a:t>Clip 6</a:t>
              </a:r>
            </a:p>
          </p:txBody>
        </p:sp>
        <p:sp>
          <p:nvSpPr>
            <p:cNvPr id="57" name="Oval 56">
              <a:extLst>
                <a:ext uri="{FF2B5EF4-FFF2-40B4-BE49-F238E27FC236}">
                  <a16:creationId xmlns:a16="http://schemas.microsoft.com/office/drawing/2014/main" id="{2C256BAC-7340-8DA1-052B-96FEE1254B8E}"/>
                </a:ext>
              </a:extLst>
            </p:cNvPr>
            <p:cNvSpPr/>
            <p:nvPr/>
          </p:nvSpPr>
          <p:spPr>
            <a:xfrm>
              <a:off x="2961383" y="3800419"/>
              <a:ext cx="755650" cy="342900"/>
            </a:xfrm>
            <a:prstGeom prst="ellipse">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60" name="TextBox 59">
              <a:extLst>
                <a:ext uri="{FF2B5EF4-FFF2-40B4-BE49-F238E27FC236}">
                  <a16:creationId xmlns:a16="http://schemas.microsoft.com/office/drawing/2014/main" id="{36FE90B9-675D-FC8C-A346-24A7A99D2A7B}"/>
                </a:ext>
              </a:extLst>
            </p:cNvPr>
            <p:cNvSpPr txBox="1"/>
            <p:nvPr/>
          </p:nvSpPr>
          <p:spPr>
            <a:xfrm>
              <a:off x="3187859" y="3800419"/>
              <a:ext cx="236697" cy="307777"/>
            </a:xfrm>
            <a:prstGeom prst="rect">
              <a:avLst/>
            </a:prstGeom>
            <a:noFill/>
          </p:spPr>
          <p:txBody>
            <a:bodyPr wrap="square" rtlCol="0">
              <a:spAutoFit/>
            </a:bodyPr>
            <a:lstStyle/>
            <a:p>
              <a:r>
                <a:rPr lang="en-CA" sz="1400" dirty="0">
                  <a:latin typeface="Helvetica Neue" panose="02000503000000020004" pitchFamily="2" charset="0"/>
                  <a:ea typeface="Helvetica Neue" panose="02000503000000020004" pitchFamily="2" charset="0"/>
                  <a:cs typeface="Helvetica Neue" panose="02000503000000020004" pitchFamily="2" charset="0"/>
                </a:rPr>
                <a:t>…</a:t>
              </a:r>
            </a:p>
          </p:txBody>
        </p:sp>
        <p:sp>
          <p:nvSpPr>
            <p:cNvPr id="61" name="Oval 60">
              <a:extLst>
                <a:ext uri="{FF2B5EF4-FFF2-40B4-BE49-F238E27FC236}">
                  <a16:creationId xmlns:a16="http://schemas.microsoft.com/office/drawing/2014/main" id="{4885A98A-50CD-7A74-9357-58B6A6C29DF9}"/>
                </a:ext>
              </a:extLst>
            </p:cNvPr>
            <p:cNvSpPr/>
            <p:nvPr/>
          </p:nvSpPr>
          <p:spPr>
            <a:xfrm>
              <a:off x="646249" y="3033651"/>
              <a:ext cx="755650" cy="342900"/>
            </a:xfrm>
            <a:prstGeom prst="ellipse">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62" name="TextBox 61">
              <a:extLst>
                <a:ext uri="{FF2B5EF4-FFF2-40B4-BE49-F238E27FC236}">
                  <a16:creationId xmlns:a16="http://schemas.microsoft.com/office/drawing/2014/main" id="{B34F1F8D-0458-B381-61EA-9F94C0942A00}"/>
                </a:ext>
              </a:extLst>
            </p:cNvPr>
            <p:cNvSpPr txBox="1"/>
            <p:nvPr/>
          </p:nvSpPr>
          <p:spPr>
            <a:xfrm>
              <a:off x="736110" y="3068774"/>
              <a:ext cx="718820" cy="307777"/>
            </a:xfrm>
            <a:prstGeom prst="rect">
              <a:avLst/>
            </a:prstGeom>
            <a:noFill/>
          </p:spPr>
          <p:txBody>
            <a:bodyPr wrap="square" rtlCol="0">
              <a:spAutoFit/>
            </a:bodyPr>
            <a:lstStyle/>
            <a:p>
              <a:r>
                <a:rPr lang="en-CA" sz="1400" dirty="0">
                  <a:latin typeface="Helvetica Neue" panose="02000503000000020004" pitchFamily="2" charset="0"/>
                  <a:ea typeface="Helvetica Neue" panose="02000503000000020004" pitchFamily="2" charset="0"/>
                  <a:cs typeface="Helvetica Neue" panose="02000503000000020004" pitchFamily="2" charset="0"/>
                </a:rPr>
                <a:t>Clip 1</a:t>
              </a:r>
            </a:p>
          </p:txBody>
        </p:sp>
        <p:sp>
          <p:nvSpPr>
            <p:cNvPr id="63" name="Oval 62">
              <a:extLst>
                <a:ext uri="{FF2B5EF4-FFF2-40B4-BE49-F238E27FC236}">
                  <a16:creationId xmlns:a16="http://schemas.microsoft.com/office/drawing/2014/main" id="{F056C50E-B78F-E265-D2A2-B7BE35E628DD}"/>
                </a:ext>
              </a:extLst>
            </p:cNvPr>
            <p:cNvSpPr/>
            <p:nvPr/>
          </p:nvSpPr>
          <p:spPr>
            <a:xfrm>
              <a:off x="4165705" y="3681944"/>
              <a:ext cx="755650" cy="342900"/>
            </a:xfrm>
            <a:prstGeom prst="ellipse">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2048" name="TextBox 2047">
              <a:extLst>
                <a:ext uri="{FF2B5EF4-FFF2-40B4-BE49-F238E27FC236}">
                  <a16:creationId xmlns:a16="http://schemas.microsoft.com/office/drawing/2014/main" id="{179D5880-A982-228A-5E85-1C8CB9DE911E}"/>
                </a:ext>
              </a:extLst>
            </p:cNvPr>
            <p:cNvSpPr txBox="1"/>
            <p:nvPr/>
          </p:nvSpPr>
          <p:spPr>
            <a:xfrm>
              <a:off x="4255566" y="3717067"/>
              <a:ext cx="718820" cy="307777"/>
            </a:xfrm>
            <a:prstGeom prst="rect">
              <a:avLst/>
            </a:prstGeom>
            <a:noFill/>
          </p:spPr>
          <p:txBody>
            <a:bodyPr wrap="square" rtlCol="0">
              <a:spAutoFit/>
            </a:bodyPr>
            <a:lstStyle/>
            <a:p>
              <a:r>
                <a:rPr lang="en-CA" sz="1400" dirty="0">
                  <a:latin typeface="Helvetica Neue" panose="02000503000000020004" pitchFamily="2" charset="0"/>
                  <a:ea typeface="Helvetica Neue" panose="02000503000000020004" pitchFamily="2" charset="0"/>
                  <a:cs typeface="Helvetica Neue" panose="02000503000000020004" pitchFamily="2" charset="0"/>
                </a:rPr>
                <a:t>Clip 5</a:t>
              </a:r>
            </a:p>
          </p:txBody>
        </p:sp>
        <p:sp>
          <p:nvSpPr>
            <p:cNvPr id="2049" name="Oval 2048">
              <a:extLst>
                <a:ext uri="{FF2B5EF4-FFF2-40B4-BE49-F238E27FC236}">
                  <a16:creationId xmlns:a16="http://schemas.microsoft.com/office/drawing/2014/main" id="{961B5B49-01F2-3B49-B1AB-9E53D76A6C9F}"/>
                </a:ext>
              </a:extLst>
            </p:cNvPr>
            <p:cNvSpPr/>
            <p:nvPr/>
          </p:nvSpPr>
          <p:spPr>
            <a:xfrm>
              <a:off x="1874823" y="3496681"/>
              <a:ext cx="755650" cy="342900"/>
            </a:xfrm>
            <a:prstGeom prst="ellipse">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2050" name="TextBox 2049">
              <a:extLst>
                <a:ext uri="{FF2B5EF4-FFF2-40B4-BE49-F238E27FC236}">
                  <a16:creationId xmlns:a16="http://schemas.microsoft.com/office/drawing/2014/main" id="{30C311F4-3B35-AFA0-CD7E-ACFE839EBD77}"/>
                </a:ext>
              </a:extLst>
            </p:cNvPr>
            <p:cNvSpPr txBox="1"/>
            <p:nvPr/>
          </p:nvSpPr>
          <p:spPr>
            <a:xfrm>
              <a:off x="1964684" y="3531804"/>
              <a:ext cx="718820" cy="307777"/>
            </a:xfrm>
            <a:prstGeom prst="rect">
              <a:avLst/>
            </a:prstGeom>
            <a:noFill/>
          </p:spPr>
          <p:txBody>
            <a:bodyPr wrap="square" rtlCol="0">
              <a:spAutoFit/>
            </a:bodyPr>
            <a:lstStyle/>
            <a:p>
              <a:r>
                <a:rPr lang="en-CA" sz="1400" dirty="0">
                  <a:latin typeface="Helvetica Neue" panose="02000503000000020004" pitchFamily="2" charset="0"/>
                  <a:ea typeface="Helvetica Neue" panose="02000503000000020004" pitchFamily="2" charset="0"/>
                  <a:cs typeface="Helvetica Neue" panose="02000503000000020004" pitchFamily="2" charset="0"/>
                </a:rPr>
                <a:t>Clip 3</a:t>
              </a:r>
            </a:p>
          </p:txBody>
        </p:sp>
        <p:sp>
          <p:nvSpPr>
            <p:cNvPr id="2051" name="TextBox 2050">
              <a:extLst>
                <a:ext uri="{FF2B5EF4-FFF2-40B4-BE49-F238E27FC236}">
                  <a16:creationId xmlns:a16="http://schemas.microsoft.com/office/drawing/2014/main" id="{F2B47803-69C3-1C23-E41A-EAC74014C1A9}"/>
                </a:ext>
              </a:extLst>
            </p:cNvPr>
            <p:cNvSpPr txBox="1"/>
            <p:nvPr/>
          </p:nvSpPr>
          <p:spPr>
            <a:xfrm>
              <a:off x="444438" y="3698335"/>
              <a:ext cx="988013" cy="237088"/>
            </a:xfrm>
            <a:prstGeom prst="rect">
              <a:avLst/>
            </a:prstGeom>
            <a:noFill/>
          </p:spPr>
          <p:txBody>
            <a:bodyPr wrap="square" rtlCol="0">
              <a:spAutoFit/>
            </a:bodyPr>
            <a:lstStyle/>
            <a:p>
              <a:r>
                <a:rPr lang="en-CA" sz="1600" dirty="0">
                  <a:latin typeface="Helvetica Neue" panose="02000503000000020004" pitchFamily="2" charset="0"/>
                  <a:ea typeface="Helvetica Neue" panose="02000503000000020004" pitchFamily="2" charset="0"/>
                  <a:cs typeface="Helvetica Neue" panose="02000503000000020004" pitchFamily="2" charset="0"/>
                </a:rPr>
                <a:t>percept</a:t>
              </a:r>
            </a:p>
          </p:txBody>
        </p:sp>
        <p:sp>
          <p:nvSpPr>
            <p:cNvPr id="2052" name="TextBox 2051">
              <a:extLst>
                <a:ext uri="{FF2B5EF4-FFF2-40B4-BE49-F238E27FC236}">
                  <a16:creationId xmlns:a16="http://schemas.microsoft.com/office/drawing/2014/main" id="{CA8D60F3-D969-3456-BF38-6AB7E5DE7A7E}"/>
                </a:ext>
              </a:extLst>
            </p:cNvPr>
            <p:cNvSpPr txBox="1"/>
            <p:nvPr/>
          </p:nvSpPr>
          <p:spPr>
            <a:xfrm>
              <a:off x="5555860" y="3579595"/>
              <a:ext cx="918310" cy="237088"/>
            </a:xfrm>
            <a:prstGeom prst="rect">
              <a:avLst/>
            </a:prstGeom>
            <a:noFill/>
          </p:spPr>
          <p:txBody>
            <a:bodyPr wrap="square" rtlCol="0">
              <a:spAutoFit/>
            </a:bodyPr>
            <a:lstStyle/>
            <a:p>
              <a:r>
                <a:rPr lang="en-CA" sz="1600" dirty="0">
                  <a:latin typeface="Helvetica Neue" panose="02000503000000020004" pitchFamily="2" charset="0"/>
                  <a:ea typeface="Helvetica Neue" panose="02000503000000020004" pitchFamily="2" charset="0"/>
                  <a:cs typeface="Helvetica Neue" panose="02000503000000020004" pitchFamily="2" charset="0"/>
                </a:rPr>
                <a:t>actuator</a:t>
              </a:r>
            </a:p>
          </p:txBody>
        </p:sp>
        <mc:AlternateContent xmlns:mc="http://schemas.openxmlformats.org/markup-compatibility/2006" xmlns:a14="http://schemas.microsoft.com/office/drawing/2010/main">
          <mc:Choice Requires="a14">
            <p:sp>
              <p:nvSpPr>
                <p:cNvPr id="2053" name="TextBox 2052">
                  <a:extLst>
                    <a:ext uri="{FF2B5EF4-FFF2-40B4-BE49-F238E27FC236}">
                      <a16:creationId xmlns:a16="http://schemas.microsoft.com/office/drawing/2014/main" id="{4F232A4E-2FE2-C833-36BF-D822F71F2130}"/>
                    </a:ext>
                  </a:extLst>
                </p:cNvPr>
                <p:cNvSpPr txBox="1"/>
                <p:nvPr/>
              </p:nvSpPr>
              <p:spPr>
                <a:xfrm>
                  <a:off x="1266241" y="2826175"/>
                  <a:ext cx="673054"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𝑝</m:t>
                            </m:r>
                          </m:e>
                          <m:sub>
                            <m:r>
                              <a:rPr lang="en-US" sz="1400" b="0" i="1" smtClean="0">
                                <a:latin typeface="Cambria Math" panose="02040503050406030204" pitchFamily="18" charset="0"/>
                              </a:rPr>
                              <m:t>12</m:t>
                            </m:r>
                          </m:sub>
                        </m:sSub>
                      </m:oMath>
                    </m:oMathPara>
                  </a14:m>
                  <a:endParaRPr lang="en-CA" dirty="0">
                    <a:latin typeface="Helvetica Neue" panose="02000503000000020004" pitchFamily="2" charset="0"/>
                    <a:ea typeface="Helvetica Neue" panose="02000503000000020004" pitchFamily="2" charset="0"/>
                    <a:cs typeface="Helvetica Neue" panose="02000503000000020004" pitchFamily="2" charset="0"/>
                  </a:endParaRPr>
                </a:p>
              </p:txBody>
            </p:sp>
          </mc:Choice>
          <mc:Fallback xmlns="">
            <p:sp>
              <p:nvSpPr>
                <p:cNvPr id="2053" name="TextBox 2052">
                  <a:extLst>
                    <a:ext uri="{FF2B5EF4-FFF2-40B4-BE49-F238E27FC236}">
                      <a16:creationId xmlns:a16="http://schemas.microsoft.com/office/drawing/2014/main" id="{4F232A4E-2FE2-C833-36BF-D822F71F2130}"/>
                    </a:ext>
                  </a:extLst>
                </p:cNvPr>
                <p:cNvSpPr txBox="1">
                  <a:spLocks noRot="1" noChangeAspect="1" noMove="1" noResize="1" noEditPoints="1" noAdjustHandles="1" noChangeArrowheads="1" noChangeShapeType="1" noTextEdit="1"/>
                </p:cNvSpPr>
                <p:nvPr/>
              </p:nvSpPr>
              <p:spPr>
                <a:xfrm>
                  <a:off x="1266241" y="2826175"/>
                  <a:ext cx="673054" cy="307777"/>
                </a:xfrm>
                <a:prstGeom prst="rect">
                  <a:avLst/>
                </a:prstGeom>
                <a:blipFill>
                  <a:blip r:embed="rId5"/>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054" name="TextBox 2053">
                  <a:extLst>
                    <a:ext uri="{FF2B5EF4-FFF2-40B4-BE49-F238E27FC236}">
                      <a16:creationId xmlns:a16="http://schemas.microsoft.com/office/drawing/2014/main" id="{8F5B5EE5-6677-E259-C8D3-B5434BF0A8EB}"/>
                    </a:ext>
                  </a:extLst>
                </p:cNvPr>
                <p:cNvSpPr txBox="1"/>
                <p:nvPr/>
              </p:nvSpPr>
              <p:spPr>
                <a:xfrm>
                  <a:off x="1169004" y="3346870"/>
                  <a:ext cx="673054"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𝑝</m:t>
                            </m:r>
                          </m:e>
                          <m:sub>
                            <m:r>
                              <a:rPr lang="en-US" sz="1400" b="0" i="1" smtClean="0">
                                <a:latin typeface="Cambria Math" panose="02040503050406030204" pitchFamily="18" charset="0"/>
                              </a:rPr>
                              <m:t>13</m:t>
                            </m:r>
                          </m:sub>
                        </m:sSub>
                      </m:oMath>
                    </m:oMathPara>
                  </a14:m>
                  <a:endParaRPr lang="en-CA" dirty="0">
                    <a:latin typeface="Helvetica Neue" panose="02000503000000020004" pitchFamily="2" charset="0"/>
                    <a:ea typeface="Helvetica Neue" panose="02000503000000020004" pitchFamily="2" charset="0"/>
                    <a:cs typeface="Helvetica Neue" panose="02000503000000020004" pitchFamily="2" charset="0"/>
                  </a:endParaRPr>
                </a:p>
              </p:txBody>
            </p:sp>
          </mc:Choice>
          <mc:Fallback xmlns="">
            <p:sp>
              <p:nvSpPr>
                <p:cNvPr id="2054" name="TextBox 2053">
                  <a:extLst>
                    <a:ext uri="{FF2B5EF4-FFF2-40B4-BE49-F238E27FC236}">
                      <a16:creationId xmlns:a16="http://schemas.microsoft.com/office/drawing/2014/main" id="{8F5B5EE5-6677-E259-C8D3-B5434BF0A8EB}"/>
                    </a:ext>
                  </a:extLst>
                </p:cNvPr>
                <p:cNvSpPr txBox="1">
                  <a:spLocks noRot="1" noChangeAspect="1" noMove="1" noResize="1" noEditPoints="1" noAdjustHandles="1" noChangeArrowheads="1" noChangeShapeType="1" noTextEdit="1"/>
                </p:cNvSpPr>
                <p:nvPr/>
              </p:nvSpPr>
              <p:spPr>
                <a:xfrm>
                  <a:off x="1169004" y="3346870"/>
                  <a:ext cx="673054" cy="307777"/>
                </a:xfrm>
                <a:prstGeom prst="rect">
                  <a:avLst/>
                </a:prstGeom>
                <a:blipFill>
                  <a:blip r:embed="rId6"/>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056" name="TextBox 2055">
                  <a:extLst>
                    <a:ext uri="{FF2B5EF4-FFF2-40B4-BE49-F238E27FC236}">
                      <a16:creationId xmlns:a16="http://schemas.microsoft.com/office/drawing/2014/main" id="{3DE4C18A-A9C6-8508-7596-889E9234A2E2}"/>
                    </a:ext>
                  </a:extLst>
                </p:cNvPr>
                <p:cNvSpPr txBox="1"/>
                <p:nvPr/>
              </p:nvSpPr>
              <p:spPr>
                <a:xfrm>
                  <a:off x="2716996" y="2885635"/>
                  <a:ext cx="673054"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𝑝</m:t>
                            </m:r>
                          </m:e>
                          <m:sub>
                            <m:r>
                              <a:rPr lang="en-US" sz="1400" b="0" i="1" smtClean="0">
                                <a:latin typeface="Cambria Math" panose="02040503050406030204" pitchFamily="18" charset="0"/>
                              </a:rPr>
                              <m:t>24</m:t>
                            </m:r>
                          </m:sub>
                        </m:sSub>
                      </m:oMath>
                    </m:oMathPara>
                  </a14:m>
                  <a:endParaRPr lang="en-CA" dirty="0">
                    <a:latin typeface="Helvetica Neue" panose="02000503000000020004" pitchFamily="2" charset="0"/>
                    <a:ea typeface="Helvetica Neue" panose="02000503000000020004" pitchFamily="2" charset="0"/>
                    <a:cs typeface="Helvetica Neue" panose="02000503000000020004" pitchFamily="2" charset="0"/>
                  </a:endParaRPr>
                </a:p>
              </p:txBody>
            </p:sp>
          </mc:Choice>
          <mc:Fallback xmlns="">
            <p:sp>
              <p:nvSpPr>
                <p:cNvPr id="2056" name="TextBox 2055">
                  <a:extLst>
                    <a:ext uri="{FF2B5EF4-FFF2-40B4-BE49-F238E27FC236}">
                      <a16:creationId xmlns:a16="http://schemas.microsoft.com/office/drawing/2014/main" id="{3DE4C18A-A9C6-8508-7596-889E9234A2E2}"/>
                    </a:ext>
                  </a:extLst>
                </p:cNvPr>
                <p:cNvSpPr txBox="1">
                  <a:spLocks noRot="1" noChangeAspect="1" noMove="1" noResize="1" noEditPoints="1" noAdjustHandles="1" noChangeArrowheads="1" noChangeShapeType="1" noTextEdit="1"/>
                </p:cNvSpPr>
                <p:nvPr/>
              </p:nvSpPr>
              <p:spPr>
                <a:xfrm>
                  <a:off x="2716996" y="2885635"/>
                  <a:ext cx="673054" cy="307777"/>
                </a:xfrm>
                <a:prstGeom prst="rect">
                  <a:avLst/>
                </a:prstGeom>
                <a:blipFill>
                  <a:blip r:embed="rId7"/>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057" name="TextBox 2056">
                  <a:extLst>
                    <a:ext uri="{FF2B5EF4-FFF2-40B4-BE49-F238E27FC236}">
                      <a16:creationId xmlns:a16="http://schemas.microsoft.com/office/drawing/2014/main" id="{5347A808-E7D2-270A-C7EB-7BF562463D84}"/>
                    </a:ext>
                  </a:extLst>
                </p:cNvPr>
                <p:cNvSpPr txBox="1"/>
                <p:nvPr/>
              </p:nvSpPr>
              <p:spPr>
                <a:xfrm>
                  <a:off x="3925957" y="3351579"/>
                  <a:ext cx="483231"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𝑝</m:t>
                            </m:r>
                          </m:e>
                          <m:sub>
                            <m:r>
                              <a:rPr lang="en-US" sz="1400" b="0" i="1" smtClean="0">
                                <a:latin typeface="Cambria Math" panose="02040503050406030204" pitchFamily="18" charset="0"/>
                              </a:rPr>
                              <m:t>45</m:t>
                            </m:r>
                          </m:sub>
                        </m:sSub>
                      </m:oMath>
                    </m:oMathPara>
                  </a14:m>
                  <a:endParaRPr lang="en-CA" dirty="0">
                    <a:latin typeface="Helvetica Neue" panose="02000503000000020004" pitchFamily="2" charset="0"/>
                    <a:ea typeface="Helvetica Neue" panose="02000503000000020004" pitchFamily="2" charset="0"/>
                    <a:cs typeface="Helvetica Neue" panose="02000503000000020004" pitchFamily="2" charset="0"/>
                  </a:endParaRPr>
                </a:p>
              </p:txBody>
            </p:sp>
          </mc:Choice>
          <mc:Fallback xmlns="">
            <p:sp>
              <p:nvSpPr>
                <p:cNvPr id="2057" name="TextBox 2056">
                  <a:extLst>
                    <a:ext uri="{FF2B5EF4-FFF2-40B4-BE49-F238E27FC236}">
                      <a16:creationId xmlns:a16="http://schemas.microsoft.com/office/drawing/2014/main" id="{5347A808-E7D2-270A-C7EB-7BF562463D84}"/>
                    </a:ext>
                  </a:extLst>
                </p:cNvPr>
                <p:cNvSpPr txBox="1">
                  <a:spLocks noRot="1" noChangeAspect="1" noMove="1" noResize="1" noEditPoints="1" noAdjustHandles="1" noChangeArrowheads="1" noChangeShapeType="1" noTextEdit="1"/>
                </p:cNvSpPr>
                <p:nvPr/>
              </p:nvSpPr>
              <p:spPr>
                <a:xfrm>
                  <a:off x="3925957" y="3351579"/>
                  <a:ext cx="483231" cy="307777"/>
                </a:xfrm>
                <a:prstGeom prst="rect">
                  <a:avLst/>
                </a:prstGeom>
                <a:blipFill>
                  <a:blip r:embed="rId8"/>
                  <a:stretch>
                    <a:fillRect/>
                  </a:stretch>
                </a:blipFill>
              </p:spPr>
              <p:txBody>
                <a:bodyPr/>
                <a:lstStyle/>
                <a:p>
                  <a:r>
                    <a:rPr lang="en-CA">
                      <a:noFill/>
                    </a:rPr>
                    <a:t> </a:t>
                  </a:r>
                </a:p>
              </p:txBody>
            </p:sp>
          </mc:Fallback>
        </mc:AlternateContent>
        <p:cxnSp>
          <p:nvCxnSpPr>
            <p:cNvPr id="2058" name="Straight Arrow Connector 2057">
              <a:extLst>
                <a:ext uri="{FF2B5EF4-FFF2-40B4-BE49-F238E27FC236}">
                  <a16:creationId xmlns:a16="http://schemas.microsoft.com/office/drawing/2014/main" id="{A0365992-2B09-8CB0-5294-579648EA0669}"/>
                </a:ext>
              </a:extLst>
            </p:cNvPr>
            <p:cNvCxnSpPr>
              <a:cxnSpLocks/>
            </p:cNvCxnSpPr>
            <p:nvPr/>
          </p:nvCxnSpPr>
          <p:spPr>
            <a:xfrm>
              <a:off x="5581541" y="3364707"/>
              <a:ext cx="309460" cy="220308"/>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059" name="Straight Arrow Connector 2058">
              <a:extLst>
                <a:ext uri="{FF2B5EF4-FFF2-40B4-BE49-F238E27FC236}">
                  <a16:creationId xmlns:a16="http://schemas.microsoft.com/office/drawing/2014/main" id="{46F8DC56-F566-AA89-33DF-F10663DDACA8}"/>
                </a:ext>
              </a:extLst>
            </p:cNvPr>
            <p:cNvCxnSpPr>
              <a:cxnSpLocks/>
            </p:cNvCxnSpPr>
            <p:nvPr/>
          </p:nvCxnSpPr>
          <p:spPr>
            <a:xfrm flipV="1">
              <a:off x="824180" y="3384680"/>
              <a:ext cx="167097" cy="343280"/>
            </a:xfrm>
            <a:prstGeom prst="straightConnector1">
              <a:avLst/>
            </a:prstGeom>
            <a:ln w="190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060" name="Straight Arrow Connector 2059">
              <a:extLst>
                <a:ext uri="{FF2B5EF4-FFF2-40B4-BE49-F238E27FC236}">
                  <a16:creationId xmlns:a16="http://schemas.microsoft.com/office/drawing/2014/main" id="{152C6C55-3C63-6821-6BE0-5597E4FE304F}"/>
                </a:ext>
              </a:extLst>
            </p:cNvPr>
            <p:cNvCxnSpPr/>
            <p:nvPr/>
          </p:nvCxnSpPr>
          <p:spPr>
            <a:xfrm flipV="1">
              <a:off x="1405869" y="2997711"/>
              <a:ext cx="495300" cy="2000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61" name="Straight Arrow Connector 2060">
              <a:extLst>
                <a:ext uri="{FF2B5EF4-FFF2-40B4-BE49-F238E27FC236}">
                  <a16:creationId xmlns:a16="http://schemas.microsoft.com/office/drawing/2014/main" id="{89B57647-7B5A-BEF0-D187-7CD2A3B51444}"/>
                </a:ext>
              </a:extLst>
            </p:cNvPr>
            <p:cNvCxnSpPr>
              <a:cxnSpLocks/>
            </p:cNvCxnSpPr>
            <p:nvPr/>
          </p:nvCxnSpPr>
          <p:spPr>
            <a:xfrm>
              <a:off x="1405654" y="3209496"/>
              <a:ext cx="469169" cy="4334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62" name="Straight Arrow Connector 2061">
              <a:extLst>
                <a:ext uri="{FF2B5EF4-FFF2-40B4-BE49-F238E27FC236}">
                  <a16:creationId xmlns:a16="http://schemas.microsoft.com/office/drawing/2014/main" id="{5DA708EE-C362-327F-7A51-992926F4FDA5}"/>
                </a:ext>
              </a:extLst>
            </p:cNvPr>
            <p:cNvCxnSpPr>
              <a:cxnSpLocks/>
            </p:cNvCxnSpPr>
            <p:nvPr/>
          </p:nvCxnSpPr>
          <p:spPr>
            <a:xfrm>
              <a:off x="2647991" y="2980218"/>
              <a:ext cx="440095" cy="1890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63" name="Straight Arrow Connector 2062">
              <a:extLst>
                <a:ext uri="{FF2B5EF4-FFF2-40B4-BE49-F238E27FC236}">
                  <a16:creationId xmlns:a16="http://schemas.microsoft.com/office/drawing/2014/main" id="{9A07B154-AB9A-B98E-2613-935F6B41CFD9}"/>
                </a:ext>
              </a:extLst>
            </p:cNvPr>
            <p:cNvCxnSpPr>
              <a:cxnSpLocks/>
            </p:cNvCxnSpPr>
            <p:nvPr/>
          </p:nvCxnSpPr>
          <p:spPr>
            <a:xfrm>
              <a:off x="2620388" y="3728914"/>
              <a:ext cx="336643" cy="2094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64" name="Straight Arrow Connector 2063">
              <a:extLst>
                <a:ext uri="{FF2B5EF4-FFF2-40B4-BE49-F238E27FC236}">
                  <a16:creationId xmlns:a16="http://schemas.microsoft.com/office/drawing/2014/main" id="{FB0EDB3B-A808-5124-2EEA-30428314C18E}"/>
                </a:ext>
              </a:extLst>
            </p:cNvPr>
            <p:cNvCxnSpPr>
              <a:cxnSpLocks/>
              <a:endCxn id="57" idx="1"/>
            </p:cNvCxnSpPr>
            <p:nvPr/>
          </p:nvCxnSpPr>
          <p:spPr>
            <a:xfrm>
              <a:off x="2519396" y="3089070"/>
              <a:ext cx="552649" cy="7615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65" name="Straight Arrow Connector 2064">
              <a:extLst>
                <a:ext uri="{FF2B5EF4-FFF2-40B4-BE49-F238E27FC236}">
                  <a16:creationId xmlns:a16="http://schemas.microsoft.com/office/drawing/2014/main" id="{E8C98934-47A1-2BED-821C-59B77583214C}"/>
                </a:ext>
              </a:extLst>
            </p:cNvPr>
            <p:cNvCxnSpPr>
              <a:cxnSpLocks/>
              <a:endCxn id="63" idx="2"/>
            </p:cNvCxnSpPr>
            <p:nvPr/>
          </p:nvCxnSpPr>
          <p:spPr>
            <a:xfrm flipV="1">
              <a:off x="3726899" y="3853394"/>
              <a:ext cx="438806" cy="1163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66" name="Straight Arrow Connector 2065">
              <a:extLst>
                <a:ext uri="{FF2B5EF4-FFF2-40B4-BE49-F238E27FC236}">
                  <a16:creationId xmlns:a16="http://schemas.microsoft.com/office/drawing/2014/main" id="{39764DA9-ED03-295F-1EEE-22559BAA7215}"/>
                </a:ext>
              </a:extLst>
            </p:cNvPr>
            <p:cNvCxnSpPr>
              <a:cxnSpLocks/>
            </p:cNvCxnSpPr>
            <p:nvPr/>
          </p:nvCxnSpPr>
          <p:spPr>
            <a:xfrm>
              <a:off x="3725743" y="3345423"/>
              <a:ext cx="547893" cy="3822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67" name="Straight Arrow Connector 2066">
              <a:extLst>
                <a:ext uri="{FF2B5EF4-FFF2-40B4-BE49-F238E27FC236}">
                  <a16:creationId xmlns:a16="http://schemas.microsoft.com/office/drawing/2014/main" id="{046E9727-FC5C-3BF8-7706-4CBFFE483467}"/>
                </a:ext>
              </a:extLst>
            </p:cNvPr>
            <p:cNvCxnSpPr>
              <a:cxnSpLocks/>
            </p:cNvCxnSpPr>
            <p:nvPr/>
          </p:nvCxnSpPr>
          <p:spPr>
            <a:xfrm flipH="1">
              <a:off x="2647991" y="2781660"/>
              <a:ext cx="1510651" cy="1514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68" name="Straight Arrow Connector 2067">
              <a:extLst>
                <a:ext uri="{FF2B5EF4-FFF2-40B4-BE49-F238E27FC236}">
                  <a16:creationId xmlns:a16="http://schemas.microsoft.com/office/drawing/2014/main" id="{75E0D982-D9C1-4DFE-9DAC-F9A6DC1398ED}"/>
                </a:ext>
              </a:extLst>
            </p:cNvPr>
            <p:cNvCxnSpPr>
              <a:cxnSpLocks/>
              <a:endCxn id="11" idx="3"/>
            </p:cNvCxnSpPr>
            <p:nvPr/>
          </p:nvCxnSpPr>
          <p:spPr>
            <a:xfrm flipV="1">
              <a:off x="3726448" y="2912440"/>
              <a:ext cx="549919" cy="2709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69" name="Straight Arrow Connector 2068">
              <a:extLst>
                <a:ext uri="{FF2B5EF4-FFF2-40B4-BE49-F238E27FC236}">
                  <a16:creationId xmlns:a16="http://schemas.microsoft.com/office/drawing/2014/main" id="{34A91CA8-8FB7-1449-D244-D78C7A948C9B}"/>
                </a:ext>
              </a:extLst>
            </p:cNvPr>
            <p:cNvCxnSpPr>
              <a:cxnSpLocks/>
            </p:cNvCxnSpPr>
            <p:nvPr/>
          </p:nvCxnSpPr>
          <p:spPr>
            <a:xfrm>
              <a:off x="4854021" y="2887597"/>
              <a:ext cx="240730" cy="220228"/>
            </a:xfrm>
            <a:prstGeom prst="straightConnector1">
              <a:avLst/>
            </a:prstGeom>
            <a:ln>
              <a:solidFill>
                <a:srgbClr val="FF524D"/>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2070" name="Straight Arrow Connector 2069">
              <a:extLst>
                <a:ext uri="{FF2B5EF4-FFF2-40B4-BE49-F238E27FC236}">
                  <a16:creationId xmlns:a16="http://schemas.microsoft.com/office/drawing/2014/main" id="{AF5610C1-566D-95D7-6575-0DE28292D8DB}"/>
                </a:ext>
              </a:extLst>
            </p:cNvPr>
            <p:cNvCxnSpPr>
              <a:cxnSpLocks/>
            </p:cNvCxnSpPr>
            <p:nvPr/>
          </p:nvCxnSpPr>
          <p:spPr>
            <a:xfrm flipV="1">
              <a:off x="3753318" y="3264680"/>
              <a:ext cx="1100703" cy="8755"/>
            </a:xfrm>
            <a:prstGeom prst="straightConnector1">
              <a:avLst/>
            </a:prstGeom>
            <a:ln>
              <a:solidFill>
                <a:srgbClr val="FF524D"/>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2071" name="Straight Arrow Connector 2070">
              <a:extLst>
                <a:ext uri="{FF2B5EF4-FFF2-40B4-BE49-F238E27FC236}">
                  <a16:creationId xmlns:a16="http://schemas.microsoft.com/office/drawing/2014/main" id="{88880907-FE9B-9D71-B6AF-3D48195402CD}"/>
                </a:ext>
              </a:extLst>
            </p:cNvPr>
            <p:cNvCxnSpPr>
              <a:cxnSpLocks/>
            </p:cNvCxnSpPr>
            <p:nvPr/>
          </p:nvCxnSpPr>
          <p:spPr>
            <a:xfrm flipV="1">
              <a:off x="4809498" y="3419010"/>
              <a:ext cx="259645" cy="333738"/>
            </a:xfrm>
            <a:prstGeom prst="straightConnector1">
              <a:avLst/>
            </a:prstGeom>
            <a:ln>
              <a:solidFill>
                <a:srgbClr val="FF524D"/>
              </a:solidFill>
              <a:prstDash val="lgDash"/>
              <a:tailEnd type="triangle"/>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652403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5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52" grpId="0"/>
      <p:bldP spid="53" grpId="0"/>
      <p:bldP spid="54" grpId="0" animBg="1"/>
      <p:bldP spid="2055" grpId="0" animBg="1"/>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1" name="Abgerundetes Rechteck 27">
            <a:extLst>
              <a:ext uri="{FF2B5EF4-FFF2-40B4-BE49-F238E27FC236}">
                <a16:creationId xmlns:a16="http://schemas.microsoft.com/office/drawing/2014/main" id="{85051AFF-A1C3-BA64-A62E-76E4075E8443}"/>
              </a:ext>
            </a:extLst>
          </p:cNvPr>
          <p:cNvSpPr/>
          <p:nvPr/>
        </p:nvSpPr>
        <p:spPr bwMode="auto">
          <a:xfrm>
            <a:off x="8243695" y="4988053"/>
            <a:ext cx="3599191" cy="948016"/>
          </a:xfrm>
          <a:prstGeom prst="roundRect">
            <a:avLst/>
          </a:prstGeom>
          <a:solidFill>
            <a:srgbClr val="FFFFD6"/>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1400" b="0" i="0" u="none" strike="noStrike" cap="none" normalizeH="0" baseline="0">
              <a:ln>
                <a:noFill/>
              </a:ln>
              <a:solidFill>
                <a:srgbClr val="333399"/>
              </a:solidFill>
              <a:effectLst/>
              <a:latin typeface="Arial" charset="0"/>
            </a:endParaRPr>
          </a:p>
        </p:txBody>
      </p:sp>
      <p:sp>
        <p:nvSpPr>
          <p:cNvPr id="40" name="Abgerundetes Rechteck 27">
            <a:extLst>
              <a:ext uri="{FF2B5EF4-FFF2-40B4-BE49-F238E27FC236}">
                <a16:creationId xmlns:a16="http://schemas.microsoft.com/office/drawing/2014/main" id="{6FBDEDD3-B4A1-2CCD-EB2A-AA324C0618D9}"/>
              </a:ext>
            </a:extLst>
          </p:cNvPr>
          <p:cNvSpPr/>
          <p:nvPr/>
        </p:nvSpPr>
        <p:spPr bwMode="auto">
          <a:xfrm>
            <a:off x="231701" y="4456991"/>
            <a:ext cx="2972820" cy="948016"/>
          </a:xfrm>
          <a:prstGeom prst="roundRect">
            <a:avLst/>
          </a:prstGeom>
          <a:solidFill>
            <a:srgbClr val="FFFFD6"/>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1400" b="0" i="0" u="none" strike="noStrike" cap="none" normalizeH="0" baseline="0">
              <a:ln>
                <a:noFill/>
              </a:ln>
              <a:solidFill>
                <a:srgbClr val="333399"/>
              </a:solidFill>
              <a:effectLst/>
              <a:latin typeface="Arial" charset="0"/>
            </a:endParaRPr>
          </a:p>
        </p:txBody>
      </p:sp>
      <p:sp>
        <p:nvSpPr>
          <p:cNvPr id="39" name="Abgerundetes Rechteck 27">
            <a:extLst>
              <a:ext uri="{FF2B5EF4-FFF2-40B4-BE49-F238E27FC236}">
                <a16:creationId xmlns:a16="http://schemas.microsoft.com/office/drawing/2014/main" id="{AD24E7FC-846B-45D8-8784-AEEAE6670E62}"/>
              </a:ext>
            </a:extLst>
          </p:cNvPr>
          <p:cNvSpPr/>
          <p:nvPr/>
        </p:nvSpPr>
        <p:spPr bwMode="auto">
          <a:xfrm>
            <a:off x="3619783" y="4270488"/>
            <a:ext cx="3868204" cy="690794"/>
          </a:xfrm>
          <a:prstGeom prst="roundRect">
            <a:avLst/>
          </a:prstGeom>
          <a:solidFill>
            <a:srgbClr val="FFFFD6"/>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1400" b="0" i="0" u="none" strike="noStrike" cap="none" normalizeH="0" baseline="0">
              <a:ln>
                <a:noFill/>
              </a:ln>
              <a:solidFill>
                <a:srgbClr val="333399"/>
              </a:solidFill>
              <a:effectLst/>
              <a:latin typeface="Arial" charset="0"/>
            </a:endParaRPr>
          </a:p>
        </p:txBody>
      </p:sp>
      <p:grpSp>
        <p:nvGrpSpPr>
          <p:cNvPr id="29" name="Group 28">
            <a:extLst>
              <a:ext uri="{FF2B5EF4-FFF2-40B4-BE49-F238E27FC236}">
                <a16:creationId xmlns:a16="http://schemas.microsoft.com/office/drawing/2014/main" id="{E895DA12-243B-0BDD-01FD-1761FA968C8F}"/>
              </a:ext>
            </a:extLst>
          </p:cNvPr>
          <p:cNvGrpSpPr/>
          <p:nvPr/>
        </p:nvGrpSpPr>
        <p:grpSpPr>
          <a:xfrm>
            <a:off x="5247346" y="1711466"/>
            <a:ext cx="3724866" cy="1839639"/>
            <a:chOff x="1684605" y="3759276"/>
            <a:chExt cx="3310382" cy="1553409"/>
          </a:xfrm>
        </p:grpSpPr>
        <p:grpSp>
          <p:nvGrpSpPr>
            <p:cNvPr id="8" name="Gruppieren 42">
              <a:extLst>
                <a:ext uri="{FF2B5EF4-FFF2-40B4-BE49-F238E27FC236}">
                  <a16:creationId xmlns:a16="http://schemas.microsoft.com/office/drawing/2014/main" id="{53D3ED0F-49AC-CF5A-9A27-024B8B15CEC2}"/>
                </a:ext>
              </a:extLst>
            </p:cNvPr>
            <p:cNvGrpSpPr/>
            <p:nvPr/>
          </p:nvGrpSpPr>
          <p:grpSpPr>
            <a:xfrm>
              <a:off x="1684605" y="3759276"/>
              <a:ext cx="3310382" cy="1553409"/>
              <a:chOff x="6520536" y="1932883"/>
              <a:chExt cx="4012093" cy="1950838"/>
            </a:xfrm>
          </p:grpSpPr>
          <p:grpSp>
            <p:nvGrpSpPr>
              <p:cNvPr id="9" name="Group 19">
                <a:extLst>
                  <a:ext uri="{FF2B5EF4-FFF2-40B4-BE49-F238E27FC236}">
                    <a16:creationId xmlns:a16="http://schemas.microsoft.com/office/drawing/2014/main" id="{B4B0EF01-6B09-E9C8-79C6-9AFAE0F49CFC}"/>
                  </a:ext>
                </a:extLst>
              </p:cNvPr>
              <p:cNvGrpSpPr>
                <a:grpSpLocks/>
              </p:cNvGrpSpPr>
              <p:nvPr/>
            </p:nvGrpSpPr>
            <p:grpSpPr bwMode="auto">
              <a:xfrm>
                <a:off x="6520536" y="1932883"/>
                <a:ext cx="4012093" cy="1950838"/>
                <a:chOff x="444" y="1035"/>
                <a:chExt cx="2779" cy="1174"/>
              </a:xfrm>
            </p:grpSpPr>
            <p:pic>
              <p:nvPicPr>
                <p:cNvPr id="11" name="Picture 6" descr="AgentGeneric">
                  <a:extLst>
                    <a:ext uri="{FF2B5EF4-FFF2-40B4-BE49-F238E27FC236}">
                      <a16:creationId xmlns:a16="http://schemas.microsoft.com/office/drawing/2014/main" id="{D63D3AC0-13C5-D875-7BF2-1F51A03FD44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44" y="1035"/>
                  <a:ext cx="2779" cy="1174"/>
                </a:xfrm>
                <a:prstGeom prst="rect">
                  <a:avLst/>
                </a:prstGeom>
                <a:noFill/>
                <a:extLst>
                  <a:ext uri="{909E8E84-426E-40DD-AFC4-6F175D3DCCD1}">
                    <a14:hiddenFill xmlns:a14="http://schemas.microsoft.com/office/drawing/2010/main">
                      <a:solidFill>
                        <a:srgbClr val="FFFFFF"/>
                      </a:solidFill>
                    </a14:hiddenFill>
                  </a:ext>
                </a:extLst>
              </p:spPr>
            </p:pic>
            <p:sp>
              <p:nvSpPr>
                <p:cNvPr id="12" name="Text Box 18">
                  <a:extLst>
                    <a:ext uri="{FF2B5EF4-FFF2-40B4-BE49-F238E27FC236}">
                      <a16:creationId xmlns:a16="http://schemas.microsoft.com/office/drawing/2014/main" id="{057E81BA-6CCB-35C7-00BD-660C5845EA2A}"/>
                    </a:ext>
                  </a:extLst>
                </p:cNvPr>
                <p:cNvSpPr txBox="1">
                  <a:spLocks noChangeArrowheads="1"/>
                </p:cNvSpPr>
                <p:nvPr/>
              </p:nvSpPr>
              <p:spPr bwMode="auto">
                <a:xfrm>
                  <a:off x="911" y="1126"/>
                  <a:ext cx="1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de-AT"/>
                </a:p>
              </p:txBody>
            </p:sp>
          </p:grpSp>
          <p:pic>
            <p:nvPicPr>
              <p:cNvPr id="10" name="Picture 26" descr="ClipNetworkComposition">
                <a:extLst>
                  <a:ext uri="{FF2B5EF4-FFF2-40B4-BE49-F238E27FC236}">
                    <a16:creationId xmlns:a16="http://schemas.microsoft.com/office/drawing/2014/main" id="{ED072FC2-396A-D8D5-2DCE-F09B8A6AAEC0}"/>
                  </a:ext>
                </a:extLst>
              </p:cNvPr>
              <p:cNvPicPr>
                <a:picLocks noChangeArrowheads="1"/>
              </p:cNvPicPr>
              <p:nvPr/>
            </p:nvPicPr>
            <p:blipFill>
              <a:blip r:embed="rId4" cstate="print">
                <a:extLst>
                  <a:ext uri="{28A0092B-C50C-407E-A947-70E740481C1C}">
                    <a14:useLocalDpi xmlns:a14="http://schemas.microsoft.com/office/drawing/2010/main"/>
                  </a:ext>
                </a:extLst>
              </a:blip>
              <a:srcRect/>
              <a:stretch>
                <a:fillRect/>
              </a:stretch>
            </p:blipFill>
            <p:spPr bwMode="auto">
              <a:xfrm>
                <a:off x="7052067" y="2695750"/>
                <a:ext cx="1396193" cy="542524"/>
              </a:xfrm>
              <a:prstGeom prst="rect">
                <a:avLst/>
              </a:prstGeom>
              <a:noFill/>
              <a:ln w="12700">
                <a:solidFill>
                  <a:srgbClr val="000AFF"/>
                </a:solidFill>
              </a:ln>
              <a:extLst>
                <a:ext uri="{909E8E84-426E-40DD-AFC4-6F175D3DCCD1}">
                  <a14:hiddenFill xmlns:a14="http://schemas.microsoft.com/office/drawing/2010/main">
                    <a:solidFill>
                      <a:srgbClr val="FFFFFF"/>
                    </a:solidFill>
                  </a14:hiddenFill>
                </a:ext>
              </a:extLst>
            </p:spPr>
          </p:pic>
        </p:grpSp>
        <p:sp>
          <p:nvSpPr>
            <p:cNvPr id="19" name="Text Box 27">
              <a:extLst>
                <a:ext uri="{FF2B5EF4-FFF2-40B4-BE49-F238E27FC236}">
                  <a16:creationId xmlns:a16="http://schemas.microsoft.com/office/drawing/2014/main" id="{25CB32C6-F181-4F9B-8FAE-1A53AC492038}"/>
                </a:ext>
              </a:extLst>
            </p:cNvPr>
            <p:cNvSpPr txBox="1">
              <a:spLocks noChangeArrowheads="1"/>
            </p:cNvSpPr>
            <p:nvPr/>
          </p:nvSpPr>
          <p:spPr bwMode="auto">
            <a:xfrm>
              <a:off x="2049600" y="4764371"/>
              <a:ext cx="52078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de-DE" sz="1400" dirty="0">
                  <a:solidFill>
                    <a:srgbClr val="0000FF"/>
                  </a:solidFill>
                </a:rPr>
                <a:t>ECM</a:t>
              </a:r>
            </a:p>
          </p:txBody>
        </p:sp>
      </p:grpSp>
      <p:sp>
        <p:nvSpPr>
          <p:cNvPr id="2" name="Fußzeilenplatzhalter 1"/>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IJCAI 2026, Bremen, Germany I Phil LeMaitre I 20.08.2026</a:t>
            </a:r>
            <a:endParaRPr lang="de-DE" dirty="0"/>
          </a:p>
        </p:txBody>
      </p:sp>
      <p:sp>
        <p:nvSpPr>
          <p:cNvPr id="3" name="Titel 1">
            <a:extLst>
              <a:ext uri="{FF2B5EF4-FFF2-40B4-BE49-F238E27FC236}">
                <a16:creationId xmlns:a16="http://schemas.microsoft.com/office/drawing/2014/main" id="{8EA3482B-9788-BCB4-D810-065E821DE54B}"/>
              </a:ext>
            </a:extLst>
          </p:cNvPr>
          <p:cNvSpPr txBox="1">
            <a:spLocks/>
          </p:cNvSpPr>
          <p:nvPr/>
        </p:nvSpPr>
        <p:spPr bwMode="auto">
          <a:xfrm>
            <a:off x="0" y="0"/>
            <a:ext cx="12280900" cy="1014750"/>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Projective</a:t>
            </a:r>
            <a:r>
              <a:rPr lang="de-AT" sz="3200" kern="0" dirty="0">
                <a:solidFill>
                  <a:schemeClr val="bg1"/>
                </a:solidFill>
                <a:latin typeface="Calibri Light" panose="020F0302020204030204" pitchFamily="34" charset="0"/>
                <a:cs typeface="Calibri Light" panose="020F0302020204030204" pitchFamily="34" charset="0"/>
              </a:rPr>
              <a:t> Simulation (PS)</a:t>
            </a:r>
          </a:p>
        </p:txBody>
      </p:sp>
      <p:sp>
        <p:nvSpPr>
          <p:cNvPr id="7" name="Slide Number Placeholder 6">
            <a:extLst>
              <a:ext uri="{FF2B5EF4-FFF2-40B4-BE49-F238E27FC236}">
                <a16:creationId xmlns:a16="http://schemas.microsoft.com/office/drawing/2014/main" id="{1F3F9579-06C2-517C-7BDF-0532851DAE76}"/>
              </a:ext>
            </a:extLst>
          </p:cNvPr>
          <p:cNvSpPr>
            <a:spLocks noGrp="1"/>
          </p:cNvSpPr>
          <p:nvPr>
            <p:ph type="sldNum" sz="quarter" idx="12"/>
          </p:nvPr>
        </p:nvSpPr>
        <p:spPr/>
        <p:txBody>
          <a:bodyPr/>
          <a:lstStyle/>
          <a:p>
            <a:fld id="{D0617D14-1B55-43C0-819D-0D244AC23646}" type="slidenum">
              <a:rPr lang="de-AT" smtClean="0"/>
              <a:t>5</a:t>
            </a:fld>
            <a:endParaRPr lang="de-AT"/>
          </a:p>
        </p:txBody>
      </p:sp>
      <p:pic>
        <p:nvPicPr>
          <p:cNvPr id="4" name="Grafik 48">
            <a:extLst>
              <a:ext uri="{FF2B5EF4-FFF2-40B4-BE49-F238E27FC236}">
                <a16:creationId xmlns:a16="http://schemas.microsoft.com/office/drawing/2014/main" id="{4C301DFB-4672-95B3-CD93-1E5EB44EF0E0}"/>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176523" y="1747553"/>
            <a:ext cx="4787433" cy="1548653"/>
          </a:xfrm>
          <a:prstGeom prst="rect">
            <a:avLst/>
          </a:prstGeom>
        </p:spPr>
      </p:pic>
      <p:cxnSp>
        <p:nvCxnSpPr>
          <p:cNvPr id="13" name="Straight Connector 12">
            <a:extLst>
              <a:ext uri="{FF2B5EF4-FFF2-40B4-BE49-F238E27FC236}">
                <a16:creationId xmlns:a16="http://schemas.microsoft.com/office/drawing/2014/main" id="{1B9F50CC-8DD9-C606-8DB8-B21C577F7A54}"/>
              </a:ext>
            </a:extLst>
          </p:cNvPr>
          <p:cNvCxnSpPr/>
          <p:nvPr/>
        </p:nvCxnSpPr>
        <p:spPr bwMode="auto">
          <a:xfrm>
            <a:off x="4583061" y="1895190"/>
            <a:ext cx="1156079" cy="521349"/>
          </a:xfrm>
          <a:prstGeom prst="line">
            <a:avLst/>
          </a:prstGeom>
          <a:noFill/>
          <a:ln w="9525" cap="flat" cmpd="sng" algn="ctr">
            <a:solidFill>
              <a:schemeClr val="tx1"/>
            </a:solidFill>
            <a:prstDash val="solid"/>
            <a:round/>
            <a:headEnd type="none" w="med" len="med"/>
            <a:tailEnd type="none" w="med" len="med"/>
          </a:ln>
          <a:effectLst/>
        </p:spPr>
      </p:cxnSp>
      <p:cxnSp>
        <p:nvCxnSpPr>
          <p:cNvPr id="14" name="Straight Connector 13">
            <a:extLst>
              <a:ext uri="{FF2B5EF4-FFF2-40B4-BE49-F238E27FC236}">
                <a16:creationId xmlns:a16="http://schemas.microsoft.com/office/drawing/2014/main" id="{8E5E9E32-0CF9-8160-953B-508A8A61BE85}"/>
              </a:ext>
            </a:extLst>
          </p:cNvPr>
          <p:cNvCxnSpPr>
            <a:cxnSpLocks/>
          </p:cNvCxnSpPr>
          <p:nvPr/>
        </p:nvCxnSpPr>
        <p:spPr bwMode="auto">
          <a:xfrm flipV="1">
            <a:off x="4583062" y="2936669"/>
            <a:ext cx="1156079" cy="521349"/>
          </a:xfrm>
          <a:prstGeom prst="line">
            <a:avLst/>
          </a:prstGeom>
          <a:noFill/>
          <a:ln w="9525" cap="flat" cmpd="sng" algn="ctr">
            <a:solidFill>
              <a:schemeClr val="tx1"/>
            </a:solidFill>
            <a:prstDash val="solid"/>
            <a:round/>
            <a:headEnd type="none" w="med" len="med"/>
            <a:tailEnd type="none" w="med" len="med"/>
          </a:ln>
          <a:effectLst/>
        </p:spPr>
      </p:cxnSp>
      <p:sp>
        <p:nvSpPr>
          <p:cNvPr id="15" name="Textfeld 21">
            <a:extLst>
              <a:ext uri="{FF2B5EF4-FFF2-40B4-BE49-F238E27FC236}">
                <a16:creationId xmlns:a16="http://schemas.microsoft.com/office/drawing/2014/main" id="{65F9CEAB-C457-1205-2BE0-5D5659E3963C}"/>
              </a:ext>
            </a:extLst>
          </p:cNvPr>
          <p:cNvSpPr txBox="1"/>
          <p:nvPr/>
        </p:nvSpPr>
        <p:spPr>
          <a:xfrm>
            <a:off x="5950330" y="1197613"/>
            <a:ext cx="1069931" cy="400110"/>
          </a:xfrm>
          <a:prstGeom prst="rect">
            <a:avLst/>
          </a:prstGeom>
          <a:noFill/>
        </p:spPr>
        <p:txBody>
          <a:bodyPr wrap="square">
            <a:spAutoFit/>
          </a:bodyPr>
          <a:lstStyle/>
          <a:p>
            <a:r>
              <a:rPr lang="en-CA" sz="2000" dirty="0">
                <a:solidFill>
                  <a:schemeClr val="tx1"/>
                </a:solidFill>
                <a:latin typeface="Calibri Light" panose="020F0302020204030204" pitchFamily="34" charset="0"/>
                <a:cs typeface="Calibri Light" panose="020F0302020204030204" pitchFamily="34" charset="0"/>
                <a:sym typeface="Wingdings" pitchFamily="2" charset="2"/>
              </a:rPr>
              <a:t>PS agent</a:t>
            </a:r>
            <a:endParaRPr lang="en-CA" sz="2000" dirty="0">
              <a:solidFill>
                <a:schemeClr val="tx1"/>
              </a:solidFill>
            </a:endParaRPr>
          </a:p>
        </p:txBody>
      </p:sp>
      <p:sp>
        <p:nvSpPr>
          <p:cNvPr id="16" name="Textfeld 25">
            <a:extLst>
              <a:ext uri="{FF2B5EF4-FFF2-40B4-BE49-F238E27FC236}">
                <a16:creationId xmlns:a16="http://schemas.microsoft.com/office/drawing/2014/main" id="{9585A369-B8D9-AF10-42BB-6CAEFC64DC10}"/>
              </a:ext>
            </a:extLst>
          </p:cNvPr>
          <p:cNvSpPr txBox="1"/>
          <p:nvPr/>
        </p:nvSpPr>
        <p:spPr>
          <a:xfrm>
            <a:off x="209634" y="1194934"/>
            <a:ext cx="4794185" cy="400110"/>
          </a:xfrm>
          <a:prstGeom prst="rect">
            <a:avLst/>
          </a:prstGeom>
          <a:noFill/>
        </p:spPr>
        <p:txBody>
          <a:bodyPr wrap="square">
            <a:spAutoFit/>
          </a:bodyPr>
          <a:lstStyle/>
          <a:p>
            <a:r>
              <a:rPr lang="en-CA" sz="2000" dirty="0">
                <a:latin typeface="Calibri Light" panose="020F0302020204030204" pitchFamily="34" charset="0"/>
                <a:cs typeface="Calibri Light" panose="020F0302020204030204" pitchFamily="34" charset="0"/>
                <a:sym typeface="Wingdings" pitchFamily="2" charset="2"/>
              </a:rPr>
              <a:t>E</a:t>
            </a:r>
            <a:r>
              <a:rPr lang="en-CA" sz="2000" dirty="0">
                <a:solidFill>
                  <a:schemeClr val="tx1"/>
                </a:solidFill>
                <a:latin typeface="Calibri Light" panose="020F0302020204030204" pitchFamily="34" charset="0"/>
                <a:cs typeface="Calibri Light" panose="020F0302020204030204" pitchFamily="34" charset="0"/>
                <a:sym typeface="Wingdings" pitchFamily="2" charset="2"/>
              </a:rPr>
              <a:t>pisodic and compositional memory (ECM)</a:t>
            </a:r>
            <a:endParaRPr lang="en-CA" sz="2000" dirty="0">
              <a:solidFill>
                <a:schemeClr val="tx1"/>
              </a:solidFill>
            </a:endParaRPr>
          </a:p>
        </p:txBody>
      </p:sp>
      <p:grpSp>
        <p:nvGrpSpPr>
          <p:cNvPr id="28" name="Group 27">
            <a:extLst>
              <a:ext uri="{FF2B5EF4-FFF2-40B4-BE49-F238E27FC236}">
                <a16:creationId xmlns:a16="http://schemas.microsoft.com/office/drawing/2014/main" id="{F90A469F-E96F-FD3F-6CD7-C4B5AF203E2E}"/>
              </a:ext>
            </a:extLst>
          </p:cNvPr>
          <p:cNvGrpSpPr/>
          <p:nvPr/>
        </p:nvGrpSpPr>
        <p:grpSpPr>
          <a:xfrm>
            <a:off x="9279451" y="1745852"/>
            <a:ext cx="2652680" cy="2071175"/>
            <a:chOff x="647818" y="4452299"/>
            <a:chExt cx="7918411" cy="1553409"/>
          </a:xfrm>
        </p:grpSpPr>
        <p:sp>
          <p:nvSpPr>
            <p:cNvPr id="17" name="Abgerundetes Rechteck 27">
              <a:extLst>
                <a:ext uri="{FF2B5EF4-FFF2-40B4-BE49-F238E27FC236}">
                  <a16:creationId xmlns:a16="http://schemas.microsoft.com/office/drawing/2014/main" id="{25C7F70A-76C6-49BF-7C25-FC4427F6EC5F}"/>
                </a:ext>
              </a:extLst>
            </p:cNvPr>
            <p:cNvSpPr/>
            <p:nvPr/>
          </p:nvSpPr>
          <p:spPr bwMode="auto">
            <a:xfrm>
              <a:off x="647818" y="4452299"/>
              <a:ext cx="7918411" cy="1553409"/>
            </a:xfrm>
            <a:prstGeom prst="roundRect">
              <a:avLst/>
            </a:prstGeom>
            <a:solidFill>
              <a:srgbClr val="FFFFD6"/>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1400" b="0" i="0" u="none" strike="noStrike" cap="none" normalizeH="0" baseline="0">
                <a:ln>
                  <a:noFill/>
                </a:ln>
                <a:solidFill>
                  <a:srgbClr val="333399"/>
                </a:solidFill>
                <a:effectLst/>
                <a:latin typeface="Arial" charset="0"/>
              </a:endParaRPr>
            </a:p>
          </p:txBody>
        </p:sp>
        <p:sp>
          <p:nvSpPr>
            <p:cNvPr id="18" name="Textfeld 17">
              <a:extLst>
                <a:ext uri="{FF2B5EF4-FFF2-40B4-BE49-F238E27FC236}">
                  <a16:creationId xmlns:a16="http://schemas.microsoft.com/office/drawing/2014/main" id="{045D19D9-C644-B649-199D-70501AC3BD5A}"/>
                </a:ext>
              </a:extLst>
            </p:cNvPr>
            <p:cNvSpPr txBox="1"/>
            <p:nvPr/>
          </p:nvSpPr>
          <p:spPr>
            <a:xfrm>
              <a:off x="796495" y="4522679"/>
              <a:ext cx="7704421" cy="1199291"/>
            </a:xfrm>
            <a:prstGeom prst="rect">
              <a:avLst/>
            </a:prstGeom>
            <a:noFill/>
          </p:spPr>
          <p:txBody>
            <a:bodyPr wrap="square">
              <a:spAutoFit/>
            </a:bodyPr>
            <a:lstStyle/>
            <a:p>
              <a:pPr marL="285750" indent="-285750">
                <a:lnSpc>
                  <a:spcPts val="2160"/>
                </a:lnSpc>
                <a:spcAft>
                  <a:spcPts val="300"/>
                </a:spcAft>
                <a:buFont typeface="Arial" panose="020B0604020202020204" pitchFamily="34" charset="0"/>
                <a:buChar char="•"/>
              </a:pPr>
              <a:r>
                <a:rPr lang="en-CA" dirty="0">
                  <a:solidFill>
                    <a:schemeClr val="tx1"/>
                  </a:solidFill>
                  <a:latin typeface="Calibri Light" panose="020F0302020204030204" pitchFamily="34" charset="0"/>
                  <a:cs typeface="Calibri Light" panose="020F0302020204030204" pitchFamily="34" charset="0"/>
                  <a:sym typeface="Wingdings" pitchFamily="2" charset="2"/>
                </a:rPr>
                <a:t>PS agents use </a:t>
              </a:r>
              <a:r>
                <a:rPr lang="en-CA" dirty="0">
                  <a:solidFill>
                    <a:srgbClr val="0070C0"/>
                  </a:solidFill>
                  <a:latin typeface="Calibri Light" panose="020F0302020204030204" pitchFamily="34" charset="0"/>
                  <a:cs typeface="Calibri Light" panose="020F0302020204030204" pitchFamily="34" charset="0"/>
                  <a:sym typeface="Wingdings" pitchFamily="2" charset="2"/>
                </a:rPr>
                <a:t>episodic memory </a:t>
              </a:r>
              <a:r>
                <a:rPr lang="en-CA" dirty="0">
                  <a:solidFill>
                    <a:schemeClr val="tx1"/>
                  </a:solidFill>
                  <a:latin typeface="Calibri Light" panose="020F0302020204030204" pitchFamily="34" charset="0"/>
                  <a:cs typeface="Calibri Light" panose="020F0302020204030204" pitchFamily="34" charset="0"/>
                  <a:sym typeface="Wingdings" pitchFamily="2" charset="2"/>
                </a:rPr>
                <a:t>for deliberation (random walk) and learning</a:t>
              </a:r>
            </a:p>
            <a:p>
              <a:pPr marL="285750" indent="-285750">
                <a:lnSpc>
                  <a:spcPts val="2160"/>
                </a:lnSpc>
                <a:spcAft>
                  <a:spcPts val="600"/>
                </a:spcAft>
                <a:buFont typeface="Arial" panose="020B0604020202020204" pitchFamily="34" charset="0"/>
                <a:buChar char="•"/>
              </a:pPr>
              <a:r>
                <a:rPr lang="en-CA" dirty="0">
                  <a:solidFill>
                    <a:schemeClr val="tx1"/>
                  </a:solidFill>
                  <a:latin typeface="Calibri Light" panose="020F0302020204030204" pitchFamily="34" charset="0"/>
                  <a:cs typeface="Calibri Light" panose="020F0302020204030204" pitchFamily="34" charset="0"/>
                  <a:sym typeface="Wingdings" pitchFamily="2" charset="2"/>
                </a:rPr>
                <a:t>PS is </a:t>
              </a:r>
              <a:r>
                <a:rPr lang="en-CA" dirty="0">
                  <a:solidFill>
                    <a:srgbClr val="0070C0"/>
                  </a:solidFill>
                  <a:latin typeface="Calibri Light" panose="020F0302020204030204" pitchFamily="34" charset="0"/>
                  <a:cs typeface="Calibri Light" panose="020F0302020204030204" pitchFamily="34" charset="0"/>
                  <a:sym typeface="Wingdings" pitchFamily="2" charset="2"/>
                </a:rPr>
                <a:t>interpretable</a:t>
              </a:r>
            </a:p>
            <a:p>
              <a:pPr marL="285750" indent="-285750">
                <a:lnSpc>
                  <a:spcPts val="2160"/>
                </a:lnSpc>
                <a:spcAft>
                  <a:spcPts val="600"/>
                </a:spcAft>
                <a:buFont typeface="Arial" panose="020B0604020202020204" pitchFamily="34" charset="0"/>
                <a:buChar char="•"/>
              </a:pPr>
              <a:r>
                <a:rPr lang="en-CA" dirty="0">
                  <a:solidFill>
                    <a:schemeClr val="tx1"/>
                  </a:solidFill>
                  <a:latin typeface="Calibri Light" panose="020F0302020204030204" pitchFamily="34" charset="0"/>
                  <a:cs typeface="Calibri Light" panose="020F0302020204030204" pitchFamily="34" charset="0"/>
                  <a:sym typeface="Wingdings" pitchFamily="2" charset="2"/>
                </a:rPr>
                <a:t>PS can be </a:t>
              </a:r>
              <a:r>
                <a:rPr lang="en-CA" dirty="0">
                  <a:solidFill>
                    <a:srgbClr val="0070C0"/>
                  </a:solidFill>
                  <a:latin typeface="Calibri Light" panose="020F0302020204030204" pitchFamily="34" charset="0"/>
                  <a:cs typeface="Calibri Light" panose="020F0302020204030204" pitchFamily="34" charset="0"/>
                  <a:sym typeface="Wingdings" pitchFamily="2" charset="2"/>
                </a:rPr>
                <a:t>quantized</a:t>
              </a:r>
            </a:p>
          </p:txBody>
        </p:sp>
      </p:grpSp>
      <mc:AlternateContent xmlns:mc="http://schemas.openxmlformats.org/markup-compatibility/2006" xmlns:a14="http://schemas.microsoft.com/office/drawing/2010/main">
        <mc:Choice Requires="a14">
          <p:sp>
            <p:nvSpPr>
              <p:cNvPr id="22" name="Rechteck 4">
                <a:extLst>
                  <a:ext uri="{FF2B5EF4-FFF2-40B4-BE49-F238E27FC236}">
                    <a16:creationId xmlns:a16="http://schemas.microsoft.com/office/drawing/2014/main" id="{187A9020-3BC0-70A3-70D2-C69A37CAE5D2}"/>
                  </a:ext>
                </a:extLst>
              </p:cNvPr>
              <p:cNvSpPr/>
              <p:nvPr/>
            </p:nvSpPr>
            <p:spPr>
              <a:xfrm>
                <a:off x="7956983" y="4040037"/>
                <a:ext cx="4120862" cy="948016"/>
              </a:xfrm>
              <a:prstGeom prst="rect">
                <a:avLst/>
              </a:prstGeom>
            </p:spPr>
            <p:txBody>
              <a:bodyPr wrap="square">
                <a:spAutoFit/>
              </a:bodyPr>
              <a:lstStyle/>
              <a:p>
                <a14:m>
                  <m:oMath xmlns:m="http://schemas.openxmlformats.org/officeDocument/2006/math">
                    <m:sSub>
                      <m:sSubPr>
                        <m:ctrlPr>
                          <a:rPr lang="en-US" b="0" i="1" dirty="0" smtClean="0">
                            <a:solidFill>
                              <a:srgbClr val="0000FF"/>
                            </a:solidFill>
                            <a:latin typeface="Cambria Math" panose="02040503050406030204" pitchFamily="18" charset="0"/>
                            <a:cs typeface="Times New Roman" panose="02020603050405020304" pitchFamily="18" charset="0"/>
                          </a:rPr>
                        </m:ctrlPr>
                      </m:sSubPr>
                      <m:e>
                        <m:r>
                          <a:rPr lang="en-US" i="1" dirty="0" smtClean="0">
                            <a:solidFill>
                              <a:srgbClr val="0000FF"/>
                            </a:solidFill>
                            <a:latin typeface="Cambria Math" panose="02040503050406030204" pitchFamily="18" charset="0"/>
                            <a:cs typeface="Times New Roman" panose="02020603050405020304" pitchFamily="18" charset="0"/>
                          </a:rPr>
                          <m:t>𝑔</m:t>
                        </m:r>
                      </m:e>
                      <m:sub>
                        <m:r>
                          <a:rPr lang="en-US" b="0" i="1" dirty="0" smtClean="0">
                            <a:solidFill>
                              <a:srgbClr val="0000FF"/>
                            </a:solidFill>
                            <a:latin typeface="Cambria Math" panose="02040503050406030204" pitchFamily="18" charset="0"/>
                            <a:cs typeface="Times New Roman" panose="02020603050405020304" pitchFamily="18" charset="0"/>
                          </a:rPr>
                          <m:t>𝜂</m:t>
                        </m:r>
                      </m:sub>
                    </m:sSub>
                    <m:r>
                      <a:rPr lang="en-US" i="1" dirty="0">
                        <a:solidFill>
                          <a:srgbClr val="0000FF"/>
                        </a:solidFill>
                        <a:latin typeface="Cambria Math" panose="02040503050406030204" pitchFamily="18" charset="0"/>
                        <a:cs typeface="Arial" panose="020B0604020202020204" pitchFamily="34" charset="0"/>
                      </a:rPr>
                      <m:t> </m:t>
                    </m:r>
                  </m:oMath>
                </a14:m>
                <a:r>
                  <a:rPr lang="en-US" dirty="0">
                    <a:solidFill>
                      <a:srgbClr val="000000"/>
                    </a:solidFill>
                    <a:cs typeface="Arial" panose="020B0604020202020204" pitchFamily="34" charset="0"/>
                  </a:rPr>
                  <a:t>is </a:t>
                </a:r>
                <a:r>
                  <a:rPr lang="en-US" i="1" dirty="0">
                    <a:solidFill>
                      <a:srgbClr val="0000FF"/>
                    </a:solidFill>
                    <a:cs typeface="Arial" panose="020B0604020202020204" pitchFamily="34" charset="0"/>
                  </a:rPr>
                  <a:t>glow factor </a:t>
                </a:r>
                <a:r>
                  <a:rPr lang="en-US" dirty="0">
                    <a:solidFill>
                      <a:srgbClr val="000000"/>
                    </a:solidFill>
                    <a:cs typeface="Arial" panose="020B0604020202020204" pitchFamily="34" charset="0"/>
                  </a:rPr>
                  <a:t>of a transition; relevant when </a:t>
                </a:r>
                <a:r>
                  <a:rPr lang="en-US" dirty="0">
                    <a:solidFill>
                      <a:schemeClr val="tx1"/>
                    </a:solidFill>
                    <a:cs typeface="Arial" panose="020B0604020202020204" pitchFamily="34" charset="0"/>
                  </a:rPr>
                  <a:t>reward is due to </a:t>
                </a:r>
                <a:r>
                  <a:rPr lang="en-US" i="1" dirty="0">
                    <a:solidFill>
                      <a:srgbClr val="0000FF"/>
                    </a:solidFill>
                    <a:cs typeface="Arial" panose="020B0604020202020204" pitchFamily="34" charset="0"/>
                  </a:rPr>
                  <a:t>series of actions </a:t>
                </a:r>
                <a:r>
                  <a:rPr lang="en-US" dirty="0">
                    <a:solidFill>
                      <a:srgbClr val="000000"/>
                    </a:solidFill>
                    <a:cs typeface="Arial" panose="020B0604020202020204" pitchFamily="34" charset="0"/>
                  </a:rPr>
                  <a:t>by agent. </a:t>
                </a:r>
              </a:p>
            </p:txBody>
          </p:sp>
        </mc:Choice>
        <mc:Fallback xmlns="">
          <p:sp>
            <p:nvSpPr>
              <p:cNvPr id="22" name="Rechteck 4">
                <a:extLst>
                  <a:ext uri="{FF2B5EF4-FFF2-40B4-BE49-F238E27FC236}">
                    <a16:creationId xmlns:a16="http://schemas.microsoft.com/office/drawing/2014/main" id="{187A9020-3BC0-70A3-70D2-C69A37CAE5D2}"/>
                  </a:ext>
                </a:extLst>
              </p:cNvPr>
              <p:cNvSpPr>
                <a:spLocks noRot="1" noChangeAspect="1" noMove="1" noResize="1" noEditPoints="1" noAdjustHandles="1" noChangeArrowheads="1" noChangeShapeType="1" noTextEdit="1"/>
              </p:cNvSpPr>
              <p:nvPr/>
            </p:nvSpPr>
            <p:spPr>
              <a:xfrm>
                <a:off x="7956983" y="4040037"/>
                <a:ext cx="4120862" cy="948016"/>
              </a:xfrm>
              <a:prstGeom prst="rect">
                <a:avLst/>
              </a:prstGeom>
              <a:blipFill>
                <a:blip r:embed="rId6"/>
                <a:stretch>
                  <a:fillRect l="-1231" t="-4000" r="-1538" b="-9333"/>
                </a:stretch>
              </a:blipFill>
            </p:spPr>
            <p:txBody>
              <a:bodyPr/>
              <a:lstStyle/>
              <a:p>
                <a:r>
                  <a:rPr lang="en-CA">
                    <a:noFill/>
                  </a:rPr>
                  <a:t> </a:t>
                </a:r>
              </a:p>
            </p:txBody>
          </p:sp>
        </mc:Fallback>
      </mc:AlternateContent>
      <p:sp>
        <p:nvSpPr>
          <p:cNvPr id="25" name="Rechteck 3">
            <a:extLst>
              <a:ext uri="{FF2B5EF4-FFF2-40B4-BE49-F238E27FC236}">
                <a16:creationId xmlns:a16="http://schemas.microsoft.com/office/drawing/2014/main" id="{A5E26135-BFF4-C77B-1E29-01E6B826B33A}"/>
              </a:ext>
            </a:extLst>
          </p:cNvPr>
          <p:cNvSpPr/>
          <p:nvPr/>
        </p:nvSpPr>
        <p:spPr>
          <a:xfrm>
            <a:off x="681325" y="3731654"/>
            <a:ext cx="2037164" cy="400110"/>
          </a:xfrm>
          <a:prstGeom prst="rect">
            <a:avLst/>
          </a:prstGeom>
        </p:spPr>
        <p:txBody>
          <a:bodyPr wrap="square">
            <a:spAutoFit/>
          </a:bodyPr>
          <a:lstStyle/>
          <a:p>
            <a:r>
              <a:rPr lang="en-US" sz="2000" dirty="0">
                <a:solidFill>
                  <a:schemeClr val="accent2"/>
                </a:solidFill>
                <a:cs typeface="Arial" panose="020B0604020202020204" pitchFamily="34" charset="0"/>
              </a:rPr>
              <a:t>Probability rule </a:t>
            </a:r>
          </a:p>
        </p:txBody>
      </p:sp>
      <p:sp>
        <p:nvSpPr>
          <p:cNvPr id="27" name="Rechteck 6">
            <a:extLst>
              <a:ext uri="{FF2B5EF4-FFF2-40B4-BE49-F238E27FC236}">
                <a16:creationId xmlns:a16="http://schemas.microsoft.com/office/drawing/2014/main" id="{CC5902CC-3BA9-381A-B8E1-C7A57AA71001}"/>
              </a:ext>
            </a:extLst>
          </p:cNvPr>
          <p:cNvSpPr/>
          <p:nvPr/>
        </p:nvSpPr>
        <p:spPr>
          <a:xfrm>
            <a:off x="4583061" y="3732924"/>
            <a:ext cx="1552028" cy="400110"/>
          </a:xfrm>
          <a:prstGeom prst="rect">
            <a:avLst/>
          </a:prstGeom>
        </p:spPr>
        <p:txBody>
          <a:bodyPr wrap="none">
            <a:spAutoFit/>
          </a:bodyPr>
          <a:lstStyle/>
          <a:p>
            <a:r>
              <a:rPr lang="en-US" sz="2000" dirty="0">
                <a:solidFill>
                  <a:schemeClr val="accent2"/>
                </a:solidFill>
                <a:cs typeface="Arial" panose="020B0604020202020204" pitchFamily="34" charset="0"/>
              </a:rPr>
              <a:t>Learning rule</a:t>
            </a: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4484837A-00C2-113F-1C76-53A03F6D7C3D}"/>
                  </a:ext>
                </a:extLst>
              </p:cNvPr>
              <p:cNvSpPr txBox="1"/>
              <p:nvPr/>
            </p:nvSpPr>
            <p:spPr>
              <a:xfrm>
                <a:off x="3587560" y="5036861"/>
                <a:ext cx="3900428"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b="0" i="0" u="none" strike="noStrike" kern="1200" cap="none" spc="0" normalizeH="0" baseline="0" noProof="0" dirty="0">
                    <a:ln>
                      <a:noFill/>
                    </a:ln>
                    <a:solidFill>
                      <a:srgbClr val="0000FF"/>
                    </a:solidFill>
                    <a:effectLst/>
                    <a:uLnTx/>
                    <a:uFillTx/>
                    <a:latin typeface="Symbol" panose="05050102010706020507" pitchFamily="18" charset="2"/>
                    <a:cs typeface="Arial" panose="020B0604020202020204" pitchFamily="34" charset="0"/>
                  </a:rPr>
                  <a:t>g</a:t>
                </a:r>
                <a:r>
                  <a:rPr kumimoji="0" lang="en-US" b="0" i="0" u="none" strike="noStrike" kern="1200" cap="none" spc="0" normalizeH="0" baseline="0" noProof="0" dirty="0">
                    <a:ln>
                      <a:noFill/>
                    </a:ln>
                    <a:solidFill>
                      <a:srgbClr val="000000"/>
                    </a:solidFill>
                    <a:effectLst/>
                    <a:uLnTx/>
                    <a:uFillTx/>
                    <a:latin typeface="Calibri" panose="020F0502020204030204"/>
                    <a:cs typeface="Arial" panose="020B0604020202020204" pitchFamily="34" charset="0"/>
                  </a:rPr>
                  <a:t> is </a:t>
                </a:r>
                <a:r>
                  <a:rPr lang="en-US" i="1" dirty="0">
                    <a:solidFill>
                      <a:srgbClr val="0000FF"/>
                    </a:solidFill>
                    <a:latin typeface="Calibri" panose="020F0502020204030204"/>
                    <a:cs typeface="Arial" panose="020B0604020202020204" pitchFamily="34" charset="0"/>
                  </a:rPr>
                  <a:t>forgetting</a:t>
                </a:r>
                <a:r>
                  <a:rPr kumimoji="0" lang="en-US" b="0" i="1" u="none" strike="noStrike" kern="1200" cap="none" spc="0" normalizeH="0" baseline="0" noProof="0" dirty="0">
                    <a:ln>
                      <a:noFill/>
                    </a:ln>
                    <a:solidFill>
                      <a:srgbClr val="0000FF"/>
                    </a:solidFill>
                    <a:effectLst/>
                    <a:uLnTx/>
                    <a:uFillTx/>
                    <a:latin typeface="Calibri" panose="020F0502020204030204"/>
                    <a:cs typeface="Arial" panose="020B0604020202020204" pitchFamily="34" charset="0"/>
                  </a:rPr>
                  <a:t> parameter </a:t>
                </a:r>
                <a:r>
                  <a:rPr kumimoji="0" lang="en-US" b="0" i="0" u="none" strike="noStrike" kern="1200" cap="none" spc="0" normalizeH="0" baseline="0" noProof="0" dirty="0">
                    <a:ln>
                      <a:noFill/>
                    </a:ln>
                    <a:solidFill>
                      <a:srgbClr val="000000"/>
                    </a:solidFill>
                    <a:effectLst/>
                    <a:uLnTx/>
                    <a:uFillTx/>
                    <a:latin typeface="Calibri" panose="020F0502020204030204"/>
                    <a:cs typeface="Arial" panose="020B0604020202020204" pitchFamily="34" charset="0"/>
                  </a:rPr>
                  <a:t>allowing agent to </a:t>
                </a:r>
                <a:r>
                  <a:rPr kumimoji="0" lang="en-US" b="0" i="1" u="none" strike="noStrike" kern="1200" cap="none" spc="0" normalizeH="0" baseline="0" noProof="0" dirty="0">
                    <a:ln>
                      <a:noFill/>
                    </a:ln>
                    <a:solidFill>
                      <a:srgbClr val="0000FF"/>
                    </a:solidFill>
                    <a:effectLst/>
                    <a:uLnTx/>
                    <a:uFillTx/>
                    <a:latin typeface="Calibri" panose="020F0502020204030204"/>
                    <a:cs typeface="Arial" panose="020B0604020202020204" pitchFamily="34" charset="0"/>
                  </a:rPr>
                  <a:t>forget </a:t>
                </a:r>
                <a:r>
                  <a:rPr kumimoji="0" lang="en-US" b="0" i="0" u="none" strike="noStrike" kern="1200" cap="none" spc="0" normalizeH="0" baseline="0" noProof="0" dirty="0">
                    <a:ln>
                      <a:noFill/>
                    </a:ln>
                    <a:solidFill>
                      <a:srgbClr val="000000"/>
                    </a:solidFill>
                    <a:effectLst/>
                    <a:uLnTx/>
                    <a:uFillTx/>
                    <a:latin typeface="Calibri" panose="020F0502020204030204"/>
                    <a:cs typeface="Arial" panose="020B0604020202020204" pitchFamily="34" charset="0"/>
                  </a:rPr>
                  <a:t>past experiences; useful when environment changes. </a:t>
                </a:r>
                <a14:m>
                  <m:oMath xmlns:m="http://schemas.openxmlformats.org/officeDocument/2006/math">
                    <m:r>
                      <a:rPr kumimoji="0" lang="en-US" b="0" i="1" u="none" strike="noStrike" kern="1200" cap="none" spc="0" normalizeH="0" baseline="0" noProof="0" smtClean="0">
                        <a:ln>
                          <a:noFill/>
                        </a:ln>
                        <a:solidFill>
                          <a:srgbClr val="000AFF"/>
                        </a:solidFill>
                        <a:effectLst/>
                        <a:uLnTx/>
                        <a:uFillTx/>
                        <a:latin typeface="Cambria Math" panose="02040503050406030204" pitchFamily="18" charset="0"/>
                        <a:cs typeface="Arial" panose="020B0604020202020204" pitchFamily="34" charset="0"/>
                      </a:rPr>
                      <m:t>𝑅</m:t>
                    </m:r>
                  </m:oMath>
                </a14:m>
                <a:r>
                  <a:rPr kumimoji="0" lang="en-US" b="0" i="0" u="none" strike="noStrike" kern="1200" cap="none" spc="0" normalizeH="0" baseline="0" noProof="0" dirty="0">
                    <a:ln>
                      <a:noFill/>
                    </a:ln>
                    <a:solidFill>
                      <a:srgbClr val="0000FF"/>
                    </a:solidFill>
                    <a:effectLst/>
                    <a:uLnTx/>
                    <a:uFillTx/>
                    <a:latin typeface="Symbol" panose="05050102010706020507" pitchFamily="18" charset="2"/>
                    <a:cs typeface="Arial" panose="020B0604020202020204" pitchFamily="34" charset="0"/>
                  </a:rPr>
                  <a:t> </a:t>
                </a:r>
                <a:r>
                  <a:rPr kumimoji="0" lang="en-US" b="0" i="0" u="none" strike="noStrike" kern="1200" cap="none" spc="0" normalizeH="0" baseline="0" noProof="0" dirty="0">
                    <a:ln>
                      <a:noFill/>
                    </a:ln>
                    <a:solidFill>
                      <a:srgbClr val="000000"/>
                    </a:solidFill>
                    <a:effectLst/>
                    <a:uLnTx/>
                    <a:uFillTx/>
                    <a:latin typeface="Calibri" panose="020F0502020204030204"/>
                    <a:cs typeface="Arial" panose="020B0604020202020204" pitchFamily="34" charset="0"/>
                  </a:rPr>
                  <a:t>is the </a:t>
                </a:r>
                <a:r>
                  <a:rPr kumimoji="0" lang="en-US" b="0" i="1" u="none" strike="noStrike" kern="1200" cap="none" spc="0" normalizeH="0" baseline="0" noProof="0" dirty="0">
                    <a:ln>
                      <a:noFill/>
                    </a:ln>
                    <a:solidFill>
                      <a:srgbClr val="0000FF"/>
                    </a:solidFill>
                    <a:effectLst/>
                    <a:uLnTx/>
                    <a:uFillTx/>
                    <a:latin typeface="Calibri" panose="020F0502020204030204"/>
                    <a:cs typeface="Arial" panose="020B0604020202020204" pitchFamily="34" charset="0"/>
                  </a:rPr>
                  <a:t>reward</a:t>
                </a:r>
                <a:r>
                  <a:rPr kumimoji="0" lang="en-US" b="0" i="0" u="none" strike="noStrike" kern="1200" cap="none" spc="0" normalizeH="0" baseline="0" noProof="0" dirty="0">
                    <a:ln>
                      <a:noFill/>
                    </a:ln>
                    <a:solidFill>
                      <a:srgbClr val="000000"/>
                    </a:solidFill>
                    <a:effectLst/>
                    <a:uLnTx/>
                    <a:uFillTx/>
                    <a:latin typeface="Calibri" panose="020F0502020204030204"/>
                    <a:cs typeface="Arial" panose="020B0604020202020204" pitchFamily="34" charset="0"/>
                  </a:rPr>
                  <a:t>.</a:t>
                </a:r>
              </a:p>
            </p:txBody>
          </p:sp>
        </mc:Choice>
        <mc:Fallback xmlns="">
          <p:sp>
            <p:nvSpPr>
              <p:cNvPr id="31" name="TextBox 30">
                <a:extLst>
                  <a:ext uri="{FF2B5EF4-FFF2-40B4-BE49-F238E27FC236}">
                    <a16:creationId xmlns:a16="http://schemas.microsoft.com/office/drawing/2014/main" id="{4484837A-00C2-113F-1C76-53A03F6D7C3D}"/>
                  </a:ext>
                </a:extLst>
              </p:cNvPr>
              <p:cNvSpPr txBox="1">
                <a:spLocks noRot="1" noChangeAspect="1" noMove="1" noResize="1" noEditPoints="1" noAdjustHandles="1" noChangeArrowheads="1" noChangeShapeType="1" noTextEdit="1"/>
              </p:cNvSpPr>
              <p:nvPr/>
            </p:nvSpPr>
            <p:spPr>
              <a:xfrm>
                <a:off x="3587560" y="5036861"/>
                <a:ext cx="3900428" cy="923330"/>
              </a:xfrm>
              <a:prstGeom prst="rect">
                <a:avLst/>
              </a:prstGeom>
              <a:blipFill>
                <a:blip r:embed="rId7"/>
                <a:stretch>
                  <a:fillRect l="-1299" t="-4054" r="-2597" b="-9459"/>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14634839-3877-2F8C-3806-414E63E5ABB8}"/>
                  </a:ext>
                </a:extLst>
              </p:cNvPr>
              <p:cNvSpPr txBox="1"/>
              <p:nvPr/>
            </p:nvSpPr>
            <p:spPr>
              <a:xfrm>
                <a:off x="349114" y="4605125"/>
                <a:ext cx="2737994" cy="65665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𝑝</m:t>
                          </m:r>
                        </m:e>
                        <m:sup>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sup>
                      </m:sSup>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𝑗</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𝑖</m:t>
                              </m:r>
                            </m:sub>
                          </m:sSub>
                        </m:e>
                      </m:d>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h</m:t>
                              </m:r>
                            </m:e>
                            <m:sup>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𝑖</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𝑗</m:t>
                              </m:r>
                            </m:sub>
                          </m:sSub>
                          <m:r>
                            <a:rPr lang="en-US" b="0" i="1" smtClean="0">
                              <a:latin typeface="Cambria Math" panose="02040503050406030204" pitchFamily="18" charset="0"/>
                            </a:rPr>
                            <m:t>)</m:t>
                          </m:r>
                        </m:num>
                        <m:den>
                          <m:nary>
                            <m:naryPr>
                              <m:chr m:val="∑"/>
                              <m:limLoc m:val="subSup"/>
                              <m:supHide m:val="on"/>
                              <m:ctrlPr>
                                <a:rPr lang="en-US" b="0" i="1" smtClean="0">
                                  <a:latin typeface="Cambria Math" panose="02040503050406030204" pitchFamily="18" charset="0"/>
                                </a:rPr>
                              </m:ctrlPr>
                            </m:naryPr>
                            <m:sub>
                              <m:r>
                                <m:rPr>
                                  <m:brk m:alnAt="9"/>
                                </m:rPr>
                                <a:rPr lang="en-US" b="0" i="1" smtClean="0">
                                  <a:latin typeface="Cambria Math" panose="02040503050406030204" pitchFamily="18" charset="0"/>
                                </a:rPr>
                                <m:t>𝑘</m:t>
                              </m:r>
                            </m:sub>
                            <m:sup/>
                            <m:e>
                              <m:sSup>
                                <m:sSupPr>
                                  <m:ctrlPr>
                                    <a:rPr lang="en-US" b="0" i="1" smtClean="0">
                                      <a:latin typeface="Cambria Math" panose="02040503050406030204" pitchFamily="18" charset="0"/>
                                    </a:rPr>
                                  </m:ctrlPr>
                                </m:sSupPr>
                                <m:e>
                                  <m:r>
                                    <a:rPr lang="en-US" b="0" i="1" smtClean="0">
                                      <a:latin typeface="Cambria Math" panose="02040503050406030204" pitchFamily="18" charset="0"/>
                                    </a:rPr>
                                    <m:t>h</m:t>
                                  </m:r>
                                </m:e>
                                <m:sup>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𝑘</m:t>
                                  </m:r>
                                </m:sub>
                              </m:sSub>
                              <m:r>
                                <a:rPr lang="en-US" b="0" i="1" smtClean="0">
                                  <a:latin typeface="Cambria Math" panose="02040503050406030204" pitchFamily="18" charset="0"/>
                                </a:rPr>
                                <m:t>)</m:t>
                              </m:r>
                            </m:e>
                          </m:nary>
                        </m:den>
                      </m:f>
                    </m:oMath>
                  </m:oMathPara>
                </a14:m>
                <a:endParaRPr lang="en-CA" dirty="0"/>
              </a:p>
            </p:txBody>
          </p:sp>
        </mc:Choice>
        <mc:Fallback xmlns="">
          <p:sp>
            <p:nvSpPr>
              <p:cNvPr id="32" name="TextBox 31">
                <a:extLst>
                  <a:ext uri="{FF2B5EF4-FFF2-40B4-BE49-F238E27FC236}">
                    <a16:creationId xmlns:a16="http://schemas.microsoft.com/office/drawing/2014/main" id="{14634839-3877-2F8C-3806-414E63E5ABB8}"/>
                  </a:ext>
                </a:extLst>
              </p:cNvPr>
              <p:cNvSpPr txBox="1">
                <a:spLocks noRot="1" noChangeAspect="1" noMove="1" noResize="1" noEditPoints="1" noAdjustHandles="1" noChangeArrowheads="1" noChangeShapeType="1" noTextEdit="1"/>
              </p:cNvSpPr>
              <p:nvPr/>
            </p:nvSpPr>
            <p:spPr>
              <a:xfrm>
                <a:off x="349114" y="4605125"/>
                <a:ext cx="2737994" cy="656655"/>
              </a:xfrm>
              <a:prstGeom prst="rect">
                <a:avLst/>
              </a:prstGeom>
              <a:blipFill>
                <a:blip r:embed="rId8"/>
                <a:stretch>
                  <a:fillRect l="-926" t="-15094" r="-1852" b="-100000"/>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09B6E223-1A24-802E-324D-C6FB9019A124}"/>
                  </a:ext>
                </a:extLst>
              </p:cNvPr>
              <p:cNvSpPr txBox="1"/>
              <p:nvPr/>
            </p:nvSpPr>
            <p:spPr>
              <a:xfrm>
                <a:off x="3668675" y="4456991"/>
                <a:ext cx="3724866" cy="36657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h</m:t>
                          </m:r>
                        </m:e>
                        <m:sup>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+1)</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h</m:t>
                          </m:r>
                        </m:e>
                        <m:sup>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solidFill>
                            <a:srgbClr val="000AFF"/>
                          </a:solidFill>
                          <a:latin typeface="Cambria Math" panose="02040503050406030204" pitchFamily="18" charset="0"/>
                        </a:rPr>
                        <m:t>𝛾</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h</m:t>
                              </m:r>
                            </m:e>
                            <m:sup>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h</m:t>
                              </m:r>
                            </m:e>
                            <m:sup>
                              <m:d>
                                <m:dPr>
                                  <m:ctrlPr>
                                    <a:rPr lang="en-US" b="0" i="1" smtClean="0">
                                      <a:latin typeface="Cambria Math" panose="02040503050406030204" pitchFamily="18" charset="0"/>
                                    </a:rPr>
                                  </m:ctrlPr>
                                </m:dPr>
                                <m:e>
                                  <m:r>
                                    <a:rPr lang="en-US" b="0" i="1" smtClean="0">
                                      <a:latin typeface="Cambria Math" panose="02040503050406030204" pitchFamily="18" charset="0"/>
                                    </a:rPr>
                                    <m:t>0</m:t>
                                  </m:r>
                                </m:e>
                              </m:d>
                            </m:sup>
                          </m:sSup>
                        </m:e>
                      </m:d>
                      <m:r>
                        <a:rPr lang="en-US" b="0" i="1" smtClean="0">
                          <a:latin typeface="Cambria Math" panose="02040503050406030204" pitchFamily="18" charset="0"/>
                        </a:rPr>
                        <m:t>+</m:t>
                      </m:r>
                      <m:r>
                        <a:rPr lang="en-US" b="0" i="1" smtClean="0">
                          <a:solidFill>
                            <a:srgbClr val="000AFF"/>
                          </a:solidFill>
                          <a:latin typeface="Cambria Math" panose="02040503050406030204" pitchFamily="18" charset="0"/>
                        </a:rPr>
                        <m:t>𝑅</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𝑔</m:t>
                          </m:r>
                        </m:e>
                        <m:sub>
                          <m:r>
                            <a:rPr lang="en-US" b="0" i="1" smtClean="0">
                              <a:solidFill>
                                <a:srgbClr val="000AFF"/>
                              </a:solidFill>
                              <a:latin typeface="Cambria Math" panose="02040503050406030204" pitchFamily="18" charset="0"/>
                            </a:rPr>
                            <m:t>𝜂</m:t>
                          </m:r>
                        </m:sub>
                        <m:sup>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sup>
                      </m:sSubSup>
                    </m:oMath>
                  </m:oMathPara>
                </a14:m>
                <a:endParaRPr lang="en-CA" dirty="0"/>
              </a:p>
            </p:txBody>
          </p:sp>
        </mc:Choice>
        <mc:Fallback xmlns="">
          <p:sp>
            <p:nvSpPr>
              <p:cNvPr id="33" name="TextBox 32">
                <a:extLst>
                  <a:ext uri="{FF2B5EF4-FFF2-40B4-BE49-F238E27FC236}">
                    <a16:creationId xmlns:a16="http://schemas.microsoft.com/office/drawing/2014/main" id="{09B6E223-1A24-802E-324D-C6FB9019A124}"/>
                  </a:ext>
                </a:extLst>
              </p:cNvPr>
              <p:cNvSpPr txBox="1">
                <a:spLocks noRot="1" noChangeAspect="1" noMove="1" noResize="1" noEditPoints="1" noAdjustHandles="1" noChangeArrowheads="1" noChangeShapeType="1" noTextEdit="1"/>
              </p:cNvSpPr>
              <p:nvPr/>
            </p:nvSpPr>
            <p:spPr>
              <a:xfrm>
                <a:off x="3668675" y="4456991"/>
                <a:ext cx="3724866" cy="366575"/>
              </a:xfrm>
              <a:prstGeom prst="rect">
                <a:avLst/>
              </a:prstGeom>
              <a:blipFill>
                <a:blip r:embed="rId9"/>
                <a:stretch>
                  <a:fillRect l="-1017" b="-13333"/>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7A16D782-417F-5259-7157-F4809FB89249}"/>
                  </a:ext>
                </a:extLst>
              </p:cNvPr>
              <p:cNvSpPr txBox="1"/>
              <p:nvPr/>
            </p:nvSpPr>
            <p:spPr>
              <a:xfrm>
                <a:off x="8359156" y="5103951"/>
                <a:ext cx="2137252" cy="7194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𝑔</m:t>
                          </m:r>
                        </m:e>
                        <m:sub>
                          <m:r>
                            <a:rPr lang="en-US" b="0" i="1" smtClean="0">
                              <a:solidFill>
                                <a:srgbClr val="000AFF"/>
                              </a:solidFill>
                              <a:latin typeface="Cambria Math" panose="02040503050406030204" pitchFamily="18" charset="0"/>
                            </a:rPr>
                            <m:t>𝜂</m:t>
                          </m:r>
                        </m:sub>
                        <m:sup>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+1)</m:t>
                          </m:r>
                        </m:sup>
                      </m:sSubSup>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r>
                                <a:rPr lang="en-US" b="0" i="1" smtClean="0">
                                  <a:latin typeface="Cambria Math" panose="02040503050406030204" pitchFamily="18" charset="0"/>
                                </a:rPr>
                                <m:t>1</m:t>
                              </m:r>
                            </m:e>
                            <m:e>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solidFill>
                                        <a:srgbClr val="000AFF"/>
                                      </a:solidFill>
                                      <a:latin typeface="Cambria Math" panose="02040503050406030204" pitchFamily="18" charset="0"/>
                                    </a:rPr>
                                    <m:t>𝜂</m:t>
                                  </m:r>
                                </m:e>
                              </m:d>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𝑔</m:t>
                                  </m:r>
                                </m:e>
                                <m:sub>
                                  <m:r>
                                    <a:rPr lang="en-US" b="0" i="1" smtClean="0">
                                      <a:solidFill>
                                        <a:srgbClr val="000AFF"/>
                                      </a:solidFill>
                                      <a:latin typeface="Cambria Math" panose="02040503050406030204" pitchFamily="18" charset="0"/>
                                    </a:rPr>
                                    <m:t>𝜂</m:t>
                                  </m:r>
                                </m:sub>
                                <m:sup>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sup>
                              </m:sSubSup>
                            </m:e>
                          </m:eqArr>
                        </m:e>
                      </m:d>
                    </m:oMath>
                  </m:oMathPara>
                </a14:m>
                <a:endParaRPr lang="en-CA" dirty="0"/>
              </a:p>
            </p:txBody>
          </p:sp>
        </mc:Choice>
        <mc:Fallback xmlns="">
          <p:sp>
            <p:nvSpPr>
              <p:cNvPr id="34" name="TextBox 33">
                <a:extLst>
                  <a:ext uri="{FF2B5EF4-FFF2-40B4-BE49-F238E27FC236}">
                    <a16:creationId xmlns:a16="http://schemas.microsoft.com/office/drawing/2014/main" id="{7A16D782-417F-5259-7157-F4809FB89249}"/>
                  </a:ext>
                </a:extLst>
              </p:cNvPr>
              <p:cNvSpPr txBox="1">
                <a:spLocks noRot="1" noChangeAspect="1" noMove="1" noResize="1" noEditPoints="1" noAdjustHandles="1" noChangeArrowheads="1" noChangeShapeType="1" noTextEdit="1"/>
              </p:cNvSpPr>
              <p:nvPr/>
            </p:nvSpPr>
            <p:spPr>
              <a:xfrm>
                <a:off x="8359156" y="5103951"/>
                <a:ext cx="2137252" cy="719428"/>
              </a:xfrm>
              <a:prstGeom prst="rect">
                <a:avLst/>
              </a:prstGeom>
              <a:blipFill>
                <a:blip r:embed="rId10"/>
                <a:stretch>
                  <a:fillRect l="-20118" t="-222414" r="-6509" b="-320690"/>
                </a:stretch>
              </a:blipFill>
            </p:spPr>
            <p:txBody>
              <a:bodyPr/>
              <a:lstStyle/>
              <a:p>
                <a:r>
                  <a:rPr lang="en-CA">
                    <a:noFill/>
                  </a:rPr>
                  <a:t> </a:t>
                </a:r>
              </a:p>
            </p:txBody>
          </p:sp>
        </mc:Fallback>
      </mc:AlternateContent>
      <p:sp>
        <p:nvSpPr>
          <p:cNvPr id="35" name="Textfeld 20">
            <a:extLst>
              <a:ext uri="{FF2B5EF4-FFF2-40B4-BE49-F238E27FC236}">
                <a16:creationId xmlns:a16="http://schemas.microsoft.com/office/drawing/2014/main" id="{A74DC60A-70B0-CAC2-6026-9A91FABBADC3}"/>
              </a:ext>
            </a:extLst>
          </p:cNvPr>
          <p:cNvSpPr txBox="1"/>
          <p:nvPr/>
        </p:nvSpPr>
        <p:spPr>
          <a:xfrm>
            <a:off x="7956983" y="1151877"/>
            <a:ext cx="4454963" cy="338554"/>
          </a:xfrm>
          <a:prstGeom prst="rect">
            <a:avLst/>
          </a:prstGeom>
          <a:noFill/>
        </p:spPr>
        <p:txBody>
          <a:bodyPr wrap="square">
            <a:spAutoFit/>
          </a:bodyPr>
          <a:lstStyle/>
          <a:p>
            <a:r>
              <a:rPr lang="de-DE" sz="1600" dirty="0">
                <a:solidFill>
                  <a:srgbClr val="0000FF"/>
                </a:solidFill>
              </a:rPr>
              <a:t>Briegel &amp; De las Cuevas</a:t>
            </a:r>
            <a:r>
              <a:rPr lang="de-DE" sz="1600" i="1" dirty="0">
                <a:solidFill>
                  <a:srgbClr val="0000FF"/>
                </a:solidFill>
              </a:rPr>
              <a:t>, </a:t>
            </a:r>
            <a:r>
              <a:rPr lang="de-DE" sz="1600" i="1" dirty="0" err="1">
                <a:solidFill>
                  <a:srgbClr val="0000FF"/>
                </a:solidFill>
              </a:rPr>
              <a:t>Sci</a:t>
            </a:r>
            <a:r>
              <a:rPr lang="de-DE" sz="1600" i="1" dirty="0">
                <a:solidFill>
                  <a:srgbClr val="0000FF"/>
                </a:solidFill>
              </a:rPr>
              <a:t>. Rep., </a:t>
            </a:r>
            <a:r>
              <a:rPr lang="de-DE" sz="1600" dirty="0">
                <a:solidFill>
                  <a:srgbClr val="0000FF"/>
                </a:solidFill>
              </a:rPr>
              <a:t>2, 400 (2012) </a:t>
            </a:r>
            <a:endParaRPr lang="de-DE" sz="1600" dirty="0"/>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DB925195-1736-067C-6AF4-B0BE97C48762}"/>
                  </a:ext>
                </a:extLst>
              </p:cNvPr>
              <p:cNvSpPr txBox="1"/>
              <p:nvPr/>
            </p:nvSpPr>
            <p:spPr>
              <a:xfrm>
                <a:off x="10418004" y="5096251"/>
                <a:ext cx="1078595" cy="391646"/>
              </a:xfrm>
              <a:prstGeom prst="rect">
                <a:avLst/>
              </a:prstGeom>
              <a:noFill/>
            </p:spPr>
            <p:txBody>
              <a:bodyPr wrap="square" rtlCol="0">
                <a:spAutoFit/>
              </a:bodyPr>
              <a:lstStyle/>
              <a:p>
                <a:r>
                  <a:rPr lang="en-CA"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𝑗</m:t>
                        </m:r>
                      </m:sub>
                    </m:sSub>
                  </m:oMath>
                </a14:m>
                <a:r>
                  <a:rPr lang="en-CA" dirty="0"/>
                  <a:t> </a:t>
                </a:r>
              </a:p>
            </p:txBody>
          </p:sp>
        </mc:Choice>
        <mc:Fallback xmlns="">
          <p:sp>
            <p:nvSpPr>
              <p:cNvPr id="42" name="TextBox 41">
                <a:extLst>
                  <a:ext uri="{FF2B5EF4-FFF2-40B4-BE49-F238E27FC236}">
                    <a16:creationId xmlns:a16="http://schemas.microsoft.com/office/drawing/2014/main" id="{DB925195-1736-067C-6AF4-B0BE97C48762}"/>
                  </a:ext>
                </a:extLst>
              </p:cNvPr>
              <p:cNvSpPr txBox="1">
                <a:spLocks noRot="1" noChangeAspect="1" noMove="1" noResize="1" noEditPoints="1" noAdjustHandles="1" noChangeArrowheads="1" noChangeShapeType="1" noTextEdit="1"/>
              </p:cNvSpPr>
              <p:nvPr/>
            </p:nvSpPr>
            <p:spPr>
              <a:xfrm>
                <a:off x="10418004" y="5096251"/>
                <a:ext cx="1078595" cy="391646"/>
              </a:xfrm>
              <a:prstGeom prst="rect">
                <a:avLst/>
              </a:prstGeom>
              <a:blipFill>
                <a:blip r:embed="rId11"/>
                <a:stretch>
                  <a:fillRect l="-4651" t="-6250" b="-18750"/>
                </a:stretch>
              </a:blipFill>
            </p:spPr>
            <p:txBody>
              <a:bodyPr/>
              <a:lstStyle/>
              <a:p>
                <a:r>
                  <a:rPr lang="en-CA">
                    <a:noFill/>
                  </a:rPr>
                  <a:t> </a:t>
                </a:r>
              </a:p>
            </p:txBody>
          </p:sp>
        </mc:Fallback>
      </mc:AlternateContent>
      <p:sp>
        <p:nvSpPr>
          <p:cNvPr id="43" name="TextBox 42">
            <a:extLst>
              <a:ext uri="{FF2B5EF4-FFF2-40B4-BE49-F238E27FC236}">
                <a16:creationId xmlns:a16="http://schemas.microsoft.com/office/drawing/2014/main" id="{B6E977A4-23E1-FD6A-E010-66F7CF6F9C25}"/>
              </a:ext>
            </a:extLst>
          </p:cNvPr>
          <p:cNvSpPr txBox="1"/>
          <p:nvPr/>
        </p:nvSpPr>
        <p:spPr>
          <a:xfrm>
            <a:off x="10409530" y="5422498"/>
            <a:ext cx="747179" cy="369332"/>
          </a:xfrm>
          <a:prstGeom prst="rect">
            <a:avLst/>
          </a:prstGeom>
          <a:noFill/>
        </p:spPr>
        <p:txBody>
          <a:bodyPr wrap="square" rtlCol="0">
            <a:spAutoFit/>
          </a:bodyPr>
          <a:lstStyle/>
          <a:p>
            <a:r>
              <a:rPr lang="en-CA" dirty="0"/>
              <a:t>, else</a:t>
            </a:r>
          </a:p>
        </p:txBody>
      </p:sp>
    </p:spTree>
    <p:extLst>
      <p:ext uri="{BB962C8B-B14F-4D97-AF65-F5344CB8AC3E}">
        <p14:creationId xmlns:p14="http://schemas.microsoft.com/office/powerpoint/2010/main" val="3996007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0" grpId="0" animBg="1"/>
      <p:bldP spid="39" grpId="0" animBg="1"/>
      <p:bldP spid="22" grpId="0"/>
      <p:bldP spid="25" grpId="0"/>
      <p:bldP spid="27" grpId="0"/>
      <p:bldP spid="31" grpId="0"/>
      <p:bldP spid="32" grpId="0"/>
      <p:bldP spid="33" grpId="0"/>
      <p:bldP spid="34" grpId="0"/>
      <p:bldP spid="42" grpId="0"/>
      <p:bldP spid="4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ußzeilenplatzhalter 1"/>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IJCAI 2026, Bremen, Germany I Phil LeMaitre I 20.08.2026</a:t>
            </a:r>
            <a:endParaRPr lang="de-DE" dirty="0"/>
          </a:p>
        </p:txBody>
      </p:sp>
      <p:sp>
        <p:nvSpPr>
          <p:cNvPr id="3" name="Titel 1">
            <a:extLst>
              <a:ext uri="{FF2B5EF4-FFF2-40B4-BE49-F238E27FC236}">
                <a16:creationId xmlns:a16="http://schemas.microsoft.com/office/drawing/2014/main" id="{8EA3482B-9788-BCB4-D810-065E821DE54B}"/>
              </a:ext>
            </a:extLst>
          </p:cNvPr>
          <p:cNvSpPr txBox="1">
            <a:spLocks/>
          </p:cNvSpPr>
          <p:nvPr/>
        </p:nvSpPr>
        <p:spPr bwMode="auto">
          <a:xfrm>
            <a:off x="0" y="0"/>
            <a:ext cx="12280900" cy="1014750"/>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Multi-Excitation Projective Simulation (MEPS)</a:t>
            </a:r>
          </a:p>
        </p:txBody>
      </p:sp>
      <p:sp>
        <p:nvSpPr>
          <p:cNvPr id="7" name="Slide Number Placeholder 6">
            <a:extLst>
              <a:ext uri="{FF2B5EF4-FFF2-40B4-BE49-F238E27FC236}">
                <a16:creationId xmlns:a16="http://schemas.microsoft.com/office/drawing/2014/main" id="{10E25E58-A702-A370-B0A7-6E6BF4DF5738}"/>
              </a:ext>
            </a:extLst>
          </p:cNvPr>
          <p:cNvSpPr>
            <a:spLocks noGrp="1"/>
          </p:cNvSpPr>
          <p:nvPr>
            <p:ph type="sldNum" sz="quarter" idx="12"/>
          </p:nvPr>
        </p:nvSpPr>
        <p:spPr/>
        <p:txBody>
          <a:bodyPr/>
          <a:lstStyle/>
          <a:p>
            <a:fld id="{D0617D14-1B55-43C0-819D-0D244AC23646}" type="slidenum">
              <a:rPr lang="de-AT" smtClean="0"/>
              <a:t>6</a:t>
            </a:fld>
            <a:endParaRPr lang="de-AT"/>
          </a:p>
        </p:txBody>
      </p:sp>
      <p:pic>
        <p:nvPicPr>
          <p:cNvPr id="4" name="Picture 3">
            <a:extLst>
              <a:ext uri="{FF2B5EF4-FFF2-40B4-BE49-F238E27FC236}">
                <a16:creationId xmlns:a16="http://schemas.microsoft.com/office/drawing/2014/main" id="{016A308F-A0D2-67B7-E692-E22771AB2F01}"/>
              </a:ext>
            </a:extLst>
          </p:cNvPr>
          <p:cNvPicPr>
            <a:picLocks noChangeAspect="1"/>
          </p:cNvPicPr>
          <p:nvPr/>
        </p:nvPicPr>
        <p:blipFill>
          <a:blip r:embed="rId4"/>
          <a:stretch>
            <a:fillRect/>
          </a:stretch>
        </p:blipFill>
        <p:spPr>
          <a:xfrm>
            <a:off x="5781457" y="2055054"/>
            <a:ext cx="5715143" cy="2946042"/>
          </a:xfrm>
          <a:prstGeom prst="rect">
            <a:avLst/>
          </a:prstGeom>
        </p:spPr>
      </p:pic>
      <p:grpSp>
        <p:nvGrpSpPr>
          <p:cNvPr id="8" name="Group 7">
            <a:extLst>
              <a:ext uri="{FF2B5EF4-FFF2-40B4-BE49-F238E27FC236}">
                <a16:creationId xmlns:a16="http://schemas.microsoft.com/office/drawing/2014/main" id="{208CD4BD-37E2-C6D4-B91D-3C48C2EB6211}"/>
              </a:ext>
            </a:extLst>
          </p:cNvPr>
          <p:cNvGrpSpPr/>
          <p:nvPr/>
        </p:nvGrpSpPr>
        <p:grpSpPr>
          <a:xfrm>
            <a:off x="10022672" y="5099104"/>
            <a:ext cx="1889580" cy="738664"/>
            <a:chOff x="9905997" y="3055517"/>
            <a:chExt cx="1889580" cy="738664"/>
          </a:xfrm>
        </p:grpSpPr>
        <p:sp>
          <p:nvSpPr>
            <p:cNvPr id="9" name="TextBox 8">
              <a:extLst>
                <a:ext uri="{FF2B5EF4-FFF2-40B4-BE49-F238E27FC236}">
                  <a16:creationId xmlns:a16="http://schemas.microsoft.com/office/drawing/2014/main" id="{8EA222AD-C25F-B134-3F76-374974830BF2}"/>
                </a:ext>
              </a:extLst>
            </p:cNvPr>
            <p:cNvSpPr txBox="1"/>
            <p:nvPr/>
          </p:nvSpPr>
          <p:spPr>
            <a:xfrm>
              <a:off x="10045785" y="3055517"/>
              <a:ext cx="1749792" cy="738664"/>
            </a:xfrm>
            <a:prstGeom prst="rect">
              <a:avLst/>
            </a:prstGeom>
            <a:noFill/>
          </p:spPr>
          <p:txBody>
            <a:bodyPr wrap="square" rtlCol="0">
              <a:spAutoFit/>
            </a:bodyPr>
            <a:lstStyle/>
            <a:p>
              <a:r>
                <a:rPr lang="en-US" sz="1400" dirty="0">
                  <a:latin typeface="Helvetica Neue" panose="02000503000000020004" pitchFamily="2" charset="0"/>
                  <a:ea typeface="Helvetica Neue" panose="02000503000000020004" pitchFamily="2" charset="0"/>
                  <a:cs typeface="Helvetica Neue" panose="02000503000000020004" pitchFamily="2" charset="0"/>
                </a:rPr>
                <a:t>= percept clips</a:t>
              </a:r>
            </a:p>
            <a:p>
              <a:r>
                <a:rPr lang="en-US" sz="1400" dirty="0">
                  <a:latin typeface="Helvetica Neue" panose="02000503000000020004" pitchFamily="2" charset="0"/>
                  <a:ea typeface="Helvetica Neue" panose="02000503000000020004" pitchFamily="2" charset="0"/>
                  <a:cs typeface="Helvetica Neue" panose="02000503000000020004" pitchFamily="2" charset="0"/>
                </a:rPr>
                <a:t>= intermediate clips</a:t>
              </a:r>
            </a:p>
            <a:p>
              <a:r>
                <a:rPr lang="en-US" sz="1400" dirty="0">
                  <a:latin typeface="Helvetica Neue" panose="02000503000000020004" pitchFamily="2" charset="0"/>
                  <a:ea typeface="Helvetica Neue" panose="02000503000000020004" pitchFamily="2" charset="0"/>
                  <a:cs typeface="Helvetica Neue" panose="02000503000000020004" pitchFamily="2" charset="0"/>
                </a:rPr>
                <a:t>= action clips</a:t>
              </a:r>
            </a:p>
          </p:txBody>
        </p:sp>
        <p:sp>
          <p:nvSpPr>
            <p:cNvPr id="10" name="Oval 9">
              <a:extLst>
                <a:ext uri="{FF2B5EF4-FFF2-40B4-BE49-F238E27FC236}">
                  <a16:creationId xmlns:a16="http://schemas.microsoft.com/office/drawing/2014/main" id="{B7189BE4-46A0-4498-72A3-98973B6C7A4E}"/>
                </a:ext>
              </a:extLst>
            </p:cNvPr>
            <p:cNvSpPr/>
            <p:nvPr/>
          </p:nvSpPr>
          <p:spPr>
            <a:xfrm>
              <a:off x="9905999" y="3112265"/>
              <a:ext cx="208449" cy="206032"/>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1" name="Oval 10">
              <a:extLst>
                <a:ext uri="{FF2B5EF4-FFF2-40B4-BE49-F238E27FC236}">
                  <a16:creationId xmlns:a16="http://schemas.microsoft.com/office/drawing/2014/main" id="{896FF480-300E-27B1-3A21-622E60BC73A1}"/>
                </a:ext>
              </a:extLst>
            </p:cNvPr>
            <p:cNvSpPr/>
            <p:nvPr/>
          </p:nvSpPr>
          <p:spPr>
            <a:xfrm>
              <a:off x="9905998" y="3333672"/>
              <a:ext cx="208449" cy="206032"/>
            </a:xfrm>
            <a:prstGeom prst="ellipse">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2" name="Oval 11">
              <a:extLst>
                <a:ext uri="{FF2B5EF4-FFF2-40B4-BE49-F238E27FC236}">
                  <a16:creationId xmlns:a16="http://schemas.microsoft.com/office/drawing/2014/main" id="{E9864632-3F6E-410B-18C8-C75877F9A1ED}"/>
                </a:ext>
              </a:extLst>
            </p:cNvPr>
            <p:cNvSpPr/>
            <p:nvPr/>
          </p:nvSpPr>
          <p:spPr>
            <a:xfrm>
              <a:off x="9905997" y="3555079"/>
              <a:ext cx="208450" cy="206033"/>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Helvetica Neue" panose="02000503000000020004" pitchFamily="2" charset="0"/>
                <a:ea typeface="Helvetica Neue" panose="02000503000000020004" pitchFamily="2" charset="0"/>
                <a:cs typeface="Helvetica Neue" panose="02000503000000020004" pitchFamily="2" charset="0"/>
              </a:endParaRPr>
            </a:p>
          </p:txBody>
        </p:sp>
      </p:grpSp>
      <p:sp>
        <p:nvSpPr>
          <p:cNvPr id="13" name="Rechteck 5">
            <a:extLst>
              <a:ext uri="{FF2B5EF4-FFF2-40B4-BE49-F238E27FC236}">
                <a16:creationId xmlns:a16="http://schemas.microsoft.com/office/drawing/2014/main" id="{ABE8AD32-23DC-7B97-73CA-C5B065D1E39E}"/>
              </a:ext>
            </a:extLst>
          </p:cNvPr>
          <p:cNvSpPr/>
          <p:nvPr/>
        </p:nvSpPr>
        <p:spPr>
          <a:xfrm>
            <a:off x="555584" y="1943357"/>
            <a:ext cx="4805555" cy="707886"/>
          </a:xfrm>
          <a:prstGeom prst="rect">
            <a:avLst/>
          </a:prstGeom>
        </p:spPr>
        <p:txBody>
          <a:bodyPr wrap="square">
            <a:spAutoFit/>
          </a:bodyPr>
          <a:lstStyle/>
          <a:p>
            <a:r>
              <a:rPr lang="en-US" sz="2000" dirty="0">
                <a:latin typeface="Helvetica Neue" panose="02000503000000020004" pitchFamily="2" charset="0"/>
                <a:ea typeface="Helvetica Neue" panose="02000503000000020004" pitchFamily="2" charset="0"/>
                <a:cs typeface="Helvetica Neue" panose="02000503000000020004" pitchFamily="2" charset="0"/>
              </a:rPr>
              <a:t>ECM is now a hypergraph with hyperedges connecting groups of clips</a:t>
            </a:r>
            <a:r>
              <a:rPr lang="en-US" sz="2000" dirty="0">
                <a:solidFill>
                  <a:srgbClr val="000000"/>
                </a:solidFill>
                <a:latin typeface="Helvetica Neue" panose="02000503000000020004" pitchFamily="2" charset="0"/>
                <a:ea typeface="Helvetica Neue" panose="02000503000000020004" pitchFamily="2" charset="0"/>
                <a:cs typeface="Helvetica Neue" panose="02000503000000020004" pitchFamily="2" charset="0"/>
              </a:rPr>
              <a:t> </a:t>
            </a:r>
            <a:endParaRPr lang="de-AT" sz="2000"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4" name="Rechteck 5">
            <a:extLst>
              <a:ext uri="{FF2B5EF4-FFF2-40B4-BE49-F238E27FC236}">
                <a16:creationId xmlns:a16="http://schemas.microsoft.com/office/drawing/2014/main" id="{00FB534C-D98A-E3B7-F2FB-A5D6B741C2DD}"/>
              </a:ext>
            </a:extLst>
          </p:cNvPr>
          <p:cNvSpPr/>
          <p:nvPr/>
        </p:nvSpPr>
        <p:spPr>
          <a:xfrm>
            <a:off x="1246303" y="3343409"/>
            <a:ext cx="3156518" cy="646331"/>
          </a:xfrm>
          <a:prstGeom prst="rect">
            <a:avLst/>
          </a:prstGeom>
        </p:spPr>
        <p:txBody>
          <a:bodyPr wrap="square">
            <a:spAutoFit/>
          </a:bodyPr>
          <a:lstStyle/>
          <a:p>
            <a:r>
              <a:rPr lang="en-US" dirty="0">
                <a:latin typeface="Helvetica Neue" panose="02000503000000020004" pitchFamily="2" charset="0"/>
                <a:ea typeface="Helvetica Neue" panose="02000503000000020004" pitchFamily="2" charset="0"/>
                <a:cs typeface="Helvetica Neue" panose="02000503000000020004" pitchFamily="2" charset="0"/>
              </a:rPr>
              <a:t>Access to composite structure</a:t>
            </a:r>
            <a:endParaRPr lang="en-US" sz="1000"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 name="Oval 4">
            <a:extLst>
              <a:ext uri="{FF2B5EF4-FFF2-40B4-BE49-F238E27FC236}">
                <a16:creationId xmlns:a16="http://schemas.microsoft.com/office/drawing/2014/main" id="{DD6986FA-7496-A570-E2EC-77350399A603}"/>
              </a:ext>
            </a:extLst>
          </p:cNvPr>
          <p:cNvSpPr/>
          <p:nvPr/>
        </p:nvSpPr>
        <p:spPr>
          <a:xfrm rot="19299473">
            <a:off x="5943601" y="3482342"/>
            <a:ext cx="1099820" cy="1608888"/>
          </a:xfrm>
          <a:prstGeom prst="ellipse">
            <a:avLst/>
          </a:prstGeom>
          <a:noFill/>
          <a:ln w="317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6" name="Rechteck 5">
            <a:extLst>
              <a:ext uri="{FF2B5EF4-FFF2-40B4-BE49-F238E27FC236}">
                <a16:creationId xmlns:a16="http://schemas.microsoft.com/office/drawing/2014/main" id="{2F5CABA7-6EA7-FE67-6C93-DEBCFB67AD8D}"/>
              </a:ext>
            </a:extLst>
          </p:cNvPr>
          <p:cNvSpPr/>
          <p:nvPr/>
        </p:nvSpPr>
        <p:spPr>
          <a:xfrm>
            <a:off x="1246303" y="4850395"/>
            <a:ext cx="2735833" cy="646331"/>
          </a:xfrm>
          <a:prstGeom prst="rect">
            <a:avLst/>
          </a:prstGeom>
        </p:spPr>
        <p:txBody>
          <a:bodyPr wrap="square">
            <a:spAutoFit/>
          </a:bodyPr>
          <a:lstStyle/>
          <a:p>
            <a:r>
              <a:rPr lang="en-US" dirty="0">
                <a:latin typeface="Helvetica Neue" panose="02000503000000020004" pitchFamily="2" charset="0"/>
                <a:ea typeface="Helvetica Neue" panose="02000503000000020004" pitchFamily="2" charset="0"/>
                <a:cs typeface="Helvetica Neue" panose="02000503000000020004" pitchFamily="2" charset="0"/>
              </a:rPr>
              <a:t>Can consider influence of clips together</a:t>
            </a:r>
          </a:p>
        </p:txBody>
      </p:sp>
      <p:cxnSp>
        <p:nvCxnSpPr>
          <p:cNvPr id="16" name="Straight Connector 15">
            <a:extLst>
              <a:ext uri="{FF2B5EF4-FFF2-40B4-BE49-F238E27FC236}">
                <a16:creationId xmlns:a16="http://schemas.microsoft.com/office/drawing/2014/main" id="{B0793328-AC54-AEDB-AACA-EDB2CF3DE513}"/>
              </a:ext>
            </a:extLst>
          </p:cNvPr>
          <p:cNvCxnSpPr>
            <a:cxnSpLocks/>
          </p:cNvCxnSpPr>
          <p:nvPr/>
        </p:nvCxnSpPr>
        <p:spPr>
          <a:xfrm flipH="1">
            <a:off x="4109709" y="4404907"/>
            <a:ext cx="1739298" cy="634003"/>
          </a:xfrm>
          <a:prstGeom prst="line">
            <a:avLst/>
          </a:prstGeom>
          <a:ln w="19050">
            <a:tailEnd type="triangle"/>
          </a:ln>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81CA18BC-9510-E47D-9E1B-9FF83BCC9BB4}"/>
              </a:ext>
            </a:extLst>
          </p:cNvPr>
          <p:cNvCxnSpPr>
            <a:cxnSpLocks/>
          </p:cNvCxnSpPr>
          <p:nvPr/>
        </p:nvCxnSpPr>
        <p:spPr>
          <a:xfrm flipH="1" flipV="1">
            <a:off x="4337941" y="3579850"/>
            <a:ext cx="1511066" cy="825057"/>
          </a:xfrm>
          <a:prstGeom prst="line">
            <a:avLst/>
          </a:prstGeom>
          <a:ln w="19050">
            <a:tailEnd type="triangle"/>
          </a:ln>
        </p:spPr>
        <p:style>
          <a:lnRef idx="1">
            <a:schemeClr val="dk1"/>
          </a:lnRef>
          <a:fillRef idx="0">
            <a:schemeClr val="dk1"/>
          </a:fillRef>
          <a:effectRef idx="0">
            <a:schemeClr val="dk1"/>
          </a:effectRef>
          <a:fontRef idx="minor">
            <a:schemeClr val="tx1"/>
          </a:fontRef>
        </p:style>
      </p:cxnSp>
    </p:spTree>
    <p:custDataLst>
      <p:tags r:id="rId1"/>
    </p:custDataLst>
    <p:extLst>
      <p:ext uri="{BB962C8B-B14F-4D97-AF65-F5344CB8AC3E}">
        <p14:creationId xmlns:p14="http://schemas.microsoft.com/office/powerpoint/2010/main" val="1442346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5" grpId="0" animBg="1"/>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ußzeilenplatzhalter 1"/>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IJCAI 2026, Bremen, Germany I Phil LeMaitre I 20.08.2026</a:t>
            </a:r>
            <a:endParaRPr lang="de-DE" dirty="0"/>
          </a:p>
        </p:txBody>
      </p:sp>
      <p:sp>
        <p:nvSpPr>
          <p:cNvPr id="3" name="Titel 1">
            <a:extLst>
              <a:ext uri="{FF2B5EF4-FFF2-40B4-BE49-F238E27FC236}">
                <a16:creationId xmlns:a16="http://schemas.microsoft.com/office/drawing/2014/main" id="{8EA3482B-9788-BCB4-D810-065E821DE54B}"/>
              </a:ext>
            </a:extLst>
          </p:cNvPr>
          <p:cNvSpPr txBox="1">
            <a:spLocks/>
          </p:cNvSpPr>
          <p:nvPr/>
        </p:nvSpPr>
        <p:spPr bwMode="auto">
          <a:xfrm>
            <a:off x="0" y="0"/>
            <a:ext cx="12280900" cy="1014750"/>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Training History of </a:t>
            </a:r>
            <a:r>
              <a:rPr lang="en-CA" sz="3200" kern="0" dirty="0" err="1">
                <a:solidFill>
                  <a:schemeClr val="bg1"/>
                </a:solidFill>
                <a:latin typeface="Calibri Light" panose="020F0302020204030204" pitchFamily="34" charset="0"/>
                <a:cs typeface="Calibri Light" panose="020F0302020204030204" pitchFamily="34" charset="0"/>
              </a:rPr>
              <a:t>mePS</a:t>
            </a:r>
            <a:r>
              <a:rPr lang="en-CA" sz="3200" kern="0" dirty="0">
                <a:solidFill>
                  <a:schemeClr val="bg1"/>
                </a:solidFill>
                <a:latin typeface="Calibri Light" panose="020F0302020204030204" pitchFamily="34" charset="0"/>
                <a:cs typeface="Calibri Light" panose="020F0302020204030204" pitchFamily="34" charset="0"/>
              </a:rPr>
              <a:t> as a Dynamic Hypergraph</a:t>
            </a:r>
          </a:p>
        </p:txBody>
      </p:sp>
      <p:sp>
        <p:nvSpPr>
          <p:cNvPr id="7" name="Slide Number Placeholder 6">
            <a:extLst>
              <a:ext uri="{FF2B5EF4-FFF2-40B4-BE49-F238E27FC236}">
                <a16:creationId xmlns:a16="http://schemas.microsoft.com/office/drawing/2014/main" id="{49FF278C-9CC6-1D7C-FD02-654FE39E23AF}"/>
              </a:ext>
            </a:extLst>
          </p:cNvPr>
          <p:cNvSpPr>
            <a:spLocks noGrp="1"/>
          </p:cNvSpPr>
          <p:nvPr>
            <p:ph type="sldNum" sz="quarter" idx="12"/>
          </p:nvPr>
        </p:nvSpPr>
        <p:spPr/>
        <p:txBody>
          <a:bodyPr/>
          <a:lstStyle/>
          <a:p>
            <a:fld id="{D0617D14-1B55-43C0-819D-0D244AC23646}" type="slidenum">
              <a:rPr lang="de-AT" smtClean="0"/>
              <a:t>7</a:t>
            </a:fld>
            <a:endParaRPr lang="de-AT"/>
          </a:p>
        </p:txBody>
      </p:sp>
      <p:grpSp>
        <p:nvGrpSpPr>
          <p:cNvPr id="4" name="Group 3">
            <a:extLst>
              <a:ext uri="{FF2B5EF4-FFF2-40B4-BE49-F238E27FC236}">
                <a16:creationId xmlns:a16="http://schemas.microsoft.com/office/drawing/2014/main" id="{D84B5D62-8B90-1B8B-6E0B-D2671CB197E4}"/>
              </a:ext>
            </a:extLst>
          </p:cNvPr>
          <p:cNvGrpSpPr/>
          <p:nvPr/>
        </p:nvGrpSpPr>
        <p:grpSpPr>
          <a:xfrm>
            <a:off x="717015" y="1785277"/>
            <a:ext cx="5402845" cy="2715534"/>
            <a:chOff x="3319987" y="2117649"/>
            <a:chExt cx="5402845" cy="2715534"/>
          </a:xfrm>
        </p:grpSpPr>
        <p:sp>
          <p:nvSpPr>
            <p:cNvPr id="8" name="Freeform: Shape 37">
              <a:extLst>
                <a:ext uri="{FF2B5EF4-FFF2-40B4-BE49-F238E27FC236}">
                  <a16:creationId xmlns:a16="http://schemas.microsoft.com/office/drawing/2014/main" id="{B71399B5-D494-8194-8E33-62666570529B}"/>
                </a:ext>
              </a:extLst>
            </p:cNvPr>
            <p:cNvSpPr/>
            <p:nvPr/>
          </p:nvSpPr>
          <p:spPr>
            <a:xfrm rot="18210856">
              <a:off x="5805619" y="2140580"/>
              <a:ext cx="753070" cy="1619169"/>
            </a:xfrm>
            <a:custGeom>
              <a:avLst/>
              <a:gdLst>
                <a:gd name="connsiteX0" fmla="*/ 600104 w 1057083"/>
                <a:gd name="connsiteY0" fmla="*/ 6523 h 1513523"/>
                <a:gd name="connsiteX1" fmla="*/ 9795 w 1057083"/>
                <a:gd name="connsiteY1" fmla="*/ 486872 h 1513523"/>
                <a:gd name="connsiteX2" fmla="*/ 281800 w 1057083"/>
                <a:gd name="connsiteY2" fmla="*/ 1488082 h 1513523"/>
                <a:gd name="connsiteX3" fmla="*/ 924195 w 1057083"/>
                <a:gd name="connsiteY3" fmla="*/ 1135055 h 1513523"/>
                <a:gd name="connsiteX4" fmla="*/ 1034154 w 1057083"/>
                <a:gd name="connsiteY4" fmla="*/ 272741 h 1513523"/>
                <a:gd name="connsiteX5" fmla="*/ 600104 w 1057083"/>
                <a:gd name="connsiteY5" fmla="*/ 6523 h 1513523"/>
                <a:gd name="connsiteX0" fmla="*/ 660864 w 1056582"/>
                <a:gd name="connsiteY0" fmla="*/ 2627 h 1775845"/>
                <a:gd name="connsiteX1" fmla="*/ 12681 w 1056582"/>
                <a:gd name="connsiteY1" fmla="*/ 749194 h 1775845"/>
                <a:gd name="connsiteX2" fmla="*/ 284686 w 1056582"/>
                <a:gd name="connsiteY2" fmla="*/ 1750404 h 1775845"/>
                <a:gd name="connsiteX3" fmla="*/ 927081 w 1056582"/>
                <a:gd name="connsiteY3" fmla="*/ 1397377 h 1775845"/>
                <a:gd name="connsiteX4" fmla="*/ 1037040 w 1056582"/>
                <a:gd name="connsiteY4" fmla="*/ 535063 h 1775845"/>
                <a:gd name="connsiteX5" fmla="*/ 660864 w 1056582"/>
                <a:gd name="connsiteY5" fmla="*/ 2627 h 1775845"/>
                <a:gd name="connsiteX0" fmla="*/ 449265 w 1062403"/>
                <a:gd name="connsiteY0" fmla="*/ 2218 h 1856459"/>
                <a:gd name="connsiteX1" fmla="*/ 3639 w 1062403"/>
                <a:gd name="connsiteY1" fmla="*/ 829808 h 1856459"/>
                <a:gd name="connsiteX2" fmla="*/ 275644 w 1062403"/>
                <a:gd name="connsiteY2" fmla="*/ 1831018 h 1856459"/>
                <a:gd name="connsiteX3" fmla="*/ 918039 w 1062403"/>
                <a:gd name="connsiteY3" fmla="*/ 1477991 h 1856459"/>
                <a:gd name="connsiteX4" fmla="*/ 1027998 w 1062403"/>
                <a:gd name="connsiteY4" fmla="*/ 615677 h 1856459"/>
                <a:gd name="connsiteX5" fmla="*/ 449265 w 1062403"/>
                <a:gd name="connsiteY5" fmla="*/ 2218 h 1856459"/>
                <a:gd name="connsiteX0" fmla="*/ 449265 w 971893"/>
                <a:gd name="connsiteY0" fmla="*/ 2218 h 1856459"/>
                <a:gd name="connsiteX1" fmla="*/ 3639 w 971893"/>
                <a:gd name="connsiteY1" fmla="*/ 829808 h 1856459"/>
                <a:gd name="connsiteX2" fmla="*/ 275644 w 971893"/>
                <a:gd name="connsiteY2" fmla="*/ 1831018 h 1856459"/>
                <a:gd name="connsiteX3" fmla="*/ 918039 w 971893"/>
                <a:gd name="connsiteY3" fmla="*/ 1477991 h 1856459"/>
                <a:gd name="connsiteX4" fmla="*/ 842804 w 971893"/>
                <a:gd name="connsiteY4" fmla="*/ 615677 h 1856459"/>
                <a:gd name="connsiteX5" fmla="*/ 449265 w 971893"/>
                <a:gd name="connsiteY5" fmla="*/ 2218 h 1856459"/>
                <a:gd name="connsiteX0" fmla="*/ 448722 w 861517"/>
                <a:gd name="connsiteY0" fmla="*/ 2144 h 1846757"/>
                <a:gd name="connsiteX1" fmla="*/ 3096 w 861517"/>
                <a:gd name="connsiteY1" fmla="*/ 829734 h 1846757"/>
                <a:gd name="connsiteX2" fmla="*/ 275101 w 861517"/>
                <a:gd name="connsiteY2" fmla="*/ 1830944 h 1846757"/>
                <a:gd name="connsiteX3" fmla="*/ 726514 w 861517"/>
                <a:gd name="connsiteY3" fmla="*/ 1385319 h 1846757"/>
                <a:gd name="connsiteX4" fmla="*/ 842261 w 861517"/>
                <a:gd name="connsiteY4" fmla="*/ 615603 h 1846757"/>
                <a:gd name="connsiteX5" fmla="*/ 448722 w 861517"/>
                <a:gd name="connsiteY5" fmla="*/ 2144 h 1846757"/>
                <a:gd name="connsiteX0" fmla="*/ 470986 w 883781"/>
                <a:gd name="connsiteY0" fmla="*/ 2144 h 1846757"/>
                <a:gd name="connsiteX1" fmla="*/ 2836 w 883781"/>
                <a:gd name="connsiteY1" fmla="*/ 829734 h 1846757"/>
                <a:gd name="connsiteX2" fmla="*/ 297365 w 883781"/>
                <a:gd name="connsiteY2" fmla="*/ 1830944 h 1846757"/>
                <a:gd name="connsiteX3" fmla="*/ 748778 w 883781"/>
                <a:gd name="connsiteY3" fmla="*/ 1385319 h 1846757"/>
                <a:gd name="connsiteX4" fmla="*/ 864525 w 883781"/>
                <a:gd name="connsiteY4" fmla="*/ 615603 h 1846757"/>
                <a:gd name="connsiteX5" fmla="*/ 470986 w 883781"/>
                <a:gd name="connsiteY5" fmla="*/ 2144 h 1846757"/>
                <a:gd name="connsiteX0" fmla="*/ 594364 w 1007159"/>
                <a:gd name="connsiteY0" fmla="*/ 2144 h 1846757"/>
                <a:gd name="connsiteX1" fmla="*/ 126214 w 1007159"/>
                <a:gd name="connsiteY1" fmla="*/ 829734 h 1846757"/>
                <a:gd name="connsiteX2" fmla="*/ 420743 w 1007159"/>
                <a:gd name="connsiteY2" fmla="*/ 1830944 h 1846757"/>
                <a:gd name="connsiteX3" fmla="*/ 872156 w 1007159"/>
                <a:gd name="connsiteY3" fmla="*/ 1385319 h 1846757"/>
                <a:gd name="connsiteX4" fmla="*/ 987903 w 1007159"/>
                <a:gd name="connsiteY4" fmla="*/ 615603 h 1846757"/>
                <a:gd name="connsiteX5" fmla="*/ 594364 w 1007159"/>
                <a:gd name="connsiteY5" fmla="*/ 2144 h 1846757"/>
                <a:gd name="connsiteX0" fmla="*/ 484902 w 883206"/>
                <a:gd name="connsiteY0" fmla="*/ 41557 h 1318371"/>
                <a:gd name="connsiteX1" fmla="*/ 3238 w 883206"/>
                <a:gd name="connsiteY1" fmla="*/ 301348 h 1318371"/>
                <a:gd name="connsiteX2" fmla="*/ 297767 w 883206"/>
                <a:gd name="connsiteY2" fmla="*/ 1302558 h 1318371"/>
                <a:gd name="connsiteX3" fmla="*/ 749180 w 883206"/>
                <a:gd name="connsiteY3" fmla="*/ 856933 h 1318371"/>
                <a:gd name="connsiteX4" fmla="*/ 864927 w 883206"/>
                <a:gd name="connsiteY4" fmla="*/ 87217 h 1318371"/>
                <a:gd name="connsiteX5" fmla="*/ 484902 w 883206"/>
                <a:gd name="connsiteY5" fmla="*/ 41557 h 1318371"/>
                <a:gd name="connsiteX0" fmla="*/ 378883 w 777187"/>
                <a:gd name="connsiteY0" fmla="*/ 58675 h 1324992"/>
                <a:gd name="connsiteX1" fmla="*/ 5333 w 777187"/>
                <a:gd name="connsiteY1" fmla="*/ 584244 h 1324992"/>
                <a:gd name="connsiteX2" fmla="*/ 191748 w 777187"/>
                <a:gd name="connsiteY2" fmla="*/ 1319676 h 1324992"/>
                <a:gd name="connsiteX3" fmla="*/ 643161 w 777187"/>
                <a:gd name="connsiteY3" fmla="*/ 874051 h 1324992"/>
                <a:gd name="connsiteX4" fmla="*/ 758908 w 777187"/>
                <a:gd name="connsiteY4" fmla="*/ 104335 h 1324992"/>
                <a:gd name="connsiteX5" fmla="*/ 378883 w 777187"/>
                <a:gd name="connsiteY5" fmla="*/ 58675 h 1324992"/>
                <a:gd name="connsiteX0" fmla="*/ 374434 w 772738"/>
                <a:gd name="connsiteY0" fmla="*/ 58675 h 1112877"/>
                <a:gd name="connsiteX1" fmla="*/ 884 w 772738"/>
                <a:gd name="connsiteY1" fmla="*/ 584244 h 1112877"/>
                <a:gd name="connsiteX2" fmla="*/ 281899 w 772738"/>
                <a:gd name="connsiteY2" fmla="*/ 1098194 h 1112877"/>
                <a:gd name="connsiteX3" fmla="*/ 638712 w 772738"/>
                <a:gd name="connsiteY3" fmla="*/ 874051 h 1112877"/>
                <a:gd name="connsiteX4" fmla="*/ 754459 w 772738"/>
                <a:gd name="connsiteY4" fmla="*/ 104335 h 1112877"/>
                <a:gd name="connsiteX5" fmla="*/ 374434 w 772738"/>
                <a:gd name="connsiteY5" fmla="*/ 58675 h 1112877"/>
                <a:gd name="connsiteX0" fmla="*/ 374434 w 696889"/>
                <a:gd name="connsiteY0" fmla="*/ 37893 h 1092095"/>
                <a:gd name="connsiteX1" fmla="*/ 884 w 696889"/>
                <a:gd name="connsiteY1" fmla="*/ 563462 h 1092095"/>
                <a:gd name="connsiteX2" fmla="*/ 281899 w 696889"/>
                <a:gd name="connsiteY2" fmla="*/ 1077412 h 1092095"/>
                <a:gd name="connsiteX3" fmla="*/ 638712 w 696889"/>
                <a:gd name="connsiteY3" fmla="*/ 853269 h 1092095"/>
                <a:gd name="connsiteX4" fmla="*/ 610307 w 696889"/>
                <a:gd name="connsiteY4" fmla="*/ 131877 h 1092095"/>
                <a:gd name="connsiteX5" fmla="*/ 374434 w 696889"/>
                <a:gd name="connsiteY5" fmla="*/ 37893 h 1092095"/>
                <a:gd name="connsiteX0" fmla="*/ 174778 w 706784"/>
                <a:gd name="connsiteY0" fmla="*/ 35901 h 1098658"/>
                <a:gd name="connsiteX1" fmla="*/ 2354 w 706784"/>
                <a:gd name="connsiteY1" fmla="*/ 570025 h 1098658"/>
                <a:gd name="connsiteX2" fmla="*/ 283369 w 706784"/>
                <a:gd name="connsiteY2" fmla="*/ 1083975 h 1098658"/>
                <a:gd name="connsiteX3" fmla="*/ 640182 w 706784"/>
                <a:gd name="connsiteY3" fmla="*/ 859832 h 1098658"/>
                <a:gd name="connsiteX4" fmla="*/ 611777 w 706784"/>
                <a:gd name="connsiteY4" fmla="*/ 138440 h 1098658"/>
                <a:gd name="connsiteX5" fmla="*/ 174778 w 706784"/>
                <a:gd name="connsiteY5" fmla="*/ 35901 h 1098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6784" h="1098658">
                  <a:moveTo>
                    <a:pt x="174778" y="35901"/>
                  </a:moveTo>
                  <a:cubicBezTo>
                    <a:pt x="73208" y="107832"/>
                    <a:pt x="-15744" y="395346"/>
                    <a:pt x="2354" y="570025"/>
                  </a:cubicBezTo>
                  <a:cubicBezTo>
                    <a:pt x="20452" y="744704"/>
                    <a:pt x="177064" y="1035674"/>
                    <a:pt x="283369" y="1083975"/>
                  </a:cubicBezTo>
                  <a:cubicBezTo>
                    <a:pt x="389674" y="1132276"/>
                    <a:pt x="514790" y="1062389"/>
                    <a:pt x="640182" y="859832"/>
                  </a:cubicBezTo>
                  <a:cubicBezTo>
                    <a:pt x="765574" y="657275"/>
                    <a:pt x="689344" y="275762"/>
                    <a:pt x="611777" y="138440"/>
                  </a:cubicBezTo>
                  <a:cubicBezTo>
                    <a:pt x="534210" y="1118"/>
                    <a:pt x="276348" y="-36030"/>
                    <a:pt x="174778" y="35901"/>
                  </a:cubicBezTo>
                  <a:close/>
                </a:path>
              </a:pathLst>
            </a:cu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Freeform: Shape 41">
              <a:extLst>
                <a:ext uri="{FF2B5EF4-FFF2-40B4-BE49-F238E27FC236}">
                  <a16:creationId xmlns:a16="http://schemas.microsoft.com/office/drawing/2014/main" id="{F322FDD7-EA28-81CC-69FF-4DE1AD0A2C1B}"/>
                </a:ext>
              </a:extLst>
            </p:cNvPr>
            <p:cNvSpPr/>
            <p:nvPr/>
          </p:nvSpPr>
          <p:spPr>
            <a:xfrm rot="20489144">
              <a:off x="7353768" y="2117649"/>
              <a:ext cx="702224" cy="1580126"/>
            </a:xfrm>
            <a:custGeom>
              <a:avLst/>
              <a:gdLst>
                <a:gd name="connsiteX0" fmla="*/ 600104 w 1057083"/>
                <a:gd name="connsiteY0" fmla="*/ 6523 h 1513523"/>
                <a:gd name="connsiteX1" fmla="*/ 9795 w 1057083"/>
                <a:gd name="connsiteY1" fmla="*/ 486872 h 1513523"/>
                <a:gd name="connsiteX2" fmla="*/ 281800 w 1057083"/>
                <a:gd name="connsiteY2" fmla="*/ 1488082 h 1513523"/>
                <a:gd name="connsiteX3" fmla="*/ 924195 w 1057083"/>
                <a:gd name="connsiteY3" fmla="*/ 1135055 h 1513523"/>
                <a:gd name="connsiteX4" fmla="*/ 1034154 w 1057083"/>
                <a:gd name="connsiteY4" fmla="*/ 272741 h 1513523"/>
                <a:gd name="connsiteX5" fmla="*/ 600104 w 1057083"/>
                <a:gd name="connsiteY5" fmla="*/ 6523 h 1513523"/>
                <a:gd name="connsiteX0" fmla="*/ 660864 w 1056582"/>
                <a:gd name="connsiteY0" fmla="*/ 2627 h 1775845"/>
                <a:gd name="connsiteX1" fmla="*/ 12681 w 1056582"/>
                <a:gd name="connsiteY1" fmla="*/ 749194 h 1775845"/>
                <a:gd name="connsiteX2" fmla="*/ 284686 w 1056582"/>
                <a:gd name="connsiteY2" fmla="*/ 1750404 h 1775845"/>
                <a:gd name="connsiteX3" fmla="*/ 927081 w 1056582"/>
                <a:gd name="connsiteY3" fmla="*/ 1397377 h 1775845"/>
                <a:gd name="connsiteX4" fmla="*/ 1037040 w 1056582"/>
                <a:gd name="connsiteY4" fmla="*/ 535063 h 1775845"/>
                <a:gd name="connsiteX5" fmla="*/ 660864 w 1056582"/>
                <a:gd name="connsiteY5" fmla="*/ 2627 h 1775845"/>
                <a:gd name="connsiteX0" fmla="*/ 449265 w 1062403"/>
                <a:gd name="connsiteY0" fmla="*/ 2218 h 1856459"/>
                <a:gd name="connsiteX1" fmla="*/ 3639 w 1062403"/>
                <a:gd name="connsiteY1" fmla="*/ 829808 h 1856459"/>
                <a:gd name="connsiteX2" fmla="*/ 275644 w 1062403"/>
                <a:gd name="connsiteY2" fmla="*/ 1831018 h 1856459"/>
                <a:gd name="connsiteX3" fmla="*/ 918039 w 1062403"/>
                <a:gd name="connsiteY3" fmla="*/ 1477991 h 1856459"/>
                <a:gd name="connsiteX4" fmla="*/ 1027998 w 1062403"/>
                <a:gd name="connsiteY4" fmla="*/ 615677 h 1856459"/>
                <a:gd name="connsiteX5" fmla="*/ 449265 w 1062403"/>
                <a:gd name="connsiteY5" fmla="*/ 2218 h 1856459"/>
                <a:gd name="connsiteX0" fmla="*/ 449265 w 971893"/>
                <a:gd name="connsiteY0" fmla="*/ 2218 h 1856459"/>
                <a:gd name="connsiteX1" fmla="*/ 3639 w 971893"/>
                <a:gd name="connsiteY1" fmla="*/ 829808 h 1856459"/>
                <a:gd name="connsiteX2" fmla="*/ 275644 w 971893"/>
                <a:gd name="connsiteY2" fmla="*/ 1831018 h 1856459"/>
                <a:gd name="connsiteX3" fmla="*/ 918039 w 971893"/>
                <a:gd name="connsiteY3" fmla="*/ 1477991 h 1856459"/>
                <a:gd name="connsiteX4" fmla="*/ 842804 w 971893"/>
                <a:gd name="connsiteY4" fmla="*/ 615677 h 1856459"/>
                <a:gd name="connsiteX5" fmla="*/ 449265 w 971893"/>
                <a:gd name="connsiteY5" fmla="*/ 2218 h 1856459"/>
                <a:gd name="connsiteX0" fmla="*/ 448722 w 861517"/>
                <a:gd name="connsiteY0" fmla="*/ 2144 h 1846757"/>
                <a:gd name="connsiteX1" fmla="*/ 3096 w 861517"/>
                <a:gd name="connsiteY1" fmla="*/ 829734 h 1846757"/>
                <a:gd name="connsiteX2" fmla="*/ 275101 w 861517"/>
                <a:gd name="connsiteY2" fmla="*/ 1830944 h 1846757"/>
                <a:gd name="connsiteX3" fmla="*/ 726514 w 861517"/>
                <a:gd name="connsiteY3" fmla="*/ 1385319 h 1846757"/>
                <a:gd name="connsiteX4" fmla="*/ 842261 w 861517"/>
                <a:gd name="connsiteY4" fmla="*/ 615603 h 1846757"/>
                <a:gd name="connsiteX5" fmla="*/ 448722 w 861517"/>
                <a:gd name="connsiteY5" fmla="*/ 2144 h 1846757"/>
                <a:gd name="connsiteX0" fmla="*/ 470986 w 883781"/>
                <a:gd name="connsiteY0" fmla="*/ 2144 h 1846757"/>
                <a:gd name="connsiteX1" fmla="*/ 2836 w 883781"/>
                <a:gd name="connsiteY1" fmla="*/ 829734 h 1846757"/>
                <a:gd name="connsiteX2" fmla="*/ 297365 w 883781"/>
                <a:gd name="connsiteY2" fmla="*/ 1830944 h 1846757"/>
                <a:gd name="connsiteX3" fmla="*/ 748778 w 883781"/>
                <a:gd name="connsiteY3" fmla="*/ 1385319 h 1846757"/>
                <a:gd name="connsiteX4" fmla="*/ 864525 w 883781"/>
                <a:gd name="connsiteY4" fmla="*/ 615603 h 1846757"/>
                <a:gd name="connsiteX5" fmla="*/ 470986 w 883781"/>
                <a:gd name="connsiteY5" fmla="*/ 2144 h 1846757"/>
                <a:gd name="connsiteX0" fmla="*/ 594364 w 1007159"/>
                <a:gd name="connsiteY0" fmla="*/ 2144 h 1846757"/>
                <a:gd name="connsiteX1" fmla="*/ 126214 w 1007159"/>
                <a:gd name="connsiteY1" fmla="*/ 829734 h 1846757"/>
                <a:gd name="connsiteX2" fmla="*/ 420743 w 1007159"/>
                <a:gd name="connsiteY2" fmla="*/ 1830944 h 1846757"/>
                <a:gd name="connsiteX3" fmla="*/ 872156 w 1007159"/>
                <a:gd name="connsiteY3" fmla="*/ 1385319 h 1846757"/>
                <a:gd name="connsiteX4" fmla="*/ 987903 w 1007159"/>
                <a:gd name="connsiteY4" fmla="*/ 615603 h 1846757"/>
                <a:gd name="connsiteX5" fmla="*/ 594364 w 1007159"/>
                <a:gd name="connsiteY5" fmla="*/ 2144 h 1846757"/>
                <a:gd name="connsiteX0" fmla="*/ 484902 w 883206"/>
                <a:gd name="connsiteY0" fmla="*/ 41557 h 1318371"/>
                <a:gd name="connsiteX1" fmla="*/ 3238 w 883206"/>
                <a:gd name="connsiteY1" fmla="*/ 301348 h 1318371"/>
                <a:gd name="connsiteX2" fmla="*/ 297767 w 883206"/>
                <a:gd name="connsiteY2" fmla="*/ 1302558 h 1318371"/>
                <a:gd name="connsiteX3" fmla="*/ 749180 w 883206"/>
                <a:gd name="connsiteY3" fmla="*/ 856933 h 1318371"/>
                <a:gd name="connsiteX4" fmla="*/ 864927 w 883206"/>
                <a:gd name="connsiteY4" fmla="*/ 87217 h 1318371"/>
                <a:gd name="connsiteX5" fmla="*/ 484902 w 883206"/>
                <a:gd name="connsiteY5" fmla="*/ 41557 h 1318371"/>
                <a:gd name="connsiteX0" fmla="*/ 378883 w 777187"/>
                <a:gd name="connsiteY0" fmla="*/ 58675 h 1324992"/>
                <a:gd name="connsiteX1" fmla="*/ 5333 w 777187"/>
                <a:gd name="connsiteY1" fmla="*/ 584244 h 1324992"/>
                <a:gd name="connsiteX2" fmla="*/ 191748 w 777187"/>
                <a:gd name="connsiteY2" fmla="*/ 1319676 h 1324992"/>
                <a:gd name="connsiteX3" fmla="*/ 643161 w 777187"/>
                <a:gd name="connsiteY3" fmla="*/ 874051 h 1324992"/>
                <a:gd name="connsiteX4" fmla="*/ 758908 w 777187"/>
                <a:gd name="connsiteY4" fmla="*/ 104335 h 1324992"/>
                <a:gd name="connsiteX5" fmla="*/ 378883 w 777187"/>
                <a:gd name="connsiteY5" fmla="*/ 58675 h 1324992"/>
                <a:gd name="connsiteX0" fmla="*/ 374434 w 772738"/>
                <a:gd name="connsiteY0" fmla="*/ 58675 h 1112877"/>
                <a:gd name="connsiteX1" fmla="*/ 884 w 772738"/>
                <a:gd name="connsiteY1" fmla="*/ 584244 h 1112877"/>
                <a:gd name="connsiteX2" fmla="*/ 281899 w 772738"/>
                <a:gd name="connsiteY2" fmla="*/ 1098194 h 1112877"/>
                <a:gd name="connsiteX3" fmla="*/ 638712 w 772738"/>
                <a:gd name="connsiteY3" fmla="*/ 874051 h 1112877"/>
                <a:gd name="connsiteX4" fmla="*/ 754459 w 772738"/>
                <a:gd name="connsiteY4" fmla="*/ 104335 h 1112877"/>
                <a:gd name="connsiteX5" fmla="*/ 374434 w 772738"/>
                <a:gd name="connsiteY5" fmla="*/ 58675 h 1112877"/>
                <a:gd name="connsiteX0" fmla="*/ 374434 w 696889"/>
                <a:gd name="connsiteY0" fmla="*/ 37893 h 1092095"/>
                <a:gd name="connsiteX1" fmla="*/ 884 w 696889"/>
                <a:gd name="connsiteY1" fmla="*/ 563462 h 1092095"/>
                <a:gd name="connsiteX2" fmla="*/ 281899 w 696889"/>
                <a:gd name="connsiteY2" fmla="*/ 1077412 h 1092095"/>
                <a:gd name="connsiteX3" fmla="*/ 638712 w 696889"/>
                <a:gd name="connsiteY3" fmla="*/ 853269 h 1092095"/>
                <a:gd name="connsiteX4" fmla="*/ 610307 w 696889"/>
                <a:gd name="connsiteY4" fmla="*/ 131877 h 1092095"/>
                <a:gd name="connsiteX5" fmla="*/ 374434 w 696889"/>
                <a:gd name="connsiteY5" fmla="*/ 37893 h 1092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6889" h="1092095">
                  <a:moveTo>
                    <a:pt x="374434" y="37893"/>
                  </a:moveTo>
                  <a:cubicBezTo>
                    <a:pt x="272864" y="109824"/>
                    <a:pt x="16307" y="390209"/>
                    <a:pt x="884" y="563462"/>
                  </a:cubicBezTo>
                  <a:cubicBezTo>
                    <a:pt x="-14539" y="736715"/>
                    <a:pt x="175594" y="1029111"/>
                    <a:pt x="281899" y="1077412"/>
                  </a:cubicBezTo>
                  <a:cubicBezTo>
                    <a:pt x="388204" y="1125713"/>
                    <a:pt x="513320" y="1055826"/>
                    <a:pt x="638712" y="853269"/>
                  </a:cubicBezTo>
                  <a:cubicBezTo>
                    <a:pt x="764104" y="650712"/>
                    <a:pt x="654353" y="267773"/>
                    <a:pt x="610307" y="131877"/>
                  </a:cubicBezTo>
                  <a:cubicBezTo>
                    <a:pt x="566261" y="-4019"/>
                    <a:pt x="476004" y="-34038"/>
                    <a:pt x="374434" y="37893"/>
                  </a:cubicBezTo>
                  <a:close/>
                </a:path>
              </a:pathLst>
            </a:cu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Freeform: Shape 42">
              <a:extLst>
                <a:ext uri="{FF2B5EF4-FFF2-40B4-BE49-F238E27FC236}">
                  <a16:creationId xmlns:a16="http://schemas.microsoft.com/office/drawing/2014/main" id="{9C6EDE53-D2E1-208B-BE5D-5F8284D33624}"/>
                </a:ext>
              </a:extLst>
            </p:cNvPr>
            <p:cNvSpPr/>
            <p:nvPr/>
          </p:nvSpPr>
          <p:spPr>
            <a:xfrm rot="14780254">
              <a:off x="7470526" y="3255567"/>
              <a:ext cx="728212" cy="1776400"/>
            </a:xfrm>
            <a:custGeom>
              <a:avLst/>
              <a:gdLst>
                <a:gd name="connsiteX0" fmla="*/ 600104 w 1057083"/>
                <a:gd name="connsiteY0" fmla="*/ 6523 h 1513523"/>
                <a:gd name="connsiteX1" fmla="*/ 9795 w 1057083"/>
                <a:gd name="connsiteY1" fmla="*/ 486872 h 1513523"/>
                <a:gd name="connsiteX2" fmla="*/ 281800 w 1057083"/>
                <a:gd name="connsiteY2" fmla="*/ 1488082 h 1513523"/>
                <a:gd name="connsiteX3" fmla="*/ 924195 w 1057083"/>
                <a:gd name="connsiteY3" fmla="*/ 1135055 h 1513523"/>
                <a:gd name="connsiteX4" fmla="*/ 1034154 w 1057083"/>
                <a:gd name="connsiteY4" fmla="*/ 272741 h 1513523"/>
                <a:gd name="connsiteX5" fmla="*/ 600104 w 1057083"/>
                <a:gd name="connsiteY5" fmla="*/ 6523 h 1513523"/>
                <a:gd name="connsiteX0" fmla="*/ 660864 w 1056582"/>
                <a:gd name="connsiteY0" fmla="*/ 2627 h 1775845"/>
                <a:gd name="connsiteX1" fmla="*/ 12681 w 1056582"/>
                <a:gd name="connsiteY1" fmla="*/ 749194 h 1775845"/>
                <a:gd name="connsiteX2" fmla="*/ 284686 w 1056582"/>
                <a:gd name="connsiteY2" fmla="*/ 1750404 h 1775845"/>
                <a:gd name="connsiteX3" fmla="*/ 927081 w 1056582"/>
                <a:gd name="connsiteY3" fmla="*/ 1397377 h 1775845"/>
                <a:gd name="connsiteX4" fmla="*/ 1037040 w 1056582"/>
                <a:gd name="connsiteY4" fmla="*/ 535063 h 1775845"/>
                <a:gd name="connsiteX5" fmla="*/ 660864 w 1056582"/>
                <a:gd name="connsiteY5" fmla="*/ 2627 h 1775845"/>
                <a:gd name="connsiteX0" fmla="*/ 449265 w 1062403"/>
                <a:gd name="connsiteY0" fmla="*/ 2218 h 1856459"/>
                <a:gd name="connsiteX1" fmla="*/ 3639 w 1062403"/>
                <a:gd name="connsiteY1" fmla="*/ 829808 h 1856459"/>
                <a:gd name="connsiteX2" fmla="*/ 275644 w 1062403"/>
                <a:gd name="connsiteY2" fmla="*/ 1831018 h 1856459"/>
                <a:gd name="connsiteX3" fmla="*/ 918039 w 1062403"/>
                <a:gd name="connsiteY3" fmla="*/ 1477991 h 1856459"/>
                <a:gd name="connsiteX4" fmla="*/ 1027998 w 1062403"/>
                <a:gd name="connsiteY4" fmla="*/ 615677 h 1856459"/>
                <a:gd name="connsiteX5" fmla="*/ 449265 w 1062403"/>
                <a:gd name="connsiteY5" fmla="*/ 2218 h 1856459"/>
                <a:gd name="connsiteX0" fmla="*/ 449265 w 971893"/>
                <a:gd name="connsiteY0" fmla="*/ 2218 h 1856459"/>
                <a:gd name="connsiteX1" fmla="*/ 3639 w 971893"/>
                <a:gd name="connsiteY1" fmla="*/ 829808 h 1856459"/>
                <a:gd name="connsiteX2" fmla="*/ 275644 w 971893"/>
                <a:gd name="connsiteY2" fmla="*/ 1831018 h 1856459"/>
                <a:gd name="connsiteX3" fmla="*/ 918039 w 971893"/>
                <a:gd name="connsiteY3" fmla="*/ 1477991 h 1856459"/>
                <a:gd name="connsiteX4" fmla="*/ 842804 w 971893"/>
                <a:gd name="connsiteY4" fmla="*/ 615677 h 1856459"/>
                <a:gd name="connsiteX5" fmla="*/ 449265 w 971893"/>
                <a:gd name="connsiteY5" fmla="*/ 2218 h 1856459"/>
                <a:gd name="connsiteX0" fmla="*/ 448722 w 861517"/>
                <a:gd name="connsiteY0" fmla="*/ 2144 h 1846757"/>
                <a:gd name="connsiteX1" fmla="*/ 3096 w 861517"/>
                <a:gd name="connsiteY1" fmla="*/ 829734 h 1846757"/>
                <a:gd name="connsiteX2" fmla="*/ 275101 w 861517"/>
                <a:gd name="connsiteY2" fmla="*/ 1830944 h 1846757"/>
                <a:gd name="connsiteX3" fmla="*/ 726514 w 861517"/>
                <a:gd name="connsiteY3" fmla="*/ 1385319 h 1846757"/>
                <a:gd name="connsiteX4" fmla="*/ 842261 w 861517"/>
                <a:gd name="connsiteY4" fmla="*/ 615603 h 1846757"/>
                <a:gd name="connsiteX5" fmla="*/ 448722 w 861517"/>
                <a:gd name="connsiteY5" fmla="*/ 2144 h 1846757"/>
                <a:gd name="connsiteX0" fmla="*/ 470986 w 883781"/>
                <a:gd name="connsiteY0" fmla="*/ 2144 h 1846757"/>
                <a:gd name="connsiteX1" fmla="*/ 2836 w 883781"/>
                <a:gd name="connsiteY1" fmla="*/ 829734 h 1846757"/>
                <a:gd name="connsiteX2" fmla="*/ 297365 w 883781"/>
                <a:gd name="connsiteY2" fmla="*/ 1830944 h 1846757"/>
                <a:gd name="connsiteX3" fmla="*/ 748778 w 883781"/>
                <a:gd name="connsiteY3" fmla="*/ 1385319 h 1846757"/>
                <a:gd name="connsiteX4" fmla="*/ 864525 w 883781"/>
                <a:gd name="connsiteY4" fmla="*/ 615603 h 1846757"/>
                <a:gd name="connsiteX5" fmla="*/ 470986 w 883781"/>
                <a:gd name="connsiteY5" fmla="*/ 2144 h 1846757"/>
                <a:gd name="connsiteX0" fmla="*/ 594364 w 1007159"/>
                <a:gd name="connsiteY0" fmla="*/ 2144 h 1846757"/>
                <a:gd name="connsiteX1" fmla="*/ 126214 w 1007159"/>
                <a:gd name="connsiteY1" fmla="*/ 829734 h 1846757"/>
                <a:gd name="connsiteX2" fmla="*/ 420743 w 1007159"/>
                <a:gd name="connsiteY2" fmla="*/ 1830944 h 1846757"/>
                <a:gd name="connsiteX3" fmla="*/ 872156 w 1007159"/>
                <a:gd name="connsiteY3" fmla="*/ 1385319 h 1846757"/>
                <a:gd name="connsiteX4" fmla="*/ 987903 w 1007159"/>
                <a:gd name="connsiteY4" fmla="*/ 615603 h 1846757"/>
                <a:gd name="connsiteX5" fmla="*/ 594364 w 1007159"/>
                <a:gd name="connsiteY5" fmla="*/ 2144 h 1846757"/>
                <a:gd name="connsiteX0" fmla="*/ 484902 w 883206"/>
                <a:gd name="connsiteY0" fmla="*/ 41557 h 1318371"/>
                <a:gd name="connsiteX1" fmla="*/ 3238 w 883206"/>
                <a:gd name="connsiteY1" fmla="*/ 301348 h 1318371"/>
                <a:gd name="connsiteX2" fmla="*/ 297767 w 883206"/>
                <a:gd name="connsiteY2" fmla="*/ 1302558 h 1318371"/>
                <a:gd name="connsiteX3" fmla="*/ 749180 w 883206"/>
                <a:gd name="connsiteY3" fmla="*/ 856933 h 1318371"/>
                <a:gd name="connsiteX4" fmla="*/ 864927 w 883206"/>
                <a:gd name="connsiteY4" fmla="*/ 87217 h 1318371"/>
                <a:gd name="connsiteX5" fmla="*/ 484902 w 883206"/>
                <a:gd name="connsiteY5" fmla="*/ 41557 h 1318371"/>
                <a:gd name="connsiteX0" fmla="*/ 378883 w 777187"/>
                <a:gd name="connsiteY0" fmla="*/ 58675 h 1324992"/>
                <a:gd name="connsiteX1" fmla="*/ 5333 w 777187"/>
                <a:gd name="connsiteY1" fmla="*/ 584244 h 1324992"/>
                <a:gd name="connsiteX2" fmla="*/ 191748 w 777187"/>
                <a:gd name="connsiteY2" fmla="*/ 1319676 h 1324992"/>
                <a:gd name="connsiteX3" fmla="*/ 643161 w 777187"/>
                <a:gd name="connsiteY3" fmla="*/ 874051 h 1324992"/>
                <a:gd name="connsiteX4" fmla="*/ 758908 w 777187"/>
                <a:gd name="connsiteY4" fmla="*/ 104335 h 1324992"/>
                <a:gd name="connsiteX5" fmla="*/ 378883 w 777187"/>
                <a:gd name="connsiteY5" fmla="*/ 58675 h 1324992"/>
                <a:gd name="connsiteX0" fmla="*/ 374434 w 772738"/>
                <a:gd name="connsiteY0" fmla="*/ 58675 h 1112877"/>
                <a:gd name="connsiteX1" fmla="*/ 884 w 772738"/>
                <a:gd name="connsiteY1" fmla="*/ 584244 h 1112877"/>
                <a:gd name="connsiteX2" fmla="*/ 281899 w 772738"/>
                <a:gd name="connsiteY2" fmla="*/ 1098194 h 1112877"/>
                <a:gd name="connsiteX3" fmla="*/ 638712 w 772738"/>
                <a:gd name="connsiteY3" fmla="*/ 874051 h 1112877"/>
                <a:gd name="connsiteX4" fmla="*/ 754459 w 772738"/>
                <a:gd name="connsiteY4" fmla="*/ 104335 h 1112877"/>
                <a:gd name="connsiteX5" fmla="*/ 374434 w 772738"/>
                <a:gd name="connsiteY5" fmla="*/ 58675 h 1112877"/>
                <a:gd name="connsiteX0" fmla="*/ 374434 w 696889"/>
                <a:gd name="connsiteY0" fmla="*/ 37893 h 1092095"/>
                <a:gd name="connsiteX1" fmla="*/ 884 w 696889"/>
                <a:gd name="connsiteY1" fmla="*/ 563462 h 1092095"/>
                <a:gd name="connsiteX2" fmla="*/ 281899 w 696889"/>
                <a:gd name="connsiteY2" fmla="*/ 1077412 h 1092095"/>
                <a:gd name="connsiteX3" fmla="*/ 638712 w 696889"/>
                <a:gd name="connsiteY3" fmla="*/ 853269 h 1092095"/>
                <a:gd name="connsiteX4" fmla="*/ 610307 w 696889"/>
                <a:gd name="connsiteY4" fmla="*/ 131877 h 1092095"/>
                <a:gd name="connsiteX5" fmla="*/ 374434 w 696889"/>
                <a:gd name="connsiteY5" fmla="*/ 37893 h 1092095"/>
                <a:gd name="connsiteX0" fmla="*/ 473956 w 796411"/>
                <a:gd name="connsiteY0" fmla="*/ 37403 h 1092032"/>
                <a:gd name="connsiteX1" fmla="*/ 626 w 796411"/>
                <a:gd name="connsiteY1" fmla="*/ 556351 h 1092032"/>
                <a:gd name="connsiteX2" fmla="*/ 381421 w 796411"/>
                <a:gd name="connsiteY2" fmla="*/ 1076922 h 1092032"/>
                <a:gd name="connsiteX3" fmla="*/ 738234 w 796411"/>
                <a:gd name="connsiteY3" fmla="*/ 852779 h 1092032"/>
                <a:gd name="connsiteX4" fmla="*/ 709829 w 796411"/>
                <a:gd name="connsiteY4" fmla="*/ 131387 h 1092032"/>
                <a:gd name="connsiteX5" fmla="*/ 473956 w 796411"/>
                <a:gd name="connsiteY5" fmla="*/ 37403 h 1092032"/>
                <a:gd name="connsiteX0" fmla="*/ 335305 w 801608"/>
                <a:gd name="connsiteY0" fmla="*/ 27532 h 1133821"/>
                <a:gd name="connsiteX1" fmla="*/ 190 w 801608"/>
                <a:gd name="connsiteY1" fmla="*/ 598140 h 1133821"/>
                <a:gd name="connsiteX2" fmla="*/ 380985 w 801608"/>
                <a:gd name="connsiteY2" fmla="*/ 1118711 h 1133821"/>
                <a:gd name="connsiteX3" fmla="*/ 737798 w 801608"/>
                <a:gd name="connsiteY3" fmla="*/ 894568 h 1133821"/>
                <a:gd name="connsiteX4" fmla="*/ 709393 w 801608"/>
                <a:gd name="connsiteY4" fmla="*/ 173176 h 1133821"/>
                <a:gd name="connsiteX5" fmla="*/ 335305 w 801608"/>
                <a:gd name="connsiteY5" fmla="*/ 27532 h 1133821"/>
                <a:gd name="connsiteX0" fmla="*/ 335304 w 965286"/>
                <a:gd name="connsiteY0" fmla="*/ 29886 h 1158852"/>
                <a:gd name="connsiteX1" fmla="*/ 189 w 965286"/>
                <a:gd name="connsiteY1" fmla="*/ 600494 h 1158852"/>
                <a:gd name="connsiteX2" fmla="*/ 380984 w 965286"/>
                <a:gd name="connsiteY2" fmla="*/ 1121065 h 1158852"/>
                <a:gd name="connsiteX3" fmla="*/ 930593 w 965286"/>
                <a:gd name="connsiteY3" fmla="*/ 982946 h 1158852"/>
                <a:gd name="connsiteX4" fmla="*/ 709392 w 965286"/>
                <a:gd name="connsiteY4" fmla="*/ 175530 h 1158852"/>
                <a:gd name="connsiteX5" fmla="*/ 335304 w 965286"/>
                <a:gd name="connsiteY5" fmla="*/ 29886 h 1158852"/>
                <a:gd name="connsiteX0" fmla="*/ 335160 w 965142"/>
                <a:gd name="connsiteY0" fmla="*/ 29886 h 1182704"/>
                <a:gd name="connsiteX1" fmla="*/ 45 w 965142"/>
                <a:gd name="connsiteY1" fmla="*/ 600494 h 1182704"/>
                <a:gd name="connsiteX2" fmla="*/ 316305 w 965142"/>
                <a:gd name="connsiteY2" fmla="*/ 1153054 h 1182704"/>
                <a:gd name="connsiteX3" fmla="*/ 930449 w 965142"/>
                <a:gd name="connsiteY3" fmla="*/ 982946 h 1182704"/>
                <a:gd name="connsiteX4" fmla="*/ 709248 w 965142"/>
                <a:gd name="connsiteY4" fmla="*/ 175530 h 1182704"/>
                <a:gd name="connsiteX5" fmla="*/ 335160 w 965142"/>
                <a:gd name="connsiteY5" fmla="*/ 29886 h 1182704"/>
                <a:gd name="connsiteX0" fmla="*/ 335160 w 972413"/>
                <a:gd name="connsiteY0" fmla="*/ 34801 h 1187619"/>
                <a:gd name="connsiteX1" fmla="*/ 45 w 972413"/>
                <a:gd name="connsiteY1" fmla="*/ 605409 h 1187619"/>
                <a:gd name="connsiteX2" fmla="*/ 316305 w 972413"/>
                <a:gd name="connsiteY2" fmla="*/ 1157969 h 1187619"/>
                <a:gd name="connsiteX3" fmla="*/ 930449 w 972413"/>
                <a:gd name="connsiteY3" fmla="*/ 987861 h 1187619"/>
                <a:gd name="connsiteX4" fmla="*/ 770498 w 972413"/>
                <a:gd name="connsiteY4" fmla="*/ 163437 h 1187619"/>
                <a:gd name="connsiteX5" fmla="*/ 335160 w 972413"/>
                <a:gd name="connsiteY5" fmla="*/ 34801 h 1187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72413" h="1187619">
                  <a:moveTo>
                    <a:pt x="335160" y="34801"/>
                  </a:moveTo>
                  <a:cubicBezTo>
                    <a:pt x="206751" y="108463"/>
                    <a:pt x="3188" y="418214"/>
                    <a:pt x="45" y="605409"/>
                  </a:cubicBezTo>
                  <a:cubicBezTo>
                    <a:pt x="-3098" y="792604"/>
                    <a:pt x="161238" y="1094227"/>
                    <a:pt x="316305" y="1157969"/>
                  </a:cubicBezTo>
                  <a:cubicBezTo>
                    <a:pt x="471372" y="1221711"/>
                    <a:pt x="805057" y="1190418"/>
                    <a:pt x="930449" y="987861"/>
                  </a:cubicBezTo>
                  <a:cubicBezTo>
                    <a:pt x="1055841" y="785304"/>
                    <a:pt x="869713" y="322280"/>
                    <a:pt x="770498" y="163437"/>
                  </a:cubicBezTo>
                  <a:cubicBezTo>
                    <a:pt x="671283" y="4594"/>
                    <a:pt x="463569" y="-38861"/>
                    <a:pt x="335160" y="34801"/>
                  </a:cubicBezTo>
                  <a:close/>
                </a:path>
              </a:pathLst>
            </a:custGeom>
            <a:solidFill>
              <a:srgbClr val="9FE7E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 name="Freeform: Shape 43">
              <a:extLst>
                <a:ext uri="{FF2B5EF4-FFF2-40B4-BE49-F238E27FC236}">
                  <a16:creationId xmlns:a16="http://schemas.microsoft.com/office/drawing/2014/main" id="{A53B39CD-DA05-C15C-87B4-5E22440E4BA3}"/>
                </a:ext>
              </a:extLst>
            </p:cNvPr>
            <p:cNvSpPr/>
            <p:nvPr/>
          </p:nvSpPr>
          <p:spPr>
            <a:xfrm rot="7946605">
              <a:off x="7598329" y="2805663"/>
              <a:ext cx="807569" cy="1426890"/>
            </a:xfrm>
            <a:custGeom>
              <a:avLst/>
              <a:gdLst>
                <a:gd name="connsiteX0" fmla="*/ 600104 w 1057083"/>
                <a:gd name="connsiteY0" fmla="*/ 6523 h 1513523"/>
                <a:gd name="connsiteX1" fmla="*/ 9795 w 1057083"/>
                <a:gd name="connsiteY1" fmla="*/ 486872 h 1513523"/>
                <a:gd name="connsiteX2" fmla="*/ 281800 w 1057083"/>
                <a:gd name="connsiteY2" fmla="*/ 1488082 h 1513523"/>
                <a:gd name="connsiteX3" fmla="*/ 924195 w 1057083"/>
                <a:gd name="connsiteY3" fmla="*/ 1135055 h 1513523"/>
                <a:gd name="connsiteX4" fmla="*/ 1034154 w 1057083"/>
                <a:gd name="connsiteY4" fmla="*/ 272741 h 1513523"/>
                <a:gd name="connsiteX5" fmla="*/ 600104 w 1057083"/>
                <a:gd name="connsiteY5" fmla="*/ 6523 h 1513523"/>
                <a:gd name="connsiteX0" fmla="*/ 660864 w 1056582"/>
                <a:gd name="connsiteY0" fmla="*/ 2627 h 1775845"/>
                <a:gd name="connsiteX1" fmla="*/ 12681 w 1056582"/>
                <a:gd name="connsiteY1" fmla="*/ 749194 h 1775845"/>
                <a:gd name="connsiteX2" fmla="*/ 284686 w 1056582"/>
                <a:gd name="connsiteY2" fmla="*/ 1750404 h 1775845"/>
                <a:gd name="connsiteX3" fmla="*/ 927081 w 1056582"/>
                <a:gd name="connsiteY3" fmla="*/ 1397377 h 1775845"/>
                <a:gd name="connsiteX4" fmla="*/ 1037040 w 1056582"/>
                <a:gd name="connsiteY4" fmla="*/ 535063 h 1775845"/>
                <a:gd name="connsiteX5" fmla="*/ 660864 w 1056582"/>
                <a:gd name="connsiteY5" fmla="*/ 2627 h 1775845"/>
                <a:gd name="connsiteX0" fmla="*/ 449265 w 1062403"/>
                <a:gd name="connsiteY0" fmla="*/ 2218 h 1856459"/>
                <a:gd name="connsiteX1" fmla="*/ 3639 w 1062403"/>
                <a:gd name="connsiteY1" fmla="*/ 829808 h 1856459"/>
                <a:gd name="connsiteX2" fmla="*/ 275644 w 1062403"/>
                <a:gd name="connsiteY2" fmla="*/ 1831018 h 1856459"/>
                <a:gd name="connsiteX3" fmla="*/ 918039 w 1062403"/>
                <a:gd name="connsiteY3" fmla="*/ 1477991 h 1856459"/>
                <a:gd name="connsiteX4" fmla="*/ 1027998 w 1062403"/>
                <a:gd name="connsiteY4" fmla="*/ 615677 h 1856459"/>
                <a:gd name="connsiteX5" fmla="*/ 449265 w 1062403"/>
                <a:gd name="connsiteY5" fmla="*/ 2218 h 1856459"/>
                <a:gd name="connsiteX0" fmla="*/ 449265 w 971893"/>
                <a:gd name="connsiteY0" fmla="*/ 2218 h 1856459"/>
                <a:gd name="connsiteX1" fmla="*/ 3639 w 971893"/>
                <a:gd name="connsiteY1" fmla="*/ 829808 h 1856459"/>
                <a:gd name="connsiteX2" fmla="*/ 275644 w 971893"/>
                <a:gd name="connsiteY2" fmla="*/ 1831018 h 1856459"/>
                <a:gd name="connsiteX3" fmla="*/ 918039 w 971893"/>
                <a:gd name="connsiteY3" fmla="*/ 1477991 h 1856459"/>
                <a:gd name="connsiteX4" fmla="*/ 842804 w 971893"/>
                <a:gd name="connsiteY4" fmla="*/ 615677 h 1856459"/>
                <a:gd name="connsiteX5" fmla="*/ 449265 w 971893"/>
                <a:gd name="connsiteY5" fmla="*/ 2218 h 1856459"/>
                <a:gd name="connsiteX0" fmla="*/ 448722 w 861517"/>
                <a:gd name="connsiteY0" fmla="*/ 2144 h 1846757"/>
                <a:gd name="connsiteX1" fmla="*/ 3096 w 861517"/>
                <a:gd name="connsiteY1" fmla="*/ 829734 h 1846757"/>
                <a:gd name="connsiteX2" fmla="*/ 275101 w 861517"/>
                <a:gd name="connsiteY2" fmla="*/ 1830944 h 1846757"/>
                <a:gd name="connsiteX3" fmla="*/ 726514 w 861517"/>
                <a:gd name="connsiteY3" fmla="*/ 1385319 h 1846757"/>
                <a:gd name="connsiteX4" fmla="*/ 842261 w 861517"/>
                <a:gd name="connsiteY4" fmla="*/ 615603 h 1846757"/>
                <a:gd name="connsiteX5" fmla="*/ 448722 w 861517"/>
                <a:gd name="connsiteY5" fmla="*/ 2144 h 1846757"/>
                <a:gd name="connsiteX0" fmla="*/ 470986 w 883781"/>
                <a:gd name="connsiteY0" fmla="*/ 2144 h 1846757"/>
                <a:gd name="connsiteX1" fmla="*/ 2836 w 883781"/>
                <a:gd name="connsiteY1" fmla="*/ 829734 h 1846757"/>
                <a:gd name="connsiteX2" fmla="*/ 297365 w 883781"/>
                <a:gd name="connsiteY2" fmla="*/ 1830944 h 1846757"/>
                <a:gd name="connsiteX3" fmla="*/ 748778 w 883781"/>
                <a:gd name="connsiteY3" fmla="*/ 1385319 h 1846757"/>
                <a:gd name="connsiteX4" fmla="*/ 864525 w 883781"/>
                <a:gd name="connsiteY4" fmla="*/ 615603 h 1846757"/>
                <a:gd name="connsiteX5" fmla="*/ 470986 w 883781"/>
                <a:gd name="connsiteY5" fmla="*/ 2144 h 1846757"/>
                <a:gd name="connsiteX0" fmla="*/ 594364 w 1007159"/>
                <a:gd name="connsiteY0" fmla="*/ 2144 h 1846757"/>
                <a:gd name="connsiteX1" fmla="*/ 126214 w 1007159"/>
                <a:gd name="connsiteY1" fmla="*/ 829734 h 1846757"/>
                <a:gd name="connsiteX2" fmla="*/ 420743 w 1007159"/>
                <a:gd name="connsiteY2" fmla="*/ 1830944 h 1846757"/>
                <a:gd name="connsiteX3" fmla="*/ 872156 w 1007159"/>
                <a:gd name="connsiteY3" fmla="*/ 1385319 h 1846757"/>
                <a:gd name="connsiteX4" fmla="*/ 987903 w 1007159"/>
                <a:gd name="connsiteY4" fmla="*/ 615603 h 1846757"/>
                <a:gd name="connsiteX5" fmla="*/ 594364 w 1007159"/>
                <a:gd name="connsiteY5" fmla="*/ 2144 h 1846757"/>
                <a:gd name="connsiteX0" fmla="*/ 484902 w 883206"/>
                <a:gd name="connsiteY0" fmla="*/ 41557 h 1318371"/>
                <a:gd name="connsiteX1" fmla="*/ 3238 w 883206"/>
                <a:gd name="connsiteY1" fmla="*/ 301348 h 1318371"/>
                <a:gd name="connsiteX2" fmla="*/ 297767 w 883206"/>
                <a:gd name="connsiteY2" fmla="*/ 1302558 h 1318371"/>
                <a:gd name="connsiteX3" fmla="*/ 749180 w 883206"/>
                <a:gd name="connsiteY3" fmla="*/ 856933 h 1318371"/>
                <a:gd name="connsiteX4" fmla="*/ 864927 w 883206"/>
                <a:gd name="connsiteY4" fmla="*/ 87217 h 1318371"/>
                <a:gd name="connsiteX5" fmla="*/ 484902 w 883206"/>
                <a:gd name="connsiteY5" fmla="*/ 41557 h 1318371"/>
                <a:gd name="connsiteX0" fmla="*/ 378883 w 777187"/>
                <a:gd name="connsiteY0" fmla="*/ 58675 h 1324992"/>
                <a:gd name="connsiteX1" fmla="*/ 5333 w 777187"/>
                <a:gd name="connsiteY1" fmla="*/ 584244 h 1324992"/>
                <a:gd name="connsiteX2" fmla="*/ 191748 w 777187"/>
                <a:gd name="connsiteY2" fmla="*/ 1319676 h 1324992"/>
                <a:gd name="connsiteX3" fmla="*/ 643161 w 777187"/>
                <a:gd name="connsiteY3" fmla="*/ 874051 h 1324992"/>
                <a:gd name="connsiteX4" fmla="*/ 758908 w 777187"/>
                <a:gd name="connsiteY4" fmla="*/ 104335 h 1324992"/>
                <a:gd name="connsiteX5" fmla="*/ 378883 w 777187"/>
                <a:gd name="connsiteY5" fmla="*/ 58675 h 1324992"/>
                <a:gd name="connsiteX0" fmla="*/ 374434 w 772738"/>
                <a:gd name="connsiteY0" fmla="*/ 58675 h 1112877"/>
                <a:gd name="connsiteX1" fmla="*/ 884 w 772738"/>
                <a:gd name="connsiteY1" fmla="*/ 584244 h 1112877"/>
                <a:gd name="connsiteX2" fmla="*/ 281899 w 772738"/>
                <a:gd name="connsiteY2" fmla="*/ 1098194 h 1112877"/>
                <a:gd name="connsiteX3" fmla="*/ 638712 w 772738"/>
                <a:gd name="connsiteY3" fmla="*/ 874051 h 1112877"/>
                <a:gd name="connsiteX4" fmla="*/ 754459 w 772738"/>
                <a:gd name="connsiteY4" fmla="*/ 104335 h 1112877"/>
                <a:gd name="connsiteX5" fmla="*/ 374434 w 772738"/>
                <a:gd name="connsiteY5" fmla="*/ 58675 h 1112877"/>
                <a:gd name="connsiteX0" fmla="*/ 374434 w 696889"/>
                <a:gd name="connsiteY0" fmla="*/ 37893 h 1092095"/>
                <a:gd name="connsiteX1" fmla="*/ 884 w 696889"/>
                <a:gd name="connsiteY1" fmla="*/ 563462 h 1092095"/>
                <a:gd name="connsiteX2" fmla="*/ 281899 w 696889"/>
                <a:gd name="connsiteY2" fmla="*/ 1077412 h 1092095"/>
                <a:gd name="connsiteX3" fmla="*/ 638712 w 696889"/>
                <a:gd name="connsiteY3" fmla="*/ 853269 h 1092095"/>
                <a:gd name="connsiteX4" fmla="*/ 610307 w 696889"/>
                <a:gd name="connsiteY4" fmla="*/ 131877 h 1092095"/>
                <a:gd name="connsiteX5" fmla="*/ 374434 w 696889"/>
                <a:gd name="connsiteY5" fmla="*/ 37893 h 1092095"/>
                <a:gd name="connsiteX0" fmla="*/ 374434 w 809470"/>
                <a:gd name="connsiteY0" fmla="*/ 42592 h 1096794"/>
                <a:gd name="connsiteX1" fmla="*/ 884 w 809470"/>
                <a:gd name="connsiteY1" fmla="*/ 568161 h 1096794"/>
                <a:gd name="connsiteX2" fmla="*/ 281899 w 809470"/>
                <a:gd name="connsiteY2" fmla="*/ 1082111 h 1096794"/>
                <a:gd name="connsiteX3" fmla="*/ 638712 w 809470"/>
                <a:gd name="connsiteY3" fmla="*/ 857968 h 1096794"/>
                <a:gd name="connsiteX4" fmla="*/ 796963 w 809470"/>
                <a:gd name="connsiteY4" fmla="*/ 124039 h 1096794"/>
                <a:gd name="connsiteX5" fmla="*/ 374434 w 809470"/>
                <a:gd name="connsiteY5" fmla="*/ 42592 h 1096794"/>
                <a:gd name="connsiteX0" fmla="*/ 374445 w 812246"/>
                <a:gd name="connsiteY0" fmla="*/ 42824 h 1097934"/>
                <a:gd name="connsiteX1" fmla="*/ 895 w 812246"/>
                <a:gd name="connsiteY1" fmla="*/ 568393 h 1097934"/>
                <a:gd name="connsiteX2" fmla="*/ 281910 w 812246"/>
                <a:gd name="connsiteY2" fmla="*/ 1082343 h 1097934"/>
                <a:gd name="connsiteX3" fmla="*/ 654390 w 812246"/>
                <a:gd name="connsiteY3" fmla="*/ 863399 h 1097934"/>
                <a:gd name="connsiteX4" fmla="*/ 796974 w 812246"/>
                <a:gd name="connsiteY4" fmla="*/ 124271 h 1097934"/>
                <a:gd name="connsiteX5" fmla="*/ 374445 w 812246"/>
                <a:gd name="connsiteY5" fmla="*/ 42824 h 1097934"/>
                <a:gd name="connsiteX0" fmla="*/ 378769 w 816569"/>
                <a:gd name="connsiteY0" fmla="*/ 42824 h 1086805"/>
                <a:gd name="connsiteX1" fmla="*/ 5219 w 816569"/>
                <a:gd name="connsiteY1" fmla="*/ 568393 h 1086805"/>
                <a:gd name="connsiteX2" fmla="*/ 194122 w 816569"/>
                <a:gd name="connsiteY2" fmla="*/ 1069651 h 1086805"/>
                <a:gd name="connsiteX3" fmla="*/ 658714 w 816569"/>
                <a:gd name="connsiteY3" fmla="*/ 863399 h 1086805"/>
                <a:gd name="connsiteX4" fmla="*/ 801298 w 816569"/>
                <a:gd name="connsiteY4" fmla="*/ 124271 h 1086805"/>
                <a:gd name="connsiteX5" fmla="*/ 378769 w 816569"/>
                <a:gd name="connsiteY5" fmla="*/ 42824 h 1086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6569" h="1086805">
                  <a:moveTo>
                    <a:pt x="378769" y="42824"/>
                  </a:moveTo>
                  <a:cubicBezTo>
                    <a:pt x="246089" y="116844"/>
                    <a:pt x="35993" y="397255"/>
                    <a:pt x="5219" y="568393"/>
                  </a:cubicBezTo>
                  <a:cubicBezTo>
                    <a:pt x="-25555" y="739531"/>
                    <a:pt x="85206" y="1020483"/>
                    <a:pt x="194122" y="1069651"/>
                  </a:cubicBezTo>
                  <a:cubicBezTo>
                    <a:pt x="303038" y="1118819"/>
                    <a:pt x="533322" y="1065956"/>
                    <a:pt x="658714" y="863399"/>
                  </a:cubicBezTo>
                  <a:cubicBezTo>
                    <a:pt x="784106" y="660842"/>
                    <a:pt x="847956" y="261034"/>
                    <a:pt x="801298" y="124271"/>
                  </a:cubicBezTo>
                  <a:cubicBezTo>
                    <a:pt x="754641" y="-12492"/>
                    <a:pt x="511449" y="-31196"/>
                    <a:pt x="378769" y="42824"/>
                  </a:cubicBezTo>
                  <a:close/>
                </a:path>
              </a:pathLst>
            </a:custGeom>
            <a:solidFill>
              <a:srgbClr val="4DF57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Freeform: Shape 40">
              <a:extLst>
                <a:ext uri="{FF2B5EF4-FFF2-40B4-BE49-F238E27FC236}">
                  <a16:creationId xmlns:a16="http://schemas.microsoft.com/office/drawing/2014/main" id="{3A51A631-F3B0-53D5-2847-426ED4998757}"/>
                </a:ext>
              </a:extLst>
            </p:cNvPr>
            <p:cNvSpPr/>
            <p:nvPr/>
          </p:nvSpPr>
          <p:spPr>
            <a:xfrm rot="21371575">
              <a:off x="5632905" y="3959089"/>
              <a:ext cx="518428" cy="528723"/>
            </a:xfrm>
            <a:custGeom>
              <a:avLst/>
              <a:gdLst>
                <a:gd name="connsiteX0" fmla="*/ 600104 w 1057083"/>
                <a:gd name="connsiteY0" fmla="*/ 6523 h 1513523"/>
                <a:gd name="connsiteX1" fmla="*/ 9795 w 1057083"/>
                <a:gd name="connsiteY1" fmla="*/ 486872 h 1513523"/>
                <a:gd name="connsiteX2" fmla="*/ 281800 w 1057083"/>
                <a:gd name="connsiteY2" fmla="*/ 1488082 h 1513523"/>
                <a:gd name="connsiteX3" fmla="*/ 924195 w 1057083"/>
                <a:gd name="connsiteY3" fmla="*/ 1135055 h 1513523"/>
                <a:gd name="connsiteX4" fmla="*/ 1034154 w 1057083"/>
                <a:gd name="connsiteY4" fmla="*/ 272741 h 1513523"/>
                <a:gd name="connsiteX5" fmla="*/ 600104 w 1057083"/>
                <a:gd name="connsiteY5" fmla="*/ 6523 h 1513523"/>
                <a:gd name="connsiteX0" fmla="*/ 660864 w 1056582"/>
                <a:gd name="connsiteY0" fmla="*/ 2627 h 1775845"/>
                <a:gd name="connsiteX1" fmla="*/ 12681 w 1056582"/>
                <a:gd name="connsiteY1" fmla="*/ 749194 h 1775845"/>
                <a:gd name="connsiteX2" fmla="*/ 284686 w 1056582"/>
                <a:gd name="connsiteY2" fmla="*/ 1750404 h 1775845"/>
                <a:gd name="connsiteX3" fmla="*/ 927081 w 1056582"/>
                <a:gd name="connsiteY3" fmla="*/ 1397377 h 1775845"/>
                <a:gd name="connsiteX4" fmla="*/ 1037040 w 1056582"/>
                <a:gd name="connsiteY4" fmla="*/ 535063 h 1775845"/>
                <a:gd name="connsiteX5" fmla="*/ 660864 w 1056582"/>
                <a:gd name="connsiteY5" fmla="*/ 2627 h 1775845"/>
                <a:gd name="connsiteX0" fmla="*/ 449265 w 1062403"/>
                <a:gd name="connsiteY0" fmla="*/ 2218 h 1856459"/>
                <a:gd name="connsiteX1" fmla="*/ 3639 w 1062403"/>
                <a:gd name="connsiteY1" fmla="*/ 829808 h 1856459"/>
                <a:gd name="connsiteX2" fmla="*/ 275644 w 1062403"/>
                <a:gd name="connsiteY2" fmla="*/ 1831018 h 1856459"/>
                <a:gd name="connsiteX3" fmla="*/ 918039 w 1062403"/>
                <a:gd name="connsiteY3" fmla="*/ 1477991 h 1856459"/>
                <a:gd name="connsiteX4" fmla="*/ 1027998 w 1062403"/>
                <a:gd name="connsiteY4" fmla="*/ 615677 h 1856459"/>
                <a:gd name="connsiteX5" fmla="*/ 449265 w 1062403"/>
                <a:gd name="connsiteY5" fmla="*/ 2218 h 1856459"/>
                <a:gd name="connsiteX0" fmla="*/ 449265 w 971893"/>
                <a:gd name="connsiteY0" fmla="*/ 2218 h 1856459"/>
                <a:gd name="connsiteX1" fmla="*/ 3639 w 971893"/>
                <a:gd name="connsiteY1" fmla="*/ 829808 h 1856459"/>
                <a:gd name="connsiteX2" fmla="*/ 275644 w 971893"/>
                <a:gd name="connsiteY2" fmla="*/ 1831018 h 1856459"/>
                <a:gd name="connsiteX3" fmla="*/ 918039 w 971893"/>
                <a:gd name="connsiteY3" fmla="*/ 1477991 h 1856459"/>
                <a:gd name="connsiteX4" fmla="*/ 842804 w 971893"/>
                <a:gd name="connsiteY4" fmla="*/ 615677 h 1856459"/>
                <a:gd name="connsiteX5" fmla="*/ 449265 w 971893"/>
                <a:gd name="connsiteY5" fmla="*/ 2218 h 1856459"/>
                <a:gd name="connsiteX0" fmla="*/ 448722 w 861517"/>
                <a:gd name="connsiteY0" fmla="*/ 2144 h 1846757"/>
                <a:gd name="connsiteX1" fmla="*/ 3096 w 861517"/>
                <a:gd name="connsiteY1" fmla="*/ 829734 h 1846757"/>
                <a:gd name="connsiteX2" fmla="*/ 275101 w 861517"/>
                <a:gd name="connsiteY2" fmla="*/ 1830944 h 1846757"/>
                <a:gd name="connsiteX3" fmla="*/ 726514 w 861517"/>
                <a:gd name="connsiteY3" fmla="*/ 1385319 h 1846757"/>
                <a:gd name="connsiteX4" fmla="*/ 842261 w 861517"/>
                <a:gd name="connsiteY4" fmla="*/ 615603 h 1846757"/>
                <a:gd name="connsiteX5" fmla="*/ 448722 w 861517"/>
                <a:gd name="connsiteY5" fmla="*/ 2144 h 1846757"/>
                <a:gd name="connsiteX0" fmla="*/ 470986 w 883781"/>
                <a:gd name="connsiteY0" fmla="*/ 2144 h 1846757"/>
                <a:gd name="connsiteX1" fmla="*/ 2836 w 883781"/>
                <a:gd name="connsiteY1" fmla="*/ 829734 h 1846757"/>
                <a:gd name="connsiteX2" fmla="*/ 297365 w 883781"/>
                <a:gd name="connsiteY2" fmla="*/ 1830944 h 1846757"/>
                <a:gd name="connsiteX3" fmla="*/ 748778 w 883781"/>
                <a:gd name="connsiteY3" fmla="*/ 1385319 h 1846757"/>
                <a:gd name="connsiteX4" fmla="*/ 864525 w 883781"/>
                <a:gd name="connsiteY4" fmla="*/ 615603 h 1846757"/>
                <a:gd name="connsiteX5" fmla="*/ 470986 w 883781"/>
                <a:gd name="connsiteY5" fmla="*/ 2144 h 1846757"/>
                <a:gd name="connsiteX0" fmla="*/ 594364 w 1007159"/>
                <a:gd name="connsiteY0" fmla="*/ 2144 h 1846757"/>
                <a:gd name="connsiteX1" fmla="*/ 126214 w 1007159"/>
                <a:gd name="connsiteY1" fmla="*/ 829734 h 1846757"/>
                <a:gd name="connsiteX2" fmla="*/ 420743 w 1007159"/>
                <a:gd name="connsiteY2" fmla="*/ 1830944 h 1846757"/>
                <a:gd name="connsiteX3" fmla="*/ 872156 w 1007159"/>
                <a:gd name="connsiteY3" fmla="*/ 1385319 h 1846757"/>
                <a:gd name="connsiteX4" fmla="*/ 987903 w 1007159"/>
                <a:gd name="connsiteY4" fmla="*/ 615603 h 1846757"/>
                <a:gd name="connsiteX5" fmla="*/ 594364 w 1007159"/>
                <a:gd name="connsiteY5" fmla="*/ 2144 h 1846757"/>
                <a:gd name="connsiteX0" fmla="*/ 484902 w 883206"/>
                <a:gd name="connsiteY0" fmla="*/ 41557 h 1318371"/>
                <a:gd name="connsiteX1" fmla="*/ 3238 w 883206"/>
                <a:gd name="connsiteY1" fmla="*/ 301348 h 1318371"/>
                <a:gd name="connsiteX2" fmla="*/ 297767 w 883206"/>
                <a:gd name="connsiteY2" fmla="*/ 1302558 h 1318371"/>
                <a:gd name="connsiteX3" fmla="*/ 749180 w 883206"/>
                <a:gd name="connsiteY3" fmla="*/ 856933 h 1318371"/>
                <a:gd name="connsiteX4" fmla="*/ 864927 w 883206"/>
                <a:gd name="connsiteY4" fmla="*/ 87217 h 1318371"/>
                <a:gd name="connsiteX5" fmla="*/ 484902 w 883206"/>
                <a:gd name="connsiteY5" fmla="*/ 41557 h 1318371"/>
                <a:gd name="connsiteX0" fmla="*/ 378883 w 777187"/>
                <a:gd name="connsiteY0" fmla="*/ 58675 h 1324992"/>
                <a:gd name="connsiteX1" fmla="*/ 5333 w 777187"/>
                <a:gd name="connsiteY1" fmla="*/ 584244 h 1324992"/>
                <a:gd name="connsiteX2" fmla="*/ 191748 w 777187"/>
                <a:gd name="connsiteY2" fmla="*/ 1319676 h 1324992"/>
                <a:gd name="connsiteX3" fmla="*/ 643161 w 777187"/>
                <a:gd name="connsiteY3" fmla="*/ 874051 h 1324992"/>
                <a:gd name="connsiteX4" fmla="*/ 758908 w 777187"/>
                <a:gd name="connsiteY4" fmla="*/ 104335 h 1324992"/>
                <a:gd name="connsiteX5" fmla="*/ 378883 w 777187"/>
                <a:gd name="connsiteY5" fmla="*/ 58675 h 1324992"/>
                <a:gd name="connsiteX0" fmla="*/ 374434 w 772738"/>
                <a:gd name="connsiteY0" fmla="*/ 58675 h 1112877"/>
                <a:gd name="connsiteX1" fmla="*/ 884 w 772738"/>
                <a:gd name="connsiteY1" fmla="*/ 584244 h 1112877"/>
                <a:gd name="connsiteX2" fmla="*/ 281899 w 772738"/>
                <a:gd name="connsiteY2" fmla="*/ 1098194 h 1112877"/>
                <a:gd name="connsiteX3" fmla="*/ 638712 w 772738"/>
                <a:gd name="connsiteY3" fmla="*/ 874051 h 1112877"/>
                <a:gd name="connsiteX4" fmla="*/ 754459 w 772738"/>
                <a:gd name="connsiteY4" fmla="*/ 104335 h 1112877"/>
                <a:gd name="connsiteX5" fmla="*/ 374434 w 772738"/>
                <a:gd name="connsiteY5" fmla="*/ 58675 h 1112877"/>
                <a:gd name="connsiteX0" fmla="*/ 374434 w 696889"/>
                <a:gd name="connsiteY0" fmla="*/ 37893 h 1092095"/>
                <a:gd name="connsiteX1" fmla="*/ 884 w 696889"/>
                <a:gd name="connsiteY1" fmla="*/ 563462 h 1092095"/>
                <a:gd name="connsiteX2" fmla="*/ 281899 w 696889"/>
                <a:gd name="connsiteY2" fmla="*/ 1077412 h 1092095"/>
                <a:gd name="connsiteX3" fmla="*/ 638712 w 696889"/>
                <a:gd name="connsiteY3" fmla="*/ 853269 h 1092095"/>
                <a:gd name="connsiteX4" fmla="*/ 610307 w 696889"/>
                <a:gd name="connsiteY4" fmla="*/ 131877 h 1092095"/>
                <a:gd name="connsiteX5" fmla="*/ 374434 w 696889"/>
                <a:gd name="connsiteY5" fmla="*/ 37893 h 1092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6889" h="1092095">
                  <a:moveTo>
                    <a:pt x="374434" y="37893"/>
                  </a:moveTo>
                  <a:cubicBezTo>
                    <a:pt x="272864" y="109824"/>
                    <a:pt x="16307" y="390209"/>
                    <a:pt x="884" y="563462"/>
                  </a:cubicBezTo>
                  <a:cubicBezTo>
                    <a:pt x="-14539" y="736715"/>
                    <a:pt x="175594" y="1029111"/>
                    <a:pt x="281899" y="1077412"/>
                  </a:cubicBezTo>
                  <a:cubicBezTo>
                    <a:pt x="388204" y="1125713"/>
                    <a:pt x="513320" y="1055826"/>
                    <a:pt x="638712" y="853269"/>
                  </a:cubicBezTo>
                  <a:cubicBezTo>
                    <a:pt x="764104" y="650712"/>
                    <a:pt x="654353" y="267773"/>
                    <a:pt x="610307" y="131877"/>
                  </a:cubicBezTo>
                  <a:cubicBezTo>
                    <a:pt x="566261" y="-4019"/>
                    <a:pt x="476004" y="-34038"/>
                    <a:pt x="374434" y="37893"/>
                  </a:cubicBezTo>
                  <a:close/>
                </a:path>
              </a:pathLst>
            </a:cu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Freeform: Shape 36">
              <a:extLst>
                <a:ext uri="{FF2B5EF4-FFF2-40B4-BE49-F238E27FC236}">
                  <a16:creationId xmlns:a16="http://schemas.microsoft.com/office/drawing/2014/main" id="{271F8F85-634F-FDE1-5817-E1EC9F18E4F0}"/>
                </a:ext>
              </a:extLst>
            </p:cNvPr>
            <p:cNvSpPr/>
            <p:nvPr/>
          </p:nvSpPr>
          <p:spPr>
            <a:xfrm rot="12729464">
              <a:off x="5054545" y="2312012"/>
              <a:ext cx="767314" cy="1703462"/>
            </a:xfrm>
            <a:custGeom>
              <a:avLst/>
              <a:gdLst>
                <a:gd name="connsiteX0" fmla="*/ 600104 w 1057083"/>
                <a:gd name="connsiteY0" fmla="*/ 6523 h 1513523"/>
                <a:gd name="connsiteX1" fmla="*/ 9795 w 1057083"/>
                <a:gd name="connsiteY1" fmla="*/ 486872 h 1513523"/>
                <a:gd name="connsiteX2" fmla="*/ 281800 w 1057083"/>
                <a:gd name="connsiteY2" fmla="*/ 1488082 h 1513523"/>
                <a:gd name="connsiteX3" fmla="*/ 924195 w 1057083"/>
                <a:gd name="connsiteY3" fmla="*/ 1135055 h 1513523"/>
                <a:gd name="connsiteX4" fmla="*/ 1034154 w 1057083"/>
                <a:gd name="connsiteY4" fmla="*/ 272741 h 1513523"/>
                <a:gd name="connsiteX5" fmla="*/ 600104 w 1057083"/>
                <a:gd name="connsiteY5" fmla="*/ 6523 h 1513523"/>
                <a:gd name="connsiteX0" fmla="*/ 660864 w 1056582"/>
                <a:gd name="connsiteY0" fmla="*/ 2627 h 1775845"/>
                <a:gd name="connsiteX1" fmla="*/ 12681 w 1056582"/>
                <a:gd name="connsiteY1" fmla="*/ 749194 h 1775845"/>
                <a:gd name="connsiteX2" fmla="*/ 284686 w 1056582"/>
                <a:gd name="connsiteY2" fmla="*/ 1750404 h 1775845"/>
                <a:gd name="connsiteX3" fmla="*/ 927081 w 1056582"/>
                <a:gd name="connsiteY3" fmla="*/ 1397377 h 1775845"/>
                <a:gd name="connsiteX4" fmla="*/ 1037040 w 1056582"/>
                <a:gd name="connsiteY4" fmla="*/ 535063 h 1775845"/>
                <a:gd name="connsiteX5" fmla="*/ 660864 w 1056582"/>
                <a:gd name="connsiteY5" fmla="*/ 2627 h 1775845"/>
                <a:gd name="connsiteX0" fmla="*/ 449265 w 1062403"/>
                <a:gd name="connsiteY0" fmla="*/ 2218 h 1856459"/>
                <a:gd name="connsiteX1" fmla="*/ 3639 w 1062403"/>
                <a:gd name="connsiteY1" fmla="*/ 829808 h 1856459"/>
                <a:gd name="connsiteX2" fmla="*/ 275644 w 1062403"/>
                <a:gd name="connsiteY2" fmla="*/ 1831018 h 1856459"/>
                <a:gd name="connsiteX3" fmla="*/ 918039 w 1062403"/>
                <a:gd name="connsiteY3" fmla="*/ 1477991 h 1856459"/>
                <a:gd name="connsiteX4" fmla="*/ 1027998 w 1062403"/>
                <a:gd name="connsiteY4" fmla="*/ 615677 h 1856459"/>
                <a:gd name="connsiteX5" fmla="*/ 449265 w 1062403"/>
                <a:gd name="connsiteY5" fmla="*/ 2218 h 1856459"/>
                <a:gd name="connsiteX0" fmla="*/ 449265 w 971893"/>
                <a:gd name="connsiteY0" fmla="*/ 2218 h 1856459"/>
                <a:gd name="connsiteX1" fmla="*/ 3639 w 971893"/>
                <a:gd name="connsiteY1" fmla="*/ 829808 h 1856459"/>
                <a:gd name="connsiteX2" fmla="*/ 275644 w 971893"/>
                <a:gd name="connsiteY2" fmla="*/ 1831018 h 1856459"/>
                <a:gd name="connsiteX3" fmla="*/ 918039 w 971893"/>
                <a:gd name="connsiteY3" fmla="*/ 1477991 h 1856459"/>
                <a:gd name="connsiteX4" fmla="*/ 842804 w 971893"/>
                <a:gd name="connsiteY4" fmla="*/ 615677 h 1856459"/>
                <a:gd name="connsiteX5" fmla="*/ 449265 w 971893"/>
                <a:gd name="connsiteY5" fmla="*/ 2218 h 1856459"/>
                <a:gd name="connsiteX0" fmla="*/ 448722 w 861517"/>
                <a:gd name="connsiteY0" fmla="*/ 2144 h 1846757"/>
                <a:gd name="connsiteX1" fmla="*/ 3096 w 861517"/>
                <a:gd name="connsiteY1" fmla="*/ 829734 h 1846757"/>
                <a:gd name="connsiteX2" fmla="*/ 275101 w 861517"/>
                <a:gd name="connsiteY2" fmla="*/ 1830944 h 1846757"/>
                <a:gd name="connsiteX3" fmla="*/ 726514 w 861517"/>
                <a:gd name="connsiteY3" fmla="*/ 1385319 h 1846757"/>
                <a:gd name="connsiteX4" fmla="*/ 842261 w 861517"/>
                <a:gd name="connsiteY4" fmla="*/ 615603 h 1846757"/>
                <a:gd name="connsiteX5" fmla="*/ 448722 w 861517"/>
                <a:gd name="connsiteY5" fmla="*/ 2144 h 1846757"/>
                <a:gd name="connsiteX0" fmla="*/ 470986 w 883781"/>
                <a:gd name="connsiteY0" fmla="*/ 2144 h 1846757"/>
                <a:gd name="connsiteX1" fmla="*/ 2836 w 883781"/>
                <a:gd name="connsiteY1" fmla="*/ 829734 h 1846757"/>
                <a:gd name="connsiteX2" fmla="*/ 297365 w 883781"/>
                <a:gd name="connsiteY2" fmla="*/ 1830944 h 1846757"/>
                <a:gd name="connsiteX3" fmla="*/ 748778 w 883781"/>
                <a:gd name="connsiteY3" fmla="*/ 1385319 h 1846757"/>
                <a:gd name="connsiteX4" fmla="*/ 864525 w 883781"/>
                <a:gd name="connsiteY4" fmla="*/ 615603 h 1846757"/>
                <a:gd name="connsiteX5" fmla="*/ 470986 w 883781"/>
                <a:gd name="connsiteY5" fmla="*/ 2144 h 1846757"/>
                <a:gd name="connsiteX0" fmla="*/ 594364 w 1007159"/>
                <a:gd name="connsiteY0" fmla="*/ 2144 h 1846757"/>
                <a:gd name="connsiteX1" fmla="*/ 126214 w 1007159"/>
                <a:gd name="connsiteY1" fmla="*/ 829734 h 1846757"/>
                <a:gd name="connsiteX2" fmla="*/ 420743 w 1007159"/>
                <a:gd name="connsiteY2" fmla="*/ 1830944 h 1846757"/>
                <a:gd name="connsiteX3" fmla="*/ 872156 w 1007159"/>
                <a:gd name="connsiteY3" fmla="*/ 1385319 h 1846757"/>
                <a:gd name="connsiteX4" fmla="*/ 987903 w 1007159"/>
                <a:gd name="connsiteY4" fmla="*/ 615603 h 1846757"/>
                <a:gd name="connsiteX5" fmla="*/ 594364 w 1007159"/>
                <a:gd name="connsiteY5" fmla="*/ 2144 h 1846757"/>
                <a:gd name="connsiteX0" fmla="*/ 484902 w 883206"/>
                <a:gd name="connsiteY0" fmla="*/ 41557 h 1318371"/>
                <a:gd name="connsiteX1" fmla="*/ 3238 w 883206"/>
                <a:gd name="connsiteY1" fmla="*/ 301348 h 1318371"/>
                <a:gd name="connsiteX2" fmla="*/ 297767 w 883206"/>
                <a:gd name="connsiteY2" fmla="*/ 1302558 h 1318371"/>
                <a:gd name="connsiteX3" fmla="*/ 749180 w 883206"/>
                <a:gd name="connsiteY3" fmla="*/ 856933 h 1318371"/>
                <a:gd name="connsiteX4" fmla="*/ 864927 w 883206"/>
                <a:gd name="connsiteY4" fmla="*/ 87217 h 1318371"/>
                <a:gd name="connsiteX5" fmla="*/ 484902 w 883206"/>
                <a:gd name="connsiteY5" fmla="*/ 41557 h 1318371"/>
                <a:gd name="connsiteX0" fmla="*/ 378883 w 777187"/>
                <a:gd name="connsiteY0" fmla="*/ 58675 h 1324992"/>
                <a:gd name="connsiteX1" fmla="*/ 5333 w 777187"/>
                <a:gd name="connsiteY1" fmla="*/ 584244 h 1324992"/>
                <a:gd name="connsiteX2" fmla="*/ 191748 w 777187"/>
                <a:gd name="connsiteY2" fmla="*/ 1319676 h 1324992"/>
                <a:gd name="connsiteX3" fmla="*/ 643161 w 777187"/>
                <a:gd name="connsiteY3" fmla="*/ 874051 h 1324992"/>
                <a:gd name="connsiteX4" fmla="*/ 758908 w 777187"/>
                <a:gd name="connsiteY4" fmla="*/ 104335 h 1324992"/>
                <a:gd name="connsiteX5" fmla="*/ 378883 w 777187"/>
                <a:gd name="connsiteY5" fmla="*/ 58675 h 1324992"/>
                <a:gd name="connsiteX0" fmla="*/ 374434 w 772738"/>
                <a:gd name="connsiteY0" fmla="*/ 58675 h 1112877"/>
                <a:gd name="connsiteX1" fmla="*/ 884 w 772738"/>
                <a:gd name="connsiteY1" fmla="*/ 584244 h 1112877"/>
                <a:gd name="connsiteX2" fmla="*/ 281899 w 772738"/>
                <a:gd name="connsiteY2" fmla="*/ 1098194 h 1112877"/>
                <a:gd name="connsiteX3" fmla="*/ 638712 w 772738"/>
                <a:gd name="connsiteY3" fmla="*/ 874051 h 1112877"/>
                <a:gd name="connsiteX4" fmla="*/ 754459 w 772738"/>
                <a:gd name="connsiteY4" fmla="*/ 104335 h 1112877"/>
                <a:gd name="connsiteX5" fmla="*/ 374434 w 772738"/>
                <a:gd name="connsiteY5" fmla="*/ 58675 h 1112877"/>
                <a:gd name="connsiteX0" fmla="*/ 374434 w 696889"/>
                <a:gd name="connsiteY0" fmla="*/ 37893 h 1092095"/>
                <a:gd name="connsiteX1" fmla="*/ 884 w 696889"/>
                <a:gd name="connsiteY1" fmla="*/ 563462 h 1092095"/>
                <a:gd name="connsiteX2" fmla="*/ 281899 w 696889"/>
                <a:gd name="connsiteY2" fmla="*/ 1077412 h 1092095"/>
                <a:gd name="connsiteX3" fmla="*/ 638712 w 696889"/>
                <a:gd name="connsiteY3" fmla="*/ 853269 h 1092095"/>
                <a:gd name="connsiteX4" fmla="*/ 610307 w 696889"/>
                <a:gd name="connsiteY4" fmla="*/ 131877 h 1092095"/>
                <a:gd name="connsiteX5" fmla="*/ 374434 w 696889"/>
                <a:gd name="connsiteY5" fmla="*/ 37893 h 1092095"/>
                <a:gd name="connsiteX0" fmla="*/ 374434 w 840080"/>
                <a:gd name="connsiteY0" fmla="*/ 52846 h 1107048"/>
                <a:gd name="connsiteX1" fmla="*/ 884 w 840080"/>
                <a:gd name="connsiteY1" fmla="*/ 578415 h 1107048"/>
                <a:gd name="connsiteX2" fmla="*/ 281899 w 840080"/>
                <a:gd name="connsiteY2" fmla="*/ 1092365 h 1107048"/>
                <a:gd name="connsiteX3" fmla="*/ 638712 w 840080"/>
                <a:gd name="connsiteY3" fmla="*/ 868222 h 1107048"/>
                <a:gd name="connsiteX4" fmla="*/ 830193 w 840080"/>
                <a:gd name="connsiteY4" fmla="*/ 110488 h 1107048"/>
                <a:gd name="connsiteX5" fmla="*/ 374434 w 840080"/>
                <a:gd name="connsiteY5" fmla="*/ 52846 h 1107048"/>
                <a:gd name="connsiteX0" fmla="*/ 374516 w 863534"/>
                <a:gd name="connsiteY0" fmla="*/ 53332 h 1109163"/>
                <a:gd name="connsiteX1" fmla="*/ 966 w 863534"/>
                <a:gd name="connsiteY1" fmla="*/ 578901 h 1109163"/>
                <a:gd name="connsiteX2" fmla="*/ 281981 w 863534"/>
                <a:gd name="connsiteY2" fmla="*/ 1092851 h 1109163"/>
                <a:gd name="connsiteX3" fmla="*/ 744817 w 863534"/>
                <a:gd name="connsiteY3" fmla="*/ 877853 h 1109163"/>
                <a:gd name="connsiteX4" fmla="*/ 830275 w 863534"/>
                <a:gd name="connsiteY4" fmla="*/ 110974 h 1109163"/>
                <a:gd name="connsiteX5" fmla="*/ 374516 w 863534"/>
                <a:gd name="connsiteY5" fmla="*/ 53332 h 1109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534" h="1109163">
                  <a:moveTo>
                    <a:pt x="374516" y="53332"/>
                  </a:moveTo>
                  <a:cubicBezTo>
                    <a:pt x="236298" y="131320"/>
                    <a:pt x="16389" y="405648"/>
                    <a:pt x="966" y="578901"/>
                  </a:cubicBezTo>
                  <a:cubicBezTo>
                    <a:pt x="-14457" y="752154"/>
                    <a:pt x="158006" y="1043026"/>
                    <a:pt x="281981" y="1092851"/>
                  </a:cubicBezTo>
                  <a:cubicBezTo>
                    <a:pt x="405956" y="1142676"/>
                    <a:pt x="619425" y="1080410"/>
                    <a:pt x="744817" y="877853"/>
                  </a:cubicBezTo>
                  <a:cubicBezTo>
                    <a:pt x="870209" y="675296"/>
                    <a:pt x="891992" y="248394"/>
                    <a:pt x="830275" y="110974"/>
                  </a:cubicBezTo>
                  <a:cubicBezTo>
                    <a:pt x="768558" y="-26446"/>
                    <a:pt x="512734" y="-24656"/>
                    <a:pt x="374516" y="53332"/>
                  </a:cubicBezTo>
                  <a:close/>
                </a:path>
              </a:pathLst>
            </a:cu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Freeform: Shape 35">
              <a:extLst>
                <a:ext uri="{FF2B5EF4-FFF2-40B4-BE49-F238E27FC236}">
                  <a16:creationId xmlns:a16="http://schemas.microsoft.com/office/drawing/2014/main" id="{42DA142B-BEC5-4B8B-1352-DB7E3B1EC571}"/>
                </a:ext>
              </a:extLst>
            </p:cNvPr>
            <p:cNvSpPr/>
            <p:nvPr/>
          </p:nvSpPr>
          <p:spPr>
            <a:xfrm rot="21371575">
              <a:off x="3383633" y="2383334"/>
              <a:ext cx="819960" cy="1963850"/>
            </a:xfrm>
            <a:custGeom>
              <a:avLst/>
              <a:gdLst>
                <a:gd name="connsiteX0" fmla="*/ 600104 w 1057083"/>
                <a:gd name="connsiteY0" fmla="*/ 6523 h 1513523"/>
                <a:gd name="connsiteX1" fmla="*/ 9795 w 1057083"/>
                <a:gd name="connsiteY1" fmla="*/ 486872 h 1513523"/>
                <a:gd name="connsiteX2" fmla="*/ 281800 w 1057083"/>
                <a:gd name="connsiteY2" fmla="*/ 1488082 h 1513523"/>
                <a:gd name="connsiteX3" fmla="*/ 924195 w 1057083"/>
                <a:gd name="connsiteY3" fmla="*/ 1135055 h 1513523"/>
                <a:gd name="connsiteX4" fmla="*/ 1034154 w 1057083"/>
                <a:gd name="connsiteY4" fmla="*/ 272741 h 1513523"/>
                <a:gd name="connsiteX5" fmla="*/ 600104 w 1057083"/>
                <a:gd name="connsiteY5" fmla="*/ 6523 h 1513523"/>
                <a:gd name="connsiteX0" fmla="*/ 660864 w 1056582"/>
                <a:gd name="connsiteY0" fmla="*/ 2627 h 1775845"/>
                <a:gd name="connsiteX1" fmla="*/ 12681 w 1056582"/>
                <a:gd name="connsiteY1" fmla="*/ 749194 h 1775845"/>
                <a:gd name="connsiteX2" fmla="*/ 284686 w 1056582"/>
                <a:gd name="connsiteY2" fmla="*/ 1750404 h 1775845"/>
                <a:gd name="connsiteX3" fmla="*/ 927081 w 1056582"/>
                <a:gd name="connsiteY3" fmla="*/ 1397377 h 1775845"/>
                <a:gd name="connsiteX4" fmla="*/ 1037040 w 1056582"/>
                <a:gd name="connsiteY4" fmla="*/ 535063 h 1775845"/>
                <a:gd name="connsiteX5" fmla="*/ 660864 w 1056582"/>
                <a:gd name="connsiteY5" fmla="*/ 2627 h 1775845"/>
                <a:gd name="connsiteX0" fmla="*/ 449265 w 1062403"/>
                <a:gd name="connsiteY0" fmla="*/ 2218 h 1856459"/>
                <a:gd name="connsiteX1" fmla="*/ 3639 w 1062403"/>
                <a:gd name="connsiteY1" fmla="*/ 829808 h 1856459"/>
                <a:gd name="connsiteX2" fmla="*/ 275644 w 1062403"/>
                <a:gd name="connsiteY2" fmla="*/ 1831018 h 1856459"/>
                <a:gd name="connsiteX3" fmla="*/ 918039 w 1062403"/>
                <a:gd name="connsiteY3" fmla="*/ 1477991 h 1856459"/>
                <a:gd name="connsiteX4" fmla="*/ 1027998 w 1062403"/>
                <a:gd name="connsiteY4" fmla="*/ 615677 h 1856459"/>
                <a:gd name="connsiteX5" fmla="*/ 449265 w 1062403"/>
                <a:gd name="connsiteY5" fmla="*/ 2218 h 1856459"/>
                <a:gd name="connsiteX0" fmla="*/ 449265 w 971893"/>
                <a:gd name="connsiteY0" fmla="*/ 2218 h 1856459"/>
                <a:gd name="connsiteX1" fmla="*/ 3639 w 971893"/>
                <a:gd name="connsiteY1" fmla="*/ 829808 h 1856459"/>
                <a:gd name="connsiteX2" fmla="*/ 275644 w 971893"/>
                <a:gd name="connsiteY2" fmla="*/ 1831018 h 1856459"/>
                <a:gd name="connsiteX3" fmla="*/ 918039 w 971893"/>
                <a:gd name="connsiteY3" fmla="*/ 1477991 h 1856459"/>
                <a:gd name="connsiteX4" fmla="*/ 842804 w 971893"/>
                <a:gd name="connsiteY4" fmla="*/ 615677 h 1856459"/>
                <a:gd name="connsiteX5" fmla="*/ 449265 w 971893"/>
                <a:gd name="connsiteY5" fmla="*/ 2218 h 1856459"/>
                <a:gd name="connsiteX0" fmla="*/ 448722 w 861517"/>
                <a:gd name="connsiteY0" fmla="*/ 2144 h 1846757"/>
                <a:gd name="connsiteX1" fmla="*/ 3096 w 861517"/>
                <a:gd name="connsiteY1" fmla="*/ 829734 h 1846757"/>
                <a:gd name="connsiteX2" fmla="*/ 275101 w 861517"/>
                <a:gd name="connsiteY2" fmla="*/ 1830944 h 1846757"/>
                <a:gd name="connsiteX3" fmla="*/ 726514 w 861517"/>
                <a:gd name="connsiteY3" fmla="*/ 1385319 h 1846757"/>
                <a:gd name="connsiteX4" fmla="*/ 842261 w 861517"/>
                <a:gd name="connsiteY4" fmla="*/ 615603 h 1846757"/>
                <a:gd name="connsiteX5" fmla="*/ 448722 w 861517"/>
                <a:gd name="connsiteY5" fmla="*/ 2144 h 1846757"/>
                <a:gd name="connsiteX0" fmla="*/ 470986 w 883781"/>
                <a:gd name="connsiteY0" fmla="*/ 2144 h 1846757"/>
                <a:gd name="connsiteX1" fmla="*/ 2836 w 883781"/>
                <a:gd name="connsiteY1" fmla="*/ 829734 h 1846757"/>
                <a:gd name="connsiteX2" fmla="*/ 297365 w 883781"/>
                <a:gd name="connsiteY2" fmla="*/ 1830944 h 1846757"/>
                <a:gd name="connsiteX3" fmla="*/ 748778 w 883781"/>
                <a:gd name="connsiteY3" fmla="*/ 1385319 h 1846757"/>
                <a:gd name="connsiteX4" fmla="*/ 864525 w 883781"/>
                <a:gd name="connsiteY4" fmla="*/ 615603 h 1846757"/>
                <a:gd name="connsiteX5" fmla="*/ 470986 w 883781"/>
                <a:gd name="connsiteY5" fmla="*/ 2144 h 1846757"/>
                <a:gd name="connsiteX0" fmla="*/ 594364 w 1007159"/>
                <a:gd name="connsiteY0" fmla="*/ 2144 h 1846757"/>
                <a:gd name="connsiteX1" fmla="*/ 126214 w 1007159"/>
                <a:gd name="connsiteY1" fmla="*/ 829734 h 1846757"/>
                <a:gd name="connsiteX2" fmla="*/ 420743 w 1007159"/>
                <a:gd name="connsiteY2" fmla="*/ 1830944 h 1846757"/>
                <a:gd name="connsiteX3" fmla="*/ 872156 w 1007159"/>
                <a:gd name="connsiteY3" fmla="*/ 1385319 h 1846757"/>
                <a:gd name="connsiteX4" fmla="*/ 987903 w 1007159"/>
                <a:gd name="connsiteY4" fmla="*/ 615603 h 1846757"/>
                <a:gd name="connsiteX5" fmla="*/ 594364 w 1007159"/>
                <a:gd name="connsiteY5" fmla="*/ 2144 h 1846757"/>
                <a:gd name="connsiteX0" fmla="*/ 484902 w 883206"/>
                <a:gd name="connsiteY0" fmla="*/ 41557 h 1318371"/>
                <a:gd name="connsiteX1" fmla="*/ 3238 w 883206"/>
                <a:gd name="connsiteY1" fmla="*/ 301348 h 1318371"/>
                <a:gd name="connsiteX2" fmla="*/ 297767 w 883206"/>
                <a:gd name="connsiteY2" fmla="*/ 1302558 h 1318371"/>
                <a:gd name="connsiteX3" fmla="*/ 749180 w 883206"/>
                <a:gd name="connsiteY3" fmla="*/ 856933 h 1318371"/>
                <a:gd name="connsiteX4" fmla="*/ 864927 w 883206"/>
                <a:gd name="connsiteY4" fmla="*/ 87217 h 1318371"/>
                <a:gd name="connsiteX5" fmla="*/ 484902 w 883206"/>
                <a:gd name="connsiteY5" fmla="*/ 41557 h 1318371"/>
                <a:gd name="connsiteX0" fmla="*/ 378883 w 777187"/>
                <a:gd name="connsiteY0" fmla="*/ 58675 h 1324992"/>
                <a:gd name="connsiteX1" fmla="*/ 5333 w 777187"/>
                <a:gd name="connsiteY1" fmla="*/ 584244 h 1324992"/>
                <a:gd name="connsiteX2" fmla="*/ 191748 w 777187"/>
                <a:gd name="connsiteY2" fmla="*/ 1319676 h 1324992"/>
                <a:gd name="connsiteX3" fmla="*/ 643161 w 777187"/>
                <a:gd name="connsiteY3" fmla="*/ 874051 h 1324992"/>
                <a:gd name="connsiteX4" fmla="*/ 758908 w 777187"/>
                <a:gd name="connsiteY4" fmla="*/ 104335 h 1324992"/>
                <a:gd name="connsiteX5" fmla="*/ 378883 w 777187"/>
                <a:gd name="connsiteY5" fmla="*/ 58675 h 1324992"/>
                <a:gd name="connsiteX0" fmla="*/ 374434 w 772738"/>
                <a:gd name="connsiteY0" fmla="*/ 58675 h 1112877"/>
                <a:gd name="connsiteX1" fmla="*/ 884 w 772738"/>
                <a:gd name="connsiteY1" fmla="*/ 584244 h 1112877"/>
                <a:gd name="connsiteX2" fmla="*/ 281899 w 772738"/>
                <a:gd name="connsiteY2" fmla="*/ 1098194 h 1112877"/>
                <a:gd name="connsiteX3" fmla="*/ 638712 w 772738"/>
                <a:gd name="connsiteY3" fmla="*/ 874051 h 1112877"/>
                <a:gd name="connsiteX4" fmla="*/ 754459 w 772738"/>
                <a:gd name="connsiteY4" fmla="*/ 104335 h 1112877"/>
                <a:gd name="connsiteX5" fmla="*/ 374434 w 772738"/>
                <a:gd name="connsiteY5" fmla="*/ 58675 h 1112877"/>
                <a:gd name="connsiteX0" fmla="*/ 374434 w 696889"/>
                <a:gd name="connsiteY0" fmla="*/ 37893 h 1092095"/>
                <a:gd name="connsiteX1" fmla="*/ 884 w 696889"/>
                <a:gd name="connsiteY1" fmla="*/ 563462 h 1092095"/>
                <a:gd name="connsiteX2" fmla="*/ 281899 w 696889"/>
                <a:gd name="connsiteY2" fmla="*/ 1077412 h 1092095"/>
                <a:gd name="connsiteX3" fmla="*/ 638712 w 696889"/>
                <a:gd name="connsiteY3" fmla="*/ 853269 h 1092095"/>
                <a:gd name="connsiteX4" fmla="*/ 610307 w 696889"/>
                <a:gd name="connsiteY4" fmla="*/ 131877 h 1092095"/>
                <a:gd name="connsiteX5" fmla="*/ 374434 w 696889"/>
                <a:gd name="connsiteY5" fmla="*/ 37893 h 1092095"/>
                <a:gd name="connsiteX0" fmla="*/ 374434 w 838217"/>
                <a:gd name="connsiteY0" fmla="*/ 42753 h 1096955"/>
                <a:gd name="connsiteX1" fmla="*/ 884 w 838217"/>
                <a:gd name="connsiteY1" fmla="*/ 568322 h 1096955"/>
                <a:gd name="connsiteX2" fmla="*/ 281899 w 838217"/>
                <a:gd name="connsiteY2" fmla="*/ 1082272 h 1096955"/>
                <a:gd name="connsiteX3" fmla="*/ 638712 w 838217"/>
                <a:gd name="connsiteY3" fmla="*/ 858129 h 1096955"/>
                <a:gd name="connsiteX4" fmla="*/ 828203 w 838217"/>
                <a:gd name="connsiteY4" fmla="*/ 123793 h 1096955"/>
                <a:gd name="connsiteX5" fmla="*/ 374434 w 838217"/>
                <a:gd name="connsiteY5" fmla="*/ 42753 h 1096955"/>
                <a:gd name="connsiteX0" fmla="*/ 171527 w 853652"/>
                <a:gd name="connsiteY0" fmla="*/ 35516 h 1119582"/>
                <a:gd name="connsiteX1" fmla="*/ 3909 w 853652"/>
                <a:gd name="connsiteY1" fmla="*/ 590949 h 1119582"/>
                <a:gd name="connsiteX2" fmla="*/ 284924 w 853652"/>
                <a:gd name="connsiteY2" fmla="*/ 1104899 h 1119582"/>
                <a:gd name="connsiteX3" fmla="*/ 641737 w 853652"/>
                <a:gd name="connsiteY3" fmla="*/ 880756 h 1119582"/>
                <a:gd name="connsiteX4" fmla="*/ 831228 w 853652"/>
                <a:gd name="connsiteY4" fmla="*/ 146420 h 1119582"/>
                <a:gd name="connsiteX5" fmla="*/ 171527 w 853652"/>
                <a:gd name="connsiteY5" fmla="*/ 35516 h 1119582"/>
                <a:gd name="connsiteX0" fmla="*/ 180537 w 862662"/>
                <a:gd name="connsiteY0" fmla="*/ 35516 h 1131520"/>
                <a:gd name="connsiteX1" fmla="*/ 12919 w 862662"/>
                <a:gd name="connsiteY1" fmla="*/ 590949 h 1131520"/>
                <a:gd name="connsiteX2" fmla="*/ 83223 w 862662"/>
                <a:gd name="connsiteY2" fmla="*/ 1118131 h 1131520"/>
                <a:gd name="connsiteX3" fmla="*/ 650747 w 862662"/>
                <a:gd name="connsiteY3" fmla="*/ 880756 h 1131520"/>
                <a:gd name="connsiteX4" fmla="*/ 840238 w 862662"/>
                <a:gd name="connsiteY4" fmla="*/ 146420 h 1131520"/>
                <a:gd name="connsiteX5" fmla="*/ 180537 w 862662"/>
                <a:gd name="connsiteY5" fmla="*/ 35516 h 1131520"/>
                <a:gd name="connsiteX0" fmla="*/ 186621 w 901090"/>
                <a:gd name="connsiteY0" fmla="*/ 35923 h 1133769"/>
                <a:gd name="connsiteX1" fmla="*/ 19003 w 901090"/>
                <a:gd name="connsiteY1" fmla="*/ 591356 h 1133769"/>
                <a:gd name="connsiteX2" fmla="*/ 89307 w 901090"/>
                <a:gd name="connsiteY2" fmla="*/ 1118538 h 1133769"/>
                <a:gd name="connsiteX3" fmla="*/ 777994 w 901090"/>
                <a:gd name="connsiteY3" fmla="*/ 892617 h 1133769"/>
                <a:gd name="connsiteX4" fmla="*/ 846322 w 901090"/>
                <a:gd name="connsiteY4" fmla="*/ 146827 h 1133769"/>
                <a:gd name="connsiteX5" fmla="*/ 186621 w 901090"/>
                <a:gd name="connsiteY5" fmla="*/ 35923 h 1133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1090" h="1133769">
                  <a:moveTo>
                    <a:pt x="186621" y="35923"/>
                  </a:moveTo>
                  <a:cubicBezTo>
                    <a:pt x="48735" y="110011"/>
                    <a:pt x="35222" y="410920"/>
                    <a:pt x="19003" y="591356"/>
                  </a:cubicBezTo>
                  <a:cubicBezTo>
                    <a:pt x="2784" y="771792"/>
                    <a:pt x="-37192" y="1068328"/>
                    <a:pt x="89307" y="1118538"/>
                  </a:cubicBezTo>
                  <a:cubicBezTo>
                    <a:pt x="215806" y="1168748"/>
                    <a:pt x="652602" y="1095174"/>
                    <a:pt x="777994" y="892617"/>
                  </a:cubicBezTo>
                  <a:cubicBezTo>
                    <a:pt x="903386" y="690060"/>
                    <a:pt x="944884" y="289609"/>
                    <a:pt x="846322" y="146827"/>
                  </a:cubicBezTo>
                  <a:cubicBezTo>
                    <a:pt x="747760" y="4045"/>
                    <a:pt x="324507" y="-38165"/>
                    <a:pt x="186621" y="35923"/>
                  </a:cubicBezTo>
                  <a:close/>
                </a:path>
              </a:pathLst>
            </a:cu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Freeform: Shape 38">
              <a:extLst>
                <a:ext uri="{FF2B5EF4-FFF2-40B4-BE49-F238E27FC236}">
                  <a16:creationId xmlns:a16="http://schemas.microsoft.com/office/drawing/2014/main" id="{D8903727-C4C1-E6BD-A2D6-A0AEE24B0C90}"/>
                </a:ext>
              </a:extLst>
            </p:cNvPr>
            <p:cNvSpPr/>
            <p:nvPr/>
          </p:nvSpPr>
          <p:spPr>
            <a:xfrm rot="14013368">
              <a:off x="3841967" y="2008243"/>
              <a:ext cx="679150" cy="1322468"/>
            </a:xfrm>
            <a:custGeom>
              <a:avLst/>
              <a:gdLst>
                <a:gd name="connsiteX0" fmla="*/ 600104 w 1057083"/>
                <a:gd name="connsiteY0" fmla="*/ 6523 h 1513523"/>
                <a:gd name="connsiteX1" fmla="*/ 9795 w 1057083"/>
                <a:gd name="connsiteY1" fmla="*/ 486872 h 1513523"/>
                <a:gd name="connsiteX2" fmla="*/ 281800 w 1057083"/>
                <a:gd name="connsiteY2" fmla="*/ 1488082 h 1513523"/>
                <a:gd name="connsiteX3" fmla="*/ 924195 w 1057083"/>
                <a:gd name="connsiteY3" fmla="*/ 1135055 h 1513523"/>
                <a:gd name="connsiteX4" fmla="*/ 1034154 w 1057083"/>
                <a:gd name="connsiteY4" fmla="*/ 272741 h 1513523"/>
                <a:gd name="connsiteX5" fmla="*/ 600104 w 1057083"/>
                <a:gd name="connsiteY5" fmla="*/ 6523 h 1513523"/>
                <a:gd name="connsiteX0" fmla="*/ 660864 w 1056582"/>
                <a:gd name="connsiteY0" fmla="*/ 2627 h 1775845"/>
                <a:gd name="connsiteX1" fmla="*/ 12681 w 1056582"/>
                <a:gd name="connsiteY1" fmla="*/ 749194 h 1775845"/>
                <a:gd name="connsiteX2" fmla="*/ 284686 w 1056582"/>
                <a:gd name="connsiteY2" fmla="*/ 1750404 h 1775845"/>
                <a:gd name="connsiteX3" fmla="*/ 927081 w 1056582"/>
                <a:gd name="connsiteY3" fmla="*/ 1397377 h 1775845"/>
                <a:gd name="connsiteX4" fmla="*/ 1037040 w 1056582"/>
                <a:gd name="connsiteY4" fmla="*/ 535063 h 1775845"/>
                <a:gd name="connsiteX5" fmla="*/ 660864 w 1056582"/>
                <a:gd name="connsiteY5" fmla="*/ 2627 h 1775845"/>
                <a:gd name="connsiteX0" fmla="*/ 449265 w 1062403"/>
                <a:gd name="connsiteY0" fmla="*/ 2218 h 1856459"/>
                <a:gd name="connsiteX1" fmla="*/ 3639 w 1062403"/>
                <a:gd name="connsiteY1" fmla="*/ 829808 h 1856459"/>
                <a:gd name="connsiteX2" fmla="*/ 275644 w 1062403"/>
                <a:gd name="connsiteY2" fmla="*/ 1831018 h 1856459"/>
                <a:gd name="connsiteX3" fmla="*/ 918039 w 1062403"/>
                <a:gd name="connsiteY3" fmla="*/ 1477991 h 1856459"/>
                <a:gd name="connsiteX4" fmla="*/ 1027998 w 1062403"/>
                <a:gd name="connsiteY4" fmla="*/ 615677 h 1856459"/>
                <a:gd name="connsiteX5" fmla="*/ 449265 w 1062403"/>
                <a:gd name="connsiteY5" fmla="*/ 2218 h 1856459"/>
                <a:gd name="connsiteX0" fmla="*/ 449265 w 971893"/>
                <a:gd name="connsiteY0" fmla="*/ 2218 h 1856459"/>
                <a:gd name="connsiteX1" fmla="*/ 3639 w 971893"/>
                <a:gd name="connsiteY1" fmla="*/ 829808 h 1856459"/>
                <a:gd name="connsiteX2" fmla="*/ 275644 w 971893"/>
                <a:gd name="connsiteY2" fmla="*/ 1831018 h 1856459"/>
                <a:gd name="connsiteX3" fmla="*/ 918039 w 971893"/>
                <a:gd name="connsiteY3" fmla="*/ 1477991 h 1856459"/>
                <a:gd name="connsiteX4" fmla="*/ 842804 w 971893"/>
                <a:gd name="connsiteY4" fmla="*/ 615677 h 1856459"/>
                <a:gd name="connsiteX5" fmla="*/ 449265 w 971893"/>
                <a:gd name="connsiteY5" fmla="*/ 2218 h 1856459"/>
                <a:gd name="connsiteX0" fmla="*/ 448722 w 861517"/>
                <a:gd name="connsiteY0" fmla="*/ 2144 h 1846757"/>
                <a:gd name="connsiteX1" fmla="*/ 3096 w 861517"/>
                <a:gd name="connsiteY1" fmla="*/ 829734 h 1846757"/>
                <a:gd name="connsiteX2" fmla="*/ 275101 w 861517"/>
                <a:gd name="connsiteY2" fmla="*/ 1830944 h 1846757"/>
                <a:gd name="connsiteX3" fmla="*/ 726514 w 861517"/>
                <a:gd name="connsiteY3" fmla="*/ 1385319 h 1846757"/>
                <a:gd name="connsiteX4" fmla="*/ 842261 w 861517"/>
                <a:gd name="connsiteY4" fmla="*/ 615603 h 1846757"/>
                <a:gd name="connsiteX5" fmla="*/ 448722 w 861517"/>
                <a:gd name="connsiteY5" fmla="*/ 2144 h 1846757"/>
                <a:gd name="connsiteX0" fmla="*/ 470986 w 883781"/>
                <a:gd name="connsiteY0" fmla="*/ 2144 h 1846757"/>
                <a:gd name="connsiteX1" fmla="*/ 2836 w 883781"/>
                <a:gd name="connsiteY1" fmla="*/ 829734 h 1846757"/>
                <a:gd name="connsiteX2" fmla="*/ 297365 w 883781"/>
                <a:gd name="connsiteY2" fmla="*/ 1830944 h 1846757"/>
                <a:gd name="connsiteX3" fmla="*/ 748778 w 883781"/>
                <a:gd name="connsiteY3" fmla="*/ 1385319 h 1846757"/>
                <a:gd name="connsiteX4" fmla="*/ 864525 w 883781"/>
                <a:gd name="connsiteY4" fmla="*/ 615603 h 1846757"/>
                <a:gd name="connsiteX5" fmla="*/ 470986 w 883781"/>
                <a:gd name="connsiteY5" fmla="*/ 2144 h 1846757"/>
                <a:gd name="connsiteX0" fmla="*/ 594364 w 1007159"/>
                <a:gd name="connsiteY0" fmla="*/ 2144 h 1846757"/>
                <a:gd name="connsiteX1" fmla="*/ 126214 w 1007159"/>
                <a:gd name="connsiteY1" fmla="*/ 829734 h 1846757"/>
                <a:gd name="connsiteX2" fmla="*/ 420743 w 1007159"/>
                <a:gd name="connsiteY2" fmla="*/ 1830944 h 1846757"/>
                <a:gd name="connsiteX3" fmla="*/ 872156 w 1007159"/>
                <a:gd name="connsiteY3" fmla="*/ 1385319 h 1846757"/>
                <a:gd name="connsiteX4" fmla="*/ 987903 w 1007159"/>
                <a:gd name="connsiteY4" fmla="*/ 615603 h 1846757"/>
                <a:gd name="connsiteX5" fmla="*/ 594364 w 1007159"/>
                <a:gd name="connsiteY5" fmla="*/ 2144 h 1846757"/>
                <a:gd name="connsiteX0" fmla="*/ 484902 w 883206"/>
                <a:gd name="connsiteY0" fmla="*/ 41557 h 1318371"/>
                <a:gd name="connsiteX1" fmla="*/ 3238 w 883206"/>
                <a:gd name="connsiteY1" fmla="*/ 301348 h 1318371"/>
                <a:gd name="connsiteX2" fmla="*/ 297767 w 883206"/>
                <a:gd name="connsiteY2" fmla="*/ 1302558 h 1318371"/>
                <a:gd name="connsiteX3" fmla="*/ 749180 w 883206"/>
                <a:gd name="connsiteY3" fmla="*/ 856933 h 1318371"/>
                <a:gd name="connsiteX4" fmla="*/ 864927 w 883206"/>
                <a:gd name="connsiteY4" fmla="*/ 87217 h 1318371"/>
                <a:gd name="connsiteX5" fmla="*/ 484902 w 883206"/>
                <a:gd name="connsiteY5" fmla="*/ 41557 h 1318371"/>
                <a:gd name="connsiteX0" fmla="*/ 378883 w 777187"/>
                <a:gd name="connsiteY0" fmla="*/ 58675 h 1324992"/>
                <a:gd name="connsiteX1" fmla="*/ 5333 w 777187"/>
                <a:gd name="connsiteY1" fmla="*/ 584244 h 1324992"/>
                <a:gd name="connsiteX2" fmla="*/ 191748 w 777187"/>
                <a:gd name="connsiteY2" fmla="*/ 1319676 h 1324992"/>
                <a:gd name="connsiteX3" fmla="*/ 643161 w 777187"/>
                <a:gd name="connsiteY3" fmla="*/ 874051 h 1324992"/>
                <a:gd name="connsiteX4" fmla="*/ 758908 w 777187"/>
                <a:gd name="connsiteY4" fmla="*/ 104335 h 1324992"/>
                <a:gd name="connsiteX5" fmla="*/ 378883 w 777187"/>
                <a:gd name="connsiteY5" fmla="*/ 58675 h 1324992"/>
                <a:gd name="connsiteX0" fmla="*/ 374434 w 772738"/>
                <a:gd name="connsiteY0" fmla="*/ 58675 h 1112877"/>
                <a:gd name="connsiteX1" fmla="*/ 884 w 772738"/>
                <a:gd name="connsiteY1" fmla="*/ 584244 h 1112877"/>
                <a:gd name="connsiteX2" fmla="*/ 281899 w 772738"/>
                <a:gd name="connsiteY2" fmla="*/ 1098194 h 1112877"/>
                <a:gd name="connsiteX3" fmla="*/ 638712 w 772738"/>
                <a:gd name="connsiteY3" fmla="*/ 874051 h 1112877"/>
                <a:gd name="connsiteX4" fmla="*/ 754459 w 772738"/>
                <a:gd name="connsiteY4" fmla="*/ 104335 h 1112877"/>
                <a:gd name="connsiteX5" fmla="*/ 374434 w 772738"/>
                <a:gd name="connsiteY5" fmla="*/ 58675 h 1112877"/>
                <a:gd name="connsiteX0" fmla="*/ 374434 w 696889"/>
                <a:gd name="connsiteY0" fmla="*/ 37893 h 1092095"/>
                <a:gd name="connsiteX1" fmla="*/ 884 w 696889"/>
                <a:gd name="connsiteY1" fmla="*/ 563462 h 1092095"/>
                <a:gd name="connsiteX2" fmla="*/ 281899 w 696889"/>
                <a:gd name="connsiteY2" fmla="*/ 1077412 h 1092095"/>
                <a:gd name="connsiteX3" fmla="*/ 638712 w 696889"/>
                <a:gd name="connsiteY3" fmla="*/ 853269 h 1092095"/>
                <a:gd name="connsiteX4" fmla="*/ 610307 w 696889"/>
                <a:gd name="connsiteY4" fmla="*/ 131877 h 1092095"/>
                <a:gd name="connsiteX5" fmla="*/ 374434 w 696889"/>
                <a:gd name="connsiteY5" fmla="*/ 37893 h 1092095"/>
                <a:gd name="connsiteX0" fmla="*/ 374434 w 752417"/>
                <a:gd name="connsiteY0" fmla="*/ 50114 h 1104316"/>
                <a:gd name="connsiteX1" fmla="*/ 884 w 752417"/>
                <a:gd name="connsiteY1" fmla="*/ 575683 h 1104316"/>
                <a:gd name="connsiteX2" fmla="*/ 281899 w 752417"/>
                <a:gd name="connsiteY2" fmla="*/ 1089633 h 1104316"/>
                <a:gd name="connsiteX3" fmla="*/ 638712 w 752417"/>
                <a:gd name="connsiteY3" fmla="*/ 865490 h 1104316"/>
                <a:gd name="connsiteX4" fmla="*/ 728111 w 752417"/>
                <a:gd name="connsiteY4" fmla="*/ 113715 h 1104316"/>
                <a:gd name="connsiteX5" fmla="*/ 374434 w 752417"/>
                <a:gd name="connsiteY5" fmla="*/ 50114 h 1104316"/>
                <a:gd name="connsiteX0" fmla="*/ 170839 w 769996"/>
                <a:gd name="connsiteY0" fmla="*/ 38450 h 1135314"/>
                <a:gd name="connsiteX1" fmla="*/ 3222 w 769996"/>
                <a:gd name="connsiteY1" fmla="*/ 606681 h 1135314"/>
                <a:gd name="connsiteX2" fmla="*/ 284237 w 769996"/>
                <a:gd name="connsiteY2" fmla="*/ 1120631 h 1135314"/>
                <a:gd name="connsiteX3" fmla="*/ 641050 w 769996"/>
                <a:gd name="connsiteY3" fmla="*/ 896488 h 1135314"/>
                <a:gd name="connsiteX4" fmla="*/ 730449 w 769996"/>
                <a:gd name="connsiteY4" fmla="*/ 144713 h 1135314"/>
                <a:gd name="connsiteX5" fmla="*/ 170839 w 769996"/>
                <a:gd name="connsiteY5" fmla="*/ 38450 h 1135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996" h="1135314">
                  <a:moveTo>
                    <a:pt x="170839" y="38450"/>
                  </a:moveTo>
                  <a:cubicBezTo>
                    <a:pt x="49635" y="115445"/>
                    <a:pt x="-15678" y="426318"/>
                    <a:pt x="3222" y="606681"/>
                  </a:cubicBezTo>
                  <a:cubicBezTo>
                    <a:pt x="22122" y="787044"/>
                    <a:pt x="177932" y="1072330"/>
                    <a:pt x="284237" y="1120631"/>
                  </a:cubicBezTo>
                  <a:cubicBezTo>
                    <a:pt x="390542" y="1168932"/>
                    <a:pt x="515658" y="1099045"/>
                    <a:pt x="641050" y="896488"/>
                  </a:cubicBezTo>
                  <a:cubicBezTo>
                    <a:pt x="766442" y="693931"/>
                    <a:pt x="808817" y="287719"/>
                    <a:pt x="730449" y="144713"/>
                  </a:cubicBezTo>
                  <a:cubicBezTo>
                    <a:pt x="652081" y="1707"/>
                    <a:pt x="292043" y="-38545"/>
                    <a:pt x="170839" y="38450"/>
                  </a:cubicBezTo>
                  <a:close/>
                </a:path>
              </a:pathLst>
            </a:custGeom>
            <a:solidFill>
              <a:srgbClr val="F86E4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 name="Freeform: Shape 31">
              <a:extLst>
                <a:ext uri="{FF2B5EF4-FFF2-40B4-BE49-F238E27FC236}">
                  <a16:creationId xmlns:a16="http://schemas.microsoft.com/office/drawing/2014/main" id="{5C9F36E2-A647-DEFE-5F81-EFB79B13A23C}"/>
                </a:ext>
              </a:extLst>
            </p:cNvPr>
            <p:cNvSpPr/>
            <p:nvPr/>
          </p:nvSpPr>
          <p:spPr>
            <a:xfrm rot="8713937">
              <a:off x="3612006" y="3602865"/>
              <a:ext cx="680673" cy="1137486"/>
            </a:xfrm>
            <a:custGeom>
              <a:avLst/>
              <a:gdLst>
                <a:gd name="connsiteX0" fmla="*/ 600104 w 1057083"/>
                <a:gd name="connsiteY0" fmla="*/ 6523 h 1513523"/>
                <a:gd name="connsiteX1" fmla="*/ 9795 w 1057083"/>
                <a:gd name="connsiteY1" fmla="*/ 486872 h 1513523"/>
                <a:gd name="connsiteX2" fmla="*/ 281800 w 1057083"/>
                <a:gd name="connsiteY2" fmla="*/ 1488082 h 1513523"/>
                <a:gd name="connsiteX3" fmla="*/ 924195 w 1057083"/>
                <a:gd name="connsiteY3" fmla="*/ 1135055 h 1513523"/>
                <a:gd name="connsiteX4" fmla="*/ 1034154 w 1057083"/>
                <a:gd name="connsiteY4" fmla="*/ 272741 h 1513523"/>
                <a:gd name="connsiteX5" fmla="*/ 600104 w 1057083"/>
                <a:gd name="connsiteY5" fmla="*/ 6523 h 1513523"/>
                <a:gd name="connsiteX0" fmla="*/ 660864 w 1056582"/>
                <a:gd name="connsiteY0" fmla="*/ 2627 h 1775845"/>
                <a:gd name="connsiteX1" fmla="*/ 12681 w 1056582"/>
                <a:gd name="connsiteY1" fmla="*/ 749194 h 1775845"/>
                <a:gd name="connsiteX2" fmla="*/ 284686 w 1056582"/>
                <a:gd name="connsiteY2" fmla="*/ 1750404 h 1775845"/>
                <a:gd name="connsiteX3" fmla="*/ 927081 w 1056582"/>
                <a:gd name="connsiteY3" fmla="*/ 1397377 h 1775845"/>
                <a:gd name="connsiteX4" fmla="*/ 1037040 w 1056582"/>
                <a:gd name="connsiteY4" fmla="*/ 535063 h 1775845"/>
                <a:gd name="connsiteX5" fmla="*/ 660864 w 1056582"/>
                <a:gd name="connsiteY5" fmla="*/ 2627 h 1775845"/>
                <a:gd name="connsiteX0" fmla="*/ 449265 w 1062403"/>
                <a:gd name="connsiteY0" fmla="*/ 2218 h 1856459"/>
                <a:gd name="connsiteX1" fmla="*/ 3639 w 1062403"/>
                <a:gd name="connsiteY1" fmla="*/ 829808 h 1856459"/>
                <a:gd name="connsiteX2" fmla="*/ 275644 w 1062403"/>
                <a:gd name="connsiteY2" fmla="*/ 1831018 h 1856459"/>
                <a:gd name="connsiteX3" fmla="*/ 918039 w 1062403"/>
                <a:gd name="connsiteY3" fmla="*/ 1477991 h 1856459"/>
                <a:gd name="connsiteX4" fmla="*/ 1027998 w 1062403"/>
                <a:gd name="connsiteY4" fmla="*/ 615677 h 1856459"/>
                <a:gd name="connsiteX5" fmla="*/ 449265 w 1062403"/>
                <a:gd name="connsiteY5" fmla="*/ 2218 h 1856459"/>
                <a:gd name="connsiteX0" fmla="*/ 449265 w 971893"/>
                <a:gd name="connsiteY0" fmla="*/ 2218 h 1856459"/>
                <a:gd name="connsiteX1" fmla="*/ 3639 w 971893"/>
                <a:gd name="connsiteY1" fmla="*/ 829808 h 1856459"/>
                <a:gd name="connsiteX2" fmla="*/ 275644 w 971893"/>
                <a:gd name="connsiteY2" fmla="*/ 1831018 h 1856459"/>
                <a:gd name="connsiteX3" fmla="*/ 918039 w 971893"/>
                <a:gd name="connsiteY3" fmla="*/ 1477991 h 1856459"/>
                <a:gd name="connsiteX4" fmla="*/ 842804 w 971893"/>
                <a:gd name="connsiteY4" fmla="*/ 615677 h 1856459"/>
                <a:gd name="connsiteX5" fmla="*/ 449265 w 971893"/>
                <a:gd name="connsiteY5" fmla="*/ 2218 h 1856459"/>
                <a:gd name="connsiteX0" fmla="*/ 448722 w 861517"/>
                <a:gd name="connsiteY0" fmla="*/ 2144 h 1846757"/>
                <a:gd name="connsiteX1" fmla="*/ 3096 w 861517"/>
                <a:gd name="connsiteY1" fmla="*/ 829734 h 1846757"/>
                <a:gd name="connsiteX2" fmla="*/ 275101 w 861517"/>
                <a:gd name="connsiteY2" fmla="*/ 1830944 h 1846757"/>
                <a:gd name="connsiteX3" fmla="*/ 726514 w 861517"/>
                <a:gd name="connsiteY3" fmla="*/ 1385319 h 1846757"/>
                <a:gd name="connsiteX4" fmla="*/ 842261 w 861517"/>
                <a:gd name="connsiteY4" fmla="*/ 615603 h 1846757"/>
                <a:gd name="connsiteX5" fmla="*/ 448722 w 861517"/>
                <a:gd name="connsiteY5" fmla="*/ 2144 h 1846757"/>
                <a:gd name="connsiteX0" fmla="*/ 470986 w 883781"/>
                <a:gd name="connsiteY0" fmla="*/ 2144 h 1846757"/>
                <a:gd name="connsiteX1" fmla="*/ 2836 w 883781"/>
                <a:gd name="connsiteY1" fmla="*/ 829734 h 1846757"/>
                <a:gd name="connsiteX2" fmla="*/ 297365 w 883781"/>
                <a:gd name="connsiteY2" fmla="*/ 1830944 h 1846757"/>
                <a:gd name="connsiteX3" fmla="*/ 748778 w 883781"/>
                <a:gd name="connsiteY3" fmla="*/ 1385319 h 1846757"/>
                <a:gd name="connsiteX4" fmla="*/ 864525 w 883781"/>
                <a:gd name="connsiteY4" fmla="*/ 615603 h 1846757"/>
                <a:gd name="connsiteX5" fmla="*/ 470986 w 883781"/>
                <a:gd name="connsiteY5" fmla="*/ 2144 h 1846757"/>
                <a:gd name="connsiteX0" fmla="*/ 594364 w 1007159"/>
                <a:gd name="connsiteY0" fmla="*/ 2144 h 1846757"/>
                <a:gd name="connsiteX1" fmla="*/ 126214 w 1007159"/>
                <a:gd name="connsiteY1" fmla="*/ 829734 h 1846757"/>
                <a:gd name="connsiteX2" fmla="*/ 420743 w 1007159"/>
                <a:gd name="connsiteY2" fmla="*/ 1830944 h 1846757"/>
                <a:gd name="connsiteX3" fmla="*/ 872156 w 1007159"/>
                <a:gd name="connsiteY3" fmla="*/ 1385319 h 1846757"/>
                <a:gd name="connsiteX4" fmla="*/ 987903 w 1007159"/>
                <a:gd name="connsiteY4" fmla="*/ 615603 h 1846757"/>
                <a:gd name="connsiteX5" fmla="*/ 594364 w 1007159"/>
                <a:gd name="connsiteY5" fmla="*/ 2144 h 1846757"/>
                <a:gd name="connsiteX0" fmla="*/ 484902 w 883206"/>
                <a:gd name="connsiteY0" fmla="*/ 41557 h 1318371"/>
                <a:gd name="connsiteX1" fmla="*/ 3238 w 883206"/>
                <a:gd name="connsiteY1" fmla="*/ 301348 h 1318371"/>
                <a:gd name="connsiteX2" fmla="*/ 297767 w 883206"/>
                <a:gd name="connsiteY2" fmla="*/ 1302558 h 1318371"/>
                <a:gd name="connsiteX3" fmla="*/ 749180 w 883206"/>
                <a:gd name="connsiteY3" fmla="*/ 856933 h 1318371"/>
                <a:gd name="connsiteX4" fmla="*/ 864927 w 883206"/>
                <a:gd name="connsiteY4" fmla="*/ 87217 h 1318371"/>
                <a:gd name="connsiteX5" fmla="*/ 484902 w 883206"/>
                <a:gd name="connsiteY5" fmla="*/ 41557 h 1318371"/>
                <a:gd name="connsiteX0" fmla="*/ 378883 w 777187"/>
                <a:gd name="connsiteY0" fmla="*/ 58675 h 1324992"/>
                <a:gd name="connsiteX1" fmla="*/ 5333 w 777187"/>
                <a:gd name="connsiteY1" fmla="*/ 584244 h 1324992"/>
                <a:gd name="connsiteX2" fmla="*/ 191748 w 777187"/>
                <a:gd name="connsiteY2" fmla="*/ 1319676 h 1324992"/>
                <a:gd name="connsiteX3" fmla="*/ 643161 w 777187"/>
                <a:gd name="connsiteY3" fmla="*/ 874051 h 1324992"/>
                <a:gd name="connsiteX4" fmla="*/ 758908 w 777187"/>
                <a:gd name="connsiteY4" fmla="*/ 104335 h 1324992"/>
                <a:gd name="connsiteX5" fmla="*/ 378883 w 777187"/>
                <a:gd name="connsiteY5" fmla="*/ 58675 h 1324992"/>
                <a:gd name="connsiteX0" fmla="*/ 374434 w 772738"/>
                <a:gd name="connsiteY0" fmla="*/ 58675 h 1112877"/>
                <a:gd name="connsiteX1" fmla="*/ 884 w 772738"/>
                <a:gd name="connsiteY1" fmla="*/ 584244 h 1112877"/>
                <a:gd name="connsiteX2" fmla="*/ 281899 w 772738"/>
                <a:gd name="connsiteY2" fmla="*/ 1098194 h 1112877"/>
                <a:gd name="connsiteX3" fmla="*/ 638712 w 772738"/>
                <a:gd name="connsiteY3" fmla="*/ 874051 h 1112877"/>
                <a:gd name="connsiteX4" fmla="*/ 754459 w 772738"/>
                <a:gd name="connsiteY4" fmla="*/ 104335 h 1112877"/>
                <a:gd name="connsiteX5" fmla="*/ 374434 w 772738"/>
                <a:gd name="connsiteY5" fmla="*/ 58675 h 1112877"/>
                <a:gd name="connsiteX0" fmla="*/ 374434 w 696889"/>
                <a:gd name="connsiteY0" fmla="*/ 37893 h 1092095"/>
                <a:gd name="connsiteX1" fmla="*/ 884 w 696889"/>
                <a:gd name="connsiteY1" fmla="*/ 563462 h 1092095"/>
                <a:gd name="connsiteX2" fmla="*/ 281899 w 696889"/>
                <a:gd name="connsiteY2" fmla="*/ 1077412 h 1092095"/>
                <a:gd name="connsiteX3" fmla="*/ 638712 w 696889"/>
                <a:gd name="connsiteY3" fmla="*/ 853269 h 1092095"/>
                <a:gd name="connsiteX4" fmla="*/ 610307 w 696889"/>
                <a:gd name="connsiteY4" fmla="*/ 131877 h 1092095"/>
                <a:gd name="connsiteX5" fmla="*/ 374434 w 696889"/>
                <a:gd name="connsiteY5" fmla="*/ 37893 h 1092095"/>
                <a:gd name="connsiteX0" fmla="*/ 374434 w 755925"/>
                <a:gd name="connsiteY0" fmla="*/ 37606 h 1091808"/>
                <a:gd name="connsiteX1" fmla="*/ 884 w 755925"/>
                <a:gd name="connsiteY1" fmla="*/ 563175 h 1091808"/>
                <a:gd name="connsiteX2" fmla="*/ 281899 w 755925"/>
                <a:gd name="connsiteY2" fmla="*/ 1077125 h 1091808"/>
                <a:gd name="connsiteX3" fmla="*/ 638712 w 755925"/>
                <a:gd name="connsiteY3" fmla="*/ 852982 h 1091808"/>
                <a:gd name="connsiteX4" fmla="*/ 732905 w 755925"/>
                <a:gd name="connsiteY4" fmla="*/ 132398 h 1091808"/>
                <a:gd name="connsiteX5" fmla="*/ 374434 w 755925"/>
                <a:gd name="connsiteY5" fmla="*/ 37606 h 1091808"/>
                <a:gd name="connsiteX0" fmla="*/ 182423 w 771723"/>
                <a:gd name="connsiteY0" fmla="*/ 33792 h 1105211"/>
                <a:gd name="connsiteX1" fmla="*/ 2350 w 771723"/>
                <a:gd name="connsiteY1" fmla="*/ 576578 h 1105211"/>
                <a:gd name="connsiteX2" fmla="*/ 283365 w 771723"/>
                <a:gd name="connsiteY2" fmla="*/ 1090528 h 1105211"/>
                <a:gd name="connsiteX3" fmla="*/ 640178 w 771723"/>
                <a:gd name="connsiteY3" fmla="*/ 866385 h 1105211"/>
                <a:gd name="connsiteX4" fmla="*/ 734371 w 771723"/>
                <a:gd name="connsiteY4" fmla="*/ 145801 h 1105211"/>
                <a:gd name="connsiteX5" fmla="*/ 182423 w 771723"/>
                <a:gd name="connsiteY5" fmla="*/ 33792 h 110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1723" h="1105211">
                  <a:moveTo>
                    <a:pt x="182423" y="33792"/>
                  </a:moveTo>
                  <a:cubicBezTo>
                    <a:pt x="60420" y="105588"/>
                    <a:pt x="-14474" y="400455"/>
                    <a:pt x="2350" y="576578"/>
                  </a:cubicBezTo>
                  <a:cubicBezTo>
                    <a:pt x="19174" y="752701"/>
                    <a:pt x="177060" y="1042227"/>
                    <a:pt x="283365" y="1090528"/>
                  </a:cubicBezTo>
                  <a:cubicBezTo>
                    <a:pt x="389670" y="1138829"/>
                    <a:pt x="514786" y="1068942"/>
                    <a:pt x="640178" y="866385"/>
                  </a:cubicBezTo>
                  <a:cubicBezTo>
                    <a:pt x="765570" y="663828"/>
                    <a:pt x="810663" y="284566"/>
                    <a:pt x="734371" y="145801"/>
                  </a:cubicBezTo>
                  <a:cubicBezTo>
                    <a:pt x="658079" y="7036"/>
                    <a:pt x="304426" y="-38004"/>
                    <a:pt x="182423" y="33792"/>
                  </a:cubicBezTo>
                  <a:close/>
                </a:path>
              </a:pathLst>
            </a:custGeom>
            <a:solidFill>
              <a:srgbClr val="FCB6F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Oval 16">
              <a:extLst>
                <a:ext uri="{FF2B5EF4-FFF2-40B4-BE49-F238E27FC236}">
                  <a16:creationId xmlns:a16="http://schemas.microsoft.com/office/drawing/2014/main" id="{B3DE2A66-B4B0-8862-0240-861C3C51FA40}"/>
                </a:ext>
              </a:extLst>
            </p:cNvPr>
            <p:cNvSpPr/>
            <p:nvPr/>
          </p:nvSpPr>
          <p:spPr>
            <a:xfrm>
              <a:off x="3709831" y="2738975"/>
              <a:ext cx="394447" cy="313765"/>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 name="Oval 17">
              <a:extLst>
                <a:ext uri="{FF2B5EF4-FFF2-40B4-BE49-F238E27FC236}">
                  <a16:creationId xmlns:a16="http://schemas.microsoft.com/office/drawing/2014/main" id="{DF9B2E26-7B61-AEC4-8717-2CDDCA6A31F4}"/>
                </a:ext>
              </a:extLst>
            </p:cNvPr>
            <p:cNvSpPr/>
            <p:nvPr/>
          </p:nvSpPr>
          <p:spPr>
            <a:xfrm>
              <a:off x="3706047" y="3276085"/>
              <a:ext cx="394447" cy="313765"/>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9" name="Oval 18">
              <a:extLst>
                <a:ext uri="{FF2B5EF4-FFF2-40B4-BE49-F238E27FC236}">
                  <a16:creationId xmlns:a16="http://schemas.microsoft.com/office/drawing/2014/main" id="{BE32FDB5-F58D-848E-55F0-15772A399A0F}"/>
                </a:ext>
              </a:extLst>
            </p:cNvPr>
            <p:cNvSpPr/>
            <p:nvPr/>
          </p:nvSpPr>
          <p:spPr>
            <a:xfrm>
              <a:off x="3637496" y="3787952"/>
              <a:ext cx="394447" cy="313765"/>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 name="Oval 19">
              <a:extLst>
                <a:ext uri="{FF2B5EF4-FFF2-40B4-BE49-F238E27FC236}">
                  <a16:creationId xmlns:a16="http://schemas.microsoft.com/office/drawing/2014/main" id="{B5F2238C-B2DF-D359-8B17-238ADE2BB263}"/>
                </a:ext>
              </a:extLst>
            </p:cNvPr>
            <p:cNvSpPr/>
            <p:nvPr/>
          </p:nvSpPr>
          <p:spPr>
            <a:xfrm>
              <a:off x="3875616" y="4301715"/>
              <a:ext cx="394447" cy="313765"/>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1" name="Oval 20">
              <a:extLst>
                <a:ext uri="{FF2B5EF4-FFF2-40B4-BE49-F238E27FC236}">
                  <a16:creationId xmlns:a16="http://schemas.microsoft.com/office/drawing/2014/main" id="{4813FE24-F0DA-5BAE-6FB3-17509A7F7764}"/>
                </a:ext>
              </a:extLst>
            </p:cNvPr>
            <p:cNvSpPr/>
            <p:nvPr/>
          </p:nvSpPr>
          <p:spPr>
            <a:xfrm>
              <a:off x="4207814" y="2324227"/>
              <a:ext cx="394447" cy="313765"/>
            </a:xfrm>
            <a:prstGeom prst="ellips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2" name="Oval 21">
              <a:extLst>
                <a:ext uri="{FF2B5EF4-FFF2-40B4-BE49-F238E27FC236}">
                  <a16:creationId xmlns:a16="http://schemas.microsoft.com/office/drawing/2014/main" id="{3B01AB2A-D32F-4B98-FA99-AEC9C2CEFBC1}"/>
                </a:ext>
              </a:extLst>
            </p:cNvPr>
            <p:cNvSpPr/>
            <p:nvPr/>
          </p:nvSpPr>
          <p:spPr>
            <a:xfrm>
              <a:off x="7426906" y="2339877"/>
              <a:ext cx="394447" cy="313765"/>
            </a:xfrm>
            <a:prstGeom prst="ellipse">
              <a:avLst/>
            </a:prstGeom>
            <a:solidFill>
              <a:srgbClr val="EC545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3" name="Oval 22">
              <a:extLst>
                <a:ext uri="{FF2B5EF4-FFF2-40B4-BE49-F238E27FC236}">
                  <a16:creationId xmlns:a16="http://schemas.microsoft.com/office/drawing/2014/main" id="{D1EB20BD-E551-CF5D-28DA-2D00D7CA165B}"/>
                </a:ext>
              </a:extLst>
            </p:cNvPr>
            <p:cNvSpPr/>
            <p:nvPr/>
          </p:nvSpPr>
          <p:spPr>
            <a:xfrm>
              <a:off x="7104860" y="4240390"/>
              <a:ext cx="394447" cy="313765"/>
            </a:xfrm>
            <a:prstGeom prst="ellipse">
              <a:avLst/>
            </a:prstGeom>
            <a:solidFill>
              <a:srgbClr val="EC545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4" name="Oval 23">
              <a:extLst>
                <a:ext uri="{FF2B5EF4-FFF2-40B4-BE49-F238E27FC236}">
                  <a16:creationId xmlns:a16="http://schemas.microsoft.com/office/drawing/2014/main" id="{A094947C-0603-FF54-D9E4-20EEFCDA9129}"/>
                </a:ext>
              </a:extLst>
            </p:cNvPr>
            <p:cNvSpPr/>
            <p:nvPr/>
          </p:nvSpPr>
          <p:spPr>
            <a:xfrm>
              <a:off x="5551887" y="2520764"/>
              <a:ext cx="394447" cy="313765"/>
            </a:xfrm>
            <a:prstGeom prst="ellipse">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5" name="Oval 24">
              <a:extLst>
                <a:ext uri="{FF2B5EF4-FFF2-40B4-BE49-F238E27FC236}">
                  <a16:creationId xmlns:a16="http://schemas.microsoft.com/office/drawing/2014/main" id="{9002B8A7-83C7-C753-01DC-A81BBB714A48}"/>
                </a:ext>
              </a:extLst>
            </p:cNvPr>
            <p:cNvSpPr/>
            <p:nvPr/>
          </p:nvSpPr>
          <p:spPr>
            <a:xfrm>
              <a:off x="4902357" y="3421198"/>
              <a:ext cx="394447" cy="313765"/>
            </a:xfrm>
            <a:prstGeom prst="ellipse">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6" name="Oval 25">
              <a:extLst>
                <a:ext uri="{FF2B5EF4-FFF2-40B4-BE49-F238E27FC236}">
                  <a16:creationId xmlns:a16="http://schemas.microsoft.com/office/drawing/2014/main" id="{C3BFC585-6C62-E3ED-F666-D9C8B2CD737E}"/>
                </a:ext>
              </a:extLst>
            </p:cNvPr>
            <p:cNvSpPr/>
            <p:nvPr/>
          </p:nvSpPr>
          <p:spPr>
            <a:xfrm>
              <a:off x="6324769" y="3024753"/>
              <a:ext cx="394447" cy="313765"/>
            </a:xfrm>
            <a:prstGeom prst="ellipse">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7" name="Oval 26">
              <a:extLst>
                <a:ext uri="{FF2B5EF4-FFF2-40B4-BE49-F238E27FC236}">
                  <a16:creationId xmlns:a16="http://schemas.microsoft.com/office/drawing/2014/main" id="{230987FD-3E84-BC55-8523-D166D480C1E5}"/>
                </a:ext>
              </a:extLst>
            </p:cNvPr>
            <p:cNvSpPr/>
            <p:nvPr/>
          </p:nvSpPr>
          <p:spPr>
            <a:xfrm>
              <a:off x="5719632" y="4078019"/>
              <a:ext cx="394447" cy="313765"/>
            </a:xfrm>
            <a:prstGeom prst="ellipse">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8" name="Freeform: Shape 44">
              <a:extLst>
                <a:ext uri="{FF2B5EF4-FFF2-40B4-BE49-F238E27FC236}">
                  <a16:creationId xmlns:a16="http://schemas.microsoft.com/office/drawing/2014/main" id="{45989D6F-E55E-8BA8-22E3-0699AE3D0195}"/>
                </a:ext>
              </a:extLst>
            </p:cNvPr>
            <p:cNvSpPr/>
            <p:nvPr/>
          </p:nvSpPr>
          <p:spPr>
            <a:xfrm rot="3223793">
              <a:off x="7545879" y="2964820"/>
              <a:ext cx="546015" cy="567754"/>
            </a:xfrm>
            <a:custGeom>
              <a:avLst/>
              <a:gdLst>
                <a:gd name="connsiteX0" fmla="*/ 600104 w 1057083"/>
                <a:gd name="connsiteY0" fmla="*/ 6523 h 1513523"/>
                <a:gd name="connsiteX1" fmla="*/ 9795 w 1057083"/>
                <a:gd name="connsiteY1" fmla="*/ 486872 h 1513523"/>
                <a:gd name="connsiteX2" fmla="*/ 281800 w 1057083"/>
                <a:gd name="connsiteY2" fmla="*/ 1488082 h 1513523"/>
                <a:gd name="connsiteX3" fmla="*/ 924195 w 1057083"/>
                <a:gd name="connsiteY3" fmla="*/ 1135055 h 1513523"/>
                <a:gd name="connsiteX4" fmla="*/ 1034154 w 1057083"/>
                <a:gd name="connsiteY4" fmla="*/ 272741 h 1513523"/>
                <a:gd name="connsiteX5" fmla="*/ 600104 w 1057083"/>
                <a:gd name="connsiteY5" fmla="*/ 6523 h 1513523"/>
                <a:gd name="connsiteX0" fmla="*/ 660864 w 1056582"/>
                <a:gd name="connsiteY0" fmla="*/ 2627 h 1775845"/>
                <a:gd name="connsiteX1" fmla="*/ 12681 w 1056582"/>
                <a:gd name="connsiteY1" fmla="*/ 749194 h 1775845"/>
                <a:gd name="connsiteX2" fmla="*/ 284686 w 1056582"/>
                <a:gd name="connsiteY2" fmla="*/ 1750404 h 1775845"/>
                <a:gd name="connsiteX3" fmla="*/ 927081 w 1056582"/>
                <a:gd name="connsiteY3" fmla="*/ 1397377 h 1775845"/>
                <a:gd name="connsiteX4" fmla="*/ 1037040 w 1056582"/>
                <a:gd name="connsiteY4" fmla="*/ 535063 h 1775845"/>
                <a:gd name="connsiteX5" fmla="*/ 660864 w 1056582"/>
                <a:gd name="connsiteY5" fmla="*/ 2627 h 1775845"/>
                <a:gd name="connsiteX0" fmla="*/ 449265 w 1062403"/>
                <a:gd name="connsiteY0" fmla="*/ 2218 h 1856459"/>
                <a:gd name="connsiteX1" fmla="*/ 3639 w 1062403"/>
                <a:gd name="connsiteY1" fmla="*/ 829808 h 1856459"/>
                <a:gd name="connsiteX2" fmla="*/ 275644 w 1062403"/>
                <a:gd name="connsiteY2" fmla="*/ 1831018 h 1856459"/>
                <a:gd name="connsiteX3" fmla="*/ 918039 w 1062403"/>
                <a:gd name="connsiteY3" fmla="*/ 1477991 h 1856459"/>
                <a:gd name="connsiteX4" fmla="*/ 1027998 w 1062403"/>
                <a:gd name="connsiteY4" fmla="*/ 615677 h 1856459"/>
                <a:gd name="connsiteX5" fmla="*/ 449265 w 1062403"/>
                <a:gd name="connsiteY5" fmla="*/ 2218 h 1856459"/>
                <a:gd name="connsiteX0" fmla="*/ 449265 w 971893"/>
                <a:gd name="connsiteY0" fmla="*/ 2218 h 1856459"/>
                <a:gd name="connsiteX1" fmla="*/ 3639 w 971893"/>
                <a:gd name="connsiteY1" fmla="*/ 829808 h 1856459"/>
                <a:gd name="connsiteX2" fmla="*/ 275644 w 971893"/>
                <a:gd name="connsiteY2" fmla="*/ 1831018 h 1856459"/>
                <a:gd name="connsiteX3" fmla="*/ 918039 w 971893"/>
                <a:gd name="connsiteY3" fmla="*/ 1477991 h 1856459"/>
                <a:gd name="connsiteX4" fmla="*/ 842804 w 971893"/>
                <a:gd name="connsiteY4" fmla="*/ 615677 h 1856459"/>
                <a:gd name="connsiteX5" fmla="*/ 449265 w 971893"/>
                <a:gd name="connsiteY5" fmla="*/ 2218 h 1856459"/>
                <a:gd name="connsiteX0" fmla="*/ 448722 w 861517"/>
                <a:gd name="connsiteY0" fmla="*/ 2144 h 1846757"/>
                <a:gd name="connsiteX1" fmla="*/ 3096 w 861517"/>
                <a:gd name="connsiteY1" fmla="*/ 829734 h 1846757"/>
                <a:gd name="connsiteX2" fmla="*/ 275101 w 861517"/>
                <a:gd name="connsiteY2" fmla="*/ 1830944 h 1846757"/>
                <a:gd name="connsiteX3" fmla="*/ 726514 w 861517"/>
                <a:gd name="connsiteY3" fmla="*/ 1385319 h 1846757"/>
                <a:gd name="connsiteX4" fmla="*/ 842261 w 861517"/>
                <a:gd name="connsiteY4" fmla="*/ 615603 h 1846757"/>
                <a:gd name="connsiteX5" fmla="*/ 448722 w 861517"/>
                <a:gd name="connsiteY5" fmla="*/ 2144 h 1846757"/>
                <a:gd name="connsiteX0" fmla="*/ 470986 w 883781"/>
                <a:gd name="connsiteY0" fmla="*/ 2144 h 1846757"/>
                <a:gd name="connsiteX1" fmla="*/ 2836 w 883781"/>
                <a:gd name="connsiteY1" fmla="*/ 829734 h 1846757"/>
                <a:gd name="connsiteX2" fmla="*/ 297365 w 883781"/>
                <a:gd name="connsiteY2" fmla="*/ 1830944 h 1846757"/>
                <a:gd name="connsiteX3" fmla="*/ 748778 w 883781"/>
                <a:gd name="connsiteY3" fmla="*/ 1385319 h 1846757"/>
                <a:gd name="connsiteX4" fmla="*/ 864525 w 883781"/>
                <a:gd name="connsiteY4" fmla="*/ 615603 h 1846757"/>
                <a:gd name="connsiteX5" fmla="*/ 470986 w 883781"/>
                <a:gd name="connsiteY5" fmla="*/ 2144 h 1846757"/>
                <a:gd name="connsiteX0" fmla="*/ 594364 w 1007159"/>
                <a:gd name="connsiteY0" fmla="*/ 2144 h 1846757"/>
                <a:gd name="connsiteX1" fmla="*/ 126214 w 1007159"/>
                <a:gd name="connsiteY1" fmla="*/ 829734 h 1846757"/>
                <a:gd name="connsiteX2" fmla="*/ 420743 w 1007159"/>
                <a:gd name="connsiteY2" fmla="*/ 1830944 h 1846757"/>
                <a:gd name="connsiteX3" fmla="*/ 872156 w 1007159"/>
                <a:gd name="connsiteY3" fmla="*/ 1385319 h 1846757"/>
                <a:gd name="connsiteX4" fmla="*/ 987903 w 1007159"/>
                <a:gd name="connsiteY4" fmla="*/ 615603 h 1846757"/>
                <a:gd name="connsiteX5" fmla="*/ 594364 w 1007159"/>
                <a:gd name="connsiteY5" fmla="*/ 2144 h 1846757"/>
                <a:gd name="connsiteX0" fmla="*/ 484902 w 883206"/>
                <a:gd name="connsiteY0" fmla="*/ 41557 h 1318371"/>
                <a:gd name="connsiteX1" fmla="*/ 3238 w 883206"/>
                <a:gd name="connsiteY1" fmla="*/ 301348 h 1318371"/>
                <a:gd name="connsiteX2" fmla="*/ 297767 w 883206"/>
                <a:gd name="connsiteY2" fmla="*/ 1302558 h 1318371"/>
                <a:gd name="connsiteX3" fmla="*/ 749180 w 883206"/>
                <a:gd name="connsiteY3" fmla="*/ 856933 h 1318371"/>
                <a:gd name="connsiteX4" fmla="*/ 864927 w 883206"/>
                <a:gd name="connsiteY4" fmla="*/ 87217 h 1318371"/>
                <a:gd name="connsiteX5" fmla="*/ 484902 w 883206"/>
                <a:gd name="connsiteY5" fmla="*/ 41557 h 1318371"/>
                <a:gd name="connsiteX0" fmla="*/ 378883 w 777187"/>
                <a:gd name="connsiteY0" fmla="*/ 58675 h 1324992"/>
                <a:gd name="connsiteX1" fmla="*/ 5333 w 777187"/>
                <a:gd name="connsiteY1" fmla="*/ 584244 h 1324992"/>
                <a:gd name="connsiteX2" fmla="*/ 191748 w 777187"/>
                <a:gd name="connsiteY2" fmla="*/ 1319676 h 1324992"/>
                <a:gd name="connsiteX3" fmla="*/ 643161 w 777187"/>
                <a:gd name="connsiteY3" fmla="*/ 874051 h 1324992"/>
                <a:gd name="connsiteX4" fmla="*/ 758908 w 777187"/>
                <a:gd name="connsiteY4" fmla="*/ 104335 h 1324992"/>
                <a:gd name="connsiteX5" fmla="*/ 378883 w 777187"/>
                <a:gd name="connsiteY5" fmla="*/ 58675 h 1324992"/>
                <a:gd name="connsiteX0" fmla="*/ 374434 w 772738"/>
                <a:gd name="connsiteY0" fmla="*/ 58675 h 1112877"/>
                <a:gd name="connsiteX1" fmla="*/ 884 w 772738"/>
                <a:gd name="connsiteY1" fmla="*/ 584244 h 1112877"/>
                <a:gd name="connsiteX2" fmla="*/ 281899 w 772738"/>
                <a:gd name="connsiteY2" fmla="*/ 1098194 h 1112877"/>
                <a:gd name="connsiteX3" fmla="*/ 638712 w 772738"/>
                <a:gd name="connsiteY3" fmla="*/ 874051 h 1112877"/>
                <a:gd name="connsiteX4" fmla="*/ 754459 w 772738"/>
                <a:gd name="connsiteY4" fmla="*/ 104335 h 1112877"/>
                <a:gd name="connsiteX5" fmla="*/ 374434 w 772738"/>
                <a:gd name="connsiteY5" fmla="*/ 58675 h 1112877"/>
                <a:gd name="connsiteX0" fmla="*/ 374434 w 696889"/>
                <a:gd name="connsiteY0" fmla="*/ 37893 h 1092095"/>
                <a:gd name="connsiteX1" fmla="*/ 884 w 696889"/>
                <a:gd name="connsiteY1" fmla="*/ 563462 h 1092095"/>
                <a:gd name="connsiteX2" fmla="*/ 281899 w 696889"/>
                <a:gd name="connsiteY2" fmla="*/ 1077412 h 1092095"/>
                <a:gd name="connsiteX3" fmla="*/ 638712 w 696889"/>
                <a:gd name="connsiteY3" fmla="*/ 853269 h 1092095"/>
                <a:gd name="connsiteX4" fmla="*/ 610307 w 696889"/>
                <a:gd name="connsiteY4" fmla="*/ 131877 h 1092095"/>
                <a:gd name="connsiteX5" fmla="*/ 374434 w 696889"/>
                <a:gd name="connsiteY5" fmla="*/ 37893 h 1092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6889" h="1092095">
                  <a:moveTo>
                    <a:pt x="374434" y="37893"/>
                  </a:moveTo>
                  <a:cubicBezTo>
                    <a:pt x="272864" y="109824"/>
                    <a:pt x="16307" y="390209"/>
                    <a:pt x="884" y="563462"/>
                  </a:cubicBezTo>
                  <a:cubicBezTo>
                    <a:pt x="-14539" y="736715"/>
                    <a:pt x="175594" y="1029111"/>
                    <a:pt x="281899" y="1077412"/>
                  </a:cubicBezTo>
                  <a:cubicBezTo>
                    <a:pt x="388204" y="1125713"/>
                    <a:pt x="513320" y="1055826"/>
                    <a:pt x="638712" y="853269"/>
                  </a:cubicBezTo>
                  <a:cubicBezTo>
                    <a:pt x="764104" y="650712"/>
                    <a:pt x="654353" y="267773"/>
                    <a:pt x="610307" y="131877"/>
                  </a:cubicBezTo>
                  <a:cubicBezTo>
                    <a:pt x="566261" y="-4019"/>
                    <a:pt x="476004" y="-34038"/>
                    <a:pt x="374434" y="37893"/>
                  </a:cubicBezTo>
                  <a:close/>
                </a:path>
              </a:pathLst>
            </a:custGeom>
            <a:solidFill>
              <a:srgbClr val="F5F58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9" name="Oval 28">
              <a:extLst>
                <a:ext uri="{FF2B5EF4-FFF2-40B4-BE49-F238E27FC236}">
                  <a16:creationId xmlns:a16="http://schemas.microsoft.com/office/drawing/2014/main" id="{FE777EEB-D446-24C4-DF9E-94CAC6781599}"/>
                </a:ext>
              </a:extLst>
            </p:cNvPr>
            <p:cNvSpPr/>
            <p:nvPr/>
          </p:nvSpPr>
          <p:spPr>
            <a:xfrm>
              <a:off x="8043196" y="3787659"/>
              <a:ext cx="394447" cy="313765"/>
            </a:xfrm>
            <a:prstGeom prst="ellipse">
              <a:avLst/>
            </a:prstGeom>
            <a:solidFill>
              <a:srgbClr val="EC545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0" name="Oval 29">
              <a:extLst>
                <a:ext uri="{FF2B5EF4-FFF2-40B4-BE49-F238E27FC236}">
                  <a16:creationId xmlns:a16="http://schemas.microsoft.com/office/drawing/2014/main" id="{DD841F45-DD1B-1270-FD7C-50E8A4ABB3A5}"/>
                </a:ext>
              </a:extLst>
            </p:cNvPr>
            <p:cNvSpPr/>
            <p:nvPr/>
          </p:nvSpPr>
          <p:spPr>
            <a:xfrm>
              <a:off x="7622888" y="3106569"/>
              <a:ext cx="394447" cy="313765"/>
            </a:xfrm>
            <a:prstGeom prst="ellipse">
              <a:avLst/>
            </a:prstGeom>
            <a:solidFill>
              <a:srgbClr val="EC545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F827FC16-C816-36DA-27BE-759F552D25EC}"/>
                    </a:ext>
                  </a:extLst>
                </p:cNvPr>
                <p:cNvSpPr txBox="1"/>
                <p:nvPr/>
              </p:nvSpPr>
              <p:spPr>
                <a:xfrm>
                  <a:off x="3894521" y="4223595"/>
                  <a:ext cx="27985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𝑠</m:t>
                            </m:r>
                          </m:e>
                          <m:sub>
                            <m:r>
                              <a:rPr lang="en-CA" b="0" i="1" smtClean="0">
                                <a:latin typeface="Cambria Math" panose="02040503050406030204" pitchFamily="18" charset="0"/>
                              </a:rPr>
                              <m:t>1</m:t>
                            </m:r>
                          </m:sub>
                        </m:sSub>
                      </m:oMath>
                    </m:oMathPara>
                  </a14:m>
                  <a:endParaRPr lang="en-CA" dirty="0"/>
                </a:p>
              </p:txBody>
            </p:sp>
          </mc:Choice>
          <mc:Fallback xmlns="">
            <p:sp>
              <p:nvSpPr>
                <p:cNvPr id="67" name="TextBox 66">
                  <a:extLst>
                    <a:ext uri="{FF2B5EF4-FFF2-40B4-BE49-F238E27FC236}">
                      <a16:creationId xmlns:a16="http://schemas.microsoft.com/office/drawing/2014/main" id="{B47E1785-B457-8CF6-B5E7-1EDC25238A06}"/>
                    </a:ext>
                  </a:extLst>
                </p:cNvPr>
                <p:cNvSpPr txBox="1">
                  <a:spLocks noRot="1" noChangeAspect="1" noMove="1" noResize="1" noEditPoints="1" noAdjustHandles="1" noChangeArrowheads="1" noChangeShapeType="1" noTextEdit="1"/>
                </p:cNvSpPr>
                <p:nvPr/>
              </p:nvSpPr>
              <p:spPr>
                <a:xfrm>
                  <a:off x="3894521" y="4223595"/>
                  <a:ext cx="279859" cy="369332"/>
                </a:xfrm>
                <a:prstGeom prst="rect">
                  <a:avLst/>
                </a:prstGeom>
                <a:blipFill>
                  <a:blip r:embed="rId2"/>
                  <a:stretch>
                    <a:fillRect r="-23913"/>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24BD4FB5-7821-C329-DCDF-167737A3FEB5}"/>
                    </a:ext>
                  </a:extLst>
                </p:cNvPr>
                <p:cNvSpPr txBox="1"/>
                <p:nvPr/>
              </p:nvSpPr>
              <p:spPr>
                <a:xfrm>
                  <a:off x="4215586" y="2243755"/>
                  <a:ext cx="27985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𝑠</m:t>
                            </m:r>
                          </m:e>
                          <m:sub>
                            <m:r>
                              <a:rPr lang="en-CA" b="0" i="1" smtClean="0">
                                <a:latin typeface="Cambria Math" panose="02040503050406030204" pitchFamily="18" charset="0"/>
                              </a:rPr>
                              <m:t>5</m:t>
                            </m:r>
                          </m:sub>
                        </m:sSub>
                      </m:oMath>
                    </m:oMathPara>
                  </a14:m>
                  <a:endParaRPr lang="en-CA" dirty="0"/>
                </a:p>
              </p:txBody>
            </p:sp>
          </mc:Choice>
          <mc:Fallback xmlns="">
            <p:sp>
              <p:nvSpPr>
                <p:cNvPr id="68" name="TextBox 67">
                  <a:extLst>
                    <a:ext uri="{FF2B5EF4-FFF2-40B4-BE49-F238E27FC236}">
                      <a16:creationId xmlns:a16="http://schemas.microsoft.com/office/drawing/2014/main" id="{C4476D1B-B897-33A4-4FC0-6C499FB35B1E}"/>
                    </a:ext>
                  </a:extLst>
                </p:cNvPr>
                <p:cNvSpPr txBox="1">
                  <a:spLocks noRot="1" noChangeAspect="1" noMove="1" noResize="1" noEditPoints="1" noAdjustHandles="1" noChangeArrowheads="1" noChangeShapeType="1" noTextEdit="1"/>
                </p:cNvSpPr>
                <p:nvPr/>
              </p:nvSpPr>
              <p:spPr>
                <a:xfrm>
                  <a:off x="4215586" y="2243755"/>
                  <a:ext cx="279859" cy="369332"/>
                </a:xfrm>
                <a:prstGeom prst="rect">
                  <a:avLst/>
                </a:prstGeom>
                <a:blipFill>
                  <a:blip r:embed="rId3"/>
                  <a:stretch>
                    <a:fillRect r="-26087"/>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DF01B582-4EE0-32A2-7BD7-712D1EDBEED2}"/>
                    </a:ext>
                  </a:extLst>
                </p:cNvPr>
                <p:cNvSpPr txBox="1"/>
                <p:nvPr/>
              </p:nvSpPr>
              <p:spPr>
                <a:xfrm>
                  <a:off x="3725811" y="2663567"/>
                  <a:ext cx="27985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𝑠</m:t>
                            </m:r>
                          </m:e>
                          <m:sub>
                            <m:r>
                              <a:rPr lang="en-CA" b="0" i="1" smtClean="0">
                                <a:latin typeface="Cambria Math" panose="02040503050406030204" pitchFamily="18" charset="0"/>
                              </a:rPr>
                              <m:t>4</m:t>
                            </m:r>
                          </m:sub>
                        </m:sSub>
                      </m:oMath>
                    </m:oMathPara>
                  </a14:m>
                  <a:endParaRPr lang="en-CA" dirty="0"/>
                </a:p>
              </p:txBody>
            </p:sp>
          </mc:Choice>
          <mc:Fallback xmlns="">
            <p:sp>
              <p:nvSpPr>
                <p:cNvPr id="69" name="TextBox 68">
                  <a:extLst>
                    <a:ext uri="{FF2B5EF4-FFF2-40B4-BE49-F238E27FC236}">
                      <a16:creationId xmlns:a16="http://schemas.microsoft.com/office/drawing/2014/main" id="{04B7F03A-5032-AF6F-2BC5-C239321495F5}"/>
                    </a:ext>
                  </a:extLst>
                </p:cNvPr>
                <p:cNvSpPr txBox="1">
                  <a:spLocks noRot="1" noChangeAspect="1" noMove="1" noResize="1" noEditPoints="1" noAdjustHandles="1" noChangeArrowheads="1" noChangeShapeType="1" noTextEdit="1"/>
                </p:cNvSpPr>
                <p:nvPr/>
              </p:nvSpPr>
              <p:spPr>
                <a:xfrm>
                  <a:off x="3725811" y="2663567"/>
                  <a:ext cx="279859" cy="369332"/>
                </a:xfrm>
                <a:prstGeom prst="rect">
                  <a:avLst/>
                </a:prstGeom>
                <a:blipFill>
                  <a:blip r:embed="rId4"/>
                  <a:stretch>
                    <a:fillRect r="-24444"/>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C894E14A-FAAE-6B55-4CC5-325D10E86D4E}"/>
                    </a:ext>
                  </a:extLst>
                </p:cNvPr>
                <p:cNvSpPr txBox="1"/>
                <p:nvPr/>
              </p:nvSpPr>
              <p:spPr>
                <a:xfrm>
                  <a:off x="3723150" y="3205456"/>
                  <a:ext cx="27985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𝑠</m:t>
                            </m:r>
                          </m:e>
                          <m:sub>
                            <m:r>
                              <a:rPr lang="en-CA" b="0" i="1" smtClean="0">
                                <a:latin typeface="Cambria Math" panose="02040503050406030204" pitchFamily="18" charset="0"/>
                              </a:rPr>
                              <m:t>3</m:t>
                            </m:r>
                          </m:sub>
                        </m:sSub>
                      </m:oMath>
                    </m:oMathPara>
                  </a14:m>
                  <a:endParaRPr lang="en-CA" dirty="0"/>
                </a:p>
              </p:txBody>
            </p:sp>
          </mc:Choice>
          <mc:Fallback xmlns="">
            <p:sp>
              <p:nvSpPr>
                <p:cNvPr id="70" name="TextBox 69">
                  <a:extLst>
                    <a:ext uri="{FF2B5EF4-FFF2-40B4-BE49-F238E27FC236}">
                      <a16:creationId xmlns:a16="http://schemas.microsoft.com/office/drawing/2014/main" id="{076028D6-8BDC-A3A4-C0D2-344C3DC9A705}"/>
                    </a:ext>
                  </a:extLst>
                </p:cNvPr>
                <p:cNvSpPr txBox="1">
                  <a:spLocks noRot="1" noChangeAspect="1" noMove="1" noResize="1" noEditPoints="1" noAdjustHandles="1" noChangeArrowheads="1" noChangeShapeType="1" noTextEdit="1"/>
                </p:cNvSpPr>
                <p:nvPr/>
              </p:nvSpPr>
              <p:spPr>
                <a:xfrm>
                  <a:off x="3723150" y="3205456"/>
                  <a:ext cx="279859" cy="369332"/>
                </a:xfrm>
                <a:prstGeom prst="rect">
                  <a:avLst/>
                </a:prstGeom>
                <a:blipFill>
                  <a:blip r:embed="rId5"/>
                  <a:stretch>
                    <a:fillRect r="-26087"/>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A2D6F6EB-6EC8-502C-67EF-250B4A82CF3E}"/>
                    </a:ext>
                  </a:extLst>
                </p:cNvPr>
                <p:cNvSpPr txBox="1"/>
                <p:nvPr/>
              </p:nvSpPr>
              <p:spPr>
                <a:xfrm>
                  <a:off x="3643717" y="3703490"/>
                  <a:ext cx="27985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𝑠</m:t>
                            </m:r>
                          </m:e>
                          <m:sub>
                            <m:r>
                              <a:rPr lang="en-CA" b="0" i="1" smtClean="0">
                                <a:latin typeface="Cambria Math" panose="02040503050406030204" pitchFamily="18" charset="0"/>
                              </a:rPr>
                              <m:t>2</m:t>
                            </m:r>
                          </m:sub>
                        </m:sSub>
                      </m:oMath>
                    </m:oMathPara>
                  </a14:m>
                  <a:endParaRPr lang="en-CA" dirty="0"/>
                </a:p>
              </p:txBody>
            </p:sp>
          </mc:Choice>
          <mc:Fallback xmlns="">
            <p:sp>
              <p:nvSpPr>
                <p:cNvPr id="71" name="TextBox 70">
                  <a:extLst>
                    <a:ext uri="{FF2B5EF4-FFF2-40B4-BE49-F238E27FC236}">
                      <a16:creationId xmlns:a16="http://schemas.microsoft.com/office/drawing/2014/main" id="{36326738-C33A-14B0-9DB8-CC3EB949EAFC}"/>
                    </a:ext>
                  </a:extLst>
                </p:cNvPr>
                <p:cNvSpPr txBox="1">
                  <a:spLocks noRot="1" noChangeAspect="1" noMove="1" noResize="1" noEditPoints="1" noAdjustHandles="1" noChangeArrowheads="1" noChangeShapeType="1" noTextEdit="1"/>
                </p:cNvSpPr>
                <p:nvPr/>
              </p:nvSpPr>
              <p:spPr>
                <a:xfrm>
                  <a:off x="3643717" y="3703490"/>
                  <a:ext cx="279859" cy="369332"/>
                </a:xfrm>
                <a:prstGeom prst="rect">
                  <a:avLst/>
                </a:prstGeom>
                <a:blipFill>
                  <a:blip r:embed="rId6"/>
                  <a:stretch>
                    <a:fillRect r="-26087"/>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ED1EBE7C-126F-2D04-9A2C-3C07F4388EB5}"/>
                    </a:ext>
                  </a:extLst>
                </p:cNvPr>
                <p:cNvSpPr txBox="1"/>
                <p:nvPr/>
              </p:nvSpPr>
              <p:spPr>
                <a:xfrm>
                  <a:off x="5564149" y="2444438"/>
                  <a:ext cx="27985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𝑐</m:t>
                            </m:r>
                          </m:e>
                          <m:sub>
                            <m:r>
                              <a:rPr lang="en-CA" b="0" i="1" smtClean="0">
                                <a:latin typeface="Cambria Math" panose="02040503050406030204" pitchFamily="18" charset="0"/>
                              </a:rPr>
                              <m:t>1</m:t>
                            </m:r>
                          </m:sub>
                        </m:sSub>
                      </m:oMath>
                    </m:oMathPara>
                  </a14:m>
                  <a:endParaRPr lang="en-CA" dirty="0"/>
                </a:p>
              </p:txBody>
            </p:sp>
          </mc:Choice>
          <mc:Fallback xmlns="">
            <p:sp>
              <p:nvSpPr>
                <p:cNvPr id="72" name="TextBox 71">
                  <a:extLst>
                    <a:ext uri="{FF2B5EF4-FFF2-40B4-BE49-F238E27FC236}">
                      <a16:creationId xmlns:a16="http://schemas.microsoft.com/office/drawing/2014/main" id="{1097556C-42C7-384A-39A5-6F206480B369}"/>
                    </a:ext>
                  </a:extLst>
                </p:cNvPr>
                <p:cNvSpPr txBox="1">
                  <a:spLocks noRot="1" noChangeAspect="1" noMove="1" noResize="1" noEditPoints="1" noAdjustHandles="1" noChangeArrowheads="1" noChangeShapeType="1" noTextEdit="1"/>
                </p:cNvSpPr>
                <p:nvPr/>
              </p:nvSpPr>
              <p:spPr>
                <a:xfrm>
                  <a:off x="5564149" y="2444438"/>
                  <a:ext cx="279859" cy="369332"/>
                </a:xfrm>
                <a:prstGeom prst="rect">
                  <a:avLst/>
                </a:prstGeom>
                <a:blipFill>
                  <a:blip r:embed="rId7"/>
                  <a:stretch>
                    <a:fillRect r="-21739"/>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5DDB4586-E8FE-2A89-60B3-C7CC88BBD7B3}"/>
                    </a:ext>
                  </a:extLst>
                </p:cNvPr>
                <p:cNvSpPr txBox="1"/>
                <p:nvPr/>
              </p:nvSpPr>
              <p:spPr>
                <a:xfrm>
                  <a:off x="5724739" y="4000977"/>
                  <a:ext cx="27985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𝑐</m:t>
                            </m:r>
                          </m:e>
                          <m:sub>
                            <m:r>
                              <a:rPr lang="en-CA" b="0" i="1" smtClean="0">
                                <a:latin typeface="Cambria Math" panose="02040503050406030204" pitchFamily="18" charset="0"/>
                              </a:rPr>
                              <m:t>4</m:t>
                            </m:r>
                          </m:sub>
                        </m:sSub>
                      </m:oMath>
                    </m:oMathPara>
                  </a14:m>
                  <a:endParaRPr lang="en-CA" dirty="0"/>
                </a:p>
              </p:txBody>
            </p:sp>
          </mc:Choice>
          <mc:Fallback xmlns="">
            <p:sp>
              <p:nvSpPr>
                <p:cNvPr id="74" name="TextBox 73">
                  <a:extLst>
                    <a:ext uri="{FF2B5EF4-FFF2-40B4-BE49-F238E27FC236}">
                      <a16:creationId xmlns:a16="http://schemas.microsoft.com/office/drawing/2014/main" id="{10A1D373-7620-2C08-4264-16404E652629}"/>
                    </a:ext>
                  </a:extLst>
                </p:cNvPr>
                <p:cNvSpPr txBox="1">
                  <a:spLocks noRot="1" noChangeAspect="1" noMove="1" noResize="1" noEditPoints="1" noAdjustHandles="1" noChangeArrowheads="1" noChangeShapeType="1" noTextEdit="1"/>
                </p:cNvSpPr>
                <p:nvPr/>
              </p:nvSpPr>
              <p:spPr>
                <a:xfrm>
                  <a:off x="5724739" y="4000977"/>
                  <a:ext cx="279859" cy="369332"/>
                </a:xfrm>
                <a:prstGeom prst="rect">
                  <a:avLst/>
                </a:prstGeom>
                <a:blipFill>
                  <a:blip r:embed="rId8"/>
                  <a:stretch>
                    <a:fillRect r="-23913"/>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009F979-3F56-1D35-AE9A-EFF2666249FA}"/>
                    </a:ext>
                  </a:extLst>
                </p:cNvPr>
                <p:cNvSpPr txBox="1"/>
                <p:nvPr/>
              </p:nvSpPr>
              <p:spPr>
                <a:xfrm>
                  <a:off x="6328658" y="2943115"/>
                  <a:ext cx="27985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𝑐</m:t>
                            </m:r>
                          </m:e>
                          <m:sub>
                            <m:r>
                              <a:rPr lang="en-CA" b="0" i="1" smtClean="0">
                                <a:latin typeface="Cambria Math" panose="02040503050406030204" pitchFamily="18" charset="0"/>
                              </a:rPr>
                              <m:t>3</m:t>
                            </m:r>
                          </m:sub>
                        </m:sSub>
                      </m:oMath>
                    </m:oMathPara>
                  </a14:m>
                  <a:endParaRPr lang="en-CA" dirty="0"/>
                </a:p>
              </p:txBody>
            </p:sp>
          </mc:Choice>
          <mc:Fallback xmlns="">
            <p:sp>
              <p:nvSpPr>
                <p:cNvPr id="75" name="TextBox 74">
                  <a:extLst>
                    <a:ext uri="{FF2B5EF4-FFF2-40B4-BE49-F238E27FC236}">
                      <a16:creationId xmlns:a16="http://schemas.microsoft.com/office/drawing/2014/main" id="{28B6401E-2393-BBEC-56D9-C5C481B024C0}"/>
                    </a:ext>
                  </a:extLst>
                </p:cNvPr>
                <p:cNvSpPr txBox="1">
                  <a:spLocks noRot="1" noChangeAspect="1" noMove="1" noResize="1" noEditPoints="1" noAdjustHandles="1" noChangeArrowheads="1" noChangeShapeType="1" noTextEdit="1"/>
                </p:cNvSpPr>
                <p:nvPr/>
              </p:nvSpPr>
              <p:spPr>
                <a:xfrm>
                  <a:off x="6328658" y="2943115"/>
                  <a:ext cx="279859" cy="369332"/>
                </a:xfrm>
                <a:prstGeom prst="rect">
                  <a:avLst/>
                </a:prstGeom>
                <a:blipFill>
                  <a:blip r:embed="rId9"/>
                  <a:stretch>
                    <a:fillRect r="-24444"/>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8B46BD42-CF2C-6529-D5DE-7BD30FBE32F7}"/>
                    </a:ext>
                  </a:extLst>
                </p:cNvPr>
                <p:cNvSpPr txBox="1"/>
                <p:nvPr/>
              </p:nvSpPr>
              <p:spPr>
                <a:xfrm>
                  <a:off x="4909358" y="3352919"/>
                  <a:ext cx="27985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𝑐</m:t>
                            </m:r>
                          </m:e>
                          <m:sub>
                            <m:r>
                              <a:rPr lang="en-CA" b="0" i="1" smtClean="0">
                                <a:latin typeface="Cambria Math" panose="02040503050406030204" pitchFamily="18" charset="0"/>
                              </a:rPr>
                              <m:t>2</m:t>
                            </m:r>
                          </m:sub>
                        </m:sSub>
                      </m:oMath>
                    </m:oMathPara>
                  </a14:m>
                  <a:endParaRPr lang="en-CA" dirty="0"/>
                </a:p>
              </p:txBody>
            </p:sp>
          </mc:Choice>
          <mc:Fallback xmlns="">
            <p:sp>
              <p:nvSpPr>
                <p:cNvPr id="76" name="TextBox 75">
                  <a:extLst>
                    <a:ext uri="{FF2B5EF4-FFF2-40B4-BE49-F238E27FC236}">
                      <a16:creationId xmlns:a16="http://schemas.microsoft.com/office/drawing/2014/main" id="{AA0EFD4C-38D5-0FB1-7EFC-D303B6124526}"/>
                    </a:ext>
                  </a:extLst>
                </p:cNvPr>
                <p:cNvSpPr txBox="1">
                  <a:spLocks noRot="1" noChangeAspect="1" noMove="1" noResize="1" noEditPoints="1" noAdjustHandles="1" noChangeArrowheads="1" noChangeShapeType="1" noTextEdit="1"/>
                </p:cNvSpPr>
                <p:nvPr/>
              </p:nvSpPr>
              <p:spPr>
                <a:xfrm>
                  <a:off x="4909358" y="3352919"/>
                  <a:ext cx="279859" cy="369332"/>
                </a:xfrm>
                <a:prstGeom prst="rect">
                  <a:avLst/>
                </a:prstGeom>
                <a:blipFill>
                  <a:blip r:embed="rId10"/>
                  <a:stretch>
                    <a:fillRect r="-21739"/>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671BF2B9-3E73-80C7-0F11-CC2F92D8CDAE}"/>
                    </a:ext>
                  </a:extLst>
                </p:cNvPr>
                <p:cNvSpPr txBox="1"/>
                <p:nvPr/>
              </p:nvSpPr>
              <p:spPr>
                <a:xfrm>
                  <a:off x="7426231" y="2275240"/>
                  <a:ext cx="27985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𝑎</m:t>
                            </m:r>
                          </m:e>
                          <m:sub>
                            <m:r>
                              <a:rPr lang="en-CA" b="0" i="1" smtClean="0">
                                <a:latin typeface="Cambria Math" panose="02040503050406030204" pitchFamily="18" charset="0"/>
                              </a:rPr>
                              <m:t>1</m:t>
                            </m:r>
                          </m:sub>
                        </m:sSub>
                      </m:oMath>
                    </m:oMathPara>
                  </a14:m>
                  <a:endParaRPr lang="en-CA" dirty="0"/>
                </a:p>
              </p:txBody>
            </p:sp>
          </mc:Choice>
          <mc:Fallback xmlns="">
            <p:sp>
              <p:nvSpPr>
                <p:cNvPr id="77" name="TextBox 76">
                  <a:extLst>
                    <a:ext uri="{FF2B5EF4-FFF2-40B4-BE49-F238E27FC236}">
                      <a16:creationId xmlns:a16="http://schemas.microsoft.com/office/drawing/2014/main" id="{72780C10-CC63-277E-6F6D-9D9D7CD03FA5}"/>
                    </a:ext>
                  </a:extLst>
                </p:cNvPr>
                <p:cNvSpPr txBox="1">
                  <a:spLocks noRot="1" noChangeAspect="1" noMove="1" noResize="1" noEditPoints="1" noAdjustHandles="1" noChangeArrowheads="1" noChangeShapeType="1" noTextEdit="1"/>
                </p:cNvSpPr>
                <p:nvPr/>
              </p:nvSpPr>
              <p:spPr>
                <a:xfrm>
                  <a:off x="7426231" y="2275240"/>
                  <a:ext cx="279859" cy="369332"/>
                </a:xfrm>
                <a:prstGeom prst="rect">
                  <a:avLst/>
                </a:prstGeom>
                <a:blipFill>
                  <a:blip r:embed="rId11"/>
                  <a:stretch>
                    <a:fillRect r="-33333"/>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9DD62686-EBA4-95CD-D003-E8572D17AD3F}"/>
                    </a:ext>
                  </a:extLst>
                </p:cNvPr>
                <p:cNvSpPr txBox="1"/>
                <p:nvPr/>
              </p:nvSpPr>
              <p:spPr>
                <a:xfrm>
                  <a:off x="7111662" y="4174384"/>
                  <a:ext cx="27985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𝑎</m:t>
                            </m:r>
                          </m:e>
                          <m:sub>
                            <m:r>
                              <a:rPr lang="en-CA" b="0" i="1" smtClean="0">
                                <a:latin typeface="Cambria Math" panose="02040503050406030204" pitchFamily="18" charset="0"/>
                              </a:rPr>
                              <m:t>4</m:t>
                            </m:r>
                          </m:sub>
                        </m:sSub>
                      </m:oMath>
                    </m:oMathPara>
                  </a14:m>
                  <a:endParaRPr lang="en-CA" dirty="0"/>
                </a:p>
              </p:txBody>
            </p:sp>
          </mc:Choice>
          <mc:Fallback xmlns="">
            <p:sp>
              <p:nvSpPr>
                <p:cNvPr id="79" name="TextBox 78">
                  <a:extLst>
                    <a:ext uri="{FF2B5EF4-FFF2-40B4-BE49-F238E27FC236}">
                      <a16:creationId xmlns:a16="http://schemas.microsoft.com/office/drawing/2014/main" id="{E47A0D13-16CE-14C9-0BB7-A898D6F10738}"/>
                    </a:ext>
                  </a:extLst>
                </p:cNvPr>
                <p:cNvSpPr txBox="1">
                  <a:spLocks noRot="1" noChangeAspect="1" noMove="1" noResize="1" noEditPoints="1" noAdjustHandles="1" noChangeArrowheads="1" noChangeShapeType="1" noTextEdit="1"/>
                </p:cNvSpPr>
                <p:nvPr/>
              </p:nvSpPr>
              <p:spPr>
                <a:xfrm>
                  <a:off x="7111662" y="4174384"/>
                  <a:ext cx="279859" cy="369332"/>
                </a:xfrm>
                <a:prstGeom prst="rect">
                  <a:avLst/>
                </a:prstGeom>
                <a:blipFill>
                  <a:blip r:embed="rId12"/>
                  <a:stretch>
                    <a:fillRect r="-32609"/>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8A209B3-1FED-AFDC-6C51-D0D93E3BD37E}"/>
                    </a:ext>
                  </a:extLst>
                </p:cNvPr>
                <p:cNvSpPr txBox="1"/>
                <p:nvPr/>
              </p:nvSpPr>
              <p:spPr>
                <a:xfrm>
                  <a:off x="8047185" y="3703490"/>
                  <a:ext cx="27985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𝑎</m:t>
                            </m:r>
                          </m:e>
                          <m:sub>
                            <m:r>
                              <a:rPr lang="en-CA" b="0" i="1" smtClean="0">
                                <a:latin typeface="Cambria Math" panose="02040503050406030204" pitchFamily="18" charset="0"/>
                              </a:rPr>
                              <m:t>3</m:t>
                            </m:r>
                          </m:sub>
                        </m:sSub>
                      </m:oMath>
                    </m:oMathPara>
                  </a14:m>
                  <a:endParaRPr lang="en-CA" dirty="0"/>
                </a:p>
              </p:txBody>
            </p:sp>
          </mc:Choice>
          <mc:Fallback xmlns="">
            <p:sp>
              <p:nvSpPr>
                <p:cNvPr id="80" name="TextBox 79">
                  <a:extLst>
                    <a:ext uri="{FF2B5EF4-FFF2-40B4-BE49-F238E27FC236}">
                      <a16:creationId xmlns:a16="http://schemas.microsoft.com/office/drawing/2014/main" id="{E2088C0B-187B-CF38-82E5-DC92B5D1B1DA}"/>
                    </a:ext>
                  </a:extLst>
                </p:cNvPr>
                <p:cNvSpPr txBox="1">
                  <a:spLocks noRot="1" noChangeAspect="1" noMove="1" noResize="1" noEditPoints="1" noAdjustHandles="1" noChangeArrowheads="1" noChangeShapeType="1" noTextEdit="1"/>
                </p:cNvSpPr>
                <p:nvPr/>
              </p:nvSpPr>
              <p:spPr>
                <a:xfrm>
                  <a:off x="8047185" y="3703490"/>
                  <a:ext cx="279859" cy="369332"/>
                </a:xfrm>
                <a:prstGeom prst="rect">
                  <a:avLst/>
                </a:prstGeom>
                <a:blipFill>
                  <a:blip r:embed="rId13"/>
                  <a:stretch>
                    <a:fillRect r="-34783"/>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3C480504-EC43-692F-3E6C-1790CD586064}"/>
                    </a:ext>
                  </a:extLst>
                </p:cNvPr>
                <p:cNvSpPr txBox="1"/>
                <p:nvPr/>
              </p:nvSpPr>
              <p:spPr>
                <a:xfrm>
                  <a:off x="7612711" y="3023970"/>
                  <a:ext cx="27985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𝑎</m:t>
                            </m:r>
                          </m:e>
                          <m:sub>
                            <m:r>
                              <a:rPr lang="en-CA" b="0" i="1" smtClean="0">
                                <a:latin typeface="Cambria Math" panose="02040503050406030204" pitchFamily="18" charset="0"/>
                              </a:rPr>
                              <m:t>2</m:t>
                            </m:r>
                          </m:sub>
                        </m:sSub>
                      </m:oMath>
                    </m:oMathPara>
                  </a14:m>
                  <a:endParaRPr lang="en-CA" dirty="0"/>
                </a:p>
              </p:txBody>
            </p:sp>
          </mc:Choice>
          <mc:Fallback xmlns="">
            <p:sp>
              <p:nvSpPr>
                <p:cNvPr id="81" name="TextBox 80">
                  <a:extLst>
                    <a:ext uri="{FF2B5EF4-FFF2-40B4-BE49-F238E27FC236}">
                      <a16:creationId xmlns:a16="http://schemas.microsoft.com/office/drawing/2014/main" id="{D04BA911-E1DE-B808-FB02-2519CBE65D41}"/>
                    </a:ext>
                  </a:extLst>
                </p:cNvPr>
                <p:cNvSpPr txBox="1">
                  <a:spLocks noRot="1" noChangeAspect="1" noMove="1" noResize="1" noEditPoints="1" noAdjustHandles="1" noChangeArrowheads="1" noChangeShapeType="1" noTextEdit="1"/>
                </p:cNvSpPr>
                <p:nvPr/>
              </p:nvSpPr>
              <p:spPr>
                <a:xfrm>
                  <a:off x="7612711" y="3023970"/>
                  <a:ext cx="279859" cy="369332"/>
                </a:xfrm>
                <a:prstGeom prst="rect">
                  <a:avLst/>
                </a:prstGeom>
                <a:blipFill>
                  <a:blip r:embed="rId14"/>
                  <a:stretch>
                    <a:fillRect r="-34783"/>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B4FEC350-5D92-D955-1FD9-30B0C79144C2}"/>
                    </a:ext>
                  </a:extLst>
                </p:cNvPr>
                <p:cNvSpPr txBox="1"/>
                <p:nvPr/>
              </p:nvSpPr>
              <p:spPr>
                <a:xfrm>
                  <a:off x="3804335" y="2358325"/>
                  <a:ext cx="46355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𝑆</m:t>
                            </m:r>
                          </m:e>
                          <m:sub>
                            <m:r>
                              <a:rPr lang="en-CA" b="0" i="1" smtClean="0">
                                <a:latin typeface="Cambria Math" panose="02040503050406030204" pitchFamily="18" charset="0"/>
                              </a:rPr>
                              <m:t>3</m:t>
                            </m:r>
                          </m:sub>
                        </m:sSub>
                      </m:oMath>
                    </m:oMathPara>
                  </a14:m>
                  <a:endParaRPr lang="en-CA" dirty="0"/>
                </a:p>
              </p:txBody>
            </p:sp>
          </mc:Choice>
          <mc:Fallback xmlns="">
            <p:sp>
              <p:nvSpPr>
                <p:cNvPr id="82" name="TextBox 81">
                  <a:extLst>
                    <a:ext uri="{FF2B5EF4-FFF2-40B4-BE49-F238E27FC236}">
                      <a16:creationId xmlns:a16="http://schemas.microsoft.com/office/drawing/2014/main" id="{9DF607EF-C86E-9A78-BFF4-D56E83FF3786}"/>
                    </a:ext>
                  </a:extLst>
                </p:cNvPr>
                <p:cNvSpPr txBox="1">
                  <a:spLocks noRot="1" noChangeAspect="1" noMove="1" noResize="1" noEditPoints="1" noAdjustHandles="1" noChangeArrowheads="1" noChangeShapeType="1" noTextEdit="1"/>
                </p:cNvSpPr>
                <p:nvPr/>
              </p:nvSpPr>
              <p:spPr>
                <a:xfrm>
                  <a:off x="3804335" y="2358325"/>
                  <a:ext cx="463550" cy="369332"/>
                </a:xfrm>
                <a:prstGeom prst="rect">
                  <a:avLst/>
                </a:prstGeom>
                <a:blipFill>
                  <a:blip r:embed="rId15"/>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91B1254B-0A20-90E4-8520-6977AFBE381F}"/>
                    </a:ext>
                  </a:extLst>
                </p:cNvPr>
                <p:cNvSpPr txBox="1"/>
                <p:nvPr/>
              </p:nvSpPr>
              <p:spPr>
                <a:xfrm>
                  <a:off x="3319987" y="3008435"/>
                  <a:ext cx="46355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𝑆</m:t>
                            </m:r>
                          </m:e>
                          <m:sub>
                            <m:r>
                              <a:rPr lang="en-CA" b="0" i="1" smtClean="0">
                                <a:latin typeface="Cambria Math" panose="02040503050406030204" pitchFamily="18" charset="0"/>
                              </a:rPr>
                              <m:t>2</m:t>
                            </m:r>
                          </m:sub>
                        </m:sSub>
                      </m:oMath>
                    </m:oMathPara>
                  </a14:m>
                  <a:endParaRPr lang="en-CA" dirty="0"/>
                </a:p>
              </p:txBody>
            </p:sp>
          </mc:Choice>
          <mc:Fallback xmlns="">
            <p:sp>
              <p:nvSpPr>
                <p:cNvPr id="83" name="TextBox 82">
                  <a:extLst>
                    <a:ext uri="{FF2B5EF4-FFF2-40B4-BE49-F238E27FC236}">
                      <a16:creationId xmlns:a16="http://schemas.microsoft.com/office/drawing/2014/main" id="{6F470158-EEE2-D36A-7E25-6AF62F482705}"/>
                    </a:ext>
                  </a:extLst>
                </p:cNvPr>
                <p:cNvSpPr txBox="1">
                  <a:spLocks noRot="1" noChangeAspect="1" noMove="1" noResize="1" noEditPoints="1" noAdjustHandles="1" noChangeArrowheads="1" noChangeShapeType="1" noTextEdit="1"/>
                </p:cNvSpPr>
                <p:nvPr/>
              </p:nvSpPr>
              <p:spPr>
                <a:xfrm>
                  <a:off x="3319987" y="3008435"/>
                  <a:ext cx="463550" cy="369332"/>
                </a:xfrm>
                <a:prstGeom prst="rect">
                  <a:avLst/>
                </a:prstGeom>
                <a:blipFill>
                  <a:blip r:embed="rId16"/>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0F2BE947-A7E6-E36C-34DC-F4D864055CC8}"/>
                    </a:ext>
                  </a:extLst>
                </p:cNvPr>
                <p:cNvSpPr txBox="1"/>
                <p:nvPr/>
              </p:nvSpPr>
              <p:spPr>
                <a:xfrm>
                  <a:off x="3944607" y="3937143"/>
                  <a:ext cx="46355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𝑆</m:t>
                            </m:r>
                          </m:e>
                          <m:sub>
                            <m:r>
                              <a:rPr lang="en-CA" b="0" i="1" smtClean="0">
                                <a:latin typeface="Cambria Math" panose="02040503050406030204" pitchFamily="18" charset="0"/>
                              </a:rPr>
                              <m:t>1</m:t>
                            </m:r>
                          </m:sub>
                        </m:sSub>
                      </m:oMath>
                    </m:oMathPara>
                  </a14:m>
                  <a:endParaRPr lang="en-CA" dirty="0"/>
                </a:p>
              </p:txBody>
            </p:sp>
          </mc:Choice>
          <mc:Fallback xmlns="">
            <p:sp>
              <p:nvSpPr>
                <p:cNvPr id="84" name="TextBox 83">
                  <a:extLst>
                    <a:ext uri="{FF2B5EF4-FFF2-40B4-BE49-F238E27FC236}">
                      <a16:creationId xmlns:a16="http://schemas.microsoft.com/office/drawing/2014/main" id="{F0C34748-555D-E0B0-990A-FE7AF2BBAA82}"/>
                    </a:ext>
                  </a:extLst>
                </p:cNvPr>
                <p:cNvSpPr txBox="1">
                  <a:spLocks noRot="1" noChangeAspect="1" noMove="1" noResize="1" noEditPoints="1" noAdjustHandles="1" noChangeArrowheads="1" noChangeShapeType="1" noTextEdit="1"/>
                </p:cNvSpPr>
                <p:nvPr/>
              </p:nvSpPr>
              <p:spPr>
                <a:xfrm>
                  <a:off x="3944607" y="3937143"/>
                  <a:ext cx="463550" cy="369332"/>
                </a:xfrm>
                <a:prstGeom prst="rect">
                  <a:avLst/>
                </a:prstGeom>
                <a:blipFill>
                  <a:blip r:embed="rId17"/>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D8EF2014-5EA0-A4B1-824F-857A526BBA6A}"/>
                    </a:ext>
                  </a:extLst>
                </p:cNvPr>
                <p:cNvSpPr txBox="1"/>
                <p:nvPr/>
              </p:nvSpPr>
              <p:spPr>
                <a:xfrm>
                  <a:off x="7537573" y="3985174"/>
                  <a:ext cx="46355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𝐴</m:t>
                            </m:r>
                          </m:e>
                          <m:sub>
                            <m:r>
                              <a:rPr lang="en-CA" b="0" i="1" smtClean="0">
                                <a:latin typeface="Cambria Math" panose="02040503050406030204" pitchFamily="18" charset="0"/>
                              </a:rPr>
                              <m:t>4</m:t>
                            </m:r>
                          </m:sub>
                        </m:sSub>
                      </m:oMath>
                    </m:oMathPara>
                  </a14:m>
                  <a:endParaRPr lang="en-CA" dirty="0"/>
                </a:p>
              </p:txBody>
            </p:sp>
          </mc:Choice>
          <mc:Fallback xmlns="">
            <p:sp>
              <p:nvSpPr>
                <p:cNvPr id="85" name="TextBox 84">
                  <a:extLst>
                    <a:ext uri="{FF2B5EF4-FFF2-40B4-BE49-F238E27FC236}">
                      <a16:creationId xmlns:a16="http://schemas.microsoft.com/office/drawing/2014/main" id="{F648787F-10FE-3DAF-1D3F-B3E50EE3CBAA}"/>
                    </a:ext>
                  </a:extLst>
                </p:cNvPr>
                <p:cNvSpPr txBox="1">
                  <a:spLocks noRot="1" noChangeAspect="1" noMove="1" noResize="1" noEditPoints="1" noAdjustHandles="1" noChangeArrowheads="1" noChangeShapeType="1" noTextEdit="1"/>
                </p:cNvSpPr>
                <p:nvPr/>
              </p:nvSpPr>
              <p:spPr>
                <a:xfrm>
                  <a:off x="7537573" y="3985174"/>
                  <a:ext cx="463550" cy="369332"/>
                </a:xfrm>
                <a:prstGeom prst="rect">
                  <a:avLst/>
                </a:prstGeom>
                <a:blipFill>
                  <a:blip r:embed="rId18"/>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6C9B2D3C-385B-75EE-930D-2FF139C6589A}"/>
                    </a:ext>
                  </a:extLst>
                </p:cNvPr>
                <p:cNvSpPr txBox="1"/>
                <p:nvPr/>
              </p:nvSpPr>
              <p:spPr>
                <a:xfrm>
                  <a:off x="7682409" y="3512574"/>
                  <a:ext cx="46355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𝐴</m:t>
                            </m:r>
                          </m:e>
                          <m:sub>
                            <m:r>
                              <a:rPr lang="en-CA" b="0" i="1" smtClean="0">
                                <a:latin typeface="Cambria Math" panose="02040503050406030204" pitchFamily="18" charset="0"/>
                              </a:rPr>
                              <m:t>3</m:t>
                            </m:r>
                          </m:sub>
                        </m:sSub>
                      </m:oMath>
                    </m:oMathPara>
                  </a14:m>
                  <a:endParaRPr lang="en-CA" dirty="0"/>
                </a:p>
              </p:txBody>
            </p:sp>
          </mc:Choice>
          <mc:Fallback xmlns="">
            <p:sp>
              <p:nvSpPr>
                <p:cNvPr id="86" name="TextBox 85">
                  <a:extLst>
                    <a:ext uri="{FF2B5EF4-FFF2-40B4-BE49-F238E27FC236}">
                      <a16:creationId xmlns:a16="http://schemas.microsoft.com/office/drawing/2014/main" id="{17579695-81FF-154A-7178-FB099368A7FF}"/>
                    </a:ext>
                  </a:extLst>
                </p:cNvPr>
                <p:cNvSpPr txBox="1">
                  <a:spLocks noRot="1" noChangeAspect="1" noMove="1" noResize="1" noEditPoints="1" noAdjustHandles="1" noChangeArrowheads="1" noChangeShapeType="1" noTextEdit="1"/>
                </p:cNvSpPr>
                <p:nvPr/>
              </p:nvSpPr>
              <p:spPr>
                <a:xfrm>
                  <a:off x="7682409" y="3512574"/>
                  <a:ext cx="463550" cy="369332"/>
                </a:xfrm>
                <a:prstGeom prst="rect">
                  <a:avLst/>
                </a:prstGeom>
                <a:blipFill>
                  <a:blip r:embed="rId19"/>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D11BDA38-7C34-37DC-7AEA-4CBF8898D689}"/>
                    </a:ext>
                  </a:extLst>
                </p:cNvPr>
                <p:cNvSpPr txBox="1"/>
                <p:nvPr/>
              </p:nvSpPr>
              <p:spPr>
                <a:xfrm>
                  <a:off x="7993682" y="3131662"/>
                  <a:ext cx="46355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𝐴</m:t>
                            </m:r>
                          </m:e>
                          <m:sub>
                            <m:r>
                              <a:rPr lang="en-CA" b="0" i="1" smtClean="0">
                                <a:latin typeface="Cambria Math" panose="02040503050406030204" pitchFamily="18" charset="0"/>
                              </a:rPr>
                              <m:t>2</m:t>
                            </m:r>
                          </m:sub>
                        </m:sSub>
                      </m:oMath>
                    </m:oMathPara>
                  </a14:m>
                  <a:endParaRPr lang="en-CA" dirty="0"/>
                </a:p>
              </p:txBody>
            </p:sp>
          </mc:Choice>
          <mc:Fallback xmlns="">
            <p:sp>
              <p:nvSpPr>
                <p:cNvPr id="87" name="TextBox 86">
                  <a:extLst>
                    <a:ext uri="{FF2B5EF4-FFF2-40B4-BE49-F238E27FC236}">
                      <a16:creationId xmlns:a16="http://schemas.microsoft.com/office/drawing/2014/main" id="{EE414595-9322-13A1-6A8E-4F606BF859EB}"/>
                    </a:ext>
                  </a:extLst>
                </p:cNvPr>
                <p:cNvSpPr txBox="1">
                  <a:spLocks noRot="1" noChangeAspect="1" noMove="1" noResize="1" noEditPoints="1" noAdjustHandles="1" noChangeArrowheads="1" noChangeShapeType="1" noTextEdit="1"/>
                </p:cNvSpPr>
                <p:nvPr/>
              </p:nvSpPr>
              <p:spPr>
                <a:xfrm>
                  <a:off x="7993682" y="3131662"/>
                  <a:ext cx="463550" cy="369332"/>
                </a:xfrm>
                <a:prstGeom prst="rect">
                  <a:avLst/>
                </a:prstGeom>
                <a:blipFill>
                  <a:blip r:embed="rId20"/>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F0259C3-41A2-4DAB-6814-4A5A0311C303}"/>
                    </a:ext>
                  </a:extLst>
                </p:cNvPr>
                <p:cNvSpPr txBox="1"/>
                <p:nvPr/>
              </p:nvSpPr>
              <p:spPr>
                <a:xfrm>
                  <a:off x="7619101" y="2580832"/>
                  <a:ext cx="46355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𝐴</m:t>
                            </m:r>
                          </m:e>
                          <m:sub>
                            <m:r>
                              <a:rPr lang="en-CA" b="0" i="1" smtClean="0">
                                <a:latin typeface="Cambria Math" panose="02040503050406030204" pitchFamily="18" charset="0"/>
                              </a:rPr>
                              <m:t>1</m:t>
                            </m:r>
                          </m:sub>
                        </m:sSub>
                      </m:oMath>
                    </m:oMathPara>
                  </a14:m>
                  <a:endParaRPr lang="en-CA" dirty="0"/>
                </a:p>
              </p:txBody>
            </p:sp>
          </mc:Choice>
          <mc:Fallback xmlns="">
            <p:sp>
              <p:nvSpPr>
                <p:cNvPr id="88" name="TextBox 87">
                  <a:extLst>
                    <a:ext uri="{FF2B5EF4-FFF2-40B4-BE49-F238E27FC236}">
                      <a16:creationId xmlns:a16="http://schemas.microsoft.com/office/drawing/2014/main" id="{E351F1D7-2265-B234-B87F-5FA7F1349284}"/>
                    </a:ext>
                  </a:extLst>
                </p:cNvPr>
                <p:cNvSpPr txBox="1">
                  <a:spLocks noRot="1" noChangeAspect="1" noMove="1" noResize="1" noEditPoints="1" noAdjustHandles="1" noChangeArrowheads="1" noChangeShapeType="1" noTextEdit="1"/>
                </p:cNvSpPr>
                <p:nvPr/>
              </p:nvSpPr>
              <p:spPr>
                <a:xfrm>
                  <a:off x="7619101" y="2580832"/>
                  <a:ext cx="463550" cy="369332"/>
                </a:xfrm>
                <a:prstGeom prst="rect">
                  <a:avLst/>
                </a:prstGeom>
                <a:blipFill>
                  <a:blip r:embed="rId21"/>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BE8BB8C2-DED2-8098-9746-3BEBB7658584}"/>
                    </a:ext>
                  </a:extLst>
                </p:cNvPr>
                <p:cNvSpPr txBox="1"/>
                <p:nvPr/>
              </p:nvSpPr>
              <p:spPr>
                <a:xfrm>
                  <a:off x="5637456" y="4463851"/>
                  <a:ext cx="46355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𝐶</m:t>
                            </m:r>
                          </m:e>
                          <m:sub>
                            <m:r>
                              <a:rPr lang="en-CA" b="0" i="1" smtClean="0">
                                <a:latin typeface="Cambria Math" panose="02040503050406030204" pitchFamily="18" charset="0"/>
                              </a:rPr>
                              <m:t>3</m:t>
                            </m:r>
                          </m:sub>
                        </m:sSub>
                      </m:oMath>
                    </m:oMathPara>
                  </a14:m>
                  <a:endParaRPr lang="en-CA" dirty="0"/>
                </a:p>
              </p:txBody>
            </p:sp>
          </mc:Choice>
          <mc:Fallback xmlns="">
            <p:sp>
              <p:nvSpPr>
                <p:cNvPr id="89" name="TextBox 88">
                  <a:extLst>
                    <a:ext uri="{FF2B5EF4-FFF2-40B4-BE49-F238E27FC236}">
                      <a16:creationId xmlns:a16="http://schemas.microsoft.com/office/drawing/2014/main" id="{16DCA6AA-673D-774D-C2CC-7E83B1B2210D}"/>
                    </a:ext>
                  </a:extLst>
                </p:cNvPr>
                <p:cNvSpPr txBox="1">
                  <a:spLocks noRot="1" noChangeAspect="1" noMove="1" noResize="1" noEditPoints="1" noAdjustHandles="1" noChangeArrowheads="1" noChangeShapeType="1" noTextEdit="1"/>
                </p:cNvSpPr>
                <p:nvPr/>
              </p:nvSpPr>
              <p:spPr>
                <a:xfrm>
                  <a:off x="5637456" y="4463851"/>
                  <a:ext cx="463550" cy="369332"/>
                </a:xfrm>
                <a:prstGeom prst="rect">
                  <a:avLst/>
                </a:prstGeom>
                <a:blipFill>
                  <a:blip r:embed="rId22"/>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012FABDA-9935-D6BE-EB07-BF36BAF73D7E}"/>
                    </a:ext>
                  </a:extLst>
                </p:cNvPr>
                <p:cNvSpPr txBox="1"/>
                <p:nvPr/>
              </p:nvSpPr>
              <p:spPr>
                <a:xfrm>
                  <a:off x="6005583" y="2619493"/>
                  <a:ext cx="46355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𝐶</m:t>
                            </m:r>
                          </m:e>
                          <m:sub>
                            <m:r>
                              <a:rPr lang="en-CA" b="0" i="1" smtClean="0">
                                <a:latin typeface="Cambria Math" panose="02040503050406030204" pitchFamily="18" charset="0"/>
                              </a:rPr>
                              <m:t>2</m:t>
                            </m:r>
                          </m:sub>
                        </m:sSub>
                      </m:oMath>
                    </m:oMathPara>
                  </a14:m>
                  <a:endParaRPr lang="en-CA" dirty="0"/>
                </a:p>
              </p:txBody>
            </p:sp>
          </mc:Choice>
          <mc:Fallback xmlns="">
            <p:sp>
              <p:nvSpPr>
                <p:cNvPr id="90" name="TextBox 89">
                  <a:extLst>
                    <a:ext uri="{FF2B5EF4-FFF2-40B4-BE49-F238E27FC236}">
                      <a16:creationId xmlns:a16="http://schemas.microsoft.com/office/drawing/2014/main" id="{19D4E2E8-F8C8-7E02-2E0A-AD49BF3C6F78}"/>
                    </a:ext>
                  </a:extLst>
                </p:cNvPr>
                <p:cNvSpPr txBox="1">
                  <a:spLocks noRot="1" noChangeAspect="1" noMove="1" noResize="1" noEditPoints="1" noAdjustHandles="1" noChangeArrowheads="1" noChangeShapeType="1" noTextEdit="1"/>
                </p:cNvSpPr>
                <p:nvPr/>
              </p:nvSpPr>
              <p:spPr>
                <a:xfrm>
                  <a:off x="6005583" y="2619493"/>
                  <a:ext cx="463550" cy="369332"/>
                </a:xfrm>
                <a:prstGeom prst="rect">
                  <a:avLst/>
                </a:prstGeom>
                <a:blipFill>
                  <a:blip r:embed="rId23"/>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0BCAEE3F-38B7-9EF6-04DD-FE7AC62C62E8}"/>
                    </a:ext>
                  </a:extLst>
                </p:cNvPr>
                <p:cNvSpPr txBox="1"/>
                <p:nvPr/>
              </p:nvSpPr>
              <p:spPr>
                <a:xfrm>
                  <a:off x="5206427" y="2944644"/>
                  <a:ext cx="46355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𝐶</m:t>
                            </m:r>
                          </m:e>
                          <m:sub>
                            <m:r>
                              <a:rPr lang="en-CA" b="0" i="1" smtClean="0">
                                <a:latin typeface="Cambria Math" panose="02040503050406030204" pitchFamily="18" charset="0"/>
                              </a:rPr>
                              <m:t>1</m:t>
                            </m:r>
                          </m:sub>
                        </m:sSub>
                      </m:oMath>
                    </m:oMathPara>
                  </a14:m>
                  <a:endParaRPr lang="en-CA" dirty="0"/>
                </a:p>
              </p:txBody>
            </p:sp>
          </mc:Choice>
          <mc:Fallback xmlns="">
            <p:sp>
              <p:nvSpPr>
                <p:cNvPr id="91" name="TextBox 90">
                  <a:extLst>
                    <a:ext uri="{FF2B5EF4-FFF2-40B4-BE49-F238E27FC236}">
                      <a16:creationId xmlns:a16="http://schemas.microsoft.com/office/drawing/2014/main" id="{1F628DE4-E8E9-E88B-6480-788D1368A97B}"/>
                    </a:ext>
                  </a:extLst>
                </p:cNvPr>
                <p:cNvSpPr txBox="1">
                  <a:spLocks noRot="1" noChangeAspect="1" noMove="1" noResize="1" noEditPoints="1" noAdjustHandles="1" noChangeArrowheads="1" noChangeShapeType="1" noTextEdit="1"/>
                </p:cNvSpPr>
                <p:nvPr/>
              </p:nvSpPr>
              <p:spPr>
                <a:xfrm>
                  <a:off x="5206427" y="2944644"/>
                  <a:ext cx="463550" cy="369332"/>
                </a:xfrm>
                <a:prstGeom prst="rect">
                  <a:avLst/>
                </a:prstGeom>
                <a:blipFill>
                  <a:blip r:embed="rId24"/>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C22D91E5-2E72-B33A-26CF-C1B823343FC7}"/>
                    </a:ext>
                  </a:extLst>
                </p:cNvPr>
                <p:cNvSpPr txBox="1"/>
                <p:nvPr/>
              </p:nvSpPr>
              <p:spPr>
                <a:xfrm rot="21307354">
                  <a:off x="4626697" y="4303433"/>
                  <a:ext cx="836205"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A" sz="1200" b="0" i="1" smtClean="0">
                            <a:latin typeface="Cambria Math" panose="02040503050406030204" pitchFamily="18" charset="0"/>
                          </a:rPr>
                          <m:t>h</m:t>
                        </m:r>
                        <m:r>
                          <a:rPr lang="en-CA" sz="1200" b="0" i="1" smtClean="0">
                            <a:latin typeface="Cambria Math" panose="02040503050406030204" pitchFamily="18" charset="0"/>
                          </a:rPr>
                          <m:t>(</m:t>
                        </m:r>
                        <m:sSub>
                          <m:sSubPr>
                            <m:ctrlPr>
                              <a:rPr lang="en-CA" sz="1200" b="0" i="1" smtClean="0">
                                <a:latin typeface="Cambria Math" panose="02040503050406030204" pitchFamily="18" charset="0"/>
                              </a:rPr>
                            </m:ctrlPr>
                          </m:sSubPr>
                          <m:e>
                            <m:r>
                              <a:rPr lang="en-US" sz="1200" b="0" i="1" smtClean="0">
                                <a:latin typeface="Cambria Math" panose="02040503050406030204" pitchFamily="18" charset="0"/>
                              </a:rPr>
                              <m:t>𝑆</m:t>
                            </m:r>
                          </m:e>
                          <m:sub>
                            <m:r>
                              <a:rPr lang="en-US" sz="1200" b="0" i="1" smtClean="0">
                                <a:latin typeface="Cambria Math" panose="02040503050406030204" pitchFamily="18" charset="0"/>
                              </a:rPr>
                              <m:t>1</m:t>
                            </m:r>
                          </m:sub>
                        </m:sSub>
                        <m:r>
                          <a:rPr lang="en-US" sz="1200" b="0" i="1" smtClean="0">
                            <a:latin typeface="Cambria Math" panose="02040503050406030204" pitchFamily="18" charset="0"/>
                          </a:rPr>
                          <m:t>,</m:t>
                        </m:r>
                        <m:sSub>
                          <m:sSubPr>
                            <m:ctrlPr>
                              <a:rPr lang="en-CA" sz="1200" b="0" i="1" smtClean="0">
                                <a:latin typeface="Cambria Math" panose="02040503050406030204" pitchFamily="18" charset="0"/>
                              </a:rPr>
                            </m:ctrlPr>
                          </m:sSubPr>
                          <m:e>
                            <m:r>
                              <a:rPr lang="en-US" sz="1200" b="0" i="1" smtClean="0">
                                <a:latin typeface="Cambria Math" panose="02040503050406030204" pitchFamily="18" charset="0"/>
                              </a:rPr>
                              <m:t>𝐶</m:t>
                            </m:r>
                          </m:e>
                          <m:sub>
                            <m:r>
                              <a:rPr lang="en-US" sz="1200" b="0" i="1" smtClean="0">
                                <a:latin typeface="Cambria Math" panose="02040503050406030204" pitchFamily="18" charset="0"/>
                              </a:rPr>
                              <m:t>3</m:t>
                            </m:r>
                          </m:sub>
                        </m:sSub>
                        <m:r>
                          <a:rPr lang="en-CA" sz="1200" b="0" i="1" smtClean="0">
                            <a:latin typeface="Cambria Math" panose="02040503050406030204" pitchFamily="18" charset="0"/>
                          </a:rPr>
                          <m:t>)</m:t>
                        </m:r>
                      </m:oMath>
                    </m:oMathPara>
                  </a14:m>
                  <a:endParaRPr lang="en-CA" sz="1200" dirty="0"/>
                </a:p>
              </p:txBody>
            </p:sp>
          </mc:Choice>
          <mc:Fallback xmlns="">
            <p:sp>
              <p:nvSpPr>
                <p:cNvPr id="93" name="TextBox 92">
                  <a:extLst>
                    <a:ext uri="{FF2B5EF4-FFF2-40B4-BE49-F238E27FC236}">
                      <a16:creationId xmlns:a16="http://schemas.microsoft.com/office/drawing/2014/main" id="{AAD04C00-7E4A-672B-C87F-F859FFD75021}"/>
                    </a:ext>
                  </a:extLst>
                </p:cNvPr>
                <p:cNvSpPr txBox="1">
                  <a:spLocks noRot="1" noChangeAspect="1" noMove="1" noResize="1" noEditPoints="1" noAdjustHandles="1" noChangeArrowheads="1" noChangeShapeType="1" noTextEdit="1"/>
                </p:cNvSpPr>
                <p:nvPr/>
              </p:nvSpPr>
              <p:spPr>
                <a:xfrm rot="21307354">
                  <a:off x="4626697" y="4303433"/>
                  <a:ext cx="836205" cy="276999"/>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60114635-6209-BFE1-8F38-B9D468247A6B}"/>
                    </a:ext>
                  </a:extLst>
                </p:cNvPr>
                <p:cNvSpPr txBox="1"/>
                <p:nvPr/>
              </p:nvSpPr>
              <p:spPr>
                <a:xfrm rot="656866">
                  <a:off x="6119700" y="4311783"/>
                  <a:ext cx="836205"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A" sz="1200" b="0" i="1" smtClean="0">
                            <a:latin typeface="Cambria Math" panose="02040503050406030204" pitchFamily="18" charset="0"/>
                          </a:rPr>
                          <m:t>h</m:t>
                        </m:r>
                        <m:r>
                          <a:rPr lang="en-CA" sz="1200" b="0" i="1" smtClean="0">
                            <a:latin typeface="Cambria Math" panose="02040503050406030204" pitchFamily="18" charset="0"/>
                          </a:rPr>
                          <m:t>(</m:t>
                        </m:r>
                        <m:sSub>
                          <m:sSubPr>
                            <m:ctrlPr>
                              <a:rPr lang="en-CA" sz="1200" b="0" i="1" smtClean="0">
                                <a:latin typeface="Cambria Math" panose="02040503050406030204" pitchFamily="18" charset="0"/>
                              </a:rPr>
                            </m:ctrlPr>
                          </m:sSubPr>
                          <m:e>
                            <m:r>
                              <a:rPr lang="en-US" sz="1200" b="0" i="1" smtClean="0">
                                <a:latin typeface="Cambria Math" panose="02040503050406030204" pitchFamily="18" charset="0"/>
                              </a:rPr>
                              <m:t>𝐶</m:t>
                            </m:r>
                          </m:e>
                          <m:sub>
                            <m:r>
                              <a:rPr lang="en-US" sz="1200" b="0" i="1" smtClean="0">
                                <a:latin typeface="Cambria Math" panose="02040503050406030204" pitchFamily="18" charset="0"/>
                              </a:rPr>
                              <m:t>3</m:t>
                            </m:r>
                          </m:sub>
                        </m:sSub>
                        <m:r>
                          <a:rPr lang="en-US" sz="1200" b="0" i="1" smtClean="0">
                            <a:latin typeface="Cambria Math" panose="02040503050406030204" pitchFamily="18" charset="0"/>
                          </a:rPr>
                          <m:t>, </m:t>
                        </m:r>
                        <m:sSub>
                          <m:sSubPr>
                            <m:ctrlPr>
                              <a:rPr lang="en-CA" sz="1200" b="0" i="1" smtClean="0">
                                <a:latin typeface="Cambria Math" panose="02040503050406030204" pitchFamily="18" charset="0"/>
                              </a:rPr>
                            </m:ctrlPr>
                          </m:sSubPr>
                          <m:e>
                            <m:r>
                              <a:rPr lang="en-US" sz="1200" b="0" i="1" smtClean="0">
                                <a:latin typeface="Cambria Math" panose="02040503050406030204" pitchFamily="18" charset="0"/>
                              </a:rPr>
                              <m:t>𝐴</m:t>
                            </m:r>
                          </m:e>
                          <m:sub>
                            <m:r>
                              <a:rPr lang="en-US" sz="1200" b="0" i="1" smtClean="0">
                                <a:latin typeface="Cambria Math" panose="02040503050406030204" pitchFamily="18" charset="0"/>
                              </a:rPr>
                              <m:t>4</m:t>
                            </m:r>
                          </m:sub>
                        </m:sSub>
                        <m:r>
                          <a:rPr lang="en-CA" sz="1200" b="0" i="1" smtClean="0">
                            <a:latin typeface="Cambria Math" panose="02040503050406030204" pitchFamily="18" charset="0"/>
                          </a:rPr>
                          <m:t>)</m:t>
                        </m:r>
                      </m:oMath>
                    </m:oMathPara>
                  </a14:m>
                  <a:endParaRPr lang="en-CA" sz="1200" dirty="0"/>
                </a:p>
              </p:txBody>
            </p:sp>
          </mc:Choice>
          <mc:Fallback xmlns="">
            <p:sp>
              <p:nvSpPr>
                <p:cNvPr id="94" name="TextBox 93">
                  <a:extLst>
                    <a:ext uri="{FF2B5EF4-FFF2-40B4-BE49-F238E27FC236}">
                      <a16:creationId xmlns:a16="http://schemas.microsoft.com/office/drawing/2014/main" id="{9D573BB7-396D-427E-8BE8-15958DE5BD50}"/>
                    </a:ext>
                  </a:extLst>
                </p:cNvPr>
                <p:cNvSpPr txBox="1">
                  <a:spLocks noRot="1" noChangeAspect="1" noMove="1" noResize="1" noEditPoints="1" noAdjustHandles="1" noChangeArrowheads="1" noChangeShapeType="1" noTextEdit="1"/>
                </p:cNvSpPr>
                <p:nvPr/>
              </p:nvSpPr>
              <p:spPr>
                <a:xfrm rot="656866">
                  <a:off x="6119700" y="4311783"/>
                  <a:ext cx="836205" cy="276999"/>
                </a:xfrm>
                <a:prstGeom prst="rect">
                  <a:avLst/>
                </a:prstGeom>
                <a:blipFill>
                  <a:blip r:embed="rId26"/>
                  <a:stretch>
                    <a:fillRect b="-2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1CE0749A-6179-F5F5-11E4-1DDBB1A58A50}"/>
                    </a:ext>
                  </a:extLst>
                </p:cNvPr>
                <p:cNvSpPr txBox="1"/>
                <p:nvPr/>
              </p:nvSpPr>
              <p:spPr>
                <a:xfrm rot="450390">
                  <a:off x="4777568" y="2132028"/>
                  <a:ext cx="836205"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A" sz="1200" b="0" i="1" smtClean="0">
                            <a:latin typeface="Cambria Math" panose="02040503050406030204" pitchFamily="18" charset="0"/>
                          </a:rPr>
                          <m:t>h</m:t>
                        </m:r>
                        <m:r>
                          <a:rPr lang="en-CA" sz="1200" b="0" i="1" smtClean="0">
                            <a:latin typeface="Cambria Math" panose="02040503050406030204" pitchFamily="18" charset="0"/>
                          </a:rPr>
                          <m:t>(</m:t>
                        </m:r>
                        <m:sSub>
                          <m:sSubPr>
                            <m:ctrlPr>
                              <a:rPr lang="en-CA" sz="1200" b="0" i="1" smtClean="0">
                                <a:latin typeface="Cambria Math" panose="02040503050406030204" pitchFamily="18" charset="0"/>
                              </a:rPr>
                            </m:ctrlPr>
                          </m:sSubPr>
                          <m:e>
                            <m:r>
                              <a:rPr lang="en-US" sz="1200" b="0" i="1" smtClean="0">
                                <a:latin typeface="Cambria Math" panose="02040503050406030204" pitchFamily="18" charset="0"/>
                              </a:rPr>
                              <m:t>𝑆</m:t>
                            </m:r>
                          </m:e>
                          <m:sub>
                            <m:r>
                              <a:rPr lang="en-US" sz="1200" b="0" i="1" smtClean="0">
                                <a:latin typeface="Cambria Math" panose="02040503050406030204" pitchFamily="18" charset="0"/>
                              </a:rPr>
                              <m:t>3</m:t>
                            </m:r>
                          </m:sub>
                        </m:sSub>
                        <m:r>
                          <a:rPr lang="en-US" sz="1200" b="0" i="1" smtClean="0">
                            <a:latin typeface="Cambria Math" panose="02040503050406030204" pitchFamily="18" charset="0"/>
                          </a:rPr>
                          <m:t>, </m:t>
                        </m:r>
                        <m:sSub>
                          <m:sSubPr>
                            <m:ctrlPr>
                              <a:rPr lang="en-CA" sz="1200" b="0" i="1" smtClean="0">
                                <a:latin typeface="Cambria Math" panose="02040503050406030204" pitchFamily="18" charset="0"/>
                              </a:rPr>
                            </m:ctrlPr>
                          </m:sSubPr>
                          <m:e>
                            <m:r>
                              <a:rPr lang="en-US" sz="1200" b="0" i="1" smtClean="0">
                                <a:latin typeface="Cambria Math" panose="02040503050406030204" pitchFamily="18" charset="0"/>
                              </a:rPr>
                              <m:t>𝐶</m:t>
                            </m:r>
                          </m:e>
                          <m:sub>
                            <m:r>
                              <a:rPr lang="en-US" sz="1200" b="0" i="1" smtClean="0">
                                <a:latin typeface="Cambria Math" panose="02040503050406030204" pitchFamily="18" charset="0"/>
                              </a:rPr>
                              <m:t>2</m:t>
                            </m:r>
                          </m:sub>
                        </m:sSub>
                        <m:r>
                          <a:rPr lang="en-CA" sz="1200" b="0" i="1" smtClean="0">
                            <a:latin typeface="Cambria Math" panose="02040503050406030204" pitchFamily="18" charset="0"/>
                          </a:rPr>
                          <m:t>)</m:t>
                        </m:r>
                      </m:oMath>
                    </m:oMathPara>
                  </a14:m>
                  <a:endParaRPr lang="en-CA" sz="1200" dirty="0"/>
                </a:p>
              </p:txBody>
            </p:sp>
          </mc:Choice>
          <mc:Fallback xmlns="">
            <p:sp>
              <p:nvSpPr>
                <p:cNvPr id="95" name="TextBox 94">
                  <a:extLst>
                    <a:ext uri="{FF2B5EF4-FFF2-40B4-BE49-F238E27FC236}">
                      <a16:creationId xmlns:a16="http://schemas.microsoft.com/office/drawing/2014/main" id="{78684DC8-836E-3E3A-8274-F012FFA128CC}"/>
                    </a:ext>
                  </a:extLst>
                </p:cNvPr>
                <p:cNvSpPr txBox="1">
                  <a:spLocks noRot="1" noChangeAspect="1" noMove="1" noResize="1" noEditPoints="1" noAdjustHandles="1" noChangeArrowheads="1" noChangeShapeType="1" noTextEdit="1"/>
                </p:cNvSpPr>
                <p:nvPr/>
              </p:nvSpPr>
              <p:spPr>
                <a:xfrm rot="450390">
                  <a:off x="4777568" y="2132028"/>
                  <a:ext cx="836205" cy="276999"/>
                </a:xfrm>
                <a:prstGeom prst="rect">
                  <a:avLst/>
                </a:prstGeom>
                <a:blipFill>
                  <a:blip r:embed="rId27"/>
                  <a:stretch>
                    <a:fillRect b="-32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F2B7DC9A-F66B-4F0C-E109-CC1F598EAF1C}"/>
                    </a:ext>
                  </a:extLst>
                </p:cNvPr>
                <p:cNvSpPr txBox="1"/>
                <p:nvPr/>
              </p:nvSpPr>
              <p:spPr>
                <a:xfrm rot="20688402">
                  <a:off x="6551799" y="2461493"/>
                  <a:ext cx="836205"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A" sz="1200" b="0" i="1" smtClean="0">
                            <a:latin typeface="Cambria Math" panose="02040503050406030204" pitchFamily="18" charset="0"/>
                          </a:rPr>
                          <m:t>h</m:t>
                        </m:r>
                        <m:r>
                          <a:rPr lang="en-CA" sz="1200" b="0" i="1" smtClean="0">
                            <a:latin typeface="Cambria Math" panose="02040503050406030204" pitchFamily="18" charset="0"/>
                          </a:rPr>
                          <m:t>(</m:t>
                        </m:r>
                        <m:sSub>
                          <m:sSubPr>
                            <m:ctrlPr>
                              <a:rPr lang="en-CA" sz="1200" b="0" i="1" smtClean="0">
                                <a:latin typeface="Cambria Math" panose="02040503050406030204" pitchFamily="18" charset="0"/>
                              </a:rPr>
                            </m:ctrlPr>
                          </m:sSubPr>
                          <m:e>
                            <m:r>
                              <a:rPr lang="en-US" sz="1200" b="0" i="1" smtClean="0">
                                <a:latin typeface="Cambria Math" panose="02040503050406030204" pitchFamily="18" charset="0"/>
                              </a:rPr>
                              <m:t>𝐶</m:t>
                            </m:r>
                          </m:e>
                          <m:sub>
                            <m:r>
                              <a:rPr lang="en-US" sz="1200" b="0" i="1" smtClean="0">
                                <a:latin typeface="Cambria Math" panose="02040503050406030204" pitchFamily="18" charset="0"/>
                              </a:rPr>
                              <m:t>2</m:t>
                            </m:r>
                          </m:sub>
                        </m:sSub>
                        <m:r>
                          <a:rPr lang="en-US" sz="1200" b="0" i="1" smtClean="0">
                            <a:latin typeface="Cambria Math" panose="02040503050406030204" pitchFamily="18" charset="0"/>
                          </a:rPr>
                          <m:t>, </m:t>
                        </m:r>
                        <m:sSub>
                          <m:sSubPr>
                            <m:ctrlPr>
                              <a:rPr lang="en-CA" sz="1200" b="0" i="1" smtClean="0">
                                <a:latin typeface="Cambria Math" panose="02040503050406030204" pitchFamily="18" charset="0"/>
                              </a:rPr>
                            </m:ctrlPr>
                          </m:sSubPr>
                          <m:e>
                            <m:r>
                              <a:rPr lang="en-US" sz="1200" b="0" i="1" smtClean="0">
                                <a:latin typeface="Cambria Math" panose="02040503050406030204" pitchFamily="18" charset="0"/>
                              </a:rPr>
                              <m:t>𝐴</m:t>
                            </m:r>
                          </m:e>
                          <m:sub>
                            <m:r>
                              <a:rPr lang="en-US" sz="1200" b="0" i="1" smtClean="0">
                                <a:latin typeface="Cambria Math" panose="02040503050406030204" pitchFamily="18" charset="0"/>
                              </a:rPr>
                              <m:t>1</m:t>
                            </m:r>
                          </m:sub>
                        </m:sSub>
                        <m:r>
                          <a:rPr lang="en-CA" sz="1200" b="0" i="1" smtClean="0">
                            <a:latin typeface="Cambria Math" panose="02040503050406030204" pitchFamily="18" charset="0"/>
                          </a:rPr>
                          <m:t>)</m:t>
                        </m:r>
                      </m:oMath>
                    </m:oMathPara>
                  </a14:m>
                  <a:endParaRPr lang="en-CA" sz="1200" dirty="0"/>
                </a:p>
              </p:txBody>
            </p:sp>
          </mc:Choice>
          <mc:Fallback xmlns="">
            <p:sp>
              <p:nvSpPr>
                <p:cNvPr id="96" name="TextBox 95">
                  <a:extLst>
                    <a:ext uri="{FF2B5EF4-FFF2-40B4-BE49-F238E27FC236}">
                      <a16:creationId xmlns:a16="http://schemas.microsoft.com/office/drawing/2014/main" id="{D8F0F6DA-20D9-61F7-CA72-2258A5E110BF}"/>
                    </a:ext>
                  </a:extLst>
                </p:cNvPr>
                <p:cNvSpPr txBox="1">
                  <a:spLocks noRot="1" noChangeAspect="1" noMove="1" noResize="1" noEditPoints="1" noAdjustHandles="1" noChangeArrowheads="1" noChangeShapeType="1" noTextEdit="1"/>
                </p:cNvSpPr>
                <p:nvPr/>
              </p:nvSpPr>
              <p:spPr>
                <a:xfrm rot="20688402">
                  <a:off x="6551799" y="2461493"/>
                  <a:ext cx="836205" cy="276999"/>
                </a:xfrm>
                <a:prstGeom prst="rect">
                  <a:avLst/>
                </a:prstGeom>
                <a:blipFill>
                  <a:blip r:embed="rId2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C4DB1C8B-8E3D-D794-5659-CF003DB563AC}"/>
                    </a:ext>
                  </a:extLst>
                </p:cNvPr>
                <p:cNvSpPr txBox="1"/>
                <p:nvPr/>
              </p:nvSpPr>
              <p:spPr>
                <a:xfrm rot="1151618">
                  <a:off x="5745763" y="3457671"/>
                  <a:ext cx="836205"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A" sz="1200" b="0" i="1" smtClean="0">
                            <a:latin typeface="Cambria Math" panose="02040503050406030204" pitchFamily="18" charset="0"/>
                          </a:rPr>
                          <m:t>h</m:t>
                        </m:r>
                        <m:r>
                          <a:rPr lang="en-CA" sz="1200" b="0" i="1" smtClean="0">
                            <a:latin typeface="Cambria Math" panose="02040503050406030204" pitchFamily="18" charset="0"/>
                          </a:rPr>
                          <m:t>(</m:t>
                        </m:r>
                        <m:sSub>
                          <m:sSubPr>
                            <m:ctrlPr>
                              <a:rPr lang="en-CA" sz="1200" b="0" i="1" smtClean="0">
                                <a:latin typeface="Cambria Math" panose="02040503050406030204" pitchFamily="18" charset="0"/>
                              </a:rPr>
                            </m:ctrlPr>
                          </m:sSubPr>
                          <m:e>
                            <m:r>
                              <a:rPr lang="en-US" sz="1200" b="0" i="1" smtClean="0">
                                <a:latin typeface="Cambria Math" panose="02040503050406030204" pitchFamily="18" charset="0"/>
                              </a:rPr>
                              <m:t>𝐶</m:t>
                            </m:r>
                          </m:e>
                          <m:sub>
                            <m:r>
                              <a:rPr lang="en-US" sz="1200" b="0" i="1" smtClean="0">
                                <a:latin typeface="Cambria Math" panose="02040503050406030204" pitchFamily="18" charset="0"/>
                              </a:rPr>
                              <m:t>1</m:t>
                            </m:r>
                          </m:sub>
                        </m:sSub>
                        <m:r>
                          <a:rPr lang="en-US" sz="1200" b="0" i="1" smtClean="0">
                            <a:latin typeface="Cambria Math" panose="02040503050406030204" pitchFamily="18" charset="0"/>
                          </a:rPr>
                          <m:t>, </m:t>
                        </m:r>
                        <m:sSub>
                          <m:sSubPr>
                            <m:ctrlPr>
                              <a:rPr lang="en-CA" sz="1200" b="0" i="1" smtClean="0">
                                <a:latin typeface="Cambria Math" panose="02040503050406030204" pitchFamily="18" charset="0"/>
                              </a:rPr>
                            </m:ctrlPr>
                          </m:sSubPr>
                          <m:e>
                            <m:r>
                              <a:rPr lang="en-US" sz="1200" b="0" i="1" smtClean="0">
                                <a:latin typeface="Cambria Math" panose="02040503050406030204" pitchFamily="18" charset="0"/>
                              </a:rPr>
                              <m:t>𝐴</m:t>
                            </m:r>
                          </m:e>
                          <m:sub>
                            <m:r>
                              <a:rPr lang="en-US" sz="1200" b="0" i="1" smtClean="0">
                                <a:latin typeface="Cambria Math" panose="02040503050406030204" pitchFamily="18" charset="0"/>
                              </a:rPr>
                              <m:t>4</m:t>
                            </m:r>
                          </m:sub>
                        </m:sSub>
                        <m:r>
                          <a:rPr lang="en-CA" sz="1200" b="0" i="1" smtClean="0">
                            <a:latin typeface="Cambria Math" panose="02040503050406030204" pitchFamily="18" charset="0"/>
                          </a:rPr>
                          <m:t>)</m:t>
                        </m:r>
                      </m:oMath>
                    </m:oMathPara>
                  </a14:m>
                  <a:endParaRPr lang="en-CA" sz="1200" dirty="0"/>
                </a:p>
              </p:txBody>
            </p:sp>
          </mc:Choice>
          <mc:Fallback xmlns="">
            <p:sp>
              <p:nvSpPr>
                <p:cNvPr id="97" name="TextBox 96">
                  <a:extLst>
                    <a:ext uri="{FF2B5EF4-FFF2-40B4-BE49-F238E27FC236}">
                      <a16:creationId xmlns:a16="http://schemas.microsoft.com/office/drawing/2014/main" id="{83E0032D-FA8C-2D66-7263-CD9FEB3E65F9}"/>
                    </a:ext>
                  </a:extLst>
                </p:cNvPr>
                <p:cNvSpPr txBox="1">
                  <a:spLocks noRot="1" noChangeAspect="1" noMove="1" noResize="1" noEditPoints="1" noAdjustHandles="1" noChangeArrowheads="1" noChangeShapeType="1" noTextEdit="1"/>
                </p:cNvSpPr>
                <p:nvPr/>
              </p:nvSpPr>
              <p:spPr>
                <a:xfrm rot="1151618">
                  <a:off x="5745763" y="3457671"/>
                  <a:ext cx="836205" cy="276999"/>
                </a:xfrm>
                <a:prstGeom prst="rect">
                  <a:avLst/>
                </a:prstGeom>
                <a:blipFill>
                  <a:blip r:embed="rId2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8A3152C2-5AC0-A313-2BEA-EA5674943C60}"/>
                    </a:ext>
                  </a:extLst>
                </p:cNvPr>
                <p:cNvSpPr txBox="1"/>
                <p:nvPr/>
              </p:nvSpPr>
              <p:spPr>
                <a:xfrm>
                  <a:off x="4115330" y="3129762"/>
                  <a:ext cx="836205"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A" sz="1200" b="0" i="1" smtClean="0">
                            <a:latin typeface="Cambria Math" panose="02040503050406030204" pitchFamily="18" charset="0"/>
                          </a:rPr>
                          <m:t>h</m:t>
                        </m:r>
                        <m:r>
                          <a:rPr lang="en-CA" sz="1200" b="0" i="1" smtClean="0">
                            <a:latin typeface="Cambria Math" panose="02040503050406030204" pitchFamily="18" charset="0"/>
                          </a:rPr>
                          <m:t>(</m:t>
                        </m:r>
                        <m:sSub>
                          <m:sSubPr>
                            <m:ctrlPr>
                              <a:rPr lang="en-CA" sz="1200" b="0" i="1" smtClean="0">
                                <a:latin typeface="Cambria Math" panose="02040503050406030204" pitchFamily="18" charset="0"/>
                              </a:rPr>
                            </m:ctrlPr>
                          </m:sSubPr>
                          <m:e>
                            <m:r>
                              <a:rPr lang="en-US" sz="1200" b="0" i="1" smtClean="0">
                                <a:latin typeface="Cambria Math" panose="02040503050406030204" pitchFamily="18" charset="0"/>
                              </a:rPr>
                              <m:t>𝑆</m:t>
                            </m:r>
                          </m:e>
                          <m:sub>
                            <m:r>
                              <a:rPr lang="en-US" sz="1200" b="0" i="1" smtClean="0">
                                <a:latin typeface="Cambria Math" panose="02040503050406030204" pitchFamily="18" charset="0"/>
                              </a:rPr>
                              <m:t>2</m:t>
                            </m:r>
                          </m:sub>
                        </m:sSub>
                        <m:r>
                          <a:rPr lang="en-US" sz="1200" b="0" i="1" smtClean="0">
                            <a:latin typeface="Cambria Math" panose="02040503050406030204" pitchFamily="18" charset="0"/>
                          </a:rPr>
                          <m:t>, </m:t>
                        </m:r>
                        <m:sSub>
                          <m:sSubPr>
                            <m:ctrlPr>
                              <a:rPr lang="en-CA" sz="1200" b="0" i="1" smtClean="0">
                                <a:latin typeface="Cambria Math" panose="02040503050406030204" pitchFamily="18" charset="0"/>
                              </a:rPr>
                            </m:ctrlPr>
                          </m:sSubPr>
                          <m:e>
                            <m:r>
                              <a:rPr lang="en-US" sz="1200" b="0" i="1" smtClean="0">
                                <a:latin typeface="Cambria Math" panose="02040503050406030204" pitchFamily="18" charset="0"/>
                              </a:rPr>
                              <m:t>𝐶</m:t>
                            </m:r>
                          </m:e>
                          <m:sub>
                            <m:r>
                              <a:rPr lang="en-US" sz="1200" b="0" i="1" smtClean="0">
                                <a:latin typeface="Cambria Math" panose="02040503050406030204" pitchFamily="18" charset="0"/>
                              </a:rPr>
                              <m:t>1</m:t>
                            </m:r>
                          </m:sub>
                        </m:sSub>
                        <m:r>
                          <a:rPr lang="en-CA" sz="1200" b="0" i="1" smtClean="0">
                            <a:latin typeface="Cambria Math" panose="02040503050406030204" pitchFamily="18" charset="0"/>
                          </a:rPr>
                          <m:t>)</m:t>
                        </m:r>
                      </m:oMath>
                    </m:oMathPara>
                  </a14:m>
                  <a:endParaRPr lang="en-CA" sz="1200" dirty="0"/>
                </a:p>
              </p:txBody>
            </p:sp>
          </mc:Choice>
          <mc:Fallback xmlns="">
            <p:sp>
              <p:nvSpPr>
                <p:cNvPr id="98" name="TextBox 97">
                  <a:extLst>
                    <a:ext uri="{FF2B5EF4-FFF2-40B4-BE49-F238E27FC236}">
                      <a16:creationId xmlns:a16="http://schemas.microsoft.com/office/drawing/2014/main" id="{CAD76140-57B6-FDDF-CB60-531C7843567F}"/>
                    </a:ext>
                  </a:extLst>
                </p:cNvPr>
                <p:cNvSpPr txBox="1">
                  <a:spLocks noRot="1" noChangeAspect="1" noMove="1" noResize="1" noEditPoints="1" noAdjustHandles="1" noChangeArrowheads="1" noChangeShapeType="1" noTextEdit="1"/>
                </p:cNvSpPr>
                <p:nvPr/>
              </p:nvSpPr>
              <p:spPr>
                <a:xfrm>
                  <a:off x="4115330" y="3129762"/>
                  <a:ext cx="836205" cy="276999"/>
                </a:xfrm>
                <a:prstGeom prst="rect">
                  <a:avLst/>
                </a:prstGeom>
                <a:blipFill>
                  <a:blip r:embed="rId30"/>
                  <a:stretch>
                    <a:fillRect b="-9091"/>
                  </a:stretch>
                </a:blipFill>
              </p:spPr>
              <p:txBody>
                <a:bodyPr/>
                <a:lstStyle/>
                <a:p>
                  <a:r>
                    <a:rPr lang="en-US">
                      <a:noFill/>
                    </a:rPr>
                    <a:t> </a:t>
                  </a:r>
                </a:p>
              </p:txBody>
            </p:sp>
          </mc:Fallback>
        </mc:AlternateContent>
        <p:cxnSp>
          <p:nvCxnSpPr>
            <p:cNvPr id="60" name="Straight Arrow Connector 59">
              <a:extLst>
                <a:ext uri="{FF2B5EF4-FFF2-40B4-BE49-F238E27FC236}">
                  <a16:creationId xmlns:a16="http://schemas.microsoft.com/office/drawing/2014/main" id="{EB02D9A9-E20D-A2F9-0CEB-CE03BCD5172F}"/>
                </a:ext>
              </a:extLst>
            </p:cNvPr>
            <p:cNvCxnSpPr>
              <a:cxnSpLocks/>
              <a:stCxn id="15" idx="2"/>
            </p:cNvCxnSpPr>
            <p:nvPr/>
          </p:nvCxnSpPr>
          <p:spPr>
            <a:xfrm>
              <a:off x="4752500" y="2358334"/>
              <a:ext cx="788317" cy="110517"/>
            </a:xfrm>
            <a:prstGeom prst="straightConnector1">
              <a:avLst/>
            </a:prstGeom>
            <a:ln w="19050">
              <a:headEnd w="lg" len="sm"/>
              <a:tailEnd type="triangle" w="med" len="med"/>
            </a:ln>
          </p:spPr>
          <p:style>
            <a:lnRef idx="1">
              <a:schemeClr val="dk1"/>
            </a:lnRef>
            <a:fillRef idx="0">
              <a:schemeClr val="dk1"/>
            </a:fillRef>
            <a:effectRef idx="0">
              <a:schemeClr val="dk1"/>
            </a:effectRef>
            <a:fontRef idx="minor">
              <a:schemeClr val="tx1"/>
            </a:fontRef>
          </p:style>
        </p:cxnSp>
        <p:cxnSp>
          <p:nvCxnSpPr>
            <p:cNvPr id="61" name="Straight Arrow Connector 60">
              <a:extLst>
                <a:ext uri="{FF2B5EF4-FFF2-40B4-BE49-F238E27FC236}">
                  <a16:creationId xmlns:a16="http://schemas.microsoft.com/office/drawing/2014/main" id="{56A93761-77D8-1AD4-6110-DA9687AF246B}"/>
                </a:ext>
              </a:extLst>
            </p:cNvPr>
            <p:cNvCxnSpPr>
              <a:stCxn id="15" idx="1"/>
            </p:cNvCxnSpPr>
            <p:nvPr/>
          </p:nvCxnSpPr>
          <p:spPr>
            <a:xfrm>
              <a:off x="4418141" y="2913355"/>
              <a:ext cx="681439" cy="75470"/>
            </a:xfrm>
            <a:prstGeom prst="straightConnector1">
              <a:avLst/>
            </a:prstGeom>
            <a:ln w="19050">
              <a:tailEnd type="triangle" w="med" len="med"/>
            </a:ln>
          </p:spPr>
          <p:style>
            <a:lnRef idx="1">
              <a:schemeClr val="dk1"/>
            </a:lnRef>
            <a:fillRef idx="0">
              <a:schemeClr val="dk1"/>
            </a:fillRef>
            <a:effectRef idx="0">
              <a:schemeClr val="dk1"/>
            </a:effectRef>
            <a:fontRef idx="minor">
              <a:schemeClr val="tx1"/>
            </a:fontRef>
          </p:style>
        </p:cxnSp>
        <p:cxnSp>
          <p:nvCxnSpPr>
            <p:cNvPr id="62" name="Straight Arrow Connector 61">
              <a:extLst>
                <a:ext uri="{FF2B5EF4-FFF2-40B4-BE49-F238E27FC236}">
                  <a16:creationId xmlns:a16="http://schemas.microsoft.com/office/drawing/2014/main" id="{2C3FCD47-B1AB-06ED-B979-69544224D5C8}"/>
                </a:ext>
              </a:extLst>
            </p:cNvPr>
            <p:cNvCxnSpPr/>
            <p:nvPr/>
          </p:nvCxnSpPr>
          <p:spPr>
            <a:xfrm>
              <a:off x="4182806" y="3429000"/>
              <a:ext cx="643400" cy="0"/>
            </a:xfrm>
            <a:prstGeom prst="straightConnector1">
              <a:avLst/>
            </a:prstGeom>
            <a:ln w="19050">
              <a:tailEnd type="triangle" w="med" len="med"/>
            </a:ln>
          </p:spPr>
          <p:style>
            <a:lnRef idx="1">
              <a:schemeClr val="dk1"/>
            </a:lnRef>
            <a:fillRef idx="0">
              <a:schemeClr val="dk1"/>
            </a:fillRef>
            <a:effectRef idx="0">
              <a:schemeClr val="dk1"/>
            </a:effectRef>
            <a:fontRef idx="minor">
              <a:schemeClr val="tx1"/>
            </a:fontRef>
          </p:style>
        </p:cxnSp>
        <p:cxnSp>
          <p:nvCxnSpPr>
            <p:cNvPr id="63" name="Straight Arrow Connector 62">
              <a:extLst>
                <a:ext uri="{FF2B5EF4-FFF2-40B4-BE49-F238E27FC236}">
                  <a16:creationId xmlns:a16="http://schemas.microsoft.com/office/drawing/2014/main" id="{EC891265-2185-4E3F-DB39-D6CC7ED36686}"/>
                </a:ext>
              </a:extLst>
            </p:cNvPr>
            <p:cNvCxnSpPr>
              <a:cxnSpLocks/>
            </p:cNvCxnSpPr>
            <p:nvPr/>
          </p:nvCxnSpPr>
          <p:spPr>
            <a:xfrm flipV="1">
              <a:off x="4375829" y="3768378"/>
              <a:ext cx="450377" cy="495515"/>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64" name="Straight Arrow Connector 63">
              <a:extLst>
                <a:ext uri="{FF2B5EF4-FFF2-40B4-BE49-F238E27FC236}">
                  <a16:creationId xmlns:a16="http://schemas.microsoft.com/office/drawing/2014/main" id="{974C2098-FF04-7DE0-425B-E3F23FA4154A}"/>
                </a:ext>
              </a:extLst>
            </p:cNvPr>
            <p:cNvCxnSpPr>
              <a:cxnSpLocks/>
            </p:cNvCxnSpPr>
            <p:nvPr/>
          </p:nvCxnSpPr>
          <p:spPr>
            <a:xfrm>
              <a:off x="4165502" y="3722251"/>
              <a:ext cx="1544294" cy="411118"/>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65" name="Straight Arrow Connector 64">
              <a:extLst>
                <a:ext uri="{FF2B5EF4-FFF2-40B4-BE49-F238E27FC236}">
                  <a16:creationId xmlns:a16="http://schemas.microsoft.com/office/drawing/2014/main" id="{8E7E5743-1ED9-C3CA-470A-AC0E96CD4EB4}"/>
                </a:ext>
              </a:extLst>
            </p:cNvPr>
            <p:cNvCxnSpPr>
              <a:endCxn id="12" idx="1"/>
            </p:cNvCxnSpPr>
            <p:nvPr/>
          </p:nvCxnSpPr>
          <p:spPr>
            <a:xfrm flipV="1">
              <a:off x="4418141" y="4249030"/>
              <a:ext cx="1216552" cy="121279"/>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66" name="Straight Arrow Connector 65">
              <a:extLst>
                <a:ext uri="{FF2B5EF4-FFF2-40B4-BE49-F238E27FC236}">
                  <a16:creationId xmlns:a16="http://schemas.microsoft.com/office/drawing/2014/main" id="{876E6AE4-20C6-474C-1941-265AD80EC59A}"/>
                </a:ext>
              </a:extLst>
            </p:cNvPr>
            <p:cNvCxnSpPr/>
            <p:nvPr/>
          </p:nvCxnSpPr>
          <p:spPr>
            <a:xfrm>
              <a:off x="6168314" y="4234901"/>
              <a:ext cx="845159" cy="17336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67" name="Straight Arrow Connector 66">
              <a:extLst>
                <a:ext uri="{FF2B5EF4-FFF2-40B4-BE49-F238E27FC236}">
                  <a16:creationId xmlns:a16="http://schemas.microsoft.com/office/drawing/2014/main" id="{901D7D58-5EBE-5F1E-58B3-525BE3BB2BF7}"/>
                </a:ext>
              </a:extLst>
            </p:cNvPr>
            <p:cNvCxnSpPr/>
            <p:nvPr/>
          </p:nvCxnSpPr>
          <p:spPr>
            <a:xfrm>
              <a:off x="5564149" y="3537585"/>
              <a:ext cx="1687442" cy="584224"/>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68" name="Straight Arrow Connector 67">
              <a:extLst>
                <a:ext uri="{FF2B5EF4-FFF2-40B4-BE49-F238E27FC236}">
                  <a16:creationId xmlns:a16="http://schemas.microsoft.com/office/drawing/2014/main" id="{7F172945-0836-A80D-40BB-1492F853DF21}"/>
                </a:ext>
              </a:extLst>
            </p:cNvPr>
            <p:cNvCxnSpPr>
              <a:endCxn id="48" idx="1"/>
            </p:cNvCxnSpPr>
            <p:nvPr/>
          </p:nvCxnSpPr>
          <p:spPr>
            <a:xfrm flipV="1">
              <a:off x="6114079" y="3697240"/>
              <a:ext cx="1568330" cy="446527"/>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69" name="Straight Arrow Connector 68">
              <a:extLst>
                <a:ext uri="{FF2B5EF4-FFF2-40B4-BE49-F238E27FC236}">
                  <a16:creationId xmlns:a16="http://schemas.microsoft.com/office/drawing/2014/main" id="{F3A6D490-1F5E-DC09-A12D-5D58754EB1C2}"/>
                </a:ext>
              </a:extLst>
            </p:cNvPr>
            <p:cNvCxnSpPr>
              <a:cxnSpLocks/>
              <a:stCxn id="12" idx="4"/>
            </p:cNvCxnSpPr>
            <p:nvPr/>
          </p:nvCxnSpPr>
          <p:spPr>
            <a:xfrm flipV="1">
              <a:off x="6073179" y="3467745"/>
              <a:ext cx="1585567" cy="542698"/>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70" name="Straight Arrow Connector 69">
              <a:extLst>
                <a:ext uri="{FF2B5EF4-FFF2-40B4-BE49-F238E27FC236}">
                  <a16:creationId xmlns:a16="http://schemas.microsoft.com/office/drawing/2014/main" id="{5C4CF9DF-7264-E013-54D6-A814078EC794}"/>
                </a:ext>
              </a:extLst>
            </p:cNvPr>
            <p:cNvCxnSpPr/>
            <p:nvPr/>
          </p:nvCxnSpPr>
          <p:spPr>
            <a:xfrm>
              <a:off x="6874973" y="3312447"/>
              <a:ext cx="624334"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71" name="Straight Arrow Connector 70">
              <a:extLst>
                <a:ext uri="{FF2B5EF4-FFF2-40B4-BE49-F238E27FC236}">
                  <a16:creationId xmlns:a16="http://schemas.microsoft.com/office/drawing/2014/main" id="{566504F8-1535-4BE8-521B-AB77D512F7B5}"/>
                </a:ext>
              </a:extLst>
            </p:cNvPr>
            <p:cNvCxnSpPr>
              <a:cxnSpLocks/>
              <a:stCxn id="8" idx="3"/>
            </p:cNvCxnSpPr>
            <p:nvPr/>
          </p:nvCxnSpPr>
          <p:spPr>
            <a:xfrm>
              <a:off x="6732405" y="2948062"/>
              <a:ext cx="879516" cy="119466"/>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72" name="Straight Arrow Connector 71">
              <a:extLst>
                <a:ext uri="{FF2B5EF4-FFF2-40B4-BE49-F238E27FC236}">
                  <a16:creationId xmlns:a16="http://schemas.microsoft.com/office/drawing/2014/main" id="{DCB874B5-06EC-9975-E5F4-98118EA998C6}"/>
                </a:ext>
              </a:extLst>
            </p:cNvPr>
            <p:cNvCxnSpPr>
              <a:cxnSpLocks/>
            </p:cNvCxnSpPr>
            <p:nvPr/>
          </p:nvCxnSpPr>
          <p:spPr>
            <a:xfrm flipV="1">
              <a:off x="6652655" y="2613087"/>
              <a:ext cx="750919" cy="208946"/>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grpSp>
      <p:grpSp>
        <p:nvGrpSpPr>
          <p:cNvPr id="73" name="Group 72">
            <a:extLst>
              <a:ext uri="{FF2B5EF4-FFF2-40B4-BE49-F238E27FC236}">
                <a16:creationId xmlns:a16="http://schemas.microsoft.com/office/drawing/2014/main" id="{29044FBD-D475-CCFF-B7F8-249E3519A307}"/>
              </a:ext>
            </a:extLst>
          </p:cNvPr>
          <p:cNvGrpSpPr/>
          <p:nvPr/>
        </p:nvGrpSpPr>
        <p:grpSpPr>
          <a:xfrm>
            <a:off x="877759" y="1899711"/>
            <a:ext cx="5402845" cy="2715534"/>
            <a:chOff x="3319987" y="2117649"/>
            <a:chExt cx="5402845" cy="2715534"/>
          </a:xfrm>
          <a:scene3d>
            <a:camera prst="orthographicFront"/>
            <a:lightRig rig="chilly" dir="t"/>
          </a:scene3d>
        </p:grpSpPr>
        <p:sp>
          <p:nvSpPr>
            <p:cNvPr id="74" name="Freeform: Shape 37">
              <a:extLst>
                <a:ext uri="{FF2B5EF4-FFF2-40B4-BE49-F238E27FC236}">
                  <a16:creationId xmlns:a16="http://schemas.microsoft.com/office/drawing/2014/main" id="{C51C08B6-55B5-A00B-6D23-AE48E2CDD07B}"/>
                </a:ext>
              </a:extLst>
            </p:cNvPr>
            <p:cNvSpPr/>
            <p:nvPr/>
          </p:nvSpPr>
          <p:spPr>
            <a:xfrm rot="18210856">
              <a:off x="5805315" y="2151839"/>
              <a:ext cx="753070" cy="1619169"/>
            </a:xfrm>
            <a:custGeom>
              <a:avLst/>
              <a:gdLst>
                <a:gd name="connsiteX0" fmla="*/ 600104 w 1057083"/>
                <a:gd name="connsiteY0" fmla="*/ 6523 h 1513523"/>
                <a:gd name="connsiteX1" fmla="*/ 9795 w 1057083"/>
                <a:gd name="connsiteY1" fmla="*/ 486872 h 1513523"/>
                <a:gd name="connsiteX2" fmla="*/ 281800 w 1057083"/>
                <a:gd name="connsiteY2" fmla="*/ 1488082 h 1513523"/>
                <a:gd name="connsiteX3" fmla="*/ 924195 w 1057083"/>
                <a:gd name="connsiteY3" fmla="*/ 1135055 h 1513523"/>
                <a:gd name="connsiteX4" fmla="*/ 1034154 w 1057083"/>
                <a:gd name="connsiteY4" fmla="*/ 272741 h 1513523"/>
                <a:gd name="connsiteX5" fmla="*/ 600104 w 1057083"/>
                <a:gd name="connsiteY5" fmla="*/ 6523 h 1513523"/>
                <a:gd name="connsiteX0" fmla="*/ 660864 w 1056582"/>
                <a:gd name="connsiteY0" fmla="*/ 2627 h 1775845"/>
                <a:gd name="connsiteX1" fmla="*/ 12681 w 1056582"/>
                <a:gd name="connsiteY1" fmla="*/ 749194 h 1775845"/>
                <a:gd name="connsiteX2" fmla="*/ 284686 w 1056582"/>
                <a:gd name="connsiteY2" fmla="*/ 1750404 h 1775845"/>
                <a:gd name="connsiteX3" fmla="*/ 927081 w 1056582"/>
                <a:gd name="connsiteY3" fmla="*/ 1397377 h 1775845"/>
                <a:gd name="connsiteX4" fmla="*/ 1037040 w 1056582"/>
                <a:gd name="connsiteY4" fmla="*/ 535063 h 1775845"/>
                <a:gd name="connsiteX5" fmla="*/ 660864 w 1056582"/>
                <a:gd name="connsiteY5" fmla="*/ 2627 h 1775845"/>
                <a:gd name="connsiteX0" fmla="*/ 449265 w 1062403"/>
                <a:gd name="connsiteY0" fmla="*/ 2218 h 1856459"/>
                <a:gd name="connsiteX1" fmla="*/ 3639 w 1062403"/>
                <a:gd name="connsiteY1" fmla="*/ 829808 h 1856459"/>
                <a:gd name="connsiteX2" fmla="*/ 275644 w 1062403"/>
                <a:gd name="connsiteY2" fmla="*/ 1831018 h 1856459"/>
                <a:gd name="connsiteX3" fmla="*/ 918039 w 1062403"/>
                <a:gd name="connsiteY3" fmla="*/ 1477991 h 1856459"/>
                <a:gd name="connsiteX4" fmla="*/ 1027998 w 1062403"/>
                <a:gd name="connsiteY4" fmla="*/ 615677 h 1856459"/>
                <a:gd name="connsiteX5" fmla="*/ 449265 w 1062403"/>
                <a:gd name="connsiteY5" fmla="*/ 2218 h 1856459"/>
                <a:gd name="connsiteX0" fmla="*/ 449265 w 971893"/>
                <a:gd name="connsiteY0" fmla="*/ 2218 h 1856459"/>
                <a:gd name="connsiteX1" fmla="*/ 3639 w 971893"/>
                <a:gd name="connsiteY1" fmla="*/ 829808 h 1856459"/>
                <a:gd name="connsiteX2" fmla="*/ 275644 w 971893"/>
                <a:gd name="connsiteY2" fmla="*/ 1831018 h 1856459"/>
                <a:gd name="connsiteX3" fmla="*/ 918039 w 971893"/>
                <a:gd name="connsiteY3" fmla="*/ 1477991 h 1856459"/>
                <a:gd name="connsiteX4" fmla="*/ 842804 w 971893"/>
                <a:gd name="connsiteY4" fmla="*/ 615677 h 1856459"/>
                <a:gd name="connsiteX5" fmla="*/ 449265 w 971893"/>
                <a:gd name="connsiteY5" fmla="*/ 2218 h 1856459"/>
                <a:gd name="connsiteX0" fmla="*/ 448722 w 861517"/>
                <a:gd name="connsiteY0" fmla="*/ 2144 h 1846757"/>
                <a:gd name="connsiteX1" fmla="*/ 3096 w 861517"/>
                <a:gd name="connsiteY1" fmla="*/ 829734 h 1846757"/>
                <a:gd name="connsiteX2" fmla="*/ 275101 w 861517"/>
                <a:gd name="connsiteY2" fmla="*/ 1830944 h 1846757"/>
                <a:gd name="connsiteX3" fmla="*/ 726514 w 861517"/>
                <a:gd name="connsiteY3" fmla="*/ 1385319 h 1846757"/>
                <a:gd name="connsiteX4" fmla="*/ 842261 w 861517"/>
                <a:gd name="connsiteY4" fmla="*/ 615603 h 1846757"/>
                <a:gd name="connsiteX5" fmla="*/ 448722 w 861517"/>
                <a:gd name="connsiteY5" fmla="*/ 2144 h 1846757"/>
                <a:gd name="connsiteX0" fmla="*/ 470986 w 883781"/>
                <a:gd name="connsiteY0" fmla="*/ 2144 h 1846757"/>
                <a:gd name="connsiteX1" fmla="*/ 2836 w 883781"/>
                <a:gd name="connsiteY1" fmla="*/ 829734 h 1846757"/>
                <a:gd name="connsiteX2" fmla="*/ 297365 w 883781"/>
                <a:gd name="connsiteY2" fmla="*/ 1830944 h 1846757"/>
                <a:gd name="connsiteX3" fmla="*/ 748778 w 883781"/>
                <a:gd name="connsiteY3" fmla="*/ 1385319 h 1846757"/>
                <a:gd name="connsiteX4" fmla="*/ 864525 w 883781"/>
                <a:gd name="connsiteY4" fmla="*/ 615603 h 1846757"/>
                <a:gd name="connsiteX5" fmla="*/ 470986 w 883781"/>
                <a:gd name="connsiteY5" fmla="*/ 2144 h 1846757"/>
                <a:gd name="connsiteX0" fmla="*/ 594364 w 1007159"/>
                <a:gd name="connsiteY0" fmla="*/ 2144 h 1846757"/>
                <a:gd name="connsiteX1" fmla="*/ 126214 w 1007159"/>
                <a:gd name="connsiteY1" fmla="*/ 829734 h 1846757"/>
                <a:gd name="connsiteX2" fmla="*/ 420743 w 1007159"/>
                <a:gd name="connsiteY2" fmla="*/ 1830944 h 1846757"/>
                <a:gd name="connsiteX3" fmla="*/ 872156 w 1007159"/>
                <a:gd name="connsiteY3" fmla="*/ 1385319 h 1846757"/>
                <a:gd name="connsiteX4" fmla="*/ 987903 w 1007159"/>
                <a:gd name="connsiteY4" fmla="*/ 615603 h 1846757"/>
                <a:gd name="connsiteX5" fmla="*/ 594364 w 1007159"/>
                <a:gd name="connsiteY5" fmla="*/ 2144 h 1846757"/>
                <a:gd name="connsiteX0" fmla="*/ 484902 w 883206"/>
                <a:gd name="connsiteY0" fmla="*/ 41557 h 1318371"/>
                <a:gd name="connsiteX1" fmla="*/ 3238 w 883206"/>
                <a:gd name="connsiteY1" fmla="*/ 301348 h 1318371"/>
                <a:gd name="connsiteX2" fmla="*/ 297767 w 883206"/>
                <a:gd name="connsiteY2" fmla="*/ 1302558 h 1318371"/>
                <a:gd name="connsiteX3" fmla="*/ 749180 w 883206"/>
                <a:gd name="connsiteY3" fmla="*/ 856933 h 1318371"/>
                <a:gd name="connsiteX4" fmla="*/ 864927 w 883206"/>
                <a:gd name="connsiteY4" fmla="*/ 87217 h 1318371"/>
                <a:gd name="connsiteX5" fmla="*/ 484902 w 883206"/>
                <a:gd name="connsiteY5" fmla="*/ 41557 h 1318371"/>
                <a:gd name="connsiteX0" fmla="*/ 378883 w 777187"/>
                <a:gd name="connsiteY0" fmla="*/ 58675 h 1324992"/>
                <a:gd name="connsiteX1" fmla="*/ 5333 w 777187"/>
                <a:gd name="connsiteY1" fmla="*/ 584244 h 1324992"/>
                <a:gd name="connsiteX2" fmla="*/ 191748 w 777187"/>
                <a:gd name="connsiteY2" fmla="*/ 1319676 h 1324992"/>
                <a:gd name="connsiteX3" fmla="*/ 643161 w 777187"/>
                <a:gd name="connsiteY3" fmla="*/ 874051 h 1324992"/>
                <a:gd name="connsiteX4" fmla="*/ 758908 w 777187"/>
                <a:gd name="connsiteY4" fmla="*/ 104335 h 1324992"/>
                <a:gd name="connsiteX5" fmla="*/ 378883 w 777187"/>
                <a:gd name="connsiteY5" fmla="*/ 58675 h 1324992"/>
                <a:gd name="connsiteX0" fmla="*/ 374434 w 772738"/>
                <a:gd name="connsiteY0" fmla="*/ 58675 h 1112877"/>
                <a:gd name="connsiteX1" fmla="*/ 884 w 772738"/>
                <a:gd name="connsiteY1" fmla="*/ 584244 h 1112877"/>
                <a:gd name="connsiteX2" fmla="*/ 281899 w 772738"/>
                <a:gd name="connsiteY2" fmla="*/ 1098194 h 1112877"/>
                <a:gd name="connsiteX3" fmla="*/ 638712 w 772738"/>
                <a:gd name="connsiteY3" fmla="*/ 874051 h 1112877"/>
                <a:gd name="connsiteX4" fmla="*/ 754459 w 772738"/>
                <a:gd name="connsiteY4" fmla="*/ 104335 h 1112877"/>
                <a:gd name="connsiteX5" fmla="*/ 374434 w 772738"/>
                <a:gd name="connsiteY5" fmla="*/ 58675 h 1112877"/>
                <a:gd name="connsiteX0" fmla="*/ 374434 w 696889"/>
                <a:gd name="connsiteY0" fmla="*/ 37893 h 1092095"/>
                <a:gd name="connsiteX1" fmla="*/ 884 w 696889"/>
                <a:gd name="connsiteY1" fmla="*/ 563462 h 1092095"/>
                <a:gd name="connsiteX2" fmla="*/ 281899 w 696889"/>
                <a:gd name="connsiteY2" fmla="*/ 1077412 h 1092095"/>
                <a:gd name="connsiteX3" fmla="*/ 638712 w 696889"/>
                <a:gd name="connsiteY3" fmla="*/ 853269 h 1092095"/>
                <a:gd name="connsiteX4" fmla="*/ 610307 w 696889"/>
                <a:gd name="connsiteY4" fmla="*/ 131877 h 1092095"/>
                <a:gd name="connsiteX5" fmla="*/ 374434 w 696889"/>
                <a:gd name="connsiteY5" fmla="*/ 37893 h 1092095"/>
                <a:gd name="connsiteX0" fmla="*/ 174778 w 706784"/>
                <a:gd name="connsiteY0" fmla="*/ 35901 h 1098658"/>
                <a:gd name="connsiteX1" fmla="*/ 2354 w 706784"/>
                <a:gd name="connsiteY1" fmla="*/ 570025 h 1098658"/>
                <a:gd name="connsiteX2" fmla="*/ 283369 w 706784"/>
                <a:gd name="connsiteY2" fmla="*/ 1083975 h 1098658"/>
                <a:gd name="connsiteX3" fmla="*/ 640182 w 706784"/>
                <a:gd name="connsiteY3" fmla="*/ 859832 h 1098658"/>
                <a:gd name="connsiteX4" fmla="*/ 611777 w 706784"/>
                <a:gd name="connsiteY4" fmla="*/ 138440 h 1098658"/>
                <a:gd name="connsiteX5" fmla="*/ 174778 w 706784"/>
                <a:gd name="connsiteY5" fmla="*/ 35901 h 1098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6784" h="1098658">
                  <a:moveTo>
                    <a:pt x="174778" y="35901"/>
                  </a:moveTo>
                  <a:cubicBezTo>
                    <a:pt x="73208" y="107832"/>
                    <a:pt x="-15744" y="395346"/>
                    <a:pt x="2354" y="570025"/>
                  </a:cubicBezTo>
                  <a:cubicBezTo>
                    <a:pt x="20452" y="744704"/>
                    <a:pt x="177064" y="1035674"/>
                    <a:pt x="283369" y="1083975"/>
                  </a:cubicBezTo>
                  <a:cubicBezTo>
                    <a:pt x="389674" y="1132276"/>
                    <a:pt x="514790" y="1062389"/>
                    <a:pt x="640182" y="859832"/>
                  </a:cubicBezTo>
                  <a:cubicBezTo>
                    <a:pt x="765574" y="657275"/>
                    <a:pt x="689344" y="275762"/>
                    <a:pt x="611777" y="138440"/>
                  </a:cubicBezTo>
                  <a:cubicBezTo>
                    <a:pt x="534210" y="1118"/>
                    <a:pt x="276348" y="-36030"/>
                    <a:pt x="174778" y="35901"/>
                  </a:cubicBezTo>
                  <a:close/>
                </a:path>
              </a:pathLst>
            </a:custGeom>
            <a:solidFill>
              <a:schemeClr val="accent1">
                <a:lumMod val="40000"/>
                <a:lumOff val="60000"/>
              </a:schemeClr>
            </a:solidFill>
            <a:sp3d prstMaterial="translucentPowder"/>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5" name="Freeform: Shape 41">
              <a:extLst>
                <a:ext uri="{FF2B5EF4-FFF2-40B4-BE49-F238E27FC236}">
                  <a16:creationId xmlns:a16="http://schemas.microsoft.com/office/drawing/2014/main" id="{0A354501-EDA0-456B-B49F-B343384ACB95}"/>
                </a:ext>
              </a:extLst>
            </p:cNvPr>
            <p:cNvSpPr/>
            <p:nvPr/>
          </p:nvSpPr>
          <p:spPr>
            <a:xfrm rot="20489144">
              <a:off x="7353768" y="2117649"/>
              <a:ext cx="702224" cy="1580126"/>
            </a:xfrm>
            <a:custGeom>
              <a:avLst/>
              <a:gdLst>
                <a:gd name="connsiteX0" fmla="*/ 600104 w 1057083"/>
                <a:gd name="connsiteY0" fmla="*/ 6523 h 1513523"/>
                <a:gd name="connsiteX1" fmla="*/ 9795 w 1057083"/>
                <a:gd name="connsiteY1" fmla="*/ 486872 h 1513523"/>
                <a:gd name="connsiteX2" fmla="*/ 281800 w 1057083"/>
                <a:gd name="connsiteY2" fmla="*/ 1488082 h 1513523"/>
                <a:gd name="connsiteX3" fmla="*/ 924195 w 1057083"/>
                <a:gd name="connsiteY3" fmla="*/ 1135055 h 1513523"/>
                <a:gd name="connsiteX4" fmla="*/ 1034154 w 1057083"/>
                <a:gd name="connsiteY4" fmla="*/ 272741 h 1513523"/>
                <a:gd name="connsiteX5" fmla="*/ 600104 w 1057083"/>
                <a:gd name="connsiteY5" fmla="*/ 6523 h 1513523"/>
                <a:gd name="connsiteX0" fmla="*/ 660864 w 1056582"/>
                <a:gd name="connsiteY0" fmla="*/ 2627 h 1775845"/>
                <a:gd name="connsiteX1" fmla="*/ 12681 w 1056582"/>
                <a:gd name="connsiteY1" fmla="*/ 749194 h 1775845"/>
                <a:gd name="connsiteX2" fmla="*/ 284686 w 1056582"/>
                <a:gd name="connsiteY2" fmla="*/ 1750404 h 1775845"/>
                <a:gd name="connsiteX3" fmla="*/ 927081 w 1056582"/>
                <a:gd name="connsiteY3" fmla="*/ 1397377 h 1775845"/>
                <a:gd name="connsiteX4" fmla="*/ 1037040 w 1056582"/>
                <a:gd name="connsiteY4" fmla="*/ 535063 h 1775845"/>
                <a:gd name="connsiteX5" fmla="*/ 660864 w 1056582"/>
                <a:gd name="connsiteY5" fmla="*/ 2627 h 1775845"/>
                <a:gd name="connsiteX0" fmla="*/ 449265 w 1062403"/>
                <a:gd name="connsiteY0" fmla="*/ 2218 h 1856459"/>
                <a:gd name="connsiteX1" fmla="*/ 3639 w 1062403"/>
                <a:gd name="connsiteY1" fmla="*/ 829808 h 1856459"/>
                <a:gd name="connsiteX2" fmla="*/ 275644 w 1062403"/>
                <a:gd name="connsiteY2" fmla="*/ 1831018 h 1856459"/>
                <a:gd name="connsiteX3" fmla="*/ 918039 w 1062403"/>
                <a:gd name="connsiteY3" fmla="*/ 1477991 h 1856459"/>
                <a:gd name="connsiteX4" fmla="*/ 1027998 w 1062403"/>
                <a:gd name="connsiteY4" fmla="*/ 615677 h 1856459"/>
                <a:gd name="connsiteX5" fmla="*/ 449265 w 1062403"/>
                <a:gd name="connsiteY5" fmla="*/ 2218 h 1856459"/>
                <a:gd name="connsiteX0" fmla="*/ 449265 w 971893"/>
                <a:gd name="connsiteY0" fmla="*/ 2218 h 1856459"/>
                <a:gd name="connsiteX1" fmla="*/ 3639 w 971893"/>
                <a:gd name="connsiteY1" fmla="*/ 829808 h 1856459"/>
                <a:gd name="connsiteX2" fmla="*/ 275644 w 971893"/>
                <a:gd name="connsiteY2" fmla="*/ 1831018 h 1856459"/>
                <a:gd name="connsiteX3" fmla="*/ 918039 w 971893"/>
                <a:gd name="connsiteY3" fmla="*/ 1477991 h 1856459"/>
                <a:gd name="connsiteX4" fmla="*/ 842804 w 971893"/>
                <a:gd name="connsiteY4" fmla="*/ 615677 h 1856459"/>
                <a:gd name="connsiteX5" fmla="*/ 449265 w 971893"/>
                <a:gd name="connsiteY5" fmla="*/ 2218 h 1856459"/>
                <a:gd name="connsiteX0" fmla="*/ 448722 w 861517"/>
                <a:gd name="connsiteY0" fmla="*/ 2144 h 1846757"/>
                <a:gd name="connsiteX1" fmla="*/ 3096 w 861517"/>
                <a:gd name="connsiteY1" fmla="*/ 829734 h 1846757"/>
                <a:gd name="connsiteX2" fmla="*/ 275101 w 861517"/>
                <a:gd name="connsiteY2" fmla="*/ 1830944 h 1846757"/>
                <a:gd name="connsiteX3" fmla="*/ 726514 w 861517"/>
                <a:gd name="connsiteY3" fmla="*/ 1385319 h 1846757"/>
                <a:gd name="connsiteX4" fmla="*/ 842261 w 861517"/>
                <a:gd name="connsiteY4" fmla="*/ 615603 h 1846757"/>
                <a:gd name="connsiteX5" fmla="*/ 448722 w 861517"/>
                <a:gd name="connsiteY5" fmla="*/ 2144 h 1846757"/>
                <a:gd name="connsiteX0" fmla="*/ 470986 w 883781"/>
                <a:gd name="connsiteY0" fmla="*/ 2144 h 1846757"/>
                <a:gd name="connsiteX1" fmla="*/ 2836 w 883781"/>
                <a:gd name="connsiteY1" fmla="*/ 829734 h 1846757"/>
                <a:gd name="connsiteX2" fmla="*/ 297365 w 883781"/>
                <a:gd name="connsiteY2" fmla="*/ 1830944 h 1846757"/>
                <a:gd name="connsiteX3" fmla="*/ 748778 w 883781"/>
                <a:gd name="connsiteY3" fmla="*/ 1385319 h 1846757"/>
                <a:gd name="connsiteX4" fmla="*/ 864525 w 883781"/>
                <a:gd name="connsiteY4" fmla="*/ 615603 h 1846757"/>
                <a:gd name="connsiteX5" fmla="*/ 470986 w 883781"/>
                <a:gd name="connsiteY5" fmla="*/ 2144 h 1846757"/>
                <a:gd name="connsiteX0" fmla="*/ 594364 w 1007159"/>
                <a:gd name="connsiteY0" fmla="*/ 2144 h 1846757"/>
                <a:gd name="connsiteX1" fmla="*/ 126214 w 1007159"/>
                <a:gd name="connsiteY1" fmla="*/ 829734 h 1846757"/>
                <a:gd name="connsiteX2" fmla="*/ 420743 w 1007159"/>
                <a:gd name="connsiteY2" fmla="*/ 1830944 h 1846757"/>
                <a:gd name="connsiteX3" fmla="*/ 872156 w 1007159"/>
                <a:gd name="connsiteY3" fmla="*/ 1385319 h 1846757"/>
                <a:gd name="connsiteX4" fmla="*/ 987903 w 1007159"/>
                <a:gd name="connsiteY4" fmla="*/ 615603 h 1846757"/>
                <a:gd name="connsiteX5" fmla="*/ 594364 w 1007159"/>
                <a:gd name="connsiteY5" fmla="*/ 2144 h 1846757"/>
                <a:gd name="connsiteX0" fmla="*/ 484902 w 883206"/>
                <a:gd name="connsiteY0" fmla="*/ 41557 h 1318371"/>
                <a:gd name="connsiteX1" fmla="*/ 3238 w 883206"/>
                <a:gd name="connsiteY1" fmla="*/ 301348 h 1318371"/>
                <a:gd name="connsiteX2" fmla="*/ 297767 w 883206"/>
                <a:gd name="connsiteY2" fmla="*/ 1302558 h 1318371"/>
                <a:gd name="connsiteX3" fmla="*/ 749180 w 883206"/>
                <a:gd name="connsiteY3" fmla="*/ 856933 h 1318371"/>
                <a:gd name="connsiteX4" fmla="*/ 864927 w 883206"/>
                <a:gd name="connsiteY4" fmla="*/ 87217 h 1318371"/>
                <a:gd name="connsiteX5" fmla="*/ 484902 w 883206"/>
                <a:gd name="connsiteY5" fmla="*/ 41557 h 1318371"/>
                <a:gd name="connsiteX0" fmla="*/ 378883 w 777187"/>
                <a:gd name="connsiteY0" fmla="*/ 58675 h 1324992"/>
                <a:gd name="connsiteX1" fmla="*/ 5333 w 777187"/>
                <a:gd name="connsiteY1" fmla="*/ 584244 h 1324992"/>
                <a:gd name="connsiteX2" fmla="*/ 191748 w 777187"/>
                <a:gd name="connsiteY2" fmla="*/ 1319676 h 1324992"/>
                <a:gd name="connsiteX3" fmla="*/ 643161 w 777187"/>
                <a:gd name="connsiteY3" fmla="*/ 874051 h 1324992"/>
                <a:gd name="connsiteX4" fmla="*/ 758908 w 777187"/>
                <a:gd name="connsiteY4" fmla="*/ 104335 h 1324992"/>
                <a:gd name="connsiteX5" fmla="*/ 378883 w 777187"/>
                <a:gd name="connsiteY5" fmla="*/ 58675 h 1324992"/>
                <a:gd name="connsiteX0" fmla="*/ 374434 w 772738"/>
                <a:gd name="connsiteY0" fmla="*/ 58675 h 1112877"/>
                <a:gd name="connsiteX1" fmla="*/ 884 w 772738"/>
                <a:gd name="connsiteY1" fmla="*/ 584244 h 1112877"/>
                <a:gd name="connsiteX2" fmla="*/ 281899 w 772738"/>
                <a:gd name="connsiteY2" fmla="*/ 1098194 h 1112877"/>
                <a:gd name="connsiteX3" fmla="*/ 638712 w 772738"/>
                <a:gd name="connsiteY3" fmla="*/ 874051 h 1112877"/>
                <a:gd name="connsiteX4" fmla="*/ 754459 w 772738"/>
                <a:gd name="connsiteY4" fmla="*/ 104335 h 1112877"/>
                <a:gd name="connsiteX5" fmla="*/ 374434 w 772738"/>
                <a:gd name="connsiteY5" fmla="*/ 58675 h 1112877"/>
                <a:gd name="connsiteX0" fmla="*/ 374434 w 696889"/>
                <a:gd name="connsiteY0" fmla="*/ 37893 h 1092095"/>
                <a:gd name="connsiteX1" fmla="*/ 884 w 696889"/>
                <a:gd name="connsiteY1" fmla="*/ 563462 h 1092095"/>
                <a:gd name="connsiteX2" fmla="*/ 281899 w 696889"/>
                <a:gd name="connsiteY2" fmla="*/ 1077412 h 1092095"/>
                <a:gd name="connsiteX3" fmla="*/ 638712 w 696889"/>
                <a:gd name="connsiteY3" fmla="*/ 853269 h 1092095"/>
                <a:gd name="connsiteX4" fmla="*/ 610307 w 696889"/>
                <a:gd name="connsiteY4" fmla="*/ 131877 h 1092095"/>
                <a:gd name="connsiteX5" fmla="*/ 374434 w 696889"/>
                <a:gd name="connsiteY5" fmla="*/ 37893 h 1092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6889" h="1092095">
                  <a:moveTo>
                    <a:pt x="374434" y="37893"/>
                  </a:moveTo>
                  <a:cubicBezTo>
                    <a:pt x="272864" y="109824"/>
                    <a:pt x="16307" y="390209"/>
                    <a:pt x="884" y="563462"/>
                  </a:cubicBezTo>
                  <a:cubicBezTo>
                    <a:pt x="-14539" y="736715"/>
                    <a:pt x="175594" y="1029111"/>
                    <a:pt x="281899" y="1077412"/>
                  </a:cubicBezTo>
                  <a:cubicBezTo>
                    <a:pt x="388204" y="1125713"/>
                    <a:pt x="513320" y="1055826"/>
                    <a:pt x="638712" y="853269"/>
                  </a:cubicBezTo>
                  <a:cubicBezTo>
                    <a:pt x="764104" y="650712"/>
                    <a:pt x="654353" y="267773"/>
                    <a:pt x="610307" y="131877"/>
                  </a:cubicBezTo>
                  <a:cubicBezTo>
                    <a:pt x="566261" y="-4019"/>
                    <a:pt x="476004" y="-34038"/>
                    <a:pt x="374434" y="37893"/>
                  </a:cubicBezTo>
                  <a:close/>
                </a:path>
              </a:pathLst>
            </a:custGeom>
            <a:solidFill>
              <a:srgbClr val="FFC000"/>
            </a:solidFill>
            <a:sp3d prstMaterial="translucentPowder"/>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6" name="Freeform: Shape 42">
              <a:extLst>
                <a:ext uri="{FF2B5EF4-FFF2-40B4-BE49-F238E27FC236}">
                  <a16:creationId xmlns:a16="http://schemas.microsoft.com/office/drawing/2014/main" id="{047BB4D1-4286-2436-E0D8-D973D33AE323}"/>
                </a:ext>
              </a:extLst>
            </p:cNvPr>
            <p:cNvSpPr/>
            <p:nvPr/>
          </p:nvSpPr>
          <p:spPr>
            <a:xfrm rot="14780254">
              <a:off x="7470526" y="3255567"/>
              <a:ext cx="728212" cy="1776400"/>
            </a:xfrm>
            <a:custGeom>
              <a:avLst/>
              <a:gdLst>
                <a:gd name="connsiteX0" fmla="*/ 600104 w 1057083"/>
                <a:gd name="connsiteY0" fmla="*/ 6523 h 1513523"/>
                <a:gd name="connsiteX1" fmla="*/ 9795 w 1057083"/>
                <a:gd name="connsiteY1" fmla="*/ 486872 h 1513523"/>
                <a:gd name="connsiteX2" fmla="*/ 281800 w 1057083"/>
                <a:gd name="connsiteY2" fmla="*/ 1488082 h 1513523"/>
                <a:gd name="connsiteX3" fmla="*/ 924195 w 1057083"/>
                <a:gd name="connsiteY3" fmla="*/ 1135055 h 1513523"/>
                <a:gd name="connsiteX4" fmla="*/ 1034154 w 1057083"/>
                <a:gd name="connsiteY4" fmla="*/ 272741 h 1513523"/>
                <a:gd name="connsiteX5" fmla="*/ 600104 w 1057083"/>
                <a:gd name="connsiteY5" fmla="*/ 6523 h 1513523"/>
                <a:gd name="connsiteX0" fmla="*/ 660864 w 1056582"/>
                <a:gd name="connsiteY0" fmla="*/ 2627 h 1775845"/>
                <a:gd name="connsiteX1" fmla="*/ 12681 w 1056582"/>
                <a:gd name="connsiteY1" fmla="*/ 749194 h 1775845"/>
                <a:gd name="connsiteX2" fmla="*/ 284686 w 1056582"/>
                <a:gd name="connsiteY2" fmla="*/ 1750404 h 1775845"/>
                <a:gd name="connsiteX3" fmla="*/ 927081 w 1056582"/>
                <a:gd name="connsiteY3" fmla="*/ 1397377 h 1775845"/>
                <a:gd name="connsiteX4" fmla="*/ 1037040 w 1056582"/>
                <a:gd name="connsiteY4" fmla="*/ 535063 h 1775845"/>
                <a:gd name="connsiteX5" fmla="*/ 660864 w 1056582"/>
                <a:gd name="connsiteY5" fmla="*/ 2627 h 1775845"/>
                <a:gd name="connsiteX0" fmla="*/ 449265 w 1062403"/>
                <a:gd name="connsiteY0" fmla="*/ 2218 h 1856459"/>
                <a:gd name="connsiteX1" fmla="*/ 3639 w 1062403"/>
                <a:gd name="connsiteY1" fmla="*/ 829808 h 1856459"/>
                <a:gd name="connsiteX2" fmla="*/ 275644 w 1062403"/>
                <a:gd name="connsiteY2" fmla="*/ 1831018 h 1856459"/>
                <a:gd name="connsiteX3" fmla="*/ 918039 w 1062403"/>
                <a:gd name="connsiteY3" fmla="*/ 1477991 h 1856459"/>
                <a:gd name="connsiteX4" fmla="*/ 1027998 w 1062403"/>
                <a:gd name="connsiteY4" fmla="*/ 615677 h 1856459"/>
                <a:gd name="connsiteX5" fmla="*/ 449265 w 1062403"/>
                <a:gd name="connsiteY5" fmla="*/ 2218 h 1856459"/>
                <a:gd name="connsiteX0" fmla="*/ 449265 w 971893"/>
                <a:gd name="connsiteY0" fmla="*/ 2218 h 1856459"/>
                <a:gd name="connsiteX1" fmla="*/ 3639 w 971893"/>
                <a:gd name="connsiteY1" fmla="*/ 829808 h 1856459"/>
                <a:gd name="connsiteX2" fmla="*/ 275644 w 971893"/>
                <a:gd name="connsiteY2" fmla="*/ 1831018 h 1856459"/>
                <a:gd name="connsiteX3" fmla="*/ 918039 w 971893"/>
                <a:gd name="connsiteY3" fmla="*/ 1477991 h 1856459"/>
                <a:gd name="connsiteX4" fmla="*/ 842804 w 971893"/>
                <a:gd name="connsiteY4" fmla="*/ 615677 h 1856459"/>
                <a:gd name="connsiteX5" fmla="*/ 449265 w 971893"/>
                <a:gd name="connsiteY5" fmla="*/ 2218 h 1856459"/>
                <a:gd name="connsiteX0" fmla="*/ 448722 w 861517"/>
                <a:gd name="connsiteY0" fmla="*/ 2144 h 1846757"/>
                <a:gd name="connsiteX1" fmla="*/ 3096 w 861517"/>
                <a:gd name="connsiteY1" fmla="*/ 829734 h 1846757"/>
                <a:gd name="connsiteX2" fmla="*/ 275101 w 861517"/>
                <a:gd name="connsiteY2" fmla="*/ 1830944 h 1846757"/>
                <a:gd name="connsiteX3" fmla="*/ 726514 w 861517"/>
                <a:gd name="connsiteY3" fmla="*/ 1385319 h 1846757"/>
                <a:gd name="connsiteX4" fmla="*/ 842261 w 861517"/>
                <a:gd name="connsiteY4" fmla="*/ 615603 h 1846757"/>
                <a:gd name="connsiteX5" fmla="*/ 448722 w 861517"/>
                <a:gd name="connsiteY5" fmla="*/ 2144 h 1846757"/>
                <a:gd name="connsiteX0" fmla="*/ 470986 w 883781"/>
                <a:gd name="connsiteY0" fmla="*/ 2144 h 1846757"/>
                <a:gd name="connsiteX1" fmla="*/ 2836 w 883781"/>
                <a:gd name="connsiteY1" fmla="*/ 829734 h 1846757"/>
                <a:gd name="connsiteX2" fmla="*/ 297365 w 883781"/>
                <a:gd name="connsiteY2" fmla="*/ 1830944 h 1846757"/>
                <a:gd name="connsiteX3" fmla="*/ 748778 w 883781"/>
                <a:gd name="connsiteY3" fmla="*/ 1385319 h 1846757"/>
                <a:gd name="connsiteX4" fmla="*/ 864525 w 883781"/>
                <a:gd name="connsiteY4" fmla="*/ 615603 h 1846757"/>
                <a:gd name="connsiteX5" fmla="*/ 470986 w 883781"/>
                <a:gd name="connsiteY5" fmla="*/ 2144 h 1846757"/>
                <a:gd name="connsiteX0" fmla="*/ 594364 w 1007159"/>
                <a:gd name="connsiteY0" fmla="*/ 2144 h 1846757"/>
                <a:gd name="connsiteX1" fmla="*/ 126214 w 1007159"/>
                <a:gd name="connsiteY1" fmla="*/ 829734 h 1846757"/>
                <a:gd name="connsiteX2" fmla="*/ 420743 w 1007159"/>
                <a:gd name="connsiteY2" fmla="*/ 1830944 h 1846757"/>
                <a:gd name="connsiteX3" fmla="*/ 872156 w 1007159"/>
                <a:gd name="connsiteY3" fmla="*/ 1385319 h 1846757"/>
                <a:gd name="connsiteX4" fmla="*/ 987903 w 1007159"/>
                <a:gd name="connsiteY4" fmla="*/ 615603 h 1846757"/>
                <a:gd name="connsiteX5" fmla="*/ 594364 w 1007159"/>
                <a:gd name="connsiteY5" fmla="*/ 2144 h 1846757"/>
                <a:gd name="connsiteX0" fmla="*/ 484902 w 883206"/>
                <a:gd name="connsiteY0" fmla="*/ 41557 h 1318371"/>
                <a:gd name="connsiteX1" fmla="*/ 3238 w 883206"/>
                <a:gd name="connsiteY1" fmla="*/ 301348 h 1318371"/>
                <a:gd name="connsiteX2" fmla="*/ 297767 w 883206"/>
                <a:gd name="connsiteY2" fmla="*/ 1302558 h 1318371"/>
                <a:gd name="connsiteX3" fmla="*/ 749180 w 883206"/>
                <a:gd name="connsiteY3" fmla="*/ 856933 h 1318371"/>
                <a:gd name="connsiteX4" fmla="*/ 864927 w 883206"/>
                <a:gd name="connsiteY4" fmla="*/ 87217 h 1318371"/>
                <a:gd name="connsiteX5" fmla="*/ 484902 w 883206"/>
                <a:gd name="connsiteY5" fmla="*/ 41557 h 1318371"/>
                <a:gd name="connsiteX0" fmla="*/ 378883 w 777187"/>
                <a:gd name="connsiteY0" fmla="*/ 58675 h 1324992"/>
                <a:gd name="connsiteX1" fmla="*/ 5333 w 777187"/>
                <a:gd name="connsiteY1" fmla="*/ 584244 h 1324992"/>
                <a:gd name="connsiteX2" fmla="*/ 191748 w 777187"/>
                <a:gd name="connsiteY2" fmla="*/ 1319676 h 1324992"/>
                <a:gd name="connsiteX3" fmla="*/ 643161 w 777187"/>
                <a:gd name="connsiteY3" fmla="*/ 874051 h 1324992"/>
                <a:gd name="connsiteX4" fmla="*/ 758908 w 777187"/>
                <a:gd name="connsiteY4" fmla="*/ 104335 h 1324992"/>
                <a:gd name="connsiteX5" fmla="*/ 378883 w 777187"/>
                <a:gd name="connsiteY5" fmla="*/ 58675 h 1324992"/>
                <a:gd name="connsiteX0" fmla="*/ 374434 w 772738"/>
                <a:gd name="connsiteY0" fmla="*/ 58675 h 1112877"/>
                <a:gd name="connsiteX1" fmla="*/ 884 w 772738"/>
                <a:gd name="connsiteY1" fmla="*/ 584244 h 1112877"/>
                <a:gd name="connsiteX2" fmla="*/ 281899 w 772738"/>
                <a:gd name="connsiteY2" fmla="*/ 1098194 h 1112877"/>
                <a:gd name="connsiteX3" fmla="*/ 638712 w 772738"/>
                <a:gd name="connsiteY3" fmla="*/ 874051 h 1112877"/>
                <a:gd name="connsiteX4" fmla="*/ 754459 w 772738"/>
                <a:gd name="connsiteY4" fmla="*/ 104335 h 1112877"/>
                <a:gd name="connsiteX5" fmla="*/ 374434 w 772738"/>
                <a:gd name="connsiteY5" fmla="*/ 58675 h 1112877"/>
                <a:gd name="connsiteX0" fmla="*/ 374434 w 696889"/>
                <a:gd name="connsiteY0" fmla="*/ 37893 h 1092095"/>
                <a:gd name="connsiteX1" fmla="*/ 884 w 696889"/>
                <a:gd name="connsiteY1" fmla="*/ 563462 h 1092095"/>
                <a:gd name="connsiteX2" fmla="*/ 281899 w 696889"/>
                <a:gd name="connsiteY2" fmla="*/ 1077412 h 1092095"/>
                <a:gd name="connsiteX3" fmla="*/ 638712 w 696889"/>
                <a:gd name="connsiteY3" fmla="*/ 853269 h 1092095"/>
                <a:gd name="connsiteX4" fmla="*/ 610307 w 696889"/>
                <a:gd name="connsiteY4" fmla="*/ 131877 h 1092095"/>
                <a:gd name="connsiteX5" fmla="*/ 374434 w 696889"/>
                <a:gd name="connsiteY5" fmla="*/ 37893 h 1092095"/>
                <a:gd name="connsiteX0" fmla="*/ 473956 w 796411"/>
                <a:gd name="connsiteY0" fmla="*/ 37403 h 1092032"/>
                <a:gd name="connsiteX1" fmla="*/ 626 w 796411"/>
                <a:gd name="connsiteY1" fmla="*/ 556351 h 1092032"/>
                <a:gd name="connsiteX2" fmla="*/ 381421 w 796411"/>
                <a:gd name="connsiteY2" fmla="*/ 1076922 h 1092032"/>
                <a:gd name="connsiteX3" fmla="*/ 738234 w 796411"/>
                <a:gd name="connsiteY3" fmla="*/ 852779 h 1092032"/>
                <a:gd name="connsiteX4" fmla="*/ 709829 w 796411"/>
                <a:gd name="connsiteY4" fmla="*/ 131387 h 1092032"/>
                <a:gd name="connsiteX5" fmla="*/ 473956 w 796411"/>
                <a:gd name="connsiteY5" fmla="*/ 37403 h 1092032"/>
                <a:gd name="connsiteX0" fmla="*/ 335305 w 801608"/>
                <a:gd name="connsiteY0" fmla="*/ 27532 h 1133821"/>
                <a:gd name="connsiteX1" fmla="*/ 190 w 801608"/>
                <a:gd name="connsiteY1" fmla="*/ 598140 h 1133821"/>
                <a:gd name="connsiteX2" fmla="*/ 380985 w 801608"/>
                <a:gd name="connsiteY2" fmla="*/ 1118711 h 1133821"/>
                <a:gd name="connsiteX3" fmla="*/ 737798 w 801608"/>
                <a:gd name="connsiteY3" fmla="*/ 894568 h 1133821"/>
                <a:gd name="connsiteX4" fmla="*/ 709393 w 801608"/>
                <a:gd name="connsiteY4" fmla="*/ 173176 h 1133821"/>
                <a:gd name="connsiteX5" fmla="*/ 335305 w 801608"/>
                <a:gd name="connsiteY5" fmla="*/ 27532 h 1133821"/>
                <a:gd name="connsiteX0" fmla="*/ 335304 w 965286"/>
                <a:gd name="connsiteY0" fmla="*/ 29886 h 1158852"/>
                <a:gd name="connsiteX1" fmla="*/ 189 w 965286"/>
                <a:gd name="connsiteY1" fmla="*/ 600494 h 1158852"/>
                <a:gd name="connsiteX2" fmla="*/ 380984 w 965286"/>
                <a:gd name="connsiteY2" fmla="*/ 1121065 h 1158852"/>
                <a:gd name="connsiteX3" fmla="*/ 930593 w 965286"/>
                <a:gd name="connsiteY3" fmla="*/ 982946 h 1158852"/>
                <a:gd name="connsiteX4" fmla="*/ 709392 w 965286"/>
                <a:gd name="connsiteY4" fmla="*/ 175530 h 1158852"/>
                <a:gd name="connsiteX5" fmla="*/ 335304 w 965286"/>
                <a:gd name="connsiteY5" fmla="*/ 29886 h 1158852"/>
                <a:gd name="connsiteX0" fmla="*/ 335160 w 965142"/>
                <a:gd name="connsiteY0" fmla="*/ 29886 h 1182704"/>
                <a:gd name="connsiteX1" fmla="*/ 45 w 965142"/>
                <a:gd name="connsiteY1" fmla="*/ 600494 h 1182704"/>
                <a:gd name="connsiteX2" fmla="*/ 316305 w 965142"/>
                <a:gd name="connsiteY2" fmla="*/ 1153054 h 1182704"/>
                <a:gd name="connsiteX3" fmla="*/ 930449 w 965142"/>
                <a:gd name="connsiteY3" fmla="*/ 982946 h 1182704"/>
                <a:gd name="connsiteX4" fmla="*/ 709248 w 965142"/>
                <a:gd name="connsiteY4" fmla="*/ 175530 h 1182704"/>
                <a:gd name="connsiteX5" fmla="*/ 335160 w 965142"/>
                <a:gd name="connsiteY5" fmla="*/ 29886 h 1182704"/>
                <a:gd name="connsiteX0" fmla="*/ 335160 w 972413"/>
                <a:gd name="connsiteY0" fmla="*/ 34801 h 1187619"/>
                <a:gd name="connsiteX1" fmla="*/ 45 w 972413"/>
                <a:gd name="connsiteY1" fmla="*/ 605409 h 1187619"/>
                <a:gd name="connsiteX2" fmla="*/ 316305 w 972413"/>
                <a:gd name="connsiteY2" fmla="*/ 1157969 h 1187619"/>
                <a:gd name="connsiteX3" fmla="*/ 930449 w 972413"/>
                <a:gd name="connsiteY3" fmla="*/ 987861 h 1187619"/>
                <a:gd name="connsiteX4" fmla="*/ 770498 w 972413"/>
                <a:gd name="connsiteY4" fmla="*/ 163437 h 1187619"/>
                <a:gd name="connsiteX5" fmla="*/ 335160 w 972413"/>
                <a:gd name="connsiteY5" fmla="*/ 34801 h 1187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72413" h="1187619">
                  <a:moveTo>
                    <a:pt x="335160" y="34801"/>
                  </a:moveTo>
                  <a:cubicBezTo>
                    <a:pt x="206751" y="108463"/>
                    <a:pt x="3188" y="418214"/>
                    <a:pt x="45" y="605409"/>
                  </a:cubicBezTo>
                  <a:cubicBezTo>
                    <a:pt x="-3098" y="792604"/>
                    <a:pt x="161238" y="1094227"/>
                    <a:pt x="316305" y="1157969"/>
                  </a:cubicBezTo>
                  <a:cubicBezTo>
                    <a:pt x="471372" y="1221711"/>
                    <a:pt x="805057" y="1190418"/>
                    <a:pt x="930449" y="987861"/>
                  </a:cubicBezTo>
                  <a:cubicBezTo>
                    <a:pt x="1055841" y="785304"/>
                    <a:pt x="869713" y="322280"/>
                    <a:pt x="770498" y="163437"/>
                  </a:cubicBezTo>
                  <a:cubicBezTo>
                    <a:pt x="671283" y="4594"/>
                    <a:pt x="463569" y="-38861"/>
                    <a:pt x="335160" y="34801"/>
                  </a:cubicBezTo>
                  <a:close/>
                </a:path>
              </a:pathLst>
            </a:custGeom>
            <a:solidFill>
              <a:srgbClr val="9FE7E9"/>
            </a:solidFill>
            <a:sp3d prstMaterial="translucentPowder"/>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7" name="Freeform: Shape 43">
              <a:extLst>
                <a:ext uri="{FF2B5EF4-FFF2-40B4-BE49-F238E27FC236}">
                  <a16:creationId xmlns:a16="http://schemas.microsoft.com/office/drawing/2014/main" id="{A65A2B68-572D-F457-1479-EACF87D6217C}"/>
                </a:ext>
              </a:extLst>
            </p:cNvPr>
            <p:cNvSpPr/>
            <p:nvPr/>
          </p:nvSpPr>
          <p:spPr>
            <a:xfrm rot="7946605">
              <a:off x="7598329" y="2805663"/>
              <a:ext cx="807569" cy="1426890"/>
            </a:xfrm>
            <a:custGeom>
              <a:avLst/>
              <a:gdLst>
                <a:gd name="connsiteX0" fmla="*/ 600104 w 1057083"/>
                <a:gd name="connsiteY0" fmla="*/ 6523 h 1513523"/>
                <a:gd name="connsiteX1" fmla="*/ 9795 w 1057083"/>
                <a:gd name="connsiteY1" fmla="*/ 486872 h 1513523"/>
                <a:gd name="connsiteX2" fmla="*/ 281800 w 1057083"/>
                <a:gd name="connsiteY2" fmla="*/ 1488082 h 1513523"/>
                <a:gd name="connsiteX3" fmla="*/ 924195 w 1057083"/>
                <a:gd name="connsiteY3" fmla="*/ 1135055 h 1513523"/>
                <a:gd name="connsiteX4" fmla="*/ 1034154 w 1057083"/>
                <a:gd name="connsiteY4" fmla="*/ 272741 h 1513523"/>
                <a:gd name="connsiteX5" fmla="*/ 600104 w 1057083"/>
                <a:gd name="connsiteY5" fmla="*/ 6523 h 1513523"/>
                <a:gd name="connsiteX0" fmla="*/ 660864 w 1056582"/>
                <a:gd name="connsiteY0" fmla="*/ 2627 h 1775845"/>
                <a:gd name="connsiteX1" fmla="*/ 12681 w 1056582"/>
                <a:gd name="connsiteY1" fmla="*/ 749194 h 1775845"/>
                <a:gd name="connsiteX2" fmla="*/ 284686 w 1056582"/>
                <a:gd name="connsiteY2" fmla="*/ 1750404 h 1775845"/>
                <a:gd name="connsiteX3" fmla="*/ 927081 w 1056582"/>
                <a:gd name="connsiteY3" fmla="*/ 1397377 h 1775845"/>
                <a:gd name="connsiteX4" fmla="*/ 1037040 w 1056582"/>
                <a:gd name="connsiteY4" fmla="*/ 535063 h 1775845"/>
                <a:gd name="connsiteX5" fmla="*/ 660864 w 1056582"/>
                <a:gd name="connsiteY5" fmla="*/ 2627 h 1775845"/>
                <a:gd name="connsiteX0" fmla="*/ 449265 w 1062403"/>
                <a:gd name="connsiteY0" fmla="*/ 2218 h 1856459"/>
                <a:gd name="connsiteX1" fmla="*/ 3639 w 1062403"/>
                <a:gd name="connsiteY1" fmla="*/ 829808 h 1856459"/>
                <a:gd name="connsiteX2" fmla="*/ 275644 w 1062403"/>
                <a:gd name="connsiteY2" fmla="*/ 1831018 h 1856459"/>
                <a:gd name="connsiteX3" fmla="*/ 918039 w 1062403"/>
                <a:gd name="connsiteY3" fmla="*/ 1477991 h 1856459"/>
                <a:gd name="connsiteX4" fmla="*/ 1027998 w 1062403"/>
                <a:gd name="connsiteY4" fmla="*/ 615677 h 1856459"/>
                <a:gd name="connsiteX5" fmla="*/ 449265 w 1062403"/>
                <a:gd name="connsiteY5" fmla="*/ 2218 h 1856459"/>
                <a:gd name="connsiteX0" fmla="*/ 449265 w 971893"/>
                <a:gd name="connsiteY0" fmla="*/ 2218 h 1856459"/>
                <a:gd name="connsiteX1" fmla="*/ 3639 w 971893"/>
                <a:gd name="connsiteY1" fmla="*/ 829808 h 1856459"/>
                <a:gd name="connsiteX2" fmla="*/ 275644 w 971893"/>
                <a:gd name="connsiteY2" fmla="*/ 1831018 h 1856459"/>
                <a:gd name="connsiteX3" fmla="*/ 918039 w 971893"/>
                <a:gd name="connsiteY3" fmla="*/ 1477991 h 1856459"/>
                <a:gd name="connsiteX4" fmla="*/ 842804 w 971893"/>
                <a:gd name="connsiteY4" fmla="*/ 615677 h 1856459"/>
                <a:gd name="connsiteX5" fmla="*/ 449265 w 971893"/>
                <a:gd name="connsiteY5" fmla="*/ 2218 h 1856459"/>
                <a:gd name="connsiteX0" fmla="*/ 448722 w 861517"/>
                <a:gd name="connsiteY0" fmla="*/ 2144 h 1846757"/>
                <a:gd name="connsiteX1" fmla="*/ 3096 w 861517"/>
                <a:gd name="connsiteY1" fmla="*/ 829734 h 1846757"/>
                <a:gd name="connsiteX2" fmla="*/ 275101 w 861517"/>
                <a:gd name="connsiteY2" fmla="*/ 1830944 h 1846757"/>
                <a:gd name="connsiteX3" fmla="*/ 726514 w 861517"/>
                <a:gd name="connsiteY3" fmla="*/ 1385319 h 1846757"/>
                <a:gd name="connsiteX4" fmla="*/ 842261 w 861517"/>
                <a:gd name="connsiteY4" fmla="*/ 615603 h 1846757"/>
                <a:gd name="connsiteX5" fmla="*/ 448722 w 861517"/>
                <a:gd name="connsiteY5" fmla="*/ 2144 h 1846757"/>
                <a:gd name="connsiteX0" fmla="*/ 470986 w 883781"/>
                <a:gd name="connsiteY0" fmla="*/ 2144 h 1846757"/>
                <a:gd name="connsiteX1" fmla="*/ 2836 w 883781"/>
                <a:gd name="connsiteY1" fmla="*/ 829734 h 1846757"/>
                <a:gd name="connsiteX2" fmla="*/ 297365 w 883781"/>
                <a:gd name="connsiteY2" fmla="*/ 1830944 h 1846757"/>
                <a:gd name="connsiteX3" fmla="*/ 748778 w 883781"/>
                <a:gd name="connsiteY3" fmla="*/ 1385319 h 1846757"/>
                <a:gd name="connsiteX4" fmla="*/ 864525 w 883781"/>
                <a:gd name="connsiteY4" fmla="*/ 615603 h 1846757"/>
                <a:gd name="connsiteX5" fmla="*/ 470986 w 883781"/>
                <a:gd name="connsiteY5" fmla="*/ 2144 h 1846757"/>
                <a:gd name="connsiteX0" fmla="*/ 594364 w 1007159"/>
                <a:gd name="connsiteY0" fmla="*/ 2144 h 1846757"/>
                <a:gd name="connsiteX1" fmla="*/ 126214 w 1007159"/>
                <a:gd name="connsiteY1" fmla="*/ 829734 h 1846757"/>
                <a:gd name="connsiteX2" fmla="*/ 420743 w 1007159"/>
                <a:gd name="connsiteY2" fmla="*/ 1830944 h 1846757"/>
                <a:gd name="connsiteX3" fmla="*/ 872156 w 1007159"/>
                <a:gd name="connsiteY3" fmla="*/ 1385319 h 1846757"/>
                <a:gd name="connsiteX4" fmla="*/ 987903 w 1007159"/>
                <a:gd name="connsiteY4" fmla="*/ 615603 h 1846757"/>
                <a:gd name="connsiteX5" fmla="*/ 594364 w 1007159"/>
                <a:gd name="connsiteY5" fmla="*/ 2144 h 1846757"/>
                <a:gd name="connsiteX0" fmla="*/ 484902 w 883206"/>
                <a:gd name="connsiteY0" fmla="*/ 41557 h 1318371"/>
                <a:gd name="connsiteX1" fmla="*/ 3238 w 883206"/>
                <a:gd name="connsiteY1" fmla="*/ 301348 h 1318371"/>
                <a:gd name="connsiteX2" fmla="*/ 297767 w 883206"/>
                <a:gd name="connsiteY2" fmla="*/ 1302558 h 1318371"/>
                <a:gd name="connsiteX3" fmla="*/ 749180 w 883206"/>
                <a:gd name="connsiteY3" fmla="*/ 856933 h 1318371"/>
                <a:gd name="connsiteX4" fmla="*/ 864927 w 883206"/>
                <a:gd name="connsiteY4" fmla="*/ 87217 h 1318371"/>
                <a:gd name="connsiteX5" fmla="*/ 484902 w 883206"/>
                <a:gd name="connsiteY5" fmla="*/ 41557 h 1318371"/>
                <a:gd name="connsiteX0" fmla="*/ 378883 w 777187"/>
                <a:gd name="connsiteY0" fmla="*/ 58675 h 1324992"/>
                <a:gd name="connsiteX1" fmla="*/ 5333 w 777187"/>
                <a:gd name="connsiteY1" fmla="*/ 584244 h 1324992"/>
                <a:gd name="connsiteX2" fmla="*/ 191748 w 777187"/>
                <a:gd name="connsiteY2" fmla="*/ 1319676 h 1324992"/>
                <a:gd name="connsiteX3" fmla="*/ 643161 w 777187"/>
                <a:gd name="connsiteY3" fmla="*/ 874051 h 1324992"/>
                <a:gd name="connsiteX4" fmla="*/ 758908 w 777187"/>
                <a:gd name="connsiteY4" fmla="*/ 104335 h 1324992"/>
                <a:gd name="connsiteX5" fmla="*/ 378883 w 777187"/>
                <a:gd name="connsiteY5" fmla="*/ 58675 h 1324992"/>
                <a:gd name="connsiteX0" fmla="*/ 374434 w 772738"/>
                <a:gd name="connsiteY0" fmla="*/ 58675 h 1112877"/>
                <a:gd name="connsiteX1" fmla="*/ 884 w 772738"/>
                <a:gd name="connsiteY1" fmla="*/ 584244 h 1112877"/>
                <a:gd name="connsiteX2" fmla="*/ 281899 w 772738"/>
                <a:gd name="connsiteY2" fmla="*/ 1098194 h 1112877"/>
                <a:gd name="connsiteX3" fmla="*/ 638712 w 772738"/>
                <a:gd name="connsiteY3" fmla="*/ 874051 h 1112877"/>
                <a:gd name="connsiteX4" fmla="*/ 754459 w 772738"/>
                <a:gd name="connsiteY4" fmla="*/ 104335 h 1112877"/>
                <a:gd name="connsiteX5" fmla="*/ 374434 w 772738"/>
                <a:gd name="connsiteY5" fmla="*/ 58675 h 1112877"/>
                <a:gd name="connsiteX0" fmla="*/ 374434 w 696889"/>
                <a:gd name="connsiteY0" fmla="*/ 37893 h 1092095"/>
                <a:gd name="connsiteX1" fmla="*/ 884 w 696889"/>
                <a:gd name="connsiteY1" fmla="*/ 563462 h 1092095"/>
                <a:gd name="connsiteX2" fmla="*/ 281899 w 696889"/>
                <a:gd name="connsiteY2" fmla="*/ 1077412 h 1092095"/>
                <a:gd name="connsiteX3" fmla="*/ 638712 w 696889"/>
                <a:gd name="connsiteY3" fmla="*/ 853269 h 1092095"/>
                <a:gd name="connsiteX4" fmla="*/ 610307 w 696889"/>
                <a:gd name="connsiteY4" fmla="*/ 131877 h 1092095"/>
                <a:gd name="connsiteX5" fmla="*/ 374434 w 696889"/>
                <a:gd name="connsiteY5" fmla="*/ 37893 h 1092095"/>
                <a:gd name="connsiteX0" fmla="*/ 374434 w 809470"/>
                <a:gd name="connsiteY0" fmla="*/ 42592 h 1096794"/>
                <a:gd name="connsiteX1" fmla="*/ 884 w 809470"/>
                <a:gd name="connsiteY1" fmla="*/ 568161 h 1096794"/>
                <a:gd name="connsiteX2" fmla="*/ 281899 w 809470"/>
                <a:gd name="connsiteY2" fmla="*/ 1082111 h 1096794"/>
                <a:gd name="connsiteX3" fmla="*/ 638712 w 809470"/>
                <a:gd name="connsiteY3" fmla="*/ 857968 h 1096794"/>
                <a:gd name="connsiteX4" fmla="*/ 796963 w 809470"/>
                <a:gd name="connsiteY4" fmla="*/ 124039 h 1096794"/>
                <a:gd name="connsiteX5" fmla="*/ 374434 w 809470"/>
                <a:gd name="connsiteY5" fmla="*/ 42592 h 1096794"/>
                <a:gd name="connsiteX0" fmla="*/ 374445 w 812246"/>
                <a:gd name="connsiteY0" fmla="*/ 42824 h 1097934"/>
                <a:gd name="connsiteX1" fmla="*/ 895 w 812246"/>
                <a:gd name="connsiteY1" fmla="*/ 568393 h 1097934"/>
                <a:gd name="connsiteX2" fmla="*/ 281910 w 812246"/>
                <a:gd name="connsiteY2" fmla="*/ 1082343 h 1097934"/>
                <a:gd name="connsiteX3" fmla="*/ 654390 w 812246"/>
                <a:gd name="connsiteY3" fmla="*/ 863399 h 1097934"/>
                <a:gd name="connsiteX4" fmla="*/ 796974 w 812246"/>
                <a:gd name="connsiteY4" fmla="*/ 124271 h 1097934"/>
                <a:gd name="connsiteX5" fmla="*/ 374445 w 812246"/>
                <a:gd name="connsiteY5" fmla="*/ 42824 h 1097934"/>
                <a:gd name="connsiteX0" fmla="*/ 378769 w 816569"/>
                <a:gd name="connsiteY0" fmla="*/ 42824 h 1086805"/>
                <a:gd name="connsiteX1" fmla="*/ 5219 w 816569"/>
                <a:gd name="connsiteY1" fmla="*/ 568393 h 1086805"/>
                <a:gd name="connsiteX2" fmla="*/ 194122 w 816569"/>
                <a:gd name="connsiteY2" fmla="*/ 1069651 h 1086805"/>
                <a:gd name="connsiteX3" fmla="*/ 658714 w 816569"/>
                <a:gd name="connsiteY3" fmla="*/ 863399 h 1086805"/>
                <a:gd name="connsiteX4" fmla="*/ 801298 w 816569"/>
                <a:gd name="connsiteY4" fmla="*/ 124271 h 1086805"/>
                <a:gd name="connsiteX5" fmla="*/ 378769 w 816569"/>
                <a:gd name="connsiteY5" fmla="*/ 42824 h 1086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6569" h="1086805">
                  <a:moveTo>
                    <a:pt x="378769" y="42824"/>
                  </a:moveTo>
                  <a:cubicBezTo>
                    <a:pt x="246089" y="116844"/>
                    <a:pt x="35993" y="397255"/>
                    <a:pt x="5219" y="568393"/>
                  </a:cubicBezTo>
                  <a:cubicBezTo>
                    <a:pt x="-25555" y="739531"/>
                    <a:pt x="85206" y="1020483"/>
                    <a:pt x="194122" y="1069651"/>
                  </a:cubicBezTo>
                  <a:cubicBezTo>
                    <a:pt x="303038" y="1118819"/>
                    <a:pt x="533322" y="1065956"/>
                    <a:pt x="658714" y="863399"/>
                  </a:cubicBezTo>
                  <a:cubicBezTo>
                    <a:pt x="784106" y="660842"/>
                    <a:pt x="847956" y="261034"/>
                    <a:pt x="801298" y="124271"/>
                  </a:cubicBezTo>
                  <a:cubicBezTo>
                    <a:pt x="754641" y="-12492"/>
                    <a:pt x="511449" y="-31196"/>
                    <a:pt x="378769" y="42824"/>
                  </a:cubicBezTo>
                  <a:close/>
                </a:path>
              </a:pathLst>
            </a:custGeom>
            <a:solidFill>
              <a:srgbClr val="4DF575"/>
            </a:solidFill>
            <a:sp3d prstMaterial="translucentPowder"/>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8" name="Freeform: Shape 40">
              <a:extLst>
                <a:ext uri="{FF2B5EF4-FFF2-40B4-BE49-F238E27FC236}">
                  <a16:creationId xmlns:a16="http://schemas.microsoft.com/office/drawing/2014/main" id="{35DC47CC-7B52-D4E5-D522-7A14D1CC8487}"/>
                </a:ext>
              </a:extLst>
            </p:cNvPr>
            <p:cNvSpPr/>
            <p:nvPr/>
          </p:nvSpPr>
          <p:spPr>
            <a:xfrm rot="21371575">
              <a:off x="5632905" y="3959089"/>
              <a:ext cx="518428" cy="528723"/>
            </a:xfrm>
            <a:custGeom>
              <a:avLst/>
              <a:gdLst>
                <a:gd name="connsiteX0" fmla="*/ 600104 w 1057083"/>
                <a:gd name="connsiteY0" fmla="*/ 6523 h 1513523"/>
                <a:gd name="connsiteX1" fmla="*/ 9795 w 1057083"/>
                <a:gd name="connsiteY1" fmla="*/ 486872 h 1513523"/>
                <a:gd name="connsiteX2" fmla="*/ 281800 w 1057083"/>
                <a:gd name="connsiteY2" fmla="*/ 1488082 h 1513523"/>
                <a:gd name="connsiteX3" fmla="*/ 924195 w 1057083"/>
                <a:gd name="connsiteY3" fmla="*/ 1135055 h 1513523"/>
                <a:gd name="connsiteX4" fmla="*/ 1034154 w 1057083"/>
                <a:gd name="connsiteY4" fmla="*/ 272741 h 1513523"/>
                <a:gd name="connsiteX5" fmla="*/ 600104 w 1057083"/>
                <a:gd name="connsiteY5" fmla="*/ 6523 h 1513523"/>
                <a:gd name="connsiteX0" fmla="*/ 660864 w 1056582"/>
                <a:gd name="connsiteY0" fmla="*/ 2627 h 1775845"/>
                <a:gd name="connsiteX1" fmla="*/ 12681 w 1056582"/>
                <a:gd name="connsiteY1" fmla="*/ 749194 h 1775845"/>
                <a:gd name="connsiteX2" fmla="*/ 284686 w 1056582"/>
                <a:gd name="connsiteY2" fmla="*/ 1750404 h 1775845"/>
                <a:gd name="connsiteX3" fmla="*/ 927081 w 1056582"/>
                <a:gd name="connsiteY3" fmla="*/ 1397377 h 1775845"/>
                <a:gd name="connsiteX4" fmla="*/ 1037040 w 1056582"/>
                <a:gd name="connsiteY4" fmla="*/ 535063 h 1775845"/>
                <a:gd name="connsiteX5" fmla="*/ 660864 w 1056582"/>
                <a:gd name="connsiteY5" fmla="*/ 2627 h 1775845"/>
                <a:gd name="connsiteX0" fmla="*/ 449265 w 1062403"/>
                <a:gd name="connsiteY0" fmla="*/ 2218 h 1856459"/>
                <a:gd name="connsiteX1" fmla="*/ 3639 w 1062403"/>
                <a:gd name="connsiteY1" fmla="*/ 829808 h 1856459"/>
                <a:gd name="connsiteX2" fmla="*/ 275644 w 1062403"/>
                <a:gd name="connsiteY2" fmla="*/ 1831018 h 1856459"/>
                <a:gd name="connsiteX3" fmla="*/ 918039 w 1062403"/>
                <a:gd name="connsiteY3" fmla="*/ 1477991 h 1856459"/>
                <a:gd name="connsiteX4" fmla="*/ 1027998 w 1062403"/>
                <a:gd name="connsiteY4" fmla="*/ 615677 h 1856459"/>
                <a:gd name="connsiteX5" fmla="*/ 449265 w 1062403"/>
                <a:gd name="connsiteY5" fmla="*/ 2218 h 1856459"/>
                <a:gd name="connsiteX0" fmla="*/ 449265 w 971893"/>
                <a:gd name="connsiteY0" fmla="*/ 2218 h 1856459"/>
                <a:gd name="connsiteX1" fmla="*/ 3639 w 971893"/>
                <a:gd name="connsiteY1" fmla="*/ 829808 h 1856459"/>
                <a:gd name="connsiteX2" fmla="*/ 275644 w 971893"/>
                <a:gd name="connsiteY2" fmla="*/ 1831018 h 1856459"/>
                <a:gd name="connsiteX3" fmla="*/ 918039 w 971893"/>
                <a:gd name="connsiteY3" fmla="*/ 1477991 h 1856459"/>
                <a:gd name="connsiteX4" fmla="*/ 842804 w 971893"/>
                <a:gd name="connsiteY4" fmla="*/ 615677 h 1856459"/>
                <a:gd name="connsiteX5" fmla="*/ 449265 w 971893"/>
                <a:gd name="connsiteY5" fmla="*/ 2218 h 1856459"/>
                <a:gd name="connsiteX0" fmla="*/ 448722 w 861517"/>
                <a:gd name="connsiteY0" fmla="*/ 2144 h 1846757"/>
                <a:gd name="connsiteX1" fmla="*/ 3096 w 861517"/>
                <a:gd name="connsiteY1" fmla="*/ 829734 h 1846757"/>
                <a:gd name="connsiteX2" fmla="*/ 275101 w 861517"/>
                <a:gd name="connsiteY2" fmla="*/ 1830944 h 1846757"/>
                <a:gd name="connsiteX3" fmla="*/ 726514 w 861517"/>
                <a:gd name="connsiteY3" fmla="*/ 1385319 h 1846757"/>
                <a:gd name="connsiteX4" fmla="*/ 842261 w 861517"/>
                <a:gd name="connsiteY4" fmla="*/ 615603 h 1846757"/>
                <a:gd name="connsiteX5" fmla="*/ 448722 w 861517"/>
                <a:gd name="connsiteY5" fmla="*/ 2144 h 1846757"/>
                <a:gd name="connsiteX0" fmla="*/ 470986 w 883781"/>
                <a:gd name="connsiteY0" fmla="*/ 2144 h 1846757"/>
                <a:gd name="connsiteX1" fmla="*/ 2836 w 883781"/>
                <a:gd name="connsiteY1" fmla="*/ 829734 h 1846757"/>
                <a:gd name="connsiteX2" fmla="*/ 297365 w 883781"/>
                <a:gd name="connsiteY2" fmla="*/ 1830944 h 1846757"/>
                <a:gd name="connsiteX3" fmla="*/ 748778 w 883781"/>
                <a:gd name="connsiteY3" fmla="*/ 1385319 h 1846757"/>
                <a:gd name="connsiteX4" fmla="*/ 864525 w 883781"/>
                <a:gd name="connsiteY4" fmla="*/ 615603 h 1846757"/>
                <a:gd name="connsiteX5" fmla="*/ 470986 w 883781"/>
                <a:gd name="connsiteY5" fmla="*/ 2144 h 1846757"/>
                <a:gd name="connsiteX0" fmla="*/ 594364 w 1007159"/>
                <a:gd name="connsiteY0" fmla="*/ 2144 h 1846757"/>
                <a:gd name="connsiteX1" fmla="*/ 126214 w 1007159"/>
                <a:gd name="connsiteY1" fmla="*/ 829734 h 1846757"/>
                <a:gd name="connsiteX2" fmla="*/ 420743 w 1007159"/>
                <a:gd name="connsiteY2" fmla="*/ 1830944 h 1846757"/>
                <a:gd name="connsiteX3" fmla="*/ 872156 w 1007159"/>
                <a:gd name="connsiteY3" fmla="*/ 1385319 h 1846757"/>
                <a:gd name="connsiteX4" fmla="*/ 987903 w 1007159"/>
                <a:gd name="connsiteY4" fmla="*/ 615603 h 1846757"/>
                <a:gd name="connsiteX5" fmla="*/ 594364 w 1007159"/>
                <a:gd name="connsiteY5" fmla="*/ 2144 h 1846757"/>
                <a:gd name="connsiteX0" fmla="*/ 484902 w 883206"/>
                <a:gd name="connsiteY0" fmla="*/ 41557 h 1318371"/>
                <a:gd name="connsiteX1" fmla="*/ 3238 w 883206"/>
                <a:gd name="connsiteY1" fmla="*/ 301348 h 1318371"/>
                <a:gd name="connsiteX2" fmla="*/ 297767 w 883206"/>
                <a:gd name="connsiteY2" fmla="*/ 1302558 h 1318371"/>
                <a:gd name="connsiteX3" fmla="*/ 749180 w 883206"/>
                <a:gd name="connsiteY3" fmla="*/ 856933 h 1318371"/>
                <a:gd name="connsiteX4" fmla="*/ 864927 w 883206"/>
                <a:gd name="connsiteY4" fmla="*/ 87217 h 1318371"/>
                <a:gd name="connsiteX5" fmla="*/ 484902 w 883206"/>
                <a:gd name="connsiteY5" fmla="*/ 41557 h 1318371"/>
                <a:gd name="connsiteX0" fmla="*/ 378883 w 777187"/>
                <a:gd name="connsiteY0" fmla="*/ 58675 h 1324992"/>
                <a:gd name="connsiteX1" fmla="*/ 5333 w 777187"/>
                <a:gd name="connsiteY1" fmla="*/ 584244 h 1324992"/>
                <a:gd name="connsiteX2" fmla="*/ 191748 w 777187"/>
                <a:gd name="connsiteY2" fmla="*/ 1319676 h 1324992"/>
                <a:gd name="connsiteX3" fmla="*/ 643161 w 777187"/>
                <a:gd name="connsiteY3" fmla="*/ 874051 h 1324992"/>
                <a:gd name="connsiteX4" fmla="*/ 758908 w 777187"/>
                <a:gd name="connsiteY4" fmla="*/ 104335 h 1324992"/>
                <a:gd name="connsiteX5" fmla="*/ 378883 w 777187"/>
                <a:gd name="connsiteY5" fmla="*/ 58675 h 1324992"/>
                <a:gd name="connsiteX0" fmla="*/ 374434 w 772738"/>
                <a:gd name="connsiteY0" fmla="*/ 58675 h 1112877"/>
                <a:gd name="connsiteX1" fmla="*/ 884 w 772738"/>
                <a:gd name="connsiteY1" fmla="*/ 584244 h 1112877"/>
                <a:gd name="connsiteX2" fmla="*/ 281899 w 772738"/>
                <a:gd name="connsiteY2" fmla="*/ 1098194 h 1112877"/>
                <a:gd name="connsiteX3" fmla="*/ 638712 w 772738"/>
                <a:gd name="connsiteY3" fmla="*/ 874051 h 1112877"/>
                <a:gd name="connsiteX4" fmla="*/ 754459 w 772738"/>
                <a:gd name="connsiteY4" fmla="*/ 104335 h 1112877"/>
                <a:gd name="connsiteX5" fmla="*/ 374434 w 772738"/>
                <a:gd name="connsiteY5" fmla="*/ 58675 h 1112877"/>
                <a:gd name="connsiteX0" fmla="*/ 374434 w 696889"/>
                <a:gd name="connsiteY0" fmla="*/ 37893 h 1092095"/>
                <a:gd name="connsiteX1" fmla="*/ 884 w 696889"/>
                <a:gd name="connsiteY1" fmla="*/ 563462 h 1092095"/>
                <a:gd name="connsiteX2" fmla="*/ 281899 w 696889"/>
                <a:gd name="connsiteY2" fmla="*/ 1077412 h 1092095"/>
                <a:gd name="connsiteX3" fmla="*/ 638712 w 696889"/>
                <a:gd name="connsiteY3" fmla="*/ 853269 h 1092095"/>
                <a:gd name="connsiteX4" fmla="*/ 610307 w 696889"/>
                <a:gd name="connsiteY4" fmla="*/ 131877 h 1092095"/>
                <a:gd name="connsiteX5" fmla="*/ 374434 w 696889"/>
                <a:gd name="connsiteY5" fmla="*/ 37893 h 1092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6889" h="1092095">
                  <a:moveTo>
                    <a:pt x="374434" y="37893"/>
                  </a:moveTo>
                  <a:cubicBezTo>
                    <a:pt x="272864" y="109824"/>
                    <a:pt x="16307" y="390209"/>
                    <a:pt x="884" y="563462"/>
                  </a:cubicBezTo>
                  <a:cubicBezTo>
                    <a:pt x="-14539" y="736715"/>
                    <a:pt x="175594" y="1029111"/>
                    <a:pt x="281899" y="1077412"/>
                  </a:cubicBezTo>
                  <a:cubicBezTo>
                    <a:pt x="388204" y="1125713"/>
                    <a:pt x="513320" y="1055826"/>
                    <a:pt x="638712" y="853269"/>
                  </a:cubicBezTo>
                  <a:cubicBezTo>
                    <a:pt x="764104" y="650712"/>
                    <a:pt x="654353" y="267773"/>
                    <a:pt x="610307" y="131877"/>
                  </a:cubicBezTo>
                  <a:cubicBezTo>
                    <a:pt x="566261" y="-4019"/>
                    <a:pt x="476004" y="-34038"/>
                    <a:pt x="374434" y="37893"/>
                  </a:cubicBezTo>
                  <a:close/>
                </a:path>
              </a:pathLst>
            </a:custGeom>
            <a:solidFill>
              <a:schemeClr val="accent6">
                <a:lumMod val="20000"/>
                <a:lumOff val="80000"/>
              </a:schemeClr>
            </a:solidFill>
            <a:sp3d prstMaterial="translucentPowder"/>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79" name="Freeform: Shape 36">
              <a:extLst>
                <a:ext uri="{FF2B5EF4-FFF2-40B4-BE49-F238E27FC236}">
                  <a16:creationId xmlns:a16="http://schemas.microsoft.com/office/drawing/2014/main" id="{E1806E7A-E553-DBF8-333E-1327A873FE20}"/>
                </a:ext>
              </a:extLst>
            </p:cNvPr>
            <p:cNvSpPr/>
            <p:nvPr/>
          </p:nvSpPr>
          <p:spPr>
            <a:xfrm rot="12729464">
              <a:off x="5054241" y="2323271"/>
              <a:ext cx="767314" cy="1703462"/>
            </a:xfrm>
            <a:custGeom>
              <a:avLst/>
              <a:gdLst>
                <a:gd name="connsiteX0" fmla="*/ 600104 w 1057083"/>
                <a:gd name="connsiteY0" fmla="*/ 6523 h 1513523"/>
                <a:gd name="connsiteX1" fmla="*/ 9795 w 1057083"/>
                <a:gd name="connsiteY1" fmla="*/ 486872 h 1513523"/>
                <a:gd name="connsiteX2" fmla="*/ 281800 w 1057083"/>
                <a:gd name="connsiteY2" fmla="*/ 1488082 h 1513523"/>
                <a:gd name="connsiteX3" fmla="*/ 924195 w 1057083"/>
                <a:gd name="connsiteY3" fmla="*/ 1135055 h 1513523"/>
                <a:gd name="connsiteX4" fmla="*/ 1034154 w 1057083"/>
                <a:gd name="connsiteY4" fmla="*/ 272741 h 1513523"/>
                <a:gd name="connsiteX5" fmla="*/ 600104 w 1057083"/>
                <a:gd name="connsiteY5" fmla="*/ 6523 h 1513523"/>
                <a:gd name="connsiteX0" fmla="*/ 660864 w 1056582"/>
                <a:gd name="connsiteY0" fmla="*/ 2627 h 1775845"/>
                <a:gd name="connsiteX1" fmla="*/ 12681 w 1056582"/>
                <a:gd name="connsiteY1" fmla="*/ 749194 h 1775845"/>
                <a:gd name="connsiteX2" fmla="*/ 284686 w 1056582"/>
                <a:gd name="connsiteY2" fmla="*/ 1750404 h 1775845"/>
                <a:gd name="connsiteX3" fmla="*/ 927081 w 1056582"/>
                <a:gd name="connsiteY3" fmla="*/ 1397377 h 1775845"/>
                <a:gd name="connsiteX4" fmla="*/ 1037040 w 1056582"/>
                <a:gd name="connsiteY4" fmla="*/ 535063 h 1775845"/>
                <a:gd name="connsiteX5" fmla="*/ 660864 w 1056582"/>
                <a:gd name="connsiteY5" fmla="*/ 2627 h 1775845"/>
                <a:gd name="connsiteX0" fmla="*/ 449265 w 1062403"/>
                <a:gd name="connsiteY0" fmla="*/ 2218 h 1856459"/>
                <a:gd name="connsiteX1" fmla="*/ 3639 w 1062403"/>
                <a:gd name="connsiteY1" fmla="*/ 829808 h 1856459"/>
                <a:gd name="connsiteX2" fmla="*/ 275644 w 1062403"/>
                <a:gd name="connsiteY2" fmla="*/ 1831018 h 1856459"/>
                <a:gd name="connsiteX3" fmla="*/ 918039 w 1062403"/>
                <a:gd name="connsiteY3" fmla="*/ 1477991 h 1856459"/>
                <a:gd name="connsiteX4" fmla="*/ 1027998 w 1062403"/>
                <a:gd name="connsiteY4" fmla="*/ 615677 h 1856459"/>
                <a:gd name="connsiteX5" fmla="*/ 449265 w 1062403"/>
                <a:gd name="connsiteY5" fmla="*/ 2218 h 1856459"/>
                <a:gd name="connsiteX0" fmla="*/ 449265 w 971893"/>
                <a:gd name="connsiteY0" fmla="*/ 2218 h 1856459"/>
                <a:gd name="connsiteX1" fmla="*/ 3639 w 971893"/>
                <a:gd name="connsiteY1" fmla="*/ 829808 h 1856459"/>
                <a:gd name="connsiteX2" fmla="*/ 275644 w 971893"/>
                <a:gd name="connsiteY2" fmla="*/ 1831018 h 1856459"/>
                <a:gd name="connsiteX3" fmla="*/ 918039 w 971893"/>
                <a:gd name="connsiteY3" fmla="*/ 1477991 h 1856459"/>
                <a:gd name="connsiteX4" fmla="*/ 842804 w 971893"/>
                <a:gd name="connsiteY4" fmla="*/ 615677 h 1856459"/>
                <a:gd name="connsiteX5" fmla="*/ 449265 w 971893"/>
                <a:gd name="connsiteY5" fmla="*/ 2218 h 1856459"/>
                <a:gd name="connsiteX0" fmla="*/ 448722 w 861517"/>
                <a:gd name="connsiteY0" fmla="*/ 2144 h 1846757"/>
                <a:gd name="connsiteX1" fmla="*/ 3096 w 861517"/>
                <a:gd name="connsiteY1" fmla="*/ 829734 h 1846757"/>
                <a:gd name="connsiteX2" fmla="*/ 275101 w 861517"/>
                <a:gd name="connsiteY2" fmla="*/ 1830944 h 1846757"/>
                <a:gd name="connsiteX3" fmla="*/ 726514 w 861517"/>
                <a:gd name="connsiteY3" fmla="*/ 1385319 h 1846757"/>
                <a:gd name="connsiteX4" fmla="*/ 842261 w 861517"/>
                <a:gd name="connsiteY4" fmla="*/ 615603 h 1846757"/>
                <a:gd name="connsiteX5" fmla="*/ 448722 w 861517"/>
                <a:gd name="connsiteY5" fmla="*/ 2144 h 1846757"/>
                <a:gd name="connsiteX0" fmla="*/ 470986 w 883781"/>
                <a:gd name="connsiteY0" fmla="*/ 2144 h 1846757"/>
                <a:gd name="connsiteX1" fmla="*/ 2836 w 883781"/>
                <a:gd name="connsiteY1" fmla="*/ 829734 h 1846757"/>
                <a:gd name="connsiteX2" fmla="*/ 297365 w 883781"/>
                <a:gd name="connsiteY2" fmla="*/ 1830944 h 1846757"/>
                <a:gd name="connsiteX3" fmla="*/ 748778 w 883781"/>
                <a:gd name="connsiteY3" fmla="*/ 1385319 h 1846757"/>
                <a:gd name="connsiteX4" fmla="*/ 864525 w 883781"/>
                <a:gd name="connsiteY4" fmla="*/ 615603 h 1846757"/>
                <a:gd name="connsiteX5" fmla="*/ 470986 w 883781"/>
                <a:gd name="connsiteY5" fmla="*/ 2144 h 1846757"/>
                <a:gd name="connsiteX0" fmla="*/ 594364 w 1007159"/>
                <a:gd name="connsiteY0" fmla="*/ 2144 h 1846757"/>
                <a:gd name="connsiteX1" fmla="*/ 126214 w 1007159"/>
                <a:gd name="connsiteY1" fmla="*/ 829734 h 1846757"/>
                <a:gd name="connsiteX2" fmla="*/ 420743 w 1007159"/>
                <a:gd name="connsiteY2" fmla="*/ 1830944 h 1846757"/>
                <a:gd name="connsiteX3" fmla="*/ 872156 w 1007159"/>
                <a:gd name="connsiteY3" fmla="*/ 1385319 h 1846757"/>
                <a:gd name="connsiteX4" fmla="*/ 987903 w 1007159"/>
                <a:gd name="connsiteY4" fmla="*/ 615603 h 1846757"/>
                <a:gd name="connsiteX5" fmla="*/ 594364 w 1007159"/>
                <a:gd name="connsiteY5" fmla="*/ 2144 h 1846757"/>
                <a:gd name="connsiteX0" fmla="*/ 484902 w 883206"/>
                <a:gd name="connsiteY0" fmla="*/ 41557 h 1318371"/>
                <a:gd name="connsiteX1" fmla="*/ 3238 w 883206"/>
                <a:gd name="connsiteY1" fmla="*/ 301348 h 1318371"/>
                <a:gd name="connsiteX2" fmla="*/ 297767 w 883206"/>
                <a:gd name="connsiteY2" fmla="*/ 1302558 h 1318371"/>
                <a:gd name="connsiteX3" fmla="*/ 749180 w 883206"/>
                <a:gd name="connsiteY3" fmla="*/ 856933 h 1318371"/>
                <a:gd name="connsiteX4" fmla="*/ 864927 w 883206"/>
                <a:gd name="connsiteY4" fmla="*/ 87217 h 1318371"/>
                <a:gd name="connsiteX5" fmla="*/ 484902 w 883206"/>
                <a:gd name="connsiteY5" fmla="*/ 41557 h 1318371"/>
                <a:gd name="connsiteX0" fmla="*/ 378883 w 777187"/>
                <a:gd name="connsiteY0" fmla="*/ 58675 h 1324992"/>
                <a:gd name="connsiteX1" fmla="*/ 5333 w 777187"/>
                <a:gd name="connsiteY1" fmla="*/ 584244 h 1324992"/>
                <a:gd name="connsiteX2" fmla="*/ 191748 w 777187"/>
                <a:gd name="connsiteY2" fmla="*/ 1319676 h 1324992"/>
                <a:gd name="connsiteX3" fmla="*/ 643161 w 777187"/>
                <a:gd name="connsiteY3" fmla="*/ 874051 h 1324992"/>
                <a:gd name="connsiteX4" fmla="*/ 758908 w 777187"/>
                <a:gd name="connsiteY4" fmla="*/ 104335 h 1324992"/>
                <a:gd name="connsiteX5" fmla="*/ 378883 w 777187"/>
                <a:gd name="connsiteY5" fmla="*/ 58675 h 1324992"/>
                <a:gd name="connsiteX0" fmla="*/ 374434 w 772738"/>
                <a:gd name="connsiteY0" fmla="*/ 58675 h 1112877"/>
                <a:gd name="connsiteX1" fmla="*/ 884 w 772738"/>
                <a:gd name="connsiteY1" fmla="*/ 584244 h 1112877"/>
                <a:gd name="connsiteX2" fmla="*/ 281899 w 772738"/>
                <a:gd name="connsiteY2" fmla="*/ 1098194 h 1112877"/>
                <a:gd name="connsiteX3" fmla="*/ 638712 w 772738"/>
                <a:gd name="connsiteY3" fmla="*/ 874051 h 1112877"/>
                <a:gd name="connsiteX4" fmla="*/ 754459 w 772738"/>
                <a:gd name="connsiteY4" fmla="*/ 104335 h 1112877"/>
                <a:gd name="connsiteX5" fmla="*/ 374434 w 772738"/>
                <a:gd name="connsiteY5" fmla="*/ 58675 h 1112877"/>
                <a:gd name="connsiteX0" fmla="*/ 374434 w 696889"/>
                <a:gd name="connsiteY0" fmla="*/ 37893 h 1092095"/>
                <a:gd name="connsiteX1" fmla="*/ 884 w 696889"/>
                <a:gd name="connsiteY1" fmla="*/ 563462 h 1092095"/>
                <a:gd name="connsiteX2" fmla="*/ 281899 w 696889"/>
                <a:gd name="connsiteY2" fmla="*/ 1077412 h 1092095"/>
                <a:gd name="connsiteX3" fmla="*/ 638712 w 696889"/>
                <a:gd name="connsiteY3" fmla="*/ 853269 h 1092095"/>
                <a:gd name="connsiteX4" fmla="*/ 610307 w 696889"/>
                <a:gd name="connsiteY4" fmla="*/ 131877 h 1092095"/>
                <a:gd name="connsiteX5" fmla="*/ 374434 w 696889"/>
                <a:gd name="connsiteY5" fmla="*/ 37893 h 1092095"/>
                <a:gd name="connsiteX0" fmla="*/ 374434 w 840080"/>
                <a:gd name="connsiteY0" fmla="*/ 52846 h 1107048"/>
                <a:gd name="connsiteX1" fmla="*/ 884 w 840080"/>
                <a:gd name="connsiteY1" fmla="*/ 578415 h 1107048"/>
                <a:gd name="connsiteX2" fmla="*/ 281899 w 840080"/>
                <a:gd name="connsiteY2" fmla="*/ 1092365 h 1107048"/>
                <a:gd name="connsiteX3" fmla="*/ 638712 w 840080"/>
                <a:gd name="connsiteY3" fmla="*/ 868222 h 1107048"/>
                <a:gd name="connsiteX4" fmla="*/ 830193 w 840080"/>
                <a:gd name="connsiteY4" fmla="*/ 110488 h 1107048"/>
                <a:gd name="connsiteX5" fmla="*/ 374434 w 840080"/>
                <a:gd name="connsiteY5" fmla="*/ 52846 h 1107048"/>
                <a:gd name="connsiteX0" fmla="*/ 374516 w 863534"/>
                <a:gd name="connsiteY0" fmla="*/ 53332 h 1109163"/>
                <a:gd name="connsiteX1" fmla="*/ 966 w 863534"/>
                <a:gd name="connsiteY1" fmla="*/ 578901 h 1109163"/>
                <a:gd name="connsiteX2" fmla="*/ 281981 w 863534"/>
                <a:gd name="connsiteY2" fmla="*/ 1092851 h 1109163"/>
                <a:gd name="connsiteX3" fmla="*/ 744817 w 863534"/>
                <a:gd name="connsiteY3" fmla="*/ 877853 h 1109163"/>
                <a:gd name="connsiteX4" fmla="*/ 830275 w 863534"/>
                <a:gd name="connsiteY4" fmla="*/ 110974 h 1109163"/>
                <a:gd name="connsiteX5" fmla="*/ 374516 w 863534"/>
                <a:gd name="connsiteY5" fmla="*/ 53332 h 1109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534" h="1109163">
                  <a:moveTo>
                    <a:pt x="374516" y="53332"/>
                  </a:moveTo>
                  <a:cubicBezTo>
                    <a:pt x="236298" y="131320"/>
                    <a:pt x="16389" y="405648"/>
                    <a:pt x="966" y="578901"/>
                  </a:cubicBezTo>
                  <a:cubicBezTo>
                    <a:pt x="-14457" y="752154"/>
                    <a:pt x="158006" y="1043026"/>
                    <a:pt x="281981" y="1092851"/>
                  </a:cubicBezTo>
                  <a:cubicBezTo>
                    <a:pt x="405956" y="1142676"/>
                    <a:pt x="619425" y="1080410"/>
                    <a:pt x="744817" y="877853"/>
                  </a:cubicBezTo>
                  <a:cubicBezTo>
                    <a:pt x="870209" y="675296"/>
                    <a:pt x="891992" y="248394"/>
                    <a:pt x="830275" y="110974"/>
                  </a:cubicBezTo>
                  <a:cubicBezTo>
                    <a:pt x="768558" y="-26446"/>
                    <a:pt x="512734" y="-24656"/>
                    <a:pt x="374516" y="53332"/>
                  </a:cubicBezTo>
                  <a:close/>
                </a:path>
              </a:pathLst>
            </a:custGeom>
            <a:solidFill>
              <a:schemeClr val="accent6">
                <a:lumMod val="60000"/>
                <a:lumOff val="40000"/>
              </a:schemeClr>
            </a:solidFill>
            <a:sp3d prstMaterial="translucentPowder"/>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0" name="Freeform: Shape 35">
              <a:extLst>
                <a:ext uri="{FF2B5EF4-FFF2-40B4-BE49-F238E27FC236}">
                  <a16:creationId xmlns:a16="http://schemas.microsoft.com/office/drawing/2014/main" id="{8EBC9AD5-5655-88E9-EA45-991759656220}"/>
                </a:ext>
              </a:extLst>
            </p:cNvPr>
            <p:cNvSpPr/>
            <p:nvPr/>
          </p:nvSpPr>
          <p:spPr>
            <a:xfrm rot="21371575">
              <a:off x="3383633" y="2383334"/>
              <a:ext cx="819960" cy="1963850"/>
            </a:xfrm>
            <a:custGeom>
              <a:avLst/>
              <a:gdLst>
                <a:gd name="connsiteX0" fmla="*/ 600104 w 1057083"/>
                <a:gd name="connsiteY0" fmla="*/ 6523 h 1513523"/>
                <a:gd name="connsiteX1" fmla="*/ 9795 w 1057083"/>
                <a:gd name="connsiteY1" fmla="*/ 486872 h 1513523"/>
                <a:gd name="connsiteX2" fmla="*/ 281800 w 1057083"/>
                <a:gd name="connsiteY2" fmla="*/ 1488082 h 1513523"/>
                <a:gd name="connsiteX3" fmla="*/ 924195 w 1057083"/>
                <a:gd name="connsiteY3" fmla="*/ 1135055 h 1513523"/>
                <a:gd name="connsiteX4" fmla="*/ 1034154 w 1057083"/>
                <a:gd name="connsiteY4" fmla="*/ 272741 h 1513523"/>
                <a:gd name="connsiteX5" fmla="*/ 600104 w 1057083"/>
                <a:gd name="connsiteY5" fmla="*/ 6523 h 1513523"/>
                <a:gd name="connsiteX0" fmla="*/ 660864 w 1056582"/>
                <a:gd name="connsiteY0" fmla="*/ 2627 h 1775845"/>
                <a:gd name="connsiteX1" fmla="*/ 12681 w 1056582"/>
                <a:gd name="connsiteY1" fmla="*/ 749194 h 1775845"/>
                <a:gd name="connsiteX2" fmla="*/ 284686 w 1056582"/>
                <a:gd name="connsiteY2" fmla="*/ 1750404 h 1775845"/>
                <a:gd name="connsiteX3" fmla="*/ 927081 w 1056582"/>
                <a:gd name="connsiteY3" fmla="*/ 1397377 h 1775845"/>
                <a:gd name="connsiteX4" fmla="*/ 1037040 w 1056582"/>
                <a:gd name="connsiteY4" fmla="*/ 535063 h 1775845"/>
                <a:gd name="connsiteX5" fmla="*/ 660864 w 1056582"/>
                <a:gd name="connsiteY5" fmla="*/ 2627 h 1775845"/>
                <a:gd name="connsiteX0" fmla="*/ 449265 w 1062403"/>
                <a:gd name="connsiteY0" fmla="*/ 2218 h 1856459"/>
                <a:gd name="connsiteX1" fmla="*/ 3639 w 1062403"/>
                <a:gd name="connsiteY1" fmla="*/ 829808 h 1856459"/>
                <a:gd name="connsiteX2" fmla="*/ 275644 w 1062403"/>
                <a:gd name="connsiteY2" fmla="*/ 1831018 h 1856459"/>
                <a:gd name="connsiteX3" fmla="*/ 918039 w 1062403"/>
                <a:gd name="connsiteY3" fmla="*/ 1477991 h 1856459"/>
                <a:gd name="connsiteX4" fmla="*/ 1027998 w 1062403"/>
                <a:gd name="connsiteY4" fmla="*/ 615677 h 1856459"/>
                <a:gd name="connsiteX5" fmla="*/ 449265 w 1062403"/>
                <a:gd name="connsiteY5" fmla="*/ 2218 h 1856459"/>
                <a:gd name="connsiteX0" fmla="*/ 449265 w 971893"/>
                <a:gd name="connsiteY0" fmla="*/ 2218 h 1856459"/>
                <a:gd name="connsiteX1" fmla="*/ 3639 w 971893"/>
                <a:gd name="connsiteY1" fmla="*/ 829808 h 1856459"/>
                <a:gd name="connsiteX2" fmla="*/ 275644 w 971893"/>
                <a:gd name="connsiteY2" fmla="*/ 1831018 h 1856459"/>
                <a:gd name="connsiteX3" fmla="*/ 918039 w 971893"/>
                <a:gd name="connsiteY3" fmla="*/ 1477991 h 1856459"/>
                <a:gd name="connsiteX4" fmla="*/ 842804 w 971893"/>
                <a:gd name="connsiteY4" fmla="*/ 615677 h 1856459"/>
                <a:gd name="connsiteX5" fmla="*/ 449265 w 971893"/>
                <a:gd name="connsiteY5" fmla="*/ 2218 h 1856459"/>
                <a:gd name="connsiteX0" fmla="*/ 448722 w 861517"/>
                <a:gd name="connsiteY0" fmla="*/ 2144 h 1846757"/>
                <a:gd name="connsiteX1" fmla="*/ 3096 w 861517"/>
                <a:gd name="connsiteY1" fmla="*/ 829734 h 1846757"/>
                <a:gd name="connsiteX2" fmla="*/ 275101 w 861517"/>
                <a:gd name="connsiteY2" fmla="*/ 1830944 h 1846757"/>
                <a:gd name="connsiteX3" fmla="*/ 726514 w 861517"/>
                <a:gd name="connsiteY3" fmla="*/ 1385319 h 1846757"/>
                <a:gd name="connsiteX4" fmla="*/ 842261 w 861517"/>
                <a:gd name="connsiteY4" fmla="*/ 615603 h 1846757"/>
                <a:gd name="connsiteX5" fmla="*/ 448722 w 861517"/>
                <a:gd name="connsiteY5" fmla="*/ 2144 h 1846757"/>
                <a:gd name="connsiteX0" fmla="*/ 470986 w 883781"/>
                <a:gd name="connsiteY0" fmla="*/ 2144 h 1846757"/>
                <a:gd name="connsiteX1" fmla="*/ 2836 w 883781"/>
                <a:gd name="connsiteY1" fmla="*/ 829734 h 1846757"/>
                <a:gd name="connsiteX2" fmla="*/ 297365 w 883781"/>
                <a:gd name="connsiteY2" fmla="*/ 1830944 h 1846757"/>
                <a:gd name="connsiteX3" fmla="*/ 748778 w 883781"/>
                <a:gd name="connsiteY3" fmla="*/ 1385319 h 1846757"/>
                <a:gd name="connsiteX4" fmla="*/ 864525 w 883781"/>
                <a:gd name="connsiteY4" fmla="*/ 615603 h 1846757"/>
                <a:gd name="connsiteX5" fmla="*/ 470986 w 883781"/>
                <a:gd name="connsiteY5" fmla="*/ 2144 h 1846757"/>
                <a:gd name="connsiteX0" fmla="*/ 594364 w 1007159"/>
                <a:gd name="connsiteY0" fmla="*/ 2144 h 1846757"/>
                <a:gd name="connsiteX1" fmla="*/ 126214 w 1007159"/>
                <a:gd name="connsiteY1" fmla="*/ 829734 h 1846757"/>
                <a:gd name="connsiteX2" fmla="*/ 420743 w 1007159"/>
                <a:gd name="connsiteY2" fmla="*/ 1830944 h 1846757"/>
                <a:gd name="connsiteX3" fmla="*/ 872156 w 1007159"/>
                <a:gd name="connsiteY3" fmla="*/ 1385319 h 1846757"/>
                <a:gd name="connsiteX4" fmla="*/ 987903 w 1007159"/>
                <a:gd name="connsiteY4" fmla="*/ 615603 h 1846757"/>
                <a:gd name="connsiteX5" fmla="*/ 594364 w 1007159"/>
                <a:gd name="connsiteY5" fmla="*/ 2144 h 1846757"/>
                <a:gd name="connsiteX0" fmla="*/ 484902 w 883206"/>
                <a:gd name="connsiteY0" fmla="*/ 41557 h 1318371"/>
                <a:gd name="connsiteX1" fmla="*/ 3238 w 883206"/>
                <a:gd name="connsiteY1" fmla="*/ 301348 h 1318371"/>
                <a:gd name="connsiteX2" fmla="*/ 297767 w 883206"/>
                <a:gd name="connsiteY2" fmla="*/ 1302558 h 1318371"/>
                <a:gd name="connsiteX3" fmla="*/ 749180 w 883206"/>
                <a:gd name="connsiteY3" fmla="*/ 856933 h 1318371"/>
                <a:gd name="connsiteX4" fmla="*/ 864927 w 883206"/>
                <a:gd name="connsiteY4" fmla="*/ 87217 h 1318371"/>
                <a:gd name="connsiteX5" fmla="*/ 484902 w 883206"/>
                <a:gd name="connsiteY5" fmla="*/ 41557 h 1318371"/>
                <a:gd name="connsiteX0" fmla="*/ 378883 w 777187"/>
                <a:gd name="connsiteY0" fmla="*/ 58675 h 1324992"/>
                <a:gd name="connsiteX1" fmla="*/ 5333 w 777187"/>
                <a:gd name="connsiteY1" fmla="*/ 584244 h 1324992"/>
                <a:gd name="connsiteX2" fmla="*/ 191748 w 777187"/>
                <a:gd name="connsiteY2" fmla="*/ 1319676 h 1324992"/>
                <a:gd name="connsiteX3" fmla="*/ 643161 w 777187"/>
                <a:gd name="connsiteY3" fmla="*/ 874051 h 1324992"/>
                <a:gd name="connsiteX4" fmla="*/ 758908 w 777187"/>
                <a:gd name="connsiteY4" fmla="*/ 104335 h 1324992"/>
                <a:gd name="connsiteX5" fmla="*/ 378883 w 777187"/>
                <a:gd name="connsiteY5" fmla="*/ 58675 h 1324992"/>
                <a:gd name="connsiteX0" fmla="*/ 374434 w 772738"/>
                <a:gd name="connsiteY0" fmla="*/ 58675 h 1112877"/>
                <a:gd name="connsiteX1" fmla="*/ 884 w 772738"/>
                <a:gd name="connsiteY1" fmla="*/ 584244 h 1112877"/>
                <a:gd name="connsiteX2" fmla="*/ 281899 w 772738"/>
                <a:gd name="connsiteY2" fmla="*/ 1098194 h 1112877"/>
                <a:gd name="connsiteX3" fmla="*/ 638712 w 772738"/>
                <a:gd name="connsiteY3" fmla="*/ 874051 h 1112877"/>
                <a:gd name="connsiteX4" fmla="*/ 754459 w 772738"/>
                <a:gd name="connsiteY4" fmla="*/ 104335 h 1112877"/>
                <a:gd name="connsiteX5" fmla="*/ 374434 w 772738"/>
                <a:gd name="connsiteY5" fmla="*/ 58675 h 1112877"/>
                <a:gd name="connsiteX0" fmla="*/ 374434 w 696889"/>
                <a:gd name="connsiteY0" fmla="*/ 37893 h 1092095"/>
                <a:gd name="connsiteX1" fmla="*/ 884 w 696889"/>
                <a:gd name="connsiteY1" fmla="*/ 563462 h 1092095"/>
                <a:gd name="connsiteX2" fmla="*/ 281899 w 696889"/>
                <a:gd name="connsiteY2" fmla="*/ 1077412 h 1092095"/>
                <a:gd name="connsiteX3" fmla="*/ 638712 w 696889"/>
                <a:gd name="connsiteY3" fmla="*/ 853269 h 1092095"/>
                <a:gd name="connsiteX4" fmla="*/ 610307 w 696889"/>
                <a:gd name="connsiteY4" fmla="*/ 131877 h 1092095"/>
                <a:gd name="connsiteX5" fmla="*/ 374434 w 696889"/>
                <a:gd name="connsiteY5" fmla="*/ 37893 h 1092095"/>
                <a:gd name="connsiteX0" fmla="*/ 374434 w 838217"/>
                <a:gd name="connsiteY0" fmla="*/ 42753 h 1096955"/>
                <a:gd name="connsiteX1" fmla="*/ 884 w 838217"/>
                <a:gd name="connsiteY1" fmla="*/ 568322 h 1096955"/>
                <a:gd name="connsiteX2" fmla="*/ 281899 w 838217"/>
                <a:gd name="connsiteY2" fmla="*/ 1082272 h 1096955"/>
                <a:gd name="connsiteX3" fmla="*/ 638712 w 838217"/>
                <a:gd name="connsiteY3" fmla="*/ 858129 h 1096955"/>
                <a:gd name="connsiteX4" fmla="*/ 828203 w 838217"/>
                <a:gd name="connsiteY4" fmla="*/ 123793 h 1096955"/>
                <a:gd name="connsiteX5" fmla="*/ 374434 w 838217"/>
                <a:gd name="connsiteY5" fmla="*/ 42753 h 1096955"/>
                <a:gd name="connsiteX0" fmla="*/ 171527 w 853652"/>
                <a:gd name="connsiteY0" fmla="*/ 35516 h 1119582"/>
                <a:gd name="connsiteX1" fmla="*/ 3909 w 853652"/>
                <a:gd name="connsiteY1" fmla="*/ 590949 h 1119582"/>
                <a:gd name="connsiteX2" fmla="*/ 284924 w 853652"/>
                <a:gd name="connsiteY2" fmla="*/ 1104899 h 1119582"/>
                <a:gd name="connsiteX3" fmla="*/ 641737 w 853652"/>
                <a:gd name="connsiteY3" fmla="*/ 880756 h 1119582"/>
                <a:gd name="connsiteX4" fmla="*/ 831228 w 853652"/>
                <a:gd name="connsiteY4" fmla="*/ 146420 h 1119582"/>
                <a:gd name="connsiteX5" fmla="*/ 171527 w 853652"/>
                <a:gd name="connsiteY5" fmla="*/ 35516 h 1119582"/>
                <a:gd name="connsiteX0" fmla="*/ 180537 w 862662"/>
                <a:gd name="connsiteY0" fmla="*/ 35516 h 1131520"/>
                <a:gd name="connsiteX1" fmla="*/ 12919 w 862662"/>
                <a:gd name="connsiteY1" fmla="*/ 590949 h 1131520"/>
                <a:gd name="connsiteX2" fmla="*/ 83223 w 862662"/>
                <a:gd name="connsiteY2" fmla="*/ 1118131 h 1131520"/>
                <a:gd name="connsiteX3" fmla="*/ 650747 w 862662"/>
                <a:gd name="connsiteY3" fmla="*/ 880756 h 1131520"/>
                <a:gd name="connsiteX4" fmla="*/ 840238 w 862662"/>
                <a:gd name="connsiteY4" fmla="*/ 146420 h 1131520"/>
                <a:gd name="connsiteX5" fmla="*/ 180537 w 862662"/>
                <a:gd name="connsiteY5" fmla="*/ 35516 h 1131520"/>
                <a:gd name="connsiteX0" fmla="*/ 186621 w 901090"/>
                <a:gd name="connsiteY0" fmla="*/ 35923 h 1133769"/>
                <a:gd name="connsiteX1" fmla="*/ 19003 w 901090"/>
                <a:gd name="connsiteY1" fmla="*/ 591356 h 1133769"/>
                <a:gd name="connsiteX2" fmla="*/ 89307 w 901090"/>
                <a:gd name="connsiteY2" fmla="*/ 1118538 h 1133769"/>
                <a:gd name="connsiteX3" fmla="*/ 777994 w 901090"/>
                <a:gd name="connsiteY3" fmla="*/ 892617 h 1133769"/>
                <a:gd name="connsiteX4" fmla="*/ 846322 w 901090"/>
                <a:gd name="connsiteY4" fmla="*/ 146827 h 1133769"/>
                <a:gd name="connsiteX5" fmla="*/ 186621 w 901090"/>
                <a:gd name="connsiteY5" fmla="*/ 35923 h 1133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1090" h="1133769">
                  <a:moveTo>
                    <a:pt x="186621" y="35923"/>
                  </a:moveTo>
                  <a:cubicBezTo>
                    <a:pt x="48735" y="110011"/>
                    <a:pt x="35222" y="410920"/>
                    <a:pt x="19003" y="591356"/>
                  </a:cubicBezTo>
                  <a:cubicBezTo>
                    <a:pt x="2784" y="771792"/>
                    <a:pt x="-37192" y="1068328"/>
                    <a:pt x="89307" y="1118538"/>
                  </a:cubicBezTo>
                  <a:cubicBezTo>
                    <a:pt x="215806" y="1168748"/>
                    <a:pt x="652602" y="1095174"/>
                    <a:pt x="777994" y="892617"/>
                  </a:cubicBezTo>
                  <a:cubicBezTo>
                    <a:pt x="903386" y="690060"/>
                    <a:pt x="944884" y="289609"/>
                    <a:pt x="846322" y="146827"/>
                  </a:cubicBezTo>
                  <a:cubicBezTo>
                    <a:pt x="747760" y="4045"/>
                    <a:pt x="324507" y="-38165"/>
                    <a:pt x="186621" y="35923"/>
                  </a:cubicBezTo>
                  <a:close/>
                </a:path>
              </a:pathLst>
            </a:custGeom>
            <a:solidFill>
              <a:schemeClr val="accent4">
                <a:lumMod val="20000"/>
                <a:lumOff val="80000"/>
              </a:schemeClr>
            </a:solidFill>
            <a:sp3d prstMaterial="translucentPowder"/>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1" name="Freeform: Shape 38">
              <a:extLst>
                <a:ext uri="{FF2B5EF4-FFF2-40B4-BE49-F238E27FC236}">
                  <a16:creationId xmlns:a16="http://schemas.microsoft.com/office/drawing/2014/main" id="{A39ECB1C-4ACD-4482-693E-5FF36BE81105}"/>
                </a:ext>
              </a:extLst>
            </p:cNvPr>
            <p:cNvSpPr/>
            <p:nvPr/>
          </p:nvSpPr>
          <p:spPr>
            <a:xfrm rot="14013368">
              <a:off x="3841967" y="2008243"/>
              <a:ext cx="679150" cy="1322468"/>
            </a:xfrm>
            <a:custGeom>
              <a:avLst/>
              <a:gdLst>
                <a:gd name="connsiteX0" fmla="*/ 600104 w 1057083"/>
                <a:gd name="connsiteY0" fmla="*/ 6523 h 1513523"/>
                <a:gd name="connsiteX1" fmla="*/ 9795 w 1057083"/>
                <a:gd name="connsiteY1" fmla="*/ 486872 h 1513523"/>
                <a:gd name="connsiteX2" fmla="*/ 281800 w 1057083"/>
                <a:gd name="connsiteY2" fmla="*/ 1488082 h 1513523"/>
                <a:gd name="connsiteX3" fmla="*/ 924195 w 1057083"/>
                <a:gd name="connsiteY3" fmla="*/ 1135055 h 1513523"/>
                <a:gd name="connsiteX4" fmla="*/ 1034154 w 1057083"/>
                <a:gd name="connsiteY4" fmla="*/ 272741 h 1513523"/>
                <a:gd name="connsiteX5" fmla="*/ 600104 w 1057083"/>
                <a:gd name="connsiteY5" fmla="*/ 6523 h 1513523"/>
                <a:gd name="connsiteX0" fmla="*/ 660864 w 1056582"/>
                <a:gd name="connsiteY0" fmla="*/ 2627 h 1775845"/>
                <a:gd name="connsiteX1" fmla="*/ 12681 w 1056582"/>
                <a:gd name="connsiteY1" fmla="*/ 749194 h 1775845"/>
                <a:gd name="connsiteX2" fmla="*/ 284686 w 1056582"/>
                <a:gd name="connsiteY2" fmla="*/ 1750404 h 1775845"/>
                <a:gd name="connsiteX3" fmla="*/ 927081 w 1056582"/>
                <a:gd name="connsiteY3" fmla="*/ 1397377 h 1775845"/>
                <a:gd name="connsiteX4" fmla="*/ 1037040 w 1056582"/>
                <a:gd name="connsiteY4" fmla="*/ 535063 h 1775845"/>
                <a:gd name="connsiteX5" fmla="*/ 660864 w 1056582"/>
                <a:gd name="connsiteY5" fmla="*/ 2627 h 1775845"/>
                <a:gd name="connsiteX0" fmla="*/ 449265 w 1062403"/>
                <a:gd name="connsiteY0" fmla="*/ 2218 h 1856459"/>
                <a:gd name="connsiteX1" fmla="*/ 3639 w 1062403"/>
                <a:gd name="connsiteY1" fmla="*/ 829808 h 1856459"/>
                <a:gd name="connsiteX2" fmla="*/ 275644 w 1062403"/>
                <a:gd name="connsiteY2" fmla="*/ 1831018 h 1856459"/>
                <a:gd name="connsiteX3" fmla="*/ 918039 w 1062403"/>
                <a:gd name="connsiteY3" fmla="*/ 1477991 h 1856459"/>
                <a:gd name="connsiteX4" fmla="*/ 1027998 w 1062403"/>
                <a:gd name="connsiteY4" fmla="*/ 615677 h 1856459"/>
                <a:gd name="connsiteX5" fmla="*/ 449265 w 1062403"/>
                <a:gd name="connsiteY5" fmla="*/ 2218 h 1856459"/>
                <a:gd name="connsiteX0" fmla="*/ 449265 w 971893"/>
                <a:gd name="connsiteY0" fmla="*/ 2218 h 1856459"/>
                <a:gd name="connsiteX1" fmla="*/ 3639 w 971893"/>
                <a:gd name="connsiteY1" fmla="*/ 829808 h 1856459"/>
                <a:gd name="connsiteX2" fmla="*/ 275644 w 971893"/>
                <a:gd name="connsiteY2" fmla="*/ 1831018 h 1856459"/>
                <a:gd name="connsiteX3" fmla="*/ 918039 w 971893"/>
                <a:gd name="connsiteY3" fmla="*/ 1477991 h 1856459"/>
                <a:gd name="connsiteX4" fmla="*/ 842804 w 971893"/>
                <a:gd name="connsiteY4" fmla="*/ 615677 h 1856459"/>
                <a:gd name="connsiteX5" fmla="*/ 449265 w 971893"/>
                <a:gd name="connsiteY5" fmla="*/ 2218 h 1856459"/>
                <a:gd name="connsiteX0" fmla="*/ 448722 w 861517"/>
                <a:gd name="connsiteY0" fmla="*/ 2144 h 1846757"/>
                <a:gd name="connsiteX1" fmla="*/ 3096 w 861517"/>
                <a:gd name="connsiteY1" fmla="*/ 829734 h 1846757"/>
                <a:gd name="connsiteX2" fmla="*/ 275101 w 861517"/>
                <a:gd name="connsiteY2" fmla="*/ 1830944 h 1846757"/>
                <a:gd name="connsiteX3" fmla="*/ 726514 w 861517"/>
                <a:gd name="connsiteY3" fmla="*/ 1385319 h 1846757"/>
                <a:gd name="connsiteX4" fmla="*/ 842261 w 861517"/>
                <a:gd name="connsiteY4" fmla="*/ 615603 h 1846757"/>
                <a:gd name="connsiteX5" fmla="*/ 448722 w 861517"/>
                <a:gd name="connsiteY5" fmla="*/ 2144 h 1846757"/>
                <a:gd name="connsiteX0" fmla="*/ 470986 w 883781"/>
                <a:gd name="connsiteY0" fmla="*/ 2144 h 1846757"/>
                <a:gd name="connsiteX1" fmla="*/ 2836 w 883781"/>
                <a:gd name="connsiteY1" fmla="*/ 829734 h 1846757"/>
                <a:gd name="connsiteX2" fmla="*/ 297365 w 883781"/>
                <a:gd name="connsiteY2" fmla="*/ 1830944 h 1846757"/>
                <a:gd name="connsiteX3" fmla="*/ 748778 w 883781"/>
                <a:gd name="connsiteY3" fmla="*/ 1385319 h 1846757"/>
                <a:gd name="connsiteX4" fmla="*/ 864525 w 883781"/>
                <a:gd name="connsiteY4" fmla="*/ 615603 h 1846757"/>
                <a:gd name="connsiteX5" fmla="*/ 470986 w 883781"/>
                <a:gd name="connsiteY5" fmla="*/ 2144 h 1846757"/>
                <a:gd name="connsiteX0" fmla="*/ 594364 w 1007159"/>
                <a:gd name="connsiteY0" fmla="*/ 2144 h 1846757"/>
                <a:gd name="connsiteX1" fmla="*/ 126214 w 1007159"/>
                <a:gd name="connsiteY1" fmla="*/ 829734 h 1846757"/>
                <a:gd name="connsiteX2" fmla="*/ 420743 w 1007159"/>
                <a:gd name="connsiteY2" fmla="*/ 1830944 h 1846757"/>
                <a:gd name="connsiteX3" fmla="*/ 872156 w 1007159"/>
                <a:gd name="connsiteY3" fmla="*/ 1385319 h 1846757"/>
                <a:gd name="connsiteX4" fmla="*/ 987903 w 1007159"/>
                <a:gd name="connsiteY4" fmla="*/ 615603 h 1846757"/>
                <a:gd name="connsiteX5" fmla="*/ 594364 w 1007159"/>
                <a:gd name="connsiteY5" fmla="*/ 2144 h 1846757"/>
                <a:gd name="connsiteX0" fmla="*/ 484902 w 883206"/>
                <a:gd name="connsiteY0" fmla="*/ 41557 h 1318371"/>
                <a:gd name="connsiteX1" fmla="*/ 3238 w 883206"/>
                <a:gd name="connsiteY1" fmla="*/ 301348 h 1318371"/>
                <a:gd name="connsiteX2" fmla="*/ 297767 w 883206"/>
                <a:gd name="connsiteY2" fmla="*/ 1302558 h 1318371"/>
                <a:gd name="connsiteX3" fmla="*/ 749180 w 883206"/>
                <a:gd name="connsiteY3" fmla="*/ 856933 h 1318371"/>
                <a:gd name="connsiteX4" fmla="*/ 864927 w 883206"/>
                <a:gd name="connsiteY4" fmla="*/ 87217 h 1318371"/>
                <a:gd name="connsiteX5" fmla="*/ 484902 w 883206"/>
                <a:gd name="connsiteY5" fmla="*/ 41557 h 1318371"/>
                <a:gd name="connsiteX0" fmla="*/ 378883 w 777187"/>
                <a:gd name="connsiteY0" fmla="*/ 58675 h 1324992"/>
                <a:gd name="connsiteX1" fmla="*/ 5333 w 777187"/>
                <a:gd name="connsiteY1" fmla="*/ 584244 h 1324992"/>
                <a:gd name="connsiteX2" fmla="*/ 191748 w 777187"/>
                <a:gd name="connsiteY2" fmla="*/ 1319676 h 1324992"/>
                <a:gd name="connsiteX3" fmla="*/ 643161 w 777187"/>
                <a:gd name="connsiteY3" fmla="*/ 874051 h 1324992"/>
                <a:gd name="connsiteX4" fmla="*/ 758908 w 777187"/>
                <a:gd name="connsiteY4" fmla="*/ 104335 h 1324992"/>
                <a:gd name="connsiteX5" fmla="*/ 378883 w 777187"/>
                <a:gd name="connsiteY5" fmla="*/ 58675 h 1324992"/>
                <a:gd name="connsiteX0" fmla="*/ 374434 w 772738"/>
                <a:gd name="connsiteY0" fmla="*/ 58675 h 1112877"/>
                <a:gd name="connsiteX1" fmla="*/ 884 w 772738"/>
                <a:gd name="connsiteY1" fmla="*/ 584244 h 1112877"/>
                <a:gd name="connsiteX2" fmla="*/ 281899 w 772738"/>
                <a:gd name="connsiteY2" fmla="*/ 1098194 h 1112877"/>
                <a:gd name="connsiteX3" fmla="*/ 638712 w 772738"/>
                <a:gd name="connsiteY3" fmla="*/ 874051 h 1112877"/>
                <a:gd name="connsiteX4" fmla="*/ 754459 w 772738"/>
                <a:gd name="connsiteY4" fmla="*/ 104335 h 1112877"/>
                <a:gd name="connsiteX5" fmla="*/ 374434 w 772738"/>
                <a:gd name="connsiteY5" fmla="*/ 58675 h 1112877"/>
                <a:gd name="connsiteX0" fmla="*/ 374434 w 696889"/>
                <a:gd name="connsiteY0" fmla="*/ 37893 h 1092095"/>
                <a:gd name="connsiteX1" fmla="*/ 884 w 696889"/>
                <a:gd name="connsiteY1" fmla="*/ 563462 h 1092095"/>
                <a:gd name="connsiteX2" fmla="*/ 281899 w 696889"/>
                <a:gd name="connsiteY2" fmla="*/ 1077412 h 1092095"/>
                <a:gd name="connsiteX3" fmla="*/ 638712 w 696889"/>
                <a:gd name="connsiteY3" fmla="*/ 853269 h 1092095"/>
                <a:gd name="connsiteX4" fmla="*/ 610307 w 696889"/>
                <a:gd name="connsiteY4" fmla="*/ 131877 h 1092095"/>
                <a:gd name="connsiteX5" fmla="*/ 374434 w 696889"/>
                <a:gd name="connsiteY5" fmla="*/ 37893 h 1092095"/>
                <a:gd name="connsiteX0" fmla="*/ 374434 w 752417"/>
                <a:gd name="connsiteY0" fmla="*/ 50114 h 1104316"/>
                <a:gd name="connsiteX1" fmla="*/ 884 w 752417"/>
                <a:gd name="connsiteY1" fmla="*/ 575683 h 1104316"/>
                <a:gd name="connsiteX2" fmla="*/ 281899 w 752417"/>
                <a:gd name="connsiteY2" fmla="*/ 1089633 h 1104316"/>
                <a:gd name="connsiteX3" fmla="*/ 638712 w 752417"/>
                <a:gd name="connsiteY3" fmla="*/ 865490 h 1104316"/>
                <a:gd name="connsiteX4" fmla="*/ 728111 w 752417"/>
                <a:gd name="connsiteY4" fmla="*/ 113715 h 1104316"/>
                <a:gd name="connsiteX5" fmla="*/ 374434 w 752417"/>
                <a:gd name="connsiteY5" fmla="*/ 50114 h 1104316"/>
                <a:gd name="connsiteX0" fmla="*/ 170839 w 769996"/>
                <a:gd name="connsiteY0" fmla="*/ 38450 h 1135314"/>
                <a:gd name="connsiteX1" fmla="*/ 3222 w 769996"/>
                <a:gd name="connsiteY1" fmla="*/ 606681 h 1135314"/>
                <a:gd name="connsiteX2" fmla="*/ 284237 w 769996"/>
                <a:gd name="connsiteY2" fmla="*/ 1120631 h 1135314"/>
                <a:gd name="connsiteX3" fmla="*/ 641050 w 769996"/>
                <a:gd name="connsiteY3" fmla="*/ 896488 h 1135314"/>
                <a:gd name="connsiteX4" fmla="*/ 730449 w 769996"/>
                <a:gd name="connsiteY4" fmla="*/ 144713 h 1135314"/>
                <a:gd name="connsiteX5" fmla="*/ 170839 w 769996"/>
                <a:gd name="connsiteY5" fmla="*/ 38450 h 1135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996" h="1135314">
                  <a:moveTo>
                    <a:pt x="170839" y="38450"/>
                  </a:moveTo>
                  <a:cubicBezTo>
                    <a:pt x="49635" y="115445"/>
                    <a:pt x="-15678" y="426318"/>
                    <a:pt x="3222" y="606681"/>
                  </a:cubicBezTo>
                  <a:cubicBezTo>
                    <a:pt x="22122" y="787044"/>
                    <a:pt x="177932" y="1072330"/>
                    <a:pt x="284237" y="1120631"/>
                  </a:cubicBezTo>
                  <a:cubicBezTo>
                    <a:pt x="390542" y="1168932"/>
                    <a:pt x="515658" y="1099045"/>
                    <a:pt x="641050" y="896488"/>
                  </a:cubicBezTo>
                  <a:cubicBezTo>
                    <a:pt x="766442" y="693931"/>
                    <a:pt x="808817" y="287719"/>
                    <a:pt x="730449" y="144713"/>
                  </a:cubicBezTo>
                  <a:cubicBezTo>
                    <a:pt x="652081" y="1707"/>
                    <a:pt x="292043" y="-38545"/>
                    <a:pt x="170839" y="38450"/>
                  </a:cubicBezTo>
                  <a:close/>
                </a:path>
              </a:pathLst>
            </a:custGeom>
            <a:solidFill>
              <a:srgbClr val="F86E4E"/>
            </a:solidFill>
            <a:sp3d prstMaterial="translucentPowder"/>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2" name="Freeform: Shape 31">
              <a:extLst>
                <a:ext uri="{FF2B5EF4-FFF2-40B4-BE49-F238E27FC236}">
                  <a16:creationId xmlns:a16="http://schemas.microsoft.com/office/drawing/2014/main" id="{1C588B39-0E23-EE9C-F812-A6C4F76CD6AC}"/>
                </a:ext>
              </a:extLst>
            </p:cNvPr>
            <p:cNvSpPr/>
            <p:nvPr/>
          </p:nvSpPr>
          <p:spPr>
            <a:xfrm rot="8713937">
              <a:off x="3612006" y="3602865"/>
              <a:ext cx="680673" cy="1137486"/>
            </a:xfrm>
            <a:custGeom>
              <a:avLst/>
              <a:gdLst>
                <a:gd name="connsiteX0" fmla="*/ 600104 w 1057083"/>
                <a:gd name="connsiteY0" fmla="*/ 6523 h 1513523"/>
                <a:gd name="connsiteX1" fmla="*/ 9795 w 1057083"/>
                <a:gd name="connsiteY1" fmla="*/ 486872 h 1513523"/>
                <a:gd name="connsiteX2" fmla="*/ 281800 w 1057083"/>
                <a:gd name="connsiteY2" fmla="*/ 1488082 h 1513523"/>
                <a:gd name="connsiteX3" fmla="*/ 924195 w 1057083"/>
                <a:gd name="connsiteY3" fmla="*/ 1135055 h 1513523"/>
                <a:gd name="connsiteX4" fmla="*/ 1034154 w 1057083"/>
                <a:gd name="connsiteY4" fmla="*/ 272741 h 1513523"/>
                <a:gd name="connsiteX5" fmla="*/ 600104 w 1057083"/>
                <a:gd name="connsiteY5" fmla="*/ 6523 h 1513523"/>
                <a:gd name="connsiteX0" fmla="*/ 660864 w 1056582"/>
                <a:gd name="connsiteY0" fmla="*/ 2627 h 1775845"/>
                <a:gd name="connsiteX1" fmla="*/ 12681 w 1056582"/>
                <a:gd name="connsiteY1" fmla="*/ 749194 h 1775845"/>
                <a:gd name="connsiteX2" fmla="*/ 284686 w 1056582"/>
                <a:gd name="connsiteY2" fmla="*/ 1750404 h 1775845"/>
                <a:gd name="connsiteX3" fmla="*/ 927081 w 1056582"/>
                <a:gd name="connsiteY3" fmla="*/ 1397377 h 1775845"/>
                <a:gd name="connsiteX4" fmla="*/ 1037040 w 1056582"/>
                <a:gd name="connsiteY4" fmla="*/ 535063 h 1775845"/>
                <a:gd name="connsiteX5" fmla="*/ 660864 w 1056582"/>
                <a:gd name="connsiteY5" fmla="*/ 2627 h 1775845"/>
                <a:gd name="connsiteX0" fmla="*/ 449265 w 1062403"/>
                <a:gd name="connsiteY0" fmla="*/ 2218 h 1856459"/>
                <a:gd name="connsiteX1" fmla="*/ 3639 w 1062403"/>
                <a:gd name="connsiteY1" fmla="*/ 829808 h 1856459"/>
                <a:gd name="connsiteX2" fmla="*/ 275644 w 1062403"/>
                <a:gd name="connsiteY2" fmla="*/ 1831018 h 1856459"/>
                <a:gd name="connsiteX3" fmla="*/ 918039 w 1062403"/>
                <a:gd name="connsiteY3" fmla="*/ 1477991 h 1856459"/>
                <a:gd name="connsiteX4" fmla="*/ 1027998 w 1062403"/>
                <a:gd name="connsiteY4" fmla="*/ 615677 h 1856459"/>
                <a:gd name="connsiteX5" fmla="*/ 449265 w 1062403"/>
                <a:gd name="connsiteY5" fmla="*/ 2218 h 1856459"/>
                <a:gd name="connsiteX0" fmla="*/ 449265 w 971893"/>
                <a:gd name="connsiteY0" fmla="*/ 2218 h 1856459"/>
                <a:gd name="connsiteX1" fmla="*/ 3639 w 971893"/>
                <a:gd name="connsiteY1" fmla="*/ 829808 h 1856459"/>
                <a:gd name="connsiteX2" fmla="*/ 275644 w 971893"/>
                <a:gd name="connsiteY2" fmla="*/ 1831018 h 1856459"/>
                <a:gd name="connsiteX3" fmla="*/ 918039 w 971893"/>
                <a:gd name="connsiteY3" fmla="*/ 1477991 h 1856459"/>
                <a:gd name="connsiteX4" fmla="*/ 842804 w 971893"/>
                <a:gd name="connsiteY4" fmla="*/ 615677 h 1856459"/>
                <a:gd name="connsiteX5" fmla="*/ 449265 w 971893"/>
                <a:gd name="connsiteY5" fmla="*/ 2218 h 1856459"/>
                <a:gd name="connsiteX0" fmla="*/ 448722 w 861517"/>
                <a:gd name="connsiteY0" fmla="*/ 2144 h 1846757"/>
                <a:gd name="connsiteX1" fmla="*/ 3096 w 861517"/>
                <a:gd name="connsiteY1" fmla="*/ 829734 h 1846757"/>
                <a:gd name="connsiteX2" fmla="*/ 275101 w 861517"/>
                <a:gd name="connsiteY2" fmla="*/ 1830944 h 1846757"/>
                <a:gd name="connsiteX3" fmla="*/ 726514 w 861517"/>
                <a:gd name="connsiteY3" fmla="*/ 1385319 h 1846757"/>
                <a:gd name="connsiteX4" fmla="*/ 842261 w 861517"/>
                <a:gd name="connsiteY4" fmla="*/ 615603 h 1846757"/>
                <a:gd name="connsiteX5" fmla="*/ 448722 w 861517"/>
                <a:gd name="connsiteY5" fmla="*/ 2144 h 1846757"/>
                <a:gd name="connsiteX0" fmla="*/ 470986 w 883781"/>
                <a:gd name="connsiteY0" fmla="*/ 2144 h 1846757"/>
                <a:gd name="connsiteX1" fmla="*/ 2836 w 883781"/>
                <a:gd name="connsiteY1" fmla="*/ 829734 h 1846757"/>
                <a:gd name="connsiteX2" fmla="*/ 297365 w 883781"/>
                <a:gd name="connsiteY2" fmla="*/ 1830944 h 1846757"/>
                <a:gd name="connsiteX3" fmla="*/ 748778 w 883781"/>
                <a:gd name="connsiteY3" fmla="*/ 1385319 h 1846757"/>
                <a:gd name="connsiteX4" fmla="*/ 864525 w 883781"/>
                <a:gd name="connsiteY4" fmla="*/ 615603 h 1846757"/>
                <a:gd name="connsiteX5" fmla="*/ 470986 w 883781"/>
                <a:gd name="connsiteY5" fmla="*/ 2144 h 1846757"/>
                <a:gd name="connsiteX0" fmla="*/ 594364 w 1007159"/>
                <a:gd name="connsiteY0" fmla="*/ 2144 h 1846757"/>
                <a:gd name="connsiteX1" fmla="*/ 126214 w 1007159"/>
                <a:gd name="connsiteY1" fmla="*/ 829734 h 1846757"/>
                <a:gd name="connsiteX2" fmla="*/ 420743 w 1007159"/>
                <a:gd name="connsiteY2" fmla="*/ 1830944 h 1846757"/>
                <a:gd name="connsiteX3" fmla="*/ 872156 w 1007159"/>
                <a:gd name="connsiteY3" fmla="*/ 1385319 h 1846757"/>
                <a:gd name="connsiteX4" fmla="*/ 987903 w 1007159"/>
                <a:gd name="connsiteY4" fmla="*/ 615603 h 1846757"/>
                <a:gd name="connsiteX5" fmla="*/ 594364 w 1007159"/>
                <a:gd name="connsiteY5" fmla="*/ 2144 h 1846757"/>
                <a:gd name="connsiteX0" fmla="*/ 484902 w 883206"/>
                <a:gd name="connsiteY0" fmla="*/ 41557 h 1318371"/>
                <a:gd name="connsiteX1" fmla="*/ 3238 w 883206"/>
                <a:gd name="connsiteY1" fmla="*/ 301348 h 1318371"/>
                <a:gd name="connsiteX2" fmla="*/ 297767 w 883206"/>
                <a:gd name="connsiteY2" fmla="*/ 1302558 h 1318371"/>
                <a:gd name="connsiteX3" fmla="*/ 749180 w 883206"/>
                <a:gd name="connsiteY3" fmla="*/ 856933 h 1318371"/>
                <a:gd name="connsiteX4" fmla="*/ 864927 w 883206"/>
                <a:gd name="connsiteY4" fmla="*/ 87217 h 1318371"/>
                <a:gd name="connsiteX5" fmla="*/ 484902 w 883206"/>
                <a:gd name="connsiteY5" fmla="*/ 41557 h 1318371"/>
                <a:gd name="connsiteX0" fmla="*/ 378883 w 777187"/>
                <a:gd name="connsiteY0" fmla="*/ 58675 h 1324992"/>
                <a:gd name="connsiteX1" fmla="*/ 5333 w 777187"/>
                <a:gd name="connsiteY1" fmla="*/ 584244 h 1324992"/>
                <a:gd name="connsiteX2" fmla="*/ 191748 w 777187"/>
                <a:gd name="connsiteY2" fmla="*/ 1319676 h 1324992"/>
                <a:gd name="connsiteX3" fmla="*/ 643161 w 777187"/>
                <a:gd name="connsiteY3" fmla="*/ 874051 h 1324992"/>
                <a:gd name="connsiteX4" fmla="*/ 758908 w 777187"/>
                <a:gd name="connsiteY4" fmla="*/ 104335 h 1324992"/>
                <a:gd name="connsiteX5" fmla="*/ 378883 w 777187"/>
                <a:gd name="connsiteY5" fmla="*/ 58675 h 1324992"/>
                <a:gd name="connsiteX0" fmla="*/ 374434 w 772738"/>
                <a:gd name="connsiteY0" fmla="*/ 58675 h 1112877"/>
                <a:gd name="connsiteX1" fmla="*/ 884 w 772738"/>
                <a:gd name="connsiteY1" fmla="*/ 584244 h 1112877"/>
                <a:gd name="connsiteX2" fmla="*/ 281899 w 772738"/>
                <a:gd name="connsiteY2" fmla="*/ 1098194 h 1112877"/>
                <a:gd name="connsiteX3" fmla="*/ 638712 w 772738"/>
                <a:gd name="connsiteY3" fmla="*/ 874051 h 1112877"/>
                <a:gd name="connsiteX4" fmla="*/ 754459 w 772738"/>
                <a:gd name="connsiteY4" fmla="*/ 104335 h 1112877"/>
                <a:gd name="connsiteX5" fmla="*/ 374434 w 772738"/>
                <a:gd name="connsiteY5" fmla="*/ 58675 h 1112877"/>
                <a:gd name="connsiteX0" fmla="*/ 374434 w 696889"/>
                <a:gd name="connsiteY0" fmla="*/ 37893 h 1092095"/>
                <a:gd name="connsiteX1" fmla="*/ 884 w 696889"/>
                <a:gd name="connsiteY1" fmla="*/ 563462 h 1092095"/>
                <a:gd name="connsiteX2" fmla="*/ 281899 w 696889"/>
                <a:gd name="connsiteY2" fmla="*/ 1077412 h 1092095"/>
                <a:gd name="connsiteX3" fmla="*/ 638712 w 696889"/>
                <a:gd name="connsiteY3" fmla="*/ 853269 h 1092095"/>
                <a:gd name="connsiteX4" fmla="*/ 610307 w 696889"/>
                <a:gd name="connsiteY4" fmla="*/ 131877 h 1092095"/>
                <a:gd name="connsiteX5" fmla="*/ 374434 w 696889"/>
                <a:gd name="connsiteY5" fmla="*/ 37893 h 1092095"/>
                <a:gd name="connsiteX0" fmla="*/ 374434 w 755925"/>
                <a:gd name="connsiteY0" fmla="*/ 37606 h 1091808"/>
                <a:gd name="connsiteX1" fmla="*/ 884 w 755925"/>
                <a:gd name="connsiteY1" fmla="*/ 563175 h 1091808"/>
                <a:gd name="connsiteX2" fmla="*/ 281899 w 755925"/>
                <a:gd name="connsiteY2" fmla="*/ 1077125 h 1091808"/>
                <a:gd name="connsiteX3" fmla="*/ 638712 w 755925"/>
                <a:gd name="connsiteY3" fmla="*/ 852982 h 1091808"/>
                <a:gd name="connsiteX4" fmla="*/ 732905 w 755925"/>
                <a:gd name="connsiteY4" fmla="*/ 132398 h 1091808"/>
                <a:gd name="connsiteX5" fmla="*/ 374434 w 755925"/>
                <a:gd name="connsiteY5" fmla="*/ 37606 h 1091808"/>
                <a:gd name="connsiteX0" fmla="*/ 182423 w 771723"/>
                <a:gd name="connsiteY0" fmla="*/ 33792 h 1105211"/>
                <a:gd name="connsiteX1" fmla="*/ 2350 w 771723"/>
                <a:gd name="connsiteY1" fmla="*/ 576578 h 1105211"/>
                <a:gd name="connsiteX2" fmla="*/ 283365 w 771723"/>
                <a:gd name="connsiteY2" fmla="*/ 1090528 h 1105211"/>
                <a:gd name="connsiteX3" fmla="*/ 640178 w 771723"/>
                <a:gd name="connsiteY3" fmla="*/ 866385 h 1105211"/>
                <a:gd name="connsiteX4" fmla="*/ 734371 w 771723"/>
                <a:gd name="connsiteY4" fmla="*/ 145801 h 1105211"/>
                <a:gd name="connsiteX5" fmla="*/ 182423 w 771723"/>
                <a:gd name="connsiteY5" fmla="*/ 33792 h 110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1723" h="1105211">
                  <a:moveTo>
                    <a:pt x="182423" y="33792"/>
                  </a:moveTo>
                  <a:cubicBezTo>
                    <a:pt x="60420" y="105588"/>
                    <a:pt x="-14474" y="400455"/>
                    <a:pt x="2350" y="576578"/>
                  </a:cubicBezTo>
                  <a:cubicBezTo>
                    <a:pt x="19174" y="752701"/>
                    <a:pt x="177060" y="1042227"/>
                    <a:pt x="283365" y="1090528"/>
                  </a:cubicBezTo>
                  <a:cubicBezTo>
                    <a:pt x="389670" y="1138829"/>
                    <a:pt x="514786" y="1068942"/>
                    <a:pt x="640178" y="866385"/>
                  </a:cubicBezTo>
                  <a:cubicBezTo>
                    <a:pt x="765570" y="663828"/>
                    <a:pt x="810663" y="284566"/>
                    <a:pt x="734371" y="145801"/>
                  </a:cubicBezTo>
                  <a:cubicBezTo>
                    <a:pt x="658079" y="7036"/>
                    <a:pt x="304426" y="-38004"/>
                    <a:pt x="182423" y="33792"/>
                  </a:cubicBezTo>
                  <a:close/>
                </a:path>
              </a:pathLst>
            </a:custGeom>
            <a:solidFill>
              <a:srgbClr val="FCB6F7"/>
            </a:solidFill>
            <a:sp3d prstMaterial="translucentPowder"/>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3" name="Oval 82">
              <a:extLst>
                <a:ext uri="{FF2B5EF4-FFF2-40B4-BE49-F238E27FC236}">
                  <a16:creationId xmlns:a16="http://schemas.microsoft.com/office/drawing/2014/main" id="{7C1E3D93-4A0A-8323-62BA-D60AA04307E2}"/>
                </a:ext>
              </a:extLst>
            </p:cNvPr>
            <p:cNvSpPr/>
            <p:nvPr/>
          </p:nvSpPr>
          <p:spPr>
            <a:xfrm>
              <a:off x="3709831" y="2738975"/>
              <a:ext cx="394447" cy="313765"/>
            </a:xfrm>
            <a:prstGeom prst="ellipse">
              <a:avLst/>
            </a:prstGeom>
            <a:solidFill>
              <a:srgbClr val="00B0F0"/>
            </a:solidFill>
            <a:sp3d prstMaterial="translucentPowder"/>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4" name="Oval 83">
              <a:extLst>
                <a:ext uri="{FF2B5EF4-FFF2-40B4-BE49-F238E27FC236}">
                  <a16:creationId xmlns:a16="http://schemas.microsoft.com/office/drawing/2014/main" id="{CBEBF0EF-6796-5778-8F16-8857E6405106}"/>
                </a:ext>
              </a:extLst>
            </p:cNvPr>
            <p:cNvSpPr/>
            <p:nvPr/>
          </p:nvSpPr>
          <p:spPr>
            <a:xfrm>
              <a:off x="3706047" y="3276085"/>
              <a:ext cx="394447" cy="313765"/>
            </a:xfrm>
            <a:prstGeom prst="ellipse">
              <a:avLst/>
            </a:prstGeom>
            <a:solidFill>
              <a:srgbClr val="00B0F0"/>
            </a:solidFill>
            <a:sp3d prstMaterial="translucentPowder"/>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5" name="Oval 84">
              <a:extLst>
                <a:ext uri="{FF2B5EF4-FFF2-40B4-BE49-F238E27FC236}">
                  <a16:creationId xmlns:a16="http://schemas.microsoft.com/office/drawing/2014/main" id="{AE4102F4-F985-0E19-86D6-F96FB28BF1B1}"/>
                </a:ext>
              </a:extLst>
            </p:cNvPr>
            <p:cNvSpPr/>
            <p:nvPr/>
          </p:nvSpPr>
          <p:spPr>
            <a:xfrm>
              <a:off x="3637496" y="3787952"/>
              <a:ext cx="394447" cy="313765"/>
            </a:xfrm>
            <a:prstGeom prst="ellipse">
              <a:avLst/>
            </a:prstGeom>
            <a:solidFill>
              <a:srgbClr val="00B0F0"/>
            </a:solidFill>
            <a:sp3d prstMaterial="translucentPowder"/>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6" name="Oval 85">
              <a:extLst>
                <a:ext uri="{FF2B5EF4-FFF2-40B4-BE49-F238E27FC236}">
                  <a16:creationId xmlns:a16="http://schemas.microsoft.com/office/drawing/2014/main" id="{D5833489-9CF0-C2E0-C27C-3F4B88BC5262}"/>
                </a:ext>
              </a:extLst>
            </p:cNvPr>
            <p:cNvSpPr/>
            <p:nvPr/>
          </p:nvSpPr>
          <p:spPr>
            <a:xfrm>
              <a:off x="3875616" y="4301715"/>
              <a:ext cx="394447" cy="313765"/>
            </a:xfrm>
            <a:prstGeom prst="ellipse">
              <a:avLst/>
            </a:prstGeom>
            <a:solidFill>
              <a:srgbClr val="00B0F0"/>
            </a:solidFill>
            <a:sp3d prstMaterial="translucentPowder"/>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7" name="Oval 86">
              <a:extLst>
                <a:ext uri="{FF2B5EF4-FFF2-40B4-BE49-F238E27FC236}">
                  <a16:creationId xmlns:a16="http://schemas.microsoft.com/office/drawing/2014/main" id="{4EDB9D70-0A05-91A7-1CBD-42E76692F982}"/>
                </a:ext>
              </a:extLst>
            </p:cNvPr>
            <p:cNvSpPr/>
            <p:nvPr/>
          </p:nvSpPr>
          <p:spPr>
            <a:xfrm>
              <a:off x="4207814" y="2324227"/>
              <a:ext cx="394447" cy="313765"/>
            </a:xfrm>
            <a:prstGeom prst="ellipse">
              <a:avLst/>
            </a:prstGeom>
            <a:solidFill>
              <a:srgbClr val="00B0F0"/>
            </a:solidFill>
            <a:sp3d prstMaterial="translucentPowder"/>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8" name="Oval 87">
              <a:extLst>
                <a:ext uri="{FF2B5EF4-FFF2-40B4-BE49-F238E27FC236}">
                  <a16:creationId xmlns:a16="http://schemas.microsoft.com/office/drawing/2014/main" id="{F32B7DD8-C092-C447-D32A-388CBAC2DD71}"/>
                </a:ext>
              </a:extLst>
            </p:cNvPr>
            <p:cNvSpPr/>
            <p:nvPr/>
          </p:nvSpPr>
          <p:spPr>
            <a:xfrm>
              <a:off x="7426906" y="2339877"/>
              <a:ext cx="394447" cy="313765"/>
            </a:xfrm>
            <a:prstGeom prst="ellipse">
              <a:avLst/>
            </a:prstGeom>
            <a:solidFill>
              <a:srgbClr val="EC545F"/>
            </a:solidFill>
            <a:sp3d prstMaterial="translucentPowder"/>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9" name="Oval 88">
              <a:extLst>
                <a:ext uri="{FF2B5EF4-FFF2-40B4-BE49-F238E27FC236}">
                  <a16:creationId xmlns:a16="http://schemas.microsoft.com/office/drawing/2014/main" id="{114FBF46-ED0D-3B58-40DC-4E3CE079D127}"/>
                </a:ext>
              </a:extLst>
            </p:cNvPr>
            <p:cNvSpPr/>
            <p:nvPr/>
          </p:nvSpPr>
          <p:spPr>
            <a:xfrm>
              <a:off x="7104860" y="4240390"/>
              <a:ext cx="394447" cy="313765"/>
            </a:xfrm>
            <a:prstGeom prst="ellipse">
              <a:avLst/>
            </a:prstGeom>
            <a:solidFill>
              <a:srgbClr val="EC545F"/>
            </a:solidFill>
            <a:sp3d prstMaterial="translucentPowder"/>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0" name="Oval 89">
              <a:extLst>
                <a:ext uri="{FF2B5EF4-FFF2-40B4-BE49-F238E27FC236}">
                  <a16:creationId xmlns:a16="http://schemas.microsoft.com/office/drawing/2014/main" id="{72275CF4-C030-C9F0-57B1-47C6CFE1497A}"/>
                </a:ext>
              </a:extLst>
            </p:cNvPr>
            <p:cNvSpPr/>
            <p:nvPr/>
          </p:nvSpPr>
          <p:spPr>
            <a:xfrm>
              <a:off x="5551583" y="2532023"/>
              <a:ext cx="394447" cy="313765"/>
            </a:xfrm>
            <a:prstGeom prst="ellipse">
              <a:avLst/>
            </a:prstGeom>
            <a:solidFill>
              <a:schemeClr val="bg2">
                <a:lumMod val="90000"/>
              </a:schemeClr>
            </a:solidFill>
            <a:sp3d prstMaterial="translucentPowder"/>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1" name="Oval 90">
              <a:extLst>
                <a:ext uri="{FF2B5EF4-FFF2-40B4-BE49-F238E27FC236}">
                  <a16:creationId xmlns:a16="http://schemas.microsoft.com/office/drawing/2014/main" id="{71BAF74B-6B25-FB39-D59E-11ECC3E7EE13}"/>
                </a:ext>
              </a:extLst>
            </p:cNvPr>
            <p:cNvSpPr/>
            <p:nvPr/>
          </p:nvSpPr>
          <p:spPr>
            <a:xfrm>
              <a:off x="4902053" y="3432457"/>
              <a:ext cx="394447" cy="313765"/>
            </a:xfrm>
            <a:prstGeom prst="ellipse">
              <a:avLst/>
            </a:prstGeom>
            <a:solidFill>
              <a:schemeClr val="bg2">
                <a:lumMod val="90000"/>
              </a:schemeClr>
            </a:solidFill>
            <a:sp3d prstMaterial="translucentPowder"/>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2" name="Oval 91">
              <a:extLst>
                <a:ext uri="{FF2B5EF4-FFF2-40B4-BE49-F238E27FC236}">
                  <a16:creationId xmlns:a16="http://schemas.microsoft.com/office/drawing/2014/main" id="{7369B93C-9687-36F0-415C-DC3DFA26790C}"/>
                </a:ext>
              </a:extLst>
            </p:cNvPr>
            <p:cNvSpPr/>
            <p:nvPr/>
          </p:nvSpPr>
          <p:spPr>
            <a:xfrm>
              <a:off x="6324465" y="3036012"/>
              <a:ext cx="394447" cy="313765"/>
            </a:xfrm>
            <a:prstGeom prst="ellipse">
              <a:avLst/>
            </a:prstGeom>
            <a:solidFill>
              <a:schemeClr val="bg2">
                <a:lumMod val="90000"/>
              </a:schemeClr>
            </a:solidFill>
            <a:sp3d prstMaterial="translucentPowder"/>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3" name="Oval 92">
              <a:extLst>
                <a:ext uri="{FF2B5EF4-FFF2-40B4-BE49-F238E27FC236}">
                  <a16:creationId xmlns:a16="http://schemas.microsoft.com/office/drawing/2014/main" id="{7457C282-C5CE-3473-47A5-3EDEA662492E}"/>
                </a:ext>
              </a:extLst>
            </p:cNvPr>
            <p:cNvSpPr/>
            <p:nvPr/>
          </p:nvSpPr>
          <p:spPr>
            <a:xfrm>
              <a:off x="5719632" y="4078019"/>
              <a:ext cx="394447" cy="313765"/>
            </a:xfrm>
            <a:prstGeom prst="ellipse">
              <a:avLst/>
            </a:prstGeom>
            <a:solidFill>
              <a:schemeClr val="bg2">
                <a:lumMod val="90000"/>
              </a:schemeClr>
            </a:solidFill>
            <a:sp3d prstMaterial="translucentPowder"/>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4" name="Freeform: Shape 44">
              <a:extLst>
                <a:ext uri="{FF2B5EF4-FFF2-40B4-BE49-F238E27FC236}">
                  <a16:creationId xmlns:a16="http://schemas.microsoft.com/office/drawing/2014/main" id="{FEFFA338-4BAE-B5DC-5079-16D3A0C18064}"/>
                </a:ext>
              </a:extLst>
            </p:cNvPr>
            <p:cNvSpPr/>
            <p:nvPr/>
          </p:nvSpPr>
          <p:spPr>
            <a:xfrm rot="3223793">
              <a:off x="7545879" y="2964820"/>
              <a:ext cx="546015" cy="567754"/>
            </a:xfrm>
            <a:custGeom>
              <a:avLst/>
              <a:gdLst>
                <a:gd name="connsiteX0" fmla="*/ 600104 w 1057083"/>
                <a:gd name="connsiteY0" fmla="*/ 6523 h 1513523"/>
                <a:gd name="connsiteX1" fmla="*/ 9795 w 1057083"/>
                <a:gd name="connsiteY1" fmla="*/ 486872 h 1513523"/>
                <a:gd name="connsiteX2" fmla="*/ 281800 w 1057083"/>
                <a:gd name="connsiteY2" fmla="*/ 1488082 h 1513523"/>
                <a:gd name="connsiteX3" fmla="*/ 924195 w 1057083"/>
                <a:gd name="connsiteY3" fmla="*/ 1135055 h 1513523"/>
                <a:gd name="connsiteX4" fmla="*/ 1034154 w 1057083"/>
                <a:gd name="connsiteY4" fmla="*/ 272741 h 1513523"/>
                <a:gd name="connsiteX5" fmla="*/ 600104 w 1057083"/>
                <a:gd name="connsiteY5" fmla="*/ 6523 h 1513523"/>
                <a:gd name="connsiteX0" fmla="*/ 660864 w 1056582"/>
                <a:gd name="connsiteY0" fmla="*/ 2627 h 1775845"/>
                <a:gd name="connsiteX1" fmla="*/ 12681 w 1056582"/>
                <a:gd name="connsiteY1" fmla="*/ 749194 h 1775845"/>
                <a:gd name="connsiteX2" fmla="*/ 284686 w 1056582"/>
                <a:gd name="connsiteY2" fmla="*/ 1750404 h 1775845"/>
                <a:gd name="connsiteX3" fmla="*/ 927081 w 1056582"/>
                <a:gd name="connsiteY3" fmla="*/ 1397377 h 1775845"/>
                <a:gd name="connsiteX4" fmla="*/ 1037040 w 1056582"/>
                <a:gd name="connsiteY4" fmla="*/ 535063 h 1775845"/>
                <a:gd name="connsiteX5" fmla="*/ 660864 w 1056582"/>
                <a:gd name="connsiteY5" fmla="*/ 2627 h 1775845"/>
                <a:gd name="connsiteX0" fmla="*/ 449265 w 1062403"/>
                <a:gd name="connsiteY0" fmla="*/ 2218 h 1856459"/>
                <a:gd name="connsiteX1" fmla="*/ 3639 w 1062403"/>
                <a:gd name="connsiteY1" fmla="*/ 829808 h 1856459"/>
                <a:gd name="connsiteX2" fmla="*/ 275644 w 1062403"/>
                <a:gd name="connsiteY2" fmla="*/ 1831018 h 1856459"/>
                <a:gd name="connsiteX3" fmla="*/ 918039 w 1062403"/>
                <a:gd name="connsiteY3" fmla="*/ 1477991 h 1856459"/>
                <a:gd name="connsiteX4" fmla="*/ 1027998 w 1062403"/>
                <a:gd name="connsiteY4" fmla="*/ 615677 h 1856459"/>
                <a:gd name="connsiteX5" fmla="*/ 449265 w 1062403"/>
                <a:gd name="connsiteY5" fmla="*/ 2218 h 1856459"/>
                <a:gd name="connsiteX0" fmla="*/ 449265 w 971893"/>
                <a:gd name="connsiteY0" fmla="*/ 2218 h 1856459"/>
                <a:gd name="connsiteX1" fmla="*/ 3639 w 971893"/>
                <a:gd name="connsiteY1" fmla="*/ 829808 h 1856459"/>
                <a:gd name="connsiteX2" fmla="*/ 275644 w 971893"/>
                <a:gd name="connsiteY2" fmla="*/ 1831018 h 1856459"/>
                <a:gd name="connsiteX3" fmla="*/ 918039 w 971893"/>
                <a:gd name="connsiteY3" fmla="*/ 1477991 h 1856459"/>
                <a:gd name="connsiteX4" fmla="*/ 842804 w 971893"/>
                <a:gd name="connsiteY4" fmla="*/ 615677 h 1856459"/>
                <a:gd name="connsiteX5" fmla="*/ 449265 w 971893"/>
                <a:gd name="connsiteY5" fmla="*/ 2218 h 1856459"/>
                <a:gd name="connsiteX0" fmla="*/ 448722 w 861517"/>
                <a:gd name="connsiteY0" fmla="*/ 2144 h 1846757"/>
                <a:gd name="connsiteX1" fmla="*/ 3096 w 861517"/>
                <a:gd name="connsiteY1" fmla="*/ 829734 h 1846757"/>
                <a:gd name="connsiteX2" fmla="*/ 275101 w 861517"/>
                <a:gd name="connsiteY2" fmla="*/ 1830944 h 1846757"/>
                <a:gd name="connsiteX3" fmla="*/ 726514 w 861517"/>
                <a:gd name="connsiteY3" fmla="*/ 1385319 h 1846757"/>
                <a:gd name="connsiteX4" fmla="*/ 842261 w 861517"/>
                <a:gd name="connsiteY4" fmla="*/ 615603 h 1846757"/>
                <a:gd name="connsiteX5" fmla="*/ 448722 w 861517"/>
                <a:gd name="connsiteY5" fmla="*/ 2144 h 1846757"/>
                <a:gd name="connsiteX0" fmla="*/ 470986 w 883781"/>
                <a:gd name="connsiteY0" fmla="*/ 2144 h 1846757"/>
                <a:gd name="connsiteX1" fmla="*/ 2836 w 883781"/>
                <a:gd name="connsiteY1" fmla="*/ 829734 h 1846757"/>
                <a:gd name="connsiteX2" fmla="*/ 297365 w 883781"/>
                <a:gd name="connsiteY2" fmla="*/ 1830944 h 1846757"/>
                <a:gd name="connsiteX3" fmla="*/ 748778 w 883781"/>
                <a:gd name="connsiteY3" fmla="*/ 1385319 h 1846757"/>
                <a:gd name="connsiteX4" fmla="*/ 864525 w 883781"/>
                <a:gd name="connsiteY4" fmla="*/ 615603 h 1846757"/>
                <a:gd name="connsiteX5" fmla="*/ 470986 w 883781"/>
                <a:gd name="connsiteY5" fmla="*/ 2144 h 1846757"/>
                <a:gd name="connsiteX0" fmla="*/ 594364 w 1007159"/>
                <a:gd name="connsiteY0" fmla="*/ 2144 h 1846757"/>
                <a:gd name="connsiteX1" fmla="*/ 126214 w 1007159"/>
                <a:gd name="connsiteY1" fmla="*/ 829734 h 1846757"/>
                <a:gd name="connsiteX2" fmla="*/ 420743 w 1007159"/>
                <a:gd name="connsiteY2" fmla="*/ 1830944 h 1846757"/>
                <a:gd name="connsiteX3" fmla="*/ 872156 w 1007159"/>
                <a:gd name="connsiteY3" fmla="*/ 1385319 h 1846757"/>
                <a:gd name="connsiteX4" fmla="*/ 987903 w 1007159"/>
                <a:gd name="connsiteY4" fmla="*/ 615603 h 1846757"/>
                <a:gd name="connsiteX5" fmla="*/ 594364 w 1007159"/>
                <a:gd name="connsiteY5" fmla="*/ 2144 h 1846757"/>
                <a:gd name="connsiteX0" fmla="*/ 484902 w 883206"/>
                <a:gd name="connsiteY0" fmla="*/ 41557 h 1318371"/>
                <a:gd name="connsiteX1" fmla="*/ 3238 w 883206"/>
                <a:gd name="connsiteY1" fmla="*/ 301348 h 1318371"/>
                <a:gd name="connsiteX2" fmla="*/ 297767 w 883206"/>
                <a:gd name="connsiteY2" fmla="*/ 1302558 h 1318371"/>
                <a:gd name="connsiteX3" fmla="*/ 749180 w 883206"/>
                <a:gd name="connsiteY3" fmla="*/ 856933 h 1318371"/>
                <a:gd name="connsiteX4" fmla="*/ 864927 w 883206"/>
                <a:gd name="connsiteY4" fmla="*/ 87217 h 1318371"/>
                <a:gd name="connsiteX5" fmla="*/ 484902 w 883206"/>
                <a:gd name="connsiteY5" fmla="*/ 41557 h 1318371"/>
                <a:gd name="connsiteX0" fmla="*/ 378883 w 777187"/>
                <a:gd name="connsiteY0" fmla="*/ 58675 h 1324992"/>
                <a:gd name="connsiteX1" fmla="*/ 5333 w 777187"/>
                <a:gd name="connsiteY1" fmla="*/ 584244 h 1324992"/>
                <a:gd name="connsiteX2" fmla="*/ 191748 w 777187"/>
                <a:gd name="connsiteY2" fmla="*/ 1319676 h 1324992"/>
                <a:gd name="connsiteX3" fmla="*/ 643161 w 777187"/>
                <a:gd name="connsiteY3" fmla="*/ 874051 h 1324992"/>
                <a:gd name="connsiteX4" fmla="*/ 758908 w 777187"/>
                <a:gd name="connsiteY4" fmla="*/ 104335 h 1324992"/>
                <a:gd name="connsiteX5" fmla="*/ 378883 w 777187"/>
                <a:gd name="connsiteY5" fmla="*/ 58675 h 1324992"/>
                <a:gd name="connsiteX0" fmla="*/ 374434 w 772738"/>
                <a:gd name="connsiteY0" fmla="*/ 58675 h 1112877"/>
                <a:gd name="connsiteX1" fmla="*/ 884 w 772738"/>
                <a:gd name="connsiteY1" fmla="*/ 584244 h 1112877"/>
                <a:gd name="connsiteX2" fmla="*/ 281899 w 772738"/>
                <a:gd name="connsiteY2" fmla="*/ 1098194 h 1112877"/>
                <a:gd name="connsiteX3" fmla="*/ 638712 w 772738"/>
                <a:gd name="connsiteY3" fmla="*/ 874051 h 1112877"/>
                <a:gd name="connsiteX4" fmla="*/ 754459 w 772738"/>
                <a:gd name="connsiteY4" fmla="*/ 104335 h 1112877"/>
                <a:gd name="connsiteX5" fmla="*/ 374434 w 772738"/>
                <a:gd name="connsiteY5" fmla="*/ 58675 h 1112877"/>
                <a:gd name="connsiteX0" fmla="*/ 374434 w 696889"/>
                <a:gd name="connsiteY0" fmla="*/ 37893 h 1092095"/>
                <a:gd name="connsiteX1" fmla="*/ 884 w 696889"/>
                <a:gd name="connsiteY1" fmla="*/ 563462 h 1092095"/>
                <a:gd name="connsiteX2" fmla="*/ 281899 w 696889"/>
                <a:gd name="connsiteY2" fmla="*/ 1077412 h 1092095"/>
                <a:gd name="connsiteX3" fmla="*/ 638712 w 696889"/>
                <a:gd name="connsiteY3" fmla="*/ 853269 h 1092095"/>
                <a:gd name="connsiteX4" fmla="*/ 610307 w 696889"/>
                <a:gd name="connsiteY4" fmla="*/ 131877 h 1092095"/>
                <a:gd name="connsiteX5" fmla="*/ 374434 w 696889"/>
                <a:gd name="connsiteY5" fmla="*/ 37893 h 1092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6889" h="1092095">
                  <a:moveTo>
                    <a:pt x="374434" y="37893"/>
                  </a:moveTo>
                  <a:cubicBezTo>
                    <a:pt x="272864" y="109824"/>
                    <a:pt x="16307" y="390209"/>
                    <a:pt x="884" y="563462"/>
                  </a:cubicBezTo>
                  <a:cubicBezTo>
                    <a:pt x="-14539" y="736715"/>
                    <a:pt x="175594" y="1029111"/>
                    <a:pt x="281899" y="1077412"/>
                  </a:cubicBezTo>
                  <a:cubicBezTo>
                    <a:pt x="388204" y="1125713"/>
                    <a:pt x="513320" y="1055826"/>
                    <a:pt x="638712" y="853269"/>
                  </a:cubicBezTo>
                  <a:cubicBezTo>
                    <a:pt x="764104" y="650712"/>
                    <a:pt x="654353" y="267773"/>
                    <a:pt x="610307" y="131877"/>
                  </a:cubicBezTo>
                  <a:cubicBezTo>
                    <a:pt x="566261" y="-4019"/>
                    <a:pt x="476004" y="-34038"/>
                    <a:pt x="374434" y="37893"/>
                  </a:cubicBezTo>
                  <a:close/>
                </a:path>
              </a:pathLst>
            </a:custGeom>
            <a:solidFill>
              <a:srgbClr val="F5F58F"/>
            </a:solidFill>
            <a:sp3d prstMaterial="translucentPowder"/>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5" name="Oval 94">
              <a:extLst>
                <a:ext uri="{FF2B5EF4-FFF2-40B4-BE49-F238E27FC236}">
                  <a16:creationId xmlns:a16="http://schemas.microsoft.com/office/drawing/2014/main" id="{E4804337-9487-560C-4AB0-D5CAC87769E8}"/>
                </a:ext>
              </a:extLst>
            </p:cNvPr>
            <p:cNvSpPr/>
            <p:nvPr/>
          </p:nvSpPr>
          <p:spPr>
            <a:xfrm>
              <a:off x="8043196" y="3787659"/>
              <a:ext cx="394447" cy="313765"/>
            </a:xfrm>
            <a:prstGeom prst="ellipse">
              <a:avLst/>
            </a:prstGeom>
            <a:solidFill>
              <a:srgbClr val="EC545F"/>
            </a:solidFill>
            <a:sp3d prstMaterial="translucentPowder"/>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6" name="Oval 95">
              <a:extLst>
                <a:ext uri="{FF2B5EF4-FFF2-40B4-BE49-F238E27FC236}">
                  <a16:creationId xmlns:a16="http://schemas.microsoft.com/office/drawing/2014/main" id="{2605E92A-F289-B6E5-0E0A-07183224B954}"/>
                </a:ext>
              </a:extLst>
            </p:cNvPr>
            <p:cNvSpPr/>
            <p:nvPr/>
          </p:nvSpPr>
          <p:spPr>
            <a:xfrm>
              <a:off x="7622888" y="3106569"/>
              <a:ext cx="394447" cy="313765"/>
            </a:xfrm>
            <a:prstGeom prst="ellipse">
              <a:avLst/>
            </a:prstGeom>
            <a:solidFill>
              <a:srgbClr val="EC545F"/>
            </a:solidFill>
            <a:sp3d prstMaterial="translucentPowder"/>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7BCAE2A2-5787-3DB7-3883-A8F061E269FE}"/>
                    </a:ext>
                  </a:extLst>
                </p:cNvPr>
                <p:cNvSpPr txBox="1"/>
                <p:nvPr/>
              </p:nvSpPr>
              <p:spPr>
                <a:xfrm>
                  <a:off x="3894521" y="4223595"/>
                  <a:ext cx="279859" cy="369332"/>
                </a:xfrm>
                <a:prstGeom prst="rect">
                  <a:avLst/>
                </a:prstGeom>
                <a:noFill/>
                <a:sp3d prstMaterial="translucentPowder"/>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𝑠</m:t>
                            </m:r>
                          </m:e>
                          <m:sub>
                            <m:r>
                              <a:rPr lang="en-CA" b="0" i="1" smtClean="0">
                                <a:latin typeface="Cambria Math" panose="02040503050406030204" pitchFamily="18" charset="0"/>
                              </a:rPr>
                              <m:t>1</m:t>
                            </m:r>
                          </m:sub>
                        </m:sSub>
                      </m:oMath>
                    </m:oMathPara>
                  </a14:m>
                  <a:endParaRPr lang="en-CA" dirty="0"/>
                </a:p>
              </p:txBody>
            </p:sp>
          </mc:Choice>
          <mc:Fallback xmlns="">
            <p:sp>
              <p:nvSpPr>
                <p:cNvPr id="67" name="TextBox 66">
                  <a:extLst>
                    <a:ext uri="{FF2B5EF4-FFF2-40B4-BE49-F238E27FC236}">
                      <a16:creationId xmlns:a16="http://schemas.microsoft.com/office/drawing/2014/main" id="{B47E1785-B457-8CF6-B5E7-1EDC25238A06}"/>
                    </a:ext>
                  </a:extLst>
                </p:cNvPr>
                <p:cNvSpPr txBox="1">
                  <a:spLocks noRot="1" noChangeAspect="1" noMove="1" noResize="1" noEditPoints="1" noAdjustHandles="1" noChangeArrowheads="1" noChangeShapeType="1" noTextEdit="1"/>
                </p:cNvSpPr>
                <p:nvPr/>
              </p:nvSpPr>
              <p:spPr>
                <a:xfrm>
                  <a:off x="3894521" y="4223595"/>
                  <a:ext cx="279859" cy="369332"/>
                </a:xfrm>
                <a:prstGeom prst="rect">
                  <a:avLst/>
                </a:prstGeom>
                <a:blipFill>
                  <a:blip r:embed="rId2"/>
                  <a:stretch>
                    <a:fillRect r="-23913"/>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98" name="TextBox 97">
                  <a:extLst>
                    <a:ext uri="{FF2B5EF4-FFF2-40B4-BE49-F238E27FC236}">
                      <a16:creationId xmlns:a16="http://schemas.microsoft.com/office/drawing/2014/main" id="{50ECCB86-7142-494C-AAC3-F977E6E84F8E}"/>
                    </a:ext>
                  </a:extLst>
                </p:cNvPr>
                <p:cNvSpPr txBox="1"/>
                <p:nvPr/>
              </p:nvSpPr>
              <p:spPr>
                <a:xfrm>
                  <a:off x="4215586" y="2243755"/>
                  <a:ext cx="279859" cy="369332"/>
                </a:xfrm>
                <a:prstGeom prst="rect">
                  <a:avLst/>
                </a:prstGeom>
                <a:noFill/>
                <a:sp3d prstMaterial="translucentPowder"/>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𝑠</m:t>
                            </m:r>
                          </m:e>
                          <m:sub>
                            <m:r>
                              <a:rPr lang="en-CA" b="0" i="1" smtClean="0">
                                <a:latin typeface="Cambria Math" panose="02040503050406030204" pitchFamily="18" charset="0"/>
                              </a:rPr>
                              <m:t>5</m:t>
                            </m:r>
                          </m:sub>
                        </m:sSub>
                      </m:oMath>
                    </m:oMathPara>
                  </a14:m>
                  <a:endParaRPr lang="en-CA" dirty="0"/>
                </a:p>
              </p:txBody>
            </p:sp>
          </mc:Choice>
          <mc:Fallback xmlns="">
            <p:sp>
              <p:nvSpPr>
                <p:cNvPr id="68" name="TextBox 67">
                  <a:extLst>
                    <a:ext uri="{FF2B5EF4-FFF2-40B4-BE49-F238E27FC236}">
                      <a16:creationId xmlns:a16="http://schemas.microsoft.com/office/drawing/2014/main" id="{C4476D1B-B897-33A4-4FC0-6C499FB35B1E}"/>
                    </a:ext>
                  </a:extLst>
                </p:cNvPr>
                <p:cNvSpPr txBox="1">
                  <a:spLocks noRot="1" noChangeAspect="1" noMove="1" noResize="1" noEditPoints="1" noAdjustHandles="1" noChangeArrowheads="1" noChangeShapeType="1" noTextEdit="1"/>
                </p:cNvSpPr>
                <p:nvPr/>
              </p:nvSpPr>
              <p:spPr>
                <a:xfrm>
                  <a:off x="4215586" y="2243755"/>
                  <a:ext cx="279859" cy="369332"/>
                </a:xfrm>
                <a:prstGeom prst="rect">
                  <a:avLst/>
                </a:prstGeom>
                <a:blipFill>
                  <a:blip r:embed="rId3"/>
                  <a:stretch>
                    <a:fillRect r="-26087"/>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7BF0E5BA-1F70-1988-0603-81B8D34CB01B}"/>
                    </a:ext>
                  </a:extLst>
                </p:cNvPr>
                <p:cNvSpPr txBox="1"/>
                <p:nvPr/>
              </p:nvSpPr>
              <p:spPr>
                <a:xfrm>
                  <a:off x="3725811" y="2663567"/>
                  <a:ext cx="279859" cy="369332"/>
                </a:xfrm>
                <a:prstGeom prst="rect">
                  <a:avLst/>
                </a:prstGeom>
                <a:noFill/>
                <a:sp3d prstMaterial="translucentPowder"/>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𝑠</m:t>
                            </m:r>
                          </m:e>
                          <m:sub>
                            <m:r>
                              <a:rPr lang="en-CA" b="0" i="1" smtClean="0">
                                <a:latin typeface="Cambria Math" panose="02040503050406030204" pitchFamily="18" charset="0"/>
                              </a:rPr>
                              <m:t>4</m:t>
                            </m:r>
                          </m:sub>
                        </m:sSub>
                      </m:oMath>
                    </m:oMathPara>
                  </a14:m>
                  <a:endParaRPr lang="en-CA" dirty="0"/>
                </a:p>
              </p:txBody>
            </p:sp>
          </mc:Choice>
          <mc:Fallback xmlns="">
            <p:sp>
              <p:nvSpPr>
                <p:cNvPr id="69" name="TextBox 68">
                  <a:extLst>
                    <a:ext uri="{FF2B5EF4-FFF2-40B4-BE49-F238E27FC236}">
                      <a16:creationId xmlns:a16="http://schemas.microsoft.com/office/drawing/2014/main" id="{04B7F03A-5032-AF6F-2BC5-C239321495F5}"/>
                    </a:ext>
                  </a:extLst>
                </p:cNvPr>
                <p:cNvSpPr txBox="1">
                  <a:spLocks noRot="1" noChangeAspect="1" noMove="1" noResize="1" noEditPoints="1" noAdjustHandles="1" noChangeArrowheads="1" noChangeShapeType="1" noTextEdit="1"/>
                </p:cNvSpPr>
                <p:nvPr/>
              </p:nvSpPr>
              <p:spPr>
                <a:xfrm>
                  <a:off x="3725811" y="2663567"/>
                  <a:ext cx="279859" cy="369332"/>
                </a:xfrm>
                <a:prstGeom prst="rect">
                  <a:avLst/>
                </a:prstGeom>
                <a:blipFill>
                  <a:blip r:embed="rId4"/>
                  <a:stretch>
                    <a:fillRect r="-24444"/>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475157A1-7D24-5233-7440-B774E822A2F3}"/>
                    </a:ext>
                  </a:extLst>
                </p:cNvPr>
                <p:cNvSpPr txBox="1"/>
                <p:nvPr/>
              </p:nvSpPr>
              <p:spPr>
                <a:xfrm>
                  <a:off x="3723150" y="3205456"/>
                  <a:ext cx="279859" cy="369332"/>
                </a:xfrm>
                <a:prstGeom prst="rect">
                  <a:avLst/>
                </a:prstGeom>
                <a:noFill/>
                <a:sp3d prstMaterial="translucentPowder"/>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𝑠</m:t>
                            </m:r>
                          </m:e>
                          <m:sub>
                            <m:r>
                              <a:rPr lang="en-CA" b="0" i="1" smtClean="0">
                                <a:latin typeface="Cambria Math" panose="02040503050406030204" pitchFamily="18" charset="0"/>
                              </a:rPr>
                              <m:t>3</m:t>
                            </m:r>
                          </m:sub>
                        </m:sSub>
                      </m:oMath>
                    </m:oMathPara>
                  </a14:m>
                  <a:endParaRPr lang="en-CA" dirty="0"/>
                </a:p>
              </p:txBody>
            </p:sp>
          </mc:Choice>
          <mc:Fallback xmlns="">
            <p:sp>
              <p:nvSpPr>
                <p:cNvPr id="70" name="TextBox 69">
                  <a:extLst>
                    <a:ext uri="{FF2B5EF4-FFF2-40B4-BE49-F238E27FC236}">
                      <a16:creationId xmlns:a16="http://schemas.microsoft.com/office/drawing/2014/main" id="{076028D6-8BDC-A3A4-C0D2-344C3DC9A705}"/>
                    </a:ext>
                  </a:extLst>
                </p:cNvPr>
                <p:cNvSpPr txBox="1">
                  <a:spLocks noRot="1" noChangeAspect="1" noMove="1" noResize="1" noEditPoints="1" noAdjustHandles="1" noChangeArrowheads="1" noChangeShapeType="1" noTextEdit="1"/>
                </p:cNvSpPr>
                <p:nvPr/>
              </p:nvSpPr>
              <p:spPr>
                <a:xfrm>
                  <a:off x="3723150" y="3205456"/>
                  <a:ext cx="279859" cy="369332"/>
                </a:xfrm>
                <a:prstGeom prst="rect">
                  <a:avLst/>
                </a:prstGeom>
                <a:blipFill>
                  <a:blip r:embed="rId5"/>
                  <a:stretch>
                    <a:fillRect r="-26087"/>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1D4C25AC-6FBE-DF8E-F56D-0AEBDFFCF109}"/>
                    </a:ext>
                  </a:extLst>
                </p:cNvPr>
                <p:cNvSpPr txBox="1"/>
                <p:nvPr/>
              </p:nvSpPr>
              <p:spPr>
                <a:xfrm>
                  <a:off x="3643717" y="3703490"/>
                  <a:ext cx="279859" cy="369332"/>
                </a:xfrm>
                <a:prstGeom prst="rect">
                  <a:avLst/>
                </a:prstGeom>
                <a:noFill/>
                <a:sp3d prstMaterial="translucentPowder"/>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𝑠</m:t>
                            </m:r>
                          </m:e>
                          <m:sub>
                            <m:r>
                              <a:rPr lang="en-CA" b="0" i="1" smtClean="0">
                                <a:latin typeface="Cambria Math" panose="02040503050406030204" pitchFamily="18" charset="0"/>
                              </a:rPr>
                              <m:t>2</m:t>
                            </m:r>
                          </m:sub>
                        </m:sSub>
                      </m:oMath>
                    </m:oMathPara>
                  </a14:m>
                  <a:endParaRPr lang="en-CA" dirty="0"/>
                </a:p>
              </p:txBody>
            </p:sp>
          </mc:Choice>
          <mc:Fallback xmlns="">
            <p:sp>
              <p:nvSpPr>
                <p:cNvPr id="71" name="TextBox 70">
                  <a:extLst>
                    <a:ext uri="{FF2B5EF4-FFF2-40B4-BE49-F238E27FC236}">
                      <a16:creationId xmlns:a16="http://schemas.microsoft.com/office/drawing/2014/main" id="{36326738-C33A-14B0-9DB8-CC3EB949EAFC}"/>
                    </a:ext>
                  </a:extLst>
                </p:cNvPr>
                <p:cNvSpPr txBox="1">
                  <a:spLocks noRot="1" noChangeAspect="1" noMove="1" noResize="1" noEditPoints="1" noAdjustHandles="1" noChangeArrowheads="1" noChangeShapeType="1" noTextEdit="1"/>
                </p:cNvSpPr>
                <p:nvPr/>
              </p:nvSpPr>
              <p:spPr>
                <a:xfrm>
                  <a:off x="3643717" y="3703490"/>
                  <a:ext cx="279859" cy="369332"/>
                </a:xfrm>
                <a:prstGeom prst="rect">
                  <a:avLst/>
                </a:prstGeom>
                <a:blipFill>
                  <a:blip r:embed="rId6"/>
                  <a:stretch>
                    <a:fillRect r="-26087"/>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519ABDA4-AF78-A363-19D0-E88A35F9B115}"/>
                    </a:ext>
                  </a:extLst>
                </p:cNvPr>
                <p:cNvSpPr txBox="1"/>
                <p:nvPr/>
              </p:nvSpPr>
              <p:spPr>
                <a:xfrm>
                  <a:off x="5563845" y="2455697"/>
                  <a:ext cx="279859" cy="369332"/>
                </a:xfrm>
                <a:prstGeom prst="rect">
                  <a:avLst/>
                </a:prstGeom>
                <a:noFill/>
                <a:sp3d prstMaterial="translucentPowder"/>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𝑐</m:t>
                            </m:r>
                          </m:e>
                          <m:sub>
                            <m:r>
                              <a:rPr lang="en-CA" b="0" i="1" smtClean="0">
                                <a:latin typeface="Cambria Math" panose="02040503050406030204" pitchFamily="18" charset="0"/>
                              </a:rPr>
                              <m:t>1</m:t>
                            </m:r>
                          </m:sub>
                        </m:sSub>
                      </m:oMath>
                    </m:oMathPara>
                  </a14:m>
                  <a:endParaRPr lang="en-CA" dirty="0"/>
                </a:p>
              </p:txBody>
            </p:sp>
          </mc:Choice>
          <mc:Fallback xmlns="">
            <p:sp>
              <p:nvSpPr>
                <p:cNvPr id="102" name="TextBox 101">
                  <a:extLst>
                    <a:ext uri="{FF2B5EF4-FFF2-40B4-BE49-F238E27FC236}">
                      <a16:creationId xmlns:a16="http://schemas.microsoft.com/office/drawing/2014/main" id="{519ABDA4-AF78-A363-19D0-E88A35F9B115}"/>
                    </a:ext>
                  </a:extLst>
                </p:cNvPr>
                <p:cNvSpPr txBox="1">
                  <a:spLocks noRot="1" noChangeAspect="1" noMove="1" noResize="1" noEditPoints="1" noAdjustHandles="1" noChangeArrowheads="1" noChangeShapeType="1" noTextEdit="1"/>
                </p:cNvSpPr>
                <p:nvPr/>
              </p:nvSpPr>
              <p:spPr>
                <a:xfrm>
                  <a:off x="5563845" y="2455697"/>
                  <a:ext cx="279859" cy="369332"/>
                </a:xfrm>
                <a:prstGeom prst="rect">
                  <a:avLst/>
                </a:prstGeom>
                <a:blipFill>
                  <a:blip r:embed="rId31"/>
                  <a:stretch>
                    <a:fillRect r="-1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BB16C19A-3938-403A-6480-D726A60D43A1}"/>
                    </a:ext>
                  </a:extLst>
                </p:cNvPr>
                <p:cNvSpPr txBox="1"/>
                <p:nvPr/>
              </p:nvSpPr>
              <p:spPr>
                <a:xfrm>
                  <a:off x="5724739" y="4000977"/>
                  <a:ext cx="279859" cy="369332"/>
                </a:xfrm>
                <a:prstGeom prst="rect">
                  <a:avLst/>
                </a:prstGeom>
                <a:noFill/>
                <a:sp3d prstMaterial="translucentPowder"/>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𝑐</m:t>
                            </m:r>
                          </m:e>
                          <m:sub>
                            <m:r>
                              <a:rPr lang="en-CA" b="0" i="1" smtClean="0">
                                <a:latin typeface="Cambria Math" panose="02040503050406030204" pitchFamily="18" charset="0"/>
                              </a:rPr>
                              <m:t>4</m:t>
                            </m:r>
                          </m:sub>
                        </m:sSub>
                      </m:oMath>
                    </m:oMathPara>
                  </a14:m>
                  <a:endParaRPr lang="en-CA" dirty="0"/>
                </a:p>
              </p:txBody>
            </p:sp>
          </mc:Choice>
          <mc:Fallback xmlns="">
            <p:sp>
              <p:nvSpPr>
                <p:cNvPr id="74" name="TextBox 73">
                  <a:extLst>
                    <a:ext uri="{FF2B5EF4-FFF2-40B4-BE49-F238E27FC236}">
                      <a16:creationId xmlns:a16="http://schemas.microsoft.com/office/drawing/2014/main" id="{10A1D373-7620-2C08-4264-16404E652629}"/>
                    </a:ext>
                  </a:extLst>
                </p:cNvPr>
                <p:cNvSpPr txBox="1">
                  <a:spLocks noRot="1" noChangeAspect="1" noMove="1" noResize="1" noEditPoints="1" noAdjustHandles="1" noChangeArrowheads="1" noChangeShapeType="1" noTextEdit="1"/>
                </p:cNvSpPr>
                <p:nvPr/>
              </p:nvSpPr>
              <p:spPr>
                <a:xfrm>
                  <a:off x="5724739" y="4000977"/>
                  <a:ext cx="279859" cy="369332"/>
                </a:xfrm>
                <a:prstGeom prst="rect">
                  <a:avLst/>
                </a:prstGeom>
                <a:blipFill>
                  <a:blip r:embed="rId8"/>
                  <a:stretch>
                    <a:fillRect r="-23913"/>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19884C1D-99F4-5916-5E43-CE1566C6B43A}"/>
                    </a:ext>
                  </a:extLst>
                </p:cNvPr>
                <p:cNvSpPr txBox="1"/>
                <p:nvPr/>
              </p:nvSpPr>
              <p:spPr>
                <a:xfrm>
                  <a:off x="6328354" y="2954374"/>
                  <a:ext cx="279859" cy="369332"/>
                </a:xfrm>
                <a:prstGeom prst="rect">
                  <a:avLst/>
                </a:prstGeom>
                <a:noFill/>
                <a:sp3d prstMaterial="translucentPowder"/>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𝑐</m:t>
                            </m:r>
                          </m:e>
                          <m:sub>
                            <m:r>
                              <a:rPr lang="en-CA" b="0" i="1" smtClean="0">
                                <a:latin typeface="Cambria Math" panose="02040503050406030204" pitchFamily="18" charset="0"/>
                              </a:rPr>
                              <m:t>3</m:t>
                            </m:r>
                          </m:sub>
                        </m:sSub>
                      </m:oMath>
                    </m:oMathPara>
                  </a14:m>
                  <a:endParaRPr lang="en-CA" dirty="0"/>
                </a:p>
              </p:txBody>
            </p:sp>
          </mc:Choice>
          <mc:Fallback xmlns="">
            <p:sp>
              <p:nvSpPr>
                <p:cNvPr id="104" name="TextBox 103">
                  <a:extLst>
                    <a:ext uri="{FF2B5EF4-FFF2-40B4-BE49-F238E27FC236}">
                      <a16:creationId xmlns:a16="http://schemas.microsoft.com/office/drawing/2014/main" id="{19884C1D-99F4-5916-5E43-CE1566C6B43A}"/>
                    </a:ext>
                  </a:extLst>
                </p:cNvPr>
                <p:cNvSpPr txBox="1">
                  <a:spLocks noRot="1" noChangeAspect="1" noMove="1" noResize="1" noEditPoints="1" noAdjustHandles="1" noChangeArrowheads="1" noChangeShapeType="1" noTextEdit="1"/>
                </p:cNvSpPr>
                <p:nvPr/>
              </p:nvSpPr>
              <p:spPr>
                <a:xfrm>
                  <a:off x="6328354" y="2954374"/>
                  <a:ext cx="279859" cy="369332"/>
                </a:xfrm>
                <a:prstGeom prst="rect">
                  <a:avLst/>
                </a:prstGeom>
                <a:blipFill>
                  <a:blip r:embed="rId32"/>
                  <a:stretch>
                    <a:fillRect r="-1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D3810325-D698-2F84-F2F9-412BEFB97E61}"/>
                    </a:ext>
                  </a:extLst>
                </p:cNvPr>
                <p:cNvSpPr txBox="1"/>
                <p:nvPr/>
              </p:nvSpPr>
              <p:spPr>
                <a:xfrm>
                  <a:off x="4909054" y="3364178"/>
                  <a:ext cx="279859" cy="369332"/>
                </a:xfrm>
                <a:prstGeom prst="rect">
                  <a:avLst/>
                </a:prstGeom>
                <a:noFill/>
                <a:sp3d prstMaterial="translucentPowder"/>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𝑐</m:t>
                            </m:r>
                          </m:e>
                          <m:sub>
                            <m:r>
                              <a:rPr lang="en-CA" b="0" i="1" smtClean="0">
                                <a:latin typeface="Cambria Math" panose="02040503050406030204" pitchFamily="18" charset="0"/>
                              </a:rPr>
                              <m:t>2</m:t>
                            </m:r>
                          </m:sub>
                        </m:sSub>
                      </m:oMath>
                    </m:oMathPara>
                  </a14:m>
                  <a:endParaRPr lang="en-CA" dirty="0"/>
                </a:p>
              </p:txBody>
            </p:sp>
          </mc:Choice>
          <mc:Fallback xmlns="">
            <p:sp>
              <p:nvSpPr>
                <p:cNvPr id="105" name="TextBox 104">
                  <a:extLst>
                    <a:ext uri="{FF2B5EF4-FFF2-40B4-BE49-F238E27FC236}">
                      <a16:creationId xmlns:a16="http://schemas.microsoft.com/office/drawing/2014/main" id="{D3810325-D698-2F84-F2F9-412BEFB97E61}"/>
                    </a:ext>
                  </a:extLst>
                </p:cNvPr>
                <p:cNvSpPr txBox="1">
                  <a:spLocks noRot="1" noChangeAspect="1" noMove="1" noResize="1" noEditPoints="1" noAdjustHandles="1" noChangeArrowheads="1" noChangeShapeType="1" noTextEdit="1"/>
                </p:cNvSpPr>
                <p:nvPr/>
              </p:nvSpPr>
              <p:spPr>
                <a:xfrm>
                  <a:off x="4909054" y="3364178"/>
                  <a:ext cx="279859" cy="369332"/>
                </a:xfrm>
                <a:prstGeom prst="rect">
                  <a:avLst/>
                </a:prstGeom>
                <a:blipFill>
                  <a:blip r:embed="rId33"/>
                  <a:stretch>
                    <a:fillRect r="-153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6" name="TextBox 105">
                  <a:extLst>
                    <a:ext uri="{FF2B5EF4-FFF2-40B4-BE49-F238E27FC236}">
                      <a16:creationId xmlns:a16="http://schemas.microsoft.com/office/drawing/2014/main" id="{F41360C9-ACDE-4CEF-1B22-CA51537128A6}"/>
                    </a:ext>
                  </a:extLst>
                </p:cNvPr>
                <p:cNvSpPr txBox="1"/>
                <p:nvPr/>
              </p:nvSpPr>
              <p:spPr>
                <a:xfrm>
                  <a:off x="7426231" y="2275240"/>
                  <a:ext cx="279859" cy="369332"/>
                </a:xfrm>
                <a:prstGeom prst="rect">
                  <a:avLst/>
                </a:prstGeom>
                <a:noFill/>
                <a:sp3d prstMaterial="translucentPowder"/>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𝑎</m:t>
                            </m:r>
                          </m:e>
                          <m:sub>
                            <m:r>
                              <a:rPr lang="en-CA" b="0" i="1" smtClean="0">
                                <a:latin typeface="Cambria Math" panose="02040503050406030204" pitchFamily="18" charset="0"/>
                              </a:rPr>
                              <m:t>1</m:t>
                            </m:r>
                          </m:sub>
                        </m:sSub>
                      </m:oMath>
                    </m:oMathPara>
                  </a14:m>
                  <a:endParaRPr lang="en-CA" dirty="0"/>
                </a:p>
              </p:txBody>
            </p:sp>
          </mc:Choice>
          <mc:Fallback xmlns="">
            <p:sp>
              <p:nvSpPr>
                <p:cNvPr id="77" name="TextBox 76">
                  <a:extLst>
                    <a:ext uri="{FF2B5EF4-FFF2-40B4-BE49-F238E27FC236}">
                      <a16:creationId xmlns:a16="http://schemas.microsoft.com/office/drawing/2014/main" id="{72780C10-CC63-277E-6F6D-9D9D7CD03FA5}"/>
                    </a:ext>
                  </a:extLst>
                </p:cNvPr>
                <p:cNvSpPr txBox="1">
                  <a:spLocks noRot="1" noChangeAspect="1" noMove="1" noResize="1" noEditPoints="1" noAdjustHandles="1" noChangeArrowheads="1" noChangeShapeType="1" noTextEdit="1"/>
                </p:cNvSpPr>
                <p:nvPr/>
              </p:nvSpPr>
              <p:spPr>
                <a:xfrm>
                  <a:off x="7426231" y="2275240"/>
                  <a:ext cx="279859" cy="369332"/>
                </a:xfrm>
                <a:prstGeom prst="rect">
                  <a:avLst/>
                </a:prstGeom>
                <a:blipFill>
                  <a:blip r:embed="rId11"/>
                  <a:stretch>
                    <a:fillRect r="-33333"/>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07" name="TextBox 106">
                  <a:extLst>
                    <a:ext uri="{FF2B5EF4-FFF2-40B4-BE49-F238E27FC236}">
                      <a16:creationId xmlns:a16="http://schemas.microsoft.com/office/drawing/2014/main" id="{03A6A1FA-F70B-940A-1309-89BA7A46726B}"/>
                    </a:ext>
                  </a:extLst>
                </p:cNvPr>
                <p:cNvSpPr txBox="1"/>
                <p:nvPr/>
              </p:nvSpPr>
              <p:spPr>
                <a:xfrm>
                  <a:off x="7111662" y="4174384"/>
                  <a:ext cx="279859" cy="369332"/>
                </a:xfrm>
                <a:prstGeom prst="rect">
                  <a:avLst/>
                </a:prstGeom>
                <a:noFill/>
                <a:sp3d prstMaterial="translucentPowder"/>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𝑎</m:t>
                            </m:r>
                          </m:e>
                          <m:sub>
                            <m:r>
                              <a:rPr lang="en-CA" b="0" i="1" smtClean="0">
                                <a:latin typeface="Cambria Math" panose="02040503050406030204" pitchFamily="18" charset="0"/>
                              </a:rPr>
                              <m:t>4</m:t>
                            </m:r>
                          </m:sub>
                        </m:sSub>
                      </m:oMath>
                    </m:oMathPara>
                  </a14:m>
                  <a:endParaRPr lang="en-CA" dirty="0"/>
                </a:p>
              </p:txBody>
            </p:sp>
          </mc:Choice>
          <mc:Fallback xmlns="">
            <p:sp>
              <p:nvSpPr>
                <p:cNvPr id="79" name="TextBox 78">
                  <a:extLst>
                    <a:ext uri="{FF2B5EF4-FFF2-40B4-BE49-F238E27FC236}">
                      <a16:creationId xmlns:a16="http://schemas.microsoft.com/office/drawing/2014/main" id="{E47A0D13-16CE-14C9-0BB7-A898D6F10738}"/>
                    </a:ext>
                  </a:extLst>
                </p:cNvPr>
                <p:cNvSpPr txBox="1">
                  <a:spLocks noRot="1" noChangeAspect="1" noMove="1" noResize="1" noEditPoints="1" noAdjustHandles="1" noChangeArrowheads="1" noChangeShapeType="1" noTextEdit="1"/>
                </p:cNvSpPr>
                <p:nvPr/>
              </p:nvSpPr>
              <p:spPr>
                <a:xfrm>
                  <a:off x="7111662" y="4174384"/>
                  <a:ext cx="279859" cy="369332"/>
                </a:xfrm>
                <a:prstGeom prst="rect">
                  <a:avLst/>
                </a:prstGeom>
                <a:blipFill>
                  <a:blip r:embed="rId12"/>
                  <a:stretch>
                    <a:fillRect r="-32609"/>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08" name="TextBox 107">
                  <a:extLst>
                    <a:ext uri="{FF2B5EF4-FFF2-40B4-BE49-F238E27FC236}">
                      <a16:creationId xmlns:a16="http://schemas.microsoft.com/office/drawing/2014/main" id="{0EC4EAA1-9C72-5CC8-69D7-C87B1F38D3C0}"/>
                    </a:ext>
                  </a:extLst>
                </p:cNvPr>
                <p:cNvSpPr txBox="1"/>
                <p:nvPr/>
              </p:nvSpPr>
              <p:spPr>
                <a:xfrm>
                  <a:off x="8047185" y="3703490"/>
                  <a:ext cx="279859" cy="369332"/>
                </a:xfrm>
                <a:prstGeom prst="rect">
                  <a:avLst/>
                </a:prstGeom>
                <a:noFill/>
                <a:sp3d prstMaterial="translucentPowder"/>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𝑎</m:t>
                            </m:r>
                          </m:e>
                          <m:sub>
                            <m:r>
                              <a:rPr lang="en-CA" b="0" i="1" smtClean="0">
                                <a:latin typeface="Cambria Math" panose="02040503050406030204" pitchFamily="18" charset="0"/>
                              </a:rPr>
                              <m:t>3</m:t>
                            </m:r>
                          </m:sub>
                        </m:sSub>
                      </m:oMath>
                    </m:oMathPara>
                  </a14:m>
                  <a:endParaRPr lang="en-CA" dirty="0"/>
                </a:p>
              </p:txBody>
            </p:sp>
          </mc:Choice>
          <mc:Fallback xmlns="">
            <p:sp>
              <p:nvSpPr>
                <p:cNvPr id="80" name="TextBox 79">
                  <a:extLst>
                    <a:ext uri="{FF2B5EF4-FFF2-40B4-BE49-F238E27FC236}">
                      <a16:creationId xmlns:a16="http://schemas.microsoft.com/office/drawing/2014/main" id="{E2088C0B-187B-CF38-82E5-DC92B5D1B1DA}"/>
                    </a:ext>
                  </a:extLst>
                </p:cNvPr>
                <p:cNvSpPr txBox="1">
                  <a:spLocks noRot="1" noChangeAspect="1" noMove="1" noResize="1" noEditPoints="1" noAdjustHandles="1" noChangeArrowheads="1" noChangeShapeType="1" noTextEdit="1"/>
                </p:cNvSpPr>
                <p:nvPr/>
              </p:nvSpPr>
              <p:spPr>
                <a:xfrm>
                  <a:off x="8047185" y="3703490"/>
                  <a:ext cx="279859" cy="369332"/>
                </a:xfrm>
                <a:prstGeom prst="rect">
                  <a:avLst/>
                </a:prstGeom>
                <a:blipFill>
                  <a:blip r:embed="rId13"/>
                  <a:stretch>
                    <a:fillRect r="-34783"/>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14A06393-A008-AD9F-086E-AA3DD76224BE}"/>
                    </a:ext>
                  </a:extLst>
                </p:cNvPr>
                <p:cNvSpPr txBox="1"/>
                <p:nvPr/>
              </p:nvSpPr>
              <p:spPr>
                <a:xfrm>
                  <a:off x="7612711" y="3023970"/>
                  <a:ext cx="279859" cy="369332"/>
                </a:xfrm>
                <a:prstGeom prst="rect">
                  <a:avLst/>
                </a:prstGeom>
                <a:noFill/>
                <a:sp3d prstMaterial="translucentPowder"/>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𝑎</m:t>
                            </m:r>
                          </m:e>
                          <m:sub>
                            <m:r>
                              <a:rPr lang="en-CA" b="0" i="1" smtClean="0">
                                <a:latin typeface="Cambria Math" panose="02040503050406030204" pitchFamily="18" charset="0"/>
                              </a:rPr>
                              <m:t>2</m:t>
                            </m:r>
                          </m:sub>
                        </m:sSub>
                      </m:oMath>
                    </m:oMathPara>
                  </a14:m>
                  <a:endParaRPr lang="en-CA" dirty="0"/>
                </a:p>
              </p:txBody>
            </p:sp>
          </mc:Choice>
          <mc:Fallback xmlns="">
            <p:sp>
              <p:nvSpPr>
                <p:cNvPr id="81" name="TextBox 80">
                  <a:extLst>
                    <a:ext uri="{FF2B5EF4-FFF2-40B4-BE49-F238E27FC236}">
                      <a16:creationId xmlns:a16="http://schemas.microsoft.com/office/drawing/2014/main" id="{D04BA911-E1DE-B808-FB02-2519CBE65D41}"/>
                    </a:ext>
                  </a:extLst>
                </p:cNvPr>
                <p:cNvSpPr txBox="1">
                  <a:spLocks noRot="1" noChangeAspect="1" noMove="1" noResize="1" noEditPoints="1" noAdjustHandles="1" noChangeArrowheads="1" noChangeShapeType="1" noTextEdit="1"/>
                </p:cNvSpPr>
                <p:nvPr/>
              </p:nvSpPr>
              <p:spPr>
                <a:xfrm>
                  <a:off x="7612711" y="3023970"/>
                  <a:ext cx="279859" cy="369332"/>
                </a:xfrm>
                <a:prstGeom prst="rect">
                  <a:avLst/>
                </a:prstGeom>
                <a:blipFill>
                  <a:blip r:embed="rId14"/>
                  <a:stretch>
                    <a:fillRect r="-34783"/>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E0A1B57C-7BC8-3922-BF5F-FB33776A03AD}"/>
                    </a:ext>
                  </a:extLst>
                </p:cNvPr>
                <p:cNvSpPr txBox="1"/>
                <p:nvPr/>
              </p:nvSpPr>
              <p:spPr>
                <a:xfrm>
                  <a:off x="3804335" y="2358325"/>
                  <a:ext cx="463550" cy="369332"/>
                </a:xfrm>
                <a:prstGeom prst="rect">
                  <a:avLst/>
                </a:prstGeom>
                <a:noFill/>
                <a:sp3d prstMaterial="translucentPowder"/>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𝑆</m:t>
                            </m:r>
                          </m:e>
                          <m:sub>
                            <m:r>
                              <a:rPr lang="en-CA" b="0" i="1" smtClean="0">
                                <a:latin typeface="Cambria Math" panose="02040503050406030204" pitchFamily="18" charset="0"/>
                              </a:rPr>
                              <m:t>3</m:t>
                            </m:r>
                          </m:sub>
                        </m:sSub>
                      </m:oMath>
                    </m:oMathPara>
                  </a14:m>
                  <a:endParaRPr lang="en-CA" dirty="0"/>
                </a:p>
              </p:txBody>
            </p:sp>
          </mc:Choice>
          <mc:Fallback xmlns="">
            <p:sp>
              <p:nvSpPr>
                <p:cNvPr id="82" name="TextBox 81">
                  <a:extLst>
                    <a:ext uri="{FF2B5EF4-FFF2-40B4-BE49-F238E27FC236}">
                      <a16:creationId xmlns:a16="http://schemas.microsoft.com/office/drawing/2014/main" id="{9DF607EF-C86E-9A78-BFF4-D56E83FF3786}"/>
                    </a:ext>
                  </a:extLst>
                </p:cNvPr>
                <p:cNvSpPr txBox="1">
                  <a:spLocks noRot="1" noChangeAspect="1" noMove="1" noResize="1" noEditPoints="1" noAdjustHandles="1" noChangeArrowheads="1" noChangeShapeType="1" noTextEdit="1"/>
                </p:cNvSpPr>
                <p:nvPr/>
              </p:nvSpPr>
              <p:spPr>
                <a:xfrm>
                  <a:off x="3804335" y="2358325"/>
                  <a:ext cx="463550" cy="369332"/>
                </a:xfrm>
                <a:prstGeom prst="rect">
                  <a:avLst/>
                </a:prstGeom>
                <a:blipFill>
                  <a:blip r:embed="rId15"/>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BB0AD428-A679-2E36-3A66-3290CA5D04F3}"/>
                    </a:ext>
                  </a:extLst>
                </p:cNvPr>
                <p:cNvSpPr txBox="1"/>
                <p:nvPr/>
              </p:nvSpPr>
              <p:spPr>
                <a:xfrm>
                  <a:off x="3319987" y="3008435"/>
                  <a:ext cx="463550" cy="369332"/>
                </a:xfrm>
                <a:prstGeom prst="rect">
                  <a:avLst/>
                </a:prstGeom>
                <a:noFill/>
                <a:sp3d prstMaterial="translucentPowder"/>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𝑆</m:t>
                            </m:r>
                          </m:e>
                          <m:sub>
                            <m:r>
                              <a:rPr lang="en-CA" b="0" i="1" smtClean="0">
                                <a:latin typeface="Cambria Math" panose="02040503050406030204" pitchFamily="18" charset="0"/>
                              </a:rPr>
                              <m:t>2</m:t>
                            </m:r>
                          </m:sub>
                        </m:sSub>
                      </m:oMath>
                    </m:oMathPara>
                  </a14:m>
                  <a:endParaRPr lang="en-CA" dirty="0"/>
                </a:p>
              </p:txBody>
            </p:sp>
          </mc:Choice>
          <mc:Fallback xmlns="">
            <p:sp>
              <p:nvSpPr>
                <p:cNvPr id="83" name="TextBox 82">
                  <a:extLst>
                    <a:ext uri="{FF2B5EF4-FFF2-40B4-BE49-F238E27FC236}">
                      <a16:creationId xmlns:a16="http://schemas.microsoft.com/office/drawing/2014/main" id="{6F470158-EEE2-D36A-7E25-6AF62F482705}"/>
                    </a:ext>
                  </a:extLst>
                </p:cNvPr>
                <p:cNvSpPr txBox="1">
                  <a:spLocks noRot="1" noChangeAspect="1" noMove="1" noResize="1" noEditPoints="1" noAdjustHandles="1" noChangeArrowheads="1" noChangeShapeType="1" noTextEdit="1"/>
                </p:cNvSpPr>
                <p:nvPr/>
              </p:nvSpPr>
              <p:spPr>
                <a:xfrm>
                  <a:off x="3319987" y="3008435"/>
                  <a:ext cx="463550" cy="369332"/>
                </a:xfrm>
                <a:prstGeom prst="rect">
                  <a:avLst/>
                </a:prstGeom>
                <a:blipFill>
                  <a:blip r:embed="rId16"/>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128C23A8-03AD-2749-4413-1891CF43A3DA}"/>
                    </a:ext>
                  </a:extLst>
                </p:cNvPr>
                <p:cNvSpPr txBox="1"/>
                <p:nvPr/>
              </p:nvSpPr>
              <p:spPr>
                <a:xfrm>
                  <a:off x="3944607" y="3937143"/>
                  <a:ext cx="463550" cy="369332"/>
                </a:xfrm>
                <a:prstGeom prst="rect">
                  <a:avLst/>
                </a:prstGeom>
                <a:noFill/>
                <a:sp3d prstMaterial="translucentPowder"/>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𝑆</m:t>
                            </m:r>
                          </m:e>
                          <m:sub>
                            <m:r>
                              <a:rPr lang="en-CA" b="0" i="1" smtClean="0">
                                <a:latin typeface="Cambria Math" panose="02040503050406030204" pitchFamily="18" charset="0"/>
                              </a:rPr>
                              <m:t>1</m:t>
                            </m:r>
                          </m:sub>
                        </m:sSub>
                      </m:oMath>
                    </m:oMathPara>
                  </a14:m>
                  <a:endParaRPr lang="en-CA" dirty="0"/>
                </a:p>
              </p:txBody>
            </p:sp>
          </mc:Choice>
          <mc:Fallback xmlns="">
            <p:sp>
              <p:nvSpPr>
                <p:cNvPr id="84" name="TextBox 83">
                  <a:extLst>
                    <a:ext uri="{FF2B5EF4-FFF2-40B4-BE49-F238E27FC236}">
                      <a16:creationId xmlns:a16="http://schemas.microsoft.com/office/drawing/2014/main" id="{F0C34748-555D-E0B0-990A-FE7AF2BBAA82}"/>
                    </a:ext>
                  </a:extLst>
                </p:cNvPr>
                <p:cNvSpPr txBox="1">
                  <a:spLocks noRot="1" noChangeAspect="1" noMove="1" noResize="1" noEditPoints="1" noAdjustHandles="1" noChangeArrowheads="1" noChangeShapeType="1" noTextEdit="1"/>
                </p:cNvSpPr>
                <p:nvPr/>
              </p:nvSpPr>
              <p:spPr>
                <a:xfrm>
                  <a:off x="3944607" y="3937143"/>
                  <a:ext cx="463550" cy="369332"/>
                </a:xfrm>
                <a:prstGeom prst="rect">
                  <a:avLst/>
                </a:prstGeom>
                <a:blipFill>
                  <a:blip r:embed="rId17"/>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8F9B2BC9-A355-FDE5-113F-D795F98BE707}"/>
                    </a:ext>
                  </a:extLst>
                </p:cNvPr>
                <p:cNvSpPr txBox="1"/>
                <p:nvPr/>
              </p:nvSpPr>
              <p:spPr>
                <a:xfrm>
                  <a:off x="7537573" y="3985174"/>
                  <a:ext cx="463550" cy="369332"/>
                </a:xfrm>
                <a:prstGeom prst="rect">
                  <a:avLst/>
                </a:prstGeom>
                <a:noFill/>
                <a:sp3d prstMaterial="translucentPowder"/>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𝐴</m:t>
                            </m:r>
                          </m:e>
                          <m:sub>
                            <m:r>
                              <a:rPr lang="en-CA" b="0" i="1" smtClean="0">
                                <a:latin typeface="Cambria Math" panose="02040503050406030204" pitchFamily="18" charset="0"/>
                              </a:rPr>
                              <m:t>4</m:t>
                            </m:r>
                          </m:sub>
                        </m:sSub>
                      </m:oMath>
                    </m:oMathPara>
                  </a14:m>
                  <a:endParaRPr lang="en-CA" dirty="0"/>
                </a:p>
              </p:txBody>
            </p:sp>
          </mc:Choice>
          <mc:Fallback xmlns="">
            <p:sp>
              <p:nvSpPr>
                <p:cNvPr id="85" name="TextBox 84">
                  <a:extLst>
                    <a:ext uri="{FF2B5EF4-FFF2-40B4-BE49-F238E27FC236}">
                      <a16:creationId xmlns:a16="http://schemas.microsoft.com/office/drawing/2014/main" id="{F648787F-10FE-3DAF-1D3F-B3E50EE3CBAA}"/>
                    </a:ext>
                  </a:extLst>
                </p:cNvPr>
                <p:cNvSpPr txBox="1">
                  <a:spLocks noRot="1" noChangeAspect="1" noMove="1" noResize="1" noEditPoints="1" noAdjustHandles="1" noChangeArrowheads="1" noChangeShapeType="1" noTextEdit="1"/>
                </p:cNvSpPr>
                <p:nvPr/>
              </p:nvSpPr>
              <p:spPr>
                <a:xfrm>
                  <a:off x="7537573" y="3985174"/>
                  <a:ext cx="463550" cy="369332"/>
                </a:xfrm>
                <a:prstGeom prst="rect">
                  <a:avLst/>
                </a:prstGeom>
                <a:blipFill>
                  <a:blip r:embed="rId18"/>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F7255642-8E30-9E28-C9B5-7BDA1F0F6AB6}"/>
                    </a:ext>
                  </a:extLst>
                </p:cNvPr>
                <p:cNvSpPr txBox="1"/>
                <p:nvPr/>
              </p:nvSpPr>
              <p:spPr>
                <a:xfrm>
                  <a:off x="7682409" y="3512574"/>
                  <a:ext cx="463550" cy="369332"/>
                </a:xfrm>
                <a:prstGeom prst="rect">
                  <a:avLst/>
                </a:prstGeom>
                <a:noFill/>
                <a:sp3d prstMaterial="translucentPowder"/>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𝐴</m:t>
                            </m:r>
                          </m:e>
                          <m:sub>
                            <m:r>
                              <a:rPr lang="en-CA" b="0" i="1" smtClean="0">
                                <a:latin typeface="Cambria Math" panose="02040503050406030204" pitchFamily="18" charset="0"/>
                              </a:rPr>
                              <m:t>3</m:t>
                            </m:r>
                          </m:sub>
                        </m:sSub>
                      </m:oMath>
                    </m:oMathPara>
                  </a14:m>
                  <a:endParaRPr lang="en-CA" dirty="0"/>
                </a:p>
              </p:txBody>
            </p:sp>
          </mc:Choice>
          <mc:Fallback xmlns="">
            <p:sp>
              <p:nvSpPr>
                <p:cNvPr id="86" name="TextBox 85">
                  <a:extLst>
                    <a:ext uri="{FF2B5EF4-FFF2-40B4-BE49-F238E27FC236}">
                      <a16:creationId xmlns:a16="http://schemas.microsoft.com/office/drawing/2014/main" id="{17579695-81FF-154A-7178-FB099368A7FF}"/>
                    </a:ext>
                  </a:extLst>
                </p:cNvPr>
                <p:cNvSpPr txBox="1">
                  <a:spLocks noRot="1" noChangeAspect="1" noMove="1" noResize="1" noEditPoints="1" noAdjustHandles="1" noChangeArrowheads="1" noChangeShapeType="1" noTextEdit="1"/>
                </p:cNvSpPr>
                <p:nvPr/>
              </p:nvSpPr>
              <p:spPr>
                <a:xfrm>
                  <a:off x="7682409" y="3512574"/>
                  <a:ext cx="463550" cy="369332"/>
                </a:xfrm>
                <a:prstGeom prst="rect">
                  <a:avLst/>
                </a:prstGeom>
                <a:blipFill>
                  <a:blip r:embed="rId19"/>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E9B0885D-2554-1920-194C-368B00D0F8C1}"/>
                    </a:ext>
                  </a:extLst>
                </p:cNvPr>
                <p:cNvSpPr txBox="1"/>
                <p:nvPr/>
              </p:nvSpPr>
              <p:spPr>
                <a:xfrm>
                  <a:off x="7993682" y="3131662"/>
                  <a:ext cx="463550" cy="369332"/>
                </a:xfrm>
                <a:prstGeom prst="rect">
                  <a:avLst/>
                </a:prstGeom>
                <a:noFill/>
                <a:sp3d prstMaterial="translucentPowder"/>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𝐴</m:t>
                            </m:r>
                          </m:e>
                          <m:sub>
                            <m:r>
                              <a:rPr lang="en-CA" b="0" i="1" smtClean="0">
                                <a:latin typeface="Cambria Math" panose="02040503050406030204" pitchFamily="18" charset="0"/>
                              </a:rPr>
                              <m:t>2</m:t>
                            </m:r>
                          </m:sub>
                        </m:sSub>
                      </m:oMath>
                    </m:oMathPara>
                  </a14:m>
                  <a:endParaRPr lang="en-CA" dirty="0"/>
                </a:p>
              </p:txBody>
            </p:sp>
          </mc:Choice>
          <mc:Fallback xmlns="">
            <p:sp>
              <p:nvSpPr>
                <p:cNvPr id="87" name="TextBox 86">
                  <a:extLst>
                    <a:ext uri="{FF2B5EF4-FFF2-40B4-BE49-F238E27FC236}">
                      <a16:creationId xmlns:a16="http://schemas.microsoft.com/office/drawing/2014/main" id="{EE414595-9322-13A1-6A8E-4F606BF859EB}"/>
                    </a:ext>
                  </a:extLst>
                </p:cNvPr>
                <p:cNvSpPr txBox="1">
                  <a:spLocks noRot="1" noChangeAspect="1" noMove="1" noResize="1" noEditPoints="1" noAdjustHandles="1" noChangeArrowheads="1" noChangeShapeType="1" noTextEdit="1"/>
                </p:cNvSpPr>
                <p:nvPr/>
              </p:nvSpPr>
              <p:spPr>
                <a:xfrm>
                  <a:off x="7993682" y="3131662"/>
                  <a:ext cx="463550" cy="369332"/>
                </a:xfrm>
                <a:prstGeom prst="rect">
                  <a:avLst/>
                </a:prstGeom>
                <a:blipFill>
                  <a:blip r:embed="rId20"/>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16" name="TextBox 115">
                  <a:extLst>
                    <a:ext uri="{FF2B5EF4-FFF2-40B4-BE49-F238E27FC236}">
                      <a16:creationId xmlns:a16="http://schemas.microsoft.com/office/drawing/2014/main" id="{85A0C550-ED01-4711-E3E4-A4F5D9007234}"/>
                    </a:ext>
                  </a:extLst>
                </p:cNvPr>
                <p:cNvSpPr txBox="1"/>
                <p:nvPr/>
              </p:nvSpPr>
              <p:spPr>
                <a:xfrm>
                  <a:off x="7619101" y="2580832"/>
                  <a:ext cx="463550" cy="369332"/>
                </a:xfrm>
                <a:prstGeom prst="rect">
                  <a:avLst/>
                </a:prstGeom>
                <a:noFill/>
                <a:sp3d prstMaterial="translucentPowder"/>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𝐴</m:t>
                            </m:r>
                          </m:e>
                          <m:sub>
                            <m:r>
                              <a:rPr lang="en-CA" b="0" i="1" smtClean="0">
                                <a:latin typeface="Cambria Math" panose="02040503050406030204" pitchFamily="18" charset="0"/>
                              </a:rPr>
                              <m:t>1</m:t>
                            </m:r>
                          </m:sub>
                        </m:sSub>
                      </m:oMath>
                    </m:oMathPara>
                  </a14:m>
                  <a:endParaRPr lang="en-CA" dirty="0"/>
                </a:p>
              </p:txBody>
            </p:sp>
          </mc:Choice>
          <mc:Fallback xmlns="">
            <p:sp>
              <p:nvSpPr>
                <p:cNvPr id="88" name="TextBox 87">
                  <a:extLst>
                    <a:ext uri="{FF2B5EF4-FFF2-40B4-BE49-F238E27FC236}">
                      <a16:creationId xmlns:a16="http://schemas.microsoft.com/office/drawing/2014/main" id="{E351F1D7-2265-B234-B87F-5FA7F1349284}"/>
                    </a:ext>
                  </a:extLst>
                </p:cNvPr>
                <p:cNvSpPr txBox="1">
                  <a:spLocks noRot="1" noChangeAspect="1" noMove="1" noResize="1" noEditPoints="1" noAdjustHandles="1" noChangeArrowheads="1" noChangeShapeType="1" noTextEdit="1"/>
                </p:cNvSpPr>
                <p:nvPr/>
              </p:nvSpPr>
              <p:spPr>
                <a:xfrm>
                  <a:off x="7619101" y="2580832"/>
                  <a:ext cx="463550" cy="369332"/>
                </a:xfrm>
                <a:prstGeom prst="rect">
                  <a:avLst/>
                </a:prstGeom>
                <a:blipFill>
                  <a:blip r:embed="rId21"/>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17" name="TextBox 116">
                  <a:extLst>
                    <a:ext uri="{FF2B5EF4-FFF2-40B4-BE49-F238E27FC236}">
                      <a16:creationId xmlns:a16="http://schemas.microsoft.com/office/drawing/2014/main" id="{F58C1F82-FBFD-13F6-E03D-51B0B961683C}"/>
                    </a:ext>
                  </a:extLst>
                </p:cNvPr>
                <p:cNvSpPr txBox="1"/>
                <p:nvPr/>
              </p:nvSpPr>
              <p:spPr>
                <a:xfrm>
                  <a:off x="5637456" y="4463851"/>
                  <a:ext cx="463550" cy="369332"/>
                </a:xfrm>
                <a:prstGeom prst="rect">
                  <a:avLst/>
                </a:prstGeom>
                <a:noFill/>
                <a:sp3d prstMaterial="translucentPowder"/>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𝐶</m:t>
                            </m:r>
                          </m:e>
                          <m:sub>
                            <m:r>
                              <a:rPr lang="en-CA" b="0" i="1" smtClean="0">
                                <a:latin typeface="Cambria Math" panose="02040503050406030204" pitchFamily="18" charset="0"/>
                              </a:rPr>
                              <m:t>3</m:t>
                            </m:r>
                          </m:sub>
                        </m:sSub>
                      </m:oMath>
                    </m:oMathPara>
                  </a14:m>
                  <a:endParaRPr lang="en-CA" dirty="0"/>
                </a:p>
              </p:txBody>
            </p:sp>
          </mc:Choice>
          <mc:Fallback xmlns="">
            <p:sp>
              <p:nvSpPr>
                <p:cNvPr id="89" name="TextBox 88">
                  <a:extLst>
                    <a:ext uri="{FF2B5EF4-FFF2-40B4-BE49-F238E27FC236}">
                      <a16:creationId xmlns:a16="http://schemas.microsoft.com/office/drawing/2014/main" id="{16DCA6AA-673D-774D-C2CC-7E83B1B2210D}"/>
                    </a:ext>
                  </a:extLst>
                </p:cNvPr>
                <p:cNvSpPr txBox="1">
                  <a:spLocks noRot="1" noChangeAspect="1" noMove="1" noResize="1" noEditPoints="1" noAdjustHandles="1" noChangeArrowheads="1" noChangeShapeType="1" noTextEdit="1"/>
                </p:cNvSpPr>
                <p:nvPr/>
              </p:nvSpPr>
              <p:spPr>
                <a:xfrm>
                  <a:off x="5637456" y="4463851"/>
                  <a:ext cx="463550" cy="369332"/>
                </a:xfrm>
                <a:prstGeom prst="rect">
                  <a:avLst/>
                </a:prstGeom>
                <a:blipFill>
                  <a:blip r:embed="rId22"/>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18" name="TextBox 117">
                  <a:extLst>
                    <a:ext uri="{FF2B5EF4-FFF2-40B4-BE49-F238E27FC236}">
                      <a16:creationId xmlns:a16="http://schemas.microsoft.com/office/drawing/2014/main" id="{54659CA7-A031-F533-CE6E-DDF98D3D2C00}"/>
                    </a:ext>
                  </a:extLst>
                </p:cNvPr>
                <p:cNvSpPr txBox="1"/>
                <p:nvPr/>
              </p:nvSpPr>
              <p:spPr>
                <a:xfrm>
                  <a:off x="6005279" y="2630752"/>
                  <a:ext cx="463550" cy="369332"/>
                </a:xfrm>
                <a:prstGeom prst="rect">
                  <a:avLst/>
                </a:prstGeom>
                <a:noFill/>
                <a:sp3d prstMaterial="translucentPowder"/>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𝐶</m:t>
                            </m:r>
                          </m:e>
                          <m:sub>
                            <m:r>
                              <a:rPr lang="en-CA" b="0" i="1" smtClean="0">
                                <a:latin typeface="Cambria Math" panose="02040503050406030204" pitchFamily="18" charset="0"/>
                              </a:rPr>
                              <m:t>2</m:t>
                            </m:r>
                          </m:sub>
                        </m:sSub>
                      </m:oMath>
                    </m:oMathPara>
                  </a14:m>
                  <a:endParaRPr lang="en-CA" dirty="0"/>
                </a:p>
              </p:txBody>
            </p:sp>
          </mc:Choice>
          <mc:Fallback xmlns="">
            <p:sp>
              <p:nvSpPr>
                <p:cNvPr id="118" name="TextBox 117">
                  <a:extLst>
                    <a:ext uri="{FF2B5EF4-FFF2-40B4-BE49-F238E27FC236}">
                      <a16:creationId xmlns:a16="http://schemas.microsoft.com/office/drawing/2014/main" id="{54659CA7-A031-F533-CE6E-DDF98D3D2C00}"/>
                    </a:ext>
                  </a:extLst>
                </p:cNvPr>
                <p:cNvSpPr txBox="1">
                  <a:spLocks noRot="1" noChangeAspect="1" noMove="1" noResize="1" noEditPoints="1" noAdjustHandles="1" noChangeArrowheads="1" noChangeShapeType="1" noTextEdit="1"/>
                </p:cNvSpPr>
                <p:nvPr/>
              </p:nvSpPr>
              <p:spPr>
                <a:xfrm>
                  <a:off x="6005279" y="2630752"/>
                  <a:ext cx="463550" cy="369332"/>
                </a:xfrm>
                <a:prstGeom prst="rect">
                  <a:avLst/>
                </a:prstGeom>
                <a:blipFill>
                  <a:blip r:embed="rId3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9" name="TextBox 118">
                  <a:extLst>
                    <a:ext uri="{FF2B5EF4-FFF2-40B4-BE49-F238E27FC236}">
                      <a16:creationId xmlns:a16="http://schemas.microsoft.com/office/drawing/2014/main" id="{A9241EC3-0A76-AE1B-53BE-EBD604901296}"/>
                    </a:ext>
                  </a:extLst>
                </p:cNvPr>
                <p:cNvSpPr txBox="1"/>
                <p:nvPr/>
              </p:nvSpPr>
              <p:spPr>
                <a:xfrm>
                  <a:off x="5206123" y="2955903"/>
                  <a:ext cx="463550" cy="369332"/>
                </a:xfrm>
                <a:prstGeom prst="rect">
                  <a:avLst/>
                </a:prstGeom>
                <a:noFill/>
                <a:sp3d prstMaterial="translucentPowder"/>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𝐶</m:t>
                            </m:r>
                          </m:e>
                          <m:sub>
                            <m:r>
                              <a:rPr lang="en-CA" b="0" i="1" smtClean="0">
                                <a:latin typeface="Cambria Math" panose="02040503050406030204" pitchFamily="18" charset="0"/>
                              </a:rPr>
                              <m:t>1</m:t>
                            </m:r>
                          </m:sub>
                        </m:sSub>
                      </m:oMath>
                    </m:oMathPara>
                  </a14:m>
                  <a:endParaRPr lang="en-CA" dirty="0"/>
                </a:p>
              </p:txBody>
            </p:sp>
          </mc:Choice>
          <mc:Fallback xmlns="">
            <p:sp>
              <p:nvSpPr>
                <p:cNvPr id="119" name="TextBox 118">
                  <a:extLst>
                    <a:ext uri="{FF2B5EF4-FFF2-40B4-BE49-F238E27FC236}">
                      <a16:creationId xmlns:a16="http://schemas.microsoft.com/office/drawing/2014/main" id="{A9241EC3-0A76-AE1B-53BE-EBD604901296}"/>
                    </a:ext>
                  </a:extLst>
                </p:cNvPr>
                <p:cNvSpPr txBox="1">
                  <a:spLocks noRot="1" noChangeAspect="1" noMove="1" noResize="1" noEditPoints="1" noAdjustHandles="1" noChangeArrowheads="1" noChangeShapeType="1" noTextEdit="1"/>
                </p:cNvSpPr>
                <p:nvPr/>
              </p:nvSpPr>
              <p:spPr>
                <a:xfrm>
                  <a:off x="5206123" y="2955903"/>
                  <a:ext cx="463550" cy="369332"/>
                </a:xfrm>
                <a:prstGeom prst="rect">
                  <a:avLst/>
                </a:prstGeom>
                <a:blipFill>
                  <a:blip r:embed="rId3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0" name="TextBox 119">
                  <a:extLst>
                    <a:ext uri="{FF2B5EF4-FFF2-40B4-BE49-F238E27FC236}">
                      <a16:creationId xmlns:a16="http://schemas.microsoft.com/office/drawing/2014/main" id="{CB14D4E1-76BA-AC82-809F-EF9F3D47F8E0}"/>
                    </a:ext>
                  </a:extLst>
                </p:cNvPr>
                <p:cNvSpPr txBox="1"/>
                <p:nvPr/>
              </p:nvSpPr>
              <p:spPr>
                <a:xfrm rot="21307354">
                  <a:off x="4626697" y="4303433"/>
                  <a:ext cx="836205" cy="276999"/>
                </a:xfrm>
                <a:prstGeom prst="rect">
                  <a:avLst/>
                </a:prstGeom>
                <a:noFill/>
                <a:sp3d prstMaterial="translucentPowder"/>
              </p:spPr>
              <p:txBody>
                <a:bodyPr wrap="square" rtlCol="0">
                  <a:spAutoFit/>
                </a:bodyPr>
                <a:lstStyle/>
                <a:p>
                  <a:pPr/>
                  <a14:m>
                    <m:oMathPara xmlns:m="http://schemas.openxmlformats.org/officeDocument/2006/math">
                      <m:oMathParaPr>
                        <m:jc m:val="centerGroup"/>
                      </m:oMathParaPr>
                      <m:oMath xmlns:m="http://schemas.openxmlformats.org/officeDocument/2006/math">
                        <m:r>
                          <a:rPr lang="en-CA" sz="1200" b="0" i="1" smtClean="0">
                            <a:latin typeface="Cambria Math" panose="02040503050406030204" pitchFamily="18" charset="0"/>
                          </a:rPr>
                          <m:t>h</m:t>
                        </m:r>
                        <m:r>
                          <a:rPr lang="en-CA" sz="1200" b="0" i="1" smtClean="0">
                            <a:latin typeface="Cambria Math" panose="02040503050406030204" pitchFamily="18" charset="0"/>
                          </a:rPr>
                          <m:t>(</m:t>
                        </m:r>
                        <m:sSub>
                          <m:sSubPr>
                            <m:ctrlPr>
                              <a:rPr lang="en-CA" sz="1200" b="0" i="1" smtClean="0">
                                <a:latin typeface="Cambria Math" panose="02040503050406030204" pitchFamily="18" charset="0"/>
                              </a:rPr>
                            </m:ctrlPr>
                          </m:sSubPr>
                          <m:e>
                            <m:r>
                              <a:rPr lang="en-US" sz="1200" b="0" i="1" smtClean="0">
                                <a:latin typeface="Cambria Math" panose="02040503050406030204" pitchFamily="18" charset="0"/>
                              </a:rPr>
                              <m:t>𝑆</m:t>
                            </m:r>
                          </m:e>
                          <m:sub>
                            <m:r>
                              <a:rPr lang="en-US" sz="1200" b="0" i="1" smtClean="0">
                                <a:latin typeface="Cambria Math" panose="02040503050406030204" pitchFamily="18" charset="0"/>
                              </a:rPr>
                              <m:t>1</m:t>
                            </m:r>
                          </m:sub>
                        </m:sSub>
                        <m:r>
                          <a:rPr lang="en-US" sz="1200" b="0" i="1" smtClean="0">
                            <a:latin typeface="Cambria Math" panose="02040503050406030204" pitchFamily="18" charset="0"/>
                          </a:rPr>
                          <m:t>,</m:t>
                        </m:r>
                        <m:sSub>
                          <m:sSubPr>
                            <m:ctrlPr>
                              <a:rPr lang="en-CA" sz="1200" b="0" i="1" smtClean="0">
                                <a:latin typeface="Cambria Math" panose="02040503050406030204" pitchFamily="18" charset="0"/>
                              </a:rPr>
                            </m:ctrlPr>
                          </m:sSubPr>
                          <m:e>
                            <m:r>
                              <a:rPr lang="en-US" sz="1200" b="0" i="1" smtClean="0">
                                <a:latin typeface="Cambria Math" panose="02040503050406030204" pitchFamily="18" charset="0"/>
                              </a:rPr>
                              <m:t>𝐶</m:t>
                            </m:r>
                          </m:e>
                          <m:sub>
                            <m:r>
                              <a:rPr lang="en-US" sz="1200" b="0" i="1" smtClean="0">
                                <a:latin typeface="Cambria Math" panose="02040503050406030204" pitchFamily="18" charset="0"/>
                              </a:rPr>
                              <m:t>3</m:t>
                            </m:r>
                          </m:sub>
                        </m:sSub>
                        <m:r>
                          <a:rPr lang="en-CA" sz="1200" b="0" i="1" smtClean="0">
                            <a:latin typeface="Cambria Math" panose="02040503050406030204" pitchFamily="18" charset="0"/>
                          </a:rPr>
                          <m:t>)</m:t>
                        </m:r>
                      </m:oMath>
                    </m:oMathPara>
                  </a14:m>
                  <a:endParaRPr lang="en-CA" sz="1200" dirty="0"/>
                </a:p>
              </p:txBody>
            </p:sp>
          </mc:Choice>
          <mc:Fallback xmlns="">
            <p:sp>
              <p:nvSpPr>
                <p:cNvPr id="93" name="TextBox 92">
                  <a:extLst>
                    <a:ext uri="{FF2B5EF4-FFF2-40B4-BE49-F238E27FC236}">
                      <a16:creationId xmlns:a16="http://schemas.microsoft.com/office/drawing/2014/main" id="{AAD04C00-7E4A-672B-C87F-F859FFD75021}"/>
                    </a:ext>
                  </a:extLst>
                </p:cNvPr>
                <p:cNvSpPr txBox="1">
                  <a:spLocks noRot="1" noChangeAspect="1" noMove="1" noResize="1" noEditPoints="1" noAdjustHandles="1" noChangeArrowheads="1" noChangeShapeType="1" noTextEdit="1"/>
                </p:cNvSpPr>
                <p:nvPr/>
              </p:nvSpPr>
              <p:spPr>
                <a:xfrm rot="21307354">
                  <a:off x="4626697" y="4303433"/>
                  <a:ext cx="836205" cy="276999"/>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1" name="TextBox 120">
                  <a:extLst>
                    <a:ext uri="{FF2B5EF4-FFF2-40B4-BE49-F238E27FC236}">
                      <a16:creationId xmlns:a16="http://schemas.microsoft.com/office/drawing/2014/main" id="{A8AFBD1B-8046-E9E1-E60B-5A5C695E1C04}"/>
                    </a:ext>
                  </a:extLst>
                </p:cNvPr>
                <p:cNvSpPr txBox="1"/>
                <p:nvPr/>
              </p:nvSpPr>
              <p:spPr>
                <a:xfrm rot="656866">
                  <a:off x="6119700" y="4311783"/>
                  <a:ext cx="836205" cy="276999"/>
                </a:xfrm>
                <a:prstGeom prst="rect">
                  <a:avLst/>
                </a:prstGeom>
                <a:noFill/>
                <a:sp3d prstMaterial="translucentPowder"/>
              </p:spPr>
              <p:txBody>
                <a:bodyPr wrap="square" rtlCol="0">
                  <a:spAutoFit/>
                </a:bodyPr>
                <a:lstStyle/>
                <a:p>
                  <a:pPr/>
                  <a14:m>
                    <m:oMathPara xmlns:m="http://schemas.openxmlformats.org/officeDocument/2006/math">
                      <m:oMathParaPr>
                        <m:jc m:val="centerGroup"/>
                      </m:oMathParaPr>
                      <m:oMath xmlns:m="http://schemas.openxmlformats.org/officeDocument/2006/math">
                        <m:r>
                          <a:rPr lang="en-CA" sz="1200" b="0" i="1" smtClean="0">
                            <a:latin typeface="Cambria Math" panose="02040503050406030204" pitchFamily="18" charset="0"/>
                          </a:rPr>
                          <m:t>h</m:t>
                        </m:r>
                        <m:r>
                          <a:rPr lang="en-CA" sz="1200" b="0" i="1" smtClean="0">
                            <a:latin typeface="Cambria Math" panose="02040503050406030204" pitchFamily="18" charset="0"/>
                          </a:rPr>
                          <m:t>(</m:t>
                        </m:r>
                        <m:sSub>
                          <m:sSubPr>
                            <m:ctrlPr>
                              <a:rPr lang="en-CA" sz="1200" b="0" i="1" smtClean="0">
                                <a:latin typeface="Cambria Math" panose="02040503050406030204" pitchFamily="18" charset="0"/>
                              </a:rPr>
                            </m:ctrlPr>
                          </m:sSubPr>
                          <m:e>
                            <m:r>
                              <a:rPr lang="en-US" sz="1200" b="0" i="1" smtClean="0">
                                <a:latin typeface="Cambria Math" panose="02040503050406030204" pitchFamily="18" charset="0"/>
                              </a:rPr>
                              <m:t>𝐶</m:t>
                            </m:r>
                          </m:e>
                          <m:sub>
                            <m:r>
                              <a:rPr lang="en-US" sz="1200" b="0" i="1" smtClean="0">
                                <a:latin typeface="Cambria Math" panose="02040503050406030204" pitchFamily="18" charset="0"/>
                              </a:rPr>
                              <m:t>3</m:t>
                            </m:r>
                          </m:sub>
                        </m:sSub>
                        <m:r>
                          <a:rPr lang="en-US" sz="1200" b="0" i="1" smtClean="0">
                            <a:latin typeface="Cambria Math" panose="02040503050406030204" pitchFamily="18" charset="0"/>
                          </a:rPr>
                          <m:t>, </m:t>
                        </m:r>
                        <m:sSub>
                          <m:sSubPr>
                            <m:ctrlPr>
                              <a:rPr lang="en-CA" sz="1200" b="0" i="1" smtClean="0">
                                <a:latin typeface="Cambria Math" panose="02040503050406030204" pitchFamily="18" charset="0"/>
                              </a:rPr>
                            </m:ctrlPr>
                          </m:sSubPr>
                          <m:e>
                            <m:r>
                              <a:rPr lang="en-US" sz="1200" b="0" i="1" smtClean="0">
                                <a:latin typeface="Cambria Math" panose="02040503050406030204" pitchFamily="18" charset="0"/>
                              </a:rPr>
                              <m:t>𝐴</m:t>
                            </m:r>
                          </m:e>
                          <m:sub>
                            <m:r>
                              <a:rPr lang="en-US" sz="1200" b="0" i="1" smtClean="0">
                                <a:latin typeface="Cambria Math" panose="02040503050406030204" pitchFamily="18" charset="0"/>
                              </a:rPr>
                              <m:t>4</m:t>
                            </m:r>
                          </m:sub>
                        </m:sSub>
                        <m:r>
                          <a:rPr lang="en-CA" sz="1200" b="0" i="1" smtClean="0">
                            <a:latin typeface="Cambria Math" panose="02040503050406030204" pitchFamily="18" charset="0"/>
                          </a:rPr>
                          <m:t>)</m:t>
                        </m:r>
                      </m:oMath>
                    </m:oMathPara>
                  </a14:m>
                  <a:endParaRPr lang="en-CA" sz="1200" dirty="0"/>
                </a:p>
              </p:txBody>
            </p:sp>
          </mc:Choice>
          <mc:Fallback xmlns="">
            <p:sp>
              <p:nvSpPr>
                <p:cNvPr id="94" name="TextBox 93">
                  <a:extLst>
                    <a:ext uri="{FF2B5EF4-FFF2-40B4-BE49-F238E27FC236}">
                      <a16:creationId xmlns:a16="http://schemas.microsoft.com/office/drawing/2014/main" id="{9D573BB7-396D-427E-8BE8-15958DE5BD50}"/>
                    </a:ext>
                  </a:extLst>
                </p:cNvPr>
                <p:cNvSpPr txBox="1">
                  <a:spLocks noRot="1" noChangeAspect="1" noMove="1" noResize="1" noEditPoints="1" noAdjustHandles="1" noChangeArrowheads="1" noChangeShapeType="1" noTextEdit="1"/>
                </p:cNvSpPr>
                <p:nvPr/>
              </p:nvSpPr>
              <p:spPr>
                <a:xfrm rot="656866">
                  <a:off x="6119700" y="4311783"/>
                  <a:ext cx="836205" cy="276999"/>
                </a:xfrm>
                <a:prstGeom prst="rect">
                  <a:avLst/>
                </a:prstGeom>
                <a:blipFill>
                  <a:blip r:embed="rId26"/>
                  <a:stretch>
                    <a:fillRect b="-28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2" name="TextBox 121">
                  <a:extLst>
                    <a:ext uri="{FF2B5EF4-FFF2-40B4-BE49-F238E27FC236}">
                      <a16:creationId xmlns:a16="http://schemas.microsoft.com/office/drawing/2014/main" id="{AF53C2E8-A591-37FE-F00E-F3465295F1F4}"/>
                    </a:ext>
                  </a:extLst>
                </p:cNvPr>
                <p:cNvSpPr txBox="1"/>
                <p:nvPr/>
              </p:nvSpPr>
              <p:spPr>
                <a:xfrm rot="450390">
                  <a:off x="4777568" y="2132028"/>
                  <a:ext cx="836205" cy="276999"/>
                </a:xfrm>
                <a:prstGeom prst="rect">
                  <a:avLst/>
                </a:prstGeom>
                <a:noFill/>
                <a:sp3d prstMaterial="translucentPowder"/>
              </p:spPr>
              <p:txBody>
                <a:bodyPr wrap="square" rtlCol="0">
                  <a:spAutoFit/>
                </a:bodyPr>
                <a:lstStyle/>
                <a:p>
                  <a:pPr/>
                  <a14:m>
                    <m:oMathPara xmlns:m="http://schemas.openxmlformats.org/officeDocument/2006/math">
                      <m:oMathParaPr>
                        <m:jc m:val="centerGroup"/>
                      </m:oMathParaPr>
                      <m:oMath xmlns:m="http://schemas.openxmlformats.org/officeDocument/2006/math">
                        <m:r>
                          <a:rPr lang="en-CA" sz="1200" b="0" i="1" smtClean="0">
                            <a:latin typeface="Cambria Math" panose="02040503050406030204" pitchFamily="18" charset="0"/>
                          </a:rPr>
                          <m:t>h</m:t>
                        </m:r>
                        <m:r>
                          <a:rPr lang="en-CA" sz="1200" b="0" i="1" smtClean="0">
                            <a:latin typeface="Cambria Math" panose="02040503050406030204" pitchFamily="18" charset="0"/>
                          </a:rPr>
                          <m:t>(</m:t>
                        </m:r>
                        <m:sSub>
                          <m:sSubPr>
                            <m:ctrlPr>
                              <a:rPr lang="en-CA" sz="1200" b="0" i="1" smtClean="0">
                                <a:latin typeface="Cambria Math" panose="02040503050406030204" pitchFamily="18" charset="0"/>
                              </a:rPr>
                            </m:ctrlPr>
                          </m:sSubPr>
                          <m:e>
                            <m:r>
                              <a:rPr lang="en-US" sz="1200" b="0" i="1" smtClean="0">
                                <a:latin typeface="Cambria Math" panose="02040503050406030204" pitchFamily="18" charset="0"/>
                              </a:rPr>
                              <m:t>𝑆</m:t>
                            </m:r>
                          </m:e>
                          <m:sub>
                            <m:r>
                              <a:rPr lang="en-US" sz="1200" b="0" i="1" smtClean="0">
                                <a:latin typeface="Cambria Math" panose="02040503050406030204" pitchFamily="18" charset="0"/>
                              </a:rPr>
                              <m:t>3</m:t>
                            </m:r>
                          </m:sub>
                        </m:sSub>
                        <m:r>
                          <a:rPr lang="en-US" sz="1200" b="0" i="1" smtClean="0">
                            <a:latin typeface="Cambria Math" panose="02040503050406030204" pitchFamily="18" charset="0"/>
                          </a:rPr>
                          <m:t>, </m:t>
                        </m:r>
                        <m:sSub>
                          <m:sSubPr>
                            <m:ctrlPr>
                              <a:rPr lang="en-CA" sz="1200" b="0" i="1" smtClean="0">
                                <a:latin typeface="Cambria Math" panose="02040503050406030204" pitchFamily="18" charset="0"/>
                              </a:rPr>
                            </m:ctrlPr>
                          </m:sSubPr>
                          <m:e>
                            <m:r>
                              <a:rPr lang="en-US" sz="1200" b="0" i="1" smtClean="0">
                                <a:latin typeface="Cambria Math" panose="02040503050406030204" pitchFamily="18" charset="0"/>
                              </a:rPr>
                              <m:t>𝐶</m:t>
                            </m:r>
                          </m:e>
                          <m:sub>
                            <m:r>
                              <a:rPr lang="en-US" sz="1200" b="0" i="1" smtClean="0">
                                <a:latin typeface="Cambria Math" panose="02040503050406030204" pitchFamily="18" charset="0"/>
                              </a:rPr>
                              <m:t>2</m:t>
                            </m:r>
                          </m:sub>
                        </m:sSub>
                        <m:r>
                          <a:rPr lang="en-CA" sz="1200" b="0" i="1" smtClean="0">
                            <a:latin typeface="Cambria Math" panose="02040503050406030204" pitchFamily="18" charset="0"/>
                          </a:rPr>
                          <m:t>)</m:t>
                        </m:r>
                      </m:oMath>
                    </m:oMathPara>
                  </a14:m>
                  <a:endParaRPr lang="en-CA" sz="1200" dirty="0"/>
                </a:p>
              </p:txBody>
            </p:sp>
          </mc:Choice>
          <mc:Fallback xmlns="">
            <p:sp>
              <p:nvSpPr>
                <p:cNvPr id="95" name="TextBox 94">
                  <a:extLst>
                    <a:ext uri="{FF2B5EF4-FFF2-40B4-BE49-F238E27FC236}">
                      <a16:creationId xmlns:a16="http://schemas.microsoft.com/office/drawing/2014/main" id="{78684DC8-836E-3E3A-8274-F012FFA128CC}"/>
                    </a:ext>
                  </a:extLst>
                </p:cNvPr>
                <p:cNvSpPr txBox="1">
                  <a:spLocks noRot="1" noChangeAspect="1" noMove="1" noResize="1" noEditPoints="1" noAdjustHandles="1" noChangeArrowheads="1" noChangeShapeType="1" noTextEdit="1"/>
                </p:cNvSpPr>
                <p:nvPr/>
              </p:nvSpPr>
              <p:spPr>
                <a:xfrm rot="450390">
                  <a:off x="4777568" y="2132028"/>
                  <a:ext cx="836205" cy="276999"/>
                </a:xfrm>
                <a:prstGeom prst="rect">
                  <a:avLst/>
                </a:prstGeom>
                <a:blipFill>
                  <a:blip r:embed="rId27"/>
                  <a:stretch>
                    <a:fillRect b="-32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3" name="TextBox 122">
                  <a:extLst>
                    <a:ext uri="{FF2B5EF4-FFF2-40B4-BE49-F238E27FC236}">
                      <a16:creationId xmlns:a16="http://schemas.microsoft.com/office/drawing/2014/main" id="{F3FA1281-84FA-EC0A-56FF-361AF2832AE9}"/>
                    </a:ext>
                  </a:extLst>
                </p:cNvPr>
                <p:cNvSpPr txBox="1"/>
                <p:nvPr/>
              </p:nvSpPr>
              <p:spPr>
                <a:xfrm rot="20688402">
                  <a:off x="6551799" y="2461493"/>
                  <a:ext cx="836205" cy="276999"/>
                </a:xfrm>
                <a:prstGeom prst="rect">
                  <a:avLst/>
                </a:prstGeom>
                <a:noFill/>
                <a:sp3d prstMaterial="translucentPowder"/>
              </p:spPr>
              <p:txBody>
                <a:bodyPr wrap="square" rtlCol="0">
                  <a:spAutoFit/>
                </a:bodyPr>
                <a:lstStyle/>
                <a:p>
                  <a:pPr/>
                  <a14:m>
                    <m:oMathPara xmlns:m="http://schemas.openxmlformats.org/officeDocument/2006/math">
                      <m:oMathParaPr>
                        <m:jc m:val="centerGroup"/>
                      </m:oMathParaPr>
                      <m:oMath xmlns:m="http://schemas.openxmlformats.org/officeDocument/2006/math">
                        <m:r>
                          <a:rPr lang="en-CA" sz="1200" b="0" i="1" smtClean="0">
                            <a:latin typeface="Cambria Math" panose="02040503050406030204" pitchFamily="18" charset="0"/>
                          </a:rPr>
                          <m:t>h</m:t>
                        </m:r>
                        <m:r>
                          <a:rPr lang="en-CA" sz="1200" b="0" i="1" smtClean="0">
                            <a:latin typeface="Cambria Math" panose="02040503050406030204" pitchFamily="18" charset="0"/>
                          </a:rPr>
                          <m:t>(</m:t>
                        </m:r>
                        <m:sSub>
                          <m:sSubPr>
                            <m:ctrlPr>
                              <a:rPr lang="en-CA" sz="1200" b="0" i="1" smtClean="0">
                                <a:latin typeface="Cambria Math" panose="02040503050406030204" pitchFamily="18" charset="0"/>
                              </a:rPr>
                            </m:ctrlPr>
                          </m:sSubPr>
                          <m:e>
                            <m:r>
                              <a:rPr lang="en-US" sz="1200" b="0" i="1" smtClean="0">
                                <a:latin typeface="Cambria Math" panose="02040503050406030204" pitchFamily="18" charset="0"/>
                              </a:rPr>
                              <m:t>𝐶</m:t>
                            </m:r>
                          </m:e>
                          <m:sub>
                            <m:r>
                              <a:rPr lang="en-US" sz="1200" b="0" i="1" smtClean="0">
                                <a:latin typeface="Cambria Math" panose="02040503050406030204" pitchFamily="18" charset="0"/>
                              </a:rPr>
                              <m:t>2</m:t>
                            </m:r>
                          </m:sub>
                        </m:sSub>
                        <m:r>
                          <a:rPr lang="en-US" sz="1200" b="0" i="1" smtClean="0">
                            <a:latin typeface="Cambria Math" panose="02040503050406030204" pitchFamily="18" charset="0"/>
                          </a:rPr>
                          <m:t>, </m:t>
                        </m:r>
                        <m:sSub>
                          <m:sSubPr>
                            <m:ctrlPr>
                              <a:rPr lang="en-CA" sz="1200" b="0" i="1" smtClean="0">
                                <a:latin typeface="Cambria Math" panose="02040503050406030204" pitchFamily="18" charset="0"/>
                              </a:rPr>
                            </m:ctrlPr>
                          </m:sSubPr>
                          <m:e>
                            <m:r>
                              <a:rPr lang="en-US" sz="1200" b="0" i="1" smtClean="0">
                                <a:latin typeface="Cambria Math" panose="02040503050406030204" pitchFamily="18" charset="0"/>
                              </a:rPr>
                              <m:t>𝐴</m:t>
                            </m:r>
                          </m:e>
                          <m:sub>
                            <m:r>
                              <a:rPr lang="en-US" sz="1200" b="0" i="1" smtClean="0">
                                <a:latin typeface="Cambria Math" panose="02040503050406030204" pitchFamily="18" charset="0"/>
                              </a:rPr>
                              <m:t>1</m:t>
                            </m:r>
                          </m:sub>
                        </m:sSub>
                        <m:r>
                          <a:rPr lang="en-CA" sz="1200" b="0" i="1" smtClean="0">
                            <a:latin typeface="Cambria Math" panose="02040503050406030204" pitchFamily="18" charset="0"/>
                          </a:rPr>
                          <m:t>)</m:t>
                        </m:r>
                      </m:oMath>
                    </m:oMathPara>
                  </a14:m>
                  <a:endParaRPr lang="en-CA" sz="1200" dirty="0"/>
                </a:p>
              </p:txBody>
            </p:sp>
          </mc:Choice>
          <mc:Fallback xmlns="">
            <p:sp>
              <p:nvSpPr>
                <p:cNvPr id="96" name="TextBox 95">
                  <a:extLst>
                    <a:ext uri="{FF2B5EF4-FFF2-40B4-BE49-F238E27FC236}">
                      <a16:creationId xmlns:a16="http://schemas.microsoft.com/office/drawing/2014/main" id="{D8F0F6DA-20D9-61F7-CA72-2258A5E110BF}"/>
                    </a:ext>
                  </a:extLst>
                </p:cNvPr>
                <p:cNvSpPr txBox="1">
                  <a:spLocks noRot="1" noChangeAspect="1" noMove="1" noResize="1" noEditPoints="1" noAdjustHandles="1" noChangeArrowheads="1" noChangeShapeType="1" noTextEdit="1"/>
                </p:cNvSpPr>
                <p:nvPr/>
              </p:nvSpPr>
              <p:spPr>
                <a:xfrm rot="20688402">
                  <a:off x="6551799" y="2461493"/>
                  <a:ext cx="836205" cy="276999"/>
                </a:xfrm>
                <a:prstGeom prst="rect">
                  <a:avLst/>
                </a:prstGeom>
                <a:blipFill>
                  <a:blip r:embed="rId2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4" name="TextBox 123">
                  <a:extLst>
                    <a:ext uri="{FF2B5EF4-FFF2-40B4-BE49-F238E27FC236}">
                      <a16:creationId xmlns:a16="http://schemas.microsoft.com/office/drawing/2014/main" id="{6849B466-3D69-F3B8-A1A2-B3BA1D4866E0}"/>
                    </a:ext>
                  </a:extLst>
                </p:cNvPr>
                <p:cNvSpPr txBox="1"/>
                <p:nvPr/>
              </p:nvSpPr>
              <p:spPr>
                <a:xfrm rot="1151618">
                  <a:off x="5745763" y="3457671"/>
                  <a:ext cx="836205" cy="276999"/>
                </a:xfrm>
                <a:prstGeom prst="rect">
                  <a:avLst/>
                </a:prstGeom>
                <a:noFill/>
                <a:sp3d prstMaterial="translucentPowder"/>
              </p:spPr>
              <p:txBody>
                <a:bodyPr wrap="square" rtlCol="0">
                  <a:spAutoFit/>
                </a:bodyPr>
                <a:lstStyle/>
                <a:p>
                  <a:pPr/>
                  <a14:m>
                    <m:oMathPara xmlns:m="http://schemas.openxmlformats.org/officeDocument/2006/math">
                      <m:oMathParaPr>
                        <m:jc m:val="centerGroup"/>
                      </m:oMathParaPr>
                      <m:oMath xmlns:m="http://schemas.openxmlformats.org/officeDocument/2006/math">
                        <m:r>
                          <a:rPr lang="en-CA" sz="1200" b="0" i="1" smtClean="0">
                            <a:latin typeface="Cambria Math" panose="02040503050406030204" pitchFamily="18" charset="0"/>
                          </a:rPr>
                          <m:t>h</m:t>
                        </m:r>
                        <m:r>
                          <a:rPr lang="en-CA" sz="1200" b="0" i="1" smtClean="0">
                            <a:latin typeface="Cambria Math" panose="02040503050406030204" pitchFamily="18" charset="0"/>
                          </a:rPr>
                          <m:t>(</m:t>
                        </m:r>
                        <m:sSub>
                          <m:sSubPr>
                            <m:ctrlPr>
                              <a:rPr lang="en-CA" sz="1200" b="0" i="1" smtClean="0">
                                <a:latin typeface="Cambria Math" panose="02040503050406030204" pitchFamily="18" charset="0"/>
                              </a:rPr>
                            </m:ctrlPr>
                          </m:sSubPr>
                          <m:e>
                            <m:r>
                              <a:rPr lang="en-US" sz="1200" b="0" i="1" smtClean="0">
                                <a:latin typeface="Cambria Math" panose="02040503050406030204" pitchFamily="18" charset="0"/>
                              </a:rPr>
                              <m:t>𝐶</m:t>
                            </m:r>
                          </m:e>
                          <m:sub>
                            <m:r>
                              <a:rPr lang="en-US" sz="1200" b="0" i="1" smtClean="0">
                                <a:latin typeface="Cambria Math" panose="02040503050406030204" pitchFamily="18" charset="0"/>
                              </a:rPr>
                              <m:t>1</m:t>
                            </m:r>
                          </m:sub>
                        </m:sSub>
                        <m:r>
                          <a:rPr lang="en-US" sz="1200" b="0" i="1" smtClean="0">
                            <a:latin typeface="Cambria Math" panose="02040503050406030204" pitchFamily="18" charset="0"/>
                          </a:rPr>
                          <m:t>, </m:t>
                        </m:r>
                        <m:sSub>
                          <m:sSubPr>
                            <m:ctrlPr>
                              <a:rPr lang="en-CA" sz="1200" b="0" i="1" smtClean="0">
                                <a:latin typeface="Cambria Math" panose="02040503050406030204" pitchFamily="18" charset="0"/>
                              </a:rPr>
                            </m:ctrlPr>
                          </m:sSubPr>
                          <m:e>
                            <m:r>
                              <a:rPr lang="en-US" sz="1200" b="0" i="1" smtClean="0">
                                <a:latin typeface="Cambria Math" panose="02040503050406030204" pitchFamily="18" charset="0"/>
                              </a:rPr>
                              <m:t>𝐴</m:t>
                            </m:r>
                          </m:e>
                          <m:sub>
                            <m:r>
                              <a:rPr lang="en-US" sz="1200" b="0" i="1" smtClean="0">
                                <a:latin typeface="Cambria Math" panose="02040503050406030204" pitchFamily="18" charset="0"/>
                              </a:rPr>
                              <m:t>4</m:t>
                            </m:r>
                          </m:sub>
                        </m:sSub>
                        <m:r>
                          <a:rPr lang="en-CA" sz="1200" b="0" i="1" smtClean="0">
                            <a:latin typeface="Cambria Math" panose="02040503050406030204" pitchFamily="18" charset="0"/>
                          </a:rPr>
                          <m:t>)</m:t>
                        </m:r>
                      </m:oMath>
                    </m:oMathPara>
                  </a14:m>
                  <a:endParaRPr lang="en-CA" sz="1200" dirty="0"/>
                </a:p>
              </p:txBody>
            </p:sp>
          </mc:Choice>
          <mc:Fallback xmlns="">
            <p:sp>
              <p:nvSpPr>
                <p:cNvPr id="97" name="TextBox 96">
                  <a:extLst>
                    <a:ext uri="{FF2B5EF4-FFF2-40B4-BE49-F238E27FC236}">
                      <a16:creationId xmlns:a16="http://schemas.microsoft.com/office/drawing/2014/main" id="{83E0032D-FA8C-2D66-7263-CD9FEB3E65F9}"/>
                    </a:ext>
                  </a:extLst>
                </p:cNvPr>
                <p:cNvSpPr txBox="1">
                  <a:spLocks noRot="1" noChangeAspect="1" noMove="1" noResize="1" noEditPoints="1" noAdjustHandles="1" noChangeArrowheads="1" noChangeShapeType="1" noTextEdit="1"/>
                </p:cNvSpPr>
                <p:nvPr/>
              </p:nvSpPr>
              <p:spPr>
                <a:xfrm rot="1151618">
                  <a:off x="5745763" y="3457671"/>
                  <a:ext cx="836205" cy="276999"/>
                </a:xfrm>
                <a:prstGeom prst="rect">
                  <a:avLst/>
                </a:prstGeom>
                <a:blipFill>
                  <a:blip r:embed="rId2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5" name="TextBox 124">
                  <a:extLst>
                    <a:ext uri="{FF2B5EF4-FFF2-40B4-BE49-F238E27FC236}">
                      <a16:creationId xmlns:a16="http://schemas.microsoft.com/office/drawing/2014/main" id="{B8470EB1-2A2F-8744-85FE-7AF65907EADA}"/>
                    </a:ext>
                  </a:extLst>
                </p:cNvPr>
                <p:cNvSpPr txBox="1"/>
                <p:nvPr/>
              </p:nvSpPr>
              <p:spPr>
                <a:xfrm>
                  <a:off x="4115330" y="3129762"/>
                  <a:ext cx="836205" cy="276999"/>
                </a:xfrm>
                <a:prstGeom prst="rect">
                  <a:avLst/>
                </a:prstGeom>
                <a:noFill/>
                <a:sp3d prstMaterial="translucentPowder"/>
              </p:spPr>
              <p:txBody>
                <a:bodyPr wrap="square" rtlCol="0">
                  <a:spAutoFit/>
                </a:bodyPr>
                <a:lstStyle/>
                <a:p>
                  <a:pPr/>
                  <a14:m>
                    <m:oMathPara xmlns:m="http://schemas.openxmlformats.org/officeDocument/2006/math">
                      <m:oMathParaPr>
                        <m:jc m:val="centerGroup"/>
                      </m:oMathParaPr>
                      <m:oMath xmlns:m="http://schemas.openxmlformats.org/officeDocument/2006/math">
                        <m:r>
                          <a:rPr lang="en-CA" sz="1200" b="0" i="1" smtClean="0">
                            <a:latin typeface="Cambria Math" panose="02040503050406030204" pitchFamily="18" charset="0"/>
                          </a:rPr>
                          <m:t>h</m:t>
                        </m:r>
                        <m:r>
                          <a:rPr lang="en-CA" sz="1200" b="0" i="1" smtClean="0">
                            <a:latin typeface="Cambria Math" panose="02040503050406030204" pitchFamily="18" charset="0"/>
                          </a:rPr>
                          <m:t>(</m:t>
                        </m:r>
                        <m:sSub>
                          <m:sSubPr>
                            <m:ctrlPr>
                              <a:rPr lang="en-CA" sz="1200" b="0" i="1" smtClean="0">
                                <a:latin typeface="Cambria Math" panose="02040503050406030204" pitchFamily="18" charset="0"/>
                              </a:rPr>
                            </m:ctrlPr>
                          </m:sSubPr>
                          <m:e>
                            <m:r>
                              <a:rPr lang="en-US" sz="1200" b="0" i="1" smtClean="0">
                                <a:latin typeface="Cambria Math" panose="02040503050406030204" pitchFamily="18" charset="0"/>
                              </a:rPr>
                              <m:t>𝑆</m:t>
                            </m:r>
                          </m:e>
                          <m:sub>
                            <m:r>
                              <a:rPr lang="en-US" sz="1200" b="0" i="1" smtClean="0">
                                <a:latin typeface="Cambria Math" panose="02040503050406030204" pitchFamily="18" charset="0"/>
                              </a:rPr>
                              <m:t>2</m:t>
                            </m:r>
                          </m:sub>
                        </m:sSub>
                        <m:r>
                          <a:rPr lang="en-US" sz="1200" b="0" i="1" smtClean="0">
                            <a:latin typeface="Cambria Math" panose="02040503050406030204" pitchFamily="18" charset="0"/>
                          </a:rPr>
                          <m:t>, </m:t>
                        </m:r>
                        <m:sSub>
                          <m:sSubPr>
                            <m:ctrlPr>
                              <a:rPr lang="en-CA" sz="1200" b="0" i="1" smtClean="0">
                                <a:latin typeface="Cambria Math" panose="02040503050406030204" pitchFamily="18" charset="0"/>
                              </a:rPr>
                            </m:ctrlPr>
                          </m:sSubPr>
                          <m:e>
                            <m:r>
                              <a:rPr lang="en-US" sz="1200" b="0" i="1" smtClean="0">
                                <a:latin typeface="Cambria Math" panose="02040503050406030204" pitchFamily="18" charset="0"/>
                              </a:rPr>
                              <m:t>𝐶</m:t>
                            </m:r>
                          </m:e>
                          <m:sub>
                            <m:r>
                              <a:rPr lang="en-US" sz="1200" b="0" i="1" smtClean="0">
                                <a:latin typeface="Cambria Math" panose="02040503050406030204" pitchFamily="18" charset="0"/>
                              </a:rPr>
                              <m:t>1</m:t>
                            </m:r>
                          </m:sub>
                        </m:sSub>
                        <m:r>
                          <a:rPr lang="en-CA" sz="1200" b="0" i="1" smtClean="0">
                            <a:latin typeface="Cambria Math" panose="02040503050406030204" pitchFamily="18" charset="0"/>
                          </a:rPr>
                          <m:t>)</m:t>
                        </m:r>
                      </m:oMath>
                    </m:oMathPara>
                  </a14:m>
                  <a:endParaRPr lang="en-CA" sz="1200" dirty="0"/>
                </a:p>
              </p:txBody>
            </p:sp>
          </mc:Choice>
          <mc:Fallback xmlns="">
            <p:sp>
              <p:nvSpPr>
                <p:cNvPr id="98" name="TextBox 97">
                  <a:extLst>
                    <a:ext uri="{FF2B5EF4-FFF2-40B4-BE49-F238E27FC236}">
                      <a16:creationId xmlns:a16="http://schemas.microsoft.com/office/drawing/2014/main" id="{CAD76140-57B6-FDDF-CB60-531C7843567F}"/>
                    </a:ext>
                  </a:extLst>
                </p:cNvPr>
                <p:cNvSpPr txBox="1">
                  <a:spLocks noRot="1" noChangeAspect="1" noMove="1" noResize="1" noEditPoints="1" noAdjustHandles="1" noChangeArrowheads="1" noChangeShapeType="1" noTextEdit="1"/>
                </p:cNvSpPr>
                <p:nvPr/>
              </p:nvSpPr>
              <p:spPr>
                <a:xfrm>
                  <a:off x="4115330" y="3129762"/>
                  <a:ext cx="836205" cy="276999"/>
                </a:xfrm>
                <a:prstGeom prst="rect">
                  <a:avLst/>
                </a:prstGeom>
                <a:blipFill>
                  <a:blip r:embed="rId30"/>
                  <a:stretch>
                    <a:fillRect b="-9091"/>
                  </a:stretch>
                </a:blipFill>
              </p:spPr>
              <p:txBody>
                <a:bodyPr/>
                <a:lstStyle/>
                <a:p>
                  <a:r>
                    <a:rPr lang="en-US">
                      <a:noFill/>
                    </a:rPr>
                    <a:t> </a:t>
                  </a:r>
                </a:p>
              </p:txBody>
            </p:sp>
          </mc:Fallback>
        </mc:AlternateContent>
        <p:cxnSp>
          <p:nvCxnSpPr>
            <p:cNvPr id="126" name="Straight Arrow Connector 125">
              <a:extLst>
                <a:ext uri="{FF2B5EF4-FFF2-40B4-BE49-F238E27FC236}">
                  <a16:creationId xmlns:a16="http://schemas.microsoft.com/office/drawing/2014/main" id="{0997EC17-917F-736C-5128-A0A362BF8DB1}"/>
                </a:ext>
              </a:extLst>
            </p:cNvPr>
            <p:cNvCxnSpPr>
              <a:cxnSpLocks/>
              <a:stCxn id="81" idx="2"/>
            </p:cNvCxnSpPr>
            <p:nvPr/>
          </p:nvCxnSpPr>
          <p:spPr>
            <a:xfrm>
              <a:off x="4752500" y="2358334"/>
              <a:ext cx="788317" cy="110517"/>
            </a:xfrm>
            <a:prstGeom prst="straightConnector1">
              <a:avLst/>
            </a:prstGeom>
            <a:ln w="19050">
              <a:headEnd w="lg" len="sm"/>
              <a:tailEnd type="triangle" w="med" len="med"/>
            </a:ln>
            <a:sp3d prstMaterial="translucentPowder"/>
          </p:spPr>
          <p:style>
            <a:lnRef idx="1">
              <a:schemeClr val="dk1"/>
            </a:lnRef>
            <a:fillRef idx="0">
              <a:schemeClr val="dk1"/>
            </a:fillRef>
            <a:effectRef idx="0">
              <a:schemeClr val="dk1"/>
            </a:effectRef>
            <a:fontRef idx="minor">
              <a:schemeClr val="tx1"/>
            </a:fontRef>
          </p:style>
        </p:cxnSp>
        <p:cxnSp>
          <p:nvCxnSpPr>
            <p:cNvPr id="127" name="Straight Arrow Connector 126">
              <a:extLst>
                <a:ext uri="{FF2B5EF4-FFF2-40B4-BE49-F238E27FC236}">
                  <a16:creationId xmlns:a16="http://schemas.microsoft.com/office/drawing/2014/main" id="{5E8DBFF7-2067-6887-A9B7-52C8D1BBC29A}"/>
                </a:ext>
              </a:extLst>
            </p:cNvPr>
            <p:cNvCxnSpPr>
              <a:stCxn id="81" idx="1"/>
            </p:cNvCxnSpPr>
            <p:nvPr/>
          </p:nvCxnSpPr>
          <p:spPr>
            <a:xfrm>
              <a:off x="4418141" y="2913355"/>
              <a:ext cx="681439" cy="75470"/>
            </a:xfrm>
            <a:prstGeom prst="straightConnector1">
              <a:avLst/>
            </a:prstGeom>
            <a:ln w="19050">
              <a:tailEnd type="triangle" w="med" len="med"/>
            </a:ln>
            <a:sp3d prstMaterial="translucentPowder"/>
          </p:spPr>
          <p:style>
            <a:lnRef idx="1">
              <a:schemeClr val="dk1"/>
            </a:lnRef>
            <a:fillRef idx="0">
              <a:schemeClr val="dk1"/>
            </a:fillRef>
            <a:effectRef idx="0">
              <a:schemeClr val="dk1"/>
            </a:effectRef>
            <a:fontRef idx="minor">
              <a:schemeClr val="tx1"/>
            </a:fontRef>
          </p:style>
        </p:cxnSp>
        <p:cxnSp>
          <p:nvCxnSpPr>
            <p:cNvPr id="128" name="Straight Arrow Connector 127">
              <a:extLst>
                <a:ext uri="{FF2B5EF4-FFF2-40B4-BE49-F238E27FC236}">
                  <a16:creationId xmlns:a16="http://schemas.microsoft.com/office/drawing/2014/main" id="{5CAFCD62-E558-6C1D-0F93-6DC3C7B2B7B2}"/>
                </a:ext>
              </a:extLst>
            </p:cNvPr>
            <p:cNvCxnSpPr/>
            <p:nvPr/>
          </p:nvCxnSpPr>
          <p:spPr>
            <a:xfrm>
              <a:off x="4182806" y="3429000"/>
              <a:ext cx="643400" cy="0"/>
            </a:xfrm>
            <a:prstGeom prst="straightConnector1">
              <a:avLst/>
            </a:prstGeom>
            <a:ln w="19050">
              <a:tailEnd type="triangle" w="med" len="med"/>
            </a:ln>
            <a:sp3d prstMaterial="translucentPowder"/>
          </p:spPr>
          <p:style>
            <a:lnRef idx="1">
              <a:schemeClr val="dk1"/>
            </a:lnRef>
            <a:fillRef idx="0">
              <a:schemeClr val="dk1"/>
            </a:fillRef>
            <a:effectRef idx="0">
              <a:schemeClr val="dk1"/>
            </a:effectRef>
            <a:fontRef idx="minor">
              <a:schemeClr val="tx1"/>
            </a:fontRef>
          </p:style>
        </p:cxnSp>
        <p:cxnSp>
          <p:nvCxnSpPr>
            <p:cNvPr id="129" name="Straight Arrow Connector 128">
              <a:extLst>
                <a:ext uri="{FF2B5EF4-FFF2-40B4-BE49-F238E27FC236}">
                  <a16:creationId xmlns:a16="http://schemas.microsoft.com/office/drawing/2014/main" id="{3ADB617E-C5E7-462E-C342-27635732A930}"/>
                </a:ext>
              </a:extLst>
            </p:cNvPr>
            <p:cNvCxnSpPr>
              <a:cxnSpLocks/>
            </p:cNvCxnSpPr>
            <p:nvPr/>
          </p:nvCxnSpPr>
          <p:spPr>
            <a:xfrm flipV="1">
              <a:off x="4375829" y="3768378"/>
              <a:ext cx="450377" cy="495515"/>
            </a:xfrm>
            <a:prstGeom prst="straightConnector1">
              <a:avLst/>
            </a:prstGeom>
            <a:ln w="19050">
              <a:tailEnd type="triangle"/>
            </a:ln>
            <a:sp3d prstMaterial="translucentPowder"/>
          </p:spPr>
          <p:style>
            <a:lnRef idx="1">
              <a:schemeClr val="dk1"/>
            </a:lnRef>
            <a:fillRef idx="0">
              <a:schemeClr val="dk1"/>
            </a:fillRef>
            <a:effectRef idx="0">
              <a:schemeClr val="dk1"/>
            </a:effectRef>
            <a:fontRef idx="minor">
              <a:schemeClr val="tx1"/>
            </a:fontRef>
          </p:style>
        </p:cxnSp>
        <p:cxnSp>
          <p:nvCxnSpPr>
            <p:cNvPr id="130" name="Straight Arrow Connector 129">
              <a:extLst>
                <a:ext uri="{FF2B5EF4-FFF2-40B4-BE49-F238E27FC236}">
                  <a16:creationId xmlns:a16="http://schemas.microsoft.com/office/drawing/2014/main" id="{EE496975-5240-D202-A060-365B1247017B}"/>
                </a:ext>
              </a:extLst>
            </p:cNvPr>
            <p:cNvCxnSpPr>
              <a:cxnSpLocks/>
            </p:cNvCxnSpPr>
            <p:nvPr/>
          </p:nvCxnSpPr>
          <p:spPr>
            <a:xfrm>
              <a:off x="4165502" y="3722251"/>
              <a:ext cx="1544294" cy="411118"/>
            </a:xfrm>
            <a:prstGeom prst="straightConnector1">
              <a:avLst/>
            </a:prstGeom>
            <a:ln w="19050">
              <a:tailEnd type="triangle"/>
            </a:ln>
            <a:sp3d prstMaterial="translucentPowder"/>
          </p:spPr>
          <p:style>
            <a:lnRef idx="1">
              <a:schemeClr val="dk1"/>
            </a:lnRef>
            <a:fillRef idx="0">
              <a:schemeClr val="dk1"/>
            </a:fillRef>
            <a:effectRef idx="0">
              <a:schemeClr val="dk1"/>
            </a:effectRef>
            <a:fontRef idx="minor">
              <a:schemeClr val="tx1"/>
            </a:fontRef>
          </p:style>
        </p:cxnSp>
        <p:cxnSp>
          <p:nvCxnSpPr>
            <p:cNvPr id="131" name="Straight Arrow Connector 130">
              <a:extLst>
                <a:ext uri="{FF2B5EF4-FFF2-40B4-BE49-F238E27FC236}">
                  <a16:creationId xmlns:a16="http://schemas.microsoft.com/office/drawing/2014/main" id="{B7C1C566-15BF-F0A8-FBB4-5E8911AE0A67}"/>
                </a:ext>
              </a:extLst>
            </p:cNvPr>
            <p:cNvCxnSpPr>
              <a:endCxn id="78" idx="1"/>
            </p:cNvCxnSpPr>
            <p:nvPr/>
          </p:nvCxnSpPr>
          <p:spPr>
            <a:xfrm flipV="1">
              <a:off x="4418141" y="4249030"/>
              <a:ext cx="1216552" cy="121279"/>
            </a:xfrm>
            <a:prstGeom prst="straightConnector1">
              <a:avLst/>
            </a:prstGeom>
            <a:ln w="19050">
              <a:tailEnd type="triangle"/>
            </a:ln>
            <a:sp3d prstMaterial="translucentPowder"/>
          </p:spPr>
          <p:style>
            <a:lnRef idx="1">
              <a:schemeClr val="dk1"/>
            </a:lnRef>
            <a:fillRef idx="0">
              <a:schemeClr val="dk1"/>
            </a:fillRef>
            <a:effectRef idx="0">
              <a:schemeClr val="dk1"/>
            </a:effectRef>
            <a:fontRef idx="minor">
              <a:schemeClr val="tx1"/>
            </a:fontRef>
          </p:style>
        </p:cxnSp>
        <p:cxnSp>
          <p:nvCxnSpPr>
            <p:cNvPr id="132" name="Straight Arrow Connector 131">
              <a:extLst>
                <a:ext uri="{FF2B5EF4-FFF2-40B4-BE49-F238E27FC236}">
                  <a16:creationId xmlns:a16="http://schemas.microsoft.com/office/drawing/2014/main" id="{EDEFEA9A-3077-E428-B05E-E6B7BAD64565}"/>
                </a:ext>
              </a:extLst>
            </p:cNvPr>
            <p:cNvCxnSpPr/>
            <p:nvPr/>
          </p:nvCxnSpPr>
          <p:spPr>
            <a:xfrm>
              <a:off x="6168314" y="4234901"/>
              <a:ext cx="845159" cy="173360"/>
            </a:xfrm>
            <a:prstGeom prst="straightConnector1">
              <a:avLst/>
            </a:prstGeom>
            <a:ln w="19050">
              <a:tailEnd type="triangle"/>
            </a:ln>
            <a:sp3d prstMaterial="translucentPowder"/>
          </p:spPr>
          <p:style>
            <a:lnRef idx="1">
              <a:schemeClr val="dk1"/>
            </a:lnRef>
            <a:fillRef idx="0">
              <a:schemeClr val="dk1"/>
            </a:fillRef>
            <a:effectRef idx="0">
              <a:schemeClr val="dk1"/>
            </a:effectRef>
            <a:fontRef idx="minor">
              <a:schemeClr val="tx1"/>
            </a:fontRef>
          </p:style>
        </p:cxnSp>
        <p:cxnSp>
          <p:nvCxnSpPr>
            <p:cNvPr id="133" name="Straight Arrow Connector 132">
              <a:extLst>
                <a:ext uri="{FF2B5EF4-FFF2-40B4-BE49-F238E27FC236}">
                  <a16:creationId xmlns:a16="http://schemas.microsoft.com/office/drawing/2014/main" id="{74C8422E-199A-4879-EB12-A858F3B13826}"/>
                </a:ext>
              </a:extLst>
            </p:cNvPr>
            <p:cNvCxnSpPr/>
            <p:nvPr/>
          </p:nvCxnSpPr>
          <p:spPr>
            <a:xfrm>
              <a:off x="5564149" y="3537585"/>
              <a:ext cx="1687442" cy="584224"/>
            </a:xfrm>
            <a:prstGeom prst="straightConnector1">
              <a:avLst/>
            </a:prstGeom>
            <a:ln w="19050">
              <a:tailEnd type="triangle"/>
            </a:ln>
            <a:sp3d prstMaterial="translucentPowder"/>
          </p:spPr>
          <p:style>
            <a:lnRef idx="1">
              <a:schemeClr val="dk1"/>
            </a:lnRef>
            <a:fillRef idx="0">
              <a:schemeClr val="dk1"/>
            </a:fillRef>
            <a:effectRef idx="0">
              <a:schemeClr val="dk1"/>
            </a:effectRef>
            <a:fontRef idx="minor">
              <a:schemeClr val="tx1"/>
            </a:fontRef>
          </p:style>
        </p:cxnSp>
        <p:cxnSp>
          <p:nvCxnSpPr>
            <p:cNvPr id="134" name="Straight Arrow Connector 133">
              <a:extLst>
                <a:ext uri="{FF2B5EF4-FFF2-40B4-BE49-F238E27FC236}">
                  <a16:creationId xmlns:a16="http://schemas.microsoft.com/office/drawing/2014/main" id="{E655C378-FCA9-CC30-B648-E6B16D0BCF7F}"/>
                </a:ext>
              </a:extLst>
            </p:cNvPr>
            <p:cNvCxnSpPr>
              <a:cxnSpLocks/>
              <a:stCxn id="78" idx="4"/>
              <a:endCxn id="75" idx="1"/>
            </p:cNvCxnSpPr>
            <p:nvPr/>
          </p:nvCxnSpPr>
          <p:spPr>
            <a:xfrm flipV="1">
              <a:off x="6073179" y="3042814"/>
              <a:ext cx="1307607" cy="967629"/>
            </a:xfrm>
            <a:prstGeom prst="straightConnector1">
              <a:avLst/>
            </a:prstGeom>
            <a:ln w="19050">
              <a:tailEnd type="triangle"/>
            </a:ln>
            <a:sp3d prstMaterial="translucentPowder"/>
          </p:spPr>
          <p:style>
            <a:lnRef idx="1">
              <a:schemeClr val="dk1"/>
            </a:lnRef>
            <a:fillRef idx="0">
              <a:schemeClr val="dk1"/>
            </a:fillRef>
            <a:effectRef idx="0">
              <a:schemeClr val="dk1"/>
            </a:effectRef>
            <a:fontRef idx="minor">
              <a:schemeClr val="tx1"/>
            </a:fontRef>
          </p:style>
        </p:cxnSp>
        <p:cxnSp>
          <p:nvCxnSpPr>
            <p:cNvPr id="135" name="Straight Arrow Connector 134">
              <a:extLst>
                <a:ext uri="{FF2B5EF4-FFF2-40B4-BE49-F238E27FC236}">
                  <a16:creationId xmlns:a16="http://schemas.microsoft.com/office/drawing/2014/main" id="{DA21CD88-72FD-F942-7666-18B61AE6DC8E}"/>
                </a:ext>
              </a:extLst>
            </p:cNvPr>
            <p:cNvCxnSpPr>
              <a:cxnSpLocks/>
            </p:cNvCxnSpPr>
            <p:nvPr/>
          </p:nvCxnSpPr>
          <p:spPr>
            <a:xfrm>
              <a:off x="6874973" y="3312447"/>
              <a:ext cx="586202" cy="688530"/>
            </a:xfrm>
            <a:prstGeom prst="straightConnector1">
              <a:avLst/>
            </a:prstGeom>
            <a:ln w="19050">
              <a:tailEnd type="triangle"/>
            </a:ln>
            <a:sp3d prstMaterial="translucentPowder"/>
          </p:spPr>
          <p:style>
            <a:lnRef idx="1">
              <a:schemeClr val="dk1"/>
            </a:lnRef>
            <a:fillRef idx="0">
              <a:schemeClr val="dk1"/>
            </a:fillRef>
            <a:effectRef idx="0">
              <a:schemeClr val="dk1"/>
            </a:effectRef>
            <a:fontRef idx="minor">
              <a:schemeClr val="tx1"/>
            </a:fontRef>
          </p:style>
        </p:cxnSp>
        <p:cxnSp>
          <p:nvCxnSpPr>
            <p:cNvPr id="136" name="Straight Arrow Connector 135">
              <a:extLst>
                <a:ext uri="{FF2B5EF4-FFF2-40B4-BE49-F238E27FC236}">
                  <a16:creationId xmlns:a16="http://schemas.microsoft.com/office/drawing/2014/main" id="{91A3A4A6-93FD-1613-5E63-C75AA835A12E}"/>
                </a:ext>
              </a:extLst>
            </p:cNvPr>
            <p:cNvCxnSpPr>
              <a:cxnSpLocks/>
              <a:stCxn id="74" idx="3"/>
            </p:cNvCxnSpPr>
            <p:nvPr/>
          </p:nvCxnSpPr>
          <p:spPr>
            <a:xfrm>
              <a:off x="6732101" y="2959321"/>
              <a:ext cx="879516" cy="119466"/>
            </a:xfrm>
            <a:prstGeom prst="straightConnector1">
              <a:avLst/>
            </a:prstGeom>
            <a:ln w="19050">
              <a:tailEnd type="triangle"/>
            </a:ln>
            <a:sp3d prstMaterial="translucentPowder"/>
          </p:spPr>
          <p:style>
            <a:lnRef idx="1">
              <a:schemeClr val="dk1"/>
            </a:lnRef>
            <a:fillRef idx="0">
              <a:schemeClr val="dk1"/>
            </a:fillRef>
            <a:effectRef idx="0">
              <a:schemeClr val="dk1"/>
            </a:effectRef>
            <a:fontRef idx="minor">
              <a:schemeClr val="tx1"/>
            </a:fontRef>
          </p:style>
        </p:cxnSp>
        <p:cxnSp>
          <p:nvCxnSpPr>
            <p:cNvPr id="137" name="Straight Arrow Connector 136">
              <a:extLst>
                <a:ext uri="{FF2B5EF4-FFF2-40B4-BE49-F238E27FC236}">
                  <a16:creationId xmlns:a16="http://schemas.microsoft.com/office/drawing/2014/main" id="{C9673774-E573-AD5E-ED44-04AA534388D5}"/>
                </a:ext>
              </a:extLst>
            </p:cNvPr>
            <p:cNvCxnSpPr>
              <a:cxnSpLocks/>
            </p:cNvCxnSpPr>
            <p:nvPr/>
          </p:nvCxnSpPr>
          <p:spPr>
            <a:xfrm flipV="1">
              <a:off x="6652655" y="2613087"/>
              <a:ext cx="750919" cy="208946"/>
            </a:xfrm>
            <a:prstGeom prst="straightConnector1">
              <a:avLst/>
            </a:prstGeom>
            <a:ln w="19050">
              <a:tailEnd type="triangle"/>
            </a:ln>
            <a:sp3d prstMaterial="translucentPowder"/>
          </p:spPr>
          <p:style>
            <a:lnRef idx="1">
              <a:schemeClr val="dk1"/>
            </a:lnRef>
            <a:fillRef idx="0">
              <a:schemeClr val="dk1"/>
            </a:fillRef>
            <a:effectRef idx="0">
              <a:schemeClr val="dk1"/>
            </a:effectRef>
            <a:fontRef idx="minor">
              <a:schemeClr val="tx1"/>
            </a:fontRef>
          </p:style>
        </p:cxnSp>
      </p:grpSp>
      <p:grpSp>
        <p:nvGrpSpPr>
          <p:cNvPr id="138" name="Group 137">
            <a:extLst>
              <a:ext uri="{FF2B5EF4-FFF2-40B4-BE49-F238E27FC236}">
                <a16:creationId xmlns:a16="http://schemas.microsoft.com/office/drawing/2014/main" id="{70CA80D0-D0CA-0477-11E8-A5C4F17ECA2A}"/>
              </a:ext>
            </a:extLst>
          </p:cNvPr>
          <p:cNvGrpSpPr/>
          <p:nvPr/>
        </p:nvGrpSpPr>
        <p:grpSpPr>
          <a:xfrm>
            <a:off x="1071445" y="2006336"/>
            <a:ext cx="5402845" cy="2622702"/>
            <a:chOff x="3319987" y="2117649"/>
            <a:chExt cx="5402845" cy="2622702"/>
          </a:xfrm>
          <a:scene3d>
            <a:camera prst="orthographicFront"/>
            <a:lightRig rig="chilly" dir="t"/>
          </a:scene3d>
        </p:grpSpPr>
        <p:sp>
          <p:nvSpPr>
            <p:cNvPr id="139" name="Freeform: Shape 37">
              <a:extLst>
                <a:ext uri="{FF2B5EF4-FFF2-40B4-BE49-F238E27FC236}">
                  <a16:creationId xmlns:a16="http://schemas.microsoft.com/office/drawing/2014/main" id="{AD34DD0C-A1BE-4CCE-537B-EC87273B84A5}"/>
                </a:ext>
              </a:extLst>
            </p:cNvPr>
            <p:cNvSpPr/>
            <p:nvPr/>
          </p:nvSpPr>
          <p:spPr>
            <a:xfrm rot="18210856">
              <a:off x="5805315" y="2151839"/>
              <a:ext cx="753070" cy="1619169"/>
            </a:xfrm>
            <a:custGeom>
              <a:avLst/>
              <a:gdLst>
                <a:gd name="connsiteX0" fmla="*/ 600104 w 1057083"/>
                <a:gd name="connsiteY0" fmla="*/ 6523 h 1513523"/>
                <a:gd name="connsiteX1" fmla="*/ 9795 w 1057083"/>
                <a:gd name="connsiteY1" fmla="*/ 486872 h 1513523"/>
                <a:gd name="connsiteX2" fmla="*/ 281800 w 1057083"/>
                <a:gd name="connsiteY2" fmla="*/ 1488082 h 1513523"/>
                <a:gd name="connsiteX3" fmla="*/ 924195 w 1057083"/>
                <a:gd name="connsiteY3" fmla="*/ 1135055 h 1513523"/>
                <a:gd name="connsiteX4" fmla="*/ 1034154 w 1057083"/>
                <a:gd name="connsiteY4" fmla="*/ 272741 h 1513523"/>
                <a:gd name="connsiteX5" fmla="*/ 600104 w 1057083"/>
                <a:gd name="connsiteY5" fmla="*/ 6523 h 1513523"/>
                <a:gd name="connsiteX0" fmla="*/ 660864 w 1056582"/>
                <a:gd name="connsiteY0" fmla="*/ 2627 h 1775845"/>
                <a:gd name="connsiteX1" fmla="*/ 12681 w 1056582"/>
                <a:gd name="connsiteY1" fmla="*/ 749194 h 1775845"/>
                <a:gd name="connsiteX2" fmla="*/ 284686 w 1056582"/>
                <a:gd name="connsiteY2" fmla="*/ 1750404 h 1775845"/>
                <a:gd name="connsiteX3" fmla="*/ 927081 w 1056582"/>
                <a:gd name="connsiteY3" fmla="*/ 1397377 h 1775845"/>
                <a:gd name="connsiteX4" fmla="*/ 1037040 w 1056582"/>
                <a:gd name="connsiteY4" fmla="*/ 535063 h 1775845"/>
                <a:gd name="connsiteX5" fmla="*/ 660864 w 1056582"/>
                <a:gd name="connsiteY5" fmla="*/ 2627 h 1775845"/>
                <a:gd name="connsiteX0" fmla="*/ 449265 w 1062403"/>
                <a:gd name="connsiteY0" fmla="*/ 2218 h 1856459"/>
                <a:gd name="connsiteX1" fmla="*/ 3639 w 1062403"/>
                <a:gd name="connsiteY1" fmla="*/ 829808 h 1856459"/>
                <a:gd name="connsiteX2" fmla="*/ 275644 w 1062403"/>
                <a:gd name="connsiteY2" fmla="*/ 1831018 h 1856459"/>
                <a:gd name="connsiteX3" fmla="*/ 918039 w 1062403"/>
                <a:gd name="connsiteY3" fmla="*/ 1477991 h 1856459"/>
                <a:gd name="connsiteX4" fmla="*/ 1027998 w 1062403"/>
                <a:gd name="connsiteY4" fmla="*/ 615677 h 1856459"/>
                <a:gd name="connsiteX5" fmla="*/ 449265 w 1062403"/>
                <a:gd name="connsiteY5" fmla="*/ 2218 h 1856459"/>
                <a:gd name="connsiteX0" fmla="*/ 449265 w 971893"/>
                <a:gd name="connsiteY0" fmla="*/ 2218 h 1856459"/>
                <a:gd name="connsiteX1" fmla="*/ 3639 w 971893"/>
                <a:gd name="connsiteY1" fmla="*/ 829808 h 1856459"/>
                <a:gd name="connsiteX2" fmla="*/ 275644 w 971893"/>
                <a:gd name="connsiteY2" fmla="*/ 1831018 h 1856459"/>
                <a:gd name="connsiteX3" fmla="*/ 918039 w 971893"/>
                <a:gd name="connsiteY3" fmla="*/ 1477991 h 1856459"/>
                <a:gd name="connsiteX4" fmla="*/ 842804 w 971893"/>
                <a:gd name="connsiteY4" fmla="*/ 615677 h 1856459"/>
                <a:gd name="connsiteX5" fmla="*/ 449265 w 971893"/>
                <a:gd name="connsiteY5" fmla="*/ 2218 h 1856459"/>
                <a:gd name="connsiteX0" fmla="*/ 448722 w 861517"/>
                <a:gd name="connsiteY0" fmla="*/ 2144 h 1846757"/>
                <a:gd name="connsiteX1" fmla="*/ 3096 w 861517"/>
                <a:gd name="connsiteY1" fmla="*/ 829734 h 1846757"/>
                <a:gd name="connsiteX2" fmla="*/ 275101 w 861517"/>
                <a:gd name="connsiteY2" fmla="*/ 1830944 h 1846757"/>
                <a:gd name="connsiteX3" fmla="*/ 726514 w 861517"/>
                <a:gd name="connsiteY3" fmla="*/ 1385319 h 1846757"/>
                <a:gd name="connsiteX4" fmla="*/ 842261 w 861517"/>
                <a:gd name="connsiteY4" fmla="*/ 615603 h 1846757"/>
                <a:gd name="connsiteX5" fmla="*/ 448722 w 861517"/>
                <a:gd name="connsiteY5" fmla="*/ 2144 h 1846757"/>
                <a:gd name="connsiteX0" fmla="*/ 470986 w 883781"/>
                <a:gd name="connsiteY0" fmla="*/ 2144 h 1846757"/>
                <a:gd name="connsiteX1" fmla="*/ 2836 w 883781"/>
                <a:gd name="connsiteY1" fmla="*/ 829734 h 1846757"/>
                <a:gd name="connsiteX2" fmla="*/ 297365 w 883781"/>
                <a:gd name="connsiteY2" fmla="*/ 1830944 h 1846757"/>
                <a:gd name="connsiteX3" fmla="*/ 748778 w 883781"/>
                <a:gd name="connsiteY3" fmla="*/ 1385319 h 1846757"/>
                <a:gd name="connsiteX4" fmla="*/ 864525 w 883781"/>
                <a:gd name="connsiteY4" fmla="*/ 615603 h 1846757"/>
                <a:gd name="connsiteX5" fmla="*/ 470986 w 883781"/>
                <a:gd name="connsiteY5" fmla="*/ 2144 h 1846757"/>
                <a:gd name="connsiteX0" fmla="*/ 594364 w 1007159"/>
                <a:gd name="connsiteY0" fmla="*/ 2144 h 1846757"/>
                <a:gd name="connsiteX1" fmla="*/ 126214 w 1007159"/>
                <a:gd name="connsiteY1" fmla="*/ 829734 h 1846757"/>
                <a:gd name="connsiteX2" fmla="*/ 420743 w 1007159"/>
                <a:gd name="connsiteY2" fmla="*/ 1830944 h 1846757"/>
                <a:gd name="connsiteX3" fmla="*/ 872156 w 1007159"/>
                <a:gd name="connsiteY3" fmla="*/ 1385319 h 1846757"/>
                <a:gd name="connsiteX4" fmla="*/ 987903 w 1007159"/>
                <a:gd name="connsiteY4" fmla="*/ 615603 h 1846757"/>
                <a:gd name="connsiteX5" fmla="*/ 594364 w 1007159"/>
                <a:gd name="connsiteY5" fmla="*/ 2144 h 1846757"/>
                <a:gd name="connsiteX0" fmla="*/ 484902 w 883206"/>
                <a:gd name="connsiteY0" fmla="*/ 41557 h 1318371"/>
                <a:gd name="connsiteX1" fmla="*/ 3238 w 883206"/>
                <a:gd name="connsiteY1" fmla="*/ 301348 h 1318371"/>
                <a:gd name="connsiteX2" fmla="*/ 297767 w 883206"/>
                <a:gd name="connsiteY2" fmla="*/ 1302558 h 1318371"/>
                <a:gd name="connsiteX3" fmla="*/ 749180 w 883206"/>
                <a:gd name="connsiteY3" fmla="*/ 856933 h 1318371"/>
                <a:gd name="connsiteX4" fmla="*/ 864927 w 883206"/>
                <a:gd name="connsiteY4" fmla="*/ 87217 h 1318371"/>
                <a:gd name="connsiteX5" fmla="*/ 484902 w 883206"/>
                <a:gd name="connsiteY5" fmla="*/ 41557 h 1318371"/>
                <a:gd name="connsiteX0" fmla="*/ 378883 w 777187"/>
                <a:gd name="connsiteY0" fmla="*/ 58675 h 1324992"/>
                <a:gd name="connsiteX1" fmla="*/ 5333 w 777187"/>
                <a:gd name="connsiteY1" fmla="*/ 584244 h 1324992"/>
                <a:gd name="connsiteX2" fmla="*/ 191748 w 777187"/>
                <a:gd name="connsiteY2" fmla="*/ 1319676 h 1324992"/>
                <a:gd name="connsiteX3" fmla="*/ 643161 w 777187"/>
                <a:gd name="connsiteY3" fmla="*/ 874051 h 1324992"/>
                <a:gd name="connsiteX4" fmla="*/ 758908 w 777187"/>
                <a:gd name="connsiteY4" fmla="*/ 104335 h 1324992"/>
                <a:gd name="connsiteX5" fmla="*/ 378883 w 777187"/>
                <a:gd name="connsiteY5" fmla="*/ 58675 h 1324992"/>
                <a:gd name="connsiteX0" fmla="*/ 374434 w 772738"/>
                <a:gd name="connsiteY0" fmla="*/ 58675 h 1112877"/>
                <a:gd name="connsiteX1" fmla="*/ 884 w 772738"/>
                <a:gd name="connsiteY1" fmla="*/ 584244 h 1112877"/>
                <a:gd name="connsiteX2" fmla="*/ 281899 w 772738"/>
                <a:gd name="connsiteY2" fmla="*/ 1098194 h 1112877"/>
                <a:gd name="connsiteX3" fmla="*/ 638712 w 772738"/>
                <a:gd name="connsiteY3" fmla="*/ 874051 h 1112877"/>
                <a:gd name="connsiteX4" fmla="*/ 754459 w 772738"/>
                <a:gd name="connsiteY4" fmla="*/ 104335 h 1112877"/>
                <a:gd name="connsiteX5" fmla="*/ 374434 w 772738"/>
                <a:gd name="connsiteY5" fmla="*/ 58675 h 1112877"/>
                <a:gd name="connsiteX0" fmla="*/ 374434 w 696889"/>
                <a:gd name="connsiteY0" fmla="*/ 37893 h 1092095"/>
                <a:gd name="connsiteX1" fmla="*/ 884 w 696889"/>
                <a:gd name="connsiteY1" fmla="*/ 563462 h 1092095"/>
                <a:gd name="connsiteX2" fmla="*/ 281899 w 696889"/>
                <a:gd name="connsiteY2" fmla="*/ 1077412 h 1092095"/>
                <a:gd name="connsiteX3" fmla="*/ 638712 w 696889"/>
                <a:gd name="connsiteY3" fmla="*/ 853269 h 1092095"/>
                <a:gd name="connsiteX4" fmla="*/ 610307 w 696889"/>
                <a:gd name="connsiteY4" fmla="*/ 131877 h 1092095"/>
                <a:gd name="connsiteX5" fmla="*/ 374434 w 696889"/>
                <a:gd name="connsiteY5" fmla="*/ 37893 h 1092095"/>
                <a:gd name="connsiteX0" fmla="*/ 174778 w 706784"/>
                <a:gd name="connsiteY0" fmla="*/ 35901 h 1098658"/>
                <a:gd name="connsiteX1" fmla="*/ 2354 w 706784"/>
                <a:gd name="connsiteY1" fmla="*/ 570025 h 1098658"/>
                <a:gd name="connsiteX2" fmla="*/ 283369 w 706784"/>
                <a:gd name="connsiteY2" fmla="*/ 1083975 h 1098658"/>
                <a:gd name="connsiteX3" fmla="*/ 640182 w 706784"/>
                <a:gd name="connsiteY3" fmla="*/ 859832 h 1098658"/>
                <a:gd name="connsiteX4" fmla="*/ 611777 w 706784"/>
                <a:gd name="connsiteY4" fmla="*/ 138440 h 1098658"/>
                <a:gd name="connsiteX5" fmla="*/ 174778 w 706784"/>
                <a:gd name="connsiteY5" fmla="*/ 35901 h 10986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6784" h="1098658">
                  <a:moveTo>
                    <a:pt x="174778" y="35901"/>
                  </a:moveTo>
                  <a:cubicBezTo>
                    <a:pt x="73208" y="107832"/>
                    <a:pt x="-15744" y="395346"/>
                    <a:pt x="2354" y="570025"/>
                  </a:cubicBezTo>
                  <a:cubicBezTo>
                    <a:pt x="20452" y="744704"/>
                    <a:pt x="177064" y="1035674"/>
                    <a:pt x="283369" y="1083975"/>
                  </a:cubicBezTo>
                  <a:cubicBezTo>
                    <a:pt x="389674" y="1132276"/>
                    <a:pt x="514790" y="1062389"/>
                    <a:pt x="640182" y="859832"/>
                  </a:cubicBezTo>
                  <a:cubicBezTo>
                    <a:pt x="765574" y="657275"/>
                    <a:pt x="689344" y="275762"/>
                    <a:pt x="611777" y="138440"/>
                  </a:cubicBezTo>
                  <a:cubicBezTo>
                    <a:pt x="534210" y="1118"/>
                    <a:pt x="276348" y="-36030"/>
                    <a:pt x="174778" y="35901"/>
                  </a:cubicBezTo>
                  <a:close/>
                </a:path>
              </a:pathLst>
            </a:custGeom>
            <a:solidFill>
              <a:schemeClr val="accent1">
                <a:lumMod val="40000"/>
                <a:lumOff val="60000"/>
              </a:schemeClr>
            </a:solidFill>
            <a:sp3d prstMaterial="translucentPowder"/>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0" name="Freeform: Shape 41">
              <a:extLst>
                <a:ext uri="{FF2B5EF4-FFF2-40B4-BE49-F238E27FC236}">
                  <a16:creationId xmlns:a16="http://schemas.microsoft.com/office/drawing/2014/main" id="{EBA62536-2316-8EDF-8C45-6D3DF45662AF}"/>
                </a:ext>
              </a:extLst>
            </p:cNvPr>
            <p:cNvSpPr/>
            <p:nvPr/>
          </p:nvSpPr>
          <p:spPr>
            <a:xfrm rot="20489144">
              <a:off x="7353768" y="2117649"/>
              <a:ext cx="702224" cy="1580126"/>
            </a:xfrm>
            <a:custGeom>
              <a:avLst/>
              <a:gdLst>
                <a:gd name="connsiteX0" fmla="*/ 600104 w 1057083"/>
                <a:gd name="connsiteY0" fmla="*/ 6523 h 1513523"/>
                <a:gd name="connsiteX1" fmla="*/ 9795 w 1057083"/>
                <a:gd name="connsiteY1" fmla="*/ 486872 h 1513523"/>
                <a:gd name="connsiteX2" fmla="*/ 281800 w 1057083"/>
                <a:gd name="connsiteY2" fmla="*/ 1488082 h 1513523"/>
                <a:gd name="connsiteX3" fmla="*/ 924195 w 1057083"/>
                <a:gd name="connsiteY3" fmla="*/ 1135055 h 1513523"/>
                <a:gd name="connsiteX4" fmla="*/ 1034154 w 1057083"/>
                <a:gd name="connsiteY4" fmla="*/ 272741 h 1513523"/>
                <a:gd name="connsiteX5" fmla="*/ 600104 w 1057083"/>
                <a:gd name="connsiteY5" fmla="*/ 6523 h 1513523"/>
                <a:gd name="connsiteX0" fmla="*/ 660864 w 1056582"/>
                <a:gd name="connsiteY0" fmla="*/ 2627 h 1775845"/>
                <a:gd name="connsiteX1" fmla="*/ 12681 w 1056582"/>
                <a:gd name="connsiteY1" fmla="*/ 749194 h 1775845"/>
                <a:gd name="connsiteX2" fmla="*/ 284686 w 1056582"/>
                <a:gd name="connsiteY2" fmla="*/ 1750404 h 1775845"/>
                <a:gd name="connsiteX3" fmla="*/ 927081 w 1056582"/>
                <a:gd name="connsiteY3" fmla="*/ 1397377 h 1775845"/>
                <a:gd name="connsiteX4" fmla="*/ 1037040 w 1056582"/>
                <a:gd name="connsiteY4" fmla="*/ 535063 h 1775845"/>
                <a:gd name="connsiteX5" fmla="*/ 660864 w 1056582"/>
                <a:gd name="connsiteY5" fmla="*/ 2627 h 1775845"/>
                <a:gd name="connsiteX0" fmla="*/ 449265 w 1062403"/>
                <a:gd name="connsiteY0" fmla="*/ 2218 h 1856459"/>
                <a:gd name="connsiteX1" fmla="*/ 3639 w 1062403"/>
                <a:gd name="connsiteY1" fmla="*/ 829808 h 1856459"/>
                <a:gd name="connsiteX2" fmla="*/ 275644 w 1062403"/>
                <a:gd name="connsiteY2" fmla="*/ 1831018 h 1856459"/>
                <a:gd name="connsiteX3" fmla="*/ 918039 w 1062403"/>
                <a:gd name="connsiteY3" fmla="*/ 1477991 h 1856459"/>
                <a:gd name="connsiteX4" fmla="*/ 1027998 w 1062403"/>
                <a:gd name="connsiteY4" fmla="*/ 615677 h 1856459"/>
                <a:gd name="connsiteX5" fmla="*/ 449265 w 1062403"/>
                <a:gd name="connsiteY5" fmla="*/ 2218 h 1856459"/>
                <a:gd name="connsiteX0" fmla="*/ 449265 w 971893"/>
                <a:gd name="connsiteY0" fmla="*/ 2218 h 1856459"/>
                <a:gd name="connsiteX1" fmla="*/ 3639 w 971893"/>
                <a:gd name="connsiteY1" fmla="*/ 829808 h 1856459"/>
                <a:gd name="connsiteX2" fmla="*/ 275644 w 971893"/>
                <a:gd name="connsiteY2" fmla="*/ 1831018 h 1856459"/>
                <a:gd name="connsiteX3" fmla="*/ 918039 w 971893"/>
                <a:gd name="connsiteY3" fmla="*/ 1477991 h 1856459"/>
                <a:gd name="connsiteX4" fmla="*/ 842804 w 971893"/>
                <a:gd name="connsiteY4" fmla="*/ 615677 h 1856459"/>
                <a:gd name="connsiteX5" fmla="*/ 449265 w 971893"/>
                <a:gd name="connsiteY5" fmla="*/ 2218 h 1856459"/>
                <a:gd name="connsiteX0" fmla="*/ 448722 w 861517"/>
                <a:gd name="connsiteY0" fmla="*/ 2144 h 1846757"/>
                <a:gd name="connsiteX1" fmla="*/ 3096 w 861517"/>
                <a:gd name="connsiteY1" fmla="*/ 829734 h 1846757"/>
                <a:gd name="connsiteX2" fmla="*/ 275101 w 861517"/>
                <a:gd name="connsiteY2" fmla="*/ 1830944 h 1846757"/>
                <a:gd name="connsiteX3" fmla="*/ 726514 w 861517"/>
                <a:gd name="connsiteY3" fmla="*/ 1385319 h 1846757"/>
                <a:gd name="connsiteX4" fmla="*/ 842261 w 861517"/>
                <a:gd name="connsiteY4" fmla="*/ 615603 h 1846757"/>
                <a:gd name="connsiteX5" fmla="*/ 448722 w 861517"/>
                <a:gd name="connsiteY5" fmla="*/ 2144 h 1846757"/>
                <a:gd name="connsiteX0" fmla="*/ 470986 w 883781"/>
                <a:gd name="connsiteY0" fmla="*/ 2144 h 1846757"/>
                <a:gd name="connsiteX1" fmla="*/ 2836 w 883781"/>
                <a:gd name="connsiteY1" fmla="*/ 829734 h 1846757"/>
                <a:gd name="connsiteX2" fmla="*/ 297365 w 883781"/>
                <a:gd name="connsiteY2" fmla="*/ 1830944 h 1846757"/>
                <a:gd name="connsiteX3" fmla="*/ 748778 w 883781"/>
                <a:gd name="connsiteY3" fmla="*/ 1385319 h 1846757"/>
                <a:gd name="connsiteX4" fmla="*/ 864525 w 883781"/>
                <a:gd name="connsiteY4" fmla="*/ 615603 h 1846757"/>
                <a:gd name="connsiteX5" fmla="*/ 470986 w 883781"/>
                <a:gd name="connsiteY5" fmla="*/ 2144 h 1846757"/>
                <a:gd name="connsiteX0" fmla="*/ 594364 w 1007159"/>
                <a:gd name="connsiteY0" fmla="*/ 2144 h 1846757"/>
                <a:gd name="connsiteX1" fmla="*/ 126214 w 1007159"/>
                <a:gd name="connsiteY1" fmla="*/ 829734 h 1846757"/>
                <a:gd name="connsiteX2" fmla="*/ 420743 w 1007159"/>
                <a:gd name="connsiteY2" fmla="*/ 1830944 h 1846757"/>
                <a:gd name="connsiteX3" fmla="*/ 872156 w 1007159"/>
                <a:gd name="connsiteY3" fmla="*/ 1385319 h 1846757"/>
                <a:gd name="connsiteX4" fmla="*/ 987903 w 1007159"/>
                <a:gd name="connsiteY4" fmla="*/ 615603 h 1846757"/>
                <a:gd name="connsiteX5" fmla="*/ 594364 w 1007159"/>
                <a:gd name="connsiteY5" fmla="*/ 2144 h 1846757"/>
                <a:gd name="connsiteX0" fmla="*/ 484902 w 883206"/>
                <a:gd name="connsiteY0" fmla="*/ 41557 h 1318371"/>
                <a:gd name="connsiteX1" fmla="*/ 3238 w 883206"/>
                <a:gd name="connsiteY1" fmla="*/ 301348 h 1318371"/>
                <a:gd name="connsiteX2" fmla="*/ 297767 w 883206"/>
                <a:gd name="connsiteY2" fmla="*/ 1302558 h 1318371"/>
                <a:gd name="connsiteX3" fmla="*/ 749180 w 883206"/>
                <a:gd name="connsiteY3" fmla="*/ 856933 h 1318371"/>
                <a:gd name="connsiteX4" fmla="*/ 864927 w 883206"/>
                <a:gd name="connsiteY4" fmla="*/ 87217 h 1318371"/>
                <a:gd name="connsiteX5" fmla="*/ 484902 w 883206"/>
                <a:gd name="connsiteY5" fmla="*/ 41557 h 1318371"/>
                <a:gd name="connsiteX0" fmla="*/ 378883 w 777187"/>
                <a:gd name="connsiteY0" fmla="*/ 58675 h 1324992"/>
                <a:gd name="connsiteX1" fmla="*/ 5333 w 777187"/>
                <a:gd name="connsiteY1" fmla="*/ 584244 h 1324992"/>
                <a:gd name="connsiteX2" fmla="*/ 191748 w 777187"/>
                <a:gd name="connsiteY2" fmla="*/ 1319676 h 1324992"/>
                <a:gd name="connsiteX3" fmla="*/ 643161 w 777187"/>
                <a:gd name="connsiteY3" fmla="*/ 874051 h 1324992"/>
                <a:gd name="connsiteX4" fmla="*/ 758908 w 777187"/>
                <a:gd name="connsiteY4" fmla="*/ 104335 h 1324992"/>
                <a:gd name="connsiteX5" fmla="*/ 378883 w 777187"/>
                <a:gd name="connsiteY5" fmla="*/ 58675 h 1324992"/>
                <a:gd name="connsiteX0" fmla="*/ 374434 w 772738"/>
                <a:gd name="connsiteY0" fmla="*/ 58675 h 1112877"/>
                <a:gd name="connsiteX1" fmla="*/ 884 w 772738"/>
                <a:gd name="connsiteY1" fmla="*/ 584244 h 1112877"/>
                <a:gd name="connsiteX2" fmla="*/ 281899 w 772738"/>
                <a:gd name="connsiteY2" fmla="*/ 1098194 h 1112877"/>
                <a:gd name="connsiteX3" fmla="*/ 638712 w 772738"/>
                <a:gd name="connsiteY3" fmla="*/ 874051 h 1112877"/>
                <a:gd name="connsiteX4" fmla="*/ 754459 w 772738"/>
                <a:gd name="connsiteY4" fmla="*/ 104335 h 1112877"/>
                <a:gd name="connsiteX5" fmla="*/ 374434 w 772738"/>
                <a:gd name="connsiteY5" fmla="*/ 58675 h 1112877"/>
                <a:gd name="connsiteX0" fmla="*/ 374434 w 696889"/>
                <a:gd name="connsiteY0" fmla="*/ 37893 h 1092095"/>
                <a:gd name="connsiteX1" fmla="*/ 884 w 696889"/>
                <a:gd name="connsiteY1" fmla="*/ 563462 h 1092095"/>
                <a:gd name="connsiteX2" fmla="*/ 281899 w 696889"/>
                <a:gd name="connsiteY2" fmla="*/ 1077412 h 1092095"/>
                <a:gd name="connsiteX3" fmla="*/ 638712 w 696889"/>
                <a:gd name="connsiteY3" fmla="*/ 853269 h 1092095"/>
                <a:gd name="connsiteX4" fmla="*/ 610307 w 696889"/>
                <a:gd name="connsiteY4" fmla="*/ 131877 h 1092095"/>
                <a:gd name="connsiteX5" fmla="*/ 374434 w 696889"/>
                <a:gd name="connsiteY5" fmla="*/ 37893 h 1092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6889" h="1092095">
                  <a:moveTo>
                    <a:pt x="374434" y="37893"/>
                  </a:moveTo>
                  <a:cubicBezTo>
                    <a:pt x="272864" y="109824"/>
                    <a:pt x="16307" y="390209"/>
                    <a:pt x="884" y="563462"/>
                  </a:cubicBezTo>
                  <a:cubicBezTo>
                    <a:pt x="-14539" y="736715"/>
                    <a:pt x="175594" y="1029111"/>
                    <a:pt x="281899" y="1077412"/>
                  </a:cubicBezTo>
                  <a:cubicBezTo>
                    <a:pt x="388204" y="1125713"/>
                    <a:pt x="513320" y="1055826"/>
                    <a:pt x="638712" y="853269"/>
                  </a:cubicBezTo>
                  <a:cubicBezTo>
                    <a:pt x="764104" y="650712"/>
                    <a:pt x="654353" y="267773"/>
                    <a:pt x="610307" y="131877"/>
                  </a:cubicBezTo>
                  <a:cubicBezTo>
                    <a:pt x="566261" y="-4019"/>
                    <a:pt x="476004" y="-34038"/>
                    <a:pt x="374434" y="37893"/>
                  </a:cubicBezTo>
                  <a:close/>
                </a:path>
              </a:pathLst>
            </a:custGeom>
            <a:solidFill>
              <a:srgbClr val="FFC000"/>
            </a:solidFill>
            <a:sp3d prstMaterial="translucentPowder"/>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1" name="Freeform: Shape 42">
              <a:extLst>
                <a:ext uri="{FF2B5EF4-FFF2-40B4-BE49-F238E27FC236}">
                  <a16:creationId xmlns:a16="http://schemas.microsoft.com/office/drawing/2014/main" id="{F9EB3E1E-9474-FCF3-20E2-9B18DE776FA0}"/>
                </a:ext>
              </a:extLst>
            </p:cNvPr>
            <p:cNvSpPr/>
            <p:nvPr/>
          </p:nvSpPr>
          <p:spPr>
            <a:xfrm rot="14780254">
              <a:off x="7470526" y="3255567"/>
              <a:ext cx="728212" cy="1776400"/>
            </a:xfrm>
            <a:custGeom>
              <a:avLst/>
              <a:gdLst>
                <a:gd name="connsiteX0" fmla="*/ 600104 w 1057083"/>
                <a:gd name="connsiteY0" fmla="*/ 6523 h 1513523"/>
                <a:gd name="connsiteX1" fmla="*/ 9795 w 1057083"/>
                <a:gd name="connsiteY1" fmla="*/ 486872 h 1513523"/>
                <a:gd name="connsiteX2" fmla="*/ 281800 w 1057083"/>
                <a:gd name="connsiteY2" fmla="*/ 1488082 h 1513523"/>
                <a:gd name="connsiteX3" fmla="*/ 924195 w 1057083"/>
                <a:gd name="connsiteY3" fmla="*/ 1135055 h 1513523"/>
                <a:gd name="connsiteX4" fmla="*/ 1034154 w 1057083"/>
                <a:gd name="connsiteY4" fmla="*/ 272741 h 1513523"/>
                <a:gd name="connsiteX5" fmla="*/ 600104 w 1057083"/>
                <a:gd name="connsiteY5" fmla="*/ 6523 h 1513523"/>
                <a:gd name="connsiteX0" fmla="*/ 660864 w 1056582"/>
                <a:gd name="connsiteY0" fmla="*/ 2627 h 1775845"/>
                <a:gd name="connsiteX1" fmla="*/ 12681 w 1056582"/>
                <a:gd name="connsiteY1" fmla="*/ 749194 h 1775845"/>
                <a:gd name="connsiteX2" fmla="*/ 284686 w 1056582"/>
                <a:gd name="connsiteY2" fmla="*/ 1750404 h 1775845"/>
                <a:gd name="connsiteX3" fmla="*/ 927081 w 1056582"/>
                <a:gd name="connsiteY3" fmla="*/ 1397377 h 1775845"/>
                <a:gd name="connsiteX4" fmla="*/ 1037040 w 1056582"/>
                <a:gd name="connsiteY4" fmla="*/ 535063 h 1775845"/>
                <a:gd name="connsiteX5" fmla="*/ 660864 w 1056582"/>
                <a:gd name="connsiteY5" fmla="*/ 2627 h 1775845"/>
                <a:gd name="connsiteX0" fmla="*/ 449265 w 1062403"/>
                <a:gd name="connsiteY0" fmla="*/ 2218 h 1856459"/>
                <a:gd name="connsiteX1" fmla="*/ 3639 w 1062403"/>
                <a:gd name="connsiteY1" fmla="*/ 829808 h 1856459"/>
                <a:gd name="connsiteX2" fmla="*/ 275644 w 1062403"/>
                <a:gd name="connsiteY2" fmla="*/ 1831018 h 1856459"/>
                <a:gd name="connsiteX3" fmla="*/ 918039 w 1062403"/>
                <a:gd name="connsiteY3" fmla="*/ 1477991 h 1856459"/>
                <a:gd name="connsiteX4" fmla="*/ 1027998 w 1062403"/>
                <a:gd name="connsiteY4" fmla="*/ 615677 h 1856459"/>
                <a:gd name="connsiteX5" fmla="*/ 449265 w 1062403"/>
                <a:gd name="connsiteY5" fmla="*/ 2218 h 1856459"/>
                <a:gd name="connsiteX0" fmla="*/ 449265 w 971893"/>
                <a:gd name="connsiteY0" fmla="*/ 2218 h 1856459"/>
                <a:gd name="connsiteX1" fmla="*/ 3639 w 971893"/>
                <a:gd name="connsiteY1" fmla="*/ 829808 h 1856459"/>
                <a:gd name="connsiteX2" fmla="*/ 275644 w 971893"/>
                <a:gd name="connsiteY2" fmla="*/ 1831018 h 1856459"/>
                <a:gd name="connsiteX3" fmla="*/ 918039 w 971893"/>
                <a:gd name="connsiteY3" fmla="*/ 1477991 h 1856459"/>
                <a:gd name="connsiteX4" fmla="*/ 842804 w 971893"/>
                <a:gd name="connsiteY4" fmla="*/ 615677 h 1856459"/>
                <a:gd name="connsiteX5" fmla="*/ 449265 w 971893"/>
                <a:gd name="connsiteY5" fmla="*/ 2218 h 1856459"/>
                <a:gd name="connsiteX0" fmla="*/ 448722 w 861517"/>
                <a:gd name="connsiteY0" fmla="*/ 2144 h 1846757"/>
                <a:gd name="connsiteX1" fmla="*/ 3096 w 861517"/>
                <a:gd name="connsiteY1" fmla="*/ 829734 h 1846757"/>
                <a:gd name="connsiteX2" fmla="*/ 275101 w 861517"/>
                <a:gd name="connsiteY2" fmla="*/ 1830944 h 1846757"/>
                <a:gd name="connsiteX3" fmla="*/ 726514 w 861517"/>
                <a:gd name="connsiteY3" fmla="*/ 1385319 h 1846757"/>
                <a:gd name="connsiteX4" fmla="*/ 842261 w 861517"/>
                <a:gd name="connsiteY4" fmla="*/ 615603 h 1846757"/>
                <a:gd name="connsiteX5" fmla="*/ 448722 w 861517"/>
                <a:gd name="connsiteY5" fmla="*/ 2144 h 1846757"/>
                <a:gd name="connsiteX0" fmla="*/ 470986 w 883781"/>
                <a:gd name="connsiteY0" fmla="*/ 2144 h 1846757"/>
                <a:gd name="connsiteX1" fmla="*/ 2836 w 883781"/>
                <a:gd name="connsiteY1" fmla="*/ 829734 h 1846757"/>
                <a:gd name="connsiteX2" fmla="*/ 297365 w 883781"/>
                <a:gd name="connsiteY2" fmla="*/ 1830944 h 1846757"/>
                <a:gd name="connsiteX3" fmla="*/ 748778 w 883781"/>
                <a:gd name="connsiteY3" fmla="*/ 1385319 h 1846757"/>
                <a:gd name="connsiteX4" fmla="*/ 864525 w 883781"/>
                <a:gd name="connsiteY4" fmla="*/ 615603 h 1846757"/>
                <a:gd name="connsiteX5" fmla="*/ 470986 w 883781"/>
                <a:gd name="connsiteY5" fmla="*/ 2144 h 1846757"/>
                <a:gd name="connsiteX0" fmla="*/ 594364 w 1007159"/>
                <a:gd name="connsiteY0" fmla="*/ 2144 h 1846757"/>
                <a:gd name="connsiteX1" fmla="*/ 126214 w 1007159"/>
                <a:gd name="connsiteY1" fmla="*/ 829734 h 1846757"/>
                <a:gd name="connsiteX2" fmla="*/ 420743 w 1007159"/>
                <a:gd name="connsiteY2" fmla="*/ 1830944 h 1846757"/>
                <a:gd name="connsiteX3" fmla="*/ 872156 w 1007159"/>
                <a:gd name="connsiteY3" fmla="*/ 1385319 h 1846757"/>
                <a:gd name="connsiteX4" fmla="*/ 987903 w 1007159"/>
                <a:gd name="connsiteY4" fmla="*/ 615603 h 1846757"/>
                <a:gd name="connsiteX5" fmla="*/ 594364 w 1007159"/>
                <a:gd name="connsiteY5" fmla="*/ 2144 h 1846757"/>
                <a:gd name="connsiteX0" fmla="*/ 484902 w 883206"/>
                <a:gd name="connsiteY0" fmla="*/ 41557 h 1318371"/>
                <a:gd name="connsiteX1" fmla="*/ 3238 w 883206"/>
                <a:gd name="connsiteY1" fmla="*/ 301348 h 1318371"/>
                <a:gd name="connsiteX2" fmla="*/ 297767 w 883206"/>
                <a:gd name="connsiteY2" fmla="*/ 1302558 h 1318371"/>
                <a:gd name="connsiteX3" fmla="*/ 749180 w 883206"/>
                <a:gd name="connsiteY3" fmla="*/ 856933 h 1318371"/>
                <a:gd name="connsiteX4" fmla="*/ 864927 w 883206"/>
                <a:gd name="connsiteY4" fmla="*/ 87217 h 1318371"/>
                <a:gd name="connsiteX5" fmla="*/ 484902 w 883206"/>
                <a:gd name="connsiteY5" fmla="*/ 41557 h 1318371"/>
                <a:gd name="connsiteX0" fmla="*/ 378883 w 777187"/>
                <a:gd name="connsiteY0" fmla="*/ 58675 h 1324992"/>
                <a:gd name="connsiteX1" fmla="*/ 5333 w 777187"/>
                <a:gd name="connsiteY1" fmla="*/ 584244 h 1324992"/>
                <a:gd name="connsiteX2" fmla="*/ 191748 w 777187"/>
                <a:gd name="connsiteY2" fmla="*/ 1319676 h 1324992"/>
                <a:gd name="connsiteX3" fmla="*/ 643161 w 777187"/>
                <a:gd name="connsiteY3" fmla="*/ 874051 h 1324992"/>
                <a:gd name="connsiteX4" fmla="*/ 758908 w 777187"/>
                <a:gd name="connsiteY4" fmla="*/ 104335 h 1324992"/>
                <a:gd name="connsiteX5" fmla="*/ 378883 w 777187"/>
                <a:gd name="connsiteY5" fmla="*/ 58675 h 1324992"/>
                <a:gd name="connsiteX0" fmla="*/ 374434 w 772738"/>
                <a:gd name="connsiteY0" fmla="*/ 58675 h 1112877"/>
                <a:gd name="connsiteX1" fmla="*/ 884 w 772738"/>
                <a:gd name="connsiteY1" fmla="*/ 584244 h 1112877"/>
                <a:gd name="connsiteX2" fmla="*/ 281899 w 772738"/>
                <a:gd name="connsiteY2" fmla="*/ 1098194 h 1112877"/>
                <a:gd name="connsiteX3" fmla="*/ 638712 w 772738"/>
                <a:gd name="connsiteY3" fmla="*/ 874051 h 1112877"/>
                <a:gd name="connsiteX4" fmla="*/ 754459 w 772738"/>
                <a:gd name="connsiteY4" fmla="*/ 104335 h 1112877"/>
                <a:gd name="connsiteX5" fmla="*/ 374434 w 772738"/>
                <a:gd name="connsiteY5" fmla="*/ 58675 h 1112877"/>
                <a:gd name="connsiteX0" fmla="*/ 374434 w 696889"/>
                <a:gd name="connsiteY0" fmla="*/ 37893 h 1092095"/>
                <a:gd name="connsiteX1" fmla="*/ 884 w 696889"/>
                <a:gd name="connsiteY1" fmla="*/ 563462 h 1092095"/>
                <a:gd name="connsiteX2" fmla="*/ 281899 w 696889"/>
                <a:gd name="connsiteY2" fmla="*/ 1077412 h 1092095"/>
                <a:gd name="connsiteX3" fmla="*/ 638712 w 696889"/>
                <a:gd name="connsiteY3" fmla="*/ 853269 h 1092095"/>
                <a:gd name="connsiteX4" fmla="*/ 610307 w 696889"/>
                <a:gd name="connsiteY4" fmla="*/ 131877 h 1092095"/>
                <a:gd name="connsiteX5" fmla="*/ 374434 w 696889"/>
                <a:gd name="connsiteY5" fmla="*/ 37893 h 1092095"/>
                <a:gd name="connsiteX0" fmla="*/ 473956 w 796411"/>
                <a:gd name="connsiteY0" fmla="*/ 37403 h 1092032"/>
                <a:gd name="connsiteX1" fmla="*/ 626 w 796411"/>
                <a:gd name="connsiteY1" fmla="*/ 556351 h 1092032"/>
                <a:gd name="connsiteX2" fmla="*/ 381421 w 796411"/>
                <a:gd name="connsiteY2" fmla="*/ 1076922 h 1092032"/>
                <a:gd name="connsiteX3" fmla="*/ 738234 w 796411"/>
                <a:gd name="connsiteY3" fmla="*/ 852779 h 1092032"/>
                <a:gd name="connsiteX4" fmla="*/ 709829 w 796411"/>
                <a:gd name="connsiteY4" fmla="*/ 131387 h 1092032"/>
                <a:gd name="connsiteX5" fmla="*/ 473956 w 796411"/>
                <a:gd name="connsiteY5" fmla="*/ 37403 h 1092032"/>
                <a:gd name="connsiteX0" fmla="*/ 335305 w 801608"/>
                <a:gd name="connsiteY0" fmla="*/ 27532 h 1133821"/>
                <a:gd name="connsiteX1" fmla="*/ 190 w 801608"/>
                <a:gd name="connsiteY1" fmla="*/ 598140 h 1133821"/>
                <a:gd name="connsiteX2" fmla="*/ 380985 w 801608"/>
                <a:gd name="connsiteY2" fmla="*/ 1118711 h 1133821"/>
                <a:gd name="connsiteX3" fmla="*/ 737798 w 801608"/>
                <a:gd name="connsiteY3" fmla="*/ 894568 h 1133821"/>
                <a:gd name="connsiteX4" fmla="*/ 709393 w 801608"/>
                <a:gd name="connsiteY4" fmla="*/ 173176 h 1133821"/>
                <a:gd name="connsiteX5" fmla="*/ 335305 w 801608"/>
                <a:gd name="connsiteY5" fmla="*/ 27532 h 1133821"/>
                <a:gd name="connsiteX0" fmla="*/ 335304 w 965286"/>
                <a:gd name="connsiteY0" fmla="*/ 29886 h 1158852"/>
                <a:gd name="connsiteX1" fmla="*/ 189 w 965286"/>
                <a:gd name="connsiteY1" fmla="*/ 600494 h 1158852"/>
                <a:gd name="connsiteX2" fmla="*/ 380984 w 965286"/>
                <a:gd name="connsiteY2" fmla="*/ 1121065 h 1158852"/>
                <a:gd name="connsiteX3" fmla="*/ 930593 w 965286"/>
                <a:gd name="connsiteY3" fmla="*/ 982946 h 1158852"/>
                <a:gd name="connsiteX4" fmla="*/ 709392 w 965286"/>
                <a:gd name="connsiteY4" fmla="*/ 175530 h 1158852"/>
                <a:gd name="connsiteX5" fmla="*/ 335304 w 965286"/>
                <a:gd name="connsiteY5" fmla="*/ 29886 h 1158852"/>
                <a:gd name="connsiteX0" fmla="*/ 335160 w 965142"/>
                <a:gd name="connsiteY0" fmla="*/ 29886 h 1182704"/>
                <a:gd name="connsiteX1" fmla="*/ 45 w 965142"/>
                <a:gd name="connsiteY1" fmla="*/ 600494 h 1182704"/>
                <a:gd name="connsiteX2" fmla="*/ 316305 w 965142"/>
                <a:gd name="connsiteY2" fmla="*/ 1153054 h 1182704"/>
                <a:gd name="connsiteX3" fmla="*/ 930449 w 965142"/>
                <a:gd name="connsiteY3" fmla="*/ 982946 h 1182704"/>
                <a:gd name="connsiteX4" fmla="*/ 709248 w 965142"/>
                <a:gd name="connsiteY4" fmla="*/ 175530 h 1182704"/>
                <a:gd name="connsiteX5" fmla="*/ 335160 w 965142"/>
                <a:gd name="connsiteY5" fmla="*/ 29886 h 1182704"/>
                <a:gd name="connsiteX0" fmla="*/ 335160 w 972413"/>
                <a:gd name="connsiteY0" fmla="*/ 34801 h 1187619"/>
                <a:gd name="connsiteX1" fmla="*/ 45 w 972413"/>
                <a:gd name="connsiteY1" fmla="*/ 605409 h 1187619"/>
                <a:gd name="connsiteX2" fmla="*/ 316305 w 972413"/>
                <a:gd name="connsiteY2" fmla="*/ 1157969 h 1187619"/>
                <a:gd name="connsiteX3" fmla="*/ 930449 w 972413"/>
                <a:gd name="connsiteY3" fmla="*/ 987861 h 1187619"/>
                <a:gd name="connsiteX4" fmla="*/ 770498 w 972413"/>
                <a:gd name="connsiteY4" fmla="*/ 163437 h 1187619"/>
                <a:gd name="connsiteX5" fmla="*/ 335160 w 972413"/>
                <a:gd name="connsiteY5" fmla="*/ 34801 h 1187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72413" h="1187619">
                  <a:moveTo>
                    <a:pt x="335160" y="34801"/>
                  </a:moveTo>
                  <a:cubicBezTo>
                    <a:pt x="206751" y="108463"/>
                    <a:pt x="3188" y="418214"/>
                    <a:pt x="45" y="605409"/>
                  </a:cubicBezTo>
                  <a:cubicBezTo>
                    <a:pt x="-3098" y="792604"/>
                    <a:pt x="161238" y="1094227"/>
                    <a:pt x="316305" y="1157969"/>
                  </a:cubicBezTo>
                  <a:cubicBezTo>
                    <a:pt x="471372" y="1221711"/>
                    <a:pt x="805057" y="1190418"/>
                    <a:pt x="930449" y="987861"/>
                  </a:cubicBezTo>
                  <a:cubicBezTo>
                    <a:pt x="1055841" y="785304"/>
                    <a:pt x="869713" y="322280"/>
                    <a:pt x="770498" y="163437"/>
                  </a:cubicBezTo>
                  <a:cubicBezTo>
                    <a:pt x="671283" y="4594"/>
                    <a:pt x="463569" y="-38861"/>
                    <a:pt x="335160" y="34801"/>
                  </a:cubicBezTo>
                  <a:close/>
                </a:path>
              </a:pathLst>
            </a:custGeom>
            <a:solidFill>
              <a:srgbClr val="9FE7E9"/>
            </a:solidFill>
            <a:sp3d prstMaterial="translucentPowder"/>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2" name="Freeform: Shape 43">
              <a:extLst>
                <a:ext uri="{FF2B5EF4-FFF2-40B4-BE49-F238E27FC236}">
                  <a16:creationId xmlns:a16="http://schemas.microsoft.com/office/drawing/2014/main" id="{E009BFAF-A966-F6E7-6F50-021A0100F46A}"/>
                </a:ext>
              </a:extLst>
            </p:cNvPr>
            <p:cNvSpPr/>
            <p:nvPr/>
          </p:nvSpPr>
          <p:spPr>
            <a:xfrm rot="7946605">
              <a:off x="7598329" y="2805663"/>
              <a:ext cx="807569" cy="1426890"/>
            </a:xfrm>
            <a:custGeom>
              <a:avLst/>
              <a:gdLst>
                <a:gd name="connsiteX0" fmla="*/ 600104 w 1057083"/>
                <a:gd name="connsiteY0" fmla="*/ 6523 h 1513523"/>
                <a:gd name="connsiteX1" fmla="*/ 9795 w 1057083"/>
                <a:gd name="connsiteY1" fmla="*/ 486872 h 1513523"/>
                <a:gd name="connsiteX2" fmla="*/ 281800 w 1057083"/>
                <a:gd name="connsiteY2" fmla="*/ 1488082 h 1513523"/>
                <a:gd name="connsiteX3" fmla="*/ 924195 w 1057083"/>
                <a:gd name="connsiteY3" fmla="*/ 1135055 h 1513523"/>
                <a:gd name="connsiteX4" fmla="*/ 1034154 w 1057083"/>
                <a:gd name="connsiteY4" fmla="*/ 272741 h 1513523"/>
                <a:gd name="connsiteX5" fmla="*/ 600104 w 1057083"/>
                <a:gd name="connsiteY5" fmla="*/ 6523 h 1513523"/>
                <a:gd name="connsiteX0" fmla="*/ 660864 w 1056582"/>
                <a:gd name="connsiteY0" fmla="*/ 2627 h 1775845"/>
                <a:gd name="connsiteX1" fmla="*/ 12681 w 1056582"/>
                <a:gd name="connsiteY1" fmla="*/ 749194 h 1775845"/>
                <a:gd name="connsiteX2" fmla="*/ 284686 w 1056582"/>
                <a:gd name="connsiteY2" fmla="*/ 1750404 h 1775845"/>
                <a:gd name="connsiteX3" fmla="*/ 927081 w 1056582"/>
                <a:gd name="connsiteY3" fmla="*/ 1397377 h 1775845"/>
                <a:gd name="connsiteX4" fmla="*/ 1037040 w 1056582"/>
                <a:gd name="connsiteY4" fmla="*/ 535063 h 1775845"/>
                <a:gd name="connsiteX5" fmla="*/ 660864 w 1056582"/>
                <a:gd name="connsiteY5" fmla="*/ 2627 h 1775845"/>
                <a:gd name="connsiteX0" fmla="*/ 449265 w 1062403"/>
                <a:gd name="connsiteY0" fmla="*/ 2218 h 1856459"/>
                <a:gd name="connsiteX1" fmla="*/ 3639 w 1062403"/>
                <a:gd name="connsiteY1" fmla="*/ 829808 h 1856459"/>
                <a:gd name="connsiteX2" fmla="*/ 275644 w 1062403"/>
                <a:gd name="connsiteY2" fmla="*/ 1831018 h 1856459"/>
                <a:gd name="connsiteX3" fmla="*/ 918039 w 1062403"/>
                <a:gd name="connsiteY3" fmla="*/ 1477991 h 1856459"/>
                <a:gd name="connsiteX4" fmla="*/ 1027998 w 1062403"/>
                <a:gd name="connsiteY4" fmla="*/ 615677 h 1856459"/>
                <a:gd name="connsiteX5" fmla="*/ 449265 w 1062403"/>
                <a:gd name="connsiteY5" fmla="*/ 2218 h 1856459"/>
                <a:gd name="connsiteX0" fmla="*/ 449265 w 971893"/>
                <a:gd name="connsiteY0" fmla="*/ 2218 h 1856459"/>
                <a:gd name="connsiteX1" fmla="*/ 3639 w 971893"/>
                <a:gd name="connsiteY1" fmla="*/ 829808 h 1856459"/>
                <a:gd name="connsiteX2" fmla="*/ 275644 w 971893"/>
                <a:gd name="connsiteY2" fmla="*/ 1831018 h 1856459"/>
                <a:gd name="connsiteX3" fmla="*/ 918039 w 971893"/>
                <a:gd name="connsiteY3" fmla="*/ 1477991 h 1856459"/>
                <a:gd name="connsiteX4" fmla="*/ 842804 w 971893"/>
                <a:gd name="connsiteY4" fmla="*/ 615677 h 1856459"/>
                <a:gd name="connsiteX5" fmla="*/ 449265 w 971893"/>
                <a:gd name="connsiteY5" fmla="*/ 2218 h 1856459"/>
                <a:gd name="connsiteX0" fmla="*/ 448722 w 861517"/>
                <a:gd name="connsiteY0" fmla="*/ 2144 h 1846757"/>
                <a:gd name="connsiteX1" fmla="*/ 3096 w 861517"/>
                <a:gd name="connsiteY1" fmla="*/ 829734 h 1846757"/>
                <a:gd name="connsiteX2" fmla="*/ 275101 w 861517"/>
                <a:gd name="connsiteY2" fmla="*/ 1830944 h 1846757"/>
                <a:gd name="connsiteX3" fmla="*/ 726514 w 861517"/>
                <a:gd name="connsiteY3" fmla="*/ 1385319 h 1846757"/>
                <a:gd name="connsiteX4" fmla="*/ 842261 w 861517"/>
                <a:gd name="connsiteY4" fmla="*/ 615603 h 1846757"/>
                <a:gd name="connsiteX5" fmla="*/ 448722 w 861517"/>
                <a:gd name="connsiteY5" fmla="*/ 2144 h 1846757"/>
                <a:gd name="connsiteX0" fmla="*/ 470986 w 883781"/>
                <a:gd name="connsiteY0" fmla="*/ 2144 h 1846757"/>
                <a:gd name="connsiteX1" fmla="*/ 2836 w 883781"/>
                <a:gd name="connsiteY1" fmla="*/ 829734 h 1846757"/>
                <a:gd name="connsiteX2" fmla="*/ 297365 w 883781"/>
                <a:gd name="connsiteY2" fmla="*/ 1830944 h 1846757"/>
                <a:gd name="connsiteX3" fmla="*/ 748778 w 883781"/>
                <a:gd name="connsiteY3" fmla="*/ 1385319 h 1846757"/>
                <a:gd name="connsiteX4" fmla="*/ 864525 w 883781"/>
                <a:gd name="connsiteY4" fmla="*/ 615603 h 1846757"/>
                <a:gd name="connsiteX5" fmla="*/ 470986 w 883781"/>
                <a:gd name="connsiteY5" fmla="*/ 2144 h 1846757"/>
                <a:gd name="connsiteX0" fmla="*/ 594364 w 1007159"/>
                <a:gd name="connsiteY0" fmla="*/ 2144 h 1846757"/>
                <a:gd name="connsiteX1" fmla="*/ 126214 w 1007159"/>
                <a:gd name="connsiteY1" fmla="*/ 829734 h 1846757"/>
                <a:gd name="connsiteX2" fmla="*/ 420743 w 1007159"/>
                <a:gd name="connsiteY2" fmla="*/ 1830944 h 1846757"/>
                <a:gd name="connsiteX3" fmla="*/ 872156 w 1007159"/>
                <a:gd name="connsiteY3" fmla="*/ 1385319 h 1846757"/>
                <a:gd name="connsiteX4" fmla="*/ 987903 w 1007159"/>
                <a:gd name="connsiteY4" fmla="*/ 615603 h 1846757"/>
                <a:gd name="connsiteX5" fmla="*/ 594364 w 1007159"/>
                <a:gd name="connsiteY5" fmla="*/ 2144 h 1846757"/>
                <a:gd name="connsiteX0" fmla="*/ 484902 w 883206"/>
                <a:gd name="connsiteY0" fmla="*/ 41557 h 1318371"/>
                <a:gd name="connsiteX1" fmla="*/ 3238 w 883206"/>
                <a:gd name="connsiteY1" fmla="*/ 301348 h 1318371"/>
                <a:gd name="connsiteX2" fmla="*/ 297767 w 883206"/>
                <a:gd name="connsiteY2" fmla="*/ 1302558 h 1318371"/>
                <a:gd name="connsiteX3" fmla="*/ 749180 w 883206"/>
                <a:gd name="connsiteY3" fmla="*/ 856933 h 1318371"/>
                <a:gd name="connsiteX4" fmla="*/ 864927 w 883206"/>
                <a:gd name="connsiteY4" fmla="*/ 87217 h 1318371"/>
                <a:gd name="connsiteX5" fmla="*/ 484902 w 883206"/>
                <a:gd name="connsiteY5" fmla="*/ 41557 h 1318371"/>
                <a:gd name="connsiteX0" fmla="*/ 378883 w 777187"/>
                <a:gd name="connsiteY0" fmla="*/ 58675 h 1324992"/>
                <a:gd name="connsiteX1" fmla="*/ 5333 w 777187"/>
                <a:gd name="connsiteY1" fmla="*/ 584244 h 1324992"/>
                <a:gd name="connsiteX2" fmla="*/ 191748 w 777187"/>
                <a:gd name="connsiteY2" fmla="*/ 1319676 h 1324992"/>
                <a:gd name="connsiteX3" fmla="*/ 643161 w 777187"/>
                <a:gd name="connsiteY3" fmla="*/ 874051 h 1324992"/>
                <a:gd name="connsiteX4" fmla="*/ 758908 w 777187"/>
                <a:gd name="connsiteY4" fmla="*/ 104335 h 1324992"/>
                <a:gd name="connsiteX5" fmla="*/ 378883 w 777187"/>
                <a:gd name="connsiteY5" fmla="*/ 58675 h 1324992"/>
                <a:gd name="connsiteX0" fmla="*/ 374434 w 772738"/>
                <a:gd name="connsiteY0" fmla="*/ 58675 h 1112877"/>
                <a:gd name="connsiteX1" fmla="*/ 884 w 772738"/>
                <a:gd name="connsiteY1" fmla="*/ 584244 h 1112877"/>
                <a:gd name="connsiteX2" fmla="*/ 281899 w 772738"/>
                <a:gd name="connsiteY2" fmla="*/ 1098194 h 1112877"/>
                <a:gd name="connsiteX3" fmla="*/ 638712 w 772738"/>
                <a:gd name="connsiteY3" fmla="*/ 874051 h 1112877"/>
                <a:gd name="connsiteX4" fmla="*/ 754459 w 772738"/>
                <a:gd name="connsiteY4" fmla="*/ 104335 h 1112877"/>
                <a:gd name="connsiteX5" fmla="*/ 374434 w 772738"/>
                <a:gd name="connsiteY5" fmla="*/ 58675 h 1112877"/>
                <a:gd name="connsiteX0" fmla="*/ 374434 w 696889"/>
                <a:gd name="connsiteY0" fmla="*/ 37893 h 1092095"/>
                <a:gd name="connsiteX1" fmla="*/ 884 w 696889"/>
                <a:gd name="connsiteY1" fmla="*/ 563462 h 1092095"/>
                <a:gd name="connsiteX2" fmla="*/ 281899 w 696889"/>
                <a:gd name="connsiteY2" fmla="*/ 1077412 h 1092095"/>
                <a:gd name="connsiteX3" fmla="*/ 638712 w 696889"/>
                <a:gd name="connsiteY3" fmla="*/ 853269 h 1092095"/>
                <a:gd name="connsiteX4" fmla="*/ 610307 w 696889"/>
                <a:gd name="connsiteY4" fmla="*/ 131877 h 1092095"/>
                <a:gd name="connsiteX5" fmla="*/ 374434 w 696889"/>
                <a:gd name="connsiteY5" fmla="*/ 37893 h 1092095"/>
                <a:gd name="connsiteX0" fmla="*/ 374434 w 809470"/>
                <a:gd name="connsiteY0" fmla="*/ 42592 h 1096794"/>
                <a:gd name="connsiteX1" fmla="*/ 884 w 809470"/>
                <a:gd name="connsiteY1" fmla="*/ 568161 h 1096794"/>
                <a:gd name="connsiteX2" fmla="*/ 281899 w 809470"/>
                <a:gd name="connsiteY2" fmla="*/ 1082111 h 1096794"/>
                <a:gd name="connsiteX3" fmla="*/ 638712 w 809470"/>
                <a:gd name="connsiteY3" fmla="*/ 857968 h 1096794"/>
                <a:gd name="connsiteX4" fmla="*/ 796963 w 809470"/>
                <a:gd name="connsiteY4" fmla="*/ 124039 h 1096794"/>
                <a:gd name="connsiteX5" fmla="*/ 374434 w 809470"/>
                <a:gd name="connsiteY5" fmla="*/ 42592 h 1096794"/>
                <a:gd name="connsiteX0" fmla="*/ 374445 w 812246"/>
                <a:gd name="connsiteY0" fmla="*/ 42824 h 1097934"/>
                <a:gd name="connsiteX1" fmla="*/ 895 w 812246"/>
                <a:gd name="connsiteY1" fmla="*/ 568393 h 1097934"/>
                <a:gd name="connsiteX2" fmla="*/ 281910 w 812246"/>
                <a:gd name="connsiteY2" fmla="*/ 1082343 h 1097934"/>
                <a:gd name="connsiteX3" fmla="*/ 654390 w 812246"/>
                <a:gd name="connsiteY3" fmla="*/ 863399 h 1097934"/>
                <a:gd name="connsiteX4" fmla="*/ 796974 w 812246"/>
                <a:gd name="connsiteY4" fmla="*/ 124271 h 1097934"/>
                <a:gd name="connsiteX5" fmla="*/ 374445 w 812246"/>
                <a:gd name="connsiteY5" fmla="*/ 42824 h 1097934"/>
                <a:gd name="connsiteX0" fmla="*/ 378769 w 816569"/>
                <a:gd name="connsiteY0" fmla="*/ 42824 h 1086805"/>
                <a:gd name="connsiteX1" fmla="*/ 5219 w 816569"/>
                <a:gd name="connsiteY1" fmla="*/ 568393 h 1086805"/>
                <a:gd name="connsiteX2" fmla="*/ 194122 w 816569"/>
                <a:gd name="connsiteY2" fmla="*/ 1069651 h 1086805"/>
                <a:gd name="connsiteX3" fmla="*/ 658714 w 816569"/>
                <a:gd name="connsiteY3" fmla="*/ 863399 h 1086805"/>
                <a:gd name="connsiteX4" fmla="*/ 801298 w 816569"/>
                <a:gd name="connsiteY4" fmla="*/ 124271 h 1086805"/>
                <a:gd name="connsiteX5" fmla="*/ 378769 w 816569"/>
                <a:gd name="connsiteY5" fmla="*/ 42824 h 1086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6569" h="1086805">
                  <a:moveTo>
                    <a:pt x="378769" y="42824"/>
                  </a:moveTo>
                  <a:cubicBezTo>
                    <a:pt x="246089" y="116844"/>
                    <a:pt x="35993" y="397255"/>
                    <a:pt x="5219" y="568393"/>
                  </a:cubicBezTo>
                  <a:cubicBezTo>
                    <a:pt x="-25555" y="739531"/>
                    <a:pt x="85206" y="1020483"/>
                    <a:pt x="194122" y="1069651"/>
                  </a:cubicBezTo>
                  <a:cubicBezTo>
                    <a:pt x="303038" y="1118819"/>
                    <a:pt x="533322" y="1065956"/>
                    <a:pt x="658714" y="863399"/>
                  </a:cubicBezTo>
                  <a:cubicBezTo>
                    <a:pt x="784106" y="660842"/>
                    <a:pt x="847956" y="261034"/>
                    <a:pt x="801298" y="124271"/>
                  </a:cubicBezTo>
                  <a:cubicBezTo>
                    <a:pt x="754641" y="-12492"/>
                    <a:pt x="511449" y="-31196"/>
                    <a:pt x="378769" y="42824"/>
                  </a:cubicBezTo>
                  <a:close/>
                </a:path>
              </a:pathLst>
            </a:custGeom>
            <a:solidFill>
              <a:srgbClr val="4DF575"/>
            </a:solidFill>
            <a:sp3d prstMaterial="translucentPowder"/>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3" name="Freeform: Shape 40">
              <a:extLst>
                <a:ext uri="{FF2B5EF4-FFF2-40B4-BE49-F238E27FC236}">
                  <a16:creationId xmlns:a16="http://schemas.microsoft.com/office/drawing/2014/main" id="{683910F6-CC42-D62F-FE3F-E9587A0FF90A}"/>
                </a:ext>
              </a:extLst>
            </p:cNvPr>
            <p:cNvSpPr/>
            <p:nvPr/>
          </p:nvSpPr>
          <p:spPr>
            <a:xfrm rot="21371575">
              <a:off x="6238687" y="2920389"/>
              <a:ext cx="518428" cy="528723"/>
            </a:xfrm>
            <a:custGeom>
              <a:avLst/>
              <a:gdLst>
                <a:gd name="connsiteX0" fmla="*/ 600104 w 1057083"/>
                <a:gd name="connsiteY0" fmla="*/ 6523 h 1513523"/>
                <a:gd name="connsiteX1" fmla="*/ 9795 w 1057083"/>
                <a:gd name="connsiteY1" fmla="*/ 486872 h 1513523"/>
                <a:gd name="connsiteX2" fmla="*/ 281800 w 1057083"/>
                <a:gd name="connsiteY2" fmla="*/ 1488082 h 1513523"/>
                <a:gd name="connsiteX3" fmla="*/ 924195 w 1057083"/>
                <a:gd name="connsiteY3" fmla="*/ 1135055 h 1513523"/>
                <a:gd name="connsiteX4" fmla="*/ 1034154 w 1057083"/>
                <a:gd name="connsiteY4" fmla="*/ 272741 h 1513523"/>
                <a:gd name="connsiteX5" fmla="*/ 600104 w 1057083"/>
                <a:gd name="connsiteY5" fmla="*/ 6523 h 1513523"/>
                <a:gd name="connsiteX0" fmla="*/ 660864 w 1056582"/>
                <a:gd name="connsiteY0" fmla="*/ 2627 h 1775845"/>
                <a:gd name="connsiteX1" fmla="*/ 12681 w 1056582"/>
                <a:gd name="connsiteY1" fmla="*/ 749194 h 1775845"/>
                <a:gd name="connsiteX2" fmla="*/ 284686 w 1056582"/>
                <a:gd name="connsiteY2" fmla="*/ 1750404 h 1775845"/>
                <a:gd name="connsiteX3" fmla="*/ 927081 w 1056582"/>
                <a:gd name="connsiteY3" fmla="*/ 1397377 h 1775845"/>
                <a:gd name="connsiteX4" fmla="*/ 1037040 w 1056582"/>
                <a:gd name="connsiteY4" fmla="*/ 535063 h 1775845"/>
                <a:gd name="connsiteX5" fmla="*/ 660864 w 1056582"/>
                <a:gd name="connsiteY5" fmla="*/ 2627 h 1775845"/>
                <a:gd name="connsiteX0" fmla="*/ 449265 w 1062403"/>
                <a:gd name="connsiteY0" fmla="*/ 2218 h 1856459"/>
                <a:gd name="connsiteX1" fmla="*/ 3639 w 1062403"/>
                <a:gd name="connsiteY1" fmla="*/ 829808 h 1856459"/>
                <a:gd name="connsiteX2" fmla="*/ 275644 w 1062403"/>
                <a:gd name="connsiteY2" fmla="*/ 1831018 h 1856459"/>
                <a:gd name="connsiteX3" fmla="*/ 918039 w 1062403"/>
                <a:gd name="connsiteY3" fmla="*/ 1477991 h 1856459"/>
                <a:gd name="connsiteX4" fmla="*/ 1027998 w 1062403"/>
                <a:gd name="connsiteY4" fmla="*/ 615677 h 1856459"/>
                <a:gd name="connsiteX5" fmla="*/ 449265 w 1062403"/>
                <a:gd name="connsiteY5" fmla="*/ 2218 h 1856459"/>
                <a:gd name="connsiteX0" fmla="*/ 449265 w 971893"/>
                <a:gd name="connsiteY0" fmla="*/ 2218 h 1856459"/>
                <a:gd name="connsiteX1" fmla="*/ 3639 w 971893"/>
                <a:gd name="connsiteY1" fmla="*/ 829808 h 1856459"/>
                <a:gd name="connsiteX2" fmla="*/ 275644 w 971893"/>
                <a:gd name="connsiteY2" fmla="*/ 1831018 h 1856459"/>
                <a:gd name="connsiteX3" fmla="*/ 918039 w 971893"/>
                <a:gd name="connsiteY3" fmla="*/ 1477991 h 1856459"/>
                <a:gd name="connsiteX4" fmla="*/ 842804 w 971893"/>
                <a:gd name="connsiteY4" fmla="*/ 615677 h 1856459"/>
                <a:gd name="connsiteX5" fmla="*/ 449265 w 971893"/>
                <a:gd name="connsiteY5" fmla="*/ 2218 h 1856459"/>
                <a:gd name="connsiteX0" fmla="*/ 448722 w 861517"/>
                <a:gd name="connsiteY0" fmla="*/ 2144 h 1846757"/>
                <a:gd name="connsiteX1" fmla="*/ 3096 w 861517"/>
                <a:gd name="connsiteY1" fmla="*/ 829734 h 1846757"/>
                <a:gd name="connsiteX2" fmla="*/ 275101 w 861517"/>
                <a:gd name="connsiteY2" fmla="*/ 1830944 h 1846757"/>
                <a:gd name="connsiteX3" fmla="*/ 726514 w 861517"/>
                <a:gd name="connsiteY3" fmla="*/ 1385319 h 1846757"/>
                <a:gd name="connsiteX4" fmla="*/ 842261 w 861517"/>
                <a:gd name="connsiteY4" fmla="*/ 615603 h 1846757"/>
                <a:gd name="connsiteX5" fmla="*/ 448722 w 861517"/>
                <a:gd name="connsiteY5" fmla="*/ 2144 h 1846757"/>
                <a:gd name="connsiteX0" fmla="*/ 470986 w 883781"/>
                <a:gd name="connsiteY0" fmla="*/ 2144 h 1846757"/>
                <a:gd name="connsiteX1" fmla="*/ 2836 w 883781"/>
                <a:gd name="connsiteY1" fmla="*/ 829734 h 1846757"/>
                <a:gd name="connsiteX2" fmla="*/ 297365 w 883781"/>
                <a:gd name="connsiteY2" fmla="*/ 1830944 h 1846757"/>
                <a:gd name="connsiteX3" fmla="*/ 748778 w 883781"/>
                <a:gd name="connsiteY3" fmla="*/ 1385319 h 1846757"/>
                <a:gd name="connsiteX4" fmla="*/ 864525 w 883781"/>
                <a:gd name="connsiteY4" fmla="*/ 615603 h 1846757"/>
                <a:gd name="connsiteX5" fmla="*/ 470986 w 883781"/>
                <a:gd name="connsiteY5" fmla="*/ 2144 h 1846757"/>
                <a:gd name="connsiteX0" fmla="*/ 594364 w 1007159"/>
                <a:gd name="connsiteY0" fmla="*/ 2144 h 1846757"/>
                <a:gd name="connsiteX1" fmla="*/ 126214 w 1007159"/>
                <a:gd name="connsiteY1" fmla="*/ 829734 h 1846757"/>
                <a:gd name="connsiteX2" fmla="*/ 420743 w 1007159"/>
                <a:gd name="connsiteY2" fmla="*/ 1830944 h 1846757"/>
                <a:gd name="connsiteX3" fmla="*/ 872156 w 1007159"/>
                <a:gd name="connsiteY3" fmla="*/ 1385319 h 1846757"/>
                <a:gd name="connsiteX4" fmla="*/ 987903 w 1007159"/>
                <a:gd name="connsiteY4" fmla="*/ 615603 h 1846757"/>
                <a:gd name="connsiteX5" fmla="*/ 594364 w 1007159"/>
                <a:gd name="connsiteY5" fmla="*/ 2144 h 1846757"/>
                <a:gd name="connsiteX0" fmla="*/ 484902 w 883206"/>
                <a:gd name="connsiteY0" fmla="*/ 41557 h 1318371"/>
                <a:gd name="connsiteX1" fmla="*/ 3238 w 883206"/>
                <a:gd name="connsiteY1" fmla="*/ 301348 h 1318371"/>
                <a:gd name="connsiteX2" fmla="*/ 297767 w 883206"/>
                <a:gd name="connsiteY2" fmla="*/ 1302558 h 1318371"/>
                <a:gd name="connsiteX3" fmla="*/ 749180 w 883206"/>
                <a:gd name="connsiteY3" fmla="*/ 856933 h 1318371"/>
                <a:gd name="connsiteX4" fmla="*/ 864927 w 883206"/>
                <a:gd name="connsiteY4" fmla="*/ 87217 h 1318371"/>
                <a:gd name="connsiteX5" fmla="*/ 484902 w 883206"/>
                <a:gd name="connsiteY5" fmla="*/ 41557 h 1318371"/>
                <a:gd name="connsiteX0" fmla="*/ 378883 w 777187"/>
                <a:gd name="connsiteY0" fmla="*/ 58675 h 1324992"/>
                <a:gd name="connsiteX1" fmla="*/ 5333 w 777187"/>
                <a:gd name="connsiteY1" fmla="*/ 584244 h 1324992"/>
                <a:gd name="connsiteX2" fmla="*/ 191748 w 777187"/>
                <a:gd name="connsiteY2" fmla="*/ 1319676 h 1324992"/>
                <a:gd name="connsiteX3" fmla="*/ 643161 w 777187"/>
                <a:gd name="connsiteY3" fmla="*/ 874051 h 1324992"/>
                <a:gd name="connsiteX4" fmla="*/ 758908 w 777187"/>
                <a:gd name="connsiteY4" fmla="*/ 104335 h 1324992"/>
                <a:gd name="connsiteX5" fmla="*/ 378883 w 777187"/>
                <a:gd name="connsiteY5" fmla="*/ 58675 h 1324992"/>
                <a:gd name="connsiteX0" fmla="*/ 374434 w 772738"/>
                <a:gd name="connsiteY0" fmla="*/ 58675 h 1112877"/>
                <a:gd name="connsiteX1" fmla="*/ 884 w 772738"/>
                <a:gd name="connsiteY1" fmla="*/ 584244 h 1112877"/>
                <a:gd name="connsiteX2" fmla="*/ 281899 w 772738"/>
                <a:gd name="connsiteY2" fmla="*/ 1098194 h 1112877"/>
                <a:gd name="connsiteX3" fmla="*/ 638712 w 772738"/>
                <a:gd name="connsiteY3" fmla="*/ 874051 h 1112877"/>
                <a:gd name="connsiteX4" fmla="*/ 754459 w 772738"/>
                <a:gd name="connsiteY4" fmla="*/ 104335 h 1112877"/>
                <a:gd name="connsiteX5" fmla="*/ 374434 w 772738"/>
                <a:gd name="connsiteY5" fmla="*/ 58675 h 1112877"/>
                <a:gd name="connsiteX0" fmla="*/ 374434 w 696889"/>
                <a:gd name="connsiteY0" fmla="*/ 37893 h 1092095"/>
                <a:gd name="connsiteX1" fmla="*/ 884 w 696889"/>
                <a:gd name="connsiteY1" fmla="*/ 563462 h 1092095"/>
                <a:gd name="connsiteX2" fmla="*/ 281899 w 696889"/>
                <a:gd name="connsiteY2" fmla="*/ 1077412 h 1092095"/>
                <a:gd name="connsiteX3" fmla="*/ 638712 w 696889"/>
                <a:gd name="connsiteY3" fmla="*/ 853269 h 1092095"/>
                <a:gd name="connsiteX4" fmla="*/ 610307 w 696889"/>
                <a:gd name="connsiteY4" fmla="*/ 131877 h 1092095"/>
                <a:gd name="connsiteX5" fmla="*/ 374434 w 696889"/>
                <a:gd name="connsiteY5" fmla="*/ 37893 h 1092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6889" h="1092095">
                  <a:moveTo>
                    <a:pt x="374434" y="37893"/>
                  </a:moveTo>
                  <a:cubicBezTo>
                    <a:pt x="272864" y="109824"/>
                    <a:pt x="16307" y="390209"/>
                    <a:pt x="884" y="563462"/>
                  </a:cubicBezTo>
                  <a:cubicBezTo>
                    <a:pt x="-14539" y="736715"/>
                    <a:pt x="175594" y="1029111"/>
                    <a:pt x="281899" y="1077412"/>
                  </a:cubicBezTo>
                  <a:cubicBezTo>
                    <a:pt x="388204" y="1125713"/>
                    <a:pt x="513320" y="1055826"/>
                    <a:pt x="638712" y="853269"/>
                  </a:cubicBezTo>
                  <a:cubicBezTo>
                    <a:pt x="764104" y="650712"/>
                    <a:pt x="654353" y="267773"/>
                    <a:pt x="610307" y="131877"/>
                  </a:cubicBezTo>
                  <a:cubicBezTo>
                    <a:pt x="566261" y="-4019"/>
                    <a:pt x="476004" y="-34038"/>
                    <a:pt x="374434" y="37893"/>
                  </a:cubicBezTo>
                  <a:close/>
                </a:path>
              </a:pathLst>
            </a:custGeom>
            <a:solidFill>
              <a:schemeClr val="accent6">
                <a:lumMod val="20000"/>
                <a:lumOff val="80000"/>
              </a:schemeClr>
            </a:solidFill>
            <a:sp3d prstMaterial="translucentPowder"/>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4" name="Freeform: Shape 36">
              <a:extLst>
                <a:ext uri="{FF2B5EF4-FFF2-40B4-BE49-F238E27FC236}">
                  <a16:creationId xmlns:a16="http://schemas.microsoft.com/office/drawing/2014/main" id="{33D2B1C6-5C66-3612-BF56-A6DDED038EA5}"/>
                </a:ext>
              </a:extLst>
            </p:cNvPr>
            <p:cNvSpPr/>
            <p:nvPr/>
          </p:nvSpPr>
          <p:spPr>
            <a:xfrm rot="17950923">
              <a:off x="5111339" y="3111698"/>
              <a:ext cx="767314" cy="1703462"/>
            </a:xfrm>
            <a:custGeom>
              <a:avLst/>
              <a:gdLst>
                <a:gd name="connsiteX0" fmla="*/ 600104 w 1057083"/>
                <a:gd name="connsiteY0" fmla="*/ 6523 h 1513523"/>
                <a:gd name="connsiteX1" fmla="*/ 9795 w 1057083"/>
                <a:gd name="connsiteY1" fmla="*/ 486872 h 1513523"/>
                <a:gd name="connsiteX2" fmla="*/ 281800 w 1057083"/>
                <a:gd name="connsiteY2" fmla="*/ 1488082 h 1513523"/>
                <a:gd name="connsiteX3" fmla="*/ 924195 w 1057083"/>
                <a:gd name="connsiteY3" fmla="*/ 1135055 h 1513523"/>
                <a:gd name="connsiteX4" fmla="*/ 1034154 w 1057083"/>
                <a:gd name="connsiteY4" fmla="*/ 272741 h 1513523"/>
                <a:gd name="connsiteX5" fmla="*/ 600104 w 1057083"/>
                <a:gd name="connsiteY5" fmla="*/ 6523 h 1513523"/>
                <a:gd name="connsiteX0" fmla="*/ 660864 w 1056582"/>
                <a:gd name="connsiteY0" fmla="*/ 2627 h 1775845"/>
                <a:gd name="connsiteX1" fmla="*/ 12681 w 1056582"/>
                <a:gd name="connsiteY1" fmla="*/ 749194 h 1775845"/>
                <a:gd name="connsiteX2" fmla="*/ 284686 w 1056582"/>
                <a:gd name="connsiteY2" fmla="*/ 1750404 h 1775845"/>
                <a:gd name="connsiteX3" fmla="*/ 927081 w 1056582"/>
                <a:gd name="connsiteY3" fmla="*/ 1397377 h 1775845"/>
                <a:gd name="connsiteX4" fmla="*/ 1037040 w 1056582"/>
                <a:gd name="connsiteY4" fmla="*/ 535063 h 1775845"/>
                <a:gd name="connsiteX5" fmla="*/ 660864 w 1056582"/>
                <a:gd name="connsiteY5" fmla="*/ 2627 h 1775845"/>
                <a:gd name="connsiteX0" fmla="*/ 449265 w 1062403"/>
                <a:gd name="connsiteY0" fmla="*/ 2218 h 1856459"/>
                <a:gd name="connsiteX1" fmla="*/ 3639 w 1062403"/>
                <a:gd name="connsiteY1" fmla="*/ 829808 h 1856459"/>
                <a:gd name="connsiteX2" fmla="*/ 275644 w 1062403"/>
                <a:gd name="connsiteY2" fmla="*/ 1831018 h 1856459"/>
                <a:gd name="connsiteX3" fmla="*/ 918039 w 1062403"/>
                <a:gd name="connsiteY3" fmla="*/ 1477991 h 1856459"/>
                <a:gd name="connsiteX4" fmla="*/ 1027998 w 1062403"/>
                <a:gd name="connsiteY4" fmla="*/ 615677 h 1856459"/>
                <a:gd name="connsiteX5" fmla="*/ 449265 w 1062403"/>
                <a:gd name="connsiteY5" fmla="*/ 2218 h 1856459"/>
                <a:gd name="connsiteX0" fmla="*/ 449265 w 971893"/>
                <a:gd name="connsiteY0" fmla="*/ 2218 h 1856459"/>
                <a:gd name="connsiteX1" fmla="*/ 3639 w 971893"/>
                <a:gd name="connsiteY1" fmla="*/ 829808 h 1856459"/>
                <a:gd name="connsiteX2" fmla="*/ 275644 w 971893"/>
                <a:gd name="connsiteY2" fmla="*/ 1831018 h 1856459"/>
                <a:gd name="connsiteX3" fmla="*/ 918039 w 971893"/>
                <a:gd name="connsiteY3" fmla="*/ 1477991 h 1856459"/>
                <a:gd name="connsiteX4" fmla="*/ 842804 w 971893"/>
                <a:gd name="connsiteY4" fmla="*/ 615677 h 1856459"/>
                <a:gd name="connsiteX5" fmla="*/ 449265 w 971893"/>
                <a:gd name="connsiteY5" fmla="*/ 2218 h 1856459"/>
                <a:gd name="connsiteX0" fmla="*/ 448722 w 861517"/>
                <a:gd name="connsiteY0" fmla="*/ 2144 h 1846757"/>
                <a:gd name="connsiteX1" fmla="*/ 3096 w 861517"/>
                <a:gd name="connsiteY1" fmla="*/ 829734 h 1846757"/>
                <a:gd name="connsiteX2" fmla="*/ 275101 w 861517"/>
                <a:gd name="connsiteY2" fmla="*/ 1830944 h 1846757"/>
                <a:gd name="connsiteX3" fmla="*/ 726514 w 861517"/>
                <a:gd name="connsiteY3" fmla="*/ 1385319 h 1846757"/>
                <a:gd name="connsiteX4" fmla="*/ 842261 w 861517"/>
                <a:gd name="connsiteY4" fmla="*/ 615603 h 1846757"/>
                <a:gd name="connsiteX5" fmla="*/ 448722 w 861517"/>
                <a:gd name="connsiteY5" fmla="*/ 2144 h 1846757"/>
                <a:gd name="connsiteX0" fmla="*/ 470986 w 883781"/>
                <a:gd name="connsiteY0" fmla="*/ 2144 h 1846757"/>
                <a:gd name="connsiteX1" fmla="*/ 2836 w 883781"/>
                <a:gd name="connsiteY1" fmla="*/ 829734 h 1846757"/>
                <a:gd name="connsiteX2" fmla="*/ 297365 w 883781"/>
                <a:gd name="connsiteY2" fmla="*/ 1830944 h 1846757"/>
                <a:gd name="connsiteX3" fmla="*/ 748778 w 883781"/>
                <a:gd name="connsiteY3" fmla="*/ 1385319 h 1846757"/>
                <a:gd name="connsiteX4" fmla="*/ 864525 w 883781"/>
                <a:gd name="connsiteY4" fmla="*/ 615603 h 1846757"/>
                <a:gd name="connsiteX5" fmla="*/ 470986 w 883781"/>
                <a:gd name="connsiteY5" fmla="*/ 2144 h 1846757"/>
                <a:gd name="connsiteX0" fmla="*/ 594364 w 1007159"/>
                <a:gd name="connsiteY0" fmla="*/ 2144 h 1846757"/>
                <a:gd name="connsiteX1" fmla="*/ 126214 w 1007159"/>
                <a:gd name="connsiteY1" fmla="*/ 829734 h 1846757"/>
                <a:gd name="connsiteX2" fmla="*/ 420743 w 1007159"/>
                <a:gd name="connsiteY2" fmla="*/ 1830944 h 1846757"/>
                <a:gd name="connsiteX3" fmla="*/ 872156 w 1007159"/>
                <a:gd name="connsiteY3" fmla="*/ 1385319 h 1846757"/>
                <a:gd name="connsiteX4" fmla="*/ 987903 w 1007159"/>
                <a:gd name="connsiteY4" fmla="*/ 615603 h 1846757"/>
                <a:gd name="connsiteX5" fmla="*/ 594364 w 1007159"/>
                <a:gd name="connsiteY5" fmla="*/ 2144 h 1846757"/>
                <a:gd name="connsiteX0" fmla="*/ 484902 w 883206"/>
                <a:gd name="connsiteY0" fmla="*/ 41557 h 1318371"/>
                <a:gd name="connsiteX1" fmla="*/ 3238 w 883206"/>
                <a:gd name="connsiteY1" fmla="*/ 301348 h 1318371"/>
                <a:gd name="connsiteX2" fmla="*/ 297767 w 883206"/>
                <a:gd name="connsiteY2" fmla="*/ 1302558 h 1318371"/>
                <a:gd name="connsiteX3" fmla="*/ 749180 w 883206"/>
                <a:gd name="connsiteY3" fmla="*/ 856933 h 1318371"/>
                <a:gd name="connsiteX4" fmla="*/ 864927 w 883206"/>
                <a:gd name="connsiteY4" fmla="*/ 87217 h 1318371"/>
                <a:gd name="connsiteX5" fmla="*/ 484902 w 883206"/>
                <a:gd name="connsiteY5" fmla="*/ 41557 h 1318371"/>
                <a:gd name="connsiteX0" fmla="*/ 378883 w 777187"/>
                <a:gd name="connsiteY0" fmla="*/ 58675 h 1324992"/>
                <a:gd name="connsiteX1" fmla="*/ 5333 w 777187"/>
                <a:gd name="connsiteY1" fmla="*/ 584244 h 1324992"/>
                <a:gd name="connsiteX2" fmla="*/ 191748 w 777187"/>
                <a:gd name="connsiteY2" fmla="*/ 1319676 h 1324992"/>
                <a:gd name="connsiteX3" fmla="*/ 643161 w 777187"/>
                <a:gd name="connsiteY3" fmla="*/ 874051 h 1324992"/>
                <a:gd name="connsiteX4" fmla="*/ 758908 w 777187"/>
                <a:gd name="connsiteY4" fmla="*/ 104335 h 1324992"/>
                <a:gd name="connsiteX5" fmla="*/ 378883 w 777187"/>
                <a:gd name="connsiteY5" fmla="*/ 58675 h 1324992"/>
                <a:gd name="connsiteX0" fmla="*/ 374434 w 772738"/>
                <a:gd name="connsiteY0" fmla="*/ 58675 h 1112877"/>
                <a:gd name="connsiteX1" fmla="*/ 884 w 772738"/>
                <a:gd name="connsiteY1" fmla="*/ 584244 h 1112877"/>
                <a:gd name="connsiteX2" fmla="*/ 281899 w 772738"/>
                <a:gd name="connsiteY2" fmla="*/ 1098194 h 1112877"/>
                <a:gd name="connsiteX3" fmla="*/ 638712 w 772738"/>
                <a:gd name="connsiteY3" fmla="*/ 874051 h 1112877"/>
                <a:gd name="connsiteX4" fmla="*/ 754459 w 772738"/>
                <a:gd name="connsiteY4" fmla="*/ 104335 h 1112877"/>
                <a:gd name="connsiteX5" fmla="*/ 374434 w 772738"/>
                <a:gd name="connsiteY5" fmla="*/ 58675 h 1112877"/>
                <a:gd name="connsiteX0" fmla="*/ 374434 w 696889"/>
                <a:gd name="connsiteY0" fmla="*/ 37893 h 1092095"/>
                <a:gd name="connsiteX1" fmla="*/ 884 w 696889"/>
                <a:gd name="connsiteY1" fmla="*/ 563462 h 1092095"/>
                <a:gd name="connsiteX2" fmla="*/ 281899 w 696889"/>
                <a:gd name="connsiteY2" fmla="*/ 1077412 h 1092095"/>
                <a:gd name="connsiteX3" fmla="*/ 638712 w 696889"/>
                <a:gd name="connsiteY3" fmla="*/ 853269 h 1092095"/>
                <a:gd name="connsiteX4" fmla="*/ 610307 w 696889"/>
                <a:gd name="connsiteY4" fmla="*/ 131877 h 1092095"/>
                <a:gd name="connsiteX5" fmla="*/ 374434 w 696889"/>
                <a:gd name="connsiteY5" fmla="*/ 37893 h 1092095"/>
                <a:gd name="connsiteX0" fmla="*/ 374434 w 840080"/>
                <a:gd name="connsiteY0" fmla="*/ 52846 h 1107048"/>
                <a:gd name="connsiteX1" fmla="*/ 884 w 840080"/>
                <a:gd name="connsiteY1" fmla="*/ 578415 h 1107048"/>
                <a:gd name="connsiteX2" fmla="*/ 281899 w 840080"/>
                <a:gd name="connsiteY2" fmla="*/ 1092365 h 1107048"/>
                <a:gd name="connsiteX3" fmla="*/ 638712 w 840080"/>
                <a:gd name="connsiteY3" fmla="*/ 868222 h 1107048"/>
                <a:gd name="connsiteX4" fmla="*/ 830193 w 840080"/>
                <a:gd name="connsiteY4" fmla="*/ 110488 h 1107048"/>
                <a:gd name="connsiteX5" fmla="*/ 374434 w 840080"/>
                <a:gd name="connsiteY5" fmla="*/ 52846 h 1107048"/>
                <a:gd name="connsiteX0" fmla="*/ 374516 w 863534"/>
                <a:gd name="connsiteY0" fmla="*/ 53332 h 1109163"/>
                <a:gd name="connsiteX1" fmla="*/ 966 w 863534"/>
                <a:gd name="connsiteY1" fmla="*/ 578901 h 1109163"/>
                <a:gd name="connsiteX2" fmla="*/ 281981 w 863534"/>
                <a:gd name="connsiteY2" fmla="*/ 1092851 h 1109163"/>
                <a:gd name="connsiteX3" fmla="*/ 744817 w 863534"/>
                <a:gd name="connsiteY3" fmla="*/ 877853 h 1109163"/>
                <a:gd name="connsiteX4" fmla="*/ 830275 w 863534"/>
                <a:gd name="connsiteY4" fmla="*/ 110974 h 1109163"/>
                <a:gd name="connsiteX5" fmla="*/ 374516 w 863534"/>
                <a:gd name="connsiteY5" fmla="*/ 53332 h 1109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63534" h="1109163">
                  <a:moveTo>
                    <a:pt x="374516" y="53332"/>
                  </a:moveTo>
                  <a:cubicBezTo>
                    <a:pt x="236298" y="131320"/>
                    <a:pt x="16389" y="405648"/>
                    <a:pt x="966" y="578901"/>
                  </a:cubicBezTo>
                  <a:cubicBezTo>
                    <a:pt x="-14457" y="752154"/>
                    <a:pt x="158006" y="1043026"/>
                    <a:pt x="281981" y="1092851"/>
                  </a:cubicBezTo>
                  <a:cubicBezTo>
                    <a:pt x="405956" y="1142676"/>
                    <a:pt x="619425" y="1080410"/>
                    <a:pt x="744817" y="877853"/>
                  </a:cubicBezTo>
                  <a:cubicBezTo>
                    <a:pt x="870209" y="675296"/>
                    <a:pt x="891992" y="248394"/>
                    <a:pt x="830275" y="110974"/>
                  </a:cubicBezTo>
                  <a:cubicBezTo>
                    <a:pt x="768558" y="-26446"/>
                    <a:pt x="512734" y="-24656"/>
                    <a:pt x="374516" y="53332"/>
                  </a:cubicBezTo>
                  <a:close/>
                </a:path>
              </a:pathLst>
            </a:custGeom>
            <a:solidFill>
              <a:schemeClr val="accent6">
                <a:lumMod val="60000"/>
                <a:lumOff val="40000"/>
              </a:schemeClr>
            </a:solidFill>
            <a:sp3d prstMaterial="translucentPowder"/>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5" name="Freeform: Shape 35">
              <a:extLst>
                <a:ext uri="{FF2B5EF4-FFF2-40B4-BE49-F238E27FC236}">
                  <a16:creationId xmlns:a16="http://schemas.microsoft.com/office/drawing/2014/main" id="{8A1A229A-96FB-4A88-AC1D-7B31CA08EEFC}"/>
                </a:ext>
              </a:extLst>
            </p:cNvPr>
            <p:cNvSpPr/>
            <p:nvPr/>
          </p:nvSpPr>
          <p:spPr>
            <a:xfrm rot="21371575">
              <a:off x="3383633" y="2383334"/>
              <a:ext cx="819960" cy="1963850"/>
            </a:xfrm>
            <a:custGeom>
              <a:avLst/>
              <a:gdLst>
                <a:gd name="connsiteX0" fmla="*/ 600104 w 1057083"/>
                <a:gd name="connsiteY0" fmla="*/ 6523 h 1513523"/>
                <a:gd name="connsiteX1" fmla="*/ 9795 w 1057083"/>
                <a:gd name="connsiteY1" fmla="*/ 486872 h 1513523"/>
                <a:gd name="connsiteX2" fmla="*/ 281800 w 1057083"/>
                <a:gd name="connsiteY2" fmla="*/ 1488082 h 1513523"/>
                <a:gd name="connsiteX3" fmla="*/ 924195 w 1057083"/>
                <a:gd name="connsiteY3" fmla="*/ 1135055 h 1513523"/>
                <a:gd name="connsiteX4" fmla="*/ 1034154 w 1057083"/>
                <a:gd name="connsiteY4" fmla="*/ 272741 h 1513523"/>
                <a:gd name="connsiteX5" fmla="*/ 600104 w 1057083"/>
                <a:gd name="connsiteY5" fmla="*/ 6523 h 1513523"/>
                <a:gd name="connsiteX0" fmla="*/ 660864 w 1056582"/>
                <a:gd name="connsiteY0" fmla="*/ 2627 h 1775845"/>
                <a:gd name="connsiteX1" fmla="*/ 12681 w 1056582"/>
                <a:gd name="connsiteY1" fmla="*/ 749194 h 1775845"/>
                <a:gd name="connsiteX2" fmla="*/ 284686 w 1056582"/>
                <a:gd name="connsiteY2" fmla="*/ 1750404 h 1775845"/>
                <a:gd name="connsiteX3" fmla="*/ 927081 w 1056582"/>
                <a:gd name="connsiteY3" fmla="*/ 1397377 h 1775845"/>
                <a:gd name="connsiteX4" fmla="*/ 1037040 w 1056582"/>
                <a:gd name="connsiteY4" fmla="*/ 535063 h 1775845"/>
                <a:gd name="connsiteX5" fmla="*/ 660864 w 1056582"/>
                <a:gd name="connsiteY5" fmla="*/ 2627 h 1775845"/>
                <a:gd name="connsiteX0" fmla="*/ 449265 w 1062403"/>
                <a:gd name="connsiteY0" fmla="*/ 2218 h 1856459"/>
                <a:gd name="connsiteX1" fmla="*/ 3639 w 1062403"/>
                <a:gd name="connsiteY1" fmla="*/ 829808 h 1856459"/>
                <a:gd name="connsiteX2" fmla="*/ 275644 w 1062403"/>
                <a:gd name="connsiteY2" fmla="*/ 1831018 h 1856459"/>
                <a:gd name="connsiteX3" fmla="*/ 918039 w 1062403"/>
                <a:gd name="connsiteY3" fmla="*/ 1477991 h 1856459"/>
                <a:gd name="connsiteX4" fmla="*/ 1027998 w 1062403"/>
                <a:gd name="connsiteY4" fmla="*/ 615677 h 1856459"/>
                <a:gd name="connsiteX5" fmla="*/ 449265 w 1062403"/>
                <a:gd name="connsiteY5" fmla="*/ 2218 h 1856459"/>
                <a:gd name="connsiteX0" fmla="*/ 449265 w 971893"/>
                <a:gd name="connsiteY0" fmla="*/ 2218 h 1856459"/>
                <a:gd name="connsiteX1" fmla="*/ 3639 w 971893"/>
                <a:gd name="connsiteY1" fmla="*/ 829808 h 1856459"/>
                <a:gd name="connsiteX2" fmla="*/ 275644 w 971893"/>
                <a:gd name="connsiteY2" fmla="*/ 1831018 h 1856459"/>
                <a:gd name="connsiteX3" fmla="*/ 918039 w 971893"/>
                <a:gd name="connsiteY3" fmla="*/ 1477991 h 1856459"/>
                <a:gd name="connsiteX4" fmla="*/ 842804 w 971893"/>
                <a:gd name="connsiteY4" fmla="*/ 615677 h 1856459"/>
                <a:gd name="connsiteX5" fmla="*/ 449265 w 971893"/>
                <a:gd name="connsiteY5" fmla="*/ 2218 h 1856459"/>
                <a:gd name="connsiteX0" fmla="*/ 448722 w 861517"/>
                <a:gd name="connsiteY0" fmla="*/ 2144 h 1846757"/>
                <a:gd name="connsiteX1" fmla="*/ 3096 w 861517"/>
                <a:gd name="connsiteY1" fmla="*/ 829734 h 1846757"/>
                <a:gd name="connsiteX2" fmla="*/ 275101 w 861517"/>
                <a:gd name="connsiteY2" fmla="*/ 1830944 h 1846757"/>
                <a:gd name="connsiteX3" fmla="*/ 726514 w 861517"/>
                <a:gd name="connsiteY3" fmla="*/ 1385319 h 1846757"/>
                <a:gd name="connsiteX4" fmla="*/ 842261 w 861517"/>
                <a:gd name="connsiteY4" fmla="*/ 615603 h 1846757"/>
                <a:gd name="connsiteX5" fmla="*/ 448722 w 861517"/>
                <a:gd name="connsiteY5" fmla="*/ 2144 h 1846757"/>
                <a:gd name="connsiteX0" fmla="*/ 470986 w 883781"/>
                <a:gd name="connsiteY0" fmla="*/ 2144 h 1846757"/>
                <a:gd name="connsiteX1" fmla="*/ 2836 w 883781"/>
                <a:gd name="connsiteY1" fmla="*/ 829734 h 1846757"/>
                <a:gd name="connsiteX2" fmla="*/ 297365 w 883781"/>
                <a:gd name="connsiteY2" fmla="*/ 1830944 h 1846757"/>
                <a:gd name="connsiteX3" fmla="*/ 748778 w 883781"/>
                <a:gd name="connsiteY3" fmla="*/ 1385319 h 1846757"/>
                <a:gd name="connsiteX4" fmla="*/ 864525 w 883781"/>
                <a:gd name="connsiteY4" fmla="*/ 615603 h 1846757"/>
                <a:gd name="connsiteX5" fmla="*/ 470986 w 883781"/>
                <a:gd name="connsiteY5" fmla="*/ 2144 h 1846757"/>
                <a:gd name="connsiteX0" fmla="*/ 594364 w 1007159"/>
                <a:gd name="connsiteY0" fmla="*/ 2144 h 1846757"/>
                <a:gd name="connsiteX1" fmla="*/ 126214 w 1007159"/>
                <a:gd name="connsiteY1" fmla="*/ 829734 h 1846757"/>
                <a:gd name="connsiteX2" fmla="*/ 420743 w 1007159"/>
                <a:gd name="connsiteY2" fmla="*/ 1830944 h 1846757"/>
                <a:gd name="connsiteX3" fmla="*/ 872156 w 1007159"/>
                <a:gd name="connsiteY3" fmla="*/ 1385319 h 1846757"/>
                <a:gd name="connsiteX4" fmla="*/ 987903 w 1007159"/>
                <a:gd name="connsiteY4" fmla="*/ 615603 h 1846757"/>
                <a:gd name="connsiteX5" fmla="*/ 594364 w 1007159"/>
                <a:gd name="connsiteY5" fmla="*/ 2144 h 1846757"/>
                <a:gd name="connsiteX0" fmla="*/ 484902 w 883206"/>
                <a:gd name="connsiteY0" fmla="*/ 41557 h 1318371"/>
                <a:gd name="connsiteX1" fmla="*/ 3238 w 883206"/>
                <a:gd name="connsiteY1" fmla="*/ 301348 h 1318371"/>
                <a:gd name="connsiteX2" fmla="*/ 297767 w 883206"/>
                <a:gd name="connsiteY2" fmla="*/ 1302558 h 1318371"/>
                <a:gd name="connsiteX3" fmla="*/ 749180 w 883206"/>
                <a:gd name="connsiteY3" fmla="*/ 856933 h 1318371"/>
                <a:gd name="connsiteX4" fmla="*/ 864927 w 883206"/>
                <a:gd name="connsiteY4" fmla="*/ 87217 h 1318371"/>
                <a:gd name="connsiteX5" fmla="*/ 484902 w 883206"/>
                <a:gd name="connsiteY5" fmla="*/ 41557 h 1318371"/>
                <a:gd name="connsiteX0" fmla="*/ 378883 w 777187"/>
                <a:gd name="connsiteY0" fmla="*/ 58675 h 1324992"/>
                <a:gd name="connsiteX1" fmla="*/ 5333 w 777187"/>
                <a:gd name="connsiteY1" fmla="*/ 584244 h 1324992"/>
                <a:gd name="connsiteX2" fmla="*/ 191748 w 777187"/>
                <a:gd name="connsiteY2" fmla="*/ 1319676 h 1324992"/>
                <a:gd name="connsiteX3" fmla="*/ 643161 w 777187"/>
                <a:gd name="connsiteY3" fmla="*/ 874051 h 1324992"/>
                <a:gd name="connsiteX4" fmla="*/ 758908 w 777187"/>
                <a:gd name="connsiteY4" fmla="*/ 104335 h 1324992"/>
                <a:gd name="connsiteX5" fmla="*/ 378883 w 777187"/>
                <a:gd name="connsiteY5" fmla="*/ 58675 h 1324992"/>
                <a:gd name="connsiteX0" fmla="*/ 374434 w 772738"/>
                <a:gd name="connsiteY0" fmla="*/ 58675 h 1112877"/>
                <a:gd name="connsiteX1" fmla="*/ 884 w 772738"/>
                <a:gd name="connsiteY1" fmla="*/ 584244 h 1112877"/>
                <a:gd name="connsiteX2" fmla="*/ 281899 w 772738"/>
                <a:gd name="connsiteY2" fmla="*/ 1098194 h 1112877"/>
                <a:gd name="connsiteX3" fmla="*/ 638712 w 772738"/>
                <a:gd name="connsiteY3" fmla="*/ 874051 h 1112877"/>
                <a:gd name="connsiteX4" fmla="*/ 754459 w 772738"/>
                <a:gd name="connsiteY4" fmla="*/ 104335 h 1112877"/>
                <a:gd name="connsiteX5" fmla="*/ 374434 w 772738"/>
                <a:gd name="connsiteY5" fmla="*/ 58675 h 1112877"/>
                <a:gd name="connsiteX0" fmla="*/ 374434 w 696889"/>
                <a:gd name="connsiteY0" fmla="*/ 37893 h 1092095"/>
                <a:gd name="connsiteX1" fmla="*/ 884 w 696889"/>
                <a:gd name="connsiteY1" fmla="*/ 563462 h 1092095"/>
                <a:gd name="connsiteX2" fmla="*/ 281899 w 696889"/>
                <a:gd name="connsiteY2" fmla="*/ 1077412 h 1092095"/>
                <a:gd name="connsiteX3" fmla="*/ 638712 w 696889"/>
                <a:gd name="connsiteY3" fmla="*/ 853269 h 1092095"/>
                <a:gd name="connsiteX4" fmla="*/ 610307 w 696889"/>
                <a:gd name="connsiteY4" fmla="*/ 131877 h 1092095"/>
                <a:gd name="connsiteX5" fmla="*/ 374434 w 696889"/>
                <a:gd name="connsiteY5" fmla="*/ 37893 h 1092095"/>
                <a:gd name="connsiteX0" fmla="*/ 374434 w 838217"/>
                <a:gd name="connsiteY0" fmla="*/ 42753 h 1096955"/>
                <a:gd name="connsiteX1" fmla="*/ 884 w 838217"/>
                <a:gd name="connsiteY1" fmla="*/ 568322 h 1096955"/>
                <a:gd name="connsiteX2" fmla="*/ 281899 w 838217"/>
                <a:gd name="connsiteY2" fmla="*/ 1082272 h 1096955"/>
                <a:gd name="connsiteX3" fmla="*/ 638712 w 838217"/>
                <a:gd name="connsiteY3" fmla="*/ 858129 h 1096955"/>
                <a:gd name="connsiteX4" fmla="*/ 828203 w 838217"/>
                <a:gd name="connsiteY4" fmla="*/ 123793 h 1096955"/>
                <a:gd name="connsiteX5" fmla="*/ 374434 w 838217"/>
                <a:gd name="connsiteY5" fmla="*/ 42753 h 1096955"/>
                <a:gd name="connsiteX0" fmla="*/ 171527 w 853652"/>
                <a:gd name="connsiteY0" fmla="*/ 35516 h 1119582"/>
                <a:gd name="connsiteX1" fmla="*/ 3909 w 853652"/>
                <a:gd name="connsiteY1" fmla="*/ 590949 h 1119582"/>
                <a:gd name="connsiteX2" fmla="*/ 284924 w 853652"/>
                <a:gd name="connsiteY2" fmla="*/ 1104899 h 1119582"/>
                <a:gd name="connsiteX3" fmla="*/ 641737 w 853652"/>
                <a:gd name="connsiteY3" fmla="*/ 880756 h 1119582"/>
                <a:gd name="connsiteX4" fmla="*/ 831228 w 853652"/>
                <a:gd name="connsiteY4" fmla="*/ 146420 h 1119582"/>
                <a:gd name="connsiteX5" fmla="*/ 171527 w 853652"/>
                <a:gd name="connsiteY5" fmla="*/ 35516 h 1119582"/>
                <a:gd name="connsiteX0" fmla="*/ 180537 w 862662"/>
                <a:gd name="connsiteY0" fmla="*/ 35516 h 1131520"/>
                <a:gd name="connsiteX1" fmla="*/ 12919 w 862662"/>
                <a:gd name="connsiteY1" fmla="*/ 590949 h 1131520"/>
                <a:gd name="connsiteX2" fmla="*/ 83223 w 862662"/>
                <a:gd name="connsiteY2" fmla="*/ 1118131 h 1131520"/>
                <a:gd name="connsiteX3" fmla="*/ 650747 w 862662"/>
                <a:gd name="connsiteY3" fmla="*/ 880756 h 1131520"/>
                <a:gd name="connsiteX4" fmla="*/ 840238 w 862662"/>
                <a:gd name="connsiteY4" fmla="*/ 146420 h 1131520"/>
                <a:gd name="connsiteX5" fmla="*/ 180537 w 862662"/>
                <a:gd name="connsiteY5" fmla="*/ 35516 h 1131520"/>
                <a:gd name="connsiteX0" fmla="*/ 186621 w 901090"/>
                <a:gd name="connsiteY0" fmla="*/ 35923 h 1133769"/>
                <a:gd name="connsiteX1" fmla="*/ 19003 w 901090"/>
                <a:gd name="connsiteY1" fmla="*/ 591356 h 1133769"/>
                <a:gd name="connsiteX2" fmla="*/ 89307 w 901090"/>
                <a:gd name="connsiteY2" fmla="*/ 1118538 h 1133769"/>
                <a:gd name="connsiteX3" fmla="*/ 777994 w 901090"/>
                <a:gd name="connsiteY3" fmla="*/ 892617 h 1133769"/>
                <a:gd name="connsiteX4" fmla="*/ 846322 w 901090"/>
                <a:gd name="connsiteY4" fmla="*/ 146827 h 1133769"/>
                <a:gd name="connsiteX5" fmla="*/ 186621 w 901090"/>
                <a:gd name="connsiteY5" fmla="*/ 35923 h 11337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1090" h="1133769">
                  <a:moveTo>
                    <a:pt x="186621" y="35923"/>
                  </a:moveTo>
                  <a:cubicBezTo>
                    <a:pt x="48735" y="110011"/>
                    <a:pt x="35222" y="410920"/>
                    <a:pt x="19003" y="591356"/>
                  </a:cubicBezTo>
                  <a:cubicBezTo>
                    <a:pt x="2784" y="771792"/>
                    <a:pt x="-37192" y="1068328"/>
                    <a:pt x="89307" y="1118538"/>
                  </a:cubicBezTo>
                  <a:cubicBezTo>
                    <a:pt x="215806" y="1168748"/>
                    <a:pt x="652602" y="1095174"/>
                    <a:pt x="777994" y="892617"/>
                  </a:cubicBezTo>
                  <a:cubicBezTo>
                    <a:pt x="903386" y="690060"/>
                    <a:pt x="944884" y="289609"/>
                    <a:pt x="846322" y="146827"/>
                  </a:cubicBezTo>
                  <a:cubicBezTo>
                    <a:pt x="747760" y="4045"/>
                    <a:pt x="324507" y="-38165"/>
                    <a:pt x="186621" y="35923"/>
                  </a:cubicBezTo>
                  <a:close/>
                </a:path>
              </a:pathLst>
            </a:custGeom>
            <a:solidFill>
              <a:schemeClr val="accent4">
                <a:lumMod val="20000"/>
                <a:lumOff val="80000"/>
              </a:schemeClr>
            </a:solidFill>
            <a:sp3d prstMaterial="translucentPowder"/>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6" name="Freeform: Shape 38">
              <a:extLst>
                <a:ext uri="{FF2B5EF4-FFF2-40B4-BE49-F238E27FC236}">
                  <a16:creationId xmlns:a16="http://schemas.microsoft.com/office/drawing/2014/main" id="{9766DC1C-1EB1-C252-32BB-AA223603DE0D}"/>
                </a:ext>
              </a:extLst>
            </p:cNvPr>
            <p:cNvSpPr/>
            <p:nvPr/>
          </p:nvSpPr>
          <p:spPr>
            <a:xfrm rot="14013368">
              <a:off x="3841967" y="2008243"/>
              <a:ext cx="679150" cy="1322468"/>
            </a:xfrm>
            <a:custGeom>
              <a:avLst/>
              <a:gdLst>
                <a:gd name="connsiteX0" fmla="*/ 600104 w 1057083"/>
                <a:gd name="connsiteY0" fmla="*/ 6523 h 1513523"/>
                <a:gd name="connsiteX1" fmla="*/ 9795 w 1057083"/>
                <a:gd name="connsiteY1" fmla="*/ 486872 h 1513523"/>
                <a:gd name="connsiteX2" fmla="*/ 281800 w 1057083"/>
                <a:gd name="connsiteY2" fmla="*/ 1488082 h 1513523"/>
                <a:gd name="connsiteX3" fmla="*/ 924195 w 1057083"/>
                <a:gd name="connsiteY3" fmla="*/ 1135055 h 1513523"/>
                <a:gd name="connsiteX4" fmla="*/ 1034154 w 1057083"/>
                <a:gd name="connsiteY4" fmla="*/ 272741 h 1513523"/>
                <a:gd name="connsiteX5" fmla="*/ 600104 w 1057083"/>
                <a:gd name="connsiteY5" fmla="*/ 6523 h 1513523"/>
                <a:gd name="connsiteX0" fmla="*/ 660864 w 1056582"/>
                <a:gd name="connsiteY0" fmla="*/ 2627 h 1775845"/>
                <a:gd name="connsiteX1" fmla="*/ 12681 w 1056582"/>
                <a:gd name="connsiteY1" fmla="*/ 749194 h 1775845"/>
                <a:gd name="connsiteX2" fmla="*/ 284686 w 1056582"/>
                <a:gd name="connsiteY2" fmla="*/ 1750404 h 1775845"/>
                <a:gd name="connsiteX3" fmla="*/ 927081 w 1056582"/>
                <a:gd name="connsiteY3" fmla="*/ 1397377 h 1775845"/>
                <a:gd name="connsiteX4" fmla="*/ 1037040 w 1056582"/>
                <a:gd name="connsiteY4" fmla="*/ 535063 h 1775845"/>
                <a:gd name="connsiteX5" fmla="*/ 660864 w 1056582"/>
                <a:gd name="connsiteY5" fmla="*/ 2627 h 1775845"/>
                <a:gd name="connsiteX0" fmla="*/ 449265 w 1062403"/>
                <a:gd name="connsiteY0" fmla="*/ 2218 h 1856459"/>
                <a:gd name="connsiteX1" fmla="*/ 3639 w 1062403"/>
                <a:gd name="connsiteY1" fmla="*/ 829808 h 1856459"/>
                <a:gd name="connsiteX2" fmla="*/ 275644 w 1062403"/>
                <a:gd name="connsiteY2" fmla="*/ 1831018 h 1856459"/>
                <a:gd name="connsiteX3" fmla="*/ 918039 w 1062403"/>
                <a:gd name="connsiteY3" fmla="*/ 1477991 h 1856459"/>
                <a:gd name="connsiteX4" fmla="*/ 1027998 w 1062403"/>
                <a:gd name="connsiteY4" fmla="*/ 615677 h 1856459"/>
                <a:gd name="connsiteX5" fmla="*/ 449265 w 1062403"/>
                <a:gd name="connsiteY5" fmla="*/ 2218 h 1856459"/>
                <a:gd name="connsiteX0" fmla="*/ 449265 w 971893"/>
                <a:gd name="connsiteY0" fmla="*/ 2218 h 1856459"/>
                <a:gd name="connsiteX1" fmla="*/ 3639 w 971893"/>
                <a:gd name="connsiteY1" fmla="*/ 829808 h 1856459"/>
                <a:gd name="connsiteX2" fmla="*/ 275644 w 971893"/>
                <a:gd name="connsiteY2" fmla="*/ 1831018 h 1856459"/>
                <a:gd name="connsiteX3" fmla="*/ 918039 w 971893"/>
                <a:gd name="connsiteY3" fmla="*/ 1477991 h 1856459"/>
                <a:gd name="connsiteX4" fmla="*/ 842804 w 971893"/>
                <a:gd name="connsiteY4" fmla="*/ 615677 h 1856459"/>
                <a:gd name="connsiteX5" fmla="*/ 449265 w 971893"/>
                <a:gd name="connsiteY5" fmla="*/ 2218 h 1856459"/>
                <a:gd name="connsiteX0" fmla="*/ 448722 w 861517"/>
                <a:gd name="connsiteY0" fmla="*/ 2144 h 1846757"/>
                <a:gd name="connsiteX1" fmla="*/ 3096 w 861517"/>
                <a:gd name="connsiteY1" fmla="*/ 829734 h 1846757"/>
                <a:gd name="connsiteX2" fmla="*/ 275101 w 861517"/>
                <a:gd name="connsiteY2" fmla="*/ 1830944 h 1846757"/>
                <a:gd name="connsiteX3" fmla="*/ 726514 w 861517"/>
                <a:gd name="connsiteY3" fmla="*/ 1385319 h 1846757"/>
                <a:gd name="connsiteX4" fmla="*/ 842261 w 861517"/>
                <a:gd name="connsiteY4" fmla="*/ 615603 h 1846757"/>
                <a:gd name="connsiteX5" fmla="*/ 448722 w 861517"/>
                <a:gd name="connsiteY5" fmla="*/ 2144 h 1846757"/>
                <a:gd name="connsiteX0" fmla="*/ 470986 w 883781"/>
                <a:gd name="connsiteY0" fmla="*/ 2144 h 1846757"/>
                <a:gd name="connsiteX1" fmla="*/ 2836 w 883781"/>
                <a:gd name="connsiteY1" fmla="*/ 829734 h 1846757"/>
                <a:gd name="connsiteX2" fmla="*/ 297365 w 883781"/>
                <a:gd name="connsiteY2" fmla="*/ 1830944 h 1846757"/>
                <a:gd name="connsiteX3" fmla="*/ 748778 w 883781"/>
                <a:gd name="connsiteY3" fmla="*/ 1385319 h 1846757"/>
                <a:gd name="connsiteX4" fmla="*/ 864525 w 883781"/>
                <a:gd name="connsiteY4" fmla="*/ 615603 h 1846757"/>
                <a:gd name="connsiteX5" fmla="*/ 470986 w 883781"/>
                <a:gd name="connsiteY5" fmla="*/ 2144 h 1846757"/>
                <a:gd name="connsiteX0" fmla="*/ 594364 w 1007159"/>
                <a:gd name="connsiteY0" fmla="*/ 2144 h 1846757"/>
                <a:gd name="connsiteX1" fmla="*/ 126214 w 1007159"/>
                <a:gd name="connsiteY1" fmla="*/ 829734 h 1846757"/>
                <a:gd name="connsiteX2" fmla="*/ 420743 w 1007159"/>
                <a:gd name="connsiteY2" fmla="*/ 1830944 h 1846757"/>
                <a:gd name="connsiteX3" fmla="*/ 872156 w 1007159"/>
                <a:gd name="connsiteY3" fmla="*/ 1385319 h 1846757"/>
                <a:gd name="connsiteX4" fmla="*/ 987903 w 1007159"/>
                <a:gd name="connsiteY4" fmla="*/ 615603 h 1846757"/>
                <a:gd name="connsiteX5" fmla="*/ 594364 w 1007159"/>
                <a:gd name="connsiteY5" fmla="*/ 2144 h 1846757"/>
                <a:gd name="connsiteX0" fmla="*/ 484902 w 883206"/>
                <a:gd name="connsiteY0" fmla="*/ 41557 h 1318371"/>
                <a:gd name="connsiteX1" fmla="*/ 3238 w 883206"/>
                <a:gd name="connsiteY1" fmla="*/ 301348 h 1318371"/>
                <a:gd name="connsiteX2" fmla="*/ 297767 w 883206"/>
                <a:gd name="connsiteY2" fmla="*/ 1302558 h 1318371"/>
                <a:gd name="connsiteX3" fmla="*/ 749180 w 883206"/>
                <a:gd name="connsiteY3" fmla="*/ 856933 h 1318371"/>
                <a:gd name="connsiteX4" fmla="*/ 864927 w 883206"/>
                <a:gd name="connsiteY4" fmla="*/ 87217 h 1318371"/>
                <a:gd name="connsiteX5" fmla="*/ 484902 w 883206"/>
                <a:gd name="connsiteY5" fmla="*/ 41557 h 1318371"/>
                <a:gd name="connsiteX0" fmla="*/ 378883 w 777187"/>
                <a:gd name="connsiteY0" fmla="*/ 58675 h 1324992"/>
                <a:gd name="connsiteX1" fmla="*/ 5333 w 777187"/>
                <a:gd name="connsiteY1" fmla="*/ 584244 h 1324992"/>
                <a:gd name="connsiteX2" fmla="*/ 191748 w 777187"/>
                <a:gd name="connsiteY2" fmla="*/ 1319676 h 1324992"/>
                <a:gd name="connsiteX3" fmla="*/ 643161 w 777187"/>
                <a:gd name="connsiteY3" fmla="*/ 874051 h 1324992"/>
                <a:gd name="connsiteX4" fmla="*/ 758908 w 777187"/>
                <a:gd name="connsiteY4" fmla="*/ 104335 h 1324992"/>
                <a:gd name="connsiteX5" fmla="*/ 378883 w 777187"/>
                <a:gd name="connsiteY5" fmla="*/ 58675 h 1324992"/>
                <a:gd name="connsiteX0" fmla="*/ 374434 w 772738"/>
                <a:gd name="connsiteY0" fmla="*/ 58675 h 1112877"/>
                <a:gd name="connsiteX1" fmla="*/ 884 w 772738"/>
                <a:gd name="connsiteY1" fmla="*/ 584244 h 1112877"/>
                <a:gd name="connsiteX2" fmla="*/ 281899 w 772738"/>
                <a:gd name="connsiteY2" fmla="*/ 1098194 h 1112877"/>
                <a:gd name="connsiteX3" fmla="*/ 638712 w 772738"/>
                <a:gd name="connsiteY3" fmla="*/ 874051 h 1112877"/>
                <a:gd name="connsiteX4" fmla="*/ 754459 w 772738"/>
                <a:gd name="connsiteY4" fmla="*/ 104335 h 1112877"/>
                <a:gd name="connsiteX5" fmla="*/ 374434 w 772738"/>
                <a:gd name="connsiteY5" fmla="*/ 58675 h 1112877"/>
                <a:gd name="connsiteX0" fmla="*/ 374434 w 696889"/>
                <a:gd name="connsiteY0" fmla="*/ 37893 h 1092095"/>
                <a:gd name="connsiteX1" fmla="*/ 884 w 696889"/>
                <a:gd name="connsiteY1" fmla="*/ 563462 h 1092095"/>
                <a:gd name="connsiteX2" fmla="*/ 281899 w 696889"/>
                <a:gd name="connsiteY2" fmla="*/ 1077412 h 1092095"/>
                <a:gd name="connsiteX3" fmla="*/ 638712 w 696889"/>
                <a:gd name="connsiteY3" fmla="*/ 853269 h 1092095"/>
                <a:gd name="connsiteX4" fmla="*/ 610307 w 696889"/>
                <a:gd name="connsiteY4" fmla="*/ 131877 h 1092095"/>
                <a:gd name="connsiteX5" fmla="*/ 374434 w 696889"/>
                <a:gd name="connsiteY5" fmla="*/ 37893 h 1092095"/>
                <a:gd name="connsiteX0" fmla="*/ 374434 w 752417"/>
                <a:gd name="connsiteY0" fmla="*/ 50114 h 1104316"/>
                <a:gd name="connsiteX1" fmla="*/ 884 w 752417"/>
                <a:gd name="connsiteY1" fmla="*/ 575683 h 1104316"/>
                <a:gd name="connsiteX2" fmla="*/ 281899 w 752417"/>
                <a:gd name="connsiteY2" fmla="*/ 1089633 h 1104316"/>
                <a:gd name="connsiteX3" fmla="*/ 638712 w 752417"/>
                <a:gd name="connsiteY3" fmla="*/ 865490 h 1104316"/>
                <a:gd name="connsiteX4" fmla="*/ 728111 w 752417"/>
                <a:gd name="connsiteY4" fmla="*/ 113715 h 1104316"/>
                <a:gd name="connsiteX5" fmla="*/ 374434 w 752417"/>
                <a:gd name="connsiteY5" fmla="*/ 50114 h 1104316"/>
                <a:gd name="connsiteX0" fmla="*/ 170839 w 769996"/>
                <a:gd name="connsiteY0" fmla="*/ 38450 h 1135314"/>
                <a:gd name="connsiteX1" fmla="*/ 3222 w 769996"/>
                <a:gd name="connsiteY1" fmla="*/ 606681 h 1135314"/>
                <a:gd name="connsiteX2" fmla="*/ 284237 w 769996"/>
                <a:gd name="connsiteY2" fmla="*/ 1120631 h 1135314"/>
                <a:gd name="connsiteX3" fmla="*/ 641050 w 769996"/>
                <a:gd name="connsiteY3" fmla="*/ 896488 h 1135314"/>
                <a:gd name="connsiteX4" fmla="*/ 730449 w 769996"/>
                <a:gd name="connsiteY4" fmla="*/ 144713 h 1135314"/>
                <a:gd name="connsiteX5" fmla="*/ 170839 w 769996"/>
                <a:gd name="connsiteY5" fmla="*/ 38450 h 1135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996" h="1135314">
                  <a:moveTo>
                    <a:pt x="170839" y="38450"/>
                  </a:moveTo>
                  <a:cubicBezTo>
                    <a:pt x="49635" y="115445"/>
                    <a:pt x="-15678" y="426318"/>
                    <a:pt x="3222" y="606681"/>
                  </a:cubicBezTo>
                  <a:cubicBezTo>
                    <a:pt x="22122" y="787044"/>
                    <a:pt x="177932" y="1072330"/>
                    <a:pt x="284237" y="1120631"/>
                  </a:cubicBezTo>
                  <a:cubicBezTo>
                    <a:pt x="390542" y="1168932"/>
                    <a:pt x="515658" y="1099045"/>
                    <a:pt x="641050" y="896488"/>
                  </a:cubicBezTo>
                  <a:cubicBezTo>
                    <a:pt x="766442" y="693931"/>
                    <a:pt x="808817" y="287719"/>
                    <a:pt x="730449" y="144713"/>
                  </a:cubicBezTo>
                  <a:cubicBezTo>
                    <a:pt x="652081" y="1707"/>
                    <a:pt x="292043" y="-38545"/>
                    <a:pt x="170839" y="38450"/>
                  </a:cubicBezTo>
                  <a:close/>
                </a:path>
              </a:pathLst>
            </a:custGeom>
            <a:solidFill>
              <a:srgbClr val="F86E4E"/>
            </a:solidFill>
            <a:sp3d prstMaterial="translucentPowder"/>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7" name="Freeform: Shape 31">
              <a:extLst>
                <a:ext uri="{FF2B5EF4-FFF2-40B4-BE49-F238E27FC236}">
                  <a16:creationId xmlns:a16="http://schemas.microsoft.com/office/drawing/2014/main" id="{A0CCEC11-0AF1-1C4B-0285-0443372DDBFB}"/>
                </a:ext>
              </a:extLst>
            </p:cNvPr>
            <p:cNvSpPr/>
            <p:nvPr/>
          </p:nvSpPr>
          <p:spPr>
            <a:xfrm rot="8713937">
              <a:off x="3612006" y="3602865"/>
              <a:ext cx="680673" cy="1137486"/>
            </a:xfrm>
            <a:custGeom>
              <a:avLst/>
              <a:gdLst>
                <a:gd name="connsiteX0" fmla="*/ 600104 w 1057083"/>
                <a:gd name="connsiteY0" fmla="*/ 6523 h 1513523"/>
                <a:gd name="connsiteX1" fmla="*/ 9795 w 1057083"/>
                <a:gd name="connsiteY1" fmla="*/ 486872 h 1513523"/>
                <a:gd name="connsiteX2" fmla="*/ 281800 w 1057083"/>
                <a:gd name="connsiteY2" fmla="*/ 1488082 h 1513523"/>
                <a:gd name="connsiteX3" fmla="*/ 924195 w 1057083"/>
                <a:gd name="connsiteY3" fmla="*/ 1135055 h 1513523"/>
                <a:gd name="connsiteX4" fmla="*/ 1034154 w 1057083"/>
                <a:gd name="connsiteY4" fmla="*/ 272741 h 1513523"/>
                <a:gd name="connsiteX5" fmla="*/ 600104 w 1057083"/>
                <a:gd name="connsiteY5" fmla="*/ 6523 h 1513523"/>
                <a:gd name="connsiteX0" fmla="*/ 660864 w 1056582"/>
                <a:gd name="connsiteY0" fmla="*/ 2627 h 1775845"/>
                <a:gd name="connsiteX1" fmla="*/ 12681 w 1056582"/>
                <a:gd name="connsiteY1" fmla="*/ 749194 h 1775845"/>
                <a:gd name="connsiteX2" fmla="*/ 284686 w 1056582"/>
                <a:gd name="connsiteY2" fmla="*/ 1750404 h 1775845"/>
                <a:gd name="connsiteX3" fmla="*/ 927081 w 1056582"/>
                <a:gd name="connsiteY3" fmla="*/ 1397377 h 1775845"/>
                <a:gd name="connsiteX4" fmla="*/ 1037040 w 1056582"/>
                <a:gd name="connsiteY4" fmla="*/ 535063 h 1775845"/>
                <a:gd name="connsiteX5" fmla="*/ 660864 w 1056582"/>
                <a:gd name="connsiteY5" fmla="*/ 2627 h 1775845"/>
                <a:gd name="connsiteX0" fmla="*/ 449265 w 1062403"/>
                <a:gd name="connsiteY0" fmla="*/ 2218 h 1856459"/>
                <a:gd name="connsiteX1" fmla="*/ 3639 w 1062403"/>
                <a:gd name="connsiteY1" fmla="*/ 829808 h 1856459"/>
                <a:gd name="connsiteX2" fmla="*/ 275644 w 1062403"/>
                <a:gd name="connsiteY2" fmla="*/ 1831018 h 1856459"/>
                <a:gd name="connsiteX3" fmla="*/ 918039 w 1062403"/>
                <a:gd name="connsiteY3" fmla="*/ 1477991 h 1856459"/>
                <a:gd name="connsiteX4" fmla="*/ 1027998 w 1062403"/>
                <a:gd name="connsiteY4" fmla="*/ 615677 h 1856459"/>
                <a:gd name="connsiteX5" fmla="*/ 449265 w 1062403"/>
                <a:gd name="connsiteY5" fmla="*/ 2218 h 1856459"/>
                <a:gd name="connsiteX0" fmla="*/ 449265 w 971893"/>
                <a:gd name="connsiteY0" fmla="*/ 2218 h 1856459"/>
                <a:gd name="connsiteX1" fmla="*/ 3639 w 971893"/>
                <a:gd name="connsiteY1" fmla="*/ 829808 h 1856459"/>
                <a:gd name="connsiteX2" fmla="*/ 275644 w 971893"/>
                <a:gd name="connsiteY2" fmla="*/ 1831018 h 1856459"/>
                <a:gd name="connsiteX3" fmla="*/ 918039 w 971893"/>
                <a:gd name="connsiteY3" fmla="*/ 1477991 h 1856459"/>
                <a:gd name="connsiteX4" fmla="*/ 842804 w 971893"/>
                <a:gd name="connsiteY4" fmla="*/ 615677 h 1856459"/>
                <a:gd name="connsiteX5" fmla="*/ 449265 w 971893"/>
                <a:gd name="connsiteY5" fmla="*/ 2218 h 1856459"/>
                <a:gd name="connsiteX0" fmla="*/ 448722 w 861517"/>
                <a:gd name="connsiteY0" fmla="*/ 2144 h 1846757"/>
                <a:gd name="connsiteX1" fmla="*/ 3096 w 861517"/>
                <a:gd name="connsiteY1" fmla="*/ 829734 h 1846757"/>
                <a:gd name="connsiteX2" fmla="*/ 275101 w 861517"/>
                <a:gd name="connsiteY2" fmla="*/ 1830944 h 1846757"/>
                <a:gd name="connsiteX3" fmla="*/ 726514 w 861517"/>
                <a:gd name="connsiteY3" fmla="*/ 1385319 h 1846757"/>
                <a:gd name="connsiteX4" fmla="*/ 842261 w 861517"/>
                <a:gd name="connsiteY4" fmla="*/ 615603 h 1846757"/>
                <a:gd name="connsiteX5" fmla="*/ 448722 w 861517"/>
                <a:gd name="connsiteY5" fmla="*/ 2144 h 1846757"/>
                <a:gd name="connsiteX0" fmla="*/ 470986 w 883781"/>
                <a:gd name="connsiteY0" fmla="*/ 2144 h 1846757"/>
                <a:gd name="connsiteX1" fmla="*/ 2836 w 883781"/>
                <a:gd name="connsiteY1" fmla="*/ 829734 h 1846757"/>
                <a:gd name="connsiteX2" fmla="*/ 297365 w 883781"/>
                <a:gd name="connsiteY2" fmla="*/ 1830944 h 1846757"/>
                <a:gd name="connsiteX3" fmla="*/ 748778 w 883781"/>
                <a:gd name="connsiteY3" fmla="*/ 1385319 h 1846757"/>
                <a:gd name="connsiteX4" fmla="*/ 864525 w 883781"/>
                <a:gd name="connsiteY4" fmla="*/ 615603 h 1846757"/>
                <a:gd name="connsiteX5" fmla="*/ 470986 w 883781"/>
                <a:gd name="connsiteY5" fmla="*/ 2144 h 1846757"/>
                <a:gd name="connsiteX0" fmla="*/ 594364 w 1007159"/>
                <a:gd name="connsiteY0" fmla="*/ 2144 h 1846757"/>
                <a:gd name="connsiteX1" fmla="*/ 126214 w 1007159"/>
                <a:gd name="connsiteY1" fmla="*/ 829734 h 1846757"/>
                <a:gd name="connsiteX2" fmla="*/ 420743 w 1007159"/>
                <a:gd name="connsiteY2" fmla="*/ 1830944 h 1846757"/>
                <a:gd name="connsiteX3" fmla="*/ 872156 w 1007159"/>
                <a:gd name="connsiteY3" fmla="*/ 1385319 h 1846757"/>
                <a:gd name="connsiteX4" fmla="*/ 987903 w 1007159"/>
                <a:gd name="connsiteY4" fmla="*/ 615603 h 1846757"/>
                <a:gd name="connsiteX5" fmla="*/ 594364 w 1007159"/>
                <a:gd name="connsiteY5" fmla="*/ 2144 h 1846757"/>
                <a:gd name="connsiteX0" fmla="*/ 484902 w 883206"/>
                <a:gd name="connsiteY0" fmla="*/ 41557 h 1318371"/>
                <a:gd name="connsiteX1" fmla="*/ 3238 w 883206"/>
                <a:gd name="connsiteY1" fmla="*/ 301348 h 1318371"/>
                <a:gd name="connsiteX2" fmla="*/ 297767 w 883206"/>
                <a:gd name="connsiteY2" fmla="*/ 1302558 h 1318371"/>
                <a:gd name="connsiteX3" fmla="*/ 749180 w 883206"/>
                <a:gd name="connsiteY3" fmla="*/ 856933 h 1318371"/>
                <a:gd name="connsiteX4" fmla="*/ 864927 w 883206"/>
                <a:gd name="connsiteY4" fmla="*/ 87217 h 1318371"/>
                <a:gd name="connsiteX5" fmla="*/ 484902 w 883206"/>
                <a:gd name="connsiteY5" fmla="*/ 41557 h 1318371"/>
                <a:gd name="connsiteX0" fmla="*/ 378883 w 777187"/>
                <a:gd name="connsiteY0" fmla="*/ 58675 h 1324992"/>
                <a:gd name="connsiteX1" fmla="*/ 5333 w 777187"/>
                <a:gd name="connsiteY1" fmla="*/ 584244 h 1324992"/>
                <a:gd name="connsiteX2" fmla="*/ 191748 w 777187"/>
                <a:gd name="connsiteY2" fmla="*/ 1319676 h 1324992"/>
                <a:gd name="connsiteX3" fmla="*/ 643161 w 777187"/>
                <a:gd name="connsiteY3" fmla="*/ 874051 h 1324992"/>
                <a:gd name="connsiteX4" fmla="*/ 758908 w 777187"/>
                <a:gd name="connsiteY4" fmla="*/ 104335 h 1324992"/>
                <a:gd name="connsiteX5" fmla="*/ 378883 w 777187"/>
                <a:gd name="connsiteY5" fmla="*/ 58675 h 1324992"/>
                <a:gd name="connsiteX0" fmla="*/ 374434 w 772738"/>
                <a:gd name="connsiteY0" fmla="*/ 58675 h 1112877"/>
                <a:gd name="connsiteX1" fmla="*/ 884 w 772738"/>
                <a:gd name="connsiteY1" fmla="*/ 584244 h 1112877"/>
                <a:gd name="connsiteX2" fmla="*/ 281899 w 772738"/>
                <a:gd name="connsiteY2" fmla="*/ 1098194 h 1112877"/>
                <a:gd name="connsiteX3" fmla="*/ 638712 w 772738"/>
                <a:gd name="connsiteY3" fmla="*/ 874051 h 1112877"/>
                <a:gd name="connsiteX4" fmla="*/ 754459 w 772738"/>
                <a:gd name="connsiteY4" fmla="*/ 104335 h 1112877"/>
                <a:gd name="connsiteX5" fmla="*/ 374434 w 772738"/>
                <a:gd name="connsiteY5" fmla="*/ 58675 h 1112877"/>
                <a:gd name="connsiteX0" fmla="*/ 374434 w 696889"/>
                <a:gd name="connsiteY0" fmla="*/ 37893 h 1092095"/>
                <a:gd name="connsiteX1" fmla="*/ 884 w 696889"/>
                <a:gd name="connsiteY1" fmla="*/ 563462 h 1092095"/>
                <a:gd name="connsiteX2" fmla="*/ 281899 w 696889"/>
                <a:gd name="connsiteY2" fmla="*/ 1077412 h 1092095"/>
                <a:gd name="connsiteX3" fmla="*/ 638712 w 696889"/>
                <a:gd name="connsiteY3" fmla="*/ 853269 h 1092095"/>
                <a:gd name="connsiteX4" fmla="*/ 610307 w 696889"/>
                <a:gd name="connsiteY4" fmla="*/ 131877 h 1092095"/>
                <a:gd name="connsiteX5" fmla="*/ 374434 w 696889"/>
                <a:gd name="connsiteY5" fmla="*/ 37893 h 1092095"/>
                <a:gd name="connsiteX0" fmla="*/ 374434 w 755925"/>
                <a:gd name="connsiteY0" fmla="*/ 37606 h 1091808"/>
                <a:gd name="connsiteX1" fmla="*/ 884 w 755925"/>
                <a:gd name="connsiteY1" fmla="*/ 563175 h 1091808"/>
                <a:gd name="connsiteX2" fmla="*/ 281899 w 755925"/>
                <a:gd name="connsiteY2" fmla="*/ 1077125 h 1091808"/>
                <a:gd name="connsiteX3" fmla="*/ 638712 w 755925"/>
                <a:gd name="connsiteY3" fmla="*/ 852982 h 1091808"/>
                <a:gd name="connsiteX4" fmla="*/ 732905 w 755925"/>
                <a:gd name="connsiteY4" fmla="*/ 132398 h 1091808"/>
                <a:gd name="connsiteX5" fmla="*/ 374434 w 755925"/>
                <a:gd name="connsiteY5" fmla="*/ 37606 h 1091808"/>
                <a:gd name="connsiteX0" fmla="*/ 182423 w 771723"/>
                <a:gd name="connsiteY0" fmla="*/ 33792 h 1105211"/>
                <a:gd name="connsiteX1" fmla="*/ 2350 w 771723"/>
                <a:gd name="connsiteY1" fmla="*/ 576578 h 1105211"/>
                <a:gd name="connsiteX2" fmla="*/ 283365 w 771723"/>
                <a:gd name="connsiteY2" fmla="*/ 1090528 h 1105211"/>
                <a:gd name="connsiteX3" fmla="*/ 640178 w 771723"/>
                <a:gd name="connsiteY3" fmla="*/ 866385 h 1105211"/>
                <a:gd name="connsiteX4" fmla="*/ 734371 w 771723"/>
                <a:gd name="connsiteY4" fmla="*/ 145801 h 1105211"/>
                <a:gd name="connsiteX5" fmla="*/ 182423 w 771723"/>
                <a:gd name="connsiteY5" fmla="*/ 33792 h 1105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1723" h="1105211">
                  <a:moveTo>
                    <a:pt x="182423" y="33792"/>
                  </a:moveTo>
                  <a:cubicBezTo>
                    <a:pt x="60420" y="105588"/>
                    <a:pt x="-14474" y="400455"/>
                    <a:pt x="2350" y="576578"/>
                  </a:cubicBezTo>
                  <a:cubicBezTo>
                    <a:pt x="19174" y="752701"/>
                    <a:pt x="177060" y="1042227"/>
                    <a:pt x="283365" y="1090528"/>
                  </a:cubicBezTo>
                  <a:cubicBezTo>
                    <a:pt x="389670" y="1138829"/>
                    <a:pt x="514786" y="1068942"/>
                    <a:pt x="640178" y="866385"/>
                  </a:cubicBezTo>
                  <a:cubicBezTo>
                    <a:pt x="765570" y="663828"/>
                    <a:pt x="810663" y="284566"/>
                    <a:pt x="734371" y="145801"/>
                  </a:cubicBezTo>
                  <a:cubicBezTo>
                    <a:pt x="658079" y="7036"/>
                    <a:pt x="304426" y="-38004"/>
                    <a:pt x="182423" y="33792"/>
                  </a:cubicBezTo>
                  <a:close/>
                </a:path>
              </a:pathLst>
            </a:custGeom>
            <a:solidFill>
              <a:srgbClr val="FCB6F7"/>
            </a:solidFill>
            <a:sp3d prstMaterial="translucentPowder"/>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8" name="Oval 147">
              <a:extLst>
                <a:ext uri="{FF2B5EF4-FFF2-40B4-BE49-F238E27FC236}">
                  <a16:creationId xmlns:a16="http://schemas.microsoft.com/office/drawing/2014/main" id="{A7B785BA-D606-5423-3D7B-9016F5ABDED7}"/>
                </a:ext>
              </a:extLst>
            </p:cNvPr>
            <p:cNvSpPr/>
            <p:nvPr/>
          </p:nvSpPr>
          <p:spPr>
            <a:xfrm>
              <a:off x="3709831" y="2738975"/>
              <a:ext cx="394447" cy="313765"/>
            </a:xfrm>
            <a:prstGeom prst="ellipse">
              <a:avLst/>
            </a:prstGeom>
            <a:solidFill>
              <a:srgbClr val="00B0F0"/>
            </a:solidFill>
            <a:sp3d prstMaterial="translucentPowder"/>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9" name="Oval 148">
              <a:extLst>
                <a:ext uri="{FF2B5EF4-FFF2-40B4-BE49-F238E27FC236}">
                  <a16:creationId xmlns:a16="http://schemas.microsoft.com/office/drawing/2014/main" id="{1B120D9B-1FFB-1477-C3F7-FBFAB9D6131A}"/>
                </a:ext>
              </a:extLst>
            </p:cNvPr>
            <p:cNvSpPr/>
            <p:nvPr/>
          </p:nvSpPr>
          <p:spPr>
            <a:xfrm>
              <a:off x="3706047" y="3276085"/>
              <a:ext cx="394447" cy="313765"/>
            </a:xfrm>
            <a:prstGeom prst="ellipse">
              <a:avLst/>
            </a:prstGeom>
            <a:solidFill>
              <a:srgbClr val="00B0F0"/>
            </a:solidFill>
            <a:sp3d prstMaterial="translucentPowder"/>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0" name="Oval 149">
              <a:extLst>
                <a:ext uri="{FF2B5EF4-FFF2-40B4-BE49-F238E27FC236}">
                  <a16:creationId xmlns:a16="http://schemas.microsoft.com/office/drawing/2014/main" id="{A56D85E3-D2BD-BEAE-8C73-2FF4B97E2574}"/>
                </a:ext>
              </a:extLst>
            </p:cNvPr>
            <p:cNvSpPr/>
            <p:nvPr/>
          </p:nvSpPr>
          <p:spPr>
            <a:xfrm>
              <a:off x="3637496" y="3787952"/>
              <a:ext cx="394447" cy="313765"/>
            </a:xfrm>
            <a:prstGeom prst="ellipse">
              <a:avLst/>
            </a:prstGeom>
            <a:solidFill>
              <a:srgbClr val="00B0F0"/>
            </a:solidFill>
            <a:sp3d prstMaterial="translucentPowder"/>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1" name="Oval 150">
              <a:extLst>
                <a:ext uri="{FF2B5EF4-FFF2-40B4-BE49-F238E27FC236}">
                  <a16:creationId xmlns:a16="http://schemas.microsoft.com/office/drawing/2014/main" id="{757B3277-F02E-D3F7-2B10-B1D5686073A3}"/>
                </a:ext>
              </a:extLst>
            </p:cNvPr>
            <p:cNvSpPr/>
            <p:nvPr/>
          </p:nvSpPr>
          <p:spPr>
            <a:xfrm>
              <a:off x="3875616" y="4301715"/>
              <a:ext cx="394447" cy="313765"/>
            </a:xfrm>
            <a:prstGeom prst="ellipse">
              <a:avLst/>
            </a:prstGeom>
            <a:solidFill>
              <a:srgbClr val="00B0F0"/>
            </a:solidFill>
            <a:sp3d prstMaterial="translucentPowder"/>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2" name="Oval 151">
              <a:extLst>
                <a:ext uri="{FF2B5EF4-FFF2-40B4-BE49-F238E27FC236}">
                  <a16:creationId xmlns:a16="http://schemas.microsoft.com/office/drawing/2014/main" id="{3A8CA1CE-304E-74CC-C365-F0999E74249A}"/>
                </a:ext>
              </a:extLst>
            </p:cNvPr>
            <p:cNvSpPr/>
            <p:nvPr/>
          </p:nvSpPr>
          <p:spPr>
            <a:xfrm>
              <a:off x="4207814" y="2324227"/>
              <a:ext cx="394447" cy="313765"/>
            </a:xfrm>
            <a:prstGeom prst="ellipse">
              <a:avLst/>
            </a:prstGeom>
            <a:solidFill>
              <a:srgbClr val="00B0F0"/>
            </a:solidFill>
            <a:sp3d prstMaterial="translucentPowder"/>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3" name="Oval 152">
              <a:extLst>
                <a:ext uri="{FF2B5EF4-FFF2-40B4-BE49-F238E27FC236}">
                  <a16:creationId xmlns:a16="http://schemas.microsoft.com/office/drawing/2014/main" id="{964FED87-C1F7-2E6E-82DE-9A8C1EDA5DFA}"/>
                </a:ext>
              </a:extLst>
            </p:cNvPr>
            <p:cNvSpPr/>
            <p:nvPr/>
          </p:nvSpPr>
          <p:spPr>
            <a:xfrm>
              <a:off x="7426906" y="2339877"/>
              <a:ext cx="394447" cy="313765"/>
            </a:xfrm>
            <a:prstGeom prst="ellipse">
              <a:avLst/>
            </a:prstGeom>
            <a:solidFill>
              <a:srgbClr val="EC545F"/>
            </a:solidFill>
            <a:sp3d prstMaterial="translucentPowder"/>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4" name="Oval 153">
              <a:extLst>
                <a:ext uri="{FF2B5EF4-FFF2-40B4-BE49-F238E27FC236}">
                  <a16:creationId xmlns:a16="http://schemas.microsoft.com/office/drawing/2014/main" id="{F8001FD9-2801-FFF9-FA7A-5B5763EDB46D}"/>
                </a:ext>
              </a:extLst>
            </p:cNvPr>
            <p:cNvSpPr/>
            <p:nvPr/>
          </p:nvSpPr>
          <p:spPr>
            <a:xfrm>
              <a:off x="7104860" y="4240390"/>
              <a:ext cx="394447" cy="313765"/>
            </a:xfrm>
            <a:prstGeom prst="ellipse">
              <a:avLst/>
            </a:prstGeom>
            <a:solidFill>
              <a:srgbClr val="EC545F"/>
            </a:solidFill>
            <a:sp3d prstMaterial="translucentPowder"/>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5" name="Oval 154">
              <a:extLst>
                <a:ext uri="{FF2B5EF4-FFF2-40B4-BE49-F238E27FC236}">
                  <a16:creationId xmlns:a16="http://schemas.microsoft.com/office/drawing/2014/main" id="{31682F5B-3F59-9C01-EE84-9C04FC6C99E0}"/>
                </a:ext>
              </a:extLst>
            </p:cNvPr>
            <p:cNvSpPr/>
            <p:nvPr/>
          </p:nvSpPr>
          <p:spPr>
            <a:xfrm>
              <a:off x="5551583" y="2532023"/>
              <a:ext cx="394447" cy="313765"/>
            </a:xfrm>
            <a:prstGeom prst="ellipse">
              <a:avLst/>
            </a:prstGeom>
            <a:solidFill>
              <a:schemeClr val="bg2">
                <a:lumMod val="90000"/>
              </a:schemeClr>
            </a:solidFill>
            <a:sp3d prstMaterial="translucentPowder"/>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6" name="Oval 155">
              <a:extLst>
                <a:ext uri="{FF2B5EF4-FFF2-40B4-BE49-F238E27FC236}">
                  <a16:creationId xmlns:a16="http://schemas.microsoft.com/office/drawing/2014/main" id="{EFE63470-5B16-3537-843A-F346594D4D61}"/>
                </a:ext>
              </a:extLst>
            </p:cNvPr>
            <p:cNvSpPr/>
            <p:nvPr/>
          </p:nvSpPr>
          <p:spPr>
            <a:xfrm>
              <a:off x="4902053" y="3432457"/>
              <a:ext cx="394447" cy="313765"/>
            </a:xfrm>
            <a:prstGeom prst="ellipse">
              <a:avLst/>
            </a:prstGeom>
            <a:solidFill>
              <a:schemeClr val="bg2">
                <a:lumMod val="90000"/>
              </a:schemeClr>
            </a:solidFill>
            <a:sp3d prstMaterial="translucentPowder"/>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7" name="Oval 156">
              <a:extLst>
                <a:ext uri="{FF2B5EF4-FFF2-40B4-BE49-F238E27FC236}">
                  <a16:creationId xmlns:a16="http://schemas.microsoft.com/office/drawing/2014/main" id="{3911FD02-50FE-B3F0-DBAE-14B0F66792E1}"/>
                </a:ext>
              </a:extLst>
            </p:cNvPr>
            <p:cNvSpPr/>
            <p:nvPr/>
          </p:nvSpPr>
          <p:spPr>
            <a:xfrm>
              <a:off x="6324465" y="3036012"/>
              <a:ext cx="394447" cy="313765"/>
            </a:xfrm>
            <a:prstGeom prst="ellipse">
              <a:avLst/>
            </a:prstGeom>
            <a:solidFill>
              <a:schemeClr val="bg2">
                <a:lumMod val="90000"/>
              </a:schemeClr>
            </a:solidFill>
            <a:sp3d prstMaterial="translucentPowder"/>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8" name="Oval 157">
              <a:extLst>
                <a:ext uri="{FF2B5EF4-FFF2-40B4-BE49-F238E27FC236}">
                  <a16:creationId xmlns:a16="http://schemas.microsoft.com/office/drawing/2014/main" id="{0F124055-1EC3-1CB0-70E1-E05438C7A48F}"/>
                </a:ext>
              </a:extLst>
            </p:cNvPr>
            <p:cNvSpPr/>
            <p:nvPr/>
          </p:nvSpPr>
          <p:spPr>
            <a:xfrm>
              <a:off x="5719632" y="4078019"/>
              <a:ext cx="394447" cy="313765"/>
            </a:xfrm>
            <a:prstGeom prst="ellipse">
              <a:avLst/>
            </a:prstGeom>
            <a:solidFill>
              <a:schemeClr val="bg2">
                <a:lumMod val="90000"/>
              </a:schemeClr>
            </a:solidFill>
            <a:sp3d prstMaterial="translucentPowder"/>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9" name="Freeform: Shape 44">
              <a:extLst>
                <a:ext uri="{FF2B5EF4-FFF2-40B4-BE49-F238E27FC236}">
                  <a16:creationId xmlns:a16="http://schemas.microsoft.com/office/drawing/2014/main" id="{2E35DADA-78C2-FE43-4AF9-CA6CBADA1DA0}"/>
                </a:ext>
              </a:extLst>
            </p:cNvPr>
            <p:cNvSpPr/>
            <p:nvPr/>
          </p:nvSpPr>
          <p:spPr>
            <a:xfrm rot="3223793">
              <a:off x="7545879" y="2964820"/>
              <a:ext cx="546015" cy="567754"/>
            </a:xfrm>
            <a:custGeom>
              <a:avLst/>
              <a:gdLst>
                <a:gd name="connsiteX0" fmla="*/ 600104 w 1057083"/>
                <a:gd name="connsiteY0" fmla="*/ 6523 h 1513523"/>
                <a:gd name="connsiteX1" fmla="*/ 9795 w 1057083"/>
                <a:gd name="connsiteY1" fmla="*/ 486872 h 1513523"/>
                <a:gd name="connsiteX2" fmla="*/ 281800 w 1057083"/>
                <a:gd name="connsiteY2" fmla="*/ 1488082 h 1513523"/>
                <a:gd name="connsiteX3" fmla="*/ 924195 w 1057083"/>
                <a:gd name="connsiteY3" fmla="*/ 1135055 h 1513523"/>
                <a:gd name="connsiteX4" fmla="*/ 1034154 w 1057083"/>
                <a:gd name="connsiteY4" fmla="*/ 272741 h 1513523"/>
                <a:gd name="connsiteX5" fmla="*/ 600104 w 1057083"/>
                <a:gd name="connsiteY5" fmla="*/ 6523 h 1513523"/>
                <a:gd name="connsiteX0" fmla="*/ 660864 w 1056582"/>
                <a:gd name="connsiteY0" fmla="*/ 2627 h 1775845"/>
                <a:gd name="connsiteX1" fmla="*/ 12681 w 1056582"/>
                <a:gd name="connsiteY1" fmla="*/ 749194 h 1775845"/>
                <a:gd name="connsiteX2" fmla="*/ 284686 w 1056582"/>
                <a:gd name="connsiteY2" fmla="*/ 1750404 h 1775845"/>
                <a:gd name="connsiteX3" fmla="*/ 927081 w 1056582"/>
                <a:gd name="connsiteY3" fmla="*/ 1397377 h 1775845"/>
                <a:gd name="connsiteX4" fmla="*/ 1037040 w 1056582"/>
                <a:gd name="connsiteY4" fmla="*/ 535063 h 1775845"/>
                <a:gd name="connsiteX5" fmla="*/ 660864 w 1056582"/>
                <a:gd name="connsiteY5" fmla="*/ 2627 h 1775845"/>
                <a:gd name="connsiteX0" fmla="*/ 449265 w 1062403"/>
                <a:gd name="connsiteY0" fmla="*/ 2218 h 1856459"/>
                <a:gd name="connsiteX1" fmla="*/ 3639 w 1062403"/>
                <a:gd name="connsiteY1" fmla="*/ 829808 h 1856459"/>
                <a:gd name="connsiteX2" fmla="*/ 275644 w 1062403"/>
                <a:gd name="connsiteY2" fmla="*/ 1831018 h 1856459"/>
                <a:gd name="connsiteX3" fmla="*/ 918039 w 1062403"/>
                <a:gd name="connsiteY3" fmla="*/ 1477991 h 1856459"/>
                <a:gd name="connsiteX4" fmla="*/ 1027998 w 1062403"/>
                <a:gd name="connsiteY4" fmla="*/ 615677 h 1856459"/>
                <a:gd name="connsiteX5" fmla="*/ 449265 w 1062403"/>
                <a:gd name="connsiteY5" fmla="*/ 2218 h 1856459"/>
                <a:gd name="connsiteX0" fmla="*/ 449265 w 971893"/>
                <a:gd name="connsiteY0" fmla="*/ 2218 h 1856459"/>
                <a:gd name="connsiteX1" fmla="*/ 3639 w 971893"/>
                <a:gd name="connsiteY1" fmla="*/ 829808 h 1856459"/>
                <a:gd name="connsiteX2" fmla="*/ 275644 w 971893"/>
                <a:gd name="connsiteY2" fmla="*/ 1831018 h 1856459"/>
                <a:gd name="connsiteX3" fmla="*/ 918039 w 971893"/>
                <a:gd name="connsiteY3" fmla="*/ 1477991 h 1856459"/>
                <a:gd name="connsiteX4" fmla="*/ 842804 w 971893"/>
                <a:gd name="connsiteY4" fmla="*/ 615677 h 1856459"/>
                <a:gd name="connsiteX5" fmla="*/ 449265 w 971893"/>
                <a:gd name="connsiteY5" fmla="*/ 2218 h 1856459"/>
                <a:gd name="connsiteX0" fmla="*/ 448722 w 861517"/>
                <a:gd name="connsiteY0" fmla="*/ 2144 h 1846757"/>
                <a:gd name="connsiteX1" fmla="*/ 3096 w 861517"/>
                <a:gd name="connsiteY1" fmla="*/ 829734 h 1846757"/>
                <a:gd name="connsiteX2" fmla="*/ 275101 w 861517"/>
                <a:gd name="connsiteY2" fmla="*/ 1830944 h 1846757"/>
                <a:gd name="connsiteX3" fmla="*/ 726514 w 861517"/>
                <a:gd name="connsiteY3" fmla="*/ 1385319 h 1846757"/>
                <a:gd name="connsiteX4" fmla="*/ 842261 w 861517"/>
                <a:gd name="connsiteY4" fmla="*/ 615603 h 1846757"/>
                <a:gd name="connsiteX5" fmla="*/ 448722 w 861517"/>
                <a:gd name="connsiteY5" fmla="*/ 2144 h 1846757"/>
                <a:gd name="connsiteX0" fmla="*/ 470986 w 883781"/>
                <a:gd name="connsiteY0" fmla="*/ 2144 h 1846757"/>
                <a:gd name="connsiteX1" fmla="*/ 2836 w 883781"/>
                <a:gd name="connsiteY1" fmla="*/ 829734 h 1846757"/>
                <a:gd name="connsiteX2" fmla="*/ 297365 w 883781"/>
                <a:gd name="connsiteY2" fmla="*/ 1830944 h 1846757"/>
                <a:gd name="connsiteX3" fmla="*/ 748778 w 883781"/>
                <a:gd name="connsiteY3" fmla="*/ 1385319 h 1846757"/>
                <a:gd name="connsiteX4" fmla="*/ 864525 w 883781"/>
                <a:gd name="connsiteY4" fmla="*/ 615603 h 1846757"/>
                <a:gd name="connsiteX5" fmla="*/ 470986 w 883781"/>
                <a:gd name="connsiteY5" fmla="*/ 2144 h 1846757"/>
                <a:gd name="connsiteX0" fmla="*/ 594364 w 1007159"/>
                <a:gd name="connsiteY0" fmla="*/ 2144 h 1846757"/>
                <a:gd name="connsiteX1" fmla="*/ 126214 w 1007159"/>
                <a:gd name="connsiteY1" fmla="*/ 829734 h 1846757"/>
                <a:gd name="connsiteX2" fmla="*/ 420743 w 1007159"/>
                <a:gd name="connsiteY2" fmla="*/ 1830944 h 1846757"/>
                <a:gd name="connsiteX3" fmla="*/ 872156 w 1007159"/>
                <a:gd name="connsiteY3" fmla="*/ 1385319 h 1846757"/>
                <a:gd name="connsiteX4" fmla="*/ 987903 w 1007159"/>
                <a:gd name="connsiteY4" fmla="*/ 615603 h 1846757"/>
                <a:gd name="connsiteX5" fmla="*/ 594364 w 1007159"/>
                <a:gd name="connsiteY5" fmla="*/ 2144 h 1846757"/>
                <a:gd name="connsiteX0" fmla="*/ 484902 w 883206"/>
                <a:gd name="connsiteY0" fmla="*/ 41557 h 1318371"/>
                <a:gd name="connsiteX1" fmla="*/ 3238 w 883206"/>
                <a:gd name="connsiteY1" fmla="*/ 301348 h 1318371"/>
                <a:gd name="connsiteX2" fmla="*/ 297767 w 883206"/>
                <a:gd name="connsiteY2" fmla="*/ 1302558 h 1318371"/>
                <a:gd name="connsiteX3" fmla="*/ 749180 w 883206"/>
                <a:gd name="connsiteY3" fmla="*/ 856933 h 1318371"/>
                <a:gd name="connsiteX4" fmla="*/ 864927 w 883206"/>
                <a:gd name="connsiteY4" fmla="*/ 87217 h 1318371"/>
                <a:gd name="connsiteX5" fmla="*/ 484902 w 883206"/>
                <a:gd name="connsiteY5" fmla="*/ 41557 h 1318371"/>
                <a:gd name="connsiteX0" fmla="*/ 378883 w 777187"/>
                <a:gd name="connsiteY0" fmla="*/ 58675 h 1324992"/>
                <a:gd name="connsiteX1" fmla="*/ 5333 w 777187"/>
                <a:gd name="connsiteY1" fmla="*/ 584244 h 1324992"/>
                <a:gd name="connsiteX2" fmla="*/ 191748 w 777187"/>
                <a:gd name="connsiteY2" fmla="*/ 1319676 h 1324992"/>
                <a:gd name="connsiteX3" fmla="*/ 643161 w 777187"/>
                <a:gd name="connsiteY3" fmla="*/ 874051 h 1324992"/>
                <a:gd name="connsiteX4" fmla="*/ 758908 w 777187"/>
                <a:gd name="connsiteY4" fmla="*/ 104335 h 1324992"/>
                <a:gd name="connsiteX5" fmla="*/ 378883 w 777187"/>
                <a:gd name="connsiteY5" fmla="*/ 58675 h 1324992"/>
                <a:gd name="connsiteX0" fmla="*/ 374434 w 772738"/>
                <a:gd name="connsiteY0" fmla="*/ 58675 h 1112877"/>
                <a:gd name="connsiteX1" fmla="*/ 884 w 772738"/>
                <a:gd name="connsiteY1" fmla="*/ 584244 h 1112877"/>
                <a:gd name="connsiteX2" fmla="*/ 281899 w 772738"/>
                <a:gd name="connsiteY2" fmla="*/ 1098194 h 1112877"/>
                <a:gd name="connsiteX3" fmla="*/ 638712 w 772738"/>
                <a:gd name="connsiteY3" fmla="*/ 874051 h 1112877"/>
                <a:gd name="connsiteX4" fmla="*/ 754459 w 772738"/>
                <a:gd name="connsiteY4" fmla="*/ 104335 h 1112877"/>
                <a:gd name="connsiteX5" fmla="*/ 374434 w 772738"/>
                <a:gd name="connsiteY5" fmla="*/ 58675 h 1112877"/>
                <a:gd name="connsiteX0" fmla="*/ 374434 w 696889"/>
                <a:gd name="connsiteY0" fmla="*/ 37893 h 1092095"/>
                <a:gd name="connsiteX1" fmla="*/ 884 w 696889"/>
                <a:gd name="connsiteY1" fmla="*/ 563462 h 1092095"/>
                <a:gd name="connsiteX2" fmla="*/ 281899 w 696889"/>
                <a:gd name="connsiteY2" fmla="*/ 1077412 h 1092095"/>
                <a:gd name="connsiteX3" fmla="*/ 638712 w 696889"/>
                <a:gd name="connsiteY3" fmla="*/ 853269 h 1092095"/>
                <a:gd name="connsiteX4" fmla="*/ 610307 w 696889"/>
                <a:gd name="connsiteY4" fmla="*/ 131877 h 1092095"/>
                <a:gd name="connsiteX5" fmla="*/ 374434 w 696889"/>
                <a:gd name="connsiteY5" fmla="*/ 37893 h 1092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6889" h="1092095">
                  <a:moveTo>
                    <a:pt x="374434" y="37893"/>
                  </a:moveTo>
                  <a:cubicBezTo>
                    <a:pt x="272864" y="109824"/>
                    <a:pt x="16307" y="390209"/>
                    <a:pt x="884" y="563462"/>
                  </a:cubicBezTo>
                  <a:cubicBezTo>
                    <a:pt x="-14539" y="736715"/>
                    <a:pt x="175594" y="1029111"/>
                    <a:pt x="281899" y="1077412"/>
                  </a:cubicBezTo>
                  <a:cubicBezTo>
                    <a:pt x="388204" y="1125713"/>
                    <a:pt x="513320" y="1055826"/>
                    <a:pt x="638712" y="853269"/>
                  </a:cubicBezTo>
                  <a:cubicBezTo>
                    <a:pt x="764104" y="650712"/>
                    <a:pt x="654353" y="267773"/>
                    <a:pt x="610307" y="131877"/>
                  </a:cubicBezTo>
                  <a:cubicBezTo>
                    <a:pt x="566261" y="-4019"/>
                    <a:pt x="476004" y="-34038"/>
                    <a:pt x="374434" y="37893"/>
                  </a:cubicBezTo>
                  <a:close/>
                </a:path>
              </a:pathLst>
            </a:custGeom>
            <a:solidFill>
              <a:srgbClr val="F5F58F"/>
            </a:solidFill>
            <a:sp3d prstMaterial="translucentPowder"/>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0" name="Oval 159">
              <a:extLst>
                <a:ext uri="{FF2B5EF4-FFF2-40B4-BE49-F238E27FC236}">
                  <a16:creationId xmlns:a16="http://schemas.microsoft.com/office/drawing/2014/main" id="{3F39431D-51C8-5822-D307-25550BE12E9F}"/>
                </a:ext>
              </a:extLst>
            </p:cNvPr>
            <p:cNvSpPr/>
            <p:nvPr/>
          </p:nvSpPr>
          <p:spPr>
            <a:xfrm>
              <a:off x="8043196" y="3787659"/>
              <a:ext cx="394447" cy="313765"/>
            </a:xfrm>
            <a:prstGeom prst="ellipse">
              <a:avLst/>
            </a:prstGeom>
            <a:solidFill>
              <a:srgbClr val="EC545F"/>
            </a:solidFill>
            <a:sp3d prstMaterial="translucentPowder"/>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61" name="Oval 160">
              <a:extLst>
                <a:ext uri="{FF2B5EF4-FFF2-40B4-BE49-F238E27FC236}">
                  <a16:creationId xmlns:a16="http://schemas.microsoft.com/office/drawing/2014/main" id="{778DE6C0-C9F8-E300-40BB-FF11FC0F936D}"/>
                </a:ext>
              </a:extLst>
            </p:cNvPr>
            <p:cNvSpPr/>
            <p:nvPr/>
          </p:nvSpPr>
          <p:spPr>
            <a:xfrm>
              <a:off x="7622888" y="3106569"/>
              <a:ext cx="394447" cy="313765"/>
            </a:xfrm>
            <a:prstGeom prst="ellipse">
              <a:avLst/>
            </a:prstGeom>
            <a:solidFill>
              <a:srgbClr val="EC545F"/>
            </a:solidFill>
            <a:sp3d prstMaterial="translucentPowder"/>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mc:AlternateContent xmlns:mc="http://schemas.openxmlformats.org/markup-compatibility/2006" xmlns:a14="http://schemas.microsoft.com/office/drawing/2010/main">
          <mc:Choice Requires="a14">
            <p:sp>
              <p:nvSpPr>
                <p:cNvPr id="162" name="TextBox 161">
                  <a:extLst>
                    <a:ext uri="{FF2B5EF4-FFF2-40B4-BE49-F238E27FC236}">
                      <a16:creationId xmlns:a16="http://schemas.microsoft.com/office/drawing/2014/main" id="{5BAB54A8-678D-394B-5AF9-2BF24F7FC426}"/>
                    </a:ext>
                  </a:extLst>
                </p:cNvPr>
                <p:cNvSpPr txBox="1"/>
                <p:nvPr/>
              </p:nvSpPr>
              <p:spPr>
                <a:xfrm>
                  <a:off x="3894521" y="4223595"/>
                  <a:ext cx="279859" cy="369332"/>
                </a:xfrm>
                <a:prstGeom prst="rect">
                  <a:avLst/>
                </a:prstGeom>
                <a:noFill/>
                <a:sp3d prstMaterial="translucentPowder"/>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𝑠</m:t>
                            </m:r>
                          </m:e>
                          <m:sub>
                            <m:r>
                              <a:rPr lang="en-CA" b="0" i="1" smtClean="0">
                                <a:latin typeface="Cambria Math" panose="02040503050406030204" pitchFamily="18" charset="0"/>
                              </a:rPr>
                              <m:t>1</m:t>
                            </m:r>
                          </m:sub>
                        </m:sSub>
                      </m:oMath>
                    </m:oMathPara>
                  </a14:m>
                  <a:endParaRPr lang="en-CA" dirty="0"/>
                </a:p>
              </p:txBody>
            </p:sp>
          </mc:Choice>
          <mc:Fallback xmlns="">
            <p:sp>
              <p:nvSpPr>
                <p:cNvPr id="67" name="TextBox 66">
                  <a:extLst>
                    <a:ext uri="{FF2B5EF4-FFF2-40B4-BE49-F238E27FC236}">
                      <a16:creationId xmlns:a16="http://schemas.microsoft.com/office/drawing/2014/main" id="{B47E1785-B457-8CF6-B5E7-1EDC25238A06}"/>
                    </a:ext>
                  </a:extLst>
                </p:cNvPr>
                <p:cNvSpPr txBox="1">
                  <a:spLocks noRot="1" noChangeAspect="1" noMove="1" noResize="1" noEditPoints="1" noAdjustHandles="1" noChangeArrowheads="1" noChangeShapeType="1" noTextEdit="1"/>
                </p:cNvSpPr>
                <p:nvPr/>
              </p:nvSpPr>
              <p:spPr>
                <a:xfrm>
                  <a:off x="3894521" y="4223595"/>
                  <a:ext cx="279859" cy="369332"/>
                </a:xfrm>
                <a:prstGeom prst="rect">
                  <a:avLst/>
                </a:prstGeom>
                <a:blipFill>
                  <a:blip r:embed="rId2"/>
                  <a:stretch>
                    <a:fillRect r="-23913"/>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63" name="TextBox 162">
                  <a:extLst>
                    <a:ext uri="{FF2B5EF4-FFF2-40B4-BE49-F238E27FC236}">
                      <a16:creationId xmlns:a16="http://schemas.microsoft.com/office/drawing/2014/main" id="{A9B8A3D0-ADB2-74D6-4E0B-704DA8CD4CAD}"/>
                    </a:ext>
                  </a:extLst>
                </p:cNvPr>
                <p:cNvSpPr txBox="1"/>
                <p:nvPr/>
              </p:nvSpPr>
              <p:spPr>
                <a:xfrm>
                  <a:off x="4215586" y="2243755"/>
                  <a:ext cx="279859" cy="369332"/>
                </a:xfrm>
                <a:prstGeom prst="rect">
                  <a:avLst/>
                </a:prstGeom>
                <a:noFill/>
                <a:sp3d prstMaterial="translucentPowder"/>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𝑠</m:t>
                            </m:r>
                          </m:e>
                          <m:sub>
                            <m:r>
                              <a:rPr lang="en-CA" b="0" i="1" smtClean="0">
                                <a:latin typeface="Cambria Math" panose="02040503050406030204" pitchFamily="18" charset="0"/>
                              </a:rPr>
                              <m:t>5</m:t>
                            </m:r>
                          </m:sub>
                        </m:sSub>
                      </m:oMath>
                    </m:oMathPara>
                  </a14:m>
                  <a:endParaRPr lang="en-CA" dirty="0"/>
                </a:p>
              </p:txBody>
            </p:sp>
          </mc:Choice>
          <mc:Fallback xmlns="">
            <p:sp>
              <p:nvSpPr>
                <p:cNvPr id="68" name="TextBox 67">
                  <a:extLst>
                    <a:ext uri="{FF2B5EF4-FFF2-40B4-BE49-F238E27FC236}">
                      <a16:creationId xmlns:a16="http://schemas.microsoft.com/office/drawing/2014/main" id="{C4476D1B-B897-33A4-4FC0-6C499FB35B1E}"/>
                    </a:ext>
                  </a:extLst>
                </p:cNvPr>
                <p:cNvSpPr txBox="1">
                  <a:spLocks noRot="1" noChangeAspect="1" noMove="1" noResize="1" noEditPoints="1" noAdjustHandles="1" noChangeArrowheads="1" noChangeShapeType="1" noTextEdit="1"/>
                </p:cNvSpPr>
                <p:nvPr/>
              </p:nvSpPr>
              <p:spPr>
                <a:xfrm>
                  <a:off x="4215586" y="2243755"/>
                  <a:ext cx="279859" cy="369332"/>
                </a:xfrm>
                <a:prstGeom prst="rect">
                  <a:avLst/>
                </a:prstGeom>
                <a:blipFill>
                  <a:blip r:embed="rId3"/>
                  <a:stretch>
                    <a:fillRect r="-26087"/>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64" name="TextBox 163">
                  <a:extLst>
                    <a:ext uri="{FF2B5EF4-FFF2-40B4-BE49-F238E27FC236}">
                      <a16:creationId xmlns:a16="http://schemas.microsoft.com/office/drawing/2014/main" id="{F405D504-2318-A389-10AC-3229A1265209}"/>
                    </a:ext>
                  </a:extLst>
                </p:cNvPr>
                <p:cNvSpPr txBox="1"/>
                <p:nvPr/>
              </p:nvSpPr>
              <p:spPr>
                <a:xfrm>
                  <a:off x="3725811" y="2663567"/>
                  <a:ext cx="279859" cy="369332"/>
                </a:xfrm>
                <a:prstGeom prst="rect">
                  <a:avLst/>
                </a:prstGeom>
                <a:noFill/>
                <a:sp3d prstMaterial="translucentPowder"/>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𝑠</m:t>
                            </m:r>
                          </m:e>
                          <m:sub>
                            <m:r>
                              <a:rPr lang="en-CA" b="0" i="1" smtClean="0">
                                <a:latin typeface="Cambria Math" panose="02040503050406030204" pitchFamily="18" charset="0"/>
                              </a:rPr>
                              <m:t>4</m:t>
                            </m:r>
                          </m:sub>
                        </m:sSub>
                      </m:oMath>
                    </m:oMathPara>
                  </a14:m>
                  <a:endParaRPr lang="en-CA" dirty="0"/>
                </a:p>
              </p:txBody>
            </p:sp>
          </mc:Choice>
          <mc:Fallback xmlns="">
            <p:sp>
              <p:nvSpPr>
                <p:cNvPr id="69" name="TextBox 68">
                  <a:extLst>
                    <a:ext uri="{FF2B5EF4-FFF2-40B4-BE49-F238E27FC236}">
                      <a16:creationId xmlns:a16="http://schemas.microsoft.com/office/drawing/2014/main" id="{04B7F03A-5032-AF6F-2BC5-C239321495F5}"/>
                    </a:ext>
                  </a:extLst>
                </p:cNvPr>
                <p:cNvSpPr txBox="1">
                  <a:spLocks noRot="1" noChangeAspect="1" noMove="1" noResize="1" noEditPoints="1" noAdjustHandles="1" noChangeArrowheads="1" noChangeShapeType="1" noTextEdit="1"/>
                </p:cNvSpPr>
                <p:nvPr/>
              </p:nvSpPr>
              <p:spPr>
                <a:xfrm>
                  <a:off x="3725811" y="2663567"/>
                  <a:ext cx="279859" cy="369332"/>
                </a:xfrm>
                <a:prstGeom prst="rect">
                  <a:avLst/>
                </a:prstGeom>
                <a:blipFill>
                  <a:blip r:embed="rId4"/>
                  <a:stretch>
                    <a:fillRect r="-24444"/>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65" name="TextBox 164">
                  <a:extLst>
                    <a:ext uri="{FF2B5EF4-FFF2-40B4-BE49-F238E27FC236}">
                      <a16:creationId xmlns:a16="http://schemas.microsoft.com/office/drawing/2014/main" id="{84665004-209B-F9D8-59A9-0ACD159DDBA4}"/>
                    </a:ext>
                  </a:extLst>
                </p:cNvPr>
                <p:cNvSpPr txBox="1"/>
                <p:nvPr/>
              </p:nvSpPr>
              <p:spPr>
                <a:xfrm>
                  <a:off x="3723150" y="3205456"/>
                  <a:ext cx="279859" cy="369332"/>
                </a:xfrm>
                <a:prstGeom prst="rect">
                  <a:avLst/>
                </a:prstGeom>
                <a:noFill/>
                <a:sp3d prstMaterial="translucentPowder"/>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𝑠</m:t>
                            </m:r>
                          </m:e>
                          <m:sub>
                            <m:r>
                              <a:rPr lang="en-CA" b="0" i="1" smtClean="0">
                                <a:latin typeface="Cambria Math" panose="02040503050406030204" pitchFamily="18" charset="0"/>
                              </a:rPr>
                              <m:t>3</m:t>
                            </m:r>
                          </m:sub>
                        </m:sSub>
                      </m:oMath>
                    </m:oMathPara>
                  </a14:m>
                  <a:endParaRPr lang="en-CA" dirty="0"/>
                </a:p>
              </p:txBody>
            </p:sp>
          </mc:Choice>
          <mc:Fallback xmlns="">
            <p:sp>
              <p:nvSpPr>
                <p:cNvPr id="70" name="TextBox 69">
                  <a:extLst>
                    <a:ext uri="{FF2B5EF4-FFF2-40B4-BE49-F238E27FC236}">
                      <a16:creationId xmlns:a16="http://schemas.microsoft.com/office/drawing/2014/main" id="{076028D6-8BDC-A3A4-C0D2-344C3DC9A705}"/>
                    </a:ext>
                  </a:extLst>
                </p:cNvPr>
                <p:cNvSpPr txBox="1">
                  <a:spLocks noRot="1" noChangeAspect="1" noMove="1" noResize="1" noEditPoints="1" noAdjustHandles="1" noChangeArrowheads="1" noChangeShapeType="1" noTextEdit="1"/>
                </p:cNvSpPr>
                <p:nvPr/>
              </p:nvSpPr>
              <p:spPr>
                <a:xfrm>
                  <a:off x="3723150" y="3205456"/>
                  <a:ext cx="279859" cy="369332"/>
                </a:xfrm>
                <a:prstGeom prst="rect">
                  <a:avLst/>
                </a:prstGeom>
                <a:blipFill>
                  <a:blip r:embed="rId5"/>
                  <a:stretch>
                    <a:fillRect r="-26087"/>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66" name="TextBox 165">
                  <a:extLst>
                    <a:ext uri="{FF2B5EF4-FFF2-40B4-BE49-F238E27FC236}">
                      <a16:creationId xmlns:a16="http://schemas.microsoft.com/office/drawing/2014/main" id="{EC0BED8F-D4F3-6D3C-3ED1-41FB21CDDB29}"/>
                    </a:ext>
                  </a:extLst>
                </p:cNvPr>
                <p:cNvSpPr txBox="1"/>
                <p:nvPr/>
              </p:nvSpPr>
              <p:spPr>
                <a:xfrm>
                  <a:off x="3643717" y="3703490"/>
                  <a:ext cx="279859" cy="369332"/>
                </a:xfrm>
                <a:prstGeom prst="rect">
                  <a:avLst/>
                </a:prstGeom>
                <a:noFill/>
                <a:sp3d prstMaterial="translucentPowder"/>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𝑠</m:t>
                            </m:r>
                          </m:e>
                          <m:sub>
                            <m:r>
                              <a:rPr lang="en-CA" b="0" i="1" smtClean="0">
                                <a:latin typeface="Cambria Math" panose="02040503050406030204" pitchFamily="18" charset="0"/>
                              </a:rPr>
                              <m:t>2</m:t>
                            </m:r>
                          </m:sub>
                        </m:sSub>
                      </m:oMath>
                    </m:oMathPara>
                  </a14:m>
                  <a:endParaRPr lang="en-CA" dirty="0"/>
                </a:p>
              </p:txBody>
            </p:sp>
          </mc:Choice>
          <mc:Fallback xmlns="">
            <p:sp>
              <p:nvSpPr>
                <p:cNvPr id="71" name="TextBox 70">
                  <a:extLst>
                    <a:ext uri="{FF2B5EF4-FFF2-40B4-BE49-F238E27FC236}">
                      <a16:creationId xmlns:a16="http://schemas.microsoft.com/office/drawing/2014/main" id="{36326738-C33A-14B0-9DB8-CC3EB949EAFC}"/>
                    </a:ext>
                  </a:extLst>
                </p:cNvPr>
                <p:cNvSpPr txBox="1">
                  <a:spLocks noRot="1" noChangeAspect="1" noMove="1" noResize="1" noEditPoints="1" noAdjustHandles="1" noChangeArrowheads="1" noChangeShapeType="1" noTextEdit="1"/>
                </p:cNvSpPr>
                <p:nvPr/>
              </p:nvSpPr>
              <p:spPr>
                <a:xfrm>
                  <a:off x="3643717" y="3703490"/>
                  <a:ext cx="279859" cy="369332"/>
                </a:xfrm>
                <a:prstGeom prst="rect">
                  <a:avLst/>
                </a:prstGeom>
                <a:blipFill>
                  <a:blip r:embed="rId6"/>
                  <a:stretch>
                    <a:fillRect r="-26087"/>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67" name="TextBox 166">
                  <a:extLst>
                    <a:ext uri="{FF2B5EF4-FFF2-40B4-BE49-F238E27FC236}">
                      <a16:creationId xmlns:a16="http://schemas.microsoft.com/office/drawing/2014/main" id="{FABA423E-DE56-CB3B-412E-360ED355706D}"/>
                    </a:ext>
                  </a:extLst>
                </p:cNvPr>
                <p:cNvSpPr txBox="1"/>
                <p:nvPr/>
              </p:nvSpPr>
              <p:spPr>
                <a:xfrm>
                  <a:off x="5563845" y="2455697"/>
                  <a:ext cx="279859" cy="369332"/>
                </a:xfrm>
                <a:prstGeom prst="rect">
                  <a:avLst/>
                </a:prstGeom>
                <a:noFill/>
                <a:sp3d prstMaterial="translucentPowder"/>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𝑐</m:t>
                            </m:r>
                          </m:e>
                          <m:sub>
                            <m:r>
                              <a:rPr lang="en-CA" b="0" i="1" smtClean="0">
                                <a:latin typeface="Cambria Math" panose="02040503050406030204" pitchFamily="18" charset="0"/>
                              </a:rPr>
                              <m:t>1</m:t>
                            </m:r>
                          </m:sub>
                        </m:sSub>
                      </m:oMath>
                    </m:oMathPara>
                  </a14:m>
                  <a:endParaRPr lang="en-CA" dirty="0"/>
                </a:p>
              </p:txBody>
            </p:sp>
          </mc:Choice>
          <mc:Fallback xmlns="">
            <p:sp>
              <p:nvSpPr>
                <p:cNvPr id="167" name="TextBox 166">
                  <a:extLst>
                    <a:ext uri="{FF2B5EF4-FFF2-40B4-BE49-F238E27FC236}">
                      <a16:creationId xmlns:a16="http://schemas.microsoft.com/office/drawing/2014/main" id="{FABA423E-DE56-CB3B-412E-360ED355706D}"/>
                    </a:ext>
                  </a:extLst>
                </p:cNvPr>
                <p:cNvSpPr txBox="1">
                  <a:spLocks noRot="1" noChangeAspect="1" noMove="1" noResize="1" noEditPoints="1" noAdjustHandles="1" noChangeArrowheads="1" noChangeShapeType="1" noTextEdit="1"/>
                </p:cNvSpPr>
                <p:nvPr/>
              </p:nvSpPr>
              <p:spPr>
                <a:xfrm>
                  <a:off x="5563845" y="2455697"/>
                  <a:ext cx="279859" cy="369332"/>
                </a:xfrm>
                <a:prstGeom prst="rect">
                  <a:avLst/>
                </a:prstGeom>
                <a:blipFill>
                  <a:blip r:embed="rId36"/>
                  <a:stretch>
                    <a:fillRect r="-1153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8" name="TextBox 167">
                  <a:extLst>
                    <a:ext uri="{FF2B5EF4-FFF2-40B4-BE49-F238E27FC236}">
                      <a16:creationId xmlns:a16="http://schemas.microsoft.com/office/drawing/2014/main" id="{2BA768C7-31BE-AAB3-266E-E388D91FA0A6}"/>
                    </a:ext>
                  </a:extLst>
                </p:cNvPr>
                <p:cNvSpPr txBox="1"/>
                <p:nvPr/>
              </p:nvSpPr>
              <p:spPr>
                <a:xfrm>
                  <a:off x="5724739" y="4000977"/>
                  <a:ext cx="279859" cy="369332"/>
                </a:xfrm>
                <a:prstGeom prst="rect">
                  <a:avLst/>
                </a:prstGeom>
                <a:noFill/>
                <a:sp3d prstMaterial="translucentPowder"/>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𝑐</m:t>
                            </m:r>
                          </m:e>
                          <m:sub>
                            <m:r>
                              <a:rPr lang="en-CA" b="0" i="1" smtClean="0">
                                <a:latin typeface="Cambria Math" panose="02040503050406030204" pitchFamily="18" charset="0"/>
                              </a:rPr>
                              <m:t>4</m:t>
                            </m:r>
                          </m:sub>
                        </m:sSub>
                      </m:oMath>
                    </m:oMathPara>
                  </a14:m>
                  <a:endParaRPr lang="en-CA" dirty="0"/>
                </a:p>
              </p:txBody>
            </p:sp>
          </mc:Choice>
          <mc:Fallback xmlns="">
            <p:sp>
              <p:nvSpPr>
                <p:cNvPr id="74" name="TextBox 73">
                  <a:extLst>
                    <a:ext uri="{FF2B5EF4-FFF2-40B4-BE49-F238E27FC236}">
                      <a16:creationId xmlns:a16="http://schemas.microsoft.com/office/drawing/2014/main" id="{10A1D373-7620-2C08-4264-16404E652629}"/>
                    </a:ext>
                  </a:extLst>
                </p:cNvPr>
                <p:cNvSpPr txBox="1">
                  <a:spLocks noRot="1" noChangeAspect="1" noMove="1" noResize="1" noEditPoints="1" noAdjustHandles="1" noChangeArrowheads="1" noChangeShapeType="1" noTextEdit="1"/>
                </p:cNvSpPr>
                <p:nvPr/>
              </p:nvSpPr>
              <p:spPr>
                <a:xfrm>
                  <a:off x="5724739" y="4000977"/>
                  <a:ext cx="279859" cy="369332"/>
                </a:xfrm>
                <a:prstGeom prst="rect">
                  <a:avLst/>
                </a:prstGeom>
                <a:blipFill>
                  <a:blip r:embed="rId8"/>
                  <a:stretch>
                    <a:fillRect r="-23913"/>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69" name="TextBox 168">
                  <a:extLst>
                    <a:ext uri="{FF2B5EF4-FFF2-40B4-BE49-F238E27FC236}">
                      <a16:creationId xmlns:a16="http://schemas.microsoft.com/office/drawing/2014/main" id="{4FAAEC14-DC9C-DF63-AAA9-C544655C00D8}"/>
                    </a:ext>
                  </a:extLst>
                </p:cNvPr>
                <p:cNvSpPr txBox="1"/>
                <p:nvPr/>
              </p:nvSpPr>
              <p:spPr>
                <a:xfrm>
                  <a:off x="6328354" y="2954374"/>
                  <a:ext cx="279859" cy="369332"/>
                </a:xfrm>
                <a:prstGeom prst="rect">
                  <a:avLst/>
                </a:prstGeom>
                <a:noFill/>
                <a:sp3d prstMaterial="translucentPowder"/>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𝑐</m:t>
                            </m:r>
                          </m:e>
                          <m:sub>
                            <m:r>
                              <a:rPr lang="en-CA" b="0" i="1" smtClean="0">
                                <a:latin typeface="Cambria Math" panose="02040503050406030204" pitchFamily="18" charset="0"/>
                              </a:rPr>
                              <m:t>3</m:t>
                            </m:r>
                          </m:sub>
                        </m:sSub>
                      </m:oMath>
                    </m:oMathPara>
                  </a14:m>
                  <a:endParaRPr lang="en-CA" dirty="0"/>
                </a:p>
              </p:txBody>
            </p:sp>
          </mc:Choice>
          <mc:Fallback xmlns="">
            <p:sp>
              <p:nvSpPr>
                <p:cNvPr id="169" name="TextBox 168">
                  <a:extLst>
                    <a:ext uri="{FF2B5EF4-FFF2-40B4-BE49-F238E27FC236}">
                      <a16:creationId xmlns:a16="http://schemas.microsoft.com/office/drawing/2014/main" id="{4FAAEC14-DC9C-DF63-AAA9-C544655C00D8}"/>
                    </a:ext>
                  </a:extLst>
                </p:cNvPr>
                <p:cNvSpPr txBox="1">
                  <a:spLocks noRot="1" noChangeAspect="1" noMove="1" noResize="1" noEditPoints="1" noAdjustHandles="1" noChangeArrowheads="1" noChangeShapeType="1" noTextEdit="1"/>
                </p:cNvSpPr>
                <p:nvPr/>
              </p:nvSpPr>
              <p:spPr>
                <a:xfrm>
                  <a:off x="6328354" y="2954374"/>
                  <a:ext cx="279859" cy="369332"/>
                </a:xfrm>
                <a:prstGeom prst="rect">
                  <a:avLst/>
                </a:prstGeom>
                <a:blipFill>
                  <a:blip r:embed="rId37"/>
                  <a:stretch>
                    <a:fillRect r="-1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0" name="TextBox 169">
                  <a:extLst>
                    <a:ext uri="{FF2B5EF4-FFF2-40B4-BE49-F238E27FC236}">
                      <a16:creationId xmlns:a16="http://schemas.microsoft.com/office/drawing/2014/main" id="{D59CC202-8F14-99B3-1F11-E76DA12F25FC}"/>
                    </a:ext>
                  </a:extLst>
                </p:cNvPr>
                <p:cNvSpPr txBox="1"/>
                <p:nvPr/>
              </p:nvSpPr>
              <p:spPr>
                <a:xfrm>
                  <a:off x="4909054" y="3364178"/>
                  <a:ext cx="279859" cy="369332"/>
                </a:xfrm>
                <a:prstGeom prst="rect">
                  <a:avLst/>
                </a:prstGeom>
                <a:noFill/>
                <a:sp3d prstMaterial="translucentPowder"/>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𝑐</m:t>
                            </m:r>
                          </m:e>
                          <m:sub>
                            <m:r>
                              <a:rPr lang="en-CA" b="0" i="1" smtClean="0">
                                <a:latin typeface="Cambria Math" panose="02040503050406030204" pitchFamily="18" charset="0"/>
                              </a:rPr>
                              <m:t>2</m:t>
                            </m:r>
                          </m:sub>
                        </m:sSub>
                      </m:oMath>
                    </m:oMathPara>
                  </a14:m>
                  <a:endParaRPr lang="en-CA" dirty="0"/>
                </a:p>
              </p:txBody>
            </p:sp>
          </mc:Choice>
          <mc:Fallback xmlns="">
            <p:sp>
              <p:nvSpPr>
                <p:cNvPr id="170" name="TextBox 169">
                  <a:extLst>
                    <a:ext uri="{FF2B5EF4-FFF2-40B4-BE49-F238E27FC236}">
                      <a16:creationId xmlns:a16="http://schemas.microsoft.com/office/drawing/2014/main" id="{D59CC202-8F14-99B3-1F11-E76DA12F25FC}"/>
                    </a:ext>
                  </a:extLst>
                </p:cNvPr>
                <p:cNvSpPr txBox="1">
                  <a:spLocks noRot="1" noChangeAspect="1" noMove="1" noResize="1" noEditPoints="1" noAdjustHandles="1" noChangeArrowheads="1" noChangeShapeType="1" noTextEdit="1"/>
                </p:cNvSpPr>
                <p:nvPr/>
              </p:nvSpPr>
              <p:spPr>
                <a:xfrm>
                  <a:off x="4909054" y="3364178"/>
                  <a:ext cx="279859" cy="369332"/>
                </a:xfrm>
                <a:prstGeom prst="rect">
                  <a:avLst/>
                </a:prstGeom>
                <a:blipFill>
                  <a:blip r:embed="rId38"/>
                  <a:stretch>
                    <a:fillRect r="-1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1" name="TextBox 170">
                  <a:extLst>
                    <a:ext uri="{FF2B5EF4-FFF2-40B4-BE49-F238E27FC236}">
                      <a16:creationId xmlns:a16="http://schemas.microsoft.com/office/drawing/2014/main" id="{154C9D73-C388-2425-249C-EAACF3C1E9F3}"/>
                    </a:ext>
                  </a:extLst>
                </p:cNvPr>
                <p:cNvSpPr txBox="1"/>
                <p:nvPr/>
              </p:nvSpPr>
              <p:spPr>
                <a:xfrm>
                  <a:off x="7426231" y="2275240"/>
                  <a:ext cx="279859" cy="369332"/>
                </a:xfrm>
                <a:prstGeom prst="rect">
                  <a:avLst/>
                </a:prstGeom>
                <a:noFill/>
                <a:sp3d prstMaterial="translucentPowder"/>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𝑎</m:t>
                            </m:r>
                          </m:e>
                          <m:sub>
                            <m:r>
                              <a:rPr lang="en-CA" b="0" i="1" smtClean="0">
                                <a:latin typeface="Cambria Math" panose="02040503050406030204" pitchFamily="18" charset="0"/>
                              </a:rPr>
                              <m:t>1</m:t>
                            </m:r>
                          </m:sub>
                        </m:sSub>
                      </m:oMath>
                    </m:oMathPara>
                  </a14:m>
                  <a:endParaRPr lang="en-CA" dirty="0"/>
                </a:p>
              </p:txBody>
            </p:sp>
          </mc:Choice>
          <mc:Fallback xmlns="">
            <p:sp>
              <p:nvSpPr>
                <p:cNvPr id="77" name="TextBox 76">
                  <a:extLst>
                    <a:ext uri="{FF2B5EF4-FFF2-40B4-BE49-F238E27FC236}">
                      <a16:creationId xmlns:a16="http://schemas.microsoft.com/office/drawing/2014/main" id="{72780C10-CC63-277E-6F6D-9D9D7CD03FA5}"/>
                    </a:ext>
                  </a:extLst>
                </p:cNvPr>
                <p:cNvSpPr txBox="1">
                  <a:spLocks noRot="1" noChangeAspect="1" noMove="1" noResize="1" noEditPoints="1" noAdjustHandles="1" noChangeArrowheads="1" noChangeShapeType="1" noTextEdit="1"/>
                </p:cNvSpPr>
                <p:nvPr/>
              </p:nvSpPr>
              <p:spPr>
                <a:xfrm>
                  <a:off x="7426231" y="2275240"/>
                  <a:ext cx="279859" cy="369332"/>
                </a:xfrm>
                <a:prstGeom prst="rect">
                  <a:avLst/>
                </a:prstGeom>
                <a:blipFill>
                  <a:blip r:embed="rId11"/>
                  <a:stretch>
                    <a:fillRect r="-33333"/>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72" name="TextBox 171">
                  <a:extLst>
                    <a:ext uri="{FF2B5EF4-FFF2-40B4-BE49-F238E27FC236}">
                      <a16:creationId xmlns:a16="http://schemas.microsoft.com/office/drawing/2014/main" id="{57A85496-9E4F-E2CD-A203-294EDC9569F7}"/>
                    </a:ext>
                  </a:extLst>
                </p:cNvPr>
                <p:cNvSpPr txBox="1"/>
                <p:nvPr/>
              </p:nvSpPr>
              <p:spPr>
                <a:xfrm>
                  <a:off x="7111662" y="4174384"/>
                  <a:ext cx="279859" cy="369332"/>
                </a:xfrm>
                <a:prstGeom prst="rect">
                  <a:avLst/>
                </a:prstGeom>
                <a:noFill/>
                <a:sp3d prstMaterial="translucentPowder"/>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𝑎</m:t>
                            </m:r>
                          </m:e>
                          <m:sub>
                            <m:r>
                              <a:rPr lang="en-CA" b="0" i="1" smtClean="0">
                                <a:latin typeface="Cambria Math" panose="02040503050406030204" pitchFamily="18" charset="0"/>
                              </a:rPr>
                              <m:t>4</m:t>
                            </m:r>
                          </m:sub>
                        </m:sSub>
                      </m:oMath>
                    </m:oMathPara>
                  </a14:m>
                  <a:endParaRPr lang="en-CA" dirty="0"/>
                </a:p>
              </p:txBody>
            </p:sp>
          </mc:Choice>
          <mc:Fallback xmlns="">
            <p:sp>
              <p:nvSpPr>
                <p:cNvPr id="79" name="TextBox 78">
                  <a:extLst>
                    <a:ext uri="{FF2B5EF4-FFF2-40B4-BE49-F238E27FC236}">
                      <a16:creationId xmlns:a16="http://schemas.microsoft.com/office/drawing/2014/main" id="{E47A0D13-16CE-14C9-0BB7-A898D6F10738}"/>
                    </a:ext>
                  </a:extLst>
                </p:cNvPr>
                <p:cNvSpPr txBox="1">
                  <a:spLocks noRot="1" noChangeAspect="1" noMove="1" noResize="1" noEditPoints="1" noAdjustHandles="1" noChangeArrowheads="1" noChangeShapeType="1" noTextEdit="1"/>
                </p:cNvSpPr>
                <p:nvPr/>
              </p:nvSpPr>
              <p:spPr>
                <a:xfrm>
                  <a:off x="7111662" y="4174384"/>
                  <a:ext cx="279859" cy="369332"/>
                </a:xfrm>
                <a:prstGeom prst="rect">
                  <a:avLst/>
                </a:prstGeom>
                <a:blipFill>
                  <a:blip r:embed="rId12"/>
                  <a:stretch>
                    <a:fillRect r="-32609"/>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73" name="TextBox 172">
                  <a:extLst>
                    <a:ext uri="{FF2B5EF4-FFF2-40B4-BE49-F238E27FC236}">
                      <a16:creationId xmlns:a16="http://schemas.microsoft.com/office/drawing/2014/main" id="{2F92452A-6F2C-4A58-1291-4AC0A1C0B301}"/>
                    </a:ext>
                  </a:extLst>
                </p:cNvPr>
                <p:cNvSpPr txBox="1"/>
                <p:nvPr/>
              </p:nvSpPr>
              <p:spPr>
                <a:xfrm>
                  <a:off x="8047185" y="3703490"/>
                  <a:ext cx="279859" cy="369332"/>
                </a:xfrm>
                <a:prstGeom prst="rect">
                  <a:avLst/>
                </a:prstGeom>
                <a:noFill/>
                <a:sp3d prstMaterial="translucentPowder"/>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𝑎</m:t>
                            </m:r>
                          </m:e>
                          <m:sub>
                            <m:r>
                              <a:rPr lang="en-CA" b="0" i="1" smtClean="0">
                                <a:latin typeface="Cambria Math" panose="02040503050406030204" pitchFamily="18" charset="0"/>
                              </a:rPr>
                              <m:t>3</m:t>
                            </m:r>
                          </m:sub>
                        </m:sSub>
                      </m:oMath>
                    </m:oMathPara>
                  </a14:m>
                  <a:endParaRPr lang="en-CA" dirty="0"/>
                </a:p>
              </p:txBody>
            </p:sp>
          </mc:Choice>
          <mc:Fallback xmlns="">
            <p:sp>
              <p:nvSpPr>
                <p:cNvPr id="80" name="TextBox 79">
                  <a:extLst>
                    <a:ext uri="{FF2B5EF4-FFF2-40B4-BE49-F238E27FC236}">
                      <a16:creationId xmlns:a16="http://schemas.microsoft.com/office/drawing/2014/main" id="{E2088C0B-187B-CF38-82E5-DC92B5D1B1DA}"/>
                    </a:ext>
                  </a:extLst>
                </p:cNvPr>
                <p:cNvSpPr txBox="1">
                  <a:spLocks noRot="1" noChangeAspect="1" noMove="1" noResize="1" noEditPoints="1" noAdjustHandles="1" noChangeArrowheads="1" noChangeShapeType="1" noTextEdit="1"/>
                </p:cNvSpPr>
                <p:nvPr/>
              </p:nvSpPr>
              <p:spPr>
                <a:xfrm>
                  <a:off x="8047185" y="3703490"/>
                  <a:ext cx="279859" cy="369332"/>
                </a:xfrm>
                <a:prstGeom prst="rect">
                  <a:avLst/>
                </a:prstGeom>
                <a:blipFill>
                  <a:blip r:embed="rId13"/>
                  <a:stretch>
                    <a:fillRect r="-34783"/>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74" name="TextBox 173">
                  <a:extLst>
                    <a:ext uri="{FF2B5EF4-FFF2-40B4-BE49-F238E27FC236}">
                      <a16:creationId xmlns:a16="http://schemas.microsoft.com/office/drawing/2014/main" id="{8D060E09-31B6-B6B6-B53E-7AC136016C71}"/>
                    </a:ext>
                  </a:extLst>
                </p:cNvPr>
                <p:cNvSpPr txBox="1"/>
                <p:nvPr/>
              </p:nvSpPr>
              <p:spPr>
                <a:xfrm>
                  <a:off x="7612711" y="3023970"/>
                  <a:ext cx="279859" cy="369332"/>
                </a:xfrm>
                <a:prstGeom prst="rect">
                  <a:avLst/>
                </a:prstGeom>
                <a:noFill/>
                <a:sp3d prstMaterial="translucentPowder"/>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𝑎</m:t>
                            </m:r>
                          </m:e>
                          <m:sub>
                            <m:r>
                              <a:rPr lang="en-CA" b="0" i="1" smtClean="0">
                                <a:latin typeface="Cambria Math" panose="02040503050406030204" pitchFamily="18" charset="0"/>
                              </a:rPr>
                              <m:t>2</m:t>
                            </m:r>
                          </m:sub>
                        </m:sSub>
                      </m:oMath>
                    </m:oMathPara>
                  </a14:m>
                  <a:endParaRPr lang="en-CA" dirty="0"/>
                </a:p>
              </p:txBody>
            </p:sp>
          </mc:Choice>
          <mc:Fallback xmlns="">
            <p:sp>
              <p:nvSpPr>
                <p:cNvPr id="81" name="TextBox 80">
                  <a:extLst>
                    <a:ext uri="{FF2B5EF4-FFF2-40B4-BE49-F238E27FC236}">
                      <a16:creationId xmlns:a16="http://schemas.microsoft.com/office/drawing/2014/main" id="{D04BA911-E1DE-B808-FB02-2519CBE65D41}"/>
                    </a:ext>
                  </a:extLst>
                </p:cNvPr>
                <p:cNvSpPr txBox="1">
                  <a:spLocks noRot="1" noChangeAspect="1" noMove="1" noResize="1" noEditPoints="1" noAdjustHandles="1" noChangeArrowheads="1" noChangeShapeType="1" noTextEdit="1"/>
                </p:cNvSpPr>
                <p:nvPr/>
              </p:nvSpPr>
              <p:spPr>
                <a:xfrm>
                  <a:off x="7612711" y="3023970"/>
                  <a:ext cx="279859" cy="369332"/>
                </a:xfrm>
                <a:prstGeom prst="rect">
                  <a:avLst/>
                </a:prstGeom>
                <a:blipFill>
                  <a:blip r:embed="rId14"/>
                  <a:stretch>
                    <a:fillRect r="-34783"/>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75" name="TextBox 174">
                  <a:extLst>
                    <a:ext uri="{FF2B5EF4-FFF2-40B4-BE49-F238E27FC236}">
                      <a16:creationId xmlns:a16="http://schemas.microsoft.com/office/drawing/2014/main" id="{128DA46B-A37F-3FBC-3142-81CCE7A1048D}"/>
                    </a:ext>
                  </a:extLst>
                </p:cNvPr>
                <p:cNvSpPr txBox="1"/>
                <p:nvPr/>
              </p:nvSpPr>
              <p:spPr>
                <a:xfrm>
                  <a:off x="3804335" y="2358325"/>
                  <a:ext cx="463550" cy="369332"/>
                </a:xfrm>
                <a:prstGeom prst="rect">
                  <a:avLst/>
                </a:prstGeom>
                <a:noFill/>
                <a:sp3d prstMaterial="translucentPowder"/>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𝑆</m:t>
                            </m:r>
                          </m:e>
                          <m:sub>
                            <m:r>
                              <a:rPr lang="en-CA" b="0" i="1" smtClean="0">
                                <a:latin typeface="Cambria Math" panose="02040503050406030204" pitchFamily="18" charset="0"/>
                              </a:rPr>
                              <m:t>3</m:t>
                            </m:r>
                          </m:sub>
                        </m:sSub>
                      </m:oMath>
                    </m:oMathPara>
                  </a14:m>
                  <a:endParaRPr lang="en-CA" dirty="0"/>
                </a:p>
              </p:txBody>
            </p:sp>
          </mc:Choice>
          <mc:Fallback xmlns="">
            <p:sp>
              <p:nvSpPr>
                <p:cNvPr id="82" name="TextBox 81">
                  <a:extLst>
                    <a:ext uri="{FF2B5EF4-FFF2-40B4-BE49-F238E27FC236}">
                      <a16:creationId xmlns:a16="http://schemas.microsoft.com/office/drawing/2014/main" id="{9DF607EF-C86E-9A78-BFF4-D56E83FF3786}"/>
                    </a:ext>
                  </a:extLst>
                </p:cNvPr>
                <p:cNvSpPr txBox="1">
                  <a:spLocks noRot="1" noChangeAspect="1" noMove="1" noResize="1" noEditPoints="1" noAdjustHandles="1" noChangeArrowheads="1" noChangeShapeType="1" noTextEdit="1"/>
                </p:cNvSpPr>
                <p:nvPr/>
              </p:nvSpPr>
              <p:spPr>
                <a:xfrm>
                  <a:off x="3804335" y="2358325"/>
                  <a:ext cx="463550" cy="369332"/>
                </a:xfrm>
                <a:prstGeom prst="rect">
                  <a:avLst/>
                </a:prstGeom>
                <a:blipFill>
                  <a:blip r:embed="rId15"/>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76" name="TextBox 175">
                  <a:extLst>
                    <a:ext uri="{FF2B5EF4-FFF2-40B4-BE49-F238E27FC236}">
                      <a16:creationId xmlns:a16="http://schemas.microsoft.com/office/drawing/2014/main" id="{D7B7507D-DF13-9196-17FD-256843639E7E}"/>
                    </a:ext>
                  </a:extLst>
                </p:cNvPr>
                <p:cNvSpPr txBox="1"/>
                <p:nvPr/>
              </p:nvSpPr>
              <p:spPr>
                <a:xfrm>
                  <a:off x="3319987" y="3008435"/>
                  <a:ext cx="463550" cy="369332"/>
                </a:xfrm>
                <a:prstGeom prst="rect">
                  <a:avLst/>
                </a:prstGeom>
                <a:noFill/>
                <a:sp3d prstMaterial="translucentPowder"/>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𝑆</m:t>
                            </m:r>
                          </m:e>
                          <m:sub>
                            <m:r>
                              <a:rPr lang="en-CA" b="0" i="1" smtClean="0">
                                <a:latin typeface="Cambria Math" panose="02040503050406030204" pitchFamily="18" charset="0"/>
                              </a:rPr>
                              <m:t>2</m:t>
                            </m:r>
                          </m:sub>
                        </m:sSub>
                      </m:oMath>
                    </m:oMathPara>
                  </a14:m>
                  <a:endParaRPr lang="en-CA" dirty="0"/>
                </a:p>
              </p:txBody>
            </p:sp>
          </mc:Choice>
          <mc:Fallback xmlns="">
            <p:sp>
              <p:nvSpPr>
                <p:cNvPr id="83" name="TextBox 82">
                  <a:extLst>
                    <a:ext uri="{FF2B5EF4-FFF2-40B4-BE49-F238E27FC236}">
                      <a16:creationId xmlns:a16="http://schemas.microsoft.com/office/drawing/2014/main" id="{6F470158-EEE2-D36A-7E25-6AF62F482705}"/>
                    </a:ext>
                  </a:extLst>
                </p:cNvPr>
                <p:cNvSpPr txBox="1">
                  <a:spLocks noRot="1" noChangeAspect="1" noMove="1" noResize="1" noEditPoints="1" noAdjustHandles="1" noChangeArrowheads="1" noChangeShapeType="1" noTextEdit="1"/>
                </p:cNvSpPr>
                <p:nvPr/>
              </p:nvSpPr>
              <p:spPr>
                <a:xfrm>
                  <a:off x="3319987" y="3008435"/>
                  <a:ext cx="463550" cy="369332"/>
                </a:xfrm>
                <a:prstGeom prst="rect">
                  <a:avLst/>
                </a:prstGeom>
                <a:blipFill>
                  <a:blip r:embed="rId16"/>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77" name="TextBox 176">
                  <a:extLst>
                    <a:ext uri="{FF2B5EF4-FFF2-40B4-BE49-F238E27FC236}">
                      <a16:creationId xmlns:a16="http://schemas.microsoft.com/office/drawing/2014/main" id="{73AE43E8-996B-FFEC-0729-BEF7EAC48023}"/>
                    </a:ext>
                  </a:extLst>
                </p:cNvPr>
                <p:cNvSpPr txBox="1"/>
                <p:nvPr/>
              </p:nvSpPr>
              <p:spPr>
                <a:xfrm>
                  <a:off x="3944607" y="3937143"/>
                  <a:ext cx="463550" cy="369332"/>
                </a:xfrm>
                <a:prstGeom prst="rect">
                  <a:avLst/>
                </a:prstGeom>
                <a:noFill/>
                <a:sp3d prstMaterial="translucentPowder"/>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𝑆</m:t>
                            </m:r>
                          </m:e>
                          <m:sub>
                            <m:r>
                              <a:rPr lang="en-CA" b="0" i="1" smtClean="0">
                                <a:latin typeface="Cambria Math" panose="02040503050406030204" pitchFamily="18" charset="0"/>
                              </a:rPr>
                              <m:t>1</m:t>
                            </m:r>
                          </m:sub>
                        </m:sSub>
                      </m:oMath>
                    </m:oMathPara>
                  </a14:m>
                  <a:endParaRPr lang="en-CA" dirty="0"/>
                </a:p>
              </p:txBody>
            </p:sp>
          </mc:Choice>
          <mc:Fallback xmlns="">
            <p:sp>
              <p:nvSpPr>
                <p:cNvPr id="84" name="TextBox 83">
                  <a:extLst>
                    <a:ext uri="{FF2B5EF4-FFF2-40B4-BE49-F238E27FC236}">
                      <a16:creationId xmlns:a16="http://schemas.microsoft.com/office/drawing/2014/main" id="{F0C34748-555D-E0B0-990A-FE7AF2BBAA82}"/>
                    </a:ext>
                  </a:extLst>
                </p:cNvPr>
                <p:cNvSpPr txBox="1">
                  <a:spLocks noRot="1" noChangeAspect="1" noMove="1" noResize="1" noEditPoints="1" noAdjustHandles="1" noChangeArrowheads="1" noChangeShapeType="1" noTextEdit="1"/>
                </p:cNvSpPr>
                <p:nvPr/>
              </p:nvSpPr>
              <p:spPr>
                <a:xfrm>
                  <a:off x="3944607" y="3937143"/>
                  <a:ext cx="463550" cy="369332"/>
                </a:xfrm>
                <a:prstGeom prst="rect">
                  <a:avLst/>
                </a:prstGeom>
                <a:blipFill>
                  <a:blip r:embed="rId17"/>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78" name="TextBox 177">
                  <a:extLst>
                    <a:ext uri="{FF2B5EF4-FFF2-40B4-BE49-F238E27FC236}">
                      <a16:creationId xmlns:a16="http://schemas.microsoft.com/office/drawing/2014/main" id="{03383EEF-F907-624D-D62D-BF65319D0BE2}"/>
                    </a:ext>
                  </a:extLst>
                </p:cNvPr>
                <p:cNvSpPr txBox="1"/>
                <p:nvPr/>
              </p:nvSpPr>
              <p:spPr>
                <a:xfrm>
                  <a:off x="7537573" y="3985174"/>
                  <a:ext cx="463550" cy="369332"/>
                </a:xfrm>
                <a:prstGeom prst="rect">
                  <a:avLst/>
                </a:prstGeom>
                <a:noFill/>
                <a:sp3d prstMaterial="translucentPowder"/>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𝐴</m:t>
                            </m:r>
                          </m:e>
                          <m:sub>
                            <m:r>
                              <a:rPr lang="en-CA" b="0" i="1" smtClean="0">
                                <a:latin typeface="Cambria Math" panose="02040503050406030204" pitchFamily="18" charset="0"/>
                              </a:rPr>
                              <m:t>4</m:t>
                            </m:r>
                          </m:sub>
                        </m:sSub>
                      </m:oMath>
                    </m:oMathPara>
                  </a14:m>
                  <a:endParaRPr lang="en-CA" dirty="0"/>
                </a:p>
              </p:txBody>
            </p:sp>
          </mc:Choice>
          <mc:Fallback xmlns="">
            <p:sp>
              <p:nvSpPr>
                <p:cNvPr id="85" name="TextBox 84">
                  <a:extLst>
                    <a:ext uri="{FF2B5EF4-FFF2-40B4-BE49-F238E27FC236}">
                      <a16:creationId xmlns:a16="http://schemas.microsoft.com/office/drawing/2014/main" id="{F648787F-10FE-3DAF-1D3F-B3E50EE3CBAA}"/>
                    </a:ext>
                  </a:extLst>
                </p:cNvPr>
                <p:cNvSpPr txBox="1">
                  <a:spLocks noRot="1" noChangeAspect="1" noMove="1" noResize="1" noEditPoints="1" noAdjustHandles="1" noChangeArrowheads="1" noChangeShapeType="1" noTextEdit="1"/>
                </p:cNvSpPr>
                <p:nvPr/>
              </p:nvSpPr>
              <p:spPr>
                <a:xfrm>
                  <a:off x="7537573" y="3985174"/>
                  <a:ext cx="463550" cy="369332"/>
                </a:xfrm>
                <a:prstGeom prst="rect">
                  <a:avLst/>
                </a:prstGeom>
                <a:blipFill>
                  <a:blip r:embed="rId18"/>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79" name="TextBox 178">
                  <a:extLst>
                    <a:ext uri="{FF2B5EF4-FFF2-40B4-BE49-F238E27FC236}">
                      <a16:creationId xmlns:a16="http://schemas.microsoft.com/office/drawing/2014/main" id="{5702E336-4C11-24F0-43DC-F0351E7B2BD6}"/>
                    </a:ext>
                  </a:extLst>
                </p:cNvPr>
                <p:cNvSpPr txBox="1"/>
                <p:nvPr/>
              </p:nvSpPr>
              <p:spPr>
                <a:xfrm>
                  <a:off x="7682409" y="3512574"/>
                  <a:ext cx="463550" cy="369332"/>
                </a:xfrm>
                <a:prstGeom prst="rect">
                  <a:avLst/>
                </a:prstGeom>
                <a:noFill/>
                <a:sp3d prstMaterial="translucentPowder"/>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𝐴</m:t>
                            </m:r>
                          </m:e>
                          <m:sub>
                            <m:r>
                              <a:rPr lang="en-CA" b="0" i="1" smtClean="0">
                                <a:latin typeface="Cambria Math" panose="02040503050406030204" pitchFamily="18" charset="0"/>
                              </a:rPr>
                              <m:t>3</m:t>
                            </m:r>
                          </m:sub>
                        </m:sSub>
                      </m:oMath>
                    </m:oMathPara>
                  </a14:m>
                  <a:endParaRPr lang="en-CA" dirty="0"/>
                </a:p>
              </p:txBody>
            </p:sp>
          </mc:Choice>
          <mc:Fallback xmlns="">
            <p:sp>
              <p:nvSpPr>
                <p:cNvPr id="86" name="TextBox 85">
                  <a:extLst>
                    <a:ext uri="{FF2B5EF4-FFF2-40B4-BE49-F238E27FC236}">
                      <a16:creationId xmlns:a16="http://schemas.microsoft.com/office/drawing/2014/main" id="{17579695-81FF-154A-7178-FB099368A7FF}"/>
                    </a:ext>
                  </a:extLst>
                </p:cNvPr>
                <p:cNvSpPr txBox="1">
                  <a:spLocks noRot="1" noChangeAspect="1" noMove="1" noResize="1" noEditPoints="1" noAdjustHandles="1" noChangeArrowheads="1" noChangeShapeType="1" noTextEdit="1"/>
                </p:cNvSpPr>
                <p:nvPr/>
              </p:nvSpPr>
              <p:spPr>
                <a:xfrm>
                  <a:off x="7682409" y="3512574"/>
                  <a:ext cx="463550" cy="369332"/>
                </a:xfrm>
                <a:prstGeom prst="rect">
                  <a:avLst/>
                </a:prstGeom>
                <a:blipFill>
                  <a:blip r:embed="rId19"/>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80" name="TextBox 179">
                  <a:extLst>
                    <a:ext uri="{FF2B5EF4-FFF2-40B4-BE49-F238E27FC236}">
                      <a16:creationId xmlns:a16="http://schemas.microsoft.com/office/drawing/2014/main" id="{36E8BD86-383B-8605-D2FE-E1F90FC2DA71}"/>
                    </a:ext>
                  </a:extLst>
                </p:cNvPr>
                <p:cNvSpPr txBox="1"/>
                <p:nvPr/>
              </p:nvSpPr>
              <p:spPr>
                <a:xfrm>
                  <a:off x="7993682" y="3131662"/>
                  <a:ext cx="463550" cy="369332"/>
                </a:xfrm>
                <a:prstGeom prst="rect">
                  <a:avLst/>
                </a:prstGeom>
                <a:noFill/>
                <a:sp3d prstMaterial="translucentPowder"/>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𝐴</m:t>
                            </m:r>
                          </m:e>
                          <m:sub>
                            <m:r>
                              <a:rPr lang="en-CA" b="0" i="1" smtClean="0">
                                <a:latin typeface="Cambria Math" panose="02040503050406030204" pitchFamily="18" charset="0"/>
                              </a:rPr>
                              <m:t>2</m:t>
                            </m:r>
                          </m:sub>
                        </m:sSub>
                      </m:oMath>
                    </m:oMathPara>
                  </a14:m>
                  <a:endParaRPr lang="en-CA" dirty="0"/>
                </a:p>
              </p:txBody>
            </p:sp>
          </mc:Choice>
          <mc:Fallback xmlns="">
            <p:sp>
              <p:nvSpPr>
                <p:cNvPr id="87" name="TextBox 86">
                  <a:extLst>
                    <a:ext uri="{FF2B5EF4-FFF2-40B4-BE49-F238E27FC236}">
                      <a16:creationId xmlns:a16="http://schemas.microsoft.com/office/drawing/2014/main" id="{EE414595-9322-13A1-6A8E-4F606BF859EB}"/>
                    </a:ext>
                  </a:extLst>
                </p:cNvPr>
                <p:cNvSpPr txBox="1">
                  <a:spLocks noRot="1" noChangeAspect="1" noMove="1" noResize="1" noEditPoints="1" noAdjustHandles="1" noChangeArrowheads="1" noChangeShapeType="1" noTextEdit="1"/>
                </p:cNvSpPr>
                <p:nvPr/>
              </p:nvSpPr>
              <p:spPr>
                <a:xfrm>
                  <a:off x="7993682" y="3131662"/>
                  <a:ext cx="463550" cy="369332"/>
                </a:xfrm>
                <a:prstGeom prst="rect">
                  <a:avLst/>
                </a:prstGeom>
                <a:blipFill>
                  <a:blip r:embed="rId20"/>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81" name="TextBox 180">
                  <a:extLst>
                    <a:ext uri="{FF2B5EF4-FFF2-40B4-BE49-F238E27FC236}">
                      <a16:creationId xmlns:a16="http://schemas.microsoft.com/office/drawing/2014/main" id="{62215C5F-CA1F-23CD-A4BC-09B7E3B070AB}"/>
                    </a:ext>
                  </a:extLst>
                </p:cNvPr>
                <p:cNvSpPr txBox="1"/>
                <p:nvPr/>
              </p:nvSpPr>
              <p:spPr>
                <a:xfrm>
                  <a:off x="7619101" y="2580832"/>
                  <a:ext cx="463550" cy="369332"/>
                </a:xfrm>
                <a:prstGeom prst="rect">
                  <a:avLst/>
                </a:prstGeom>
                <a:noFill/>
                <a:sp3d prstMaterial="translucentPowder"/>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𝐴</m:t>
                            </m:r>
                          </m:e>
                          <m:sub>
                            <m:r>
                              <a:rPr lang="en-CA" b="0" i="1" smtClean="0">
                                <a:latin typeface="Cambria Math" panose="02040503050406030204" pitchFamily="18" charset="0"/>
                              </a:rPr>
                              <m:t>1</m:t>
                            </m:r>
                          </m:sub>
                        </m:sSub>
                      </m:oMath>
                    </m:oMathPara>
                  </a14:m>
                  <a:endParaRPr lang="en-CA" dirty="0"/>
                </a:p>
              </p:txBody>
            </p:sp>
          </mc:Choice>
          <mc:Fallback xmlns="">
            <p:sp>
              <p:nvSpPr>
                <p:cNvPr id="88" name="TextBox 87">
                  <a:extLst>
                    <a:ext uri="{FF2B5EF4-FFF2-40B4-BE49-F238E27FC236}">
                      <a16:creationId xmlns:a16="http://schemas.microsoft.com/office/drawing/2014/main" id="{E351F1D7-2265-B234-B87F-5FA7F1349284}"/>
                    </a:ext>
                  </a:extLst>
                </p:cNvPr>
                <p:cNvSpPr txBox="1">
                  <a:spLocks noRot="1" noChangeAspect="1" noMove="1" noResize="1" noEditPoints="1" noAdjustHandles="1" noChangeArrowheads="1" noChangeShapeType="1" noTextEdit="1"/>
                </p:cNvSpPr>
                <p:nvPr/>
              </p:nvSpPr>
              <p:spPr>
                <a:xfrm>
                  <a:off x="7619101" y="2580832"/>
                  <a:ext cx="463550" cy="369332"/>
                </a:xfrm>
                <a:prstGeom prst="rect">
                  <a:avLst/>
                </a:prstGeom>
                <a:blipFill>
                  <a:blip r:embed="rId21"/>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82" name="TextBox 181">
                  <a:extLst>
                    <a:ext uri="{FF2B5EF4-FFF2-40B4-BE49-F238E27FC236}">
                      <a16:creationId xmlns:a16="http://schemas.microsoft.com/office/drawing/2014/main" id="{E0A44FBD-F98A-877F-5EFF-90847E87AD9C}"/>
                    </a:ext>
                  </a:extLst>
                </p:cNvPr>
                <p:cNvSpPr txBox="1"/>
                <p:nvPr/>
              </p:nvSpPr>
              <p:spPr>
                <a:xfrm>
                  <a:off x="5259920" y="3674250"/>
                  <a:ext cx="463550" cy="369332"/>
                </a:xfrm>
                <a:prstGeom prst="rect">
                  <a:avLst/>
                </a:prstGeom>
                <a:noFill/>
                <a:sp3d prstMaterial="translucentPowder"/>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𝐶</m:t>
                            </m:r>
                          </m:e>
                          <m:sub>
                            <m:r>
                              <a:rPr lang="en-CA" b="0" i="1" smtClean="0">
                                <a:latin typeface="Cambria Math" panose="02040503050406030204" pitchFamily="18" charset="0"/>
                              </a:rPr>
                              <m:t>3</m:t>
                            </m:r>
                          </m:sub>
                        </m:sSub>
                      </m:oMath>
                    </m:oMathPara>
                  </a14:m>
                  <a:endParaRPr lang="en-CA" dirty="0"/>
                </a:p>
              </p:txBody>
            </p:sp>
          </mc:Choice>
          <mc:Fallback xmlns="">
            <p:sp>
              <p:nvSpPr>
                <p:cNvPr id="182" name="TextBox 181">
                  <a:extLst>
                    <a:ext uri="{FF2B5EF4-FFF2-40B4-BE49-F238E27FC236}">
                      <a16:creationId xmlns:a16="http://schemas.microsoft.com/office/drawing/2014/main" id="{E0A44FBD-F98A-877F-5EFF-90847E87AD9C}"/>
                    </a:ext>
                  </a:extLst>
                </p:cNvPr>
                <p:cNvSpPr txBox="1">
                  <a:spLocks noRot="1" noChangeAspect="1" noMove="1" noResize="1" noEditPoints="1" noAdjustHandles="1" noChangeArrowheads="1" noChangeShapeType="1" noTextEdit="1"/>
                </p:cNvSpPr>
                <p:nvPr/>
              </p:nvSpPr>
              <p:spPr>
                <a:xfrm>
                  <a:off x="5259920" y="3674250"/>
                  <a:ext cx="463550" cy="369332"/>
                </a:xfrm>
                <a:prstGeom prst="rect">
                  <a:avLst/>
                </a:prstGeom>
                <a:blipFill>
                  <a:blip r:embed="rId3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3" name="TextBox 182">
                  <a:extLst>
                    <a:ext uri="{FF2B5EF4-FFF2-40B4-BE49-F238E27FC236}">
                      <a16:creationId xmlns:a16="http://schemas.microsoft.com/office/drawing/2014/main" id="{9CB40124-2336-CD0D-140E-6113DCC33814}"/>
                    </a:ext>
                  </a:extLst>
                </p:cNvPr>
                <p:cNvSpPr txBox="1"/>
                <p:nvPr/>
              </p:nvSpPr>
              <p:spPr>
                <a:xfrm>
                  <a:off x="6129805" y="2630758"/>
                  <a:ext cx="463550" cy="369332"/>
                </a:xfrm>
                <a:prstGeom prst="rect">
                  <a:avLst/>
                </a:prstGeom>
                <a:noFill/>
                <a:sp3d prstMaterial="translucentPowder"/>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𝐶</m:t>
                            </m:r>
                          </m:e>
                          <m:sub>
                            <m:r>
                              <a:rPr lang="en-CA" b="0" i="1" smtClean="0">
                                <a:latin typeface="Cambria Math" panose="02040503050406030204" pitchFamily="18" charset="0"/>
                              </a:rPr>
                              <m:t>2</m:t>
                            </m:r>
                          </m:sub>
                        </m:sSub>
                      </m:oMath>
                    </m:oMathPara>
                  </a14:m>
                  <a:endParaRPr lang="en-CA" dirty="0"/>
                </a:p>
              </p:txBody>
            </p:sp>
          </mc:Choice>
          <mc:Fallback xmlns="">
            <p:sp>
              <p:nvSpPr>
                <p:cNvPr id="183" name="TextBox 182">
                  <a:extLst>
                    <a:ext uri="{FF2B5EF4-FFF2-40B4-BE49-F238E27FC236}">
                      <a16:creationId xmlns:a16="http://schemas.microsoft.com/office/drawing/2014/main" id="{9CB40124-2336-CD0D-140E-6113DCC33814}"/>
                    </a:ext>
                  </a:extLst>
                </p:cNvPr>
                <p:cNvSpPr txBox="1">
                  <a:spLocks noRot="1" noChangeAspect="1" noMove="1" noResize="1" noEditPoints="1" noAdjustHandles="1" noChangeArrowheads="1" noChangeShapeType="1" noTextEdit="1"/>
                </p:cNvSpPr>
                <p:nvPr/>
              </p:nvSpPr>
              <p:spPr>
                <a:xfrm>
                  <a:off x="6129805" y="2630758"/>
                  <a:ext cx="463550" cy="369332"/>
                </a:xfrm>
                <a:prstGeom prst="rect">
                  <a:avLst/>
                </a:prstGeom>
                <a:blipFill>
                  <a:blip r:embed="rId4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4" name="TextBox 183">
                  <a:extLst>
                    <a:ext uri="{FF2B5EF4-FFF2-40B4-BE49-F238E27FC236}">
                      <a16:creationId xmlns:a16="http://schemas.microsoft.com/office/drawing/2014/main" id="{7F035A58-72C1-79EF-038E-A65E685A2659}"/>
                    </a:ext>
                  </a:extLst>
                </p:cNvPr>
                <p:cNvSpPr txBox="1"/>
                <p:nvPr/>
              </p:nvSpPr>
              <p:spPr>
                <a:xfrm>
                  <a:off x="5674395" y="2784964"/>
                  <a:ext cx="463550" cy="369332"/>
                </a:xfrm>
                <a:prstGeom prst="rect">
                  <a:avLst/>
                </a:prstGeom>
                <a:noFill/>
                <a:sp3d prstMaterial="translucentPowder"/>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CA" b="0" i="1" smtClean="0">
                                <a:latin typeface="Cambria Math" panose="02040503050406030204" pitchFamily="18" charset="0"/>
                              </a:rPr>
                            </m:ctrlPr>
                          </m:sSubPr>
                          <m:e>
                            <m:r>
                              <a:rPr lang="en-CA" b="0" i="1" smtClean="0">
                                <a:latin typeface="Cambria Math" panose="02040503050406030204" pitchFamily="18" charset="0"/>
                              </a:rPr>
                              <m:t>𝐶</m:t>
                            </m:r>
                          </m:e>
                          <m:sub>
                            <m:r>
                              <a:rPr lang="en-CA" b="0" i="1" smtClean="0">
                                <a:latin typeface="Cambria Math" panose="02040503050406030204" pitchFamily="18" charset="0"/>
                              </a:rPr>
                              <m:t>1</m:t>
                            </m:r>
                          </m:sub>
                        </m:sSub>
                      </m:oMath>
                    </m:oMathPara>
                  </a14:m>
                  <a:endParaRPr lang="en-CA" dirty="0"/>
                </a:p>
              </p:txBody>
            </p:sp>
          </mc:Choice>
          <mc:Fallback xmlns="">
            <p:sp>
              <p:nvSpPr>
                <p:cNvPr id="184" name="TextBox 183">
                  <a:extLst>
                    <a:ext uri="{FF2B5EF4-FFF2-40B4-BE49-F238E27FC236}">
                      <a16:creationId xmlns:a16="http://schemas.microsoft.com/office/drawing/2014/main" id="{7F035A58-72C1-79EF-038E-A65E685A2659}"/>
                    </a:ext>
                  </a:extLst>
                </p:cNvPr>
                <p:cNvSpPr txBox="1">
                  <a:spLocks noRot="1" noChangeAspect="1" noMove="1" noResize="1" noEditPoints="1" noAdjustHandles="1" noChangeArrowheads="1" noChangeShapeType="1" noTextEdit="1"/>
                </p:cNvSpPr>
                <p:nvPr/>
              </p:nvSpPr>
              <p:spPr>
                <a:xfrm>
                  <a:off x="5674395" y="2784964"/>
                  <a:ext cx="463550" cy="369332"/>
                </a:xfrm>
                <a:prstGeom prst="rect">
                  <a:avLst/>
                </a:prstGeom>
                <a:blipFill>
                  <a:blip r:embed="rId4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5" name="TextBox 184">
                  <a:extLst>
                    <a:ext uri="{FF2B5EF4-FFF2-40B4-BE49-F238E27FC236}">
                      <a16:creationId xmlns:a16="http://schemas.microsoft.com/office/drawing/2014/main" id="{2197F961-2DDE-64D2-4135-9889A3F28670}"/>
                    </a:ext>
                  </a:extLst>
                </p:cNvPr>
                <p:cNvSpPr txBox="1"/>
                <p:nvPr/>
              </p:nvSpPr>
              <p:spPr>
                <a:xfrm rot="21307354">
                  <a:off x="4284195" y="3937666"/>
                  <a:ext cx="836205" cy="276999"/>
                </a:xfrm>
                <a:prstGeom prst="rect">
                  <a:avLst/>
                </a:prstGeom>
                <a:noFill/>
                <a:sp3d prstMaterial="translucentPowder"/>
              </p:spPr>
              <p:txBody>
                <a:bodyPr wrap="square" rtlCol="0">
                  <a:spAutoFit/>
                </a:bodyPr>
                <a:lstStyle/>
                <a:p>
                  <a:pPr/>
                  <a14:m>
                    <m:oMathPara xmlns:m="http://schemas.openxmlformats.org/officeDocument/2006/math">
                      <m:oMathParaPr>
                        <m:jc m:val="centerGroup"/>
                      </m:oMathParaPr>
                      <m:oMath xmlns:m="http://schemas.openxmlformats.org/officeDocument/2006/math">
                        <m:r>
                          <a:rPr lang="en-CA" sz="1200" b="0" i="1" smtClean="0">
                            <a:latin typeface="Cambria Math" panose="02040503050406030204" pitchFamily="18" charset="0"/>
                          </a:rPr>
                          <m:t>h</m:t>
                        </m:r>
                        <m:r>
                          <a:rPr lang="en-CA" sz="1200" b="0" i="1" smtClean="0">
                            <a:latin typeface="Cambria Math" panose="02040503050406030204" pitchFamily="18" charset="0"/>
                          </a:rPr>
                          <m:t>(</m:t>
                        </m:r>
                        <m:sSub>
                          <m:sSubPr>
                            <m:ctrlPr>
                              <a:rPr lang="en-CA" sz="1200" b="0" i="1" smtClean="0">
                                <a:latin typeface="Cambria Math" panose="02040503050406030204" pitchFamily="18" charset="0"/>
                              </a:rPr>
                            </m:ctrlPr>
                          </m:sSubPr>
                          <m:e>
                            <m:r>
                              <a:rPr lang="en-US" sz="1200" b="0" i="1" smtClean="0">
                                <a:latin typeface="Cambria Math" panose="02040503050406030204" pitchFamily="18" charset="0"/>
                              </a:rPr>
                              <m:t>𝑆</m:t>
                            </m:r>
                          </m:e>
                          <m:sub>
                            <m:r>
                              <a:rPr lang="en-US" sz="1200" b="0" i="1" smtClean="0">
                                <a:latin typeface="Cambria Math" panose="02040503050406030204" pitchFamily="18" charset="0"/>
                              </a:rPr>
                              <m:t>1</m:t>
                            </m:r>
                          </m:sub>
                        </m:sSub>
                        <m:r>
                          <a:rPr lang="en-US" sz="1200" b="0" i="1" smtClean="0">
                            <a:latin typeface="Cambria Math" panose="02040503050406030204" pitchFamily="18" charset="0"/>
                          </a:rPr>
                          <m:t>,</m:t>
                        </m:r>
                        <m:sSub>
                          <m:sSubPr>
                            <m:ctrlPr>
                              <a:rPr lang="en-CA" sz="1200" b="0" i="1" smtClean="0">
                                <a:latin typeface="Cambria Math" panose="02040503050406030204" pitchFamily="18" charset="0"/>
                              </a:rPr>
                            </m:ctrlPr>
                          </m:sSubPr>
                          <m:e>
                            <m:r>
                              <a:rPr lang="en-US" sz="1200" b="0" i="1" smtClean="0">
                                <a:latin typeface="Cambria Math" panose="02040503050406030204" pitchFamily="18" charset="0"/>
                              </a:rPr>
                              <m:t>𝐶</m:t>
                            </m:r>
                          </m:e>
                          <m:sub>
                            <m:r>
                              <a:rPr lang="en-US" sz="1200" b="0" i="1" smtClean="0">
                                <a:latin typeface="Cambria Math" panose="02040503050406030204" pitchFamily="18" charset="0"/>
                              </a:rPr>
                              <m:t>3</m:t>
                            </m:r>
                          </m:sub>
                        </m:sSub>
                        <m:r>
                          <a:rPr lang="en-CA" sz="1200" b="0" i="1" smtClean="0">
                            <a:latin typeface="Cambria Math" panose="02040503050406030204" pitchFamily="18" charset="0"/>
                          </a:rPr>
                          <m:t>)</m:t>
                        </m:r>
                      </m:oMath>
                    </m:oMathPara>
                  </a14:m>
                  <a:endParaRPr lang="en-CA" sz="1200" dirty="0"/>
                </a:p>
              </p:txBody>
            </p:sp>
          </mc:Choice>
          <mc:Fallback xmlns="">
            <p:sp>
              <p:nvSpPr>
                <p:cNvPr id="185" name="TextBox 184">
                  <a:extLst>
                    <a:ext uri="{FF2B5EF4-FFF2-40B4-BE49-F238E27FC236}">
                      <a16:creationId xmlns:a16="http://schemas.microsoft.com/office/drawing/2014/main" id="{2197F961-2DDE-64D2-4135-9889A3F28670}"/>
                    </a:ext>
                  </a:extLst>
                </p:cNvPr>
                <p:cNvSpPr txBox="1">
                  <a:spLocks noRot="1" noChangeAspect="1" noMove="1" noResize="1" noEditPoints="1" noAdjustHandles="1" noChangeArrowheads="1" noChangeShapeType="1" noTextEdit="1"/>
                </p:cNvSpPr>
                <p:nvPr/>
              </p:nvSpPr>
              <p:spPr>
                <a:xfrm rot="21307354">
                  <a:off x="4284195" y="3937666"/>
                  <a:ext cx="836205" cy="276999"/>
                </a:xfrm>
                <a:prstGeom prst="rect">
                  <a:avLst/>
                </a:prstGeom>
                <a:blipFill>
                  <a:blip r:embed="rId4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6" name="TextBox 185">
                  <a:extLst>
                    <a:ext uri="{FF2B5EF4-FFF2-40B4-BE49-F238E27FC236}">
                      <a16:creationId xmlns:a16="http://schemas.microsoft.com/office/drawing/2014/main" id="{39D5B1A7-B864-3D7D-BFC2-959D6FADDF07}"/>
                    </a:ext>
                  </a:extLst>
                </p:cNvPr>
                <p:cNvSpPr txBox="1"/>
                <p:nvPr/>
              </p:nvSpPr>
              <p:spPr>
                <a:xfrm rot="472064">
                  <a:off x="6222952" y="4084429"/>
                  <a:ext cx="836205" cy="276999"/>
                </a:xfrm>
                <a:prstGeom prst="rect">
                  <a:avLst/>
                </a:prstGeom>
                <a:noFill/>
                <a:sp3d prstMaterial="translucentPowder"/>
              </p:spPr>
              <p:txBody>
                <a:bodyPr wrap="square" rtlCol="0">
                  <a:spAutoFit/>
                </a:bodyPr>
                <a:lstStyle/>
                <a:p>
                  <a:pPr/>
                  <a14:m>
                    <m:oMathPara xmlns:m="http://schemas.openxmlformats.org/officeDocument/2006/math">
                      <m:oMathParaPr>
                        <m:jc m:val="centerGroup"/>
                      </m:oMathParaPr>
                      <m:oMath xmlns:m="http://schemas.openxmlformats.org/officeDocument/2006/math">
                        <m:r>
                          <a:rPr lang="en-CA" sz="1200" b="0" i="1" smtClean="0">
                            <a:latin typeface="Cambria Math" panose="02040503050406030204" pitchFamily="18" charset="0"/>
                          </a:rPr>
                          <m:t>h</m:t>
                        </m:r>
                        <m:r>
                          <a:rPr lang="en-CA" sz="1200" b="0" i="1" smtClean="0">
                            <a:latin typeface="Cambria Math" panose="02040503050406030204" pitchFamily="18" charset="0"/>
                          </a:rPr>
                          <m:t>(</m:t>
                        </m:r>
                        <m:sSub>
                          <m:sSubPr>
                            <m:ctrlPr>
                              <a:rPr lang="en-CA" sz="1200" b="0" i="1" smtClean="0">
                                <a:latin typeface="Cambria Math" panose="02040503050406030204" pitchFamily="18" charset="0"/>
                              </a:rPr>
                            </m:ctrlPr>
                          </m:sSubPr>
                          <m:e>
                            <m:r>
                              <a:rPr lang="en-US" sz="1200" b="0" i="1" smtClean="0">
                                <a:latin typeface="Cambria Math" panose="02040503050406030204" pitchFamily="18" charset="0"/>
                              </a:rPr>
                              <m:t>𝐶</m:t>
                            </m:r>
                          </m:e>
                          <m:sub>
                            <m:r>
                              <a:rPr lang="en-US" sz="1200" b="0" i="1" smtClean="0">
                                <a:latin typeface="Cambria Math" panose="02040503050406030204" pitchFamily="18" charset="0"/>
                              </a:rPr>
                              <m:t>3</m:t>
                            </m:r>
                          </m:sub>
                        </m:sSub>
                        <m:r>
                          <a:rPr lang="en-US" sz="1200" b="0" i="1" smtClean="0">
                            <a:latin typeface="Cambria Math" panose="02040503050406030204" pitchFamily="18" charset="0"/>
                          </a:rPr>
                          <m:t>, </m:t>
                        </m:r>
                        <m:sSub>
                          <m:sSubPr>
                            <m:ctrlPr>
                              <a:rPr lang="en-CA" sz="1200" b="0" i="1" smtClean="0">
                                <a:latin typeface="Cambria Math" panose="02040503050406030204" pitchFamily="18" charset="0"/>
                              </a:rPr>
                            </m:ctrlPr>
                          </m:sSubPr>
                          <m:e>
                            <m:r>
                              <a:rPr lang="en-US" sz="1200" b="0" i="1" smtClean="0">
                                <a:latin typeface="Cambria Math" panose="02040503050406030204" pitchFamily="18" charset="0"/>
                              </a:rPr>
                              <m:t>𝐴</m:t>
                            </m:r>
                          </m:e>
                          <m:sub>
                            <m:r>
                              <a:rPr lang="en-US" sz="1200" b="0" i="1" smtClean="0">
                                <a:latin typeface="Cambria Math" panose="02040503050406030204" pitchFamily="18" charset="0"/>
                              </a:rPr>
                              <m:t>4</m:t>
                            </m:r>
                          </m:sub>
                        </m:sSub>
                        <m:r>
                          <a:rPr lang="en-CA" sz="1200" b="0" i="1" smtClean="0">
                            <a:latin typeface="Cambria Math" panose="02040503050406030204" pitchFamily="18" charset="0"/>
                          </a:rPr>
                          <m:t>)</m:t>
                        </m:r>
                      </m:oMath>
                    </m:oMathPara>
                  </a14:m>
                  <a:endParaRPr lang="en-CA" sz="1200" dirty="0"/>
                </a:p>
              </p:txBody>
            </p:sp>
          </mc:Choice>
          <mc:Fallback xmlns="">
            <p:sp>
              <p:nvSpPr>
                <p:cNvPr id="186" name="TextBox 185">
                  <a:extLst>
                    <a:ext uri="{FF2B5EF4-FFF2-40B4-BE49-F238E27FC236}">
                      <a16:creationId xmlns:a16="http://schemas.microsoft.com/office/drawing/2014/main" id="{39D5B1A7-B864-3D7D-BFC2-959D6FADDF07}"/>
                    </a:ext>
                  </a:extLst>
                </p:cNvPr>
                <p:cNvSpPr txBox="1">
                  <a:spLocks noRot="1" noChangeAspect="1" noMove="1" noResize="1" noEditPoints="1" noAdjustHandles="1" noChangeArrowheads="1" noChangeShapeType="1" noTextEdit="1"/>
                </p:cNvSpPr>
                <p:nvPr/>
              </p:nvSpPr>
              <p:spPr>
                <a:xfrm rot="472064">
                  <a:off x="6222952" y="4084429"/>
                  <a:ext cx="836205" cy="276999"/>
                </a:xfrm>
                <a:prstGeom prst="rect">
                  <a:avLst/>
                </a:prstGeom>
                <a:blipFill>
                  <a:blip r:embed="rId4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7" name="TextBox 186">
                  <a:extLst>
                    <a:ext uri="{FF2B5EF4-FFF2-40B4-BE49-F238E27FC236}">
                      <a16:creationId xmlns:a16="http://schemas.microsoft.com/office/drawing/2014/main" id="{A1F0C9A2-7C15-EBDE-30A2-A392046C0B86}"/>
                    </a:ext>
                  </a:extLst>
                </p:cNvPr>
                <p:cNvSpPr txBox="1"/>
                <p:nvPr/>
              </p:nvSpPr>
              <p:spPr>
                <a:xfrm rot="450390">
                  <a:off x="4777568" y="2132028"/>
                  <a:ext cx="836205" cy="276999"/>
                </a:xfrm>
                <a:prstGeom prst="rect">
                  <a:avLst/>
                </a:prstGeom>
                <a:noFill/>
                <a:sp3d prstMaterial="translucentPowder"/>
              </p:spPr>
              <p:txBody>
                <a:bodyPr wrap="square" rtlCol="0">
                  <a:spAutoFit/>
                </a:bodyPr>
                <a:lstStyle/>
                <a:p>
                  <a:pPr/>
                  <a14:m>
                    <m:oMathPara xmlns:m="http://schemas.openxmlformats.org/officeDocument/2006/math">
                      <m:oMathParaPr>
                        <m:jc m:val="centerGroup"/>
                      </m:oMathParaPr>
                      <m:oMath xmlns:m="http://schemas.openxmlformats.org/officeDocument/2006/math">
                        <m:r>
                          <a:rPr lang="en-CA" sz="1200" b="0" i="1" smtClean="0">
                            <a:latin typeface="Cambria Math" panose="02040503050406030204" pitchFamily="18" charset="0"/>
                          </a:rPr>
                          <m:t>h</m:t>
                        </m:r>
                        <m:r>
                          <a:rPr lang="en-CA" sz="1200" b="0" i="1" smtClean="0">
                            <a:latin typeface="Cambria Math" panose="02040503050406030204" pitchFamily="18" charset="0"/>
                          </a:rPr>
                          <m:t>(</m:t>
                        </m:r>
                        <m:sSub>
                          <m:sSubPr>
                            <m:ctrlPr>
                              <a:rPr lang="en-CA" sz="1200" b="0" i="1" smtClean="0">
                                <a:latin typeface="Cambria Math" panose="02040503050406030204" pitchFamily="18" charset="0"/>
                              </a:rPr>
                            </m:ctrlPr>
                          </m:sSubPr>
                          <m:e>
                            <m:r>
                              <a:rPr lang="en-US" sz="1200" b="0" i="1" smtClean="0">
                                <a:latin typeface="Cambria Math" panose="02040503050406030204" pitchFamily="18" charset="0"/>
                              </a:rPr>
                              <m:t>𝑆</m:t>
                            </m:r>
                          </m:e>
                          <m:sub>
                            <m:r>
                              <a:rPr lang="en-US" sz="1200" b="0" i="1" smtClean="0">
                                <a:latin typeface="Cambria Math" panose="02040503050406030204" pitchFamily="18" charset="0"/>
                              </a:rPr>
                              <m:t>3</m:t>
                            </m:r>
                          </m:sub>
                        </m:sSub>
                        <m:r>
                          <a:rPr lang="en-US" sz="1200" b="0" i="1" smtClean="0">
                            <a:latin typeface="Cambria Math" panose="02040503050406030204" pitchFamily="18" charset="0"/>
                          </a:rPr>
                          <m:t>, </m:t>
                        </m:r>
                        <m:sSub>
                          <m:sSubPr>
                            <m:ctrlPr>
                              <a:rPr lang="en-CA" sz="1200" b="0" i="1" smtClean="0">
                                <a:latin typeface="Cambria Math" panose="02040503050406030204" pitchFamily="18" charset="0"/>
                              </a:rPr>
                            </m:ctrlPr>
                          </m:sSubPr>
                          <m:e>
                            <m:r>
                              <a:rPr lang="en-US" sz="1200" b="0" i="1" smtClean="0">
                                <a:latin typeface="Cambria Math" panose="02040503050406030204" pitchFamily="18" charset="0"/>
                              </a:rPr>
                              <m:t>𝐶</m:t>
                            </m:r>
                          </m:e>
                          <m:sub>
                            <m:r>
                              <a:rPr lang="en-US" sz="1200" b="0" i="1" smtClean="0">
                                <a:latin typeface="Cambria Math" panose="02040503050406030204" pitchFamily="18" charset="0"/>
                              </a:rPr>
                              <m:t>1</m:t>
                            </m:r>
                          </m:sub>
                        </m:sSub>
                        <m:r>
                          <a:rPr lang="en-CA" sz="1200" b="0" i="1" smtClean="0">
                            <a:latin typeface="Cambria Math" panose="02040503050406030204" pitchFamily="18" charset="0"/>
                          </a:rPr>
                          <m:t>)</m:t>
                        </m:r>
                      </m:oMath>
                    </m:oMathPara>
                  </a14:m>
                  <a:endParaRPr lang="en-CA" sz="1200" dirty="0"/>
                </a:p>
              </p:txBody>
            </p:sp>
          </mc:Choice>
          <mc:Fallback xmlns="">
            <p:sp>
              <p:nvSpPr>
                <p:cNvPr id="187" name="TextBox 186">
                  <a:extLst>
                    <a:ext uri="{FF2B5EF4-FFF2-40B4-BE49-F238E27FC236}">
                      <a16:creationId xmlns:a16="http://schemas.microsoft.com/office/drawing/2014/main" id="{A1F0C9A2-7C15-EBDE-30A2-A392046C0B86}"/>
                    </a:ext>
                  </a:extLst>
                </p:cNvPr>
                <p:cNvSpPr txBox="1">
                  <a:spLocks noRot="1" noChangeAspect="1" noMove="1" noResize="1" noEditPoints="1" noAdjustHandles="1" noChangeArrowheads="1" noChangeShapeType="1" noTextEdit="1"/>
                </p:cNvSpPr>
                <p:nvPr/>
              </p:nvSpPr>
              <p:spPr>
                <a:xfrm rot="450390">
                  <a:off x="4777568" y="2132028"/>
                  <a:ext cx="836205" cy="276999"/>
                </a:xfrm>
                <a:prstGeom prst="rect">
                  <a:avLst/>
                </a:prstGeom>
                <a:blipFill>
                  <a:blip r:embed="rId4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8" name="TextBox 187">
                  <a:extLst>
                    <a:ext uri="{FF2B5EF4-FFF2-40B4-BE49-F238E27FC236}">
                      <a16:creationId xmlns:a16="http://schemas.microsoft.com/office/drawing/2014/main" id="{2C526A2E-C74F-9C03-EB5F-09E9AB05D11A}"/>
                    </a:ext>
                  </a:extLst>
                </p:cNvPr>
                <p:cNvSpPr txBox="1"/>
                <p:nvPr/>
              </p:nvSpPr>
              <p:spPr>
                <a:xfrm rot="20688402">
                  <a:off x="6551799" y="2461493"/>
                  <a:ext cx="836205" cy="276999"/>
                </a:xfrm>
                <a:prstGeom prst="rect">
                  <a:avLst/>
                </a:prstGeom>
                <a:noFill/>
                <a:sp3d prstMaterial="translucentPowder"/>
              </p:spPr>
              <p:txBody>
                <a:bodyPr wrap="square" rtlCol="0">
                  <a:spAutoFit/>
                </a:bodyPr>
                <a:lstStyle/>
                <a:p>
                  <a:pPr/>
                  <a14:m>
                    <m:oMathPara xmlns:m="http://schemas.openxmlformats.org/officeDocument/2006/math">
                      <m:oMathParaPr>
                        <m:jc m:val="centerGroup"/>
                      </m:oMathParaPr>
                      <m:oMath xmlns:m="http://schemas.openxmlformats.org/officeDocument/2006/math">
                        <m:r>
                          <a:rPr lang="en-CA" sz="1200" b="0" i="1" smtClean="0">
                            <a:latin typeface="Cambria Math" panose="02040503050406030204" pitchFamily="18" charset="0"/>
                          </a:rPr>
                          <m:t>h</m:t>
                        </m:r>
                        <m:r>
                          <a:rPr lang="en-CA" sz="1200" b="0" i="1" smtClean="0">
                            <a:latin typeface="Cambria Math" panose="02040503050406030204" pitchFamily="18" charset="0"/>
                          </a:rPr>
                          <m:t>(</m:t>
                        </m:r>
                        <m:sSub>
                          <m:sSubPr>
                            <m:ctrlPr>
                              <a:rPr lang="en-CA" sz="1200" b="0" i="1" smtClean="0">
                                <a:latin typeface="Cambria Math" panose="02040503050406030204" pitchFamily="18" charset="0"/>
                              </a:rPr>
                            </m:ctrlPr>
                          </m:sSubPr>
                          <m:e>
                            <m:r>
                              <a:rPr lang="en-US" sz="1200" b="0" i="1" smtClean="0">
                                <a:latin typeface="Cambria Math" panose="02040503050406030204" pitchFamily="18" charset="0"/>
                              </a:rPr>
                              <m:t>𝐶</m:t>
                            </m:r>
                          </m:e>
                          <m:sub>
                            <m:r>
                              <a:rPr lang="en-US" sz="1200" b="0" i="1" smtClean="0">
                                <a:latin typeface="Cambria Math" panose="02040503050406030204" pitchFamily="18" charset="0"/>
                              </a:rPr>
                              <m:t>2</m:t>
                            </m:r>
                          </m:sub>
                        </m:sSub>
                        <m:r>
                          <a:rPr lang="en-US" sz="1200" b="0" i="1" smtClean="0">
                            <a:latin typeface="Cambria Math" panose="02040503050406030204" pitchFamily="18" charset="0"/>
                          </a:rPr>
                          <m:t>, </m:t>
                        </m:r>
                        <m:sSub>
                          <m:sSubPr>
                            <m:ctrlPr>
                              <a:rPr lang="en-CA" sz="1200" b="0" i="1" smtClean="0">
                                <a:latin typeface="Cambria Math" panose="02040503050406030204" pitchFamily="18" charset="0"/>
                              </a:rPr>
                            </m:ctrlPr>
                          </m:sSubPr>
                          <m:e>
                            <m:r>
                              <a:rPr lang="en-US" sz="1200" b="0" i="1" smtClean="0">
                                <a:latin typeface="Cambria Math" panose="02040503050406030204" pitchFamily="18" charset="0"/>
                              </a:rPr>
                              <m:t>𝐴</m:t>
                            </m:r>
                          </m:e>
                          <m:sub>
                            <m:r>
                              <a:rPr lang="en-US" sz="1200" b="0" i="1" smtClean="0">
                                <a:latin typeface="Cambria Math" panose="02040503050406030204" pitchFamily="18" charset="0"/>
                              </a:rPr>
                              <m:t>1</m:t>
                            </m:r>
                          </m:sub>
                        </m:sSub>
                        <m:r>
                          <a:rPr lang="en-CA" sz="1200" b="0" i="1" smtClean="0">
                            <a:latin typeface="Cambria Math" panose="02040503050406030204" pitchFamily="18" charset="0"/>
                          </a:rPr>
                          <m:t>)</m:t>
                        </m:r>
                      </m:oMath>
                    </m:oMathPara>
                  </a14:m>
                  <a:endParaRPr lang="en-CA" sz="1200" dirty="0"/>
                </a:p>
              </p:txBody>
            </p:sp>
          </mc:Choice>
          <mc:Fallback xmlns="">
            <p:sp>
              <p:nvSpPr>
                <p:cNvPr id="96" name="TextBox 95">
                  <a:extLst>
                    <a:ext uri="{FF2B5EF4-FFF2-40B4-BE49-F238E27FC236}">
                      <a16:creationId xmlns:a16="http://schemas.microsoft.com/office/drawing/2014/main" id="{D8F0F6DA-20D9-61F7-CA72-2258A5E110BF}"/>
                    </a:ext>
                  </a:extLst>
                </p:cNvPr>
                <p:cNvSpPr txBox="1">
                  <a:spLocks noRot="1" noChangeAspect="1" noMove="1" noResize="1" noEditPoints="1" noAdjustHandles="1" noChangeArrowheads="1" noChangeShapeType="1" noTextEdit="1"/>
                </p:cNvSpPr>
                <p:nvPr/>
              </p:nvSpPr>
              <p:spPr>
                <a:xfrm rot="20688402">
                  <a:off x="6551799" y="2461493"/>
                  <a:ext cx="836205" cy="276999"/>
                </a:xfrm>
                <a:prstGeom prst="rect">
                  <a:avLst/>
                </a:prstGeom>
                <a:blipFill>
                  <a:blip r:embed="rId2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9" name="TextBox 188">
                  <a:extLst>
                    <a:ext uri="{FF2B5EF4-FFF2-40B4-BE49-F238E27FC236}">
                      <a16:creationId xmlns:a16="http://schemas.microsoft.com/office/drawing/2014/main" id="{278B811E-6661-F448-EB43-BED5325E837A}"/>
                    </a:ext>
                  </a:extLst>
                </p:cNvPr>
                <p:cNvSpPr txBox="1"/>
                <p:nvPr/>
              </p:nvSpPr>
              <p:spPr>
                <a:xfrm rot="20409975">
                  <a:off x="5986739" y="3549255"/>
                  <a:ext cx="836205" cy="276999"/>
                </a:xfrm>
                <a:prstGeom prst="rect">
                  <a:avLst/>
                </a:prstGeom>
                <a:noFill/>
                <a:sp3d prstMaterial="translucentPowder"/>
              </p:spPr>
              <p:txBody>
                <a:bodyPr wrap="square" rtlCol="0">
                  <a:spAutoFit/>
                </a:bodyPr>
                <a:lstStyle/>
                <a:p>
                  <a:pPr/>
                  <a14:m>
                    <m:oMathPara xmlns:m="http://schemas.openxmlformats.org/officeDocument/2006/math">
                      <m:oMathParaPr>
                        <m:jc m:val="centerGroup"/>
                      </m:oMathParaPr>
                      <m:oMath xmlns:m="http://schemas.openxmlformats.org/officeDocument/2006/math">
                        <m:r>
                          <a:rPr lang="en-CA" sz="1200" b="0" i="1" smtClean="0">
                            <a:latin typeface="Cambria Math" panose="02040503050406030204" pitchFamily="18" charset="0"/>
                          </a:rPr>
                          <m:t>h</m:t>
                        </m:r>
                        <m:r>
                          <a:rPr lang="en-CA" sz="1200" b="0" i="1" smtClean="0">
                            <a:latin typeface="Cambria Math" panose="02040503050406030204" pitchFamily="18" charset="0"/>
                          </a:rPr>
                          <m:t>(</m:t>
                        </m:r>
                        <m:sSub>
                          <m:sSubPr>
                            <m:ctrlPr>
                              <a:rPr lang="en-CA" sz="1200" b="0" i="1" smtClean="0">
                                <a:latin typeface="Cambria Math" panose="02040503050406030204" pitchFamily="18" charset="0"/>
                              </a:rPr>
                            </m:ctrlPr>
                          </m:sSubPr>
                          <m:e>
                            <m:r>
                              <a:rPr lang="en-US" sz="1200" b="0" i="1" smtClean="0">
                                <a:latin typeface="Cambria Math" panose="02040503050406030204" pitchFamily="18" charset="0"/>
                              </a:rPr>
                              <m:t>𝐶</m:t>
                            </m:r>
                          </m:e>
                          <m:sub>
                            <m:r>
                              <a:rPr lang="en-US" sz="1200" b="0" i="1" smtClean="0">
                                <a:latin typeface="Cambria Math" panose="02040503050406030204" pitchFamily="18" charset="0"/>
                              </a:rPr>
                              <m:t>3</m:t>
                            </m:r>
                          </m:sub>
                        </m:sSub>
                        <m:r>
                          <a:rPr lang="en-US" sz="1200" b="0" i="1" smtClean="0">
                            <a:latin typeface="Cambria Math" panose="02040503050406030204" pitchFamily="18" charset="0"/>
                          </a:rPr>
                          <m:t>, </m:t>
                        </m:r>
                        <m:sSub>
                          <m:sSubPr>
                            <m:ctrlPr>
                              <a:rPr lang="en-CA" sz="1200" b="0" i="1" smtClean="0">
                                <a:latin typeface="Cambria Math" panose="02040503050406030204" pitchFamily="18" charset="0"/>
                              </a:rPr>
                            </m:ctrlPr>
                          </m:sSubPr>
                          <m:e>
                            <m:r>
                              <a:rPr lang="en-US" sz="1200" b="0" i="1" smtClean="0">
                                <a:latin typeface="Cambria Math" panose="02040503050406030204" pitchFamily="18" charset="0"/>
                              </a:rPr>
                              <m:t>𝐴</m:t>
                            </m:r>
                          </m:e>
                          <m:sub>
                            <m:r>
                              <a:rPr lang="en-US" sz="1200" b="0" i="1" smtClean="0">
                                <a:latin typeface="Cambria Math" panose="02040503050406030204" pitchFamily="18" charset="0"/>
                              </a:rPr>
                              <m:t>3</m:t>
                            </m:r>
                          </m:sub>
                        </m:sSub>
                        <m:r>
                          <a:rPr lang="en-CA" sz="1200" b="0" i="1" smtClean="0">
                            <a:latin typeface="Cambria Math" panose="02040503050406030204" pitchFamily="18" charset="0"/>
                          </a:rPr>
                          <m:t>)</m:t>
                        </m:r>
                      </m:oMath>
                    </m:oMathPara>
                  </a14:m>
                  <a:endParaRPr lang="en-CA" sz="1200" dirty="0"/>
                </a:p>
              </p:txBody>
            </p:sp>
          </mc:Choice>
          <mc:Fallback xmlns="">
            <p:sp>
              <p:nvSpPr>
                <p:cNvPr id="189" name="TextBox 188">
                  <a:extLst>
                    <a:ext uri="{FF2B5EF4-FFF2-40B4-BE49-F238E27FC236}">
                      <a16:creationId xmlns:a16="http://schemas.microsoft.com/office/drawing/2014/main" id="{278B811E-6661-F448-EB43-BED5325E837A}"/>
                    </a:ext>
                  </a:extLst>
                </p:cNvPr>
                <p:cNvSpPr txBox="1">
                  <a:spLocks noRot="1" noChangeAspect="1" noMove="1" noResize="1" noEditPoints="1" noAdjustHandles="1" noChangeArrowheads="1" noChangeShapeType="1" noTextEdit="1"/>
                </p:cNvSpPr>
                <p:nvPr/>
              </p:nvSpPr>
              <p:spPr>
                <a:xfrm rot="20409975">
                  <a:off x="5986739" y="3549255"/>
                  <a:ext cx="836205" cy="276999"/>
                </a:xfrm>
                <a:prstGeom prst="rect">
                  <a:avLst/>
                </a:prstGeom>
                <a:blipFill>
                  <a:blip r:embed="rId45"/>
                  <a:stretch>
                    <a:fillRect/>
                  </a:stretch>
                </a:blipFill>
              </p:spPr>
              <p:txBody>
                <a:bodyPr/>
                <a:lstStyle/>
                <a:p>
                  <a:r>
                    <a:rPr lang="en-US">
                      <a:noFill/>
                    </a:rPr>
                    <a:t> </a:t>
                  </a:r>
                </a:p>
              </p:txBody>
            </p:sp>
          </mc:Fallback>
        </mc:AlternateContent>
        <p:cxnSp>
          <p:nvCxnSpPr>
            <p:cNvPr id="190" name="Straight Arrow Connector 189">
              <a:extLst>
                <a:ext uri="{FF2B5EF4-FFF2-40B4-BE49-F238E27FC236}">
                  <a16:creationId xmlns:a16="http://schemas.microsoft.com/office/drawing/2014/main" id="{DCFEF176-903D-7460-8941-9724184CEB2B}"/>
                </a:ext>
              </a:extLst>
            </p:cNvPr>
            <p:cNvCxnSpPr>
              <a:cxnSpLocks/>
              <a:stCxn id="146" idx="2"/>
            </p:cNvCxnSpPr>
            <p:nvPr/>
          </p:nvCxnSpPr>
          <p:spPr>
            <a:xfrm>
              <a:off x="4752500" y="2358334"/>
              <a:ext cx="788317" cy="110517"/>
            </a:xfrm>
            <a:prstGeom prst="straightConnector1">
              <a:avLst/>
            </a:prstGeom>
            <a:ln w="19050">
              <a:headEnd w="lg" len="sm"/>
              <a:tailEnd type="triangle" w="med" len="med"/>
            </a:ln>
            <a:sp3d prstMaterial="translucentPowder"/>
          </p:spPr>
          <p:style>
            <a:lnRef idx="1">
              <a:schemeClr val="dk1"/>
            </a:lnRef>
            <a:fillRef idx="0">
              <a:schemeClr val="dk1"/>
            </a:fillRef>
            <a:effectRef idx="0">
              <a:schemeClr val="dk1"/>
            </a:effectRef>
            <a:fontRef idx="minor">
              <a:schemeClr val="tx1"/>
            </a:fontRef>
          </p:style>
        </p:cxnSp>
        <p:cxnSp>
          <p:nvCxnSpPr>
            <p:cNvPr id="191" name="Straight Arrow Connector 190">
              <a:extLst>
                <a:ext uri="{FF2B5EF4-FFF2-40B4-BE49-F238E27FC236}">
                  <a16:creationId xmlns:a16="http://schemas.microsoft.com/office/drawing/2014/main" id="{6E32FC95-43BE-C3F9-DEAC-E1FFBFFFE772}"/>
                </a:ext>
              </a:extLst>
            </p:cNvPr>
            <p:cNvCxnSpPr>
              <a:cxnSpLocks/>
            </p:cNvCxnSpPr>
            <p:nvPr/>
          </p:nvCxnSpPr>
          <p:spPr>
            <a:xfrm>
              <a:off x="4395799" y="2925247"/>
              <a:ext cx="442761" cy="448650"/>
            </a:xfrm>
            <a:prstGeom prst="straightConnector1">
              <a:avLst/>
            </a:prstGeom>
            <a:ln w="19050">
              <a:tailEnd type="triangle" w="med" len="med"/>
            </a:ln>
            <a:sp3d prstMaterial="translucentPowder"/>
          </p:spPr>
          <p:style>
            <a:lnRef idx="1">
              <a:schemeClr val="dk1"/>
            </a:lnRef>
            <a:fillRef idx="0">
              <a:schemeClr val="dk1"/>
            </a:fillRef>
            <a:effectRef idx="0">
              <a:schemeClr val="dk1"/>
            </a:effectRef>
            <a:fontRef idx="minor">
              <a:schemeClr val="tx1"/>
            </a:fontRef>
          </p:style>
        </p:cxnSp>
        <p:cxnSp>
          <p:nvCxnSpPr>
            <p:cNvPr id="192" name="Straight Arrow Connector 191">
              <a:extLst>
                <a:ext uri="{FF2B5EF4-FFF2-40B4-BE49-F238E27FC236}">
                  <a16:creationId xmlns:a16="http://schemas.microsoft.com/office/drawing/2014/main" id="{CE058912-18C0-CC1D-D155-3D47F36E0C76}"/>
                </a:ext>
              </a:extLst>
            </p:cNvPr>
            <p:cNvCxnSpPr>
              <a:cxnSpLocks/>
              <a:endCxn id="139" idx="0"/>
            </p:cNvCxnSpPr>
            <p:nvPr/>
          </p:nvCxnSpPr>
          <p:spPr>
            <a:xfrm flipV="1">
              <a:off x="4182806" y="2702301"/>
              <a:ext cx="1263089" cy="726699"/>
            </a:xfrm>
            <a:prstGeom prst="straightConnector1">
              <a:avLst/>
            </a:prstGeom>
            <a:ln w="19050">
              <a:tailEnd type="triangle" w="med" len="med"/>
            </a:ln>
            <a:sp3d prstMaterial="translucentPowder"/>
          </p:spPr>
          <p:style>
            <a:lnRef idx="1">
              <a:schemeClr val="dk1"/>
            </a:lnRef>
            <a:fillRef idx="0">
              <a:schemeClr val="dk1"/>
            </a:fillRef>
            <a:effectRef idx="0">
              <a:schemeClr val="dk1"/>
            </a:effectRef>
            <a:fontRef idx="minor">
              <a:schemeClr val="tx1"/>
            </a:fontRef>
          </p:style>
        </p:cxnSp>
        <p:cxnSp>
          <p:nvCxnSpPr>
            <p:cNvPr id="193" name="Straight Arrow Connector 192">
              <a:extLst>
                <a:ext uri="{FF2B5EF4-FFF2-40B4-BE49-F238E27FC236}">
                  <a16:creationId xmlns:a16="http://schemas.microsoft.com/office/drawing/2014/main" id="{92E4C1F0-0558-0861-9212-07915C0A39B5}"/>
                </a:ext>
              </a:extLst>
            </p:cNvPr>
            <p:cNvCxnSpPr>
              <a:cxnSpLocks/>
            </p:cNvCxnSpPr>
            <p:nvPr/>
          </p:nvCxnSpPr>
          <p:spPr>
            <a:xfrm flipV="1">
              <a:off x="4375829" y="4169840"/>
              <a:ext cx="751233" cy="94053"/>
            </a:xfrm>
            <a:prstGeom prst="straightConnector1">
              <a:avLst/>
            </a:prstGeom>
            <a:ln w="19050">
              <a:tailEnd type="triangle"/>
            </a:ln>
            <a:sp3d prstMaterial="translucentPowder"/>
          </p:spPr>
          <p:style>
            <a:lnRef idx="1">
              <a:schemeClr val="dk1"/>
            </a:lnRef>
            <a:fillRef idx="0">
              <a:schemeClr val="dk1"/>
            </a:fillRef>
            <a:effectRef idx="0">
              <a:schemeClr val="dk1"/>
            </a:effectRef>
            <a:fontRef idx="minor">
              <a:schemeClr val="tx1"/>
            </a:fontRef>
          </p:style>
        </p:cxnSp>
        <p:cxnSp>
          <p:nvCxnSpPr>
            <p:cNvPr id="194" name="Straight Arrow Connector 193">
              <a:extLst>
                <a:ext uri="{FF2B5EF4-FFF2-40B4-BE49-F238E27FC236}">
                  <a16:creationId xmlns:a16="http://schemas.microsoft.com/office/drawing/2014/main" id="{F57234F0-EE05-86F2-64A3-DB46FDCFB690}"/>
                </a:ext>
              </a:extLst>
            </p:cNvPr>
            <p:cNvCxnSpPr>
              <a:cxnSpLocks/>
              <a:endCxn id="144" idx="0"/>
            </p:cNvCxnSpPr>
            <p:nvPr/>
          </p:nvCxnSpPr>
          <p:spPr>
            <a:xfrm>
              <a:off x="4181542" y="3399750"/>
              <a:ext cx="616536" cy="232739"/>
            </a:xfrm>
            <a:prstGeom prst="straightConnector1">
              <a:avLst/>
            </a:prstGeom>
            <a:ln w="19050">
              <a:tailEnd type="triangle"/>
            </a:ln>
            <a:sp3d prstMaterial="translucentPowder"/>
          </p:spPr>
          <p:style>
            <a:lnRef idx="1">
              <a:schemeClr val="dk1"/>
            </a:lnRef>
            <a:fillRef idx="0">
              <a:schemeClr val="dk1"/>
            </a:fillRef>
            <a:effectRef idx="0">
              <a:schemeClr val="dk1"/>
            </a:effectRef>
            <a:fontRef idx="minor">
              <a:schemeClr val="tx1"/>
            </a:fontRef>
          </p:style>
        </p:cxnSp>
        <p:cxnSp>
          <p:nvCxnSpPr>
            <p:cNvPr id="195" name="Straight Arrow Connector 194">
              <a:extLst>
                <a:ext uri="{FF2B5EF4-FFF2-40B4-BE49-F238E27FC236}">
                  <a16:creationId xmlns:a16="http://schemas.microsoft.com/office/drawing/2014/main" id="{51A39D79-0CB1-EC94-7362-554DFC988E47}"/>
                </a:ext>
              </a:extLst>
            </p:cNvPr>
            <p:cNvCxnSpPr>
              <a:cxnSpLocks/>
              <a:stCxn id="146" idx="1"/>
            </p:cNvCxnSpPr>
            <p:nvPr/>
          </p:nvCxnSpPr>
          <p:spPr>
            <a:xfrm>
              <a:off x="4418141" y="2913355"/>
              <a:ext cx="1845614" cy="377128"/>
            </a:xfrm>
            <a:prstGeom prst="straightConnector1">
              <a:avLst/>
            </a:prstGeom>
            <a:ln w="19050">
              <a:tailEnd type="triangle"/>
            </a:ln>
            <a:sp3d prstMaterial="translucentPowder"/>
          </p:spPr>
          <p:style>
            <a:lnRef idx="1">
              <a:schemeClr val="dk1"/>
            </a:lnRef>
            <a:fillRef idx="0">
              <a:schemeClr val="dk1"/>
            </a:fillRef>
            <a:effectRef idx="0">
              <a:schemeClr val="dk1"/>
            </a:effectRef>
            <a:fontRef idx="minor">
              <a:schemeClr val="tx1"/>
            </a:fontRef>
          </p:style>
        </p:cxnSp>
        <p:cxnSp>
          <p:nvCxnSpPr>
            <p:cNvPr id="196" name="Straight Arrow Connector 195">
              <a:extLst>
                <a:ext uri="{FF2B5EF4-FFF2-40B4-BE49-F238E27FC236}">
                  <a16:creationId xmlns:a16="http://schemas.microsoft.com/office/drawing/2014/main" id="{10B7F97C-97B1-765C-41A4-47CDC9C35FEB}"/>
                </a:ext>
              </a:extLst>
            </p:cNvPr>
            <p:cNvCxnSpPr>
              <a:cxnSpLocks/>
            </p:cNvCxnSpPr>
            <p:nvPr/>
          </p:nvCxnSpPr>
          <p:spPr>
            <a:xfrm>
              <a:off x="6251142" y="4298556"/>
              <a:ext cx="762331" cy="109705"/>
            </a:xfrm>
            <a:prstGeom prst="straightConnector1">
              <a:avLst/>
            </a:prstGeom>
            <a:ln w="19050">
              <a:tailEnd type="triangle"/>
            </a:ln>
            <a:sp3d prstMaterial="translucentPowder"/>
          </p:spPr>
          <p:style>
            <a:lnRef idx="1">
              <a:schemeClr val="dk1"/>
            </a:lnRef>
            <a:fillRef idx="0">
              <a:schemeClr val="dk1"/>
            </a:fillRef>
            <a:effectRef idx="0">
              <a:schemeClr val="dk1"/>
            </a:effectRef>
            <a:fontRef idx="minor">
              <a:schemeClr val="tx1"/>
            </a:fontRef>
          </p:style>
        </p:cxnSp>
        <p:cxnSp>
          <p:nvCxnSpPr>
            <p:cNvPr id="197" name="Straight Arrow Connector 196">
              <a:extLst>
                <a:ext uri="{FF2B5EF4-FFF2-40B4-BE49-F238E27FC236}">
                  <a16:creationId xmlns:a16="http://schemas.microsoft.com/office/drawing/2014/main" id="{23912CD6-2485-D110-91E4-F705A2D41F0A}"/>
                </a:ext>
              </a:extLst>
            </p:cNvPr>
            <p:cNvCxnSpPr>
              <a:cxnSpLocks/>
              <a:stCxn id="144" idx="3"/>
              <a:endCxn id="142" idx="3"/>
            </p:cNvCxnSpPr>
            <p:nvPr/>
          </p:nvCxnSpPr>
          <p:spPr>
            <a:xfrm flipV="1">
              <a:off x="6064094" y="3418345"/>
              <a:ext cx="1460844" cy="544301"/>
            </a:xfrm>
            <a:prstGeom prst="straightConnector1">
              <a:avLst/>
            </a:prstGeom>
            <a:ln w="19050">
              <a:tailEnd type="triangle"/>
            </a:ln>
            <a:sp3d prstMaterial="translucentPowder"/>
          </p:spPr>
          <p:style>
            <a:lnRef idx="1">
              <a:schemeClr val="dk1"/>
            </a:lnRef>
            <a:fillRef idx="0">
              <a:schemeClr val="dk1"/>
            </a:fillRef>
            <a:effectRef idx="0">
              <a:schemeClr val="dk1"/>
            </a:effectRef>
            <a:fontRef idx="minor">
              <a:schemeClr val="tx1"/>
            </a:fontRef>
          </p:style>
        </p:cxnSp>
        <p:cxnSp>
          <p:nvCxnSpPr>
            <p:cNvPr id="198" name="Straight Arrow Connector 197">
              <a:extLst>
                <a:ext uri="{FF2B5EF4-FFF2-40B4-BE49-F238E27FC236}">
                  <a16:creationId xmlns:a16="http://schemas.microsoft.com/office/drawing/2014/main" id="{5D10F1C8-4FF2-526C-36CC-5D3F484209FC}"/>
                </a:ext>
              </a:extLst>
            </p:cNvPr>
            <p:cNvCxnSpPr>
              <a:cxnSpLocks/>
              <a:stCxn id="139" idx="2"/>
            </p:cNvCxnSpPr>
            <p:nvPr/>
          </p:nvCxnSpPr>
          <p:spPr>
            <a:xfrm>
              <a:off x="6797603" y="3458688"/>
              <a:ext cx="663572" cy="542289"/>
            </a:xfrm>
            <a:prstGeom prst="straightConnector1">
              <a:avLst/>
            </a:prstGeom>
            <a:ln w="19050">
              <a:tailEnd type="triangle"/>
            </a:ln>
            <a:sp3d prstMaterial="translucentPowder"/>
          </p:spPr>
          <p:style>
            <a:lnRef idx="1">
              <a:schemeClr val="dk1"/>
            </a:lnRef>
            <a:fillRef idx="0">
              <a:schemeClr val="dk1"/>
            </a:fillRef>
            <a:effectRef idx="0">
              <a:schemeClr val="dk1"/>
            </a:effectRef>
            <a:fontRef idx="minor">
              <a:schemeClr val="tx1"/>
            </a:fontRef>
          </p:style>
        </p:cxnSp>
        <p:cxnSp>
          <p:nvCxnSpPr>
            <p:cNvPr id="199" name="Straight Arrow Connector 198">
              <a:extLst>
                <a:ext uri="{FF2B5EF4-FFF2-40B4-BE49-F238E27FC236}">
                  <a16:creationId xmlns:a16="http://schemas.microsoft.com/office/drawing/2014/main" id="{E0688103-66D7-0CCA-208F-7FE6FCEB872B}"/>
                </a:ext>
              </a:extLst>
            </p:cNvPr>
            <p:cNvCxnSpPr>
              <a:cxnSpLocks/>
            </p:cNvCxnSpPr>
            <p:nvPr/>
          </p:nvCxnSpPr>
          <p:spPr>
            <a:xfrm>
              <a:off x="6744091" y="3165923"/>
              <a:ext cx="879516" cy="119466"/>
            </a:xfrm>
            <a:prstGeom prst="straightConnector1">
              <a:avLst/>
            </a:prstGeom>
            <a:ln w="19050">
              <a:tailEnd type="triangle"/>
            </a:ln>
            <a:sp3d prstMaterial="translucentPowder"/>
          </p:spPr>
          <p:style>
            <a:lnRef idx="1">
              <a:schemeClr val="dk1"/>
            </a:lnRef>
            <a:fillRef idx="0">
              <a:schemeClr val="dk1"/>
            </a:fillRef>
            <a:effectRef idx="0">
              <a:schemeClr val="dk1"/>
            </a:effectRef>
            <a:fontRef idx="minor">
              <a:schemeClr val="tx1"/>
            </a:fontRef>
          </p:style>
        </p:cxnSp>
        <p:cxnSp>
          <p:nvCxnSpPr>
            <p:cNvPr id="200" name="Straight Arrow Connector 199">
              <a:extLst>
                <a:ext uri="{FF2B5EF4-FFF2-40B4-BE49-F238E27FC236}">
                  <a16:creationId xmlns:a16="http://schemas.microsoft.com/office/drawing/2014/main" id="{5E02EB4A-A3F4-8D83-E121-E131BACB6564}"/>
                </a:ext>
              </a:extLst>
            </p:cNvPr>
            <p:cNvCxnSpPr>
              <a:cxnSpLocks/>
            </p:cNvCxnSpPr>
            <p:nvPr/>
          </p:nvCxnSpPr>
          <p:spPr>
            <a:xfrm flipV="1">
              <a:off x="6652655" y="2613087"/>
              <a:ext cx="750919" cy="208946"/>
            </a:xfrm>
            <a:prstGeom prst="straightConnector1">
              <a:avLst/>
            </a:prstGeom>
            <a:ln w="19050">
              <a:tailEnd type="triangle"/>
            </a:ln>
            <a:sp3d prstMaterial="translucentPowder"/>
          </p:spPr>
          <p:style>
            <a:lnRef idx="1">
              <a:schemeClr val="dk1"/>
            </a:lnRef>
            <a:fillRef idx="0">
              <a:schemeClr val="dk1"/>
            </a:fillRef>
            <a:effectRef idx="0">
              <a:schemeClr val="dk1"/>
            </a:effectRef>
            <a:fontRef idx="minor">
              <a:schemeClr val="tx1"/>
            </a:fontRef>
          </p:style>
        </p:cxnSp>
      </p:grpSp>
      <p:sp>
        <p:nvSpPr>
          <p:cNvPr id="201" name="Right Arrow 200">
            <a:extLst>
              <a:ext uri="{FF2B5EF4-FFF2-40B4-BE49-F238E27FC236}">
                <a16:creationId xmlns:a16="http://schemas.microsoft.com/office/drawing/2014/main" id="{BA4BE1D2-10D0-D6E7-4792-0E685ACD502B}"/>
              </a:ext>
            </a:extLst>
          </p:cNvPr>
          <p:cNvSpPr/>
          <p:nvPr/>
        </p:nvSpPr>
        <p:spPr>
          <a:xfrm rot="1445291">
            <a:off x="2511686" y="4896225"/>
            <a:ext cx="1420920" cy="144379"/>
          </a:xfrm>
          <a:prstGeom prst="rightArrow">
            <a:avLst/>
          </a:prstGeom>
          <a:scene3d>
            <a:camera prst="isometricOffAxis2Left"/>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mc:AlternateContent xmlns:mc="http://schemas.openxmlformats.org/markup-compatibility/2006" xmlns:a14="http://schemas.microsoft.com/office/drawing/2010/main">
        <mc:Choice Requires="a14">
          <p:sp>
            <p:nvSpPr>
              <p:cNvPr id="202" name="TextBox 201">
                <a:extLst>
                  <a:ext uri="{FF2B5EF4-FFF2-40B4-BE49-F238E27FC236}">
                    <a16:creationId xmlns:a16="http://schemas.microsoft.com/office/drawing/2014/main" id="{8B30DB82-119A-E923-8062-6E0BFC2EA523}"/>
                  </a:ext>
                </a:extLst>
              </p:cNvPr>
              <p:cNvSpPr txBox="1"/>
              <p:nvPr/>
            </p:nvSpPr>
            <p:spPr>
              <a:xfrm>
                <a:off x="2765055" y="4950891"/>
                <a:ext cx="57124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𝑡</m:t>
                      </m:r>
                    </m:oMath>
                  </m:oMathPara>
                </a14:m>
                <a:endParaRPr lang="en-CA" dirty="0"/>
              </a:p>
            </p:txBody>
          </p:sp>
        </mc:Choice>
        <mc:Fallback xmlns="">
          <p:sp>
            <p:nvSpPr>
              <p:cNvPr id="202" name="TextBox 201">
                <a:extLst>
                  <a:ext uri="{FF2B5EF4-FFF2-40B4-BE49-F238E27FC236}">
                    <a16:creationId xmlns:a16="http://schemas.microsoft.com/office/drawing/2014/main" id="{8B30DB82-119A-E923-8062-6E0BFC2EA523}"/>
                  </a:ext>
                </a:extLst>
              </p:cNvPr>
              <p:cNvSpPr txBox="1">
                <a:spLocks noRot="1" noChangeAspect="1" noMove="1" noResize="1" noEditPoints="1" noAdjustHandles="1" noChangeArrowheads="1" noChangeShapeType="1" noTextEdit="1"/>
              </p:cNvSpPr>
              <p:nvPr/>
            </p:nvSpPr>
            <p:spPr>
              <a:xfrm>
                <a:off x="2765055" y="4950891"/>
                <a:ext cx="571243" cy="369332"/>
              </a:xfrm>
              <a:prstGeom prst="rect">
                <a:avLst/>
              </a:prstGeom>
              <a:blipFill>
                <a:blip r:embed="rId4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3" name="TextBox 202">
                <a:extLst>
                  <a:ext uri="{FF2B5EF4-FFF2-40B4-BE49-F238E27FC236}">
                    <a16:creationId xmlns:a16="http://schemas.microsoft.com/office/drawing/2014/main" id="{AC974813-7413-3760-8C8C-3EB619CD96CF}"/>
                  </a:ext>
                </a:extLst>
              </p:cNvPr>
              <p:cNvSpPr txBox="1"/>
              <p:nvPr/>
            </p:nvSpPr>
            <p:spPr>
              <a:xfrm>
                <a:off x="6833156" y="1233801"/>
                <a:ext cx="5216090" cy="646331"/>
              </a:xfrm>
              <a:prstGeom prst="rect">
                <a:avLst/>
              </a:prstGeom>
              <a:noFill/>
            </p:spPr>
            <p:txBody>
              <a:bodyPr wrap="square" rtlCol="0">
                <a:spAutoFit/>
              </a:bodyPr>
              <a:lstStyle/>
              <a:p>
                <a:pPr marL="285750" indent="-285750">
                  <a:buFont typeface="Arial" panose="020B0604020202020204" pitchFamily="34" charset="0"/>
                  <a:buChar char="•"/>
                </a:pPr>
                <a:r>
                  <a:rPr lang="en-CA" dirty="0"/>
                  <a:t>Agent training history is set of ECMs each at fixed time slices </a:t>
                </a:r>
                <a14:m>
                  <m:oMath xmlns:m="http://schemas.openxmlformats.org/officeDocument/2006/math">
                    <m:r>
                      <a:rPr lang="en-US" b="0" i="1" smtClean="0">
                        <a:latin typeface="Cambria Math" panose="02040503050406030204" pitchFamily="18" charset="0"/>
                      </a:rPr>
                      <m:t>𝑡</m:t>
                    </m:r>
                  </m:oMath>
                </a14:m>
                <a:r>
                  <a:rPr lang="en-CA" dirty="0"/>
                  <a:t> over some interval </a:t>
                </a:r>
                <a14:m>
                  <m:oMath xmlns:m="http://schemas.openxmlformats.org/officeDocument/2006/math">
                    <m:r>
                      <a:rPr lang="en-US" b="0" i="1" smtClean="0">
                        <a:latin typeface="Cambria Math" panose="02040503050406030204" pitchFamily="18" charset="0"/>
                      </a:rPr>
                      <m:t>𝑇</m:t>
                    </m:r>
                  </m:oMath>
                </a14:m>
                <a:endParaRPr lang="en-CA" dirty="0"/>
              </a:p>
            </p:txBody>
          </p:sp>
        </mc:Choice>
        <mc:Fallback xmlns="">
          <p:sp>
            <p:nvSpPr>
              <p:cNvPr id="203" name="TextBox 202">
                <a:extLst>
                  <a:ext uri="{FF2B5EF4-FFF2-40B4-BE49-F238E27FC236}">
                    <a16:creationId xmlns:a16="http://schemas.microsoft.com/office/drawing/2014/main" id="{AC974813-7413-3760-8C8C-3EB619CD96CF}"/>
                  </a:ext>
                </a:extLst>
              </p:cNvPr>
              <p:cNvSpPr txBox="1">
                <a:spLocks noRot="1" noChangeAspect="1" noMove="1" noResize="1" noEditPoints="1" noAdjustHandles="1" noChangeArrowheads="1" noChangeShapeType="1" noTextEdit="1"/>
              </p:cNvSpPr>
              <p:nvPr/>
            </p:nvSpPr>
            <p:spPr>
              <a:xfrm>
                <a:off x="6833156" y="1233801"/>
                <a:ext cx="5216090" cy="646331"/>
              </a:xfrm>
              <a:prstGeom prst="rect">
                <a:avLst/>
              </a:prstGeom>
              <a:blipFill>
                <a:blip r:embed="rId47"/>
                <a:stretch>
                  <a:fillRect l="-730" t="-1923" b="-15385"/>
                </a:stretch>
              </a:blipFill>
            </p:spPr>
            <p:txBody>
              <a:bodyPr/>
              <a:lstStyle/>
              <a:p>
                <a:r>
                  <a:rPr lang="en-US">
                    <a:noFill/>
                  </a:rPr>
                  <a:t> </a:t>
                </a:r>
              </a:p>
            </p:txBody>
          </p:sp>
        </mc:Fallback>
      </mc:AlternateContent>
      <p:sp>
        <p:nvSpPr>
          <p:cNvPr id="204" name="TextBox 203">
            <a:extLst>
              <a:ext uri="{FF2B5EF4-FFF2-40B4-BE49-F238E27FC236}">
                <a16:creationId xmlns:a16="http://schemas.microsoft.com/office/drawing/2014/main" id="{A9561C2B-2B46-B787-F2BD-80A9CD8D207F}"/>
              </a:ext>
            </a:extLst>
          </p:cNvPr>
          <p:cNvSpPr txBox="1"/>
          <p:nvPr/>
        </p:nvSpPr>
        <p:spPr>
          <a:xfrm>
            <a:off x="7589612" y="2768730"/>
            <a:ext cx="4365149" cy="369332"/>
          </a:xfrm>
          <a:prstGeom prst="rect">
            <a:avLst/>
          </a:prstGeom>
          <a:noFill/>
        </p:spPr>
        <p:txBody>
          <a:bodyPr wrap="square" rtlCol="0">
            <a:spAutoFit/>
          </a:bodyPr>
          <a:lstStyle/>
          <a:p>
            <a:r>
              <a:rPr lang="en-CA" dirty="0"/>
              <a:t>Dynamic hypergraph as hypergraph foliation </a:t>
            </a:r>
          </a:p>
        </p:txBody>
      </p:sp>
      <p:sp>
        <p:nvSpPr>
          <p:cNvPr id="206" name="TextBox 205">
            <a:extLst>
              <a:ext uri="{FF2B5EF4-FFF2-40B4-BE49-F238E27FC236}">
                <a16:creationId xmlns:a16="http://schemas.microsoft.com/office/drawing/2014/main" id="{553963DE-085F-0BDA-A6AD-B3758F16448F}"/>
              </a:ext>
            </a:extLst>
          </p:cNvPr>
          <p:cNvSpPr txBox="1"/>
          <p:nvPr/>
        </p:nvSpPr>
        <p:spPr>
          <a:xfrm>
            <a:off x="6884606" y="4762395"/>
            <a:ext cx="4956294" cy="646331"/>
          </a:xfrm>
          <a:prstGeom prst="rect">
            <a:avLst/>
          </a:prstGeom>
          <a:noFill/>
        </p:spPr>
        <p:txBody>
          <a:bodyPr wrap="square" rtlCol="0">
            <a:spAutoFit/>
          </a:bodyPr>
          <a:lstStyle/>
          <a:p>
            <a:pPr marL="285750" indent="-285750">
              <a:buFont typeface="Arial" panose="020B0604020202020204" pitchFamily="34" charset="0"/>
              <a:buChar char="•"/>
            </a:pPr>
            <a:r>
              <a:rPr lang="en-CA" dirty="0"/>
              <a:t>Applications to hypergraph visualization and hypergraph-based machine learning </a:t>
            </a:r>
          </a:p>
        </p:txBody>
      </p:sp>
      <p:sp>
        <p:nvSpPr>
          <p:cNvPr id="207" name="TextBox 206">
            <a:extLst>
              <a:ext uri="{FF2B5EF4-FFF2-40B4-BE49-F238E27FC236}">
                <a16:creationId xmlns:a16="http://schemas.microsoft.com/office/drawing/2014/main" id="{9333F5E4-7165-956C-979B-27280B2B250F}"/>
              </a:ext>
            </a:extLst>
          </p:cNvPr>
          <p:cNvSpPr txBox="1"/>
          <p:nvPr/>
        </p:nvSpPr>
        <p:spPr>
          <a:xfrm>
            <a:off x="6833803" y="1948429"/>
            <a:ext cx="5007097" cy="646331"/>
          </a:xfrm>
          <a:prstGeom prst="rect">
            <a:avLst/>
          </a:prstGeom>
          <a:noFill/>
        </p:spPr>
        <p:txBody>
          <a:bodyPr wrap="square" rtlCol="0">
            <a:spAutoFit/>
          </a:bodyPr>
          <a:lstStyle/>
          <a:p>
            <a:pPr marL="285750" indent="-285750">
              <a:buFont typeface="Arial" panose="020B0604020202020204" pitchFamily="34" charset="0"/>
              <a:buChar char="•"/>
            </a:pPr>
            <a:r>
              <a:rPr lang="en-CA" dirty="0"/>
              <a:t>h-values are representation of their ECMs and update rule defines flow through the set</a:t>
            </a:r>
          </a:p>
        </p:txBody>
      </p:sp>
      <mc:AlternateContent xmlns:mc="http://schemas.openxmlformats.org/markup-compatibility/2006" xmlns:a14="http://schemas.microsoft.com/office/drawing/2010/main">
        <mc:Choice Requires="a14">
          <p:sp>
            <p:nvSpPr>
              <p:cNvPr id="209" name="TextBox 208">
                <a:extLst>
                  <a:ext uri="{FF2B5EF4-FFF2-40B4-BE49-F238E27FC236}">
                    <a16:creationId xmlns:a16="http://schemas.microsoft.com/office/drawing/2014/main" id="{55D0235F-C534-7D05-5FF8-7AB294951DCF}"/>
                  </a:ext>
                </a:extLst>
              </p:cNvPr>
              <p:cNvSpPr txBox="1"/>
              <p:nvPr/>
            </p:nvSpPr>
            <p:spPr>
              <a:xfrm>
                <a:off x="7144436" y="2760593"/>
                <a:ext cx="52050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CA" dirty="0"/>
              </a:p>
            </p:txBody>
          </p:sp>
        </mc:Choice>
        <mc:Fallback xmlns="">
          <p:sp>
            <p:nvSpPr>
              <p:cNvPr id="209" name="TextBox 208">
                <a:extLst>
                  <a:ext uri="{FF2B5EF4-FFF2-40B4-BE49-F238E27FC236}">
                    <a16:creationId xmlns:a16="http://schemas.microsoft.com/office/drawing/2014/main" id="{55D0235F-C534-7D05-5FF8-7AB294951DCF}"/>
                  </a:ext>
                </a:extLst>
              </p:cNvPr>
              <p:cNvSpPr txBox="1">
                <a:spLocks noRot="1" noChangeAspect="1" noMove="1" noResize="1" noEditPoints="1" noAdjustHandles="1" noChangeArrowheads="1" noChangeShapeType="1" noTextEdit="1"/>
              </p:cNvSpPr>
              <p:nvPr/>
            </p:nvSpPr>
            <p:spPr>
              <a:xfrm>
                <a:off x="7144436" y="2760593"/>
                <a:ext cx="520502" cy="369332"/>
              </a:xfrm>
              <a:prstGeom prst="rect">
                <a:avLst/>
              </a:prstGeom>
              <a:blipFill>
                <a:blip r:embed="rId48"/>
                <a:stretch>
                  <a:fillRect/>
                </a:stretch>
              </a:blipFill>
            </p:spPr>
            <p:txBody>
              <a:bodyPr/>
              <a:lstStyle/>
              <a:p>
                <a:r>
                  <a:rPr lang="en-US">
                    <a:noFill/>
                  </a:rPr>
                  <a:t> </a:t>
                </a:r>
              </a:p>
            </p:txBody>
          </p:sp>
        </mc:Fallback>
      </mc:AlternateContent>
      <p:sp>
        <p:nvSpPr>
          <p:cNvPr id="211" name="TextBox 210">
            <a:extLst>
              <a:ext uri="{FF2B5EF4-FFF2-40B4-BE49-F238E27FC236}">
                <a16:creationId xmlns:a16="http://schemas.microsoft.com/office/drawing/2014/main" id="{53224C42-C5CF-5DA4-7796-557474439FE4}"/>
              </a:ext>
            </a:extLst>
          </p:cNvPr>
          <p:cNvSpPr txBox="1"/>
          <p:nvPr/>
        </p:nvSpPr>
        <p:spPr>
          <a:xfrm>
            <a:off x="6884606" y="4040618"/>
            <a:ext cx="5070155" cy="646331"/>
          </a:xfrm>
          <a:prstGeom prst="rect">
            <a:avLst/>
          </a:prstGeom>
          <a:noFill/>
        </p:spPr>
        <p:txBody>
          <a:bodyPr wrap="square" rtlCol="0">
            <a:spAutoFit/>
          </a:bodyPr>
          <a:lstStyle/>
          <a:p>
            <a:pPr marL="285750" indent="-285750">
              <a:buFont typeface="Arial" panose="020B0604020202020204" pitchFamily="34" charset="0"/>
              <a:buChar char="•"/>
            </a:pPr>
            <a:r>
              <a:rPr lang="en-CA" dirty="0" err="1"/>
              <a:t>Explainability</a:t>
            </a:r>
            <a:r>
              <a:rPr lang="en-CA" dirty="0"/>
              <a:t> of </a:t>
            </a:r>
            <a:r>
              <a:rPr lang="en-CA" dirty="0" err="1"/>
              <a:t>mePS</a:t>
            </a:r>
            <a:r>
              <a:rPr lang="en-CA" dirty="0"/>
              <a:t> means we can look at how meaning changes over time </a:t>
            </a:r>
          </a:p>
        </p:txBody>
      </p:sp>
      <mc:AlternateContent xmlns:mc="http://schemas.openxmlformats.org/markup-compatibility/2006" xmlns:a14="http://schemas.microsoft.com/office/drawing/2010/main">
        <mc:Choice Requires="a14">
          <p:sp>
            <p:nvSpPr>
              <p:cNvPr id="212" name="TextBox 211">
                <a:extLst>
                  <a:ext uri="{FF2B5EF4-FFF2-40B4-BE49-F238E27FC236}">
                    <a16:creationId xmlns:a16="http://schemas.microsoft.com/office/drawing/2014/main" id="{8827D71D-E196-1704-A460-0BCC6E6EA98C}"/>
                  </a:ext>
                </a:extLst>
              </p:cNvPr>
              <p:cNvSpPr txBox="1"/>
              <p:nvPr/>
            </p:nvSpPr>
            <p:spPr>
              <a:xfrm>
                <a:off x="7174795" y="3207131"/>
                <a:ext cx="4874451" cy="669992"/>
              </a:xfrm>
              <a:prstGeom prst="rect">
                <a:avLst/>
              </a:prstGeom>
              <a:noFill/>
            </p:spPr>
            <p:txBody>
              <a:bodyPr wrap="square" rtlCol="0">
                <a:spAutoFit/>
              </a:bodyPr>
              <a:lstStyle/>
              <a:p>
                <a:r>
                  <a:rPr lang="en-CA" dirty="0"/>
                  <a:t>i.e. the set </a:t>
                </a:r>
                <a14:m>
                  <m:oMath xmlns:m="http://schemas.openxmlformats.org/officeDocument/2006/math">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𝐸𝐶</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𝑀</m:t>
                                </m:r>
                              </m:e>
                              <m:sub>
                                <m:r>
                                  <a:rPr lang="en-US" b="0" i="1" smtClean="0">
                                    <a:latin typeface="Cambria Math" panose="02040503050406030204" pitchFamily="18" charset="0"/>
                                  </a:rPr>
                                  <m:t>𝑡</m:t>
                                </m:r>
                              </m:sub>
                            </m:sSub>
                          </m:e>
                        </m:d>
                      </m:e>
                      <m:sub>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𝑇</m:t>
                        </m:r>
                      </m:sub>
                    </m:sSub>
                  </m:oMath>
                </a14:m>
                <a:r>
                  <a:rPr lang="en-CA" dirty="0"/>
                  <a:t> whose elements are level sets of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h</m:t>
                        </m:r>
                      </m:e>
                      <m:sup>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sup>
                    </m:sSup>
                  </m:oMath>
                </a14:m>
                <a:endParaRPr lang="en-CA" dirty="0"/>
              </a:p>
            </p:txBody>
          </p:sp>
        </mc:Choice>
        <mc:Fallback xmlns="">
          <p:sp>
            <p:nvSpPr>
              <p:cNvPr id="212" name="TextBox 211">
                <a:extLst>
                  <a:ext uri="{FF2B5EF4-FFF2-40B4-BE49-F238E27FC236}">
                    <a16:creationId xmlns:a16="http://schemas.microsoft.com/office/drawing/2014/main" id="{8827D71D-E196-1704-A460-0BCC6E6EA98C}"/>
                  </a:ext>
                </a:extLst>
              </p:cNvPr>
              <p:cNvSpPr txBox="1">
                <a:spLocks noRot="1" noChangeAspect="1" noMove="1" noResize="1" noEditPoints="1" noAdjustHandles="1" noChangeArrowheads="1" noChangeShapeType="1" noTextEdit="1"/>
              </p:cNvSpPr>
              <p:nvPr/>
            </p:nvSpPr>
            <p:spPr>
              <a:xfrm>
                <a:off x="7174795" y="3207131"/>
                <a:ext cx="4874451" cy="669992"/>
              </a:xfrm>
              <a:prstGeom prst="rect">
                <a:avLst/>
              </a:prstGeom>
              <a:blipFill>
                <a:blip r:embed="rId49"/>
                <a:stretch>
                  <a:fillRect l="-779" t="-3704" b="-12963"/>
                </a:stretch>
              </a:blipFill>
            </p:spPr>
            <p:txBody>
              <a:bodyPr/>
              <a:lstStyle/>
              <a:p>
                <a:r>
                  <a:rPr lang="en-US">
                    <a:noFill/>
                  </a:rPr>
                  <a:t> </a:t>
                </a:r>
              </a:p>
            </p:txBody>
          </p:sp>
        </mc:Fallback>
      </mc:AlternateContent>
    </p:spTree>
    <p:extLst>
      <p:ext uri="{BB962C8B-B14F-4D97-AF65-F5344CB8AC3E}">
        <p14:creationId xmlns:p14="http://schemas.microsoft.com/office/powerpoint/2010/main" val="30141333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Alternate Process 71">
            <a:extLst>
              <a:ext uri="{FF2B5EF4-FFF2-40B4-BE49-F238E27FC236}">
                <a16:creationId xmlns:a16="http://schemas.microsoft.com/office/drawing/2014/main" id="{A5955567-557F-2634-6DF7-38FB7DBCBEC6}"/>
              </a:ext>
            </a:extLst>
          </p:cNvPr>
          <p:cNvSpPr/>
          <p:nvPr/>
        </p:nvSpPr>
        <p:spPr>
          <a:xfrm>
            <a:off x="8297416" y="4906189"/>
            <a:ext cx="2783295" cy="700591"/>
          </a:xfrm>
          <a:prstGeom prst="flowChartAlternateProcess">
            <a:avLst/>
          </a:prstGeom>
          <a:solidFill>
            <a:srgbClr val="FCFAC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2" name="Fußzeilenplatzhalter 1"/>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IJCAI 2026, Bremen, Germany I Phil LeMaitre I 20.08.2026</a:t>
            </a:r>
            <a:endParaRPr lang="de-DE" dirty="0"/>
          </a:p>
        </p:txBody>
      </p:sp>
      <p:sp>
        <p:nvSpPr>
          <p:cNvPr id="3" name="Titel 1">
            <a:extLst>
              <a:ext uri="{FF2B5EF4-FFF2-40B4-BE49-F238E27FC236}">
                <a16:creationId xmlns:a16="http://schemas.microsoft.com/office/drawing/2014/main" id="{8EA3482B-9788-BCB4-D810-065E821DE54B}"/>
              </a:ext>
            </a:extLst>
          </p:cNvPr>
          <p:cNvSpPr txBox="1">
            <a:spLocks/>
          </p:cNvSpPr>
          <p:nvPr/>
        </p:nvSpPr>
        <p:spPr bwMode="auto">
          <a:xfrm>
            <a:off x="0" y="0"/>
            <a:ext cx="12280900" cy="1014750"/>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A Physics-Inspired Inductive Bias</a:t>
            </a:r>
          </a:p>
        </p:txBody>
      </p:sp>
      <p:sp>
        <p:nvSpPr>
          <p:cNvPr id="7" name="Slide Number Placeholder 6">
            <a:extLst>
              <a:ext uri="{FF2B5EF4-FFF2-40B4-BE49-F238E27FC236}">
                <a16:creationId xmlns:a16="http://schemas.microsoft.com/office/drawing/2014/main" id="{8602B7A2-0DCA-4E99-BE35-D40A069ED53A}"/>
              </a:ext>
            </a:extLst>
          </p:cNvPr>
          <p:cNvSpPr>
            <a:spLocks noGrp="1"/>
          </p:cNvSpPr>
          <p:nvPr>
            <p:ph type="sldNum" sz="quarter" idx="12"/>
          </p:nvPr>
        </p:nvSpPr>
        <p:spPr/>
        <p:txBody>
          <a:bodyPr/>
          <a:lstStyle/>
          <a:p>
            <a:fld id="{D0617D14-1B55-43C0-819D-0D244AC23646}" type="slidenum">
              <a:rPr lang="de-AT" smtClean="0"/>
              <a:t>8</a:t>
            </a:fld>
            <a:endParaRPr lang="de-AT"/>
          </a:p>
        </p:txBody>
      </p:sp>
      <p:sp>
        <p:nvSpPr>
          <p:cNvPr id="8" name="Rechteck 5">
            <a:extLst>
              <a:ext uri="{FF2B5EF4-FFF2-40B4-BE49-F238E27FC236}">
                <a16:creationId xmlns:a16="http://schemas.microsoft.com/office/drawing/2014/main" id="{22F62D90-CF0B-D61B-3A66-DCAAFD53F042}"/>
              </a:ext>
            </a:extLst>
          </p:cNvPr>
          <p:cNvSpPr/>
          <p:nvPr/>
        </p:nvSpPr>
        <p:spPr>
          <a:xfrm>
            <a:off x="1767928" y="1954998"/>
            <a:ext cx="1424558" cy="923330"/>
          </a:xfrm>
          <a:prstGeom prst="rect">
            <a:avLst/>
          </a:prstGeom>
        </p:spPr>
        <p:txBody>
          <a:bodyPr wrap="square">
            <a:spAutoFit/>
          </a:bodyPr>
          <a:lstStyle/>
          <a:p>
            <a:r>
              <a:rPr lang="en-US" dirty="0">
                <a:latin typeface="Helvetica Neue" panose="02000503000000020004" pitchFamily="2" charset="0"/>
                <a:ea typeface="Helvetica Neue" panose="02000503000000020004" pitchFamily="2" charset="0"/>
                <a:cs typeface="Helvetica Neue" panose="02000503000000020004" pitchFamily="2" charset="0"/>
              </a:rPr>
              <a:t>Quantum many-body physics</a:t>
            </a:r>
            <a:endParaRPr lang="de-AT" dirty="0">
              <a:latin typeface="Helvetica Neue" panose="02000503000000020004" pitchFamily="2" charset="0"/>
              <a:ea typeface="Helvetica Neue" panose="02000503000000020004" pitchFamily="2" charset="0"/>
              <a:cs typeface="Helvetica Neue" panose="02000503000000020004" pitchFamily="2" charset="0"/>
            </a:endParaRPr>
          </a:p>
        </p:txBody>
      </p:sp>
      <p:pic>
        <p:nvPicPr>
          <p:cNvPr id="11" name="Graphic 10" descr="Lights On with solid fill">
            <a:extLst>
              <a:ext uri="{FF2B5EF4-FFF2-40B4-BE49-F238E27FC236}">
                <a16:creationId xmlns:a16="http://schemas.microsoft.com/office/drawing/2014/main" id="{6796368C-0859-7A24-6A79-5908A646188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57825" y="2067228"/>
            <a:ext cx="590607" cy="590607"/>
          </a:xfrm>
          <a:prstGeom prst="rect">
            <a:avLst/>
          </a:prstGeom>
        </p:spPr>
      </p:pic>
      <mc:AlternateContent xmlns:mc="http://schemas.openxmlformats.org/markup-compatibility/2006" xmlns:a14="http://schemas.microsoft.com/office/drawing/2010/main">
        <mc:Choice Requires="a14">
          <p:sp>
            <p:nvSpPr>
              <p:cNvPr id="12" name="Rechteck 5">
                <a:extLst>
                  <a:ext uri="{FF2B5EF4-FFF2-40B4-BE49-F238E27FC236}">
                    <a16:creationId xmlns:a16="http://schemas.microsoft.com/office/drawing/2014/main" id="{86EEE5EF-1415-9839-0AD2-0485AAF6715B}"/>
                  </a:ext>
                </a:extLst>
              </p:cNvPr>
              <p:cNvSpPr/>
              <p:nvPr/>
            </p:nvSpPr>
            <p:spPr>
              <a:xfrm>
                <a:off x="3014567" y="2178808"/>
                <a:ext cx="355838"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cs typeface="Arial" panose="020B0604020202020204" pitchFamily="34" charset="0"/>
                        </a:rPr>
                        <m:t>→</m:t>
                      </m:r>
                    </m:oMath>
                  </m:oMathPara>
                </a14:m>
                <a:endParaRPr lang="de-AT" dirty="0">
                  <a:latin typeface="Helvetica Neue" panose="02000503000000020004" pitchFamily="2" charset="0"/>
                  <a:ea typeface="Helvetica Neue" panose="02000503000000020004" pitchFamily="2" charset="0"/>
                  <a:cs typeface="Helvetica Neue" panose="02000503000000020004" pitchFamily="2" charset="0"/>
                </a:endParaRPr>
              </a:p>
            </p:txBody>
          </p:sp>
        </mc:Choice>
        <mc:Fallback xmlns="">
          <p:sp>
            <p:nvSpPr>
              <p:cNvPr id="12" name="Rechteck 5">
                <a:extLst>
                  <a:ext uri="{FF2B5EF4-FFF2-40B4-BE49-F238E27FC236}">
                    <a16:creationId xmlns:a16="http://schemas.microsoft.com/office/drawing/2014/main" id="{86EEE5EF-1415-9839-0AD2-0485AAF6715B}"/>
                  </a:ext>
                </a:extLst>
              </p:cNvPr>
              <p:cNvSpPr>
                <a:spLocks noRot="1" noChangeAspect="1" noMove="1" noResize="1" noEditPoints="1" noAdjustHandles="1" noChangeArrowheads="1" noChangeShapeType="1" noTextEdit="1"/>
              </p:cNvSpPr>
              <p:nvPr/>
            </p:nvSpPr>
            <p:spPr>
              <a:xfrm>
                <a:off x="3014567" y="2178808"/>
                <a:ext cx="355838" cy="369332"/>
              </a:xfrm>
              <a:prstGeom prst="rect">
                <a:avLst/>
              </a:prstGeom>
              <a:blipFill>
                <a:blip r:embed="rId6"/>
                <a:stretch>
                  <a:fillRect/>
                </a:stretch>
              </a:blipFill>
            </p:spPr>
            <p:txBody>
              <a:bodyPr/>
              <a:lstStyle/>
              <a:p>
                <a:r>
                  <a:rPr lang="en-CA">
                    <a:noFill/>
                  </a:rPr>
                  <a:t> </a:t>
                </a:r>
              </a:p>
            </p:txBody>
          </p:sp>
        </mc:Fallback>
      </mc:AlternateContent>
      <p:sp>
        <p:nvSpPr>
          <p:cNvPr id="13" name="Rechteck 5">
            <a:extLst>
              <a:ext uri="{FF2B5EF4-FFF2-40B4-BE49-F238E27FC236}">
                <a16:creationId xmlns:a16="http://schemas.microsoft.com/office/drawing/2014/main" id="{2C952DF4-FED3-5286-C752-A11A602220FD}"/>
              </a:ext>
            </a:extLst>
          </p:cNvPr>
          <p:cNvSpPr/>
          <p:nvPr/>
        </p:nvSpPr>
        <p:spPr>
          <a:xfrm>
            <a:off x="3370404" y="1965958"/>
            <a:ext cx="1498087" cy="923330"/>
          </a:xfrm>
          <a:prstGeom prst="rect">
            <a:avLst/>
          </a:prstGeom>
        </p:spPr>
        <p:txBody>
          <a:bodyPr wrap="square">
            <a:spAutoFit/>
          </a:bodyPr>
          <a:lstStyle/>
          <a:p>
            <a:r>
              <a:rPr lang="en-CA" dirty="0" err="1">
                <a:latin typeface="Helvetica Neue" panose="02000503000000020004" pitchFamily="2" charset="0"/>
                <a:ea typeface="Helvetica Neue" panose="02000503000000020004" pitchFamily="2" charset="0"/>
                <a:cs typeface="Helvetica Neue" panose="02000503000000020004" pitchFamily="2" charset="0"/>
              </a:rPr>
              <a:t>Cutoff</a:t>
            </a:r>
            <a:r>
              <a:rPr lang="en-CA" dirty="0">
                <a:latin typeface="Helvetica Neue" panose="02000503000000020004" pitchFamily="2" charset="0"/>
                <a:ea typeface="Helvetica Neue" panose="02000503000000020004" pitchFamily="2" charset="0"/>
                <a:cs typeface="Helvetica Neue" panose="02000503000000020004" pitchFamily="2" charset="0"/>
              </a:rPr>
              <a:t> on # of excitations</a:t>
            </a:r>
          </a:p>
        </p:txBody>
      </p:sp>
      <mc:AlternateContent xmlns:mc="http://schemas.openxmlformats.org/markup-compatibility/2006" xmlns:a14="http://schemas.microsoft.com/office/drawing/2010/main">
        <mc:Choice Requires="a14">
          <p:sp>
            <p:nvSpPr>
              <p:cNvPr id="14" name="Rechteck 5">
                <a:extLst>
                  <a:ext uri="{FF2B5EF4-FFF2-40B4-BE49-F238E27FC236}">
                    <a16:creationId xmlns:a16="http://schemas.microsoft.com/office/drawing/2014/main" id="{4C8A2AF2-F915-A927-E363-B48F0892F028}"/>
                  </a:ext>
                </a:extLst>
              </p:cNvPr>
              <p:cNvSpPr/>
              <p:nvPr/>
            </p:nvSpPr>
            <p:spPr>
              <a:xfrm>
                <a:off x="4728200" y="2178808"/>
                <a:ext cx="355838"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cs typeface="Arial" panose="020B0604020202020204" pitchFamily="34" charset="0"/>
                        </a:rPr>
                        <m:t>→</m:t>
                      </m:r>
                    </m:oMath>
                  </m:oMathPara>
                </a14:m>
                <a:endParaRPr lang="de-AT" dirty="0">
                  <a:latin typeface="Helvetica Neue" panose="02000503000000020004" pitchFamily="2" charset="0"/>
                  <a:ea typeface="Helvetica Neue" panose="02000503000000020004" pitchFamily="2" charset="0"/>
                  <a:cs typeface="Helvetica Neue" panose="02000503000000020004" pitchFamily="2" charset="0"/>
                </a:endParaRPr>
              </a:p>
            </p:txBody>
          </p:sp>
        </mc:Choice>
        <mc:Fallback xmlns="">
          <p:sp>
            <p:nvSpPr>
              <p:cNvPr id="14" name="Rechteck 5">
                <a:extLst>
                  <a:ext uri="{FF2B5EF4-FFF2-40B4-BE49-F238E27FC236}">
                    <a16:creationId xmlns:a16="http://schemas.microsoft.com/office/drawing/2014/main" id="{4C8A2AF2-F915-A927-E363-B48F0892F028}"/>
                  </a:ext>
                </a:extLst>
              </p:cNvPr>
              <p:cNvSpPr>
                <a:spLocks noRot="1" noChangeAspect="1" noMove="1" noResize="1" noEditPoints="1" noAdjustHandles="1" noChangeArrowheads="1" noChangeShapeType="1" noTextEdit="1"/>
              </p:cNvSpPr>
              <p:nvPr/>
            </p:nvSpPr>
            <p:spPr>
              <a:xfrm>
                <a:off x="4728200" y="2178808"/>
                <a:ext cx="355838" cy="369332"/>
              </a:xfrm>
              <a:prstGeom prst="rect">
                <a:avLst/>
              </a:prstGeom>
              <a:blipFill>
                <a:blip r:embed="rId6"/>
                <a:stretch>
                  <a:fillRect/>
                </a:stretch>
              </a:blipFill>
            </p:spPr>
            <p:txBody>
              <a:bodyPr/>
              <a:lstStyle/>
              <a:p>
                <a:r>
                  <a:rPr lang="en-CA">
                    <a:noFill/>
                  </a:rPr>
                  <a:t> </a:t>
                </a:r>
              </a:p>
            </p:txBody>
          </p:sp>
        </mc:Fallback>
      </mc:AlternateContent>
      <p:sp>
        <p:nvSpPr>
          <p:cNvPr id="15" name="Rechteck 5">
            <a:extLst>
              <a:ext uri="{FF2B5EF4-FFF2-40B4-BE49-F238E27FC236}">
                <a16:creationId xmlns:a16="http://schemas.microsoft.com/office/drawing/2014/main" id="{20A920F7-2197-36FC-316A-0F0E30F11E57}"/>
              </a:ext>
            </a:extLst>
          </p:cNvPr>
          <p:cNvSpPr/>
          <p:nvPr/>
        </p:nvSpPr>
        <p:spPr>
          <a:xfrm>
            <a:off x="5099702" y="1965958"/>
            <a:ext cx="1535714" cy="923330"/>
          </a:xfrm>
          <a:prstGeom prst="rect">
            <a:avLst/>
          </a:prstGeom>
        </p:spPr>
        <p:txBody>
          <a:bodyPr wrap="square">
            <a:spAutoFit/>
          </a:bodyPr>
          <a:lstStyle/>
          <a:p>
            <a:r>
              <a:rPr lang="en-CA" dirty="0">
                <a:latin typeface="Helvetica Neue" panose="02000503000000020004" pitchFamily="2" charset="0"/>
                <a:ea typeface="Helvetica Neue" panose="02000503000000020004" pitchFamily="2" charset="0"/>
                <a:cs typeface="Helvetica Neue" panose="02000503000000020004" pitchFamily="2" charset="0"/>
              </a:rPr>
              <a:t>Classical inductive bias</a:t>
            </a:r>
          </a:p>
        </p:txBody>
      </p:sp>
      <p:grpSp>
        <p:nvGrpSpPr>
          <p:cNvPr id="17" name="Group 16">
            <a:extLst>
              <a:ext uri="{FF2B5EF4-FFF2-40B4-BE49-F238E27FC236}">
                <a16:creationId xmlns:a16="http://schemas.microsoft.com/office/drawing/2014/main" id="{01662956-06C7-4352-C0EA-ED502A465F78}"/>
              </a:ext>
            </a:extLst>
          </p:cNvPr>
          <p:cNvGrpSpPr/>
          <p:nvPr/>
        </p:nvGrpSpPr>
        <p:grpSpPr>
          <a:xfrm>
            <a:off x="555027" y="3386580"/>
            <a:ext cx="5453549" cy="2435134"/>
            <a:chOff x="2043949" y="1750791"/>
            <a:chExt cx="6642851" cy="3564548"/>
          </a:xfrm>
        </p:grpSpPr>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BB9E7294-4FA6-09D9-B6AB-7C8FAD6492BC}"/>
                    </a:ext>
                  </a:extLst>
                </p:cNvPr>
                <p:cNvSpPr txBox="1"/>
                <p:nvPr/>
              </p:nvSpPr>
              <p:spPr>
                <a:xfrm>
                  <a:off x="5615391" y="2870542"/>
                  <a:ext cx="217401" cy="5406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m:t>
                        </m:r>
                      </m:oMath>
                    </m:oMathPara>
                  </a14:m>
                  <a:endParaRPr lang="en-CA" dirty="0">
                    <a:latin typeface="Helvetica Neue" panose="02000503000000020004" pitchFamily="2" charset="0"/>
                    <a:ea typeface="Helvetica Neue" panose="02000503000000020004" pitchFamily="2" charset="0"/>
                    <a:cs typeface="Helvetica Neue" panose="02000503000000020004" pitchFamily="2" charset="0"/>
                  </a:endParaRPr>
                </a:p>
              </p:txBody>
            </p:sp>
          </mc:Choice>
          <mc:Fallback xmlns="">
            <p:sp>
              <p:nvSpPr>
                <p:cNvPr id="18" name="TextBox 17">
                  <a:extLst>
                    <a:ext uri="{FF2B5EF4-FFF2-40B4-BE49-F238E27FC236}">
                      <a16:creationId xmlns:a16="http://schemas.microsoft.com/office/drawing/2014/main" id="{BB9E7294-4FA6-09D9-B6AB-7C8FAD6492BC}"/>
                    </a:ext>
                  </a:extLst>
                </p:cNvPr>
                <p:cNvSpPr txBox="1">
                  <a:spLocks noRot="1" noChangeAspect="1" noMove="1" noResize="1" noEditPoints="1" noAdjustHandles="1" noChangeArrowheads="1" noChangeShapeType="1" noTextEdit="1"/>
                </p:cNvSpPr>
                <p:nvPr/>
              </p:nvSpPr>
              <p:spPr>
                <a:xfrm>
                  <a:off x="5615391" y="2870542"/>
                  <a:ext cx="217401" cy="540628"/>
                </a:xfrm>
                <a:prstGeom prst="rect">
                  <a:avLst/>
                </a:prstGeom>
                <a:blipFill>
                  <a:blip r:embed="rId7"/>
                  <a:stretch>
                    <a:fillRect r="-80000"/>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D3007751-F219-6EB6-60AB-BD2E61A04C8D}"/>
                    </a:ext>
                  </a:extLst>
                </p:cNvPr>
                <p:cNvSpPr txBox="1"/>
                <p:nvPr/>
              </p:nvSpPr>
              <p:spPr>
                <a:xfrm>
                  <a:off x="2043949" y="2891664"/>
                  <a:ext cx="1777711" cy="51997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sz="1600" i="1" dirty="0" smtClean="0">
                                <a:latin typeface="Cambria Math" panose="02040503050406030204" pitchFamily="18" charset="0"/>
                              </a:rPr>
                            </m:ctrlPr>
                          </m:sSupPr>
                          <m:e>
                            <m:r>
                              <a:rPr lang="en-US" sz="1600" i="1" dirty="0">
                                <a:latin typeface="Cambria Math" panose="02040503050406030204" pitchFamily="18" charset="0"/>
                              </a:rPr>
                              <m:t>h</m:t>
                            </m:r>
                          </m:e>
                          <m:sup>
                            <m:d>
                              <m:dPr>
                                <m:ctrlPr>
                                  <a:rPr lang="en-US" sz="1600" i="1" dirty="0" smtClean="0">
                                    <a:latin typeface="Cambria Math" panose="02040503050406030204" pitchFamily="18" charset="0"/>
                                  </a:rPr>
                                </m:ctrlPr>
                              </m:dPr>
                              <m:e>
                                <m:r>
                                  <a:rPr lang="en-CA" sz="1600" b="0" i="1" dirty="0" smtClean="0">
                                    <a:latin typeface="Cambria Math" panose="02040503050406030204" pitchFamily="18" charset="0"/>
                                  </a:rPr>
                                  <m:t>𝑡</m:t>
                                </m:r>
                              </m:e>
                            </m:d>
                          </m:sup>
                        </m:sSup>
                        <m:d>
                          <m:dPr>
                            <m:ctrlPr>
                              <a:rPr lang="en-US" sz="1600" i="1" dirty="0">
                                <a:latin typeface="Cambria Math" panose="02040503050406030204" pitchFamily="18" charset="0"/>
                              </a:rPr>
                            </m:ctrlPr>
                          </m:dPr>
                          <m:e>
                            <m:sSub>
                              <m:sSubPr>
                                <m:ctrlPr>
                                  <a:rPr lang="en-US" sz="1600" i="1" dirty="0">
                                    <a:latin typeface="Cambria Math" panose="02040503050406030204" pitchFamily="18" charset="0"/>
                                  </a:rPr>
                                </m:ctrlPr>
                              </m:sSubPr>
                              <m:e>
                                <m:r>
                                  <a:rPr lang="en-US" sz="1600" i="1" dirty="0">
                                    <a:latin typeface="Cambria Math" panose="02040503050406030204" pitchFamily="18" charset="0"/>
                                  </a:rPr>
                                  <m:t>𝐶</m:t>
                                </m:r>
                              </m:e>
                              <m:sub>
                                <m:r>
                                  <a:rPr lang="en-US" sz="1600" b="0" i="1" dirty="0" smtClean="0">
                                    <a:latin typeface="Cambria Math" panose="02040503050406030204" pitchFamily="18" charset="0"/>
                                  </a:rPr>
                                  <m:t>𝑖𝑛</m:t>
                                </m:r>
                              </m:sub>
                            </m:sSub>
                            <m:r>
                              <a:rPr lang="en-US" sz="1600" b="0" i="1" dirty="0" smtClean="0">
                                <a:latin typeface="Cambria Math" panose="02040503050406030204" pitchFamily="18" charset="0"/>
                              </a:rPr>
                              <m:t>,</m:t>
                            </m:r>
                            <m:r>
                              <a:rPr lang="en-US" sz="1600" i="1" dirty="0">
                                <a:latin typeface="Cambria Math" panose="02040503050406030204" pitchFamily="18" charset="0"/>
                              </a:rPr>
                              <m:t> </m:t>
                            </m:r>
                            <m:sSub>
                              <m:sSubPr>
                                <m:ctrlPr>
                                  <a:rPr lang="en-US" sz="1600" i="1" dirty="0">
                                    <a:latin typeface="Cambria Math" panose="02040503050406030204" pitchFamily="18" charset="0"/>
                                  </a:rPr>
                                </m:ctrlPr>
                              </m:sSubPr>
                              <m:e>
                                <m:r>
                                  <a:rPr lang="en-US" sz="1600" i="1" dirty="0">
                                    <a:latin typeface="Cambria Math" panose="02040503050406030204" pitchFamily="18" charset="0"/>
                                  </a:rPr>
                                  <m:t>𝐶</m:t>
                                </m:r>
                              </m:e>
                              <m:sub>
                                <m:r>
                                  <a:rPr lang="en-US" sz="1600" b="0" i="1" dirty="0" smtClean="0">
                                    <a:latin typeface="Cambria Math" panose="02040503050406030204" pitchFamily="18" charset="0"/>
                                  </a:rPr>
                                  <m:t>𝑜𝑢𝑡</m:t>
                                </m:r>
                              </m:sub>
                            </m:sSub>
                          </m:e>
                        </m:d>
                      </m:oMath>
                    </m:oMathPara>
                  </a14:m>
                  <a:endParaRPr lang="en-CA" sz="2400" dirty="0">
                    <a:latin typeface="Helvetica Neue" panose="02000503000000020004" pitchFamily="2" charset="0"/>
                    <a:ea typeface="Helvetica Neue" panose="02000503000000020004" pitchFamily="2" charset="0"/>
                    <a:cs typeface="Helvetica Neue" panose="02000503000000020004" pitchFamily="2" charset="0"/>
                  </a:endParaRPr>
                </a:p>
              </p:txBody>
            </p:sp>
          </mc:Choice>
          <mc:Fallback xmlns="">
            <p:sp>
              <p:nvSpPr>
                <p:cNvPr id="19" name="TextBox 18">
                  <a:extLst>
                    <a:ext uri="{FF2B5EF4-FFF2-40B4-BE49-F238E27FC236}">
                      <a16:creationId xmlns:a16="http://schemas.microsoft.com/office/drawing/2014/main" id="{D3007751-F219-6EB6-60AB-BD2E61A04C8D}"/>
                    </a:ext>
                  </a:extLst>
                </p:cNvPr>
                <p:cNvSpPr txBox="1">
                  <a:spLocks noRot="1" noChangeAspect="1" noMove="1" noResize="1" noEditPoints="1" noAdjustHandles="1" noChangeArrowheads="1" noChangeShapeType="1" noTextEdit="1"/>
                </p:cNvSpPr>
                <p:nvPr/>
              </p:nvSpPr>
              <p:spPr>
                <a:xfrm>
                  <a:off x="2043949" y="2891664"/>
                  <a:ext cx="1777711" cy="519978"/>
                </a:xfrm>
                <a:prstGeom prst="rect">
                  <a:avLst/>
                </a:prstGeom>
                <a:blipFill>
                  <a:blip r:embed="rId9"/>
                  <a:stretch>
                    <a:fillRect/>
                  </a:stretch>
                </a:blipFill>
              </p:spPr>
              <p:txBody>
                <a:bodyPr/>
                <a:lstStyle/>
                <a:p>
                  <a:r>
                    <a:rPr lang="en-US">
                      <a:noFill/>
                    </a:rPr>
                    <a:t> </a:t>
                  </a:r>
                </a:p>
              </p:txBody>
            </p:sp>
          </mc:Fallback>
        </mc:AlternateContent>
        <p:grpSp>
          <p:nvGrpSpPr>
            <p:cNvPr id="20" name="Group 19">
              <a:extLst>
                <a:ext uri="{FF2B5EF4-FFF2-40B4-BE49-F238E27FC236}">
                  <a16:creationId xmlns:a16="http://schemas.microsoft.com/office/drawing/2014/main" id="{47B1A6F9-82F9-3E32-0735-53F94F766A5E}"/>
                </a:ext>
              </a:extLst>
            </p:cNvPr>
            <p:cNvGrpSpPr/>
            <p:nvPr/>
          </p:nvGrpSpPr>
          <p:grpSpPr>
            <a:xfrm>
              <a:off x="3899268" y="1756747"/>
              <a:ext cx="2140164" cy="3502111"/>
              <a:chOff x="18099230" y="34819760"/>
              <a:chExt cx="3028992" cy="6027799"/>
            </a:xfrm>
          </p:grpSpPr>
          <p:sp>
            <p:nvSpPr>
              <p:cNvPr id="39" name="Oval 38">
                <a:extLst>
                  <a:ext uri="{FF2B5EF4-FFF2-40B4-BE49-F238E27FC236}">
                    <a16:creationId xmlns:a16="http://schemas.microsoft.com/office/drawing/2014/main" id="{12887B57-B813-8F70-603C-DF1599857914}"/>
                  </a:ext>
                </a:extLst>
              </p:cNvPr>
              <p:cNvSpPr/>
              <p:nvPr/>
            </p:nvSpPr>
            <p:spPr>
              <a:xfrm>
                <a:off x="18426981" y="36858842"/>
                <a:ext cx="672826" cy="707419"/>
              </a:xfrm>
              <a:prstGeom prst="ellipse">
                <a:avLst/>
              </a:prstGeom>
              <a:gradFill flip="none" rotWithShape="1">
                <a:gsLst>
                  <a:gs pos="0">
                    <a:schemeClr val="tx2">
                      <a:tint val="66000"/>
                      <a:satMod val="160000"/>
                    </a:schemeClr>
                  </a:gs>
                  <a:gs pos="50000">
                    <a:schemeClr val="tx2">
                      <a:tint val="44500"/>
                      <a:satMod val="160000"/>
                    </a:schemeClr>
                  </a:gs>
                  <a:gs pos="100000">
                    <a:schemeClr val="tx2">
                      <a:tint val="23500"/>
                      <a:satMod val="160000"/>
                    </a:schemeClr>
                  </a:gs>
                </a:gsLst>
                <a:lin ang="10800000" scaled="1"/>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60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0" name="Oval 39">
                <a:extLst>
                  <a:ext uri="{FF2B5EF4-FFF2-40B4-BE49-F238E27FC236}">
                    <a16:creationId xmlns:a16="http://schemas.microsoft.com/office/drawing/2014/main" id="{A5703CB2-27F7-B2E6-219B-5B95A4AB99F1}"/>
                  </a:ext>
                </a:extLst>
              </p:cNvPr>
              <p:cNvSpPr/>
              <p:nvPr/>
            </p:nvSpPr>
            <p:spPr>
              <a:xfrm>
                <a:off x="19582540" y="36862128"/>
                <a:ext cx="672826" cy="707419"/>
              </a:xfrm>
              <a:prstGeom prst="ellipse">
                <a:avLst/>
              </a:prstGeom>
              <a:gradFill flip="none" rotWithShape="1">
                <a:gsLst>
                  <a:gs pos="0">
                    <a:schemeClr val="tx2">
                      <a:tint val="66000"/>
                      <a:satMod val="160000"/>
                    </a:schemeClr>
                  </a:gs>
                  <a:gs pos="50000">
                    <a:schemeClr val="tx2">
                      <a:tint val="44500"/>
                      <a:satMod val="160000"/>
                    </a:schemeClr>
                  </a:gs>
                  <a:gs pos="100000">
                    <a:schemeClr val="tx2">
                      <a:tint val="23500"/>
                      <a:satMod val="160000"/>
                    </a:schemeClr>
                  </a:gs>
                </a:gsLst>
                <a:lin ang="10800000" scaled="1"/>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600">
                  <a:latin typeface="Helvetica Neue" panose="02000503000000020004" pitchFamily="2" charset="0"/>
                  <a:ea typeface="Helvetica Neue" panose="02000503000000020004" pitchFamily="2" charset="0"/>
                  <a:cs typeface="Helvetica Neue" panose="02000503000000020004" pitchFamily="2" charset="0"/>
                </a:endParaRPr>
              </a:p>
            </p:txBody>
          </p:sp>
          <p:cxnSp>
            <p:nvCxnSpPr>
              <p:cNvPr id="41" name="Straight Arrow Connector 40">
                <a:extLst>
                  <a:ext uri="{FF2B5EF4-FFF2-40B4-BE49-F238E27FC236}">
                    <a16:creationId xmlns:a16="http://schemas.microsoft.com/office/drawing/2014/main" id="{E41F6DC6-A704-E807-E2F0-268CED338B53}"/>
                  </a:ext>
                </a:extLst>
              </p:cNvPr>
              <p:cNvCxnSpPr>
                <a:cxnSpLocks/>
                <a:stCxn id="39" idx="6"/>
                <a:endCxn id="40" idx="2"/>
              </p:cNvCxnSpPr>
              <p:nvPr/>
            </p:nvCxnSpPr>
            <p:spPr>
              <a:xfrm>
                <a:off x="19099805" y="37212552"/>
                <a:ext cx="482734" cy="3285"/>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7B15CA21-0D72-5AAA-E75A-30858C8EF0F2}"/>
                      </a:ext>
                    </a:extLst>
                  </p:cNvPr>
                  <p:cNvSpPr txBox="1"/>
                  <p:nvPr/>
                </p:nvSpPr>
                <p:spPr>
                  <a:xfrm>
                    <a:off x="18446683" y="36686878"/>
                    <a:ext cx="443581" cy="90629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i="1" dirty="0" smtClean="0">
                                  <a:latin typeface="Cambria Math" panose="02040503050406030204" pitchFamily="18" charset="0"/>
                                </a:rPr>
                              </m:ctrlPr>
                            </m:sSubPr>
                            <m:e>
                              <m:r>
                                <a:rPr lang="en-US" sz="1600" i="1" dirty="0">
                                  <a:latin typeface="Cambria Math" panose="02040503050406030204" pitchFamily="18" charset="0"/>
                                </a:rPr>
                                <m:t>𝑐</m:t>
                              </m:r>
                            </m:e>
                            <m:sub>
                              <m:sSub>
                                <m:sSubPr>
                                  <m:ctrlPr>
                                    <a:rPr lang="en-US" sz="1600" i="1" dirty="0">
                                      <a:latin typeface="Cambria Math" panose="02040503050406030204" pitchFamily="18" charset="0"/>
                                    </a:rPr>
                                  </m:ctrlPr>
                                </m:sSubPr>
                                <m:e>
                                  <m:r>
                                    <a:rPr lang="en-CA" sz="1600" i="1" dirty="0">
                                      <a:latin typeface="Cambria Math" panose="02040503050406030204" pitchFamily="18" charset="0"/>
                                    </a:rPr>
                                    <m:t>𝑖</m:t>
                                  </m:r>
                                </m:e>
                                <m:sub>
                                  <m:r>
                                    <a:rPr lang="en-US" sz="1600" i="1" dirty="0">
                                      <a:latin typeface="Cambria Math" panose="02040503050406030204" pitchFamily="18" charset="0"/>
                                    </a:rPr>
                                    <m:t>1</m:t>
                                  </m:r>
                                </m:sub>
                              </m:sSub>
                            </m:sub>
                          </m:sSub>
                        </m:oMath>
                      </m:oMathPara>
                    </a14:m>
                    <a:endParaRPr lang="en-CA" sz="2400" dirty="0">
                      <a:latin typeface="Helvetica Neue" panose="02000503000000020004" pitchFamily="2" charset="0"/>
                      <a:ea typeface="Helvetica Neue" panose="02000503000000020004" pitchFamily="2" charset="0"/>
                      <a:cs typeface="Helvetica Neue" panose="02000503000000020004" pitchFamily="2" charset="0"/>
                    </a:endParaRPr>
                  </a:p>
                </p:txBody>
              </p:sp>
            </mc:Choice>
            <mc:Fallback xmlns="">
              <p:sp>
                <p:nvSpPr>
                  <p:cNvPr id="42" name="TextBox 41">
                    <a:extLst>
                      <a:ext uri="{FF2B5EF4-FFF2-40B4-BE49-F238E27FC236}">
                        <a16:creationId xmlns:a16="http://schemas.microsoft.com/office/drawing/2014/main" id="{7B15CA21-0D72-5AAA-E75A-30858C8EF0F2}"/>
                      </a:ext>
                    </a:extLst>
                  </p:cNvPr>
                  <p:cNvSpPr txBox="1">
                    <a:spLocks noRot="1" noChangeAspect="1" noMove="1" noResize="1" noEditPoints="1" noAdjustHandles="1" noChangeArrowheads="1" noChangeShapeType="1" noTextEdit="1"/>
                  </p:cNvSpPr>
                  <p:nvPr/>
                </p:nvSpPr>
                <p:spPr>
                  <a:xfrm>
                    <a:off x="18446683" y="36686878"/>
                    <a:ext cx="443581" cy="906292"/>
                  </a:xfrm>
                  <a:prstGeom prst="rect">
                    <a:avLst/>
                  </a:prstGeom>
                  <a:blipFill>
                    <a:blip r:embed="rId10"/>
                    <a:stretch>
                      <a:fillRect r="-33333"/>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33BDD3B7-9F35-8245-5F4A-AC400528632F}"/>
                      </a:ext>
                    </a:extLst>
                  </p:cNvPr>
                  <p:cNvSpPr txBox="1"/>
                  <p:nvPr/>
                </p:nvSpPr>
                <p:spPr>
                  <a:xfrm>
                    <a:off x="19604518" y="36686878"/>
                    <a:ext cx="443581" cy="90629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i="1" dirty="0" smtClean="0">
                                  <a:latin typeface="Cambria Math" panose="02040503050406030204" pitchFamily="18" charset="0"/>
                                </a:rPr>
                              </m:ctrlPr>
                            </m:sSubPr>
                            <m:e>
                              <m:r>
                                <a:rPr lang="en-US" sz="1600" i="1" dirty="0">
                                  <a:latin typeface="Cambria Math" panose="02040503050406030204" pitchFamily="18" charset="0"/>
                                </a:rPr>
                                <m:t>𝑐</m:t>
                              </m:r>
                            </m:e>
                            <m:sub>
                              <m:sSub>
                                <m:sSubPr>
                                  <m:ctrlPr>
                                    <a:rPr lang="en-US" sz="1600" i="1" dirty="0">
                                      <a:latin typeface="Cambria Math" panose="02040503050406030204" pitchFamily="18" charset="0"/>
                                    </a:rPr>
                                  </m:ctrlPr>
                                </m:sSubPr>
                                <m:e>
                                  <m:r>
                                    <a:rPr lang="en-CA" sz="1600" b="0" i="1" dirty="0" smtClean="0">
                                      <a:latin typeface="Cambria Math" panose="02040503050406030204" pitchFamily="18" charset="0"/>
                                    </a:rPr>
                                    <m:t>𝑗</m:t>
                                  </m:r>
                                </m:e>
                                <m:sub>
                                  <m:r>
                                    <a:rPr lang="en-US" sz="1600" i="1" dirty="0">
                                      <a:latin typeface="Cambria Math" panose="02040503050406030204" pitchFamily="18" charset="0"/>
                                    </a:rPr>
                                    <m:t>1</m:t>
                                  </m:r>
                                </m:sub>
                              </m:sSub>
                            </m:sub>
                          </m:sSub>
                        </m:oMath>
                      </m:oMathPara>
                    </a14:m>
                    <a:endParaRPr lang="en-CA" sz="2400" dirty="0">
                      <a:latin typeface="Helvetica Neue" panose="02000503000000020004" pitchFamily="2" charset="0"/>
                      <a:ea typeface="Helvetica Neue" panose="02000503000000020004" pitchFamily="2" charset="0"/>
                      <a:cs typeface="Helvetica Neue" panose="02000503000000020004" pitchFamily="2" charset="0"/>
                    </a:endParaRPr>
                  </a:p>
                </p:txBody>
              </p:sp>
            </mc:Choice>
            <mc:Fallback xmlns="">
              <p:sp>
                <p:nvSpPr>
                  <p:cNvPr id="43" name="TextBox 42">
                    <a:extLst>
                      <a:ext uri="{FF2B5EF4-FFF2-40B4-BE49-F238E27FC236}">
                        <a16:creationId xmlns:a16="http://schemas.microsoft.com/office/drawing/2014/main" id="{33BDD3B7-9F35-8245-5F4A-AC400528632F}"/>
                      </a:ext>
                    </a:extLst>
                  </p:cNvPr>
                  <p:cNvSpPr txBox="1">
                    <a:spLocks noRot="1" noChangeAspect="1" noMove="1" noResize="1" noEditPoints="1" noAdjustHandles="1" noChangeArrowheads="1" noChangeShapeType="1" noTextEdit="1"/>
                  </p:cNvSpPr>
                  <p:nvPr/>
                </p:nvSpPr>
                <p:spPr>
                  <a:xfrm>
                    <a:off x="19604518" y="36686878"/>
                    <a:ext cx="443581" cy="906292"/>
                  </a:xfrm>
                  <a:prstGeom prst="rect">
                    <a:avLst/>
                  </a:prstGeom>
                  <a:blipFill>
                    <a:blip r:embed="rId11"/>
                    <a:stretch>
                      <a:fillRect r="-28571" b="-3333"/>
                    </a:stretch>
                  </a:blipFill>
                </p:spPr>
                <p:txBody>
                  <a:bodyPr/>
                  <a:lstStyle/>
                  <a:p>
                    <a:r>
                      <a:rPr lang="en-CA">
                        <a:noFill/>
                      </a:rPr>
                      <a:t> </a:t>
                    </a:r>
                  </a:p>
                </p:txBody>
              </p:sp>
            </mc:Fallback>
          </mc:AlternateContent>
          <p:sp>
            <p:nvSpPr>
              <p:cNvPr id="44" name="TextBox 43">
                <a:extLst>
                  <a:ext uri="{FF2B5EF4-FFF2-40B4-BE49-F238E27FC236}">
                    <a16:creationId xmlns:a16="http://schemas.microsoft.com/office/drawing/2014/main" id="{E977FED9-4E57-39D5-FD0B-F41BDDCCEDCD}"/>
                  </a:ext>
                </a:extLst>
              </p:cNvPr>
              <p:cNvSpPr txBox="1"/>
              <p:nvPr/>
            </p:nvSpPr>
            <p:spPr>
              <a:xfrm>
                <a:off x="18099230" y="38133529"/>
                <a:ext cx="3028992" cy="2714030"/>
              </a:xfrm>
              <a:prstGeom prst="rect">
                <a:avLst/>
              </a:prstGeom>
              <a:noFill/>
            </p:spPr>
            <p:txBody>
              <a:bodyPr wrap="square" rtlCol="0">
                <a:spAutoFit/>
              </a:bodyPr>
              <a:lstStyle/>
              <a:p>
                <a:r>
                  <a:rPr lang="en-CA" sz="1600" dirty="0">
                    <a:latin typeface="Helvetica Neue" panose="02000503000000020004" pitchFamily="2" charset="0"/>
                    <a:ea typeface="Helvetica Neue" panose="02000503000000020004" pitchFamily="2" charset="0"/>
                    <a:cs typeface="Helvetica Neue" panose="02000503000000020004" pitchFamily="2" charset="0"/>
                  </a:rPr>
                  <a:t>All 1-clip transitions with others unchanged</a:t>
                </a:r>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56A76258-33CF-9780-D416-397005CE5A59}"/>
                      </a:ext>
                    </a:extLst>
                  </p:cNvPr>
                  <p:cNvSpPr txBox="1"/>
                  <p:nvPr/>
                </p:nvSpPr>
                <p:spPr>
                  <a:xfrm>
                    <a:off x="18891007" y="34819760"/>
                    <a:ext cx="672822" cy="109708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sz="1600" i="1" dirty="0" smtClean="0">
                                  <a:latin typeface="Cambria Math" panose="02040503050406030204" pitchFamily="18" charset="0"/>
                                </a:rPr>
                              </m:ctrlPr>
                            </m:sSubSupPr>
                            <m:e>
                              <m:r>
                                <a:rPr lang="en-US" sz="1600" i="1" dirty="0">
                                  <a:latin typeface="Cambria Math" panose="02040503050406030204" pitchFamily="18" charset="0"/>
                                </a:rPr>
                                <m:t>h</m:t>
                              </m:r>
                            </m:e>
                            <m:sub>
                              <m:r>
                                <a:rPr lang="en-US" sz="1600" b="0" i="1" dirty="0" smtClean="0">
                                  <a:latin typeface="Cambria Math" panose="02040503050406030204" pitchFamily="18" charset="0"/>
                                </a:rPr>
                                <m:t>(</m:t>
                              </m:r>
                              <m:r>
                                <a:rPr lang="en-US" sz="1600" i="1" dirty="0">
                                  <a:latin typeface="Cambria Math" panose="02040503050406030204" pitchFamily="18" charset="0"/>
                                </a:rPr>
                                <m:t>1</m:t>
                              </m:r>
                              <m:r>
                                <a:rPr lang="en-US" sz="1600" b="0" i="1" dirty="0" smtClean="0">
                                  <a:latin typeface="Cambria Math" panose="02040503050406030204" pitchFamily="18" charset="0"/>
                                </a:rPr>
                                <m:t>, 1)</m:t>
                              </m:r>
                            </m:sub>
                            <m:sup>
                              <m:d>
                                <m:dPr>
                                  <m:ctrlPr>
                                    <a:rPr lang="en-US" sz="1600" i="1" dirty="0">
                                      <a:latin typeface="Cambria Math" panose="02040503050406030204" pitchFamily="18" charset="0"/>
                                    </a:rPr>
                                  </m:ctrlPr>
                                </m:dPr>
                                <m:e>
                                  <m:r>
                                    <a:rPr lang="en-CA" sz="1600" b="0" i="1" dirty="0" smtClean="0">
                                      <a:latin typeface="Cambria Math" panose="02040503050406030204" pitchFamily="18" charset="0"/>
                                    </a:rPr>
                                    <m:t>𝑡</m:t>
                                  </m:r>
                                </m:e>
                              </m:d>
                            </m:sup>
                          </m:sSubSup>
                        </m:oMath>
                      </m:oMathPara>
                    </a14:m>
                    <a:endParaRPr lang="en-CA" sz="2400" dirty="0">
                      <a:latin typeface="Helvetica Neue" panose="02000503000000020004" pitchFamily="2" charset="0"/>
                      <a:ea typeface="Helvetica Neue" panose="02000503000000020004" pitchFamily="2" charset="0"/>
                      <a:cs typeface="Helvetica Neue" panose="02000503000000020004" pitchFamily="2" charset="0"/>
                    </a:endParaRPr>
                  </a:p>
                </p:txBody>
              </p:sp>
            </mc:Choice>
            <mc:Fallback xmlns="">
              <p:sp>
                <p:nvSpPr>
                  <p:cNvPr id="45" name="TextBox 44">
                    <a:extLst>
                      <a:ext uri="{FF2B5EF4-FFF2-40B4-BE49-F238E27FC236}">
                        <a16:creationId xmlns:a16="http://schemas.microsoft.com/office/drawing/2014/main" id="{56A76258-33CF-9780-D416-397005CE5A59}"/>
                      </a:ext>
                    </a:extLst>
                  </p:cNvPr>
                  <p:cNvSpPr txBox="1">
                    <a:spLocks noRot="1" noChangeAspect="1" noMove="1" noResize="1" noEditPoints="1" noAdjustHandles="1" noChangeArrowheads="1" noChangeShapeType="1" noTextEdit="1"/>
                  </p:cNvSpPr>
                  <p:nvPr/>
                </p:nvSpPr>
                <p:spPr>
                  <a:xfrm>
                    <a:off x="18891007" y="34819760"/>
                    <a:ext cx="672822" cy="1097082"/>
                  </a:xfrm>
                  <a:prstGeom prst="rect">
                    <a:avLst/>
                  </a:prstGeom>
                  <a:blipFill>
                    <a:blip r:embed="rId12"/>
                    <a:stretch>
                      <a:fillRect r="-50000" b="-5714"/>
                    </a:stretch>
                  </a:blipFill>
                </p:spPr>
                <p:txBody>
                  <a:bodyPr/>
                  <a:lstStyle/>
                  <a:p>
                    <a:r>
                      <a:rPr lang="en-CA">
                        <a:noFill/>
                      </a:rPr>
                      <a:t> </a:t>
                    </a:r>
                  </a:p>
                </p:txBody>
              </p:sp>
            </mc:Fallback>
          </mc:AlternateContent>
          <p:sp>
            <p:nvSpPr>
              <p:cNvPr id="46" name="Right Brace 45">
                <a:extLst>
                  <a:ext uri="{FF2B5EF4-FFF2-40B4-BE49-F238E27FC236}">
                    <a16:creationId xmlns:a16="http://schemas.microsoft.com/office/drawing/2014/main" id="{61911DD4-E124-F6A2-6048-B869BE063727}"/>
                  </a:ext>
                </a:extLst>
              </p:cNvPr>
              <p:cNvSpPr/>
              <p:nvPr/>
            </p:nvSpPr>
            <p:spPr>
              <a:xfrm rot="5400000">
                <a:off x="19225144" y="37254427"/>
                <a:ext cx="223896" cy="1120475"/>
              </a:xfrm>
              <a:prstGeom prst="rightBrace">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CA" sz="1600" dirty="0">
                  <a:latin typeface="Helvetica Neue" panose="02000503000000020004" pitchFamily="2" charset="0"/>
                  <a:ea typeface="Helvetica Neue" panose="02000503000000020004" pitchFamily="2" charset="0"/>
                  <a:cs typeface="Helvetica Neue" panose="02000503000000020004" pitchFamily="2" charset="0"/>
                </a:endParaRPr>
              </a:p>
            </p:txBody>
          </p:sp>
        </p:grpSp>
        <p:grpSp>
          <p:nvGrpSpPr>
            <p:cNvPr id="21" name="Group 20">
              <a:extLst>
                <a:ext uri="{FF2B5EF4-FFF2-40B4-BE49-F238E27FC236}">
                  <a16:creationId xmlns:a16="http://schemas.microsoft.com/office/drawing/2014/main" id="{C6CC91A5-4EA2-78FB-3C05-F05AB867D203}"/>
                </a:ext>
              </a:extLst>
            </p:cNvPr>
            <p:cNvGrpSpPr/>
            <p:nvPr/>
          </p:nvGrpSpPr>
          <p:grpSpPr>
            <a:xfrm>
              <a:off x="6169170" y="1750791"/>
              <a:ext cx="2261557" cy="3564548"/>
              <a:chOff x="22367354" y="34838846"/>
              <a:chExt cx="3200800" cy="6135265"/>
            </a:xfrm>
          </p:grpSpPr>
          <p:sp>
            <p:nvSpPr>
              <p:cNvPr id="25" name="Oval 24">
                <a:extLst>
                  <a:ext uri="{FF2B5EF4-FFF2-40B4-BE49-F238E27FC236}">
                    <a16:creationId xmlns:a16="http://schemas.microsoft.com/office/drawing/2014/main" id="{6CA682E2-38B6-132A-5DDF-5ABAF1BC79FF}"/>
                  </a:ext>
                </a:extLst>
              </p:cNvPr>
              <p:cNvSpPr/>
              <p:nvPr/>
            </p:nvSpPr>
            <p:spPr>
              <a:xfrm>
                <a:off x="22574907" y="37273855"/>
                <a:ext cx="672825" cy="707419"/>
              </a:xfrm>
              <a:prstGeom prst="ellipse">
                <a:avLst/>
              </a:prstGeom>
              <a:gradFill flip="none" rotWithShape="1">
                <a:gsLst>
                  <a:gs pos="0">
                    <a:schemeClr val="tx2">
                      <a:tint val="66000"/>
                      <a:satMod val="160000"/>
                    </a:schemeClr>
                  </a:gs>
                  <a:gs pos="50000">
                    <a:schemeClr val="tx2">
                      <a:tint val="44500"/>
                      <a:satMod val="160000"/>
                    </a:schemeClr>
                  </a:gs>
                  <a:gs pos="100000">
                    <a:schemeClr val="tx2">
                      <a:tint val="23500"/>
                      <a:satMod val="160000"/>
                    </a:schemeClr>
                  </a:gs>
                </a:gsLst>
                <a:lin ang="10800000" scaled="1"/>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60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26" name="Oval 25">
                <a:extLst>
                  <a:ext uri="{FF2B5EF4-FFF2-40B4-BE49-F238E27FC236}">
                    <a16:creationId xmlns:a16="http://schemas.microsoft.com/office/drawing/2014/main" id="{06B96F31-8097-E8D4-05EE-C61A654CD836}"/>
                  </a:ext>
                </a:extLst>
              </p:cNvPr>
              <p:cNvSpPr/>
              <p:nvPr/>
            </p:nvSpPr>
            <p:spPr>
              <a:xfrm>
                <a:off x="22574907" y="36308796"/>
                <a:ext cx="672825" cy="707419"/>
              </a:xfrm>
              <a:prstGeom prst="ellipse">
                <a:avLst/>
              </a:prstGeom>
              <a:gradFill flip="none" rotWithShape="1">
                <a:gsLst>
                  <a:gs pos="0">
                    <a:schemeClr val="tx2">
                      <a:tint val="66000"/>
                      <a:satMod val="160000"/>
                    </a:schemeClr>
                  </a:gs>
                  <a:gs pos="50000">
                    <a:schemeClr val="tx2">
                      <a:tint val="44500"/>
                      <a:satMod val="160000"/>
                    </a:schemeClr>
                  </a:gs>
                  <a:gs pos="100000">
                    <a:schemeClr val="tx2">
                      <a:tint val="23500"/>
                      <a:satMod val="160000"/>
                    </a:schemeClr>
                  </a:gs>
                </a:gsLst>
                <a:lin ang="10800000" scaled="1"/>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60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27" name="Oval 26">
                <a:extLst>
                  <a:ext uri="{FF2B5EF4-FFF2-40B4-BE49-F238E27FC236}">
                    <a16:creationId xmlns:a16="http://schemas.microsoft.com/office/drawing/2014/main" id="{94118906-195F-53C6-C27E-3B5362C4A3DE}"/>
                  </a:ext>
                </a:extLst>
              </p:cNvPr>
              <p:cNvSpPr/>
              <p:nvPr/>
            </p:nvSpPr>
            <p:spPr>
              <a:xfrm>
                <a:off x="24086868" y="37264276"/>
                <a:ext cx="672825" cy="707419"/>
              </a:xfrm>
              <a:prstGeom prst="ellipse">
                <a:avLst/>
              </a:prstGeom>
              <a:gradFill flip="none" rotWithShape="1">
                <a:gsLst>
                  <a:gs pos="0">
                    <a:schemeClr val="tx2">
                      <a:tint val="66000"/>
                      <a:satMod val="160000"/>
                    </a:schemeClr>
                  </a:gs>
                  <a:gs pos="50000">
                    <a:schemeClr val="tx2">
                      <a:tint val="44500"/>
                      <a:satMod val="160000"/>
                    </a:schemeClr>
                  </a:gs>
                  <a:gs pos="100000">
                    <a:schemeClr val="tx2">
                      <a:tint val="23500"/>
                      <a:satMod val="160000"/>
                    </a:schemeClr>
                  </a:gs>
                </a:gsLst>
                <a:lin ang="10800000" scaled="1"/>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60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28" name="Oval 27">
                <a:extLst>
                  <a:ext uri="{FF2B5EF4-FFF2-40B4-BE49-F238E27FC236}">
                    <a16:creationId xmlns:a16="http://schemas.microsoft.com/office/drawing/2014/main" id="{833F0427-6EE1-D29E-7B9E-BE76099D1D8B}"/>
                  </a:ext>
                </a:extLst>
              </p:cNvPr>
              <p:cNvSpPr/>
              <p:nvPr/>
            </p:nvSpPr>
            <p:spPr>
              <a:xfrm>
                <a:off x="24086868" y="36280794"/>
                <a:ext cx="672825" cy="707419"/>
              </a:xfrm>
              <a:prstGeom prst="ellipse">
                <a:avLst/>
              </a:prstGeom>
              <a:gradFill flip="none" rotWithShape="1">
                <a:gsLst>
                  <a:gs pos="0">
                    <a:schemeClr val="tx2">
                      <a:tint val="66000"/>
                      <a:satMod val="160000"/>
                    </a:schemeClr>
                  </a:gs>
                  <a:gs pos="50000">
                    <a:schemeClr val="tx2">
                      <a:tint val="44500"/>
                      <a:satMod val="160000"/>
                    </a:schemeClr>
                  </a:gs>
                  <a:gs pos="100000">
                    <a:schemeClr val="tx2">
                      <a:tint val="23500"/>
                      <a:satMod val="160000"/>
                    </a:schemeClr>
                  </a:gs>
                </a:gsLst>
                <a:lin ang="10800000" scaled="1"/>
                <a:tileRect/>
              </a:gra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60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29" name="Oval 28">
                <a:extLst>
                  <a:ext uri="{FF2B5EF4-FFF2-40B4-BE49-F238E27FC236}">
                    <a16:creationId xmlns:a16="http://schemas.microsoft.com/office/drawing/2014/main" id="{99CEA0DD-ABFB-E48E-9F6C-E9347F7D283B}"/>
                  </a:ext>
                </a:extLst>
              </p:cNvPr>
              <p:cNvSpPr/>
              <p:nvPr/>
            </p:nvSpPr>
            <p:spPr>
              <a:xfrm>
                <a:off x="22412794" y="36062726"/>
                <a:ext cx="983974" cy="2195747"/>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60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30" name="Oval 29">
                <a:extLst>
                  <a:ext uri="{FF2B5EF4-FFF2-40B4-BE49-F238E27FC236}">
                    <a16:creationId xmlns:a16="http://schemas.microsoft.com/office/drawing/2014/main" id="{E2E5C93A-9421-3878-703B-C3341C49A67D}"/>
                  </a:ext>
                </a:extLst>
              </p:cNvPr>
              <p:cNvSpPr/>
              <p:nvPr/>
            </p:nvSpPr>
            <p:spPr>
              <a:xfrm>
                <a:off x="23918288" y="36062726"/>
                <a:ext cx="983974" cy="2195747"/>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sz="1600">
                  <a:latin typeface="Helvetica Neue" panose="02000503000000020004" pitchFamily="2" charset="0"/>
                  <a:ea typeface="Helvetica Neue" panose="02000503000000020004" pitchFamily="2" charset="0"/>
                  <a:cs typeface="Helvetica Neue" panose="02000503000000020004" pitchFamily="2" charset="0"/>
                </a:endParaRPr>
              </a:p>
            </p:txBody>
          </p:sp>
          <p:cxnSp>
            <p:nvCxnSpPr>
              <p:cNvPr id="31" name="Straight Arrow Connector 30">
                <a:extLst>
                  <a:ext uri="{FF2B5EF4-FFF2-40B4-BE49-F238E27FC236}">
                    <a16:creationId xmlns:a16="http://schemas.microsoft.com/office/drawing/2014/main" id="{3684A6E8-3CDB-4180-9FEB-CF51BEC4163B}"/>
                  </a:ext>
                </a:extLst>
              </p:cNvPr>
              <p:cNvCxnSpPr>
                <a:cxnSpLocks/>
              </p:cNvCxnSpPr>
              <p:nvPr/>
            </p:nvCxnSpPr>
            <p:spPr>
              <a:xfrm>
                <a:off x="23416161" y="37128292"/>
                <a:ext cx="482734" cy="3285"/>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F92666C2-4010-BB03-AB59-B93DFBA2F258}"/>
                      </a:ext>
                    </a:extLst>
                  </p:cNvPr>
                  <p:cNvSpPr txBox="1"/>
                  <p:nvPr/>
                </p:nvSpPr>
                <p:spPr>
                  <a:xfrm>
                    <a:off x="22613451" y="36101737"/>
                    <a:ext cx="443583" cy="90629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i="1" dirty="0" smtClean="0">
                                  <a:latin typeface="Cambria Math" panose="02040503050406030204" pitchFamily="18" charset="0"/>
                                </a:rPr>
                              </m:ctrlPr>
                            </m:sSubPr>
                            <m:e>
                              <m:r>
                                <a:rPr lang="en-US" sz="1600" i="1" dirty="0">
                                  <a:latin typeface="Cambria Math" panose="02040503050406030204" pitchFamily="18" charset="0"/>
                                </a:rPr>
                                <m:t>𝑐</m:t>
                              </m:r>
                            </m:e>
                            <m:sub>
                              <m:sSub>
                                <m:sSubPr>
                                  <m:ctrlPr>
                                    <a:rPr lang="en-US" sz="1600" i="1" dirty="0">
                                      <a:latin typeface="Cambria Math" panose="02040503050406030204" pitchFamily="18" charset="0"/>
                                    </a:rPr>
                                  </m:ctrlPr>
                                </m:sSubPr>
                                <m:e>
                                  <m:r>
                                    <a:rPr lang="en-CA" sz="1600" i="1" dirty="0">
                                      <a:latin typeface="Cambria Math" panose="02040503050406030204" pitchFamily="18" charset="0"/>
                                    </a:rPr>
                                    <m:t>𝑖</m:t>
                                  </m:r>
                                </m:e>
                                <m:sub>
                                  <m:r>
                                    <a:rPr lang="en-US" sz="1600" i="1" dirty="0">
                                      <a:latin typeface="Cambria Math" panose="02040503050406030204" pitchFamily="18" charset="0"/>
                                    </a:rPr>
                                    <m:t>1</m:t>
                                  </m:r>
                                </m:sub>
                              </m:sSub>
                            </m:sub>
                          </m:sSub>
                        </m:oMath>
                      </m:oMathPara>
                    </a14:m>
                    <a:endParaRPr lang="en-CA" sz="2400" dirty="0">
                      <a:latin typeface="Helvetica Neue" panose="02000503000000020004" pitchFamily="2" charset="0"/>
                      <a:ea typeface="Helvetica Neue" panose="02000503000000020004" pitchFamily="2" charset="0"/>
                      <a:cs typeface="Helvetica Neue" panose="02000503000000020004" pitchFamily="2" charset="0"/>
                    </a:endParaRPr>
                  </a:p>
                </p:txBody>
              </p:sp>
            </mc:Choice>
            <mc:Fallback xmlns="">
              <p:sp>
                <p:nvSpPr>
                  <p:cNvPr id="32" name="TextBox 31">
                    <a:extLst>
                      <a:ext uri="{FF2B5EF4-FFF2-40B4-BE49-F238E27FC236}">
                        <a16:creationId xmlns:a16="http://schemas.microsoft.com/office/drawing/2014/main" id="{F92666C2-4010-BB03-AB59-B93DFBA2F258}"/>
                      </a:ext>
                    </a:extLst>
                  </p:cNvPr>
                  <p:cNvSpPr txBox="1">
                    <a:spLocks noRot="1" noChangeAspect="1" noMove="1" noResize="1" noEditPoints="1" noAdjustHandles="1" noChangeArrowheads="1" noChangeShapeType="1" noTextEdit="1"/>
                  </p:cNvSpPr>
                  <p:nvPr/>
                </p:nvSpPr>
                <p:spPr>
                  <a:xfrm>
                    <a:off x="22613451" y="36101737"/>
                    <a:ext cx="443583" cy="906292"/>
                  </a:xfrm>
                  <a:prstGeom prst="rect">
                    <a:avLst/>
                  </a:prstGeom>
                  <a:blipFill>
                    <a:blip r:embed="rId13"/>
                    <a:stretch>
                      <a:fillRect r="-33333"/>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21F67955-8C80-8F08-5DDB-C04415229820}"/>
                      </a:ext>
                    </a:extLst>
                  </p:cNvPr>
                  <p:cNvSpPr txBox="1"/>
                  <p:nvPr/>
                </p:nvSpPr>
                <p:spPr>
                  <a:xfrm>
                    <a:off x="22611903" y="37106190"/>
                    <a:ext cx="443583" cy="90629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i="1" dirty="0" smtClean="0">
                                  <a:latin typeface="Cambria Math" panose="02040503050406030204" pitchFamily="18" charset="0"/>
                                </a:rPr>
                              </m:ctrlPr>
                            </m:sSubPr>
                            <m:e>
                              <m:r>
                                <a:rPr lang="en-US" sz="1600" i="1" dirty="0">
                                  <a:latin typeface="Cambria Math" panose="02040503050406030204" pitchFamily="18" charset="0"/>
                                </a:rPr>
                                <m:t>𝑐</m:t>
                              </m:r>
                            </m:e>
                            <m:sub>
                              <m:sSub>
                                <m:sSubPr>
                                  <m:ctrlPr>
                                    <a:rPr lang="en-US" sz="1600" i="1" dirty="0">
                                      <a:latin typeface="Cambria Math" panose="02040503050406030204" pitchFamily="18" charset="0"/>
                                    </a:rPr>
                                  </m:ctrlPr>
                                </m:sSubPr>
                                <m:e>
                                  <m:r>
                                    <a:rPr lang="en-CA" sz="1600" i="1" dirty="0">
                                      <a:latin typeface="Cambria Math" panose="02040503050406030204" pitchFamily="18" charset="0"/>
                                    </a:rPr>
                                    <m:t>𝑖</m:t>
                                  </m:r>
                                </m:e>
                                <m:sub>
                                  <m:r>
                                    <a:rPr lang="en-CA" sz="1600" b="0" i="1" dirty="0" smtClean="0">
                                      <a:latin typeface="Cambria Math" panose="02040503050406030204" pitchFamily="18" charset="0"/>
                                    </a:rPr>
                                    <m:t>2</m:t>
                                  </m:r>
                                </m:sub>
                              </m:sSub>
                            </m:sub>
                          </m:sSub>
                        </m:oMath>
                      </m:oMathPara>
                    </a14:m>
                    <a:endParaRPr lang="en-CA" sz="2400" dirty="0">
                      <a:latin typeface="Helvetica Neue" panose="02000503000000020004" pitchFamily="2" charset="0"/>
                      <a:ea typeface="Helvetica Neue" panose="02000503000000020004" pitchFamily="2" charset="0"/>
                      <a:cs typeface="Helvetica Neue" panose="02000503000000020004" pitchFamily="2" charset="0"/>
                    </a:endParaRPr>
                  </a:p>
                </p:txBody>
              </p:sp>
            </mc:Choice>
            <mc:Fallback xmlns="">
              <p:sp>
                <p:nvSpPr>
                  <p:cNvPr id="33" name="TextBox 32">
                    <a:extLst>
                      <a:ext uri="{FF2B5EF4-FFF2-40B4-BE49-F238E27FC236}">
                        <a16:creationId xmlns:a16="http://schemas.microsoft.com/office/drawing/2014/main" id="{21F67955-8C80-8F08-5DDB-C04415229820}"/>
                      </a:ext>
                    </a:extLst>
                  </p:cNvPr>
                  <p:cNvSpPr txBox="1">
                    <a:spLocks noRot="1" noChangeAspect="1" noMove="1" noResize="1" noEditPoints="1" noAdjustHandles="1" noChangeArrowheads="1" noChangeShapeType="1" noTextEdit="1"/>
                  </p:cNvSpPr>
                  <p:nvPr/>
                </p:nvSpPr>
                <p:spPr>
                  <a:xfrm>
                    <a:off x="22611903" y="37106190"/>
                    <a:ext cx="443583" cy="906292"/>
                  </a:xfrm>
                  <a:prstGeom prst="rect">
                    <a:avLst/>
                  </a:prstGeom>
                  <a:blipFill>
                    <a:blip r:embed="rId14"/>
                    <a:stretch>
                      <a:fillRect r="-28571"/>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30AF4AA9-7744-E39C-C4B0-3EE938D19F37}"/>
                      </a:ext>
                    </a:extLst>
                  </p:cNvPr>
                  <p:cNvSpPr txBox="1"/>
                  <p:nvPr/>
                </p:nvSpPr>
                <p:spPr>
                  <a:xfrm>
                    <a:off x="24111786" y="36112034"/>
                    <a:ext cx="443583" cy="90629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i="1" dirty="0" smtClean="0">
                                  <a:latin typeface="Cambria Math" panose="02040503050406030204" pitchFamily="18" charset="0"/>
                                </a:rPr>
                              </m:ctrlPr>
                            </m:sSubPr>
                            <m:e>
                              <m:r>
                                <a:rPr lang="en-US" sz="1600" i="1" dirty="0">
                                  <a:latin typeface="Cambria Math" panose="02040503050406030204" pitchFamily="18" charset="0"/>
                                </a:rPr>
                                <m:t>𝑐</m:t>
                              </m:r>
                            </m:e>
                            <m:sub>
                              <m:sSub>
                                <m:sSubPr>
                                  <m:ctrlPr>
                                    <a:rPr lang="en-US" sz="1600" i="1" dirty="0">
                                      <a:latin typeface="Cambria Math" panose="02040503050406030204" pitchFamily="18" charset="0"/>
                                    </a:rPr>
                                  </m:ctrlPr>
                                </m:sSubPr>
                                <m:e>
                                  <m:r>
                                    <a:rPr lang="en-CA" sz="1600" b="0" i="1" dirty="0" smtClean="0">
                                      <a:latin typeface="Cambria Math" panose="02040503050406030204" pitchFamily="18" charset="0"/>
                                    </a:rPr>
                                    <m:t>𝑗</m:t>
                                  </m:r>
                                </m:e>
                                <m:sub>
                                  <m:r>
                                    <a:rPr lang="en-US" sz="1600" i="1" dirty="0">
                                      <a:latin typeface="Cambria Math" panose="02040503050406030204" pitchFamily="18" charset="0"/>
                                    </a:rPr>
                                    <m:t>1</m:t>
                                  </m:r>
                                </m:sub>
                              </m:sSub>
                            </m:sub>
                          </m:sSub>
                        </m:oMath>
                      </m:oMathPara>
                    </a14:m>
                    <a:endParaRPr lang="en-CA" sz="2400" dirty="0">
                      <a:latin typeface="Helvetica Neue" panose="02000503000000020004" pitchFamily="2" charset="0"/>
                      <a:ea typeface="Helvetica Neue" panose="02000503000000020004" pitchFamily="2" charset="0"/>
                      <a:cs typeface="Helvetica Neue" panose="02000503000000020004" pitchFamily="2" charset="0"/>
                    </a:endParaRPr>
                  </a:p>
                </p:txBody>
              </p:sp>
            </mc:Choice>
            <mc:Fallback xmlns="">
              <p:sp>
                <p:nvSpPr>
                  <p:cNvPr id="34" name="TextBox 33">
                    <a:extLst>
                      <a:ext uri="{FF2B5EF4-FFF2-40B4-BE49-F238E27FC236}">
                        <a16:creationId xmlns:a16="http://schemas.microsoft.com/office/drawing/2014/main" id="{30AF4AA9-7744-E39C-C4B0-3EE938D19F37}"/>
                      </a:ext>
                    </a:extLst>
                  </p:cNvPr>
                  <p:cNvSpPr txBox="1">
                    <a:spLocks noRot="1" noChangeAspect="1" noMove="1" noResize="1" noEditPoints="1" noAdjustHandles="1" noChangeArrowheads="1" noChangeShapeType="1" noTextEdit="1"/>
                  </p:cNvSpPr>
                  <p:nvPr/>
                </p:nvSpPr>
                <p:spPr>
                  <a:xfrm>
                    <a:off x="24111786" y="36112034"/>
                    <a:ext cx="443583" cy="906292"/>
                  </a:xfrm>
                  <a:prstGeom prst="rect">
                    <a:avLst/>
                  </a:prstGeom>
                  <a:blipFill>
                    <a:blip r:embed="rId15"/>
                    <a:stretch>
                      <a:fillRect r="-22727"/>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3D3932E-C129-3D9A-B056-E01E196AE0F9}"/>
                      </a:ext>
                    </a:extLst>
                  </p:cNvPr>
                  <p:cNvSpPr txBox="1"/>
                  <p:nvPr/>
                </p:nvSpPr>
                <p:spPr>
                  <a:xfrm>
                    <a:off x="24113124" y="37083052"/>
                    <a:ext cx="443583" cy="90629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i="1" dirty="0" smtClean="0">
                                  <a:latin typeface="Cambria Math" panose="02040503050406030204" pitchFamily="18" charset="0"/>
                                </a:rPr>
                              </m:ctrlPr>
                            </m:sSubPr>
                            <m:e>
                              <m:r>
                                <a:rPr lang="en-US" sz="1600" i="1" dirty="0">
                                  <a:latin typeface="Cambria Math" panose="02040503050406030204" pitchFamily="18" charset="0"/>
                                </a:rPr>
                                <m:t>𝑐</m:t>
                              </m:r>
                            </m:e>
                            <m:sub>
                              <m:sSub>
                                <m:sSubPr>
                                  <m:ctrlPr>
                                    <a:rPr lang="en-US" sz="1600" i="1" dirty="0">
                                      <a:latin typeface="Cambria Math" panose="02040503050406030204" pitchFamily="18" charset="0"/>
                                    </a:rPr>
                                  </m:ctrlPr>
                                </m:sSubPr>
                                <m:e>
                                  <m:r>
                                    <a:rPr lang="en-CA" sz="1600" b="0" i="1" dirty="0" smtClean="0">
                                      <a:latin typeface="Cambria Math" panose="02040503050406030204" pitchFamily="18" charset="0"/>
                                    </a:rPr>
                                    <m:t>𝑗</m:t>
                                  </m:r>
                                </m:e>
                                <m:sub>
                                  <m:r>
                                    <a:rPr lang="en-CA" sz="1600" b="0" i="1" dirty="0" smtClean="0">
                                      <a:latin typeface="Cambria Math" panose="02040503050406030204" pitchFamily="18" charset="0"/>
                                    </a:rPr>
                                    <m:t>2</m:t>
                                  </m:r>
                                </m:sub>
                              </m:sSub>
                            </m:sub>
                          </m:sSub>
                        </m:oMath>
                      </m:oMathPara>
                    </a14:m>
                    <a:endParaRPr lang="en-CA" sz="2400" dirty="0">
                      <a:latin typeface="Helvetica Neue" panose="02000503000000020004" pitchFamily="2" charset="0"/>
                      <a:ea typeface="Helvetica Neue" panose="02000503000000020004" pitchFamily="2" charset="0"/>
                      <a:cs typeface="Helvetica Neue" panose="02000503000000020004" pitchFamily="2" charset="0"/>
                    </a:endParaRPr>
                  </a:p>
                </p:txBody>
              </p:sp>
            </mc:Choice>
            <mc:Fallback xmlns="">
              <p:sp>
                <p:nvSpPr>
                  <p:cNvPr id="35" name="TextBox 34">
                    <a:extLst>
                      <a:ext uri="{FF2B5EF4-FFF2-40B4-BE49-F238E27FC236}">
                        <a16:creationId xmlns:a16="http://schemas.microsoft.com/office/drawing/2014/main" id="{73D3932E-C129-3D9A-B056-E01E196AE0F9}"/>
                      </a:ext>
                    </a:extLst>
                  </p:cNvPr>
                  <p:cNvSpPr txBox="1">
                    <a:spLocks noRot="1" noChangeAspect="1" noMove="1" noResize="1" noEditPoints="1" noAdjustHandles="1" noChangeArrowheads="1" noChangeShapeType="1" noTextEdit="1"/>
                  </p:cNvSpPr>
                  <p:nvPr/>
                </p:nvSpPr>
                <p:spPr>
                  <a:xfrm>
                    <a:off x="24113124" y="37083052"/>
                    <a:ext cx="443583" cy="906292"/>
                  </a:xfrm>
                  <a:prstGeom prst="rect">
                    <a:avLst/>
                  </a:prstGeom>
                  <a:blipFill>
                    <a:blip r:embed="rId16"/>
                    <a:stretch>
                      <a:fillRect r="-22727" b="-3448"/>
                    </a:stretch>
                  </a:blipFill>
                </p:spPr>
                <p:txBody>
                  <a:bodyPr/>
                  <a:lstStyle/>
                  <a:p>
                    <a:r>
                      <a:rPr lang="en-CA">
                        <a:noFill/>
                      </a:rPr>
                      <a:t> </a:t>
                    </a:r>
                  </a:p>
                </p:txBody>
              </p:sp>
            </mc:Fallback>
          </mc:AlternateContent>
          <p:sp>
            <p:nvSpPr>
              <p:cNvPr id="36" name="TextBox 35">
                <a:extLst>
                  <a:ext uri="{FF2B5EF4-FFF2-40B4-BE49-F238E27FC236}">
                    <a16:creationId xmlns:a16="http://schemas.microsoft.com/office/drawing/2014/main" id="{39FAFBC8-3BC9-40B2-2701-8B27FF842BB6}"/>
                  </a:ext>
                </a:extLst>
              </p:cNvPr>
              <p:cNvSpPr txBox="1"/>
              <p:nvPr/>
            </p:nvSpPr>
            <p:spPr>
              <a:xfrm>
                <a:off x="22367354" y="38880432"/>
                <a:ext cx="3200800" cy="2093679"/>
              </a:xfrm>
              <a:prstGeom prst="rect">
                <a:avLst/>
              </a:prstGeom>
              <a:noFill/>
            </p:spPr>
            <p:txBody>
              <a:bodyPr wrap="square" rtlCol="0">
                <a:spAutoFit/>
              </a:bodyPr>
              <a:lstStyle/>
              <a:p>
                <a:r>
                  <a:rPr lang="en-CA" sz="1600" dirty="0">
                    <a:latin typeface="Helvetica Neue" panose="02000503000000020004" pitchFamily="2" charset="0"/>
                    <a:ea typeface="Helvetica Neue" panose="02000503000000020004" pitchFamily="2" charset="0"/>
                    <a:cs typeface="Helvetica Neue" panose="02000503000000020004" pitchFamily="2" charset="0"/>
                  </a:rPr>
                  <a:t>All 2-clip transitions with others unchanged</a:t>
                </a: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8D52413D-580B-3840-FDBA-EDAF91AA83F9}"/>
                      </a:ext>
                    </a:extLst>
                  </p:cNvPr>
                  <p:cNvSpPr txBox="1"/>
                  <p:nvPr/>
                </p:nvSpPr>
                <p:spPr>
                  <a:xfrm>
                    <a:off x="23139118" y="34838846"/>
                    <a:ext cx="672824" cy="109708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sz="1600" i="1" dirty="0" smtClean="0">
                                  <a:latin typeface="Cambria Math" panose="02040503050406030204" pitchFamily="18" charset="0"/>
                                </a:rPr>
                              </m:ctrlPr>
                            </m:sSubSupPr>
                            <m:e>
                              <m:r>
                                <a:rPr lang="en-US" sz="1600" i="1" dirty="0">
                                  <a:latin typeface="Cambria Math" panose="02040503050406030204" pitchFamily="18" charset="0"/>
                                </a:rPr>
                                <m:t>h</m:t>
                              </m:r>
                            </m:e>
                            <m:sub>
                              <m:r>
                                <a:rPr lang="en-US" sz="1600" b="0" i="1" dirty="0" smtClean="0">
                                  <a:latin typeface="Cambria Math" panose="02040503050406030204" pitchFamily="18" charset="0"/>
                                </a:rPr>
                                <m:t>(</m:t>
                              </m:r>
                              <m:r>
                                <a:rPr lang="en-CA" sz="1600" b="0" i="1" dirty="0" smtClean="0">
                                  <a:latin typeface="Cambria Math" panose="02040503050406030204" pitchFamily="18" charset="0"/>
                                </a:rPr>
                                <m:t>2</m:t>
                              </m:r>
                              <m:r>
                                <a:rPr lang="en-US" sz="1600" b="0" i="1" dirty="0" smtClean="0">
                                  <a:latin typeface="Cambria Math" panose="02040503050406030204" pitchFamily="18" charset="0"/>
                                </a:rPr>
                                <m:t>, 2)</m:t>
                              </m:r>
                            </m:sub>
                            <m:sup>
                              <m:d>
                                <m:dPr>
                                  <m:ctrlPr>
                                    <a:rPr lang="en-US" sz="1600" i="1" dirty="0">
                                      <a:latin typeface="Cambria Math" panose="02040503050406030204" pitchFamily="18" charset="0"/>
                                    </a:rPr>
                                  </m:ctrlPr>
                                </m:dPr>
                                <m:e>
                                  <m:r>
                                    <a:rPr lang="en-CA" sz="1600" b="0" i="1" dirty="0" smtClean="0">
                                      <a:latin typeface="Cambria Math" panose="02040503050406030204" pitchFamily="18" charset="0"/>
                                    </a:rPr>
                                    <m:t>𝑡</m:t>
                                  </m:r>
                                </m:e>
                              </m:d>
                            </m:sup>
                          </m:sSubSup>
                        </m:oMath>
                      </m:oMathPara>
                    </a14:m>
                    <a:endParaRPr lang="en-CA" sz="2400" dirty="0">
                      <a:latin typeface="Helvetica Neue" panose="02000503000000020004" pitchFamily="2" charset="0"/>
                      <a:ea typeface="Helvetica Neue" panose="02000503000000020004" pitchFamily="2" charset="0"/>
                      <a:cs typeface="Helvetica Neue" panose="02000503000000020004" pitchFamily="2" charset="0"/>
                    </a:endParaRPr>
                  </a:p>
                </p:txBody>
              </p:sp>
            </mc:Choice>
            <mc:Fallback xmlns="">
              <p:sp>
                <p:nvSpPr>
                  <p:cNvPr id="37" name="TextBox 36">
                    <a:extLst>
                      <a:ext uri="{FF2B5EF4-FFF2-40B4-BE49-F238E27FC236}">
                        <a16:creationId xmlns:a16="http://schemas.microsoft.com/office/drawing/2014/main" id="{8D52413D-580B-3840-FDBA-EDAF91AA83F9}"/>
                      </a:ext>
                    </a:extLst>
                  </p:cNvPr>
                  <p:cNvSpPr txBox="1">
                    <a:spLocks noRot="1" noChangeAspect="1" noMove="1" noResize="1" noEditPoints="1" noAdjustHandles="1" noChangeArrowheads="1" noChangeShapeType="1" noTextEdit="1"/>
                  </p:cNvSpPr>
                  <p:nvPr/>
                </p:nvSpPr>
                <p:spPr>
                  <a:xfrm>
                    <a:off x="23139118" y="34838846"/>
                    <a:ext cx="672824" cy="1097082"/>
                  </a:xfrm>
                  <a:prstGeom prst="rect">
                    <a:avLst/>
                  </a:prstGeom>
                  <a:blipFill>
                    <a:blip r:embed="rId17"/>
                    <a:stretch>
                      <a:fillRect r="-54839" b="-5714"/>
                    </a:stretch>
                  </a:blipFill>
                </p:spPr>
                <p:txBody>
                  <a:bodyPr/>
                  <a:lstStyle/>
                  <a:p>
                    <a:r>
                      <a:rPr lang="en-CA">
                        <a:noFill/>
                      </a:rPr>
                      <a:t> </a:t>
                    </a:r>
                  </a:p>
                </p:txBody>
              </p:sp>
            </mc:Fallback>
          </mc:AlternateContent>
          <p:sp>
            <p:nvSpPr>
              <p:cNvPr id="38" name="Right Brace 37">
                <a:extLst>
                  <a:ext uri="{FF2B5EF4-FFF2-40B4-BE49-F238E27FC236}">
                    <a16:creationId xmlns:a16="http://schemas.microsoft.com/office/drawing/2014/main" id="{787857CA-0606-9C79-7C30-100B1019648C}"/>
                  </a:ext>
                </a:extLst>
              </p:cNvPr>
              <p:cNvSpPr/>
              <p:nvPr/>
            </p:nvSpPr>
            <p:spPr>
              <a:xfrm rot="5400000">
                <a:off x="23517548" y="37815804"/>
                <a:ext cx="311818" cy="1559602"/>
              </a:xfrm>
              <a:prstGeom prst="rightBrace">
                <a:avLst/>
              </a:pr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CA" sz="1600" dirty="0">
                  <a:latin typeface="Helvetica Neue" panose="02000503000000020004" pitchFamily="2" charset="0"/>
                  <a:ea typeface="Helvetica Neue" panose="02000503000000020004" pitchFamily="2" charset="0"/>
                  <a:cs typeface="Helvetica Neue" panose="02000503000000020004" pitchFamily="2" charset="0"/>
                </a:endParaRPr>
              </a:p>
            </p:txBody>
          </p:sp>
        </p:gr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E80A4F41-3A1E-F8CC-70B5-6291268776D1}"/>
                    </a:ext>
                  </a:extLst>
                </p:cNvPr>
                <p:cNvSpPr txBox="1"/>
                <p:nvPr/>
              </p:nvSpPr>
              <p:spPr>
                <a:xfrm>
                  <a:off x="8076723" y="2877335"/>
                  <a:ext cx="217401" cy="5406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A" b="0" i="1" smtClean="0">
                            <a:latin typeface="Cambria Math" panose="02040503050406030204" pitchFamily="18" charset="0"/>
                          </a:rPr>
                          <m:t>+</m:t>
                        </m:r>
                      </m:oMath>
                    </m:oMathPara>
                  </a14:m>
                  <a:endParaRPr lang="en-CA" dirty="0">
                    <a:latin typeface="Helvetica Neue" panose="02000503000000020004" pitchFamily="2" charset="0"/>
                    <a:ea typeface="Helvetica Neue" panose="02000503000000020004" pitchFamily="2" charset="0"/>
                    <a:cs typeface="Helvetica Neue" panose="02000503000000020004" pitchFamily="2" charset="0"/>
                  </a:endParaRPr>
                </a:p>
              </p:txBody>
            </p:sp>
          </mc:Choice>
          <mc:Fallback xmlns="">
            <p:sp>
              <p:nvSpPr>
                <p:cNvPr id="22" name="TextBox 21">
                  <a:extLst>
                    <a:ext uri="{FF2B5EF4-FFF2-40B4-BE49-F238E27FC236}">
                      <a16:creationId xmlns:a16="http://schemas.microsoft.com/office/drawing/2014/main" id="{E80A4F41-3A1E-F8CC-70B5-6291268776D1}"/>
                    </a:ext>
                  </a:extLst>
                </p:cNvPr>
                <p:cNvSpPr txBox="1">
                  <a:spLocks noRot="1" noChangeAspect="1" noMove="1" noResize="1" noEditPoints="1" noAdjustHandles="1" noChangeArrowheads="1" noChangeShapeType="1" noTextEdit="1"/>
                </p:cNvSpPr>
                <p:nvPr/>
              </p:nvSpPr>
              <p:spPr>
                <a:xfrm>
                  <a:off x="8076723" y="2877335"/>
                  <a:ext cx="217401" cy="540628"/>
                </a:xfrm>
                <a:prstGeom prst="rect">
                  <a:avLst/>
                </a:prstGeom>
                <a:blipFill>
                  <a:blip r:embed="rId18"/>
                  <a:stretch>
                    <a:fillRect r="-80000"/>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5F2A6BEA-C2D7-5C64-01A0-8F8785CC45DA}"/>
                    </a:ext>
                  </a:extLst>
                </p:cNvPr>
                <p:cNvSpPr txBox="1"/>
                <p:nvPr/>
              </p:nvSpPr>
              <p:spPr>
                <a:xfrm>
                  <a:off x="8469399" y="2799449"/>
                  <a:ext cx="217401" cy="67578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oMath>
                    </m:oMathPara>
                  </a14:m>
                  <a:endParaRPr lang="en-CA" sz="2400" dirty="0">
                    <a:latin typeface="Helvetica Neue" panose="02000503000000020004" pitchFamily="2" charset="0"/>
                    <a:ea typeface="Helvetica Neue" panose="02000503000000020004" pitchFamily="2" charset="0"/>
                    <a:cs typeface="Helvetica Neue" panose="02000503000000020004" pitchFamily="2" charset="0"/>
                  </a:endParaRPr>
                </a:p>
              </p:txBody>
            </p:sp>
          </mc:Choice>
          <mc:Fallback xmlns="">
            <p:sp>
              <p:nvSpPr>
                <p:cNvPr id="23" name="TextBox 22">
                  <a:extLst>
                    <a:ext uri="{FF2B5EF4-FFF2-40B4-BE49-F238E27FC236}">
                      <a16:creationId xmlns:a16="http://schemas.microsoft.com/office/drawing/2014/main" id="{5F2A6BEA-C2D7-5C64-01A0-8F8785CC45DA}"/>
                    </a:ext>
                  </a:extLst>
                </p:cNvPr>
                <p:cNvSpPr txBox="1">
                  <a:spLocks noRot="1" noChangeAspect="1" noMove="1" noResize="1" noEditPoints="1" noAdjustHandles="1" noChangeArrowheads="1" noChangeShapeType="1" noTextEdit="1"/>
                </p:cNvSpPr>
                <p:nvPr/>
              </p:nvSpPr>
              <p:spPr>
                <a:xfrm>
                  <a:off x="8469399" y="2799449"/>
                  <a:ext cx="217401" cy="675785"/>
                </a:xfrm>
                <a:prstGeom prst="rect">
                  <a:avLst/>
                </a:prstGeom>
                <a:blipFill>
                  <a:blip r:embed="rId19"/>
                  <a:stretch>
                    <a:fillRect r="-86667"/>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F3F710E5-6CE4-2895-8679-F8A4E1AA8FB2}"/>
                    </a:ext>
                  </a:extLst>
                </p:cNvPr>
                <p:cNvSpPr txBox="1"/>
                <p:nvPr/>
              </p:nvSpPr>
              <p:spPr>
                <a:xfrm>
                  <a:off x="3613582" y="2896274"/>
                  <a:ext cx="217401" cy="54062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CA" dirty="0">
                    <a:latin typeface="Helvetica Neue" panose="02000503000000020004" pitchFamily="2" charset="0"/>
                    <a:ea typeface="Helvetica Neue" panose="02000503000000020004" pitchFamily="2" charset="0"/>
                    <a:cs typeface="Helvetica Neue" panose="02000503000000020004" pitchFamily="2" charset="0"/>
                  </a:endParaRPr>
                </a:p>
              </p:txBody>
            </p:sp>
          </mc:Choice>
          <mc:Fallback xmlns="">
            <p:sp>
              <p:nvSpPr>
                <p:cNvPr id="24" name="TextBox 23">
                  <a:extLst>
                    <a:ext uri="{FF2B5EF4-FFF2-40B4-BE49-F238E27FC236}">
                      <a16:creationId xmlns:a16="http://schemas.microsoft.com/office/drawing/2014/main" id="{F3F710E5-6CE4-2895-8679-F8A4E1AA8FB2}"/>
                    </a:ext>
                  </a:extLst>
                </p:cNvPr>
                <p:cNvSpPr txBox="1">
                  <a:spLocks noRot="1" noChangeAspect="1" noMove="1" noResize="1" noEditPoints="1" noAdjustHandles="1" noChangeArrowheads="1" noChangeShapeType="1" noTextEdit="1"/>
                </p:cNvSpPr>
                <p:nvPr/>
              </p:nvSpPr>
              <p:spPr>
                <a:xfrm>
                  <a:off x="3613582" y="2896274"/>
                  <a:ext cx="217401" cy="540628"/>
                </a:xfrm>
                <a:prstGeom prst="rect">
                  <a:avLst/>
                </a:prstGeom>
                <a:blipFill>
                  <a:blip r:embed="rId20"/>
                  <a:stretch>
                    <a:fillRect r="-73333"/>
                  </a:stretch>
                </a:blipFill>
              </p:spPr>
              <p:txBody>
                <a:bodyPr/>
                <a:lstStyle/>
                <a:p>
                  <a:r>
                    <a:rPr lang="en-CA">
                      <a:noFill/>
                    </a:rPr>
                    <a:t> </a:t>
                  </a:r>
                </a:p>
              </p:txBody>
            </p:sp>
          </mc:Fallback>
        </mc:AlternateContent>
      </p:grpSp>
      <mc:AlternateContent xmlns:mc="http://schemas.openxmlformats.org/markup-compatibility/2006" xmlns:a14="http://schemas.microsoft.com/office/drawing/2010/main">
        <mc:Choice Requires="a14">
          <p:sp>
            <p:nvSpPr>
              <p:cNvPr id="48" name="Rechteck 5">
                <a:extLst>
                  <a:ext uri="{FF2B5EF4-FFF2-40B4-BE49-F238E27FC236}">
                    <a16:creationId xmlns:a16="http://schemas.microsoft.com/office/drawing/2014/main" id="{EC300827-7A9A-6026-C081-90BD21013926}"/>
                  </a:ext>
                </a:extLst>
              </p:cNvPr>
              <p:cNvSpPr/>
              <p:nvPr/>
            </p:nvSpPr>
            <p:spPr>
              <a:xfrm>
                <a:off x="1019706" y="1304594"/>
                <a:ext cx="3694307" cy="369332"/>
              </a:xfrm>
              <a:prstGeom prst="rect">
                <a:avLst/>
              </a:prstGeom>
            </p:spPr>
            <p:txBody>
              <a:bodyPr wrap="square">
                <a:spAutoFit/>
              </a:bodyPr>
              <a:lstStyle/>
              <a:p>
                <a:r>
                  <a:rPr lang="en-US" dirty="0">
                    <a:latin typeface="Helvetica Neue" panose="02000503000000020004" pitchFamily="2" charset="0"/>
                    <a:ea typeface="Helvetica Neue" panose="02000503000000020004" pitchFamily="2" charset="0"/>
                    <a:cs typeface="Helvetica Neue" panose="02000503000000020004" pitchFamily="2" charset="0"/>
                  </a:rPr>
                  <a:t>Hyperedge space </a:t>
                </a:r>
                <a14:m>
                  <m:oMath xmlns:m="http://schemas.openxmlformats.org/officeDocument/2006/math">
                    <m:r>
                      <a:rPr lang="en-US" b="0" i="1" smtClean="0">
                        <a:latin typeface="Cambria Math" panose="02040503050406030204" pitchFamily="18" charset="0"/>
                        <a:cs typeface="Arial" panose="020B0604020202020204" pitchFamily="34" charset="0"/>
                      </a:rPr>
                      <m:t>𝐸</m:t>
                    </m:r>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𝒫</m:t>
                    </m:r>
                    <m:d>
                      <m:dPr>
                        <m:ctrlPr>
                          <a:rPr lang="en-US" b="0" i="1" smtClean="0">
                            <a:latin typeface="Cambria Math" panose="02040503050406030204" pitchFamily="18" charset="0"/>
                            <a:ea typeface="Cambria Math" panose="02040503050406030204" pitchFamily="18" charset="0"/>
                            <a:cs typeface="Arial" panose="020B0604020202020204" pitchFamily="34" charset="0"/>
                          </a:rPr>
                        </m:ctrlPr>
                      </m:dPr>
                      <m:e>
                        <m:r>
                          <a:rPr lang="en-US" b="0" i="1" smtClean="0">
                            <a:latin typeface="Cambria Math" panose="02040503050406030204" pitchFamily="18" charset="0"/>
                            <a:ea typeface="Cambria Math" panose="02040503050406030204" pitchFamily="18" charset="0"/>
                            <a:cs typeface="Arial" panose="020B0604020202020204" pitchFamily="34" charset="0"/>
                          </a:rPr>
                          <m:t>𝑉</m:t>
                        </m:r>
                      </m:e>
                    </m:d>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𝒫</m:t>
                    </m:r>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𝑉</m:t>
                    </m:r>
                    <m:r>
                      <a:rPr lang="en-US" i="1">
                        <a:latin typeface="Cambria Math" panose="02040503050406030204" pitchFamily="18" charset="0"/>
                        <a:ea typeface="Cambria Math" panose="02040503050406030204" pitchFamily="18" charset="0"/>
                        <a:cs typeface="Arial" panose="020B0604020202020204" pitchFamily="34" charset="0"/>
                      </a:rPr>
                      <m:t>)</m:t>
                    </m:r>
                  </m:oMath>
                </a14:m>
                <a:endParaRPr lang="de-AT" dirty="0">
                  <a:latin typeface="Helvetica Neue" panose="02000503000000020004" pitchFamily="2" charset="0"/>
                  <a:ea typeface="Helvetica Neue" panose="02000503000000020004" pitchFamily="2" charset="0"/>
                  <a:cs typeface="Helvetica Neue" panose="02000503000000020004" pitchFamily="2" charset="0"/>
                </a:endParaRPr>
              </a:p>
            </p:txBody>
          </p:sp>
        </mc:Choice>
        <mc:Fallback xmlns="">
          <p:sp>
            <p:nvSpPr>
              <p:cNvPr id="48" name="Rechteck 5">
                <a:extLst>
                  <a:ext uri="{FF2B5EF4-FFF2-40B4-BE49-F238E27FC236}">
                    <a16:creationId xmlns:a16="http://schemas.microsoft.com/office/drawing/2014/main" id="{EC300827-7A9A-6026-C081-90BD21013926}"/>
                  </a:ext>
                </a:extLst>
              </p:cNvPr>
              <p:cNvSpPr>
                <a:spLocks noRot="1" noChangeAspect="1" noMove="1" noResize="1" noEditPoints="1" noAdjustHandles="1" noChangeArrowheads="1" noChangeShapeType="1" noTextEdit="1"/>
              </p:cNvSpPr>
              <p:nvPr/>
            </p:nvSpPr>
            <p:spPr>
              <a:xfrm>
                <a:off x="1019706" y="1304594"/>
                <a:ext cx="3694307" cy="369332"/>
              </a:xfrm>
              <a:prstGeom prst="rect">
                <a:avLst/>
              </a:prstGeom>
              <a:blipFill>
                <a:blip r:embed="rId21"/>
                <a:stretch>
                  <a:fillRect l="-1370" t="-6667" b="-26667"/>
                </a:stretch>
              </a:blipFill>
            </p:spPr>
            <p:txBody>
              <a:bodyPr/>
              <a:lstStyle/>
              <a:p>
                <a:r>
                  <a:rPr lang="en-CA">
                    <a:noFill/>
                  </a:rPr>
                  <a:t> </a:t>
                </a:r>
              </a:p>
            </p:txBody>
          </p:sp>
        </mc:Fallback>
      </mc:AlternateContent>
      <p:pic>
        <p:nvPicPr>
          <p:cNvPr id="49" name="Graphic 48" descr="Warning with solid fill">
            <a:extLst>
              <a:ext uri="{FF2B5EF4-FFF2-40B4-BE49-F238E27FC236}">
                <a16:creationId xmlns:a16="http://schemas.microsoft.com/office/drawing/2014/main" id="{E60FD5AA-CDB7-B00E-1D33-BAB7D36845E9}"/>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505357" y="1255626"/>
            <a:ext cx="460362" cy="460362"/>
          </a:xfrm>
          <a:prstGeom prst="rect">
            <a:avLst/>
          </a:prstGeom>
        </p:spPr>
      </p:pic>
      <p:sp>
        <p:nvSpPr>
          <p:cNvPr id="50" name="Bent Arrow 49">
            <a:extLst>
              <a:ext uri="{FF2B5EF4-FFF2-40B4-BE49-F238E27FC236}">
                <a16:creationId xmlns:a16="http://schemas.microsoft.com/office/drawing/2014/main" id="{DEB3D58A-4E5E-54A6-7C69-4192B5AF9D55}"/>
              </a:ext>
            </a:extLst>
          </p:cNvPr>
          <p:cNvSpPr/>
          <p:nvPr/>
        </p:nvSpPr>
        <p:spPr>
          <a:xfrm rot="10800000">
            <a:off x="697463" y="1952979"/>
            <a:ext cx="358816" cy="523966"/>
          </a:xfrm>
          <a:prstGeom prst="bentArrow">
            <a:avLst/>
          </a:prstGeom>
          <a:solidFill>
            <a:schemeClr val="accent2"/>
          </a:solidFill>
          <a:ln>
            <a:solidFill>
              <a:schemeClr val="tx1"/>
            </a:solidFill>
          </a:ln>
          <a:scene3d>
            <a:camera prst="orthographicFront">
              <a:rot lat="0" lon="10800000" rev="0"/>
            </a:camera>
            <a:lightRig rig="threePt" dir="t"/>
          </a:scene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solidFill>
                <a:schemeClr val="tx1"/>
              </a:solidFill>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1" name="TextBox 50">
            <a:extLst>
              <a:ext uri="{FF2B5EF4-FFF2-40B4-BE49-F238E27FC236}">
                <a16:creationId xmlns:a16="http://schemas.microsoft.com/office/drawing/2014/main" id="{2EA82747-4AF6-3E4C-3C25-8DF3D602A759}"/>
              </a:ext>
            </a:extLst>
          </p:cNvPr>
          <p:cNvSpPr txBox="1"/>
          <p:nvPr/>
        </p:nvSpPr>
        <p:spPr>
          <a:xfrm>
            <a:off x="8265706" y="2531578"/>
            <a:ext cx="2976718" cy="923330"/>
          </a:xfrm>
          <a:prstGeom prst="rect">
            <a:avLst/>
          </a:prstGeom>
          <a:noFill/>
        </p:spPr>
        <p:txBody>
          <a:bodyPr wrap="square" rtlCol="0">
            <a:spAutoFit/>
          </a:bodyPr>
          <a:lstStyle/>
          <a:p>
            <a:r>
              <a:rPr lang="en-CA" dirty="0">
                <a:latin typeface="Helvetica Neue" panose="02000503000000020004" pitchFamily="2" charset="0"/>
                <a:ea typeface="Helvetica Neue" panose="02000503000000020004" pitchFamily="2" charset="0"/>
                <a:cs typeface="Helvetica Neue" panose="02000503000000020004" pitchFamily="2" charset="0"/>
              </a:rPr>
              <a:t>Agent decomposes clip groups and selects a subset during deliberation</a:t>
            </a:r>
          </a:p>
        </p:txBody>
      </p:sp>
      <mc:AlternateContent xmlns:mc="http://schemas.openxmlformats.org/markup-compatibility/2006" xmlns:a14="http://schemas.microsoft.com/office/drawing/2010/main">
        <mc:Choice Requires="a14">
          <p:sp>
            <p:nvSpPr>
              <p:cNvPr id="53" name="Rechteck 5">
                <a:extLst>
                  <a:ext uri="{FF2B5EF4-FFF2-40B4-BE49-F238E27FC236}">
                    <a16:creationId xmlns:a16="http://schemas.microsoft.com/office/drawing/2014/main" id="{0208B923-7C30-D74C-A72B-6F9785B65EC5}"/>
                  </a:ext>
                </a:extLst>
              </p:cNvPr>
              <p:cNvSpPr/>
              <p:nvPr/>
            </p:nvSpPr>
            <p:spPr>
              <a:xfrm>
                <a:off x="4567858" y="1299198"/>
                <a:ext cx="400283"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cs typeface="Arial" panose="020B0604020202020204" pitchFamily="34" charset="0"/>
                        </a:rPr>
                        <m:t>→</m:t>
                      </m:r>
                    </m:oMath>
                  </m:oMathPara>
                </a14:m>
                <a:endParaRPr lang="de-AT" dirty="0">
                  <a:latin typeface="Helvetica Neue" panose="02000503000000020004" pitchFamily="2" charset="0"/>
                  <a:ea typeface="Helvetica Neue" panose="02000503000000020004" pitchFamily="2" charset="0"/>
                  <a:cs typeface="Helvetica Neue" panose="02000503000000020004" pitchFamily="2" charset="0"/>
                </a:endParaRPr>
              </a:p>
            </p:txBody>
          </p:sp>
        </mc:Choice>
        <mc:Fallback xmlns="">
          <p:sp>
            <p:nvSpPr>
              <p:cNvPr id="53" name="Rechteck 5">
                <a:extLst>
                  <a:ext uri="{FF2B5EF4-FFF2-40B4-BE49-F238E27FC236}">
                    <a16:creationId xmlns:a16="http://schemas.microsoft.com/office/drawing/2014/main" id="{0208B923-7C30-D74C-A72B-6F9785B65EC5}"/>
                  </a:ext>
                </a:extLst>
              </p:cNvPr>
              <p:cNvSpPr>
                <a:spLocks noRot="1" noChangeAspect="1" noMove="1" noResize="1" noEditPoints="1" noAdjustHandles="1" noChangeArrowheads="1" noChangeShapeType="1" noTextEdit="1"/>
              </p:cNvSpPr>
              <p:nvPr/>
            </p:nvSpPr>
            <p:spPr>
              <a:xfrm>
                <a:off x="4567858" y="1299198"/>
                <a:ext cx="400283" cy="369332"/>
              </a:xfrm>
              <a:prstGeom prst="rect">
                <a:avLst/>
              </a:prstGeom>
              <a:blipFill>
                <a:blip r:embed="rId23"/>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1165A899-9415-A022-3D8B-8CF3369394A5}"/>
                  </a:ext>
                </a:extLst>
              </p:cNvPr>
              <p:cNvSpPr txBox="1"/>
              <p:nvPr/>
            </p:nvSpPr>
            <p:spPr>
              <a:xfrm>
                <a:off x="4847720" y="1284285"/>
                <a:ext cx="2861060" cy="379656"/>
              </a:xfrm>
              <a:prstGeom prst="rect">
                <a:avLst/>
              </a:prstGeom>
              <a:noFill/>
            </p:spPr>
            <p:txBody>
              <a:bodyPr wrap="square">
                <a:spAutoFit/>
              </a:bodyPr>
              <a:lstStyle/>
              <a:p>
                <a:r>
                  <a:rPr lang="en-US" dirty="0">
                    <a:latin typeface="Helvetica Neue" panose="02000503000000020004" pitchFamily="2" charset="0"/>
                    <a:ea typeface="Helvetica Neue" panose="02000503000000020004" pitchFamily="2" charset="0"/>
                    <a:cs typeface="Helvetica Neue" panose="02000503000000020004" pitchFamily="2" charset="0"/>
                  </a:rPr>
                  <a:t>Memory cost of </a:t>
                </a:r>
                <a14:m>
                  <m:oMath xmlns:m="http://schemas.openxmlformats.org/officeDocument/2006/math">
                    <m:r>
                      <m:rPr>
                        <m:sty m:val="p"/>
                      </m:rPr>
                      <a:rPr lang="en-US" smtClean="0">
                        <a:latin typeface="Cambria Math" panose="02040503050406030204" pitchFamily="18" charset="0"/>
                      </a:rPr>
                      <m:t>Ω</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2|</m:t>
                        </m:r>
                        <m:r>
                          <a:rPr lang="en-US" i="1">
                            <a:latin typeface="Cambria Math" panose="02040503050406030204" pitchFamily="18" charset="0"/>
                          </a:rPr>
                          <m:t>𝑉</m:t>
                        </m:r>
                        <m:r>
                          <a:rPr lang="en-US" i="1">
                            <a:latin typeface="Cambria Math" panose="02040503050406030204" pitchFamily="18" charset="0"/>
                          </a:rPr>
                          <m:t>|</m:t>
                        </m:r>
                      </m:sup>
                    </m:sSup>
                    <m:r>
                      <a:rPr lang="en-US" i="1">
                        <a:latin typeface="Cambria Math" panose="02040503050406030204" pitchFamily="18" charset="0"/>
                      </a:rPr>
                      <m:t>)</m:t>
                    </m:r>
                  </m:oMath>
                </a14:m>
                <a:r>
                  <a:rPr lang="en-CA" dirty="0">
                    <a:latin typeface="Helvetica Neue" panose="02000503000000020004" pitchFamily="2" charset="0"/>
                    <a:ea typeface="Helvetica Neue" panose="02000503000000020004" pitchFamily="2" charset="0"/>
                    <a:cs typeface="Helvetica Neue" panose="02000503000000020004" pitchFamily="2" charset="0"/>
                  </a:rPr>
                  <a:t> </a:t>
                </a:r>
              </a:p>
            </p:txBody>
          </p:sp>
        </mc:Choice>
        <mc:Fallback xmlns="">
          <p:sp>
            <p:nvSpPr>
              <p:cNvPr id="55" name="TextBox 54">
                <a:extLst>
                  <a:ext uri="{FF2B5EF4-FFF2-40B4-BE49-F238E27FC236}">
                    <a16:creationId xmlns:a16="http://schemas.microsoft.com/office/drawing/2014/main" id="{1165A899-9415-A022-3D8B-8CF3369394A5}"/>
                  </a:ext>
                </a:extLst>
              </p:cNvPr>
              <p:cNvSpPr txBox="1">
                <a:spLocks noRot="1" noChangeAspect="1" noMove="1" noResize="1" noEditPoints="1" noAdjustHandles="1" noChangeArrowheads="1" noChangeShapeType="1" noTextEdit="1"/>
              </p:cNvSpPr>
              <p:nvPr/>
            </p:nvSpPr>
            <p:spPr>
              <a:xfrm>
                <a:off x="4847720" y="1284285"/>
                <a:ext cx="2861060" cy="379656"/>
              </a:xfrm>
              <a:prstGeom prst="rect">
                <a:avLst/>
              </a:prstGeom>
              <a:blipFill>
                <a:blip r:embed="rId24"/>
                <a:stretch>
                  <a:fillRect l="-1762" t="-9677" b="-19355"/>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05A55597-F0AB-E0A1-77C7-EC8E425DE23E}"/>
                  </a:ext>
                </a:extLst>
              </p:cNvPr>
              <p:cNvSpPr txBox="1"/>
              <p:nvPr/>
            </p:nvSpPr>
            <p:spPr>
              <a:xfrm>
                <a:off x="8427629" y="5117650"/>
                <a:ext cx="2522870" cy="2778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CA" i="1" smtClean="0">
                          <a:latin typeface="Cambria Math" panose="02040503050406030204" pitchFamily="18" charset="0"/>
                          <a:ea typeface="Cambria Math" panose="02040503050406030204" pitchFamily="18" charset="0"/>
                        </a:rPr>
                        <m:t>𝒪</m:t>
                      </m:r>
                      <m:d>
                        <m:dPr>
                          <m:ctrlPr>
                            <a:rPr lang="en-US" b="0" i="1" smtClean="0">
                              <a:latin typeface="Cambria Math" panose="02040503050406030204" pitchFamily="18" charset="0"/>
                              <a:ea typeface="Cambria Math" panose="02040503050406030204" pitchFamily="18" charset="0"/>
                            </a:rPr>
                          </m:ctrlPr>
                        </m:dPr>
                        <m:e>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max</m:t>
                              </m:r>
                            </m:fName>
                            <m:e>
                              <m:r>
                                <a:rPr lang="en-US" b="0" i="1" smtClean="0">
                                  <a:latin typeface="Cambria Math" panose="02040503050406030204" pitchFamily="18" charset="0"/>
                                  <a:ea typeface="Cambria Math" panose="02040503050406030204" pitchFamily="18" charset="0"/>
                                </a:rPr>
                                <m:t>𝐼</m:t>
                              </m:r>
                            </m:e>
                          </m:func>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max</m:t>
                              </m:r>
                            </m:fName>
                            <m:e>
                              <m:r>
                                <a:rPr lang="en-US" b="0" i="1" smtClean="0">
                                  <a:latin typeface="Cambria Math" panose="02040503050406030204" pitchFamily="18" charset="0"/>
                                  <a:ea typeface="Cambria Math" panose="02040503050406030204" pitchFamily="18" charset="0"/>
                                </a:rPr>
                                <m:t>𝑂</m:t>
                              </m:r>
                            </m:e>
                          </m:func>
                          <m:sSup>
                            <m:sSupPr>
                              <m:ctrlPr>
                                <a:rPr lang="en-US" b="0" i="1" smtClean="0">
                                  <a:latin typeface="Cambria Math" panose="02040503050406030204" pitchFamily="18" charset="0"/>
                                  <a:ea typeface="Cambria Math" panose="02040503050406030204" pitchFamily="18" charset="0"/>
                                </a:rPr>
                              </m:ctrlPr>
                            </m:sSupPr>
                            <m:e>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𝑉</m:t>
                                  </m:r>
                                </m:e>
                              </m:d>
                            </m:e>
                            <m:sup>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max</m:t>
                                  </m:r>
                                </m:fName>
                                <m:e>
                                  <m:r>
                                    <a:rPr lang="en-US" b="0" i="1" smtClean="0">
                                      <a:latin typeface="Cambria Math" panose="02040503050406030204" pitchFamily="18" charset="0"/>
                                      <a:ea typeface="Cambria Math" panose="02040503050406030204" pitchFamily="18" charset="0"/>
                                    </a:rPr>
                                    <m:t>𝐼𝑂</m:t>
                                  </m:r>
                                </m:e>
                              </m:func>
                            </m:sup>
                          </m:sSup>
                        </m:e>
                      </m:d>
                    </m:oMath>
                  </m:oMathPara>
                </a14:m>
                <a:endParaRPr lang="en-CA" dirty="0">
                  <a:latin typeface="Helvetica Neue" panose="02000503000000020004" pitchFamily="2" charset="0"/>
                  <a:ea typeface="Helvetica Neue" panose="02000503000000020004" pitchFamily="2" charset="0"/>
                  <a:cs typeface="Helvetica Neue" panose="02000503000000020004" pitchFamily="2" charset="0"/>
                </a:endParaRPr>
              </a:p>
            </p:txBody>
          </p:sp>
        </mc:Choice>
        <mc:Fallback xmlns="">
          <p:sp>
            <p:nvSpPr>
              <p:cNvPr id="57" name="TextBox 56">
                <a:extLst>
                  <a:ext uri="{FF2B5EF4-FFF2-40B4-BE49-F238E27FC236}">
                    <a16:creationId xmlns:a16="http://schemas.microsoft.com/office/drawing/2014/main" id="{05A55597-F0AB-E0A1-77C7-EC8E425DE23E}"/>
                  </a:ext>
                </a:extLst>
              </p:cNvPr>
              <p:cNvSpPr txBox="1">
                <a:spLocks noRot="1" noChangeAspect="1" noMove="1" noResize="1" noEditPoints="1" noAdjustHandles="1" noChangeArrowheads="1" noChangeShapeType="1" noTextEdit="1"/>
              </p:cNvSpPr>
              <p:nvPr/>
            </p:nvSpPr>
            <p:spPr>
              <a:xfrm>
                <a:off x="8427629" y="5117650"/>
                <a:ext cx="2522870" cy="277897"/>
              </a:xfrm>
              <a:prstGeom prst="rect">
                <a:avLst/>
              </a:prstGeom>
              <a:blipFill>
                <a:blip r:embed="rId25"/>
                <a:stretch>
                  <a:fillRect l="-1500" t="-4545" b="-13636"/>
                </a:stretch>
              </a:blipFill>
            </p:spPr>
            <p:txBody>
              <a:bodyPr/>
              <a:lstStyle/>
              <a:p>
                <a:r>
                  <a:rPr lang="en-CA">
                    <a:noFill/>
                  </a:rPr>
                  <a:t> </a:t>
                </a:r>
              </a:p>
            </p:txBody>
          </p:sp>
        </mc:Fallback>
      </mc:AlternateContent>
      <p:sp>
        <p:nvSpPr>
          <p:cNvPr id="58" name="TextBox 57">
            <a:extLst>
              <a:ext uri="{FF2B5EF4-FFF2-40B4-BE49-F238E27FC236}">
                <a16:creationId xmlns:a16="http://schemas.microsoft.com/office/drawing/2014/main" id="{B4FD9D8E-18B1-4852-E843-F881B28D5930}"/>
              </a:ext>
            </a:extLst>
          </p:cNvPr>
          <p:cNvSpPr txBox="1"/>
          <p:nvPr/>
        </p:nvSpPr>
        <p:spPr>
          <a:xfrm>
            <a:off x="7708780" y="4269355"/>
            <a:ext cx="4218219" cy="369332"/>
          </a:xfrm>
          <a:prstGeom prst="rect">
            <a:avLst/>
          </a:prstGeom>
          <a:noFill/>
        </p:spPr>
        <p:txBody>
          <a:bodyPr wrap="square" rtlCol="0">
            <a:spAutoFit/>
          </a:bodyPr>
          <a:lstStyle/>
          <a:p>
            <a:r>
              <a:rPr lang="en-CA" dirty="0">
                <a:latin typeface="Helvetica Neue" panose="02000503000000020004" pitchFamily="2" charset="0"/>
                <a:ea typeface="Helvetica Neue" panose="02000503000000020004" pitchFamily="2" charset="0"/>
                <a:cs typeface="Helvetica Neue" panose="02000503000000020004" pitchFamily="2" charset="0"/>
              </a:rPr>
              <a:t>Scaling cost is now upper-bounded by</a:t>
            </a:r>
          </a:p>
        </p:txBody>
      </p:sp>
      <p:cxnSp>
        <p:nvCxnSpPr>
          <p:cNvPr id="64" name="Curved Connector 63">
            <a:extLst>
              <a:ext uri="{FF2B5EF4-FFF2-40B4-BE49-F238E27FC236}">
                <a16:creationId xmlns:a16="http://schemas.microsoft.com/office/drawing/2014/main" id="{A5630FEC-58D9-AC79-014C-C41061D847A2}"/>
              </a:ext>
            </a:extLst>
          </p:cNvPr>
          <p:cNvCxnSpPr>
            <a:cxnSpLocks/>
          </p:cNvCxnSpPr>
          <p:nvPr/>
        </p:nvCxnSpPr>
        <p:spPr>
          <a:xfrm flipV="1">
            <a:off x="6530281" y="3140355"/>
            <a:ext cx="1351543" cy="1214342"/>
          </a:xfrm>
          <a:prstGeom prst="curvedConnector3">
            <a:avLst>
              <a:gd name="adj1" fmla="val 50000"/>
            </a:avLst>
          </a:prstGeom>
          <a:ln w="50800">
            <a:solidFill>
              <a:schemeClr val="accent2"/>
            </a:solidFill>
            <a:headEnd type="none"/>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530070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animBg="1"/>
      <p:bldP spid="8" grpId="0"/>
      <p:bldP spid="12" grpId="0"/>
      <p:bldP spid="13" grpId="0"/>
      <p:bldP spid="14" grpId="0"/>
      <p:bldP spid="15" grpId="0"/>
      <p:bldP spid="48" grpId="0"/>
      <p:bldP spid="50" grpId="0" animBg="1"/>
      <p:bldP spid="51" grpId="0"/>
      <p:bldP spid="53" grpId="0"/>
      <p:bldP spid="55" grpId="0"/>
      <p:bldP spid="57" grpId="0"/>
      <p:bldP spid="58" grpId="0"/>
    </p:bld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ußzeilenplatzhalter 1"/>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IJCAI 2026, Bremen, Germany I Phil LeMaitre I 20.08.2026</a:t>
            </a:r>
            <a:endParaRPr lang="de-DE" dirty="0"/>
          </a:p>
        </p:txBody>
      </p:sp>
      <p:sp>
        <p:nvSpPr>
          <p:cNvPr id="3" name="Titel 1">
            <a:extLst>
              <a:ext uri="{FF2B5EF4-FFF2-40B4-BE49-F238E27FC236}">
                <a16:creationId xmlns:a16="http://schemas.microsoft.com/office/drawing/2014/main" id="{8EA3482B-9788-BCB4-D810-065E821DE54B}"/>
              </a:ext>
            </a:extLst>
          </p:cNvPr>
          <p:cNvSpPr txBox="1">
            <a:spLocks/>
          </p:cNvSpPr>
          <p:nvPr/>
        </p:nvSpPr>
        <p:spPr bwMode="auto">
          <a:xfrm>
            <a:off x="0" y="0"/>
            <a:ext cx="12280900" cy="1014750"/>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A Physics-Inspired Inductive Bias</a:t>
            </a:r>
          </a:p>
        </p:txBody>
      </p:sp>
      <p:sp>
        <p:nvSpPr>
          <p:cNvPr id="7" name="Slide Number Placeholder 6">
            <a:extLst>
              <a:ext uri="{FF2B5EF4-FFF2-40B4-BE49-F238E27FC236}">
                <a16:creationId xmlns:a16="http://schemas.microsoft.com/office/drawing/2014/main" id="{22432D3D-15F1-7023-0F95-F4F2394A28E0}"/>
              </a:ext>
            </a:extLst>
          </p:cNvPr>
          <p:cNvSpPr>
            <a:spLocks noGrp="1"/>
          </p:cNvSpPr>
          <p:nvPr>
            <p:ph type="sldNum" sz="quarter" idx="12"/>
          </p:nvPr>
        </p:nvSpPr>
        <p:spPr/>
        <p:txBody>
          <a:bodyPr/>
          <a:lstStyle/>
          <a:p>
            <a:fld id="{D0617D14-1B55-43C0-819D-0D244AC23646}" type="slidenum">
              <a:rPr lang="de-AT" smtClean="0"/>
              <a:t>9</a:t>
            </a:fld>
            <a:endParaRPr lang="de-AT"/>
          </a:p>
        </p:txBody>
      </p:sp>
      <p:sp>
        <p:nvSpPr>
          <p:cNvPr id="9" name="Rechteck 5">
            <a:extLst>
              <a:ext uri="{FF2B5EF4-FFF2-40B4-BE49-F238E27FC236}">
                <a16:creationId xmlns:a16="http://schemas.microsoft.com/office/drawing/2014/main" id="{27A89ACF-C4AB-D681-EC79-ADB838098C95}"/>
              </a:ext>
            </a:extLst>
          </p:cNvPr>
          <p:cNvSpPr/>
          <p:nvPr/>
        </p:nvSpPr>
        <p:spPr>
          <a:xfrm>
            <a:off x="791739" y="4310947"/>
            <a:ext cx="4821654" cy="1477328"/>
          </a:xfrm>
          <a:prstGeom prst="rect">
            <a:avLst/>
          </a:prstGeom>
        </p:spPr>
        <p:txBody>
          <a:bodyPr wrap="square">
            <a:spAutoFit/>
          </a:bodyPr>
          <a:lstStyle/>
          <a:p>
            <a:pPr marL="285750" indent="-285750">
              <a:buFont typeface="Arial" panose="020B0604020202020204" pitchFamily="34" charset="0"/>
              <a:buChar char="•"/>
            </a:pPr>
            <a:r>
              <a:rPr lang="en-US" dirty="0">
                <a:cs typeface="Arial" panose="020B0604020202020204" pitchFamily="34" charset="0"/>
              </a:rPr>
              <a:t>Reduces complexity from exponential to polynomial</a:t>
            </a:r>
            <a:br>
              <a:rPr lang="en-US" dirty="0">
                <a:cs typeface="Arial" panose="020B0604020202020204" pitchFamily="34" charset="0"/>
              </a:rPr>
            </a:br>
            <a:endParaRPr lang="en-US" dirty="0">
              <a:cs typeface="Arial" panose="020B0604020202020204" pitchFamily="34" charset="0"/>
            </a:endParaRPr>
          </a:p>
          <a:p>
            <a:pPr marL="285750" indent="-285750">
              <a:buFont typeface="Arial" panose="020B0604020202020204" pitchFamily="34" charset="0"/>
              <a:buChar char="•"/>
            </a:pPr>
            <a:r>
              <a:rPr lang="en-US" dirty="0">
                <a:cs typeface="Arial" panose="020B0604020202020204" pitchFamily="34" charset="0"/>
              </a:rPr>
              <a:t>Similar to how humans decompose information</a:t>
            </a:r>
            <a:endParaRPr lang="de-AT"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0E935CC-B93A-DA4E-5E7A-3E95A4DAD636}"/>
                  </a:ext>
                </a:extLst>
              </p:cNvPr>
              <p:cNvSpPr txBox="1"/>
              <p:nvPr/>
            </p:nvSpPr>
            <p:spPr>
              <a:xfrm>
                <a:off x="518934" y="1534433"/>
                <a:ext cx="4516053" cy="656655"/>
              </a:xfrm>
              <a:prstGeom prst="rect">
                <a:avLst/>
              </a:prstGeom>
              <a:noFill/>
            </p:spPr>
            <p:txBody>
              <a:bodyPr wrap="square" rtlCol="0">
                <a:spAutoFit/>
              </a:bodyPr>
              <a:lstStyle/>
              <a:p>
                <a:r>
                  <a:rPr lang="en-CA" dirty="0"/>
                  <a:t>Memory cost associated to  </a:t>
                </a:r>
                <a14:m>
                  <m:oMath xmlns:m="http://schemas.openxmlformats.org/officeDocument/2006/math">
                    <m:r>
                      <m:rPr>
                        <m:sty m:val="p"/>
                      </m:rPr>
                      <a:rPr lang="en-US" b="0" i="0" smtClean="0">
                        <a:latin typeface="Cambria Math" panose="02040503050406030204" pitchFamily="18" charset="0"/>
                        <a:ea typeface="Cambria Math" panose="02040503050406030204" pitchFamily="18" charset="0"/>
                        <a:cs typeface="Arial" panose="020B0604020202020204" pitchFamily="34" charset="0"/>
                      </a:rPr>
                      <m:t>E</m:t>
                    </m:r>
                    <m:r>
                      <a:rPr lang="en-US" b="0" i="0" smtClean="0">
                        <a:latin typeface="Cambria Math" panose="02040503050406030204" pitchFamily="18" charset="0"/>
                        <a:ea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𝒫</m:t>
                    </m:r>
                    <m:d>
                      <m:dPr>
                        <m:ctrlPr>
                          <a:rPr lang="en-US" b="0" i="1" smtClean="0">
                            <a:latin typeface="Cambria Math" panose="02040503050406030204" pitchFamily="18" charset="0"/>
                            <a:ea typeface="Cambria Math" panose="02040503050406030204" pitchFamily="18" charset="0"/>
                            <a:cs typeface="Arial" panose="020B0604020202020204" pitchFamily="34" charset="0"/>
                          </a:rPr>
                        </m:ctrlPr>
                      </m:dPr>
                      <m:e>
                        <m:r>
                          <a:rPr lang="en-US" b="0" i="1" smtClean="0">
                            <a:latin typeface="Cambria Math" panose="02040503050406030204" pitchFamily="18" charset="0"/>
                            <a:ea typeface="Cambria Math" panose="02040503050406030204" pitchFamily="18" charset="0"/>
                            <a:cs typeface="Arial" panose="020B0604020202020204" pitchFamily="34" charset="0"/>
                          </a:rPr>
                          <m:t>𝑉</m:t>
                        </m:r>
                      </m:e>
                    </m:d>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𝒫</m:t>
                    </m:r>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𝑉</m:t>
                    </m:r>
                    <m:r>
                      <a:rPr lang="en-US" i="1">
                        <a:latin typeface="Cambria Math" panose="02040503050406030204" pitchFamily="18" charset="0"/>
                        <a:ea typeface="Cambria Math" panose="02040503050406030204" pitchFamily="18" charset="0"/>
                        <a:cs typeface="Arial" panose="020B0604020202020204" pitchFamily="34" charset="0"/>
                      </a:rPr>
                      <m:t>)</m:t>
                    </m:r>
                  </m:oMath>
                </a14:m>
                <a:r>
                  <a:rPr lang="en-CA" dirty="0"/>
                  <a:t> is </a:t>
                </a:r>
                <a14:m>
                  <m:oMath xmlns:m="http://schemas.openxmlformats.org/officeDocument/2006/math">
                    <m:r>
                      <m:rPr>
                        <m:sty m:val="p"/>
                      </m:rPr>
                      <a:rPr lang="en-US">
                        <a:latin typeface="Cambria Math" panose="02040503050406030204" pitchFamily="18" charset="0"/>
                      </a:rPr>
                      <m:t>Ω</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2|</m:t>
                        </m:r>
                        <m:r>
                          <a:rPr lang="en-US" i="1">
                            <a:latin typeface="Cambria Math" panose="02040503050406030204" pitchFamily="18" charset="0"/>
                          </a:rPr>
                          <m:t>𝑉</m:t>
                        </m:r>
                        <m:r>
                          <a:rPr lang="en-US" i="1">
                            <a:latin typeface="Cambria Math" panose="02040503050406030204" pitchFamily="18" charset="0"/>
                          </a:rPr>
                          <m:t>|</m:t>
                        </m:r>
                      </m:sup>
                    </m:sSup>
                    <m:r>
                      <a:rPr lang="en-US" i="1">
                        <a:latin typeface="Cambria Math" panose="02040503050406030204" pitchFamily="18" charset="0"/>
                      </a:rPr>
                      <m:t>)</m:t>
                    </m:r>
                  </m:oMath>
                </a14:m>
                <a:r>
                  <a:rPr lang="en-CA" dirty="0"/>
                  <a:t> </a:t>
                </a:r>
              </a:p>
            </p:txBody>
          </p:sp>
        </mc:Choice>
        <mc:Fallback xmlns="">
          <p:sp>
            <p:nvSpPr>
              <p:cNvPr id="10" name="TextBox 9">
                <a:extLst>
                  <a:ext uri="{FF2B5EF4-FFF2-40B4-BE49-F238E27FC236}">
                    <a16:creationId xmlns:a16="http://schemas.microsoft.com/office/drawing/2014/main" id="{10E935CC-B93A-DA4E-5E7A-3E95A4DAD636}"/>
                  </a:ext>
                </a:extLst>
              </p:cNvPr>
              <p:cNvSpPr txBox="1">
                <a:spLocks noRot="1" noChangeAspect="1" noMove="1" noResize="1" noEditPoints="1" noAdjustHandles="1" noChangeArrowheads="1" noChangeShapeType="1" noTextEdit="1"/>
              </p:cNvSpPr>
              <p:nvPr/>
            </p:nvSpPr>
            <p:spPr>
              <a:xfrm>
                <a:off x="518934" y="1534433"/>
                <a:ext cx="4516053" cy="656655"/>
              </a:xfrm>
              <a:prstGeom prst="rect">
                <a:avLst/>
              </a:prstGeom>
              <a:blipFill>
                <a:blip r:embed="rId2"/>
                <a:stretch>
                  <a:fillRect l="-1120" t="-3774" b="-132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DE7F9F4-6A43-658E-B696-E7825D60B280}"/>
                  </a:ext>
                </a:extLst>
              </p:cNvPr>
              <p:cNvSpPr txBox="1"/>
              <p:nvPr/>
            </p:nvSpPr>
            <p:spPr>
              <a:xfrm>
                <a:off x="518934" y="2385650"/>
                <a:ext cx="4261410" cy="646331"/>
              </a:xfrm>
              <a:prstGeom prst="rect">
                <a:avLst/>
              </a:prstGeom>
              <a:noFill/>
            </p:spPr>
            <p:txBody>
              <a:bodyPr wrap="square" rtlCol="0">
                <a:spAutoFit/>
              </a:bodyPr>
              <a:lstStyle/>
              <a:p>
                <a:r>
                  <a:rPr lang="en-CA" dirty="0"/>
                  <a:t>Impose any of the inductive biases so that </a:t>
                </a:r>
                <a14:m>
                  <m:oMath xmlns:m="http://schemas.openxmlformats.org/officeDocument/2006/math">
                    <m:r>
                      <a:rPr lang="en-US" b="0" i="1" smtClean="0">
                        <a:latin typeface="Cambria Math" panose="02040503050406030204" pitchFamily="18" charset="0"/>
                      </a:rPr>
                      <m:t>𝐸</m:t>
                    </m:r>
                    <m:r>
                      <a:rPr lang="en-US" b="0" i="1" smtClean="0">
                        <a:latin typeface="Cambria Math" panose="02040503050406030204" pitchFamily="18" charset="0"/>
                      </a:rPr>
                      <m:t>⊂</m:t>
                    </m:r>
                    <m:r>
                      <a:rPr lang="en-US" i="1">
                        <a:latin typeface="Cambria Math" panose="02040503050406030204" pitchFamily="18" charset="0"/>
                        <a:ea typeface="Cambria Math" panose="02040503050406030204" pitchFamily="18" charset="0"/>
                        <a:cs typeface="Arial" panose="020B0604020202020204" pitchFamily="34" charset="0"/>
                      </a:rPr>
                      <m:t>𝒫</m:t>
                    </m:r>
                    <m:d>
                      <m:dPr>
                        <m:ctrlPr>
                          <a:rPr lang="en-US" i="1">
                            <a:latin typeface="Cambria Math" panose="02040503050406030204" pitchFamily="18" charset="0"/>
                            <a:ea typeface="Cambria Math" panose="02040503050406030204" pitchFamily="18" charset="0"/>
                            <a:cs typeface="Arial" panose="020B0604020202020204" pitchFamily="34" charset="0"/>
                          </a:rPr>
                        </m:ctrlPr>
                      </m:dPr>
                      <m:e>
                        <m:r>
                          <a:rPr lang="en-US" i="1">
                            <a:latin typeface="Cambria Math" panose="02040503050406030204" pitchFamily="18" charset="0"/>
                            <a:ea typeface="Cambria Math" panose="02040503050406030204" pitchFamily="18" charset="0"/>
                            <a:cs typeface="Arial" panose="020B0604020202020204" pitchFamily="34" charset="0"/>
                          </a:rPr>
                          <m:t>𝑉</m:t>
                        </m:r>
                      </m:e>
                    </m:d>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𝒫</m:t>
                    </m:r>
                    <m:r>
                      <a:rPr lang="en-US" i="1">
                        <a:latin typeface="Cambria Math" panose="02040503050406030204" pitchFamily="18" charset="0"/>
                        <a:ea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𝑉</m:t>
                    </m:r>
                    <m:r>
                      <a:rPr lang="en-US" i="1">
                        <a:latin typeface="Cambria Math" panose="02040503050406030204" pitchFamily="18" charset="0"/>
                        <a:ea typeface="Cambria Math" panose="02040503050406030204" pitchFamily="18" charset="0"/>
                        <a:cs typeface="Arial" panose="020B0604020202020204" pitchFamily="34" charset="0"/>
                      </a:rPr>
                      <m:t>)</m:t>
                    </m:r>
                  </m:oMath>
                </a14:m>
                <a:r>
                  <a:rPr lang="en-CA" dirty="0"/>
                  <a:t>:</a:t>
                </a:r>
              </a:p>
            </p:txBody>
          </p:sp>
        </mc:Choice>
        <mc:Fallback xmlns="">
          <p:sp>
            <p:nvSpPr>
              <p:cNvPr id="14" name="TextBox 13">
                <a:extLst>
                  <a:ext uri="{FF2B5EF4-FFF2-40B4-BE49-F238E27FC236}">
                    <a16:creationId xmlns:a16="http://schemas.microsoft.com/office/drawing/2014/main" id="{9DE7F9F4-6A43-658E-B696-E7825D60B280}"/>
                  </a:ext>
                </a:extLst>
              </p:cNvPr>
              <p:cNvSpPr txBox="1">
                <a:spLocks noRot="1" noChangeAspect="1" noMove="1" noResize="1" noEditPoints="1" noAdjustHandles="1" noChangeArrowheads="1" noChangeShapeType="1" noTextEdit="1"/>
              </p:cNvSpPr>
              <p:nvPr/>
            </p:nvSpPr>
            <p:spPr>
              <a:xfrm>
                <a:off x="518934" y="2385650"/>
                <a:ext cx="4261410" cy="646331"/>
              </a:xfrm>
              <a:prstGeom prst="rect">
                <a:avLst/>
              </a:prstGeom>
              <a:blipFill>
                <a:blip r:embed="rId3"/>
                <a:stretch>
                  <a:fillRect l="-1187" t="-3846" b="-153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98A30999-E55D-B0FC-6E55-960FD9000910}"/>
                  </a:ext>
                </a:extLst>
              </p:cNvPr>
              <p:cNvSpPr txBox="1"/>
              <p:nvPr/>
            </p:nvSpPr>
            <p:spPr>
              <a:xfrm>
                <a:off x="2952730" y="3459371"/>
                <a:ext cx="2522870" cy="2778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CA" i="1" smtClean="0">
                          <a:latin typeface="Cambria Math" panose="02040503050406030204" pitchFamily="18" charset="0"/>
                          <a:ea typeface="Cambria Math" panose="02040503050406030204" pitchFamily="18" charset="0"/>
                        </a:rPr>
                        <m:t>𝒪</m:t>
                      </m:r>
                      <m:d>
                        <m:dPr>
                          <m:ctrlPr>
                            <a:rPr lang="en-US" b="0" i="1" smtClean="0">
                              <a:latin typeface="Cambria Math" panose="02040503050406030204" pitchFamily="18" charset="0"/>
                              <a:ea typeface="Cambria Math" panose="02040503050406030204" pitchFamily="18" charset="0"/>
                            </a:rPr>
                          </m:ctrlPr>
                        </m:dPr>
                        <m:e>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max</m:t>
                              </m:r>
                            </m:fName>
                            <m:e>
                              <m:r>
                                <a:rPr lang="en-US" b="0" i="1" smtClean="0">
                                  <a:latin typeface="Cambria Math" panose="02040503050406030204" pitchFamily="18" charset="0"/>
                                  <a:ea typeface="Cambria Math" panose="02040503050406030204" pitchFamily="18" charset="0"/>
                                </a:rPr>
                                <m:t>𝐼</m:t>
                              </m:r>
                            </m:e>
                          </m:func>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max</m:t>
                              </m:r>
                            </m:fName>
                            <m:e>
                              <m:r>
                                <a:rPr lang="en-US" b="0" i="1" smtClean="0">
                                  <a:latin typeface="Cambria Math" panose="02040503050406030204" pitchFamily="18" charset="0"/>
                                  <a:ea typeface="Cambria Math" panose="02040503050406030204" pitchFamily="18" charset="0"/>
                                </a:rPr>
                                <m:t>𝑂</m:t>
                              </m:r>
                            </m:e>
                          </m:func>
                          <m:sSup>
                            <m:sSupPr>
                              <m:ctrlPr>
                                <a:rPr lang="en-US" b="0" i="1" smtClean="0">
                                  <a:latin typeface="Cambria Math" panose="02040503050406030204" pitchFamily="18" charset="0"/>
                                  <a:ea typeface="Cambria Math" panose="02040503050406030204" pitchFamily="18" charset="0"/>
                                </a:rPr>
                              </m:ctrlPr>
                            </m:sSupPr>
                            <m:e>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𝑉</m:t>
                                  </m:r>
                                </m:e>
                              </m:d>
                            </m:e>
                            <m:sup>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max</m:t>
                                  </m:r>
                                </m:fName>
                                <m:e>
                                  <m:r>
                                    <a:rPr lang="en-US" b="0" i="1" smtClean="0">
                                      <a:latin typeface="Cambria Math" panose="02040503050406030204" pitchFamily="18" charset="0"/>
                                      <a:ea typeface="Cambria Math" panose="02040503050406030204" pitchFamily="18" charset="0"/>
                                    </a:rPr>
                                    <m:t>𝐼𝑂</m:t>
                                  </m:r>
                                </m:e>
                              </m:func>
                            </m:sup>
                          </m:sSup>
                        </m:e>
                      </m:d>
                    </m:oMath>
                  </m:oMathPara>
                </a14:m>
                <a:endParaRPr lang="en-CA" dirty="0"/>
              </a:p>
            </p:txBody>
          </p:sp>
        </mc:Choice>
        <mc:Fallback xmlns="">
          <p:sp>
            <p:nvSpPr>
              <p:cNvPr id="15" name="TextBox 14">
                <a:extLst>
                  <a:ext uri="{FF2B5EF4-FFF2-40B4-BE49-F238E27FC236}">
                    <a16:creationId xmlns:a16="http://schemas.microsoft.com/office/drawing/2014/main" id="{98A30999-E55D-B0FC-6E55-960FD9000910}"/>
                  </a:ext>
                </a:extLst>
              </p:cNvPr>
              <p:cNvSpPr txBox="1">
                <a:spLocks noRot="1" noChangeAspect="1" noMove="1" noResize="1" noEditPoints="1" noAdjustHandles="1" noChangeArrowheads="1" noChangeShapeType="1" noTextEdit="1"/>
              </p:cNvSpPr>
              <p:nvPr/>
            </p:nvSpPr>
            <p:spPr>
              <a:xfrm>
                <a:off x="2952730" y="3459371"/>
                <a:ext cx="2522870" cy="277897"/>
              </a:xfrm>
              <a:prstGeom prst="rect">
                <a:avLst/>
              </a:prstGeom>
              <a:blipFill>
                <a:blip r:embed="rId4"/>
                <a:stretch>
                  <a:fillRect l="-1500" t="-4348" b="-4348"/>
                </a:stretch>
              </a:blipFill>
            </p:spPr>
            <p:txBody>
              <a:bodyPr/>
              <a:lstStyle/>
              <a:p>
                <a:r>
                  <a:rPr lang="en-US">
                    <a:noFill/>
                  </a:rPr>
                  <a:t> </a:t>
                </a:r>
              </a:p>
            </p:txBody>
          </p:sp>
        </mc:Fallback>
      </mc:AlternateContent>
      <p:sp>
        <p:nvSpPr>
          <p:cNvPr id="16" name="TextBox 15">
            <a:extLst>
              <a:ext uri="{FF2B5EF4-FFF2-40B4-BE49-F238E27FC236}">
                <a16:creationId xmlns:a16="http://schemas.microsoft.com/office/drawing/2014/main" id="{D6466A7C-FD7E-55B1-3DD3-29CEFB2D0E71}"/>
              </a:ext>
            </a:extLst>
          </p:cNvPr>
          <p:cNvSpPr txBox="1"/>
          <p:nvPr/>
        </p:nvSpPr>
        <p:spPr>
          <a:xfrm>
            <a:off x="791739" y="3275155"/>
            <a:ext cx="2395959" cy="646331"/>
          </a:xfrm>
          <a:prstGeom prst="rect">
            <a:avLst/>
          </a:prstGeom>
          <a:noFill/>
        </p:spPr>
        <p:txBody>
          <a:bodyPr wrap="square" rtlCol="0">
            <a:spAutoFit/>
          </a:bodyPr>
          <a:lstStyle/>
          <a:p>
            <a:r>
              <a:rPr lang="en-CA" dirty="0"/>
              <a:t>Scaling cost is now upper-bounded by</a:t>
            </a:r>
          </a:p>
        </p:txBody>
      </p:sp>
      <mc:AlternateContent xmlns:mc="http://schemas.openxmlformats.org/markup-compatibility/2006" xmlns:a14="http://schemas.microsoft.com/office/drawing/2010/main">
        <mc:Choice Requires="a14">
          <p:graphicFrame>
            <p:nvGraphicFramePr>
              <p:cNvPr id="19" name="Table 18">
                <a:extLst>
                  <a:ext uri="{FF2B5EF4-FFF2-40B4-BE49-F238E27FC236}">
                    <a16:creationId xmlns:a16="http://schemas.microsoft.com/office/drawing/2014/main" id="{ADA60C6E-FFB9-DEE0-DD70-56BC487DAFC3}"/>
                  </a:ext>
                </a:extLst>
              </p:cNvPr>
              <p:cNvGraphicFramePr>
                <a:graphicFrameLocks noGrp="1"/>
              </p:cNvGraphicFramePr>
              <p:nvPr>
                <p:extLst>
                  <p:ext uri="{D42A27DB-BD31-4B8C-83A1-F6EECF244321}">
                    <p14:modId xmlns:p14="http://schemas.microsoft.com/office/powerpoint/2010/main" val="3709576850"/>
                  </p:ext>
                </p:extLst>
              </p:nvPr>
            </p:nvGraphicFramePr>
            <p:xfrm>
              <a:off x="6318974" y="2191088"/>
              <a:ext cx="5081287" cy="2774376"/>
            </p:xfrm>
            <a:graphic>
              <a:graphicData uri="http://schemas.openxmlformats.org/drawingml/2006/table">
                <a:tbl>
                  <a:tblPr firstRow="1" bandRow="1">
                    <a:tableStyleId>{5C22544A-7EE6-4342-B048-85BDC9FD1C3A}</a:tableStyleId>
                  </a:tblPr>
                  <a:tblGrid>
                    <a:gridCol w="1516285">
                      <a:extLst>
                        <a:ext uri="{9D8B030D-6E8A-4147-A177-3AD203B41FA5}">
                          <a16:colId xmlns:a16="http://schemas.microsoft.com/office/drawing/2014/main" val="2082864940"/>
                        </a:ext>
                      </a:extLst>
                    </a:gridCol>
                    <a:gridCol w="3565002">
                      <a:extLst>
                        <a:ext uri="{9D8B030D-6E8A-4147-A177-3AD203B41FA5}">
                          <a16:colId xmlns:a16="http://schemas.microsoft.com/office/drawing/2014/main" val="1033109158"/>
                        </a:ext>
                      </a:extLst>
                    </a:gridCol>
                  </a:tblGrid>
                  <a:tr h="4688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Inductive Bias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Upper-Bound on Deliberation Time</a:t>
                          </a:r>
                        </a:p>
                      </a:txBody>
                      <a:tcPr/>
                    </a:tc>
                    <a:extLst>
                      <a:ext uri="{0D108BD9-81ED-4DB2-BD59-A6C34878D82A}">
                        <a16:rowId xmlns:a16="http://schemas.microsoft.com/office/drawing/2014/main" val="3248887902"/>
                      </a:ext>
                    </a:extLst>
                  </a:tr>
                  <a:tr h="468862">
                    <a:tc>
                      <a:txBody>
                        <a:bodyPr/>
                        <a:lstStyle/>
                        <a:p>
                          <a:r>
                            <a:rPr lang="en-CA" dirty="0"/>
                            <a:t>1</a:t>
                          </a:r>
                        </a:p>
                      </a:txBody>
                      <a:tcPr/>
                    </a:tc>
                    <a:tc>
                      <a:txBody>
                        <a:bodyPr/>
                        <a:lstStyle/>
                        <a:p>
                          <a:pPr algn="ctr"/>
                          <a:r>
                            <a:rPr lang="en-CA" dirty="0"/>
                            <a:t>None</a:t>
                          </a:r>
                        </a:p>
                      </a:txBody>
                      <a:tcPr/>
                    </a:tc>
                    <a:extLst>
                      <a:ext uri="{0D108BD9-81ED-4DB2-BD59-A6C34878D82A}">
                        <a16:rowId xmlns:a16="http://schemas.microsoft.com/office/drawing/2014/main" val="3996799250"/>
                      </a:ext>
                    </a:extLst>
                  </a:tr>
                  <a:tr h="587047">
                    <a:tc>
                      <a:txBody>
                        <a:bodyPr/>
                        <a:lstStyle/>
                        <a:p>
                          <a:r>
                            <a:rPr lang="en-CA" dirty="0"/>
                            <a:t>2FF</a:t>
                          </a:r>
                        </a:p>
                      </a:txBody>
                      <a:tcPr/>
                    </a:tc>
                    <a:tc>
                      <a:txBody>
                        <a:bodyPr/>
                        <a:lstStyle/>
                        <a:p>
                          <a:pPr/>
                          <a14:m>
                            <m:oMathPara xmlns:m="http://schemas.openxmlformats.org/officeDocument/2006/math">
                              <m:oMathParaPr>
                                <m:jc m:val="centerGroup"/>
                              </m:oMathParaPr>
                              <m:oMath xmlns:m="http://schemas.openxmlformats.org/officeDocument/2006/math">
                                <m:nary>
                                  <m:naryPr>
                                    <m:chr m:val="∏"/>
                                    <m:limLoc m:val="subSup"/>
                                    <m:ctrlPr>
                                      <a:rPr lang="en-CA" i="1" smtClean="0">
                                        <a:latin typeface="Cambria Math" panose="02040503050406030204" pitchFamily="18" charset="0"/>
                                      </a:rPr>
                                    </m:ctrlPr>
                                  </m:naryPr>
                                  <m:sub>
                                    <m:r>
                                      <m:rPr>
                                        <m:brk m:alnAt="25"/>
                                      </m:rPr>
                                      <a:rPr lang="en-US" b="0" i="1" smtClean="0">
                                        <a:latin typeface="Cambria Math" panose="02040503050406030204" pitchFamily="18" charset="0"/>
                                      </a:rPr>
                                      <m:t>𝑗</m:t>
                                    </m:r>
                                    <m:r>
                                      <a:rPr lang="en-US" b="0" i="1" smtClean="0">
                                        <a:latin typeface="Cambria Math" panose="02040503050406030204" pitchFamily="18" charset="0"/>
                                      </a:rPr>
                                      <m:t>=1</m:t>
                                    </m:r>
                                  </m:sub>
                                  <m:sup>
                                    <m:r>
                                      <a:rPr lang="en-US" b="0" i="1" smtClean="0">
                                        <a:latin typeface="Cambria Math" panose="02040503050406030204" pitchFamily="18" charset="0"/>
                                      </a:rPr>
                                      <m:t>𝐷</m:t>
                                    </m:r>
                                    <m:r>
                                      <a:rPr lang="en-US" b="0" i="1" smtClean="0">
                                        <a:latin typeface="Cambria Math" panose="02040503050406030204" pitchFamily="18" charset="0"/>
                                      </a:rPr>
                                      <m:t>−1</m:t>
                                    </m:r>
                                  </m:sup>
                                  <m:e>
                                    <m:d>
                                      <m:dPr>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𝑗</m:t>
                                                </m:r>
                                              </m:sub>
                                            </m:sSub>
                                          </m:e>
                                        </m:d>
                                        <m:r>
                                          <a:rPr lang="en-US" b="0" i="1" smtClean="0">
                                            <a:latin typeface="Cambria Math" panose="02040503050406030204" pitchFamily="18" charset="0"/>
                                          </a:rPr>
                                          <m:t>+1</m:t>
                                        </m:r>
                                      </m:e>
                                    </m:d>
                                  </m:e>
                                </m:nary>
                              </m:oMath>
                            </m:oMathPara>
                          </a14:m>
                          <a:endParaRPr lang="en-CA" dirty="0"/>
                        </a:p>
                      </a:txBody>
                      <a:tcPr/>
                    </a:tc>
                    <a:extLst>
                      <a:ext uri="{0D108BD9-81ED-4DB2-BD59-A6C34878D82A}">
                        <a16:rowId xmlns:a16="http://schemas.microsoft.com/office/drawing/2014/main" val="3144194306"/>
                      </a:ext>
                    </a:extLst>
                  </a:tr>
                  <a:tr h="468862">
                    <a:tc>
                      <a:txBody>
                        <a:bodyPr/>
                        <a:lstStyle/>
                        <a:p>
                          <a:r>
                            <a:rPr lang="en-CA" dirty="0"/>
                            <a:t>2SF</a:t>
                          </a:r>
                        </a:p>
                      </a:txBody>
                      <a:tcPr/>
                    </a:tc>
                    <a:tc>
                      <a:txBody>
                        <a:bodyPr/>
                        <a:lstStyle/>
                        <a:p>
                          <a:pPr/>
                          <a14:m>
                            <m:oMathPara xmlns:m="http://schemas.openxmlformats.org/officeDocument/2006/math">
                              <m:oMathParaPr>
                                <m:jc m:val="centerGroup"/>
                              </m:oMathParaPr>
                              <m:oMath xmlns:m="http://schemas.openxmlformats.org/officeDocument/2006/math">
                                <m:nary>
                                  <m:naryPr>
                                    <m:chr m:val="∑"/>
                                    <m:limLoc m:val="subSup"/>
                                    <m:ctrlPr>
                                      <a:rPr lang="en-CA" i="1" smtClean="0">
                                        <a:latin typeface="Cambria Math" panose="02040503050406030204" pitchFamily="18" charset="0"/>
                                      </a:rPr>
                                    </m:ctrlPr>
                                  </m:naryPr>
                                  <m:sub>
                                    <m:r>
                                      <m:rPr>
                                        <m:brk m:alnAt="25"/>
                                      </m:rPr>
                                      <a:rPr lang="en-US" b="0" i="1" smtClean="0">
                                        <a:latin typeface="Cambria Math" panose="02040503050406030204" pitchFamily="18" charset="0"/>
                                      </a:rPr>
                                      <m:t>𝑗</m:t>
                                    </m:r>
                                    <m:r>
                                      <a:rPr lang="en-US" b="0" i="1" smtClean="0">
                                        <a:latin typeface="Cambria Math" panose="02040503050406030204" pitchFamily="18" charset="0"/>
                                      </a:rPr>
                                      <m:t>=1</m:t>
                                    </m:r>
                                  </m:sub>
                                  <m:sup>
                                    <m:r>
                                      <a:rPr lang="en-US" b="0" i="1" smtClean="0">
                                        <a:latin typeface="Cambria Math" panose="02040503050406030204" pitchFamily="18" charset="0"/>
                                      </a:rPr>
                                      <m:t>𝐷</m:t>
                                    </m:r>
                                    <m:r>
                                      <a:rPr lang="en-US" b="0" i="1" smtClean="0">
                                        <a:latin typeface="Cambria Math" panose="02040503050406030204" pitchFamily="18" charset="0"/>
                                      </a:rPr>
                                      <m:t>−1</m:t>
                                    </m:r>
                                  </m:sup>
                                  <m:e>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𝑗</m:t>
                                        </m:r>
                                      </m:sub>
                                    </m:sSub>
                                    <m:r>
                                      <a:rPr lang="en-US" b="0" i="1" smtClean="0">
                                        <a:latin typeface="Cambria Math" panose="02040503050406030204" pitchFamily="18" charset="0"/>
                                      </a:rPr>
                                      <m:t>|</m:t>
                                    </m:r>
                                  </m:e>
                                </m:nary>
                              </m:oMath>
                            </m:oMathPara>
                          </a14:m>
                          <a:endParaRPr lang="en-CA" dirty="0"/>
                        </a:p>
                      </a:txBody>
                      <a:tcPr/>
                    </a:tc>
                    <a:extLst>
                      <a:ext uri="{0D108BD9-81ED-4DB2-BD59-A6C34878D82A}">
                        <a16:rowId xmlns:a16="http://schemas.microsoft.com/office/drawing/2014/main" val="415106168"/>
                      </a:ext>
                    </a:extLst>
                  </a:tr>
                  <a:tr h="468862">
                    <a:tc>
                      <a:txBody>
                        <a:bodyPr/>
                        <a:lstStyle/>
                        <a:p>
                          <a:r>
                            <a:rPr lang="en-CA" dirty="0"/>
                            <a:t>2DP</a:t>
                          </a:r>
                        </a:p>
                      </a:txBody>
                      <a:tcPr/>
                    </a:tc>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𝐷</m:t>
                                </m:r>
                                <m:r>
                                  <a:rPr lang="en-US" b="0" i="1" smtClean="0">
                                    <a:latin typeface="Cambria Math" panose="02040503050406030204" pitchFamily="18" charset="0"/>
                                  </a:rPr>
                                  <m:t>−1</m:t>
                                </m:r>
                              </m:oMath>
                            </m:oMathPara>
                          </a14:m>
                          <a:endParaRPr lang="en-CA" dirty="0"/>
                        </a:p>
                      </a:txBody>
                      <a:tcPr/>
                    </a:tc>
                    <a:extLst>
                      <a:ext uri="{0D108BD9-81ED-4DB2-BD59-A6C34878D82A}">
                        <a16:rowId xmlns:a16="http://schemas.microsoft.com/office/drawing/2014/main" val="3984105493"/>
                      </a:ext>
                    </a:extLst>
                  </a:tr>
                </a:tbl>
              </a:graphicData>
            </a:graphic>
          </p:graphicFrame>
        </mc:Choice>
        <mc:Fallback xmlns="">
          <p:graphicFrame>
            <p:nvGraphicFramePr>
              <p:cNvPr id="19" name="Table 18">
                <a:extLst>
                  <a:ext uri="{FF2B5EF4-FFF2-40B4-BE49-F238E27FC236}">
                    <a16:creationId xmlns:a16="http://schemas.microsoft.com/office/drawing/2014/main" id="{ADA60C6E-FFB9-DEE0-DD70-56BC487DAFC3}"/>
                  </a:ext>
                </a:extLst>
              </p:cNvPr>
              <p:cNvGraphicFramePr>
                <a:graphicFrameLocks noGrp="1"/>
              </p:cNvGraphicFramePr>
              <p:nvPr>
                <p:extLst>
                  <p:ext uri="{D42A27DB-BD31-4B8C-83A1-F6EECF244321}">
                    <p14:modId xmlns:p14="http://schemas.microsoft.com/office/powerpoint/2010/main" val="3709576850"/>
                  </p:ext>
                </p:extLst>
              </p:nvPr>
            </p:nvGraphicFramePr>
            <p:xfrm>
              <a:off x="6318974" y="2191088"/>
              <a:ext cx="5081287" cy="2774376"/>
            </p:xfrm>
            <a:graphic>
              <a:graphicData uri="http://schemas.openxmlformats.org/drawingml/2006/table">
                <a:tbl>
                  <a:tblPr firstRow="1" bandRow="1">
                    <a:tableStyleId>{5C22544A-7EE6-4342-B048-85BDC9FD1C3A}</a:tableStyleId>
                  </a:tblPr>
                  <a:tblGrid>
                    <a:gridCol w="1516285">
                      <a:extLst>
                        <a:ext uri="{9D8B030D-6E8A-4147-A177-3AD203B41FA5}">
                          <a16:colId xmlns:a16="http://schemas.microsoft.com/office/drawing/2014/main" val="2082864940"/>
                        </a:ext>
                      </a:extLst>
                    </a:gridCol>
                    <a:gridCol w="3565002">
                      <a:extLst>
                        <a:ext uri="{9D8B030D-6E8A-4147-A177-3AD203B41FA5}">
                          <a16:colId xmlns:a16="http://schemas.microsoft.com/office/drawing/2014/main" val="1033109158"/>
                        </a:ext>
                      </a:extLst>
                    </a:gridCol>
                  </a:tblGrid>
                  <a:tr h="4688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Inductive Bias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Upper-Bound on Deliberation Time</a:t>
                          </a:r>
                        </a:p>
                      </a:txBody>
                      <a:tcPr/>
                    </a:tc>
                    <a:extLst>
                      <a:ext uri="{0D108BD9-81ED-4DB2-BD59-A6C34878D82A}">
                        <a16:rowId xmlns:a16="http://schemas.microsoft.com/office/drawing/2014/main" val="3248887902"/>
                      </a:ext>
                    </a:extLst>
                  </a:tr>
                  <a:tr h="468862">
                    <a:tc>
                      <a:txBody>
                        <a:bodyPr/>
                        <a:lstStyle/>
                        <a:p>
                          <a:r>
                            <a:rPr lang="en-CA" dirty="0"/>
                            <a:t>1</a:t>
                          </a:r>
                        </a:p>
                      </a:txBody>
                      <a:tcPr/>
                    </a:tc>
                    <a:tc>
                      <a:txBody>
                        <a:bodyPr/>
                        <a:lstStyle/>
                        <a:p>
                          <a:pPr algn="ctr"/>
                          <a:r>
                            <a:rPr lang="en-CA" dirty="0"/>
                            <a:t>None</a:t>
                          </a:r>
                        </a:p>
                      </a:txBody>
                      <a:tcPr/>
                    </a:tc>
                    <a:extLst>
                      <a:ext uri="{0D108BD9-81ED-4DB2-BD59-A6C34878D82A}">
                        <a16:rowId xmlns:a16="http://schemas.microsoft.com/office/drawing/2014/main" val="3996799250"/>
                      </a:ext>
                    </a:extLst>
                  </a:tr>
                  <a:tr h="683895">
                    <a:tc>
                      <a:txBody>
                        <a:bodyPr/>
                        <a:lstStyle/>
                        <a:p>
                          <a:r>
                            <a:rPr lang="en-CA" dirty="0"/>
                            <a:t>2FF</a:t>
                          </a:r>
                        </a:p>
                      </a:txBody>
                      <a:tcPr/>
                    </a:tc>
                    <a:tc>
                      <a:txBody>
                        <a:bodyPr/>
                        <a:lstStyle/>
                        <a:p>
                          <a:endParaRPr lang="en-US"/>
                        </a:p>
                      </a:txBody>
                      <a:tcPr>
                        <a:blipFill>
                          <a:blip r:embed="rId5"/>
                          <a:stretch>
                            <a:fillRect l="-43060" t="-140741" r="-1068" b="-305556"/>
                          </a:stretch>
                        </a:blipFill>
                      </a:tcPr>
                    </a:tc>
                    <a:extLst>
                      <a:ext uri="{0D108BD9-81ED-4DB2-BD59-A6C34878D82A}">
                        <a16:rowId xmlns:a16="http://schemas.microsoft.com/office/drawing/2014/main" val="3144194306"/>
                      </a:ext>
                    </a:extLst>
                  </a:tr>
                  <a:tr h="683895">
                    <a:tc>
                      <a:txBody>
                        <a:bodyPr/>
                        <a:lstStyle/>
                        <a:p>
                          <a:r>
                            <a:rPr lang="en-CA" dirty="0"/>
                            <a:t>2SF</a:t>
                          </a:r>
                        </a:p>
                      </a:txBody>
                      <a:tcPr/>
                    </a:tc>
                    <a:tc>
                      <a:txBody>
                        <a:bodyPr/>
                        <a:lstStyle/>
                        <a:p>
                          <a:endParaRPr lang="en-US"/>
                        </a:p>
                      </a:txBody>
                      <a:tcPr>
                        <a:blipFill>
                          <a:blip r:embed="rId5"/>
                          <a:stretch>
                            <a:fillRect l="-43060" t="-240741" r="-1068" b="-205556"/>
                          </a:stretch>
                        </a:blipFill>
                      </a:tcPr>
                    </a:tc>
                    <a:extLst>
                      <a:ext uri="{0D108BD9-81ED-4DB2-BD59-A6C34878D82A}">
                        <a16:rowId xmlns:a16="http://schemas.microsoft.com/office/drawing/2014/main" val="415106168"/>
                      </a:ext>
                    </a:extLst>
                  </a:tr>
                  <a:tr h="468862">
                    <a:tc>
                      <a:txBody>
                        <a:bodyPr/>
                        <a:lstStyle/>
                        <a:p>
                          <a:r>
                            <a:rPr lang="en-CA" dirty="0"/>
                            <a:t>2DP</a:t>
                          </a:r>
                        </a:p>
                      </a:txBody>
                      <a:tcPr/>
                    </a:tc>
                    <a:tc>
                      <a:txBody>
                        <a:bodyPr/>
                        <a:lstStyle/>
                        <a:p>
                          <a:endParaRPr lang="en-US"/>
                        </a:p>
                      </a:txBody>
                      <a:tcPr>
                        <a:blipFill>
                          <a:blip r:embed="rId5"/>
                          <a:stretch>
                            <a:fillRect l="-43060" t="-497297" r="-1068" b="-200000"/>
                          </a:stretch>
                        </a:blipFill>
                      </a:tcPr>
                    </a:tc>
                    <a:extLst>
                      <a:ext uri="{0D108BD9-81ED-4DB2-BD59-A6C34878D82A}">
                        <a16:rowId xmlns:a16="http://schemas.microsoft.com/office/drawing/2014/main" val="3984105493"/>
                      </a:ext>
                    </a:extLst>
                  </a:tr>
                </a:tbl>
              </a:graphicData>
            </a:graphic>
          </p:graphicFrame>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D49DB859-B14F-AA55-1227-C0BEE0824D75}"/>
                  </a:ext>
                </a:extLst>
              </p:cNvPr>
              <p:cNvSpPr txBox="1"/>
              <p:nvPr/>
            </p:nvSpPr>
            <p:spPr>
              <a:xfrm>
                <a:off x="7088289" y="1588811"/>
                <a:ext cx="3542656" cy="391646"/>
              </a:xfrm>
              <a:prstGeom prst="rect">
                <a:avLst/>
              </a:prstGeom>
              <a:noFill/>
            </p:spPr>
            <p:txBody>
              <a:bodyPr wrap="square" rtlCol="0">
                <a:spAutoFit/>
              </a:bodyPr>
              <a:lstStyle/>
              <a:p>
                <a:r>
                  <a:rPr lang="en-CA" dirty="0"/>
                  <a:t>For ECM depth </a:t>
                </a:r>
                <a14:m>
                  <m:oMath xmlns:m="http://schemas.openxmlformats.org/officeDocument/2006/math">
                    <m:r>
                      <a:rPr lang="en-US" b="0" i="1" smtClean="0">
                        <a:latin typeface="Cambria Math" panose="02040503050406030204" pitchFamily="18" charset="0"/>
                      </a:rPr>
                      <m:t>𝐷</m:t>
                    </m:r>
                  </m:oMath>
                </a14:m>
                <a:r>
                  <a:rPr lang="en-CA" dirty="0"/>
                  <a:t> and layers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𝑗</m:t>
                        </m:r>
                      </m:sub>
                    </m:sSub>
                  </m:oMath>
                </a14:m>
                <a:endParaRPr lang="en-CA" dirty="0"/>
              </a:p>
            </p:txBody>
          </p:sp>
        </mc:Choice>
        <mc:Fallback xmlns="">
          <p:sp>
            <p:nvSpPr>
              <p:cNvPr id="20" name="TextBox 19">
                <a:extLst>
                  <a:ext uri="{FF2B5EF4-FFF2-40B4-BE49-F238E27FC236}">
                    <a16:creationId xmlns:a16="http://schemas.microsoft.com/office/drawing/2014/main" id="{D49DB859-B14F-AA55-1227-C0BEE0824D75}"/>
                  </a:ext>
                </a:extLst>
              </p:cNvPr>
              <p:cNvSpPr txBox="1">
                <a:spLocks noRot="1" noChangeAspect="1" noMove="1" noResize="1" noEditPoints="1" noAdjustHandles="1" noChangeArrowheads="1" noChangeShapeType="1" noTextEdit="1"/>
              </p:cNvSpPr>
              <p:nvPr/>
            </p:nvSpPr>
            <p:spPr>
              <a:xfrm>
                <a:off x="7088289" y="1588811"/>
                <a:ext cx="3542656" cy="391646"/>
              </a:xfrm>
              <a:prstGeom prst="rect">
                <a:avLst/>
              </a:prstGeom>
              <a:blipFill>
                <a:blip r:embed="rId6"/>
                <a:stretch>
                  <a:fillRect l="-1786" t="-9677" b="-19355"/>
                </a:stretch>
              </a:blipFill>
            </p:spPr>
            <p:txBody>
              <a:bodyPr/>
              <a:lstStyle/>
              <a:p>
                <a:r>
                  <a:rPr lang="en-US">
                    <a:noFill/>
                  </a:rPr>
                  <a:t> </a:t>
                </a:r>
              </a:p>
            </p:txBody>
          </p:sp>
        </mc:Fallback>
      </mc:AlternateContent>
    </p:spTree>
    <p:extLst>
      <p:ext uri="{BB962C8B-B14F-4D97-AF65-F5344CB8AC3E}">
        <p14:creationId xmlns:p14="http://schemas.microsoft.com/office/powerpoint/2010/main" val="2764685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ußzeilenplatzhalter 1"/>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IJCAI 2026, Bremen, Germany I Phil LeMaitre I 20.08.2026</a:t>
            </a:r>
            <a:endParaRPr lang="de-DE" dirty="0"/>
          </a:p>
        </p:txBody>
      </p:sp>
      <p:sp>
        <p:nvSpPr>
          <p:cNvPr id="3" name="Titel 1">
            <a:extLst>
              <a:ext uri="{FF2B5EF4-FFF2-40B4-BE49-F238E27FC236}">
                <a16:creationId xmlns:a16="http://schemas.microsoft.com/office/drawing/2014/main" id="{8EA3482B-9788-BCB4-D810-065E821DE54B}"/>
              </a:ext>
            </a:extLst>
          </p:cNvPr>
          <p:cNvSpPr txBox="1">
            <a:spLocks/>
          </p:cNvSpPr>
          <p:nvPr/>
        </p:nvSpPr>
        <p:spPr bwMode="auto">
          <a:xfrm>
            <a:off x="0" y="0"/>
            <a:ext cx="12280900" cy="1014750"/>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Two Invasion Game Environments</a:t>
            </a:r>
          </a:p>
        </p:txBody>
      </p:sp>
      <p:sp>
        <p:nvSpPr>
          <p:cNvPr id="7" name="Slide Number Placeholder 6">
            <a:extLst>
              <a:ext uri="{FF2B5EF4-FFF2-40B4-BE49-F238E27FC236}">
                <a16:creationId xmlns:a16="http://schemas.microsoft.com/office/drawing/2014/main" id="{D1A31688-8A04-9AFA-3660-19205181CB1B}"/>
              </a:ext>
            </a:extLst>
          </p:cNvPr>
          <p:cNvSpPr>
            <a:spLocks noGrp="1"/>
          </p:cNvSpPr>
          <p:nvPr>
            <p:ph type="sldNum" sz="quarter" idx="12"/>
          </p:nvPr>
        </p:nvSpPr>
        <p:spPr/>
        <p:txBody>
          <a:bodyPr/>
          <a:lstStyle/>
          <a:p>
            <a:fld id="{D0617D14-1B55-43C0-819D-0D244AC23646}" type="slidenum">
              <a:rPr lang="de-AT" smtClean="0"/>
              <a:t>10</a:t>
            </a:fld>
            <a:endParaRPr lang="de-AT"/>
          </a:p>
        </p:txBody>
      </p:sp>
      <p:sp>
        <p:nvSpPr>
          <p:cNvPr id="43" name="TextBox 42">
            <a:extLst>
              <a:ext uri="{FF2B5EF4-FFF2-40B4-BE49-F238E27FC236}">
                <a16:creationId xmlns:a16="http://schemas.microsoft.com/office/drawing/2014/main" id="{0868F760-FDA1-E03D-22E5-0C4DBAB3168D}"/>
              </a:ext>
            </a:extLst>
          </p:cNvPr>
          <p:cNvSpPr txBox="1"/>
          <p:nvPr/>
        </p:nvSpPr>
        <p:spPr>
          <a:xfrm>
            <a:off x="8419960" y="1573593"/>
            <a:ext cx="3673900" cy="646331"/>
          </a:xfrm>
          <a:prstGeom prst="rect">
            <a:avLst/>
          </a:prstGeom>
          <a:noFill/>
        </p:spPr>
        <p:txBody>
          <a:bodyPr wrap="square" rtlCol="0">
            <a:spAutoFit/>
          </a:bodyPr>
          <a:lstStyle/>
          <a:p>
            <a:r>
              <a:rPr lang="en-CA" dirty="0"/>
              <a:t>Same as 1) but now correct door changes based on parity of </a:t>
            </a:r>
          </a:p>
        </p:txBody>
      </p:sp>
      <p:pic>
        <p:nvPicPr>
          <p:cNvPr id="45" name="Picture 44">
            <a:extLst>
              <a:ext uri="{FF2B5EF4-FFF2-40B4-BE49-F238E27FC236}">
                <a16:creationId xmlns:a16="http://schemas.microsoft.com/office/drawing/2014/main" id="{724AB6BA-247B-47D1-077B-0190876189BB}"/>
              </a:ext>
            </a:extLst>
          </p:cNvPr>
          <p:cNvPicPr>
            <a:picLocks noChangeAspect="1"/>
          </p:cNvPicPr>
          <p:nvPr/>
        </p:nvPicPr>
        <p:blipFill rotWithShape="1">
          <a:blip r:embed="rId4">
            <a:extLst>
              <a:ext uri="{28A0092B-C50C-407E-A947-70E740481C1C}">
                <a14:useLocalDpi xmlns:a14="http://schemas.microsoft.com/office/drawing/2010/main"/>
              </a:ext>
            </a:extLst>
          </a:blip>
          <a:srcRect/>
          <a:stretch/>
        </p:blipFill>
        <p:spPr>
          <a:xfrm>
            <a:off x="4254870" y="2701348"/>
            <a:ext cx="3740456" cy="2647770"/>
          </a:xfrm>
          <a:prstGeom prst="rect">
            <a:avLst/>
          </a:prstGeom>
        </p:spPr>
      </p:pic>
      <p:pic>
        <p:nvPicPr>
          <p:cNvPr id="46" name="Picture 45">
            <a:extLst>
              <a:ext uri="{FF2B5EF4-FFF2-40B4-BE49-F238E27FC236}">
                <a16:creationId xmlns:a16="http://schemas.microsoft.com/office/drawing/2014/main" id="{D6659152-E290-28B6-B640-ECD5645A89FD}"/>
              </a:ext>
            </a:extLst>
          </p:cNvPr>
          <p:cNvPicPr preferRelativeResize="0">
            <a:picLocks/>
          </p:cNvPicPr>
          <p:nvPr/>
        </p:nvPicPr>
        <p:blipFill rotWithShape="1">
          <a:blip r:embed="rId5">
            <a:extLst>
              <a:ext uri="{28A0092B-C50C-407E-A947-70E740481C1C}">
                <a14:useLocalDpi xmlns:a14="http://schemas.microsoft.com/office/drawing/2010/main"/>
              </a:ext>
            </a:extLst>
          </a:blip>
          <a:srcRect/>
          <a:stretch/>
        </p:blipFill>
        <p:spPr>
          <a:xfrm>
            <a:off x="8070959" y="2669173"/>
            <a:ext cx="3829099" cy="2647770"/>
          </a:xfrm>
          <a:prstGeom prst="rect">
            <a:avLst/>
          </a:prstGeom>
        </p:spPr>
      </p:pic>
      <p:sp>
        <p:nvSpPr>
          <p:cNvPr id="67" name="TextBox 66">
            <a:extLst>
              <a:ext uri="{FF2B5EF4-FFF2-40B4-BE49-F238E27FC236}">
                <a16:creationId xmlns:a16="http://schemas.microsoft.com/office/drawing/2014/main" id="{293C2F4B-5BEB-7D9C-D1A4-89C0C11D8E60}"/>
              </a:ext>
            </a:extLst>
          </p:cNvPr>
          <p:cNvSpPr txBox="1"/>
          <p:nvPr/>
        </p:nvSpPr>
        <p:spPr>
          <a:xfrm>
            <a:off x="4310693" y="1120814"/>
            <a:ext cx="3986723" cy="369332"/>
          </a:xfrm>
          <a:prstGeom prst="rect">
            <a:avLst/>
          </a:prstGeom>
          <a:noFill/>
        </p:spPr>
        <p:txBody>
          <a:bodyPr wrap="square" rtlCol="0">
            <a:spAutoFit/>
          </a:bodyPr>
          <a:lstStyle/>
          <a:p>
            <a:r>
              <a:rPr lang="en-CA" dirty="0"/>
              <a:t>1)    Invasion Game with Distraction </a:t>
            </a:r>
          </a:p>
        </p:txBody>
      </p:sp>
      <p:sp>
        <p:nvSpPr>
          <p:cNvPr id="68" name="TextBox 67">
            <a:extLst>
              <a:ext uri="{FF2B5EF4-FFF2-40B4-BE49-F238E27FC236}">
                <a16:creationId xmlns:a16="http://schemas.microsoft.com/office/drawing/2014/main" id="{0A633942-4B69-1D82-3E8C-DDA56641707F}"/>
              </a:ext>
            </a:extLst>
          </p:cNvPr>
          <p:cNvSpPr txBox="1"/>
          <p:nvPr/>
        </p:nvSpPr>
        <p:spPr>
          <a:xfrm>
            <a:off x="8121414" y="1120814"/>
            <a:ext cx="3243276" cy="369332"/>
          </a:xfrm>
          <a:prstGeom prst="rect">
            <a:avLst/>
          </a:prstGeom>
          <a:noFill/>
        </p:spPr>
        <p:txBody>
          <a:bodyPr wrap="square" rtlCol="0">
            <a:spAutoFit/>
          </a:bodyPr>
          <a:lstStyle/>
          <a:p>
            <a:r>
              <a:rPr lang="en-CA" dirty="0"/>
              <a:t>2)    Deceptive Invasion Game</a:t>
            </a:r>
          </a:p>
        </p:txBody>
      </p:sp>
      <p:grpSp>
        <p:nvGrpSpPr>
          <p:cNvPr id="85" name="Group 84">
            <a:extLst>
              <a:ext uri="{FF2B5EF4-FFF2-40B4-BE49-F238E27FC236}">
                <a16:creationId xmlns:a16="http://schemas.microsoft.com/office/drawing/2014/main" id="{621A746D-881B-FC31-57A0-C75EA7EE1219}"/>
              </a:ext>
            </a:extLst>
          </p:cNvPr>
          <p:cNvGrpSpPr/>
          <p:nvPr/>
        </p:nvGrpSpPr>
        <p:grpSpPr>
          <a:xfrm>
            <a:off x="444631" y="2054623"/>
            <a:ext cx="3620773" cy="2151797"/>
            <a:chOff x="288233" y="1389560"/>
            <a:chExt cx="3620773" cy="2151797"/>
          </a:xfrm>
        </p:grpSpPr>
        <p:cxnSp>
          <p:nvCxnSpPr>
            <p:cNvPr id="26" name="Straight Connector 25">
              <a:extLst>
                <a:ext uri="{FF2B5EF4-FFF2-40B4-BE49-F238E27FC236}">
                  <a16:creationId xmlns:a16="http://schemas.microsoft.com/office/drawing/2014/main" id="{6AFB1D3D-4AFF-273F-739B-538C605D54F5}"/>
                </a:ext>
              </a:extLst>
            </p:cNvPr>
            <p:cNvCxnSpPr/>
            <p:nvPr/>
          </p:nvCxnSpPr>
          <p:spPr>
            <a:xfrm>
              <a:off x="999912" y="2683134"/>
              <a:ext cx="0" cy="207466"/>
            </a:xfrm>
            <a:prstGeom prst="line">
              <a:avLst/>
            </a:prstGeom>
            <a:noFill/>
            <a:ln w="25400" cap="flat" cmpd="sng" algn="ctr">
              <a:solidFill>
                <a:sysClr val="windowText" lastClr="000000"/>
              </a:solidFill>
              <a:prstDash val="solid"/>
            </a:ln>
            <a:effectLst>
              <a:outerShdw blurRad="40000" dist="20000" dir="5400000" rotWithShape="0">
                <a:srgbClr val="000000">
                  <a:alpha val="38000"/>
                </a:srgbClr>
              </a:outerShdw>
            </a:effectLst>
          </p:spPr>
        </p:cxnSp>
        <p:cxnSp>
          <p:nvCxnSpPr>
            <p:cNvPr id="27" name="Straight Connector 26">
              <a:extLst>
                <a:ext uri="{FF2B5EF4-FFF2-40B4-BE49-F238E27FC236}">
                  <a16:creationId xmlns:a16="http://schemas.microsoft.com/office/drawing/2014/main" id="{14F57400-4F66-2000-D0C8-E253FF0335BF}"/>
                </a:ext>
              </a:extLst>
            </p:cNvPr>
            <p:cNvCxnSpPr/>
            <p:nvPr/>
          </p:nvCxnSpPr>
          <p:spPr>
            <a:xfrm>
              <a:off x="1257931" y="2683134"/>
              <a:ext cx="0" cy="207466"/>
            </a:xfrm>
            <a:prstGeom prst="line">
              <a:avLst/>
            </a:prstGeom>
            <a:noFill/>
            <a:ln w="25400" cap="flat" cmpd="sng" algn="ctr">
              <a:solidFill>
                <a:sysClr val="windowText" lastClr="000000"/>
              </a:solidFill>
              <a:prstDash val="solid"/>
            </a:ln>
            <a:effectLst>
              <a:outerShdw blurRad="40000" dist="20000" dir="5400000" rotWithShape="0">
                <a:srgbClr val="000000">
                  <a:alpha val="38000"/>
                </a:srgbClr>
              </a:outerShdw>
            </a:effectLst>
          </p:spPr>
        </p:cxnSp>
        <p:cxnSp>
          <p:nvCxnSpPr>
            <p:cNvPr id="28" name="Straight Connector 27">
              <a:extLst>
                <a:ext uri="{FF2B5EF4-FFF2-40B4-BE49-F238E27FC236}">
                  <a16:creationId xmlns:a16="http://schemas.microsoft.com/office/drawing/2014/main" id="{9D5DC4D6-77A1-C6A6-D117-7E04C424C20F}"/>
                </a:ext>
              </a:extLst>
            </p:cNvPr>
            <p:cNvCxnSpPr/>
            <p:nvPr/>
          </p:nvCxnSpPr>
          <p:spPr>
            <a:xfrm>
              <a:off x="1257931" y="2786867"/>
              <a:ext cx="711679" cy="0"/>
            </a:xfrm>
            <a:prstGeom prst="line">
              <a:avLst/>
            </a:prstGeom>
            <a:noFill/>
            <a:ln w="25400" cap="flat" cmpd="sng" algn="ctr">
              <a:solidFill>
                <a:sysClr val="windowText" lastClr="000000"/>
              </a:solidFill>
              <a:prstDash val="solid"/>
            </a:ln>
            <a:effectLst>
              <a:outerShdw blurRad="40000" dist="20000" dir="5400000" rotWithShape="0">
                <a:srgbClr val="000000">
                  <a:alpha val="38000"/>
                </a:srgbClr>
              </a:outerShdw>
            </a:effectLst>
          </p:spPr>
        </p:cxnSp>
        <p:cxnSp>
          <p:nvCxnSpPr>
            <p:cNvPr id="29" name="Straight Connector 28">
              <a:extLst>
                <a:ext uri="{FF2B5EF4-FFF2-40B4-BE49-F238E27FC236}">
                  <a16:creationId xmlns:a16="http://schemas.microsoft.com/office/drawing/2014/main" id="{C6213B78-6E8D-E948-1D1E-4001DDA6C7E0}"/>
                </a:ext>
              </a:extLst>
            </p:cNvPr>
            <p:cNvCxnSpPr/>
            <p:nvPr/>
          </p:nvCxnSpPr>
          <p:spPr>
            <a:xfrm>
              <a:off x="288233" y="2786867"/>
              <a:ext cx="711679" cy="0"/>
            </a:xfrm>
            <a:prstGeom prst="line">
              <a:avLst/>
            </a:prstGeom>
            <a:noFill/>
            <a:ln w="25400" cap="flat" cmpd="sng" algn="ctr">
              <a:solidFill>
                <a:sysClr val="windowText" lastClr="000000"/>
              </a:solidFill>
              <a:prstDash val="solid"/>
            </a:ln>
            <a:effectLst>
              <a:outerShdw blurRad="40000" dist="20000" dir="5400000" rotWithShape="0">
                <a:srgbClr val="000000">
                  <a:alpha val="38000"/>
                </a:srgbClr>
              </a:outerShdw>
            </a:effectLst>
          </p:spPr>
        </p:cxnSp>
        <p:cxnSp>
          <p:nvCxnSpPr>
            <p:cNvPr id="30" name="Straight Connector 29">
              <a:extLst>
                <a:ext uri="{FF2B5EF4-FFF2-40B4-BE49-F238E27FC236}">
                  <a16:creationId xmlns:a16="http://schemas.microsoft.com/office/drawing/2014/main" id="{87DC7646-ADF4-8728-2FD5-0218D029A8E2}"/>
                </a:ext>
              </a:extLst>
            </p:cNvPr>
            <p:cNvCxnSpPr/>
            <p:nvPr/>
          </p:nvCxnSpPr>
          <p:spPr>
            <a:xfrm>
              <a:off x="1963939" y="2683134"/>
              <a:ext cx="0" cy="207466"/>
            </a:xfrm>
            <a:prstGeom prst="line">
              <a:avLst/>
            </a:prstGeom>
            <a:noFill/>
            <a:ln w="25400" cap="flat" cmpd="sng" algn="ctr">
              <a:solidFill>
                <a:sysClr val="windowText" lastClr="000000"/>
              </a:solidFill>
              <a:prstDash val="solid"/>
            </a:ln>
            <a:effectLst>
              <a:outerShdw blurRad="40000" dist="20000" dir="5400000" rotWithShape="0">
                <a:srgbClr val="000000">
                  <a:alpha val="38000"/>
                </a:srgbClr>
              </a:outerShdw>
            </a:effectLst>
          </p:spPr>
        </p:cxnSp>
        <p:cxnSp>
          <p:nvCxnSpPr>
            <p:cNvPr id="31" name="Straight Connector 30">
              <a:extLst>
                <a:ext uri="{FF2B5EF4-FFF2-40B4-BE49-F238E27FC236}">
                  <a16:creationId xmlns:a16="http://schemas.microsoft.com/office/drawing/2014/main" id="{886352AA-9929-0EAD-16DE-1421A5614972}"/>
                </a:ext>
              </a:extLst>
            </p:cNvPr>
            <p:cNvCxnSpPr/>
            <p:nvPr/>
          </p:nvCxnSpPr>
          <p:spPr>
            <a:xfrm>
              <a:off x="2221958" y="2683134"/>
              <a:ext cx="0" cy="207466"/>
            </a:xfrm>
            <a:prstGeom prst="line">
              <a:avLst/>
            </a:prstGeom>
            <a:noFill/>
            <a:ln w="25400" cap="flat" cmpd="sng" algn="ctr">
              <a:solidFill>
                <a:sysClr val="windowText" lastClr="000000"/>
              </a:solidFill>
              <a:prstDash val="solid"/>
            </a:ln>
            <a:effectLst>
              <a:outerShdw blurRad="40000" dist="20000" dir="5400000" rotWithShape="0">
                <a:srgbClr val="000000">
                  <a:alpha val="38000"/>
                </a:srgbClr>
              </a:outerShdw>
            </a:effectLst>
          </p:spPr>
        </p:cxnSp>
        <p:cxnSp>
          <p:nvCxnSpPr>
            <p:cNvPr id="32" name="Straight Connector 31">
              <a:extLst>
                <a:ext uri="{FF2B5EF4-FFF2-40B4-BE49-F238E27FC236}">
                  <a16:creationId xmlns:a16="http://schemas.microsoft.com/office/drawing/2014/main" id="{7C8B8122-A6B5-3105-1140-D1878A077BEB}"/>
                </a:ext>
              </a:extLst>
            </p:cNvPr>
            <p:cNvCxnSpPr/>
            <p:nvPr/>
          </p:nvCxnSpPr>
          <p:spPr>
            <a:xfrm>
              <a:off x="2221958" y="2786867"/>
              <a:ext cx="711679" cy="0"/>
            </a:xfrm>
            <a:prstGeom prst="line">
              <a:avLst/>
            </a:prstGeom>
            <a:noFill/>
            <a:ln w="25400" cap="flat" cmpd="sng" algn="ctr">
              <a:solidFill>
                <a:sysClr val="windowText" lastClr="000000"/>
              </a:solidFill>
              <a:prstDash val="solid"/>
            </a:ln>
            <a:effectLst>
              <a:outerShdw blurRad="40000" dist="20000" dir="5400000" rotWithShape="0">
                <a:srgbClr val="000000">
                  <a:alpha val="38000"/>
                </a:srgbClr>
              </a:outerShdw>
            </a:effectLst>
          </p:spPr>
        </p:cxnSp>
        <p:cxnSp>
          <p:nvCxnSpPr>
            <p:cNvPr id="33" name="Straight Connector 32">
              <a:extLst>
                <a:ext uri="{FF2B5EF4-FFF2-40B4-BE49-F238E27FC236}">
                  <a16:creationId xmlns:a16="http://schemas.microsoft.com/office/drawing/2014/main" id="{D2B60695-ED44-B660-BBF5-BA5BA9950390}"/>
                </a:ext>
              </a:extLst>
            </p:cNvPr>
            <p:cNvCxnSpPr/>
            <p:nvPr/>
          </p:nvCxnSpPr>
          <p:spPr>
            <a:xfrm>
              <a:off x="2939308" y="2683134"/>
              <a:ext cx="0" cy="207466"/>
            </a:xfrm>
            <a:prstGeom prst="line">
              <a:avLst/>
            </a:prstGeom>
            <a:noFill/>
            <a:ln w="25400" cap="flat" cmpd="sng" algn="ctr">
              <a:solidFill>
                <a:sysClr val="windowText" lastClr="000000"/>
              </a:solidFill>
              <a:prstDash val="solid"/>
            </a:ln>
            <a:effectLst>
              <a:outerShdw blurRad="40000" dist="20000" dir="5400000" rotWithShape="0">
                <a:srgbClr val="000000">
                  <a:alpha val="38000"/>
                </a:srgbClr>
              </a:outerShdw>
            </a:effectLst>
          </p:spPr>
        </p:cxnSp>
        <p:cxnSp>
          <p:nvCxnSpPr>
            <p:cNvPr id="34" name="Straight Connector 33">
              <a:extLst>
                <a:ext uri="{FF2B5EF4-FFF2-40B4-BE49-F238E27FC236}">
                  <a16:creationId xmlns:a16="http://schemas.microsoft.com/office/drawing/2014/main" id="{B5C68B99-9273-E927-8863-BE16A8FBE07A}"/>
                </a:ext>
              </a:extLst>
            </p:cNvPr>
            <p:cNvCxnSpPr/>
            <p:nvPr/>
          </p:nvCxnSpPr>
          <p:spPr>
            <a:xfrm>
              <a:off x="3197327" y="2683134"/>
              <a:ext cx="0" cy="207466"/>
            </a:xfrm>
            <a:prstGeom prst="line">
              <a:avLst/>
            </a:prstGeom>
            <a:noFill/>
            <a:ln w="25400" cap="flat" cmpd="sng" algn="ctr">
              <a:solidFill>
                <a:sysClr val="windowText" lastClr="000000"/>
              </a:solidFill>
              <a:prstDash val="solid"/>
            </a:ln>
            <a:effectLst>
              <a:outerShdw blurRad="40000" dist="20000" dir="5400000" rotWithShape="0">
                <a:srgbClr val="000000">
                  <a:alpha val="38000"/>
                </a:srgbClr>
              </a:outerShdw>
            </a:effectLst>
          </p:spPr>
        </p:cxnSp>
        <p:cxnSp>
          <p:nvCxnSpPr>
            <p:cNvPr id="35" name="Straight Connector 34">
              <a:extLst>
                <a:ext uri="{FF2B5EF4-FFF2-40B4-BE49-F238E27FC236}">
                  <a16:creationId xmlns:a16="http://schemas.microsoft.com/office/drawing/2014/main" id="{7B423C72-0AC4-F0ED-84FF-6D3D45095993}"/>
                </a:ext>
              </a:extLst>
            </p:cNvPr>
            <p:cNvCxnSpPr/>
            <p:nvPr/>
          </p:nvCxnSpPr>
          <p:spPr>
            <a:xfrm>
              <a:off x="3197327" y="2786867"/>
              <a:ext cx="711679" cy="0"/>
            </a:xfrm>
            <a:prstGeom prst="line">
              <a:avLst/>
            </a:prstGeom>
            <a:noFill/>
            <a:ln w="25400" cap="flat" cmpd="sng" algn="ctr">
              <a:solidFill>
                <a:sysClr val="windowText" lastClr="000000"/>
              </a:solidFill>
              <a:prstDash val="solid"/>
            </a:ln>
            <a:effectLst>
              <a:outerShdw blurRad="40000" dist="20000" dir="5400000" rotWithShape="0">
                <a:srgbClr val="000000">
                  <a:alpha val="38000"/>
                </a:srgbClr>
              </a:outerShdw>
            </a:effectLst>
          </p:spPr>
        </p:cxnSp>
        <p:sp>
          <p:nvSpPr>
            <p:cNvPr id="66" name="Triangle 65">
              <a:extLst>
                <a:ext uri="{FF2B5EF4-FFF2-40B4-BE49-F238E27FC236}">
                  <a16:creationId xmlns:a16="http://schemas.microsoft.com/office/drawing/2014/main" id="{1D4D3307-4D7A-4D02-65B9-FD51A6B345E4}"/>
                </a:ext>
              </a:extLst>
            </p:cNvPr>
            <p:cNvSpPr/>
            <p:nvPr/>
          </p:nvSpPr>
          <p:spPr>
            <a:xfrm rot="10800000">
              <a:off x="1789508" y="2045966"/>
              <a:ext cx="578734" cy="542642"/>
            </a:xfrm>
            <a:prstGeom prst="triangl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9" name="Triangle 68">
              <a:extLst>
                <a:ext uri="{FF2B5EF4-FFF2-40B4-BE49-F238E27FC236}">
                  <a16:creationId xmlns:a16="http://schemas.microsoft.com/office/drawing/2014/main" id="{148DFC1A-5196-757A-1958-0C2786B96D42}"/>
                </a:ext>
              </a:extLst>
            </p:cNvPr>
            <p:cNvSpPr/>
            <p:nvPr/>
          </p:nvSpPr>
          <p:spPr>
            <a:xfrm>
              <a:off x="1789508" y="2998715"/>
              <a:ext cx="578734" cy="542642"/>
            </a:xfrm>
            <a:prstGeom prst="triangl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E624B1B4-E8F0-42EC-3C79-796C41B1C6F5}"/>
                    </a:ext>
                  </a:extLst>
                </p:cNvPr>
                <p:cNvSpPr txBox="1"/>
                <p:nvPr/>
              </p:nvSpPr>
              <p:spPr>
                <a:xfrm>
                  <a:off x="1932532" y="2036285"/>
                  <a:ext cx="32768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A" i="1" dirty="0" smtClean="0">
                            <a:solidFill>
                              <a:schemeClr val="bg1"/>
                            </a:solidFill>
                            <a:latin typeface="Cambria Math" panose="02040503050406030204" pitchFamily="18" charset="0"/>
                          </a:rPr>
                          <m:t>𝐴</m:t>
                        </m:r>
                      </m:oMath>
                    </m:oMathPara>
                  </a14:m>
                  <a:endParaRPr lang="en-CA" dirty="0">
                    <a:solidFill>
                      <a:schemeClr val="bg1"/>
                    </a:solidFill>
                  </a:endParaRPr>
                </a:p>
              </p:txBody>
            </p:sp>
          </mc:Choice>
          <mc:Fallback xmlns="">
            <p:sp>
              <p:nvSpPr>
                <p:cNvPr id="70" name="TextBox 69">
                  <a:extLst>
                    <a:ext uri="{FF2B5EF4-FFF2-40B4-BE49-F238E27FC236}">
                      <a16:creationId xmlns:a16="http://schemas.microsoft.com/office/drawing/2014/main" id="{E624B1B4-E8F0-42EC-3C79-796C41B1C6F5}"/>
                    </a:ext>
                  </a:extLst>
                </p:cNvPr>
                <p:cNvSpPr txBox="1">
                  <a:spLocks noRot="1" noChangeAspect="1" noMove="1" noResize="1" noEditPoints="1" noAdjustHandles="1" noChangeArrowheads="1" noChangeShapeType="1" noTextEdit="1"/>
                </p:cNvSpPr>
                <p:nvPr/>
              </p:nvSpPr>
              <p:spPr>
                <a:xfrm>
                  <a:off x="1932532" y="2036285"/>
                  <a:ext cx="327680"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BACB40E3-486E-E381-DBDB-6EC83FD0E5F5}"/>
                    </a:ext>
                  </a:extLst>
                </p:cNvPr>
                <p:cNvSpPr txBox="1"/>
                <p:nvPr/>
              </p:nvSpPr>
              <p:spPr>
                <a:xfrm>
                  <a:off x="1913469" y="3154071"/>
                  <a:ext cx="271112" cy="37065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CA" i="1" dirty="0" smtClean="0">
                            <a:latin typeface="Cambria Math" panose="02040503050406030204" pitchFamily="18" charset="0"/>
                          </a:rPr>
                          <m:t>𝐷</m:t>
                        </m:r>
                      </m:oMath>
                    </m:oMathPara>
                  </a14:m>
                  <a:endParaRPr lang="en-CA" dirty="0"/>
                </a:p>
              </p:txBody>
            </p:sp>
          </mc:Choice>
          <mc:Fallback xmlns="">
            <p:sp>
              <p:nvSpPr>
                <p:cNvPr id="71" name="TextBox 70">
                  <a:extLst>
                    <a:ext uri="{FF2B5EF4-FFF2-40B4-BE49-F238E27FC236}">
                      <a16:creationId xmlns:a16="http://schemas.microsoft.com/office/drawing/2014/main" id="{BACB40E3-486E-E381-DBDB-6EC83FD0E5F5}"/>
                    </a:ext>
                  </a:extLst>
                </p:cNvPr>
                <p:cNvSpPr txBox="1">
                  <a:spLocks noRot="1" noChangeAspect="1" noMove="1" noResize="1" noEditPoints="1" noAdjustHandles="1" noChangeArrowheads="1" noChangeShapeType="1" noTextEdit="1"/>
                </p:cNvSpPr>
                <p:nvPr/>
              </p:nvSpPr>
              <p:spPr>
                <a:xfrm>
                  <a:off x="1913469" y="3154071"/>
                  <a:ext cx="271112" cy="370656"/>
                </a:xfrm>
                <a:prstGeom prst="rect">
                  <a:avLst/>
                </a:prstGeom>
                <a:blipFill>
                  <a:blip r:embed="rId7"/>
                  <a:stretch>
                    <a:fillRect r="-22727"/>
                  </a:stretch>
                </a:blipFill>
              </p:spPr>
              <p:txBody>
                <a:bodyPr/>
                <a:lstStyle/>
                <a:p>
                  <a:r>
                    <a:rPr lang="en-US">
                      <a:noFill/>
                    </a:rPr>
                    <a:t> </a:t>
                  </a:r>
                </a:p>
              </p:txBody>
            </p:sp>
          </mc:Fallback>
        </mc:AlternateContent>
        <p:cxnSp>
          <p:nvCxnSpPr>
            <p:cNvPr id="73" name="Straight Arrow Connector 72">
              <a:extLst>
                <a:ext uri="{FF2B5EF4-FFF2-40B4-BE49-F238E27FC236}">
                  <a16:creationId xmlns:a16="http://schemas.microsoft.com/office/drawing/2014/main" id="{BBD18424-C7DD-CFFD-3CF8-4959C968E891}"/>
                </a:ext>
              </a:extLst>
            </p:cNvPr>
            <p:cNvCxnSpPr/>
            <p:nvPr/>
          </p:nvCxnSpPr>
          <p:spPr>
            <a:xfrm>
              <a:off x="2423340" y="3272752"/>
              <a:ext cx="447893"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58A6C841-3A95-C12B-C657-542E638D7270}"/>
                </a:ext>
              </a:extLst>
            </p:cNvPr>
            <p:cNvCxnSpPr>
              <a:cxnSpLocks/>
            </p:cNvCxnSpPr>
            <p:nvPr/>
          </p:nvCxnSpPr>
          <p:spPr>
            <a:xfrm flipH="1">
              <a:off x="1269983" y="3272752"/>
              <a:ext cx="467811"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7" name="TextBox 76">
              <a:extLst>
                <a:ext uri="{FF2B5EF4-FFF2-40B4-BE49-F238E27FC236}">
                  <a16:creationId xmlns:a16="http://schemas.microsoft.com/office/drawing/2014/main" id="{6730C42A-F639-F3F5-8908-3A3C5E069C6D}"/>
                </a:ext>
              </a:extLst>
            </p:cNvPr>
            <p:cNvSpPr txBox="1"/>
            <p:nvPr/>
          </p:nvSpPr>
          <p:spPr>
            <a:xfrm>
              <a:off x="927122" y="3088859"/>
              <a:ext cx="378100" cy="369332"/>
            </a:xfrm>
            <a:prstGeom prst="rect">
              <a:avLst/>
            </a:prstGeom>
            <a:noFill/>
          </p:spPr>
          <p:txBody>
            <a:bodyPr wrap="square" rtlCol="0">
              <a:spAutoFit/>
            </a:bodyPr>
            <a:lstStyle/>
            <a:p>
              <a:r>
                <a:rPr lang="en-CA" dirty="0"/>
                <a:t>?</a:t>
              </a:r>
            </a:p>
          </p:txBody>
        </p:sp>
        <p:sp>
          <p:nvSpPr>
            <p:cNvPr id="78" name="TextBox 77">
              <a:extLst>
                <a:ext uri="{FF2B5EF4-FFF2-40B4-BE49-F238E27FC236}">
                  <a16:creationId xmlns:a16="http://schemas.microsoft.com/office/drawing/2014/main" id="{DF0FF035-8F1A-5643-3FE1-C2BE9ABA05FD}"/>
                </a:ext>
              </a:extLst>
            </p:cNvPr>
            <p:cNvSpPr txBox="1"/>
            <p:nvPr/>
          </p:nvSpPr>
          <p:spPr>
            <a:xfrm>
              <a:off x="2927190" y="3076004"/>
              <a:ext cx="378100" cy="369332"/>
            </a:xfrm>
            <a:prstGeom prst="rect">
              <a:avLst/>
            </a:prstGeom>
            <a:noFill/>
          </p:spPr>
          <p:txBody>
            <a:bodyPr wrap="square" rtlCol="0">
              <a:spAutoFit/>
            </a:bodyPr>
            <a:lstStyle/>
            <a:p>
              <a:r>
                <a:rPr lang="en-CA" dirty="0"/>
                <a:t>?</a:t>
              </a:r>
            </a:p>
          </p:txBody>
        </p:sp>
        <p:cxnSp>
          <p:nvCxnSpPr>
            <p:cNvPr id="79" name="Straight Arrow Connector 78">
              <a:extLst>
                <a:ext uri="{FF2B5EF4-FFF2-40B4-BE49-F238E27FC236}">
                  <a16:creationId xmlns:a16="http://schemas.microsoft.com/office/drawing/2014/main" id="{3E7C85F0-A1E5-41B0-C4EC-1FB61679961D}"/>
                </a:ext>
              </a:extLst>
            </p:cNvPr>
            <p:cNvCxnSpPr/>
            <p:nvPr/>
          </p:nvCxnSpPr>
          <p:spPr>
            <a:xfrm>
              <a:off x="2417007" y="2302702"/>
              <a:ext cx="447893"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14639E67-E102-1457-7299-7731D529A5F9}"/>
                </a:ext>
              </a:extLst>
            </p:cNvPr>
            <p:cNvCxnSpPr>
              <a:cxnSpLocks/>
            </p:cNvCxnSpPr>
            <p:nvPr/>
          </p:nvCxnSpPr>
          <p:spPr>
            <a:xfrm flipH="1">
              <a:off x="1263650" y="2302702"/>
              <a:ext cx="467811"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1" name="TextBox 80">
              <a:extLst>
                <a:ext uri="{FF2B5EF4-FFF2-40B4-BE49-F238E27FC236}">
                  <a16:creationId xmlns:a16="http://schemas.microsoft.com/office/drawing/2014/main" id="{6FD00BE0-973F-81FD-BC22-1A906B7747A5}"/>
                </a:ext>
              </a:extLst>
            </p:cNvPr>
            <p:cNvSpPr txBox="1"/>
            <p:nvPr/>
          </p:nvSpPr>
          <p:spPr>
            <a:xfrm>
              <a:off x="920789" y="2118809"/>
              <a:ext cx="378100" cy="369332"/>
            </a:xfrm>
            <a:prstGeom prst="rect">
              <a:avLst/>
            </a:prstGeom>
            <a:noFill/>
          </p:spPr>
          <p:txBody>
            <a:bodyPr wrap="square" rtlCol="0">
              <a:spAutoFit/>
            </a:bodyPr>
            <a:lstStyle/>
            <a:p>
              <a:r>
                <a:rPr lang="en-CA" dirty="0"/>
                <a:t>?</a:t>
              </a:r>
            </a:p>
          </p:txBody>
        </p:sp>
        <p:sp>
          <p:nvSpPr>
            <p:cNvPr id="82" name="TextBox 81">
              <a:extLst>
                <a:ext uri="{FF2B5EF4-FFF2-40B4-BE49-F238E27FC236}">
                  <a16:creationId xmlns:a16="http://schemas.microsoft.com/office/drawing/2014/main" id="{9EB6D139-4BD4-0402-CA7A-D9FAD4B9FED0}"/>
                </a:ext>
              </a:extLst>
            </p:cNvPr>
            <p:cNvSpPr txBox="1"/>
            <p:nvPr/>
          </p:nvSpPr>
          <p:spPr>
            <a:xfrm>
              <a:off x="2920857" y="2105954"/>
              <a:ext cx="378100" cy="369332"/>
            </a:xfrm>
            <a:prstGeom prst="rect">
              <a:avLst/>
            </a:prstGeom>
            <a:noFill/>
          </p:spPr>
          <p:txBody>
            <a:bodyPr wrap="square" rtlCol="0">
              <a:spAutoFit/>
            </a:bodyPr>
            <a:lstStyle/>
            <a:p>
              <a:r>
                <a:rPr lang="en-CA" dirty="0"/>
                <a:t>?</a:t>
              </a:r>
            </a:p>
          </p:txBody>
        </p:sp>
        <p:sp>
          <p:nvSpPr>
            <p:cNvPr id="83" name="Rounded Rectangular Callout 82">
              <a:extLst>
                <a:ext uri="{FF2B5EF4-FFF2-40B4-BE49-F238E27FC236}">
                  <a16:creationId xmlns:a16="http://schemas.microsoft.com/office/drawing/2014/main" id="{D5E028F9-4BBB-C15F-90D4-2630946D1FDA}"/>
                </a:ext>
              </a:extLst>
            </p:cNvPr>
            <p:cNvSpPr/>
            <p:nvPr/>
          </p:nvSpPr>
          <p:spPr>
            <a:xfrm>
              <a:off x="1943319" y="1389560"/>
              <a:ext cx="1369380" cy="433866"/>
            </a:xfrm>
            <a:prstGeom prst="wedgeRoundRectCallout">
              <a:avLst>
                <a:gd name="adj1" fmla="val -42810"/>
                <a:gd name="adj2" fmla="val 91846"/>
                <a:gd name="adj3" fmla="val 16667"/>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4" name="Right Arrow 83">
              <a:extLst>
                <a:ext uri="{FF2B5EF4-FFF2-40B4-BE49-F238E27FC236}">
                  <a16:creationId xmlns:a16="http://schemas.microsoft.com/office/drawing/2014/main" id="{8F4F1256-64E6-F973-638D-F5577DC49DEF}"/>
                </a:ext>
              </a:extLst>
            </p:cNvPr>
            <p:cNvSpPr/>
            <p:nvPr/>
          </p:nvSpPr>
          <p:spPr>
            <a:xfrm>
              <a:off x="2038419" y="1513825"/>
              <a:ext cx="329919" cy="12929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8" name="Oval 37">
              <a:extLst>
                <a:ext uri="{FF2B5EF4-FFF2-40B4-BE49-F238E27FC236}">
                  <a16:creationId xmlns:a16="http://schemas.microsoft.com/office/drawing/2014/main" id="{760FDA27-5C89-FC45-7DF0-AA1763977FE3}"/>
                </a:ext>
              </a:extLst>
            </p:cNvPr>
            <p:cNvSpPr/>
            <p:nvPr/>
          </p:nvSpPr>
          <p:spPr>
            <a:xfrm>
              <a:off x="2930885" y="1483240"/>
              <a:ext cx="275033" cy="227104"/>
            </a:xfrm>
            <a:prstGeom prst="ellipse">
              <a:avLst/>
            </a:prstGeom>
            <a:no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a:ln>
                  <a:noFill/>
                </a:ln>
                <a:solidFill>
                  <a:prstClr val="white"/>
                </a:solidFill>
                <a:effectLst/>
                <a:uLnTx/>
                <a:uFillTx/>
                <a:latin typeface="Calibri"/>
                <a:ea typeface="+mn-ea"/>
                <a:cs typeface="+mn-cs"/>
              </a:endParaRPr>
            </a:p>
          </p:txBody>
        </p:sp>
        <p:sp>
          <p:nvSpPr>
            <p:cNvPr id="40" name="Freeform: Shape 26">
              <a:extLst>
                <a:ext uri="{FF2B5EF4-FFF2-40B4-BE49-F238E27FC236}">
                  <a16:creationId xmlns:a16="http://schemas.microsoft.com/office/drawing/2014/main" id="{F08667D4-0A61-158B-D422-6AF28C9CFB86}"/>
                </a:ext>
              </a:extLst>
            </p:cNvPr>
            <p:cNvSpPr/>
            <p:nvPr/>
          </p:nvSpPr>
          <p:spPr>
            <a:xfrm>
              <a:off x="2489873" y="1477359"/>
              <a:ext cx="342761" cy="226114"/>
            </a:xfrm>
            <a:custGeom>
              <a:avLst/>
              <a:gdLst>
                <a:gd name="connsiteX0" fmla="*/ 270927 w 804416"/>
                <a:gd name="connsiteY0" fmla="*/ 0 h 657225"/>
                <a:gd name="connsiteX1" fmla="*/ 270927 w 804416"/>
                <a:gd name="connsiteY1" fmla="*/ 0 h 657225"/>
                <a:gd name="connsiteX2" fmla="*/ 194727 w 804416"/>
                <a:gd name="connsiteY2" fmla="*/ 28575 h 657225"/>
                <a:gd name="connsiteX3" fmla="*/ 147102 w 804416"/>
                <a:gd name="connsiteY3" fmla="*/ 76200 h 657225"/>
                <a:gd name="connsiteX4" fmla="*/ 61377 w 804416"/>
                <a:gd name="connsiteY4" fmla="*/ 228600 h 657225"/>
                <a:gd name="connsiteX5" fmla="*/ 23277 w 804416"/>
                <a:gd name="connsiteY5" fmla="*/ 276225 h 657225"/>
                <a:gd name="connsiteX6" fmla="*/ 13752 w 804416"/>
                <a:gd name="connsiteY6" fmla="*/ 457200 h 657225"/>
                <a:gd name="connsiteX7" fmla="*/ 80427 w 804416"/>
                <a:gd name="connsiteY7" fmla="*/ 514350 h 657225"/>
                <a:gd name="connsiteX8" fmla="*/ 156627 w 804416"/>
                <a:gd name="connsiteY8" fmla="*/ 590550 h 657225"/>
                <a:gd name="connsiteX9" fmla="*/ 251877 w 804416"/>
                <a:gd name="connsiteY9" fmla="*/ 628650 h 657225"/>
                <a:gd name="connsiteX10" fmla="*/ 423327 w 804416"/>
                <a:gd name="connsiteY10" fmla="*/ 657225 h 657225"/>
                <a:gd name="connsiteX11" fmla="*/ 575727 w 804416"/>
                <a:gd name="connsiteY11" fmla="*/ 619125 h 657225"/>
                <a:gd name="connsiteX12" fmla="*/ 613827 w 804416"/>
                <a:gd name="connsiteY12" fmla="*/ 590550 h 657225"/>
                <a:gd name="connsiteX13" fmla="*/ 690027 w 804416"/>
                <a:gd name="connsiteY13" fmla="*/ 514350 h 657225"/>
                <a:gd name="connsiteX14" fmla="*/ 756702 w 804416"/>
                <a:gd name="connsiteY14" fmla="*/ 466725 h 657225"/>
                <a:gd name="connsiteX15" fmla="*/ 804327 w 804416"/>
                <a:gd name="connsiteY15" fmla="*/ 342900 h 657225"/>
                <a:gd name="connsiteX16" fmla="*/ 794802 w 804416"/>
                <a:gd name="connsiteY16" fmla="*/ 314325 h 657225"/>
                <a:gd name="connsiteX17" fmla="*/ 775752 w 804416"/>
                <a:gd name="connsiteY17" fmla="*/ 247650 h 657225"/>
                <a:gd name="connsiteX18" fmla="*/ 690027 w 804416"/>
                <a:gd name="connsiteY18" fmla="*/ 180975 h 657225"/>
                <a:gd name="connsiteX19" fmla="*/ 661452 w 804416"/>
                <a:gd name="connsiteY19" fmla="*/ 161925 h 657225"/>
                <a:gd name="connsiteX20" fmla="*/ 632877 w 804416"/>
                <a:gd name="connsiteY20" fmla="*/ 152400 h 657225"/>
                <a:gd name="connsiteX21" fmla="*/ 556677 w 804416"/>
                <a:gd name="connsiteY21" fmla="*/ 104775 h 657225"/>
                <a:gd name="connsiteX22" fmla="*/ 499527 w 804416"/>
                <a:gd name="connsiteY22" fmla="*/ 76200 h 657225"/>
                <a:gd name="connsiteX23" fmla="*/ 470952 w 804416"/>
                <a:gd name="connsiteY23" fmla="*/ 66675 h 657225"/>
                <a:gd name="connsiteX24" fmla="*/ 442377 w 804416"/>
                <a:gd name="connsiteY24" fmla="*/ 47625 h 657225"/>
                <a:gd name="connsiteX25" fmla="*/ 413802 w 804416"/>
                <a:gd name="connsiteY25" fmla="*/ 38100 h 657225"/>
                <a:gd name="connsiteX26" fmla="*/ 366177 w 804416"/>
                <a:gd name="connsiteY26" fmla="*/ 19050 h 657225"/>
                <a:gd name="connsiteX27" fmla="*/ 270927 w 804416"/>
                <a:gd name="connsiteY27" fmla="*/ 0 h 657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04416" h="657225">
                  <a:moveTo>
                    <a:pt x="270927" y="0"/>
                  </a:moveTo>
                  <a:lnTo>
                    <a:pt x="270927" y="0"/>
                  </a:lnTo>
                  <a:cubicBezTo>
                    <a:pt x="245527" y="9525"/>
                    <a:pt x="217830" y="14358"/>
                    <a:pt x="194727" y="28575"/>
                  </a:cubicBezTo>
                  <a:cubicBezTo>
                    <a:pt x="175607" y="40341"/>
                    <a:pt x="160790" y="58405"/>
                    <a:pt x="147102" y="76200"/>
                  </a:cubicBezTo>
                  <a:cubicBezTo>
                    <a:pt x="79610" y="163940"/>
                    <a:pt x="117439" y="137500"/>
                    <a:pt x="61377" y="228600"/>
                  </a:cubicBezTo>
                  <a:cubicBezTo>
                    <a:pt x="50722" y="245914"/>
                    <a:pt x="35977" y="260350"/>
                    <a:pt x="23277" y="276225"/>
                  </a:cubicBezTo>
                  <a:cubicBezTo>
                    <a:pt x="8590" y="334974"/>
                    <a:pt x="-15380" y="395295"/>
                    <a:pt x="13752" y="457200"/>
                  </a:cubicBezTo>
                  <a:cubicBezTo>
                    <a:pt x="26216" y="483686"/>
                    <a:pt x="59028" y="494377"/>
                    <a:pt x="80427" y="514350"/>
                  </a:cubicBezTo>
                  <a:cubicBezTo>
                    <a:pt x="106687" y="538860"/>
                    <a:pt x="126739" y="570625"/>
                    <a:pt x="156627" y="590550"/>
                  </a:cubicBezTo>
                  <a:cubicBezTo>
                    <a:pt x="185080" y="609518"/>
                    <a:pt x="218702" y="620356"/>
                    <a:pt x="251877" y="628650"/>
                  </a:cubicBezTo>
                  <a:cubicBezTo>
                    <a:pt x="308085" y="642702"/>
                    <a:pt x="423327" y="657225"/>
                    <a:pt x="423327" y="657225"/>
                  </a:cubicBezTo>
                  <a:cubicBezTo>
                    <a:pt x="474127" y="644525"/>
                    <a:pt x="526303" y="636423"/>
                    <a:pt x="575727" y="619125"/>
                  </a:cubicBezTo>
                  <a:cubicBezTo>
                    <a:pt x="590711" y="613881"/>
                    <a:pt x="602125" y="601277"/>
                    <a:pt x="613827" y="590550"/>
                  </a:cubicBezTo>
                  <a:cubicBezTo>
                    <a:pt x="640306" y="566277"/>
                    <a:pt x="662882" y="537876"/>
                    <a:pt x="690027" y="514350"/>
                  </a:cubicBezTo>
                  <a:cubicBezTo>
                    <a:pt x="710667" y="496462"/>
                    <a:pt x="734477" y="482600"/>
                    <a:pt x="756702" y="466725"/>
                  </a:cubicBezTo>
                  <a:cubicBezTo>
                    <a:pt x="776971" y="426187"/>
                    <a:pt x="799658" y="389590"/>
                    <a:pt x="804327" y="342900"/>
                  </a:cubicBezTo>
                  <a:cubicBezTo>
                    <a:pt x="805326" y="332910"/>
                    <a:pt x="797687" y="323942"/>
                    <a:pt x="794802" y="314325"/>
                  </a:cubicBezTo>
                  <a:cubicBezTo>
                    <a:pt x="788160" y="292185"/>
                    <a:pt x="786089" y="268324"/>
                    <a:pt x="775752" y="247650"/>
                  </a:cubicBezTo>
                  <a:cubicBezTo>
                    <a:pt x="746090" y="188326"/>
                    <a:pt x="740448" y="206186"/>
                    <a:pt x="690027" y="180975"/>
                  </a:cubicBezTo>
                  <a:cubicBezTo>
                    <a:pt x="679788" y="175855"/>
                    <a:pt x="671691" y="167045"/>
                    <a:pt x="661452" y="161925"/>
                  </a:cubicBezTo>
                  <a:cubicBezTo>
                    <a:pt x="652472" y="157435"/>
                    <a:pt x="641691" y="157208"/>
                    <a:pt x="632877" y="152400"/>
                  </a:cubicBezTo>
                  <a:cubicBezTo>
                    <a:pt x="606581" y="138057"/>
                    <a:pt x="583468" y="118170"/>
                    <a:pt x="556677" y="104775"/>
                  </a:cubicBezTo>
                  <a:cubicBezTo>
                    <a:pt x="537627" y="95250"/>
                    <a:pt x="518990" y="84850"/>
                    <a:pt x="499527" y="76200"/>
                  </a:cubicBezTo>
                  <a:cubicBezTo>
                    <a:pt x="490352" y="72122"/>
                    <a:pt x="479932" y="71165"/>
                    <a:pt x="470952" y="66675"/>
                  </a:cubicBezTo>
                  <a:cubicBezTo>
                    <a:pt x="460713" y="61555"/>
                    <a:pt x="452616" y="52745"/>
                    <a:pt x="442377" y="47625"/>
                  </a:cubicBezTo>
                  <a:cubicBezTo>
                    <a:pt x="433397" y="43135"/>
                    <a:pt x="423203" y="41625"/>
                    <a:pt x="413802" y="38100"/>
                  </a:cubicBezTo>
                  <a:cubicBezTo>
                    <a:pt x="397793" y="32097"/>
                    <a:pt x="383042" y="21861"/>
                    <a:pt x="366177" y="19050"/>
                  </a:cubicBezTo>
                  <a:cubicBezTo>
                    <a:pt x="344254" y="15396"/>
                    <a:pt x="286802" y="3175"/>
                    <a:pt x="270927" y="0"/>
                  </a:cubicBezTo>
                  <a:close/>
                </a:path>
              </a:pathLst>
            </a:custGeom>
            <a:gradFill rotWithShape="1">
              <a:gsLst>
                <a:gs pos="0">
                  <a:srgbClr val="8064A2">
                    <a:tint val="100000"/>
                    <a:shade val="100000"/>
                    <a:satMod val="130000"/>
                  </a:srgbClr>
                </a:gs>
                <a:gs pos="100000">
                  <a:srgbClr val="8064A2">
                    <a:tint val="50000"/>
                    <a:shade val="100000"/>
                    <a:satMod val="350000"/>
                  </a:srgbClr>
                </a:gs>
              </a:gsLst>
              <a:lin ang="16200000" scaled="0"/>
            </a:gradFill>
            <a:ln w="9525" cap="flat" cmpd="sng" algn="ctr">
              <a:solidFill>
                <a:srgbClr val="8064A2">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a:ln>
                  <a:noFill/>
                </a:ln>
                <a:solidFill>
                  <a:prstClr val="white"/>
                </a:solidFill>
                <a:effectLst/>
                <a:uLnTx/>
                <a:uFillTx/>
                <a:latin typeface="Calibri"/>
                <a:ea typeface="+mn-ea"/>
                <a:cs typeface="+mn-cs"/>
              </a:endParaRPr>
            </a:p>
          </p:txBody>
        </p:sp>
      </p:grpSp>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0AF577F6-78C7-9F41-2D3E-079E8C7B6685}"/>
                  </a:ext>
                </a:extLst>
              </p:cNvPr>
              <p:cNvSpPr txBox="1"/>
              <p:nvPr/>
            </p:nvSpPr>
            <p:spPr>
              <a:xfrm>
                <a:off x="242152" y="1881264"/>
                <a:ext cx="1554473" cy="646331"/>
              </a:xfrm>
              <a:prstGeom prst="rect">
                <a:avLst/>
              </a:prstGeom>
              <a:noFill/>
            </p:spPr>
            <p:txBody>
              <a:bodyPr wrap="square" rtlCol="0">
                <a:spAutoFit/>
              </a:bodyPr>
              <a:lstStyle/>
              <a:p>
                <a14:m>
                  <m:oMath xmlns:m="http://schemas.openxmlformats.org/officeDocument/2006/math">
                    <m:r>
                      <a:rPr lang="en-CA" i="1" dirty="0" smtClean="0">
                        <a:latin typeface="Cambria Math" panose="02040503050406030204" pitchFamily="18" charset="0"/>
                      </a:rPr>
                      <m:t>𝐴</m:t>
                    </m:r>
                  </m:oMath>
                </a14:m>
                <a:r>
                  <a:rPr lang="en-CA" dirty="0"/>
                  <a:t> = Attacker</a:t>
                </a:r>
              </a:p>
              <a:p>
                <a14:m>
                  <m:oMath xmlns:m="http://schemas.openxmlformats.org/officeDocument/2006/math">
                    <m:r>
                      <a:rPr lang="en-CA" i="1" dirty="0" smtClean="0">
                        <a:latin typeface="Cambria Math" panose="02040503050406030204" pitchFamily="18" charset="0"/>
                      </a:rPr>
                      <m:t>𝐷</m:t>
                    </m:r>
                  </m:oMath>
                </a14:m>
                <a:r>
                  <a:rPr lang="en-CA" dirty="0"/>
                  <a:t> = Defender </a:t>
                </a:r>
              </a:p>
            </p:txBody>
          </p:sp>
        </mc:Choice>
        <mc:Fallback xmlns="">
          <p:sp>
            <p:nvSpPr>
              <p:cNvPr id="86" name="TextBox 85">
                <a:extLst>
                  <a:ext uri="{FF2B5EF4-FFF2-40B4-BE49-F238E27FC236}">
                    <a16:creationId xmlns:a16="http://schemas.microsoft.com/office/drawing/2014/main" id="{0AF577F6-78C7-9F41-2D3E-079E8C7B6685}"/>
                  </a:ext>
                </a:extLst>
              </p:cNvPr>
              <p:cNvSpPr txBox="1">
                <a:spLocks noRot="1" noChangeAspect="1" noMove="1" noResize="1" noEditPoints="1" noAdjustHandles="1" noChangeArrowheads="1" noChangeShapeType="1" noTextEdit="1"/>
              </p:cNvSpPr>
              <p:nvPr/>
            </p:nvSpPr>
            <p:spPr>
              <a:xfrm>
                <a:off x="242152" y="1881264"/>
                <a:ext cx="1554473" cy="646331"/>
              </a:xfrm>
              <a:prstGeom prst="rect">
                <a:avLst/>
              </a:prstGeom>
              <a:blipFill>
                <a:blip r:embed="rId8"/>
                <a:stretch>
                  <a:fillRect t="-5769" b="-134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800B48E1-1EC4-F86C-E967-1E4F1B213EC7}"/>
                  </a:ext>
                </a:extLst>
              </p:cNvPr>
              <p:cNvSpPr txBox="1"/>
              <p:nvPr/>
            </p:nvSpPr>
            <p:spPr>
              <a:xfrm>
                <a:off x="374015" y="4494009"/>
                <a:ext cx="3641603" cy="646331"/>
              </a:xfrm>
              <a:prstGeom prst="rect">
                <a:avLst/>
              </a:prstGeom>
              <a:noFill/>
            </p:spPr>
            <p:txBody>
              <a:bodyPr wrap="square" rtlCol="0">
                <a:spAutoFit/>
              </a:bodyPr>
              <a:lstStyle/>
              <a:p>
                <a14:m>
                  <m:oMath xmlns:m="http://schemas.openxmlformats.org/officeDocument/2006/math">
                    <m:r>
                      <a:rPr lang="en-CA" i="1" dirty="0" smtClean="0">
                        <a:latin typeface="Cambria Math" panose="02040503050406030204" pitchFamily="18" charset="0"/>
                      </a:rPr>
                      <m:t>𝐷</m:t>
                    </m:r>
                  </m:oMath>
                </a14:m>
                <a:r>
                  <a:rPr lang="en-CA" dirty="0"/>
                  <a:t> must guess which door </a:t>
                </a:r>
                <a14:m>
                  <m:oMath xmlns:m="http://schemas.openxmlformats.org/officeDocument/2006/math">
                    <m:r>
                      <a:rPr lang="en-CA" i="1" dirty="0" smtClean="0">
                        <a:latin typeface="Cambria Math" panose="02040503050406030204" pitchFamily="18" charset="0"/>
                      </a:rPr>
                      <m:t>𝐴</m:t>
                    </m:r>
                  </m:oMath>
                </a14:m>
                <a:r>
                  <a:rPr lang="en-CA" dirty="0"/>
                  <a:t> will go to and block them to get a reward</a:t>
                </a:r>
              </a:p>
            </p:txBody>
          </p:sp>
        </mc:Choice>
        <mc:Fallback xmlns="">
          <p:sp>
            <p:nvSpPr>
              <p:cNvPr id="87" name="TextBox 86">
                <a:extLst>
                  <a:ext uri="{FF2B5EF4-FFF2-40B4-BE49-F238E27FC236}">
                    <a16:creationId xmlns:a16="http://schemas.microsoft.com/office/drawing/2014/main" id="{800B48E1-1EC4-F86C-E967-1E4F1B213EC7}"/>
                  </a:ext>
                </a:extLst>
              </p:cNvPr>
              <p:cNvSpPr txBox="1">
                <a:spLocks noRot="1" noChangeAspect="1" noMove="1" noResize="1" noEditPoints="1" noAdjustHandles="1" noChangeArrowheads="1" noChangeShapeType="1" noTextEdit="1"/>
              </p:cNvSpPr>
              <p:nvPr/>
            </p:nvSpPr>
            <p:spPr>
              <a:xfrm>
                <a:off x="374015" y="4494009"/>
                <a:ext cx="3641603" cy="646331"/>
              </a:xfrm>
              <a:prstGeom prst="rect">
                <a:avLst/>
              </a:prstGeom>
              <a:blipFill>
                <a:blip r:embed="rId9"/>
                <a:stretch>
                  <a:fillRect l="-1389" t="-3846" r="-2431" b="-13462"/>
                </a:stretch>
              </a:blipFill>
            </p:spPr>
            <p:txBody>
              <a:bodyPr/>
              <a:lstStyle/>
              <a:p>
                <a:r>
                  <a:rPr lang="en-US">
                    <a:noFill/>
                  </a:rPr>
                  <a:t> </a:t>
                </a:r>
              </a:p>
            </p:txBody>
          </p:sp>
        </mc:Fallback>
      </mc:AlternateContent>
      <p:sp>
        <p:nvSpPr>
          <p:cNvPr id="88" name="TextBox 87">
            <a:extLst>
              <a:ext uri="{FF2B5EF4-FFF2-40B4-BE49-F238E27FC236}">
                <a16:creationId xmlns:a16="http://schemas.microsoft.com/office/drawing/2014/main" id="{3B785F4E-7BC6-DC46-7508-6EA1F91411F3}"/>
              </a:ext>
            </a:extLst>
          </p:cNvPr>
          <p:cNvSpPr txBox="1"/>
          <p:nvPr/>
        </p:nvSpPr>
        <p:spPr>
          <a:xfrm>
            <a:off x="5556218" y="5498798"/>
            <a:ext cx="5029481" cy="369332"/>
          </a:xfrm>
          <a:prstGeom prst="rect">
            <a:avLst/>
          </a:prstGeom>
          <a:noFill/>
        </p:spPr>
        <p:txBody>
          <a:bodyPr wrap="square" rtlCol="0">
            <a:spAutoFit/>
          </a:bodyPr>
          <a:lstStyle/>
          <a:p>
            <a:r>
              <a:rPr lang="en-CA" dirty="0"/>
              <a:t>Both show utility of picking the right inductive bias!</a:t>
            </a:r>
          </a:p>
        </p:txBody>
      </p:sp>
      <p:sp>
        <p:nvSpPr>
          <p:cNvPr id="4" name="Right Arrow 3">
            <a:extLst>
              <a:ext uri="{FF2B5EF4-FFF2-40B4-BE49-F238E27FC236}">
                <a16:creationId xmlns:a16="http://schemas.microsoft.com/office/drawing/2014/main" id="{D0AFC710-9792-8CAA-A432-A580CBBBE01A}"/>
              </a:ext>
            </a:extLst>
          </p:cNvPr>
          <p:cNvSpPr/>
          <p:nvPr/>
        </p:nvSpPr>
        <p:spPr>
          <a:xfrm>
            <a:off x="4789907" y="1785741"/>
            <a:ext cx="329919" cy="12929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5" name="Freeform: Shape 26">
            <a:extLst>
              <a:ext uri="{FF2B5EF4-FFF2-40B4-BE49-F238E27FC236}">
                <a16:creationId xmlns:a16="http://schemas.microsoft.com/office/drawing/2014/main" id="{1B108A29-0785-823B-6A6C-31E553B4B200}"/>
              </a:ext>
            </a:extLst>
          </p:cNvPr>
          <p:cNvSpPr/>
          <p:nvPr/>
        </p:nvSpPr>
        <p:spPr>
          <a:xfrm>
            <a:off x="5489721" y="1749047"/>
            <a:ext cx="342761" cy="226114"/>
          </a:xfrm>
          <a:custGeom>
            <a:avLst/>
            <a:gdLst>
              <a:gd name="connsiteX0" fmla="*/ 270927 w 804416"/>
              <a:gd name="connsiteY0" fmla="*/ 0 h 657225"/>
              <a:gd name="connsiteX1" fmla="*/ 270927 w 804416"/>
              <a:gd name="connsiteY1" fmla="*/ 0 h 657225"/>
              <a:gd name="connsiteX2" fmla="*/ 194727 w 804416"/>
              <a:gd name="connsiteY2" fmla="*/ 28575 h 657225"/>
              <a:gd name="connsiteX3" fmla="*/ 147102 w 804416"/>
              <a:gd name="connsiteY3" fmla="*/ 76200 h 657225"/>
              <a:gd name="connsiteX4" fmla="*/ 61377 w 804416"/>
              <a:gd name="connsiteY4" fmla="*/ 228600 h 657225"/>
              <a:gd name="connsiteX5" fmla="*/ 23277 w 804416"/>
              <a:gd name="connsiteY5" fmla="*/ 276225 h 657225"/>
              <a:gd name="connsiteX6" fmla="*/ 13752 w 804416"/>
              <a:gd name="connsiteY6" fmla="*/ 457200 h 657225"/>
              <a:gd name="connsiteX7" fmla="*/ 80427 w 804416"/>
              <a:gd name="connsiteY7" fmla="*/ 514350 h 657225"/>
              <a:gd name="connsiteX8" fmla="*/ 156627 w 804416"/>
              <a:gd name="connsiteY8" fmla="*/ 590550 h 657225"/>
              <a:gd name="connsiteX9" fmla="*/ 251877 w 804416"/>
              <a:gd name="connsiteY9" fmla="*/ 628650 h 657225"/>
              <a:gd name="connsiteX10" fmla="*/ 423327 w 804416"/>
              <a:gd name="connsiteY10" fmla="*/ 657225 h 657225"/>
              <a:gd name="connsiteX11" fmla="*/ 575727 w 804416"/>
              <a:gd name="connsiteY11" fmla="*/ 619125 h 657225"/>
              <a:gd name="connsiteX12" fmla="*/ 613827 w 804416"/>
              <a:gd name="connsiteY12" fmla="*/ 590550 h 657225"/>
              <a:gd name="connsiteX13" fmla="*/ 690027 w 804416"/>
              <a:gd name="connsiteY13" fmla="*/ 514350 h 657225"/>
              <a:gd name="connsiteX14" fmla="*/ 756702 w 804416"/>
              <a:gd name="connsiteY14" fmla="*/ 466725 h 657225"/>
              <a:gd name="connsiteX15" fmla="*/ 804327 w 804416"/>
              <a:gd name="connsiteY15" fmla="*/ 342900 h 657225"/>
              <a:gd name="connsiteX16" fmla="*/ 794802 w 804416"/>
              <a:gd name="connsiteY16" fmla="*/ 314325 h 657225"/>
              <a:gd name="connsiteX17" fmla="*/ 775752 w 804416"/>
              <a:gd name="connsiteY17" fmla="*/ 247650 h 657225"/>
              <a:gd name="connsiteX18" fmla="*/ 690027 w 804416"/>
              <a:gd name="connsiteY18" fmla="*/ 180975 h 657225"/>
              <a:gd name="connsiteX19" fmla="*/ 661452 w 804416"/>
              <a:gd name="connsiteY19" fmla="*/ 161925 h 657225"/>
              <a:gd name="connsiteX20" fmla="*/ 632877 w 804416"/>
              <a:gd name="connsiteY20" fmla="*/ 152400 h 657225"/>
              <a:gd name="connsiteX21" fmla="*/ 556677 w 804416"/>
              <a:gd name="connsiteY21" fmla="*/ 104775 h 657225"/>
              <a:gd name="connsiteX22" fmla="*/ 499527 w 804416"/>
              <a:gd name="connsiteY22" fmla="*/ 76200 h 657225"/>
              <a:gd name="connsiteX23" fmla="*/ 470952 w 804416"/>
              <a:gd name="connsiteY23" fmla="*/ 66675 h 657225"/>
              <a:gd name="connsiteX24" fmla="*/ 442377 w 804416"/>
              <a:gd name="connsiteY24" fmla="*/ 47625 h 657225"/>
              <a:gd name="connsiteX25" fmla="*/ 413802 w 804416"/>
              <a:gd name="connsiteY25" fmla="*/ 38100 h 657225"/>
              <a:gd name="connsiteX26" fmla="*/ 366177 w 804416"/>
              <a:gd name="connsiteY26" fmla="*/ 19050 h 657225"/>
              <a:gd name="connsiteX27" fmla="*/ 270927 w 804416"/>
              <a:gd name="connsiteY27" fmla="*/ 0 h 657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04416" h="657225">
                <a:moveTo>
                  <a:pt x="270927" y="0"/>
                </a:moveTo>
                <a:lnTo>
                  <a:pt x="270927" y="0"/>
                </a:lnTo>
                <a:cubicBezTo>
                  <a:pt x="245527" y="9525"/>
                  <a:pt x="217830" y="14358"/>
                  <a:pt x="194727" y="28575"/>
                </a:cubicBezTo>
                <a:cubicBezTo>
                  <a:pt x="175607" y="40341"/>
                  <a:pt x="160790" y="58405"/>
                  <a:pt x="147102" y="76200"/>
                </a:cubicBezTo>
                <a:cubicBezTo>
                  <a:pt x="79610" y="163940"/>
                  <a:pt x="117439" y="137500"/>
                  <a:pt x="61377" y="228600"/>
                </a:cubicBezTo>
                <a:cubicBezTo>
                  <a:pt x="50722" y="245914"/>
                  <a:pt x="35977" y="260350"/>
                  <a:pt x="23277" y="276225"/>
                </a:cubicBezTo>
                <a:cubicBezTo>
                  <a:pt x="8590" y="334974"/>
                  <a:pt x="-15380" y="395295"/>
                  <a:pt x="13752" y="457200"/>
                </a:cubicBezTo>
                <a:cubicBezTo>
                  <a:pt x="26216" y="483686"/>
                  <a:pt x="59028" y="494377"/>
                  <a:pt x="80427" y="514350"/>
                </a:cubicBezTo>
                <a:cubicBezTo>
                  <a:pt x="106687" y="538860"/>
                  <a:pt x="126739" y="570625"/>
                  <a:pt x="156627" y="590550"/>
                </a:cubicBezTo>
                <a:cubicBezTo>
                  <a:pt x="185080" y="609518"/>
                  <a:pt x="218702" y="620356"/>
                  <a:pt x="251877" y="628650"/>
                </a:cubicBezTo>
                <a:cubicBezTo>
                  <a:pt x="308085" y="642702"/>
                  <a:pt x="423327" y="657225"/>
                  <a:pt x="423327" y="657225"/>
                </a:cubicBezTo>
                <a:cubicBezTo>
                  <a:pt x="474127" y="644525"/>
                  <a:pt x="526303" y="636423"/>
                  <a:pt x="575727" y="619125"/>
                </a:cubicBezTo>
                <a:cubicBezTo>
                  <a:pt x="590711" y="613881"/>
                  <a:pt x="602125" y="601277"/>
                  <a:pt x="613827" y="590550"/>
                </a:cubicBezTo>
                <a:cubicBezTo>
                  <a:pt x="640306" y="566277"/>
                  <a:pt x="662882" y="537876"/>
                  <a:pt x="690027" y="514350"/>
                </a:cubicBezTo>
                <a:cubicBezTo>
                  <a:pt x="710667" y="496462"/>
                  <a:pt x="734477" y="482600"/>
                  <a:pt x="756702" y="466725"/>
                </a:cubicBezTo>
                <a:cubicBezTo>
                  <a:pt x="776971" y="426187"/>
                  <a:pt x="799658" y="389590"/>
                  <a:pt x="804327" y="342900"/>
                </a:cubicBezTo>
                <a:cubicBezTo>
                  <a:pt x="805326" y="332910"/>
                  <a:pt x="797687" y="323942"/>
                  <a:pt x="794802" y="314325"/>
                </a:cubicBezTo>
                <a:cubicBezTo>
                  <a:pt x="788160" y="292185"/>
                  <a:pt x="786089" y="268324"/>
                  <a:pt x="775752" y="247650"/>
                </a:cubicBezTo>
                <a:cubicBezTo>
                  <a:pt x="746090" y="188326"/>
                  <a:pt x="740448" y="206186"/>
                  <a:pt x="690027" y="180975"/>
                </a:cubicBezTo>
                <a:cubicBezTo>
                  <a:pt x="679788" y="175855"/>
                  <a:pt x="671691" y="167045"/>
                  <a:pt x="661452" y="161925"/>
                </a:cubicBezTo>
                <a:cubicBezTo>
                  <a:pt x="652472" y="157435"/>
                  <a:pt x="641691" y="157208"/>
                  <a:pt x="632877" y="152400"/>
                </a:cubicBezTo>
                <a:cubicBezTo>
                  <a:pt x="606581" y="138057"/>
                  <a:pt x="583468" y="118170"/>
                  <a:pt x="556677" y="104775"/>
                </a:cubicBezTo>
                <a:cubicBezTo>
                  <a:pt x="537627" y="95250"/>
                  <a:pt x="518990" y="84850"/>
                  <a:pt x="499527" y="76200"/>
                </a:cubicBezTo>
                <a:cubicBezTo>
                  <a:pt x="490352" y="72122"/>
                  <a:pt x="479932" y="71165"/>
                  <a:pt x="470952" y="66675"/>
                </a:cubicBezTo>
                <a:cubicBezTo>
                  <a:pt x="460713" y="61555"/>
                  <a:pt x="452616" y="52745"/>
                  <a:pt x="442377" y="47625"/>
                </a:cubicBezTo>
                <a:cubicBezTo>
                  <a:pt x="433397" y="43135"/>
                  <a:pt x="423203" y="41625"/>
                  <a:pt x="413802" y="38100"/>
                </a:cubicBezTo>
                <a:cubicBezTo>
                  <a:pt x="397793" y="32097"/>
                  <a:pt x="383042" y="21861"/>
                  <a:pt x="366177" y="19050"/>
                </a:cubicBezTo>
                <a:cubicBezTo>
                  <a:pt x="344254" y="15396"/>
                  <a:pt x="286802" y="3175"/>
                  <a:pt x="270927" y="0"/>
                </a:cubicBezTo>
                <a:close/>
              </a:path>
            </a:pathLst>
          </a:custGeom>
          <a:gradFill rotWithShape="1">
            <a:gsLst>
              <a:gs pos="0">
                <a:srgbClr val="8064A2">
                  <a:tint val="100000"/>
                  <a:shade val="100000"/>
                  <a:satMod val="130000"/>
                </a:srgbClr>
              </a:gs>
              <a:gs pos="100000">
                <a:srgbClr val="8064A2">
                  <a:tint val="50000"/>
                  <a:shade val="100000"/>
                  <a:satMod val="350000"/>
                </a:srgbClr>
              </a:gs>
            </a:gsLst>
            <a:lin ang="16200000" scaled="0"/>
          </a:gradFill>
          <a:ln w="9525" cap="flat" cmpd="sng" algn="ctr">
            <a:solidFill>
              <a:srgbClr val="8064A2">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a:ln>
                <a:noFill/>
              </a:ln>
              <a:solidFill>
                <a:prstClr val="white"/>
              </a:solidFill>
              <a:effectLst/>
              <a:uLnTx/>
              <a:uFillTx/>
              <a:latin typeface="Calibri"/>
              <a:ea typeface="+mn-ea"/>
              <a:cs typeface="+mn-cs"/>
            </a:endParaRPr>
          </a:p>
        </p:txBody>
      </p:sp>
      <p:sp>
        <p:nvSpPr>
          <p:cNvPr id="6" name="TextBox 5">
            <a:extLst>
              <a:ext uri="{FF2B5EF4-FFF2-40B4-BE49-F238E27FC236}">
                <a16:creationId xmlns:a16="http://schemas.microsoft.com/office/drawing/2014/main" id="{E41AC090-751E-EDB6-4E80-B0B89476C8C6}"/>
              </a:ext>
            </a:extLst>
          </p:cNvPr>
          <p:cNvSpPr txBox="1"/>
          <p:nvPr/>
        </p:nvSpPr>
        <p:spPr>
          <a:xfrm>
            <a:off x="5160932" y="1672513"/>
            <a:ext cx="219777" cy="369332"/>
          </a:xfrm>
          <a:prstGeom prst="rect">
            <a:avLst/>
          </a:prstGeom>
          <a:noFill/>
        </p:spPr>
        <p:txBody>
          <a:bodyPr wrap="square" rtlCol="0">
            <a:spAutoFit/>
          </a:bodyPr>
          <a:lstStyle/>
          <a:p>
            <a:r>
              <a:rPr lang="en-CA" dirty="0"/>
              <a:t>+</a:t>
            </a:r>
          </a:p>
        </p:txBody>
      </p:sp>
      <p:sp>
        <p:nvSpPr>
          <p:cNvPr id="8" name="TextBox 7">
            <a:extLst>
              <a:ext uri="{FF2B5EF4-FFF2-40B4-BE49-F238E27FC236}">
                <a16:creationId xmlns:a16="http://schemas.microsoft.com/office/drawing/2014/main" id="{932355A2-03B0-B53D-2A51-31F0CDFB444A}"/>
              </a:ext>
            </a:extLst>
          </p:cNvPr>
          <p:cNvSpPr txBox="1"/>
          <p:nvPr/>
        </p:nvSpPr>
        <p:spPr>
          <a:xfrm>
            <a:off x="5919936" y="1681644"/>
            <a:ext cx="470457" cy="369332"/>
          </a:xfrm>
          <a:prstGeom prst="rect">
            <a:avLst/>
          </a:prstGeom>
          <a:noFill/>
        </p:spPr>
        <p:txBody>
          <a:bodyPr wrap="square" rtlCol="0">
            <a:spAutoFit/>
          </a:bodyPr>
          <a:lstStyle/>
          <a:p>
            <a:r>
              <a:rPr lang="en-CA" dirty="0"/>
              <a:t>=</a:t>
            </a:r>
          </a:p>
        </p:txBody>
      </p:sp>
      <p:sp>
        <p:nvSpPr>
          <p:cNvPr id="9" name="TextBox 8">
            <a:extLst>
              <a:ext uri="{FF2B5EF4-FFF2-40B4-BE49-F238E27FC236}">
                <a16:creationId xmlns:a16="http://schemas.microsoft.com/office/drawing/2014/main" id="{83B1FEEF-103A-6F6E-B6FC-35FD742A93DD}"/>
              </a:ext>
            </a:extLst>
          </p:cNvPr>
          <p:cNvSpPr txBox="1"/>
          <p:nvPr/>
        </p:nvSpPr>
        <p:spPr>
          <a:xfrm>
            <a:off x="6150030" y="1687902"/>
            <a:ext cx="1433581" cy="338554"/>
          </a:xfrm>
          <a:prstGeom prst="rect">
            <a:avLst/>
          </a:prstGeom>
          <a:noFill/>
        </p:spPr>
        <p:txBody>
          <a:bodyPr wrap="square" rtlCol="0">
            <a:spAutoFit/>
          </a:bodyPr>
          <a:lstStyle/>
          <a:p>
            <a:pPr algn="ctr"/>
            <a:r>
              <a:rPr lang="en-CA" sz="1600" dirty="0"/>
              <a:t>Correct door</a:t>
            </a:r>
          </a:p>
        </p:txBody>
      </p:sp>
      <p:sp>
        <p:nvSpPr>
          <p:cNvPr id="10" name="Oval 9">
            <a:extLst>
              <a:ext uri="{FF2B5EF4-FFF2-40B4-BE49-F238E27FC236}">
                <a16:creationId xmlns:a16="http://schemas.microsoft.com/office/drawing/2014/main" id="{2AA2D45D-7C38-D036-B01E-F7E22B6ADBDF}"/>
              </a:ext>
            </a:extLst>
          </p:cNvPr>
          <p:cNvSpPr/>
          <p:nvPr/>
        </p:nvSpPr>
        <p:spPr>
          <a:xfrm>
            <a:off x="5286894" y="2237556"/>
            <a:ext cx="275033" cy="227104"/>
          </a:xfrm>
          <a:prstGeom prst="ellipse">
            <a:avLst/>
          </a:prstGeom>
          <a:noFill/>
          <a:ln w="9525" cap="flat" cmpd="sng" algn="ctr">
            <a:solidFill>
              <a:sysClr val="windowText" lastClr="000000"/>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a:ln>
                <a:noFill/>
              </a:ln>
              <a:solidFill>
                <a:prstClr val="white"/>
              </a:solidFill>
              <a:effectLst/>
              <a:uLnTx/>
              <a:uFillTx/>
              <a:latin typeface="Calibri"/>
              <a:ea typeface="+mn-ea"/>
              <a:cs typeface="+mn-cs"/>
            </a:endParaRPr>
          </a:p>
        </p:txBody>
      </p:sp>
      <p:sp>
        <p:nvSpPr>
          <p:cNvPr id="11" name="TextBox 10">
            <a:extLst>
              <a:ext uri="{FF2B5EF4-FFF2-40B4-BE49-F238E27FC236}">
                <a16:creationId xmlns:a16="http://schemas.microsoft.com/office/drawing/2014/main" id="{51026F6A-DFF2-83DF-D2C9-128D01B1CA3C}"/>
              </a:ext>
            </a:extLst>
          </p:cNvPr>
          <p:cNvSpPr txBox="1"/>
          <p:nvPr/>
        </p:nvSpPr>
        <p:spPr>
          <a:xfrm>
            <a:off x="5642218" y="2176122"/>
            <a:ext cx="1433581" cy="338554"/>
          </a:xfrm>
          <a:prstGeom prst="rect">
            <a:avLst/>
          </a:prstGeom>
          <a:noFill/>
        </p:spPr>
        <p:txBody>
          <a:bodyPr wrap="square" rtlCol="0">
            <a:spAutoFit/>
          </a:bodyPr>
          <a:lstStyle/>
          <a:p>
            <a:r>
              <a:rPr lang="en-CA" sz="1600" dirty="0"/>
              <a:t>is irrelevant</a:t>
            </a:r>
          </a:p>
        </p:txBody>
      </p:sp>
      <p:sp>
        <p:nvSpPr>
          <p:cNvPr id="12" name="Right Arrow 11">
            <a:extLst>
              <a:ext uri="{FF2B5EF4-FFF2-40B4-BE49-F238E27FC236}">
                <a16:creationId xmlns:a16="http://schemas.microsoft.com/office/drawing/2014/main" id="{9EA72229-85F3-306C-EC07-F2DD6DA46CDE}"/>
              </a:ext>
            </a:extLst>
          </p:cNvPr>
          <p:cNvSpPr/>
          <p:nvPr/>
        </p:nvSpPr>
        <p:spPr>
          <a:xfrm>
            <a:off x="9714504" y="2316062"/>
            <a:ext cx="329919" cy="12929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Freeform: Shape 26">
            <a:extLst>
              <a:ext uri="{FF2B5EF4-FFF2-40B4-BE49-F238E27FC236}">
                <a16:creationId xmlns:a16="http://schemas.microsoft.com/office/drawing/2014/main" id="{E87FE4E2-D905-7E17-46C0-613765799E5D}"/>
              </a:ext>
            </a:extLst>
          </p:cNvPr>
          <p:cNvSpPr/>
          <p:nvPr/>
        </p:nvSpPr>
        <p:spPr>
          <a:xfrm>
            <a:off x="10414318" y="2279368"/>
            <a:ext cx="342761" cy="226114"/>
          </a:xfrm>
          <a:custGeom>
            <a:avLst/>
            <a:gdLst>
              <a:gd name="connsiteX0" fmla="*/ 270927 w 804416"/>
              <a:gd name="connsiteY0" fmla="*/ 0 h 657225"/>
              <a:gd name="connsiteX1" fmla="*/ 270927 w 804416"/>
              <a:gd name="connsiteY1" fmla="*/ 0 h 657225"/>
              <a:gd name="connsiteX2" fmla="*/ 194727 w 804416"/>
              <a:gd name="connsiteY2" fmla="*/ 28575 h 657225"/>
              <a:gd name="connsiteX3" fmla="*/ 147102 w 804416"/>
              <a:gd name="connsiteY3" fmla="*/ 76200 h 657225"/>
              <a:gd name="connsiteX4" fmla="*/ 61377 w 804416"/>
              <a:gd name="connsiteY4" fmla="*/ 228600 h 657225"/>
              <a:gd name="connsiteX5" fmla="*/ 23277 w 804416"/>
              <a:gd name="connsiteY5" fmla="*/ 276225 h 657225"/>
              <a:gd name="connsiteX6" fmla="*/ 13752 w 804416"/>
              <a:gd name="connsiteY6" fmla="*/ 457200 h 657225"/>
              <a:gd name="connsiteX7" fmla="*/ 80427 w 804416"/>
              <a:gd name="connsiteY7" fmla="*/ 514350 h 657225"/>
              <a:gd name="connsiteX8" fmla="*/ 156627 w 804416"/>
              <a:gd name="connsiteY8" fmla="*/ 590550 h 657225"/>
              <a:gd name="connsiteX9" fmla="*/ 251877 w 804416"/>
              <a:gd name="connsiteY9" fmla="*/ 628650 h 657225"/>
              <a:gd name="connsiteX10" fmla="*/ 423327 w 804416"/>
              <a:gd name="connsiteY10" fmla="*/ 657225 h 657225"/>
              <a:gd name="connsiteX11" fmla="*/ 575727 w 804416"/>
              <a:gd name="connsiteY11" fmla="*/ 619125 h 657225"/>
              <a:gd name="connsiteX12" fmla="*/ 613827 w 804416"/>
              <a:gd name="connsiteY12" fmla="*/ 590550 h 657225"/>
              <a:gd name="connsiteX13" fmla="*/ 690027 w 804416"/>
              <a:gd name="connsiteY13" fmla="*/ 514350 h 657225"/>
              <a:gd name="connsiteX14" fmla="*/ 756702 w 804416"/>
              <a:gd name="connsiteY14" fmla="*/ 466725 h 657225"/>
              <a:gd name="connsiteX15" fmla="*/ 804327 w 804416"/>
              <a:gd name="connsiteY15" fmla="*/ 342900 h 657225"/>
              <a:gd name="connsiteX16" fmla="*/ 794802 w 804416"/>
              <a:gd name="connsiteY16" fmla="*/ 314325 h 657225"/>
              <a:gd name="connsiteX17" fmla="*/ 775752 w 804416"/>
              <a:gd name="connsiteY17" fmla="*/ 247650 h 657225"/>
              <a:gd name="connsiteX18" fmla="*/ 690027 w 804416"/>
              <a:gd name="connsiteY18" fmla="*/ 180975 h 657225"/>
              <a:gd name="connsiteX19" fmla="*/ 661452 w 804416"/>
              <a:gd name="connsiteY19" fmla="*/ 161925 h 657225"/>
              <a:gd name="connsiteX20" fmla="*/ 632877 w 804416"/>
              <a:gd name="connsiteY20" fmla="*/ 152400 h 657225"/>
              <a:gd name="connsiteX21" fmla="*/ 556677 w 804416"/>
              <a:gd name="connsiteY21" fmla="*/ 104775 h 657225"/>
              <a:gd name="connsiteX22" fmla="*/ 499527 w 804416"/>
              <a:gd name="connsiteY22" fmla="*/ 76200 h 657225"/>
              <a:gd name="connsiteX23" fmla="*/ 470952 w 804416"/>
              <a:gd name="connsiteY23" fmla="*/ 66675 h 657225"/>
              <a:gd name="connsiteX24" fmla="*/ 442377 w 804416"/>
              <a:gd name="connsiteY24" fmla="*/ 47625 h 657225"/>
              <a:gd name="connsiteX25" fmla="*/ 413802 w 804416"/>
              <a:gd name="connsiteY25" fmla="*/ 38100 h 657225"/>
              <a:gd name="connsiteX26" fmla="*/ 366177 w 804416"/>
              <a:gd name="connsiteY26" fmla="*/ 19050 h 657225"/>
              <a:gd name="connsiteX27" fmla="*/ 270927 w 804416"/>
              <a:gd name="connsiteY27" fmla="*/ 0 h 657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804416" h="657225">
                <a:moveTo>
                  <a:pt x="270927" y="0"/>
                </a:moveTo>
                <a:lnTo>
                  <a:pt x="270927" y="0"/>
                </a:lnTo>
                <a:cubicBezTo>
                  <a:pt x="245527" y="9525"/>
                  <a:pt x="217830" y="14358"/>
                  <a:pt x="194727" y="28575"/>
                </a:cubicBezTo>
                <a:cubicBezTo>
                  <a:pt x="175607" y="40341"/>
                  <a:pt x="160790" y="58405"/>
                  <a:pt x="147102" y="76200"/>
                </a:cubicBezTo>
                <a:cubicBezTo>
                  <a:pt x="79610" y="163940"/>
                  <a:pt x="117439" y="137500"/>
                  <a:pt x="61377" y="228600"/>
                </a:cubicBezTo>
                <a:cubicBezTo>
                  <a:pt x="50722" y="245914"/>
                  <a:pt x="35977" y="260350"/>
                  <a:pt x="23277" y="276225"/>
                </a:cubicBezTo>
                <a:cubicBezTo>
                  <a:pt x="8590" y="334974"/>
                  <a:pt x="-15380" y="395295"/>
                  <a:pt x="13752" y="457200"/>
                </a:cubicBezTo>
                <a:cubicBezTo>
                  <a:pt x="26216" y="483686"/>
                  <a:pt x="59028" y="494377"/>
                  <a:pt x="80427" y="514350"/>
                </a:cubicBezTo>
                <a:cubicBezTo>
                  <a:pt x="106687" y="538860"/>
                  <a:pt x="126739" y="570625"/>
                  <a:pt x="156627" y="590550"/>
                </a:cubicBezTo>
                <a:cubicBezTo>
                  <a:pt x="185080" y="609518"/>
                  <a:pt x="218702" y="620356"/>
                  <a:pt x="251877" y="628650"/>
                </a:cubicBezTo>
                <a:cubicBezTo>
                  <a:pt x="308085" y="642702"/>
                  <a:pt x="423327" y="657225"/>
                  <a:pt x="423327" y="657225"/>
                </a:cubicBezTo>
                <a:cubicBezTo>
                  <a:pt x="474127" y="644525"/>
                  <a:pt x="526303" y="636423"/>
                  <a:pt x="575727" y="619125"/>
                </a:cubicBezTo>
                <a:cubicBezTo>
                  <a:pt x="590711" y="613881"/>
                  <a:pt x="602125" y="601277"/>
                  <a:pt x="613827" y="590550"/>
                </a:cubicBezTo>
                <a:cubicBezTo>
                  <a:pt x="640306" y="566277"/>
                  <a:pt x="662882" y="537876"/>
                  <a:pt x="690027" y="514350"/>
                </a:cubicBezTo>
                <a:cubicBezTo>
                  <a:pt x="710667" y="496462"/>
                  <a:pt x="734477" y="482600"/>
                  <a:pt x="756702" y="466725"/>
                </a:cubicBezTo>
                <a:cubicBezTo>
                  <a:pt x="776971" y="426187"/>
                  <a:pt x="799658" y="389590"/>
                  <a:pt x="804327" y="342900"/>
                </a:cubicBezTo>
                <a:cubicBezTo>
                  <a:pt x="805326" y="332910"/>
                  <a:pt x="797687" y="323942"/>
                  <a:pt x="794802" y="314325"/>
                </a:cubicBezTo>
                <a:cubicBezTo>
                  <a:pt x="788160" y="292185"/>
                  <a:pt x="786089" y="268324"/>
                  <a:pt x="775752" y="247650"/>
                </a:cubicBezTo>
                <a:cubicBezTo>
                  <a:pt x="746090" y="188326"/>
                  <a:pt x="740448" y="206186"/>
                  <a:pt x="690027" y="180975"/>
                </a:cubicBezTo>
                <a:cubicBezTo>
                  <a:pt x="679788" y="175855"/>
                  <a:pt x="671691" y="167045"/>
                  <a:pt x="661452" y="161925"/>
                </a:cubicBezTo>
                <a:cubicBezTo>
                  <a:pt x="652472" y="157435"/>
                  <a:pt x="641691" y="157208"/>
                  <a:pt x="632877" y="152400"/>
                </a:cubicBezTo>
                <a:cubicBezTo>
                  <a:pt x="606581" y="138057"/>
                  <a:pt x="583468" y="118170"/>
                  <a:pt x="556677" y="104775"/>
                </a:cubicBezTo>
                <a:cubicBezTo>
                  <a:pt x="537627" y="95250"/>
                  <a:pt x="518990" y="84850"/>
                  <a:pt x="499527" y="76200"/>
                </a:cubicBezTo>
                <a:cubicBezTo>
                  <a:pt x="490352" y="72122"/>
                  <a:pt x="479932" y="71165"/>
                  <a:pt x="470952" y="66675"/>
                </a:cubicBezTo>
                <a:cubicBezTo>
                  <a:pt x="460713" y="61555"/>
                  <a:pt x="452616" y="52745"/>
                  <a:pt x="442377" y="47625"/>
                </a:cubicBezTo>
                <a:cubicBezTo>
                  <a:pt x="433397" y="43135"/>
                  <a:pt x="423203" y="41625"/>
                  <a:pt x="413802" y="38100"/>
                </a:cubicBezTo>
                <a:cubicBezTo>
                  <a:pt x="397793" y="32097"/>
                  <a:pt x="383042" y="21861"/>
                  <a:pt x="366177" y="19050"/>
                </a:cubicBezTo>
                <a:cubicBezTo>
                  <a:pt x="344254" y="15396"/>
                  <a:pt x="286802" y="3175"/>
                  <a:pt x="270927" y="0"/>
                </a:cubicBezTo>
                <a:close/>
              </a:path>
            </a:pathLst>
          </a:custGeom>
          <a:gradFill rotWithShape="1">
            <a:gsLst>
              <a:gs pos="0">
                <a:srgbClr val="8064A2">
                  <a:tint val="100000"/>
                  <a:shade val="100000"/>
                  <a:satMod val="130000"/>
                </a:srgbClr>
              </a:gs>
              <a:gs pos="100000">
                <a:srgbClr val="8064A2">
                  <a:tint val="50000"/>
                  <a:shade val="100000"/>
                  <a:satMod val="350000"/>
                </a:srgbClr>
              </a:gs>
            </a:gsLst>
            <a:lin ang="16200000" scaled="0"/>
          </a:gradFill>
          <a:ln w="9525" cap="flat" cmpd="sng" algn="ctr">
            <a:solidFill>
              <a:srgbClr val="8064A2">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CA" sz="1800" b="0" i="0" u="none" strike="noStrike" kern="0" cap="none" spc="0" normalizeH="0" baseline="0" noProof="0">
              <a:ln>
                <a:noFill/>
              </a:ln>
              <a:solidFill>
                <a:prstClr val="white"/>
              </a:solidFill>
              <a:effectLst/>
              <a:uLnTx/>
              <a:uFillTx/>
              <a:latin typeface="Calibri"/>
              <a:ea typeface="+mn-ea"/>
              <a:cs typeface="+mn-cs"/>
            </a:endParaRPr>
          </a:p>
        </p:txBody>
      </p:sp>
      <p:sp>
        <p:nvSpPr>
          <p:cNvPr id="14" name="TextBox 13">
            <a:extLst>
              <a:ext uri="{FF2B5EF4-FFF2-40B4-BE49-F238E27FC236}">
                <a16:creationId xmlns:a16="http://schemas.microsoft.com/office/drawing/2014/main" id="{00ABCBEA-C369-4D1F-E592-1AEEE1ACF171}"/>
              </a:ext>
            </a:extLst>
          </p:cNvPr>
          <p:cNvSpPr txBox="1"/>
          <p:nvPr/>
        </p:nvSpPr>
        <p:spPr>
          <a:xfrm>
            <a:off x="10085529" y="2202834"/>
            <a:ext cx="219777" cy="369332"/>
          </a:xfrm>
          <a:prstGeom prst="rect">
            <a:avLst/>
          </a:prstGeom>
          <a:noFill/>
        </p:spPr>
        <p:txBody>
          <a:bodyPr wrap="square" rtlCol="0">
            <a:spAutoFit/>
          </a:bodyPr>
          <a:lstStyle/>
          <a:p>
            <a:r>
              <a:rPr lang="en-CA" dirty="0"/>
              <a:t>+</a:t>
            </a:r>
          </a:p>
        </p:txBody>
      </p:sp>
    </p:spTree>
    <p:custDataLst>
      <p:tags r:id="rId1"/>
    </p:custDataLst>
    <p:extLst>
      <p:ext uri="{BB962C8B-B14F-4D97-AF65-F5344CB8AC3E}">
        <p14:creationId xmlns:p14="http://schemas.microsoft.com/office/powerpoint/2010/main" val="3123090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4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67" grpId="0"/>
      <p:bldP spid="68" grpId="0"/>
      <p:bldP spid="86" grpId="0"/>
      <p:bldP spid="87" grpId="0"/>
      <p:bldP spid="88" grpId="0"/>
      <p:bldP spid="4" grpId="0" animBg="1"/>
      <p:bldP spid="5" grpId="0" animBg="1"/>
      <p:bldP spid="6" grpId="0"/>
      <p:bldP spid="8" grpId="0"/>
      <p:bldP spid="9" grpId="0"/>
      <p:bldP spid="10" grpId="0" animBg="1"/>
      <p:bldP spid="11" grpId="0"/>
      <p:bldP spid="12" grpId="0" animBg="1"/>
      <p:bldP spid="13" grpId="0" animBg="1"/>
      <p:bldP spid="14" grpId="0"/>
    </p:bld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ußzeilenplatzhalter 1"/>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IJCAI 2026, Bremen, Germany I Phil LeMaitre I 20.08.2026</a:t>
            </a:r>
            <a:endParaRPr lang="de-DE" dirty="0"/>
          </a:p>
        </p:txBody>
      </p:sp>
      <p:sp>
        <p:nvSpPr>
          <p:cNvPr id="3" name="Titel 1">
            <a:extLst>
              <a:ext uri="{FF2B5EF4-FFF2-40B4-BE49-F238E27FC236}">
                <a16:creationId xmlns:a16="http://schemas.microsoft.com/office/drawing/2014/main" id="{8EA3482B-9788-BCB4-D810-065E821DE54B}"/>
              </a:ext>
            </a:extLst>
          </p:cNvPr>
          <p:cNvSpPr txBox="1">
            <a:spLocks/>
          </p:cNvSpPr>
          <p:nvPr/>
        </p:nvSpPr>
        <p:spPr bwMode="auto">
          <a:xfrm>
            <a:off x="0" y="0"/>
            <a:ext cx="12280900" cy="1014750"/>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The Computer Maintenance Environment</a:t>
            </a:r>
          </a:p>
        </p:txBody>
      </p:sp>
      <p:sp>
        <p:nvSpPr>
          <p:cNvPr id="7" name="Slide Number Placeholder 6">
            <a:extLst>
              <a:ext uri="{FF2B5EF4-FFF2-40B4-BE49-F238E27FC236}">
                <a16:creationId xmlns:a16="http://schemas.microsoft.com/office/drawing/2014/main" id="{E784776F-3E20-1D97-AF3A-40623034A94C}"/>
              </a:ext>
            </a:extLst>
          </p:cNvPr>
          <p:cNvSpPr>
            <a:spLocks noGrp="1"/>
          </p:cNvSpPr>
          <p:nvPr>
            <p:ph type="sldNum" sz="quarter" idx="12"/>
          </p:nvPr>
        </p:nvSpPr>
        <p:spPr/>
        <p:txBody>
          <a:bodyPr/>
          <a:lstStyle/>
          <a:p>
            <a:fld id="{D0617D14-1B55-43C0-819D-0D244AC23646}" type="slidenum">
              <a:rPr lang="de-AT" smtClean="0"/>
              <a:t>11</a:t>
            </a:fld>
            <a:endParaRPr lang="de-AT"/>
          </a:p>
        </p:txBody>
      </p:sp>
      <p:grpSp>
        <p:nvGrpSpPr>
          <p:cNvPr id="13" name="Group 12">
            <a:extLst>
              <a:ext uri="{FF2B5EF4-FFF2-40B4-BE49-F238E27FC236}">
                <a16:creationId xmlns:a16="http://schemas.microsoft.com/office/drawing/2014/main" id="{03230889-1B11-D604-360F-496AA682589D}"/>
              </a:ext>
            </a:extLst>
          </p:cNvPr>
          <p:cNvGrpSpPr/>
          <p:nvPr/>
        </p:nvGrpSpPr>
        <p:grpSpPr>
          <a:xfrm>
            <a:off x="417782" y="1612118"/>
            <a:ext cx="1867735" cy="954107"/>
            <a:chOff x="1860105" y="3313201"/>
            <a:chExt cx="1867735" cy="954107"/>
          </a:xfrm>
        </p:grpSpPr>
        <p:sp>
          <p:nvSpPr>
            <p:cNvPr id="14" name="TextBox 13">
              <a:extLst>
                <a:ext uri="{FF2B5EF4-FFF2-40B4-BE49-F238E27FC236}">
                  <a16:creationId xmlns:a16="http://schemas.microsoft.com/office/drawing/2014/main" id="{1C779099-FE6B-0905-28C6-11F931B68B8B}"/>
                </a:ext>
              </a:extLst>
            </p:cNvPr>
            <p:cNvSpPr txBox="1"/>
            <p:nvPr/>
          </p:nvSpPr>
          <p:spPr>
            <a:xfrm>
              <a:off x="1999893" y="3313201"/>
              <a:ext cx="1727947" cy="954107"/>
            </a:xfrm>
            <a:prstGeom prst="rect">
              <a:avLst/>
            </a:prstGeom>
            <a:noFill/>
          </p:spPr>
          <p:txBody>
            <a:bodyPr wrap="square" rtlCol="0">
              <a:spAutoFit/>
            </a:bodyPr>
            <a:lstStyle/>
            <a:p>
              <a:r>
                <a:rPr lang="en-US" sz="1400" dirty="0"/>
                <a:t>= symptom clips</a:t>
              </a:r>
            </a:p>
            <a:p>
              <a:r>
                <a:rPr lang="en-US" sz="1400" dirty="0"/>
                <a:t>= component clips</a:t>
              </a:r>
            </a:p>
            <a:p>
              <a:r>
                <a:rPr lang="en-US" sz="1400" dirty="0"/>
                <a:t>= cause clips</a:t>
              </a:r>
            </a:p>
            <a:p>
              <a:r>
                <a:rPr lang="en-US" sz="1400" dirty="0"/>
                <a:t>= fix clips</a:t>
              </a:r>
            </a:p>
          </p:txBody>
        </p:sp>
        <p:sp>
          <p:nvSpPr>
            <p:cNvPr id="15" name="Oval 14">
              <a:extLst>
                <a:ext uri="{FF2B5EF4-FFF2-40B4-BE49-F238E27FC236}">
                  <a16:creationId xmlns:a16="http://schemas.microsoft.com/office/drawing/2014/main" id="{EC0FDBE2-592D-E320-D7A0-11864DD1F9E4}"/>
                </a:ext>
              </a:extLst>
            </p:cNvPr>
            <p:cNvSpPr/>
            <p:nvPr/>
          </p:nvSpPr>
          <p:spPr>
            <a:xfrm>
              <a:off x="1860106" y="3334079"/>
              <a:ext cx="208449" cy="206032"/>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B804EA36-E30D-3EF8-EBAB-81998AD87D89}"/>
                </a:ext>
              </a:extLst>
            </p:cNvPr>
            <p:cNvSpPr/>
            <p:nvPr/>
          </p:nvSpPr>
          <p:spPr>
            <a:xfrm>
              <a:off x="1860106" y="3558167"/>
              <a:ext cx="208449" cy="206032"/>
            </a:xfrm>
            <a:prstGeom prst="ellipse">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14695C1B-D271-00AA-A375-96756723B09C}"/>
                </a:ext>
              </a:extLst>
            </p:cNvPr>
            <p:cNvSpPr/>
            <p:nvPr/>
          </p:nvSpPr>
          <p:spPr>
            <a:xfrm>
              <a:off x="1860105" y="3786374"/>
              <a:ext cx="208450" cy="206033"/>
            </a:xfrm>
            <a:prstGeom prst="ellipse">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89374811-D043-092C-507D-933BD4927666}"/>
                </a:ext>
              </a:extLst>
            </p:cNvPr>
            <p:cNvSpPr/>
            <p:nvPr/>
          </p:nvSpPr>
          <p:spPr>
            <a:xfrm>
              <a:off x="1860105" y="4015576"/>
              <a:ext cx="208450" cy="206033"/>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2CA48323-E3CB-51BB-BE77-ABF000AD21C4}"/>
              </a:ext>
            </a:extLst>
          </p:cNvPr>
          <p:cNvGrpSpPr>
            <a:grpSpLocks/>
          </p:cNvGrpSpPr>
          <p:nvPr/>
        </p:nvGrpSpPr>
        <p:grpSpPr>
          <a:xfrm>
            <a:off x="1085436" y="1612118"/>
            <a:ext cx="10745027" cy="4297680"/>
            <a:chOff x="625059" y="1084888"/>
            <a:chExt cx="8467351" cy="3323719"/>
          </a:xfrm>
        </p:grpSpPr>
        <p:pic>
          <p:nvPicPr>
            <p:cNvPr id="8" name="Picture 7">
              <a:extLst>
                <a:ext uri="{FF2B5EF4-FFF2-40B4-BE49-F238E27FC236}">
                  <a16:creationId xmlns:a16="http://schemas.microsoft.com/office/drawing/2014/main" id="{65BFA474-820B-024F-124E-7D65E954402C}"/>
                </a:ext>
              </a:extLst>
            </p:cNvPr>
            <p:cNvPicPr>
              <a:picLocks noChangeAspect="1"/>
            </p:cNvPicPr>
            <p:nvPr/>
          </p:nvPicPr>
          <p:blipFill>
            <a:blip r:embed="rId4"/>
            <a:stretch>
              <a:fillRect/>
            </a:stretch>
          </p:blipFill>
          <p:spPr>
            <a:xfrm>
              <a:off x="625059" y="1084888"/>
              <a:ext cx="8467351" cy="3323719"/>
            </a:xfrm>
            <a:prstGeom prst="rect">
              <a:avLst/>
            </a:prstGeom>
          </p:spPr>
        </p:pic>
        <p:sp>
          <p:nvSpPr>
            <p:cNvPr id="21" name="TextBox 20">
              <a:extLst>
                <a:ext uri="{FF2B5EF4-FFF2-40B4-BE49-F238E27FC236}">
                  <a16:creationId xmlns:a16="http://schemas.microsoft.com/office/drawing/2014/main" id="{A1CC6CF0-CCB8-2A9C-812C-FF118C7ABD0D}"/>
                </a:ext>
              </a:extLst>
            </p:cNvPr>
            <p:cNvSpPr txBox="1"/>
            <p:nvPr/>
          </p:nvSpPr>
          <p:spPr>
            <a:xfrm>
              <a:off x="715683" y="3274455"/>
              <a:ext cx="1721362" cy="261829"/>
            </a:xfrm>
            <a:prstGeom prst="rect">
              <a:avLst/>
            </a:prstGeom>
            <a:noFill/>
          </p:spPr>
          <p:txBody>
            <a:bodyPr wrap="square" rtlCol="0">
              <a:spAutoFit/>
            </a:bodyPr>
            <a:lstStyle/>
            <a:p>
              <a:r>
                <a:rPr lang="en-CA" sz="1600" dirty="0"/>
                <a:t>Given problem scenario</a:t>
              </a:r>
            </a:p>
          </p:txBody>
        </p:sp>
        <p:sp>
          <p:nvSpPr>
            <p:cNvPr id="22" name="TextBox 21">
              <a:extLst>
                <a:ext uri="{FF2B5EF4-FFF2-40B4-BE49-F238E27FC236}">
                  <a16:creationId xmlns:a16="http://schemas.microsoft.com/office/drawing/2014/main" id="{2975E74F-433A-BF23-893A-F092A6797E19}"/>
                </a:ext>
              </a:extLst>
            </p:cNvPr>
            <p:cNvSpPr txBox="1"/>
            <p:nvPr/>
          </p:nvSpPr>
          <p:spPr>
            <a:xfrm>
              <a:off x="6161009" y="3236093"/>
              <a:ext cx="831462" cy="338554"/>
            </a:xfrm>
            <a:prstGeom prst="rect">
              <a:avLst/>
            </a:prstGeom>
            <a:noFill/>
          </p:spPr>
          <p:txBody>
            <a:bodyPr wrap="square" rtlCol="0">
              <a:spAutoFit/>
            </a:bodyPr>
            <a:lstStyle/>
            <a:p>
              <a:r>
                <a:rPr lang="en-CA" sz="1600" dirty="0"/>
                <a:t>Agent</a:t>
              </a:r>
            </a:p>
          </p:txBody>
        </p:sp>
        <p:sp>
          <p:nvSpPr>
            <p:cNvPr id="23" name="TextBox 22">
              <a:extLst>
                <a:ext uri="{FF2B5EF4-FFF2-40B4-BE49-F238E27FC236}">
                  <a16:creationId xmlns:a16="http://schemas.microsoft.com/office/drawing/2014/main" id="{3C13F9D5-B221-B0BD-2E89-6EDC19A16340}"/>
                </a:ext>
              </a:extLst>
            </p:cNvPr>
            <p:cNvSpPr txBox="1"/>
            <p:nvPr/>
          </p:nvSpPr>
          <p:spPr>
            <a:xfrm>
              <a:off x="7130945" y="4070053"/>
              <a:ext cx="1042691" cy="338554"/>
            </a:xfrm>
            <a:prstGeom prst="rect">
              <a:avLst/>
            </a:prstGeom>
            <a:noFill/>
          </p:spPr>
          <p:txBody>
            <a:bodyPr wrap="square" rtlCol="0">
              <a:spAutoFit/>
            </a:bodyPr>
            <a:lstStyle/>
            <a:p>
              <a:r>
                <a:rPr lang="en-CA" sz="1600" dirty="0"/>
                <a:t>Customer</a:t>
              </a:r>
            </a:p>
          </p:txBody>
        </p:sp>
      </p:grpSp>
      <p:cxnSp>
        <p:nvCxnSpPr>
          <p:cNvPr id="36" name="Straight Arrow Connector 35">
            <a:extLst>
              <a:ext uri="{FF2B5EF4-FFF2-40B4-BE49-F238E27FC236}">
                <a16:creationId xmlns:a16="http://schemas.microsoft.com/office/drawing/2014/main" id="{A8F70583-F76E-0364-AAA8-6437BD2D2BF9}"/>
              </a:ext>
            </a:extLst>
          </p:cNvPr>
          <p:cNvCxnSpPr>
            <a:cxnSpLocks/>
          </p:cNvCxnSpPr>
          <p:nvPr/>
        </p:nvCxnSpPr>
        <p:spPr>
          <a:xfrm>
            <a:off x="4254500" y="2860671"/>
            <a:ext cx="419100" cy="513132"/>
          </a:xfrm>
          <a:prstGeom prst="straightConnector1">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5DD77658-A5CD-EF2F-F04C-E2A789D689F1}"/>
              </a:ext>
            </a:extLst>
          </p:cNvPr>
          <p:cNvCxnSpPr>
            <a:cxnSpLocks/>
          </p:cNvCxnSpPr>
          <p:nvPr/>
        </p:nvCxnSpPr>
        <p:spPr>
          <a:xfrm flipV="1">
            <a:off x="5704958" y="2347542"/>
            <a:ext cx="607236" cy="1026261"/>
          </a:xfrm>
          <a:prstGeom prst="straightConnector1">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82FD08BC-BC41-67D8-C032-88992DD21170}"/>
              </a:ext>
            </a:extLst>
          </p:cNvPr>
          <p:cNvSpPr txBox="1"/>
          <p:nvPr/>
        </p:nvSpPr>
        <p:spPr>
          <a:xfrm>
            <a:off x="2657313" y="1151441"/>
            <a:ext cx="2552700" cy="369332"/>
          </a:xfrm>
          <a:prstGeom prst="rect">
            <a:avLst/>
          </a:prstGeom>
          <a:noFill/>
        </p:spPr>
        <p:txBody>
          <a:bodyPr wrap="square" rtlCol="0">
            <a:spAutoFit/>
          </a:bodyPr>
          <a:lstStyle/>
          <a:p>
            <a:r>
              <a:rPr lang="en-CA" dirty="0"/>
              <a:t>What is cause of issue?</a:t>
            </a:r>
          </a:p>
        </p:txBody>
      </p:sp>
      <p:sp>
        <p:nvSpPr>
          <p:cNvPr id="66" name="TextBox 65">
            <a:extLst>
              <a:ext uri="{FF2B5EF4-FFF2-40B4-BE49-F238E27FC236}">
                <a16:creationId xmlns:a16="http://schemas.microsoft.com/office/drawing/2014/main" id="{3B154425-116E-C77C-E9C4-3322BF5D349F}"/>
              </a:ext>
            </a:extLst>
          </p:cNvPr>
          <p:cNvSpPr txBox="1"/>
          <p:nvPr/>
        </p:nvSpPr>
        <p:spPr>
          <a:xfrm>
            <a:off x="5704958" y="1151441"/>
            <a:ext cx="2866403" cy="369332"/>
          </a:xfrm>
          <a:prstGeom prst="rect">
            <a:avLst/>
          </a:prstGeom>
          <a:noFill/>
        </p:spPr>
        <p:txBody>
          <a:bodyPr wrap="square" rtlCol="0">
            <a:spAutoFit/>
          </a:bodyPr>
          <a:lstStyle/>
          <a:p>
            <a:r>
              <a:rPr lang="en-CA" dirty="0"/>
              <a:t>What fix to use given cause?</a:t>
            </a:r>
          </a:p>
        </p:txBody>
      </p:sp>
      <p:sp>
        <p:nvSpPr>
          <p:cNvPr id="75" name="Right Brace 74">
            <a:extLst>
              <a:ext uri="{FF2B5EF4-FFF2-40B4-BE49-F238E27FC236}">
                <a16:creationId xmlns:a16="http://schemas.microsoft.com/office/drawing/2014/main" id="{C7AD592B-34A5-1695-C601-18E7E569B39B}"/>
              </a:ext>
            </a:extLst>
          </p:cNvPr>
          <p:cNvSpPr/>
          <p:nvPr/>
        </p:nvSpPr>
        <p:spPr>
          <a:xfrm rot="16200000">
            <a:off x="4372854" y="1451901"/>
            <a:ext cx="182394" cy="419101"/>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76" name="Right Brace 75">
            <a:extLst>
              <a:ext uri="{FF2B5EF4-FFF2-40B4-BE49-F238E27FC236}">
                <a16:creationId xmlns:a16="http://schemas.microsoft.com/office/drawing/2014/main" id="{3C3920AC-D7D5-DF46-96F2-754AFE1F5698}"/>
              </a:ext>
            </a:extLst>
          </p:cNvPr>
          <p:cNvSpPr/>
          <p:nvPr/>
        </p:nvSpPr>
        <p:spPr>
          <a:xfrm rot="16200000">
            <a:off x="5940344" y="1332979"/>
            <a:ext cx="136463" cy="607235"/>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Tree>
    <p:custDataLst>
      <p:tags r:id="rId1"/>
    </p:custDataLst>
    <p:extLst>
      <p:ext uri="{BB962C8B-B14F-4D97-AF65-F5344CB8AC3E}">
        <p14:creationId xmlns:p14="http://schemas.microsoft.com/office/powerpoint/2010/main" val="2033338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P spid="66" grpId="0"/>
      <p:bldP spid="75" grpId="0" animBg="1"/>
      <p:bldP spid="7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Abgerundetes Rechteck 27">
            <a:extLst>
              <a:ext uri="{FF2B5EF4-FFF2-40B4-BE49-F238E27FC236}">
                <a16:creationId xmlns:a16="http://schemas.microsoft.com/office/drawing/2014/main" id="{20D47E51-17F7-1705-6E93-91ECC7061C82}"/>
              </a:ext>
            </a:extLst>
          </p:cNvPr>
          <p:cNvSpPr/>
          <p:nvPr/>
        </p:nvSpPr>
        <p:spPr bwMode="auto">
          <a:xfrm>
            <a:off x="8525425" y="4203521"/>
            <a:ext cx="3521891" cy="1744853"/>
          </a:xfrm>
          <a:prstGeom prst="roundRect">
            <a:avLst/>
          </a:prstGeom>
          <a:solidFill>
            <a:srgbClr val="FCFAC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de-DE" sz="1400" b="0" i="0" u="none" strike="noStrike" cap="none" normalizeH="0" baseline="0" dirty="0">
              <a:ln>
                <a:noFill/>
              </a:ln>
              <a:solidFill>
                <a:srgbClr val="333399"/>
              </a:solidFill>
              <a:effectLst/>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2" name="Alternate Process 51">
            <a:extLst>
              <a:ext uri="{FF2B5EF4-FFF2-40B4-BE49-F238E27FC236}">
                <a16:creationId xmlns:a16="http://schemas.microsoft.com/office/drawing/2014/main" id="{0AF65E83-860E-F4E7-36FD-AF614127C218}"/>
              </a:ext>
            </a:extLst>
          </p:cNvPr>
          <p:cNvSpPr/>
          <p:nvPr/>
        </p:nvSpPr>
        <p:spPr>
          <a:xfrm>
            <a:off x="5565398" y="4963682"/>
            <a:ext cx="2551468" cy="923329"/>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51" name="Alternate Process 50">
            <a:extLst>
              <a:ext uri="{FF2B5EF4-FFF2-40B4-BE49-F238E27FC236}">
                <a16:creationId xmlns:a16="http://schemas.microsoft.com/office/drawing/2014/main" id="{DA105ED7-9E0A-30F5-4AF2-E89013313D2D}"/>
              </a:ext>
            </a:extLst>
          </p:cNvPr>
          <p:cNvSpPr/>
          <p:nvPr/>
        </p:nvSpPr>
        <p:spPr>
          <a:xfrm>
            <a:off x="144686" y="5023924"/>
            <a:ext cx="2006340" cy="646331"/>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2" name="Fußzeilenplatzhalter 1"/>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IJCAI 2026, Bremen, Germany I Phil LeMaitre I 20.08.2026</a:t>
            </a:r>
            <a:endParaRPr lang="de-DE" dirty="0"/>
          </a:p>
        </p:txBody>
      </p:sp>
      <p:sp>
        <p:nvSpPr>
          <p:cNvPr id="3" name="Titel 1">
            <a:extLst>
              <a:ext uri="{FF2B5EF4-FFF2-40B4-BE49-F238E27FC236}">
                <a16:creationId xmlns:a16="http://schemas.microsoft.com/office/drawing/2014/main" id="{8EA3482B-9788-BCB4-D810-065E821DE54B}"/>
              </a:ext>
            </a:extLst>
          </p:cNvPr>
          <p:cNvSpPr txBox="1">
            <a:spLocks/>
          </p:cNvSpPr>
          <p:nvPr/>
        </p:nvSpPr>
        <p:spPr bwMode="auto">
          <a:xfrm>
            <a:off x="0" y="0"/>
            <a:ext cx="12280900" cy="1014750"/>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Computer Maintenance Environment</a:t>
            </a:r>
          </a:p>
        </p:txBody>
      </p:sp>
      <p:sp>
        <p:nvSpPr>
          <p:cNvPr id="7" name="Slide Number Placeholder 6">
            <a:extLst>
              <a:ext uri="{FF2B5EF4-FFF2-40B4-BE49-F238E27FC236}">
                <a16:creationId xmlns:a16="http://schemas.microsoft.com/office/drawing/2014/main" id="{E784776F-3E20-1D97-AF3A-40623034A94C}"/>
              </a:ext>
            </a:extLst>
          </p:cNvPr>
          <p:cNvSpPr>
            <a:spLocks noGrp="1"/>
          </p:cNvSpPr>
          <p:nvPr>
            <p:ph type="sldNum" sz="quarter" idx="12"/>
          </p:nvPr>
        </p:nvSpPr>
        <p:spPr/>
        <p:txBody>
          <a:bodyPr/>
          <a:lstStyle/>
          <a:p>
            <a:fld id="{D0617D14-1B55-43C0-819D-0D244AC23646}" type="slidenum">
              <a:rPr lang="de-AT" smtClean="0"/>
              <a:t>12</a:t>
            </a:fld>
            <a:endParaRPr lang="de-AT"/>
          </a:p>
        </p:txBody>
      </p:sp>
      <p:pic>
        <p:nvPicPr>
          <p:cNvPr id="8" name="Picture 7">
            <a:extLst>
              <a:ext uri="{FF2B5EF4-FFF2-40B4-BE49-F238E27FC236}">
                <a16:creationId xmlns:a16="http://schemas.microsoft.com/office/drawing/2014/main" id="{65BFA474-820B-024F-124E-7D65E954402C}"/>
              </a:ext>
            </a:extLst>
          </p:cNvPr>
          <p:cNvPicPr>
            <a:picLocks noChangeAspect="1"/>
          </p:cNvPicPr>
          <p:nvPr/>
        </p:nvPicPr>
        <p:blipFill>
          <a:blip r:embed="rId4"/>
          <a:stretch>
            <a:fillRect/>
          </a:stretch>
        </p:blipFill>
        <p:spPr>
          <a:xfrm>
            <a:off x="475806" y="1393891"/>
            <a:ext cx="8467351" cy="3323719"/>
          </a:xfrm>
          <a:prstGeom prst="rect">
            <a:avLst/>
          </a:prstGeom>
        </p:spPr>
      </p:pic>
      <p:grpSp>
        <p:nvGrpSpPr>
          <p:cNvPr id="13" name="Group 12">
            <a:extLst>
              <a:ext uri="{FF2B5EF4-FFF2-40B4-BE49-F238E27FC236}">
                <a16:creationId xmlns:a16="http://schemas.microsoft.com/office/drawing/2014/main" id="{03230889-1B11-D604-360F-496AA682589D}"/>
              </a:ext>
            </a:extLst>
          </p:cNvPr>
          <p:cNvGrpSpPr/>
          <p:nvPr/>
        </p:nvGrpSpPr>
        <p:grpSpPr>
          <a:xfrm>
            <a:off x="9627267" y="1844370"/>
            <a:ext cx="1867735" cy="954107"/>
            <a:chOff x="1860105" y="3313201"/>
            <a:chExt cx="1867735" cy="954107"/>
          </a:xfrm>
        </p:grpSpPr>
        <p:sp>
          <p:nvSpPr>
            <p:cNvPr id="14" name="TextBox 13">
              <a:extLst>
                <a:ext uri="{FF2B5EF4-FFF2-40B4-BE49-F238E27FC236}">
                  <a16:creationId xmlns:a16="http://schemas.microsoft.com/office/drawing/2014/main" id="{1C779099-FE6B-0905-28C6-11F931B68B8B}"/>
                </a:ext>
              </a:extLst>
            </p:cNvPr>
            <p:cNvSpPr txBox="1"/>
            <p:nvPr/>
          </p:nvSpPr>
          <p:spPr>
            <a:xfrm>
              <a:off x="1999893" y="3313201"/>
              <a:ext cx="1727947" cy="954107"/>
            </a:xfrm>
            <a:prstGeom prst="rect">
              <a:avLst/>
            </a:prstGeom>
            <a:noFill/>
          </p:spPr>
          <p:txBody>
            <a:bodyPr wrap="square" rtlCol="0">
              <a:spAutoFit/>
            </a:bodyPr>
            <a:lstStyle/>
            <a:p>
              <a:r>
                <a:rPr lang="en-US" sz="1400" dirty="0">
                  <a:latin typeface="Helvetica Neue" panose="02000503000000020004" pitchFamily="2" charset="0"/>
                  <a:ea typeface="Helvetica Neue" panose="02000503000000020004" pitchFamily="2" charset="0"/>
                  <a:cs typeface="Helvetica Neue" panose="02000503000000020004" pitchFamily="2" charset="0"/>
                </a:rPr>
                <a:t>= symptom clips</a:t>
              </a:r>
            </a:p>
            <a:p>
              <a:r>
                <a:rPr lang="en-US" sz="1400" dirty="0">
                  <a:latin typeface="Helvetica Neue" panose="02000503000000020004" pitchFamily="2" charset="0"/>
                  <a:ea typeface="Helvetica Neue" panose="02000503000000020004" pitchFamily="2" charset="0"/>
                  <a:cs typeface="Helvetica Neue" panose="02000503000000020004" pitchFamily="2" charset="0"/>
                </a:rPr>
                <a:t>= component clips</a:t>
              </a:r>
            </a:p>
            <a:p>
              <a:r>
                <a:rPr lang="en-US" sz="1400" dirty="0">
                  <a:latin typeface="Helvetica Neue" panose="02000503000000020004" pitchFamily="2" charset="0"/>
                  <a:ea typeface="Helvetica Neue" panose="02000503000000020004" pitchFamily="2" charset="0"/>
                  <a:cs typeface="Helvetica Neue" panose="02000503000000020004" pitchFamily="2" charset="0"/>
                </a:rPr>
                <a:t>= cause clips</a:t>
              </a:r>
            </a:p>
            <a:p>
              <a:r>
                <a:rPr lang="en-US" sz="1400" dirty="0">
                  <a:latin typeface="Helvetica Neue" panose="02000503000000020004" pitchFamily="2" charset="0"/>
                  <a:ea typeface="Helvetica Neue" panose="02000503000000020004" pitchFamily="2" charset="0"/>
                  <a:cs typeface="Helvetica Neue" panose="02000503000000020004" pitchFamily="2" charset="0"/>
                </a:rPr>
                <a:t>= fix clips</a:t>
              </a:r>
            </a:p>
          </p:txBody>
        </p:sp>
        <p:sp>
          <p:nvSpPr>
            <p:cNvPr id="15" name="Oval 14">
              <a:extLst>
                <a:ext uri="{FF2B5EF4-FFF2-40B4-BE49-F238E27FC236}">
                  <a16:creationId xmlns:a16="http://schemas.microsoft.com/office/drawing/2014/main" id="{EC0FDBE2-592D-E320-D7A0-11864DD1F9E4}"/>
                </a:ext>
              </a:extLst>
            </p:cNvPr>
            <p:cNvSpPr/>
            <p:nvPr/>
          </p:nvSpPr>
          <p:spPr>
            <a:xfrm>
              <a:off x="1860106" y="3334079"/>
              <a:ext cx="208449" cy="206032"/>
            </a:xfrm>
            <a:prstGeom prst="ellipse">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6" name="Oval 15">
              <a:extLst>
                <a:ext uri="{FF2B5EF4-FFF2-40B4-BE49-F238E27FC236}">
                  <a16:creationId xmlns:a16="http://schemas.microsoft.com/office/drawing/2014/main" id="{B804EA36-E30D-3EF8-EBAB-81998AD87D89}"/>
                </a:ext>
              </a:extLst>
            </p:cNvPr>
            <p:cNvSpPr/>
            <p:nvPr/>
          </p:nvSpPr>
          <p:spPr>
            <a:xfrm>
              <a:off x="1860106" y="3558167"/>
              <a:ext cx="208449" cy="206032"/>
            </a:xfrm>
            <a:prstGeom prst="ellipse">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7" name="Oval 16">
              <a:extLst>
                <a:ext uri="{FF2B5EF4-FFF2-40B4-BE49-F238E27FC236}">
                  <a16:creationId xmlns:a16="http://schemas.microsoft.com/office/drawing/2014/main" id="{14695C1B-D271-00AA-A375-96756723B09C}"/>
                </a:ext>
              </a:extLst>
            </p:cNvPr>
            <p:cNvSpPr/>
            <p:nvPr/>
          </p:nvSpPr>
          <p:spPr>
            <a:xfrm>
              <a:off x="1860105" y="3786374"/>
              <a:ext cx="208450" cy="206033"/>
            </a:xfrm>
            <a:prstGeom prst="ellipse">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8" name="Oval 17">
              <a:extLst>
                <a:ext uri="{FF2B5EF4-FFF2-40B4-BE49-F238E27FC236}">
                  <a16:creationId xmlns:a16="http://schemas.microsoft.com/office/drawing/2014/main" id="{89374811-D043-092C-507D-933BD4927666}"/>
                </a:ext>
              </a:extLst>
            </p:cNvPr>
            <p:cNvSpPr/>
            <p:nvPr/>
          </p:nvSpPr>
          <p:spPr>
            <a:xfrm>
              <a:off x="1860105" y="4015576"/>
              <a:ext cx="208450" cy="206033"/>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Helvetica Neue" panose="02000503000000020004" pitchFamily="2" charset="0"/>
                <a:ea typeface="Helvetica Neue" panose="02000503000000020004" pitchFamily="2" charset="0"/>
                <a:cs typeface="Helvetica Neue" panose="02000503000000020004" pitchFamily="2" charset="0"/>
              </a:endParaRPr>
            </a:p>
          </p:txBody>
        </p:sp>
      </p:grpSp>
      <p:sp>
        <p:nvSpPr>
          <p:cNvPr id="20" name="TextBox 19">
            <a:extLst>
              <a:ext uri="{FF2B5EF4-FFF2-40B4-BE49-F238E27FC236}">
                <a16:creationId xmlns:a16="http://schemas.microsoft.com/office/drawing/2014/main" id="{B4CE88EE-18E1-CEAF-4F5D-BC95C0F81CB5}"/>
              </a:ext>
            </a:extLst>
          </p:cNvPr>
          <p:cNvSpPr txBox="1"/>
          <p:nvPr/>
        </p:nvSpPr>
        <p:spPr>
          <a:xfrm>
            <a:off x="8492138" y="3302044"/>
            <a:ext cx="2286663" cy="369332"/>
          </a:xfrm>
          <a:prstGeom prst="rect">
            <a:avLst/>
          </a:prstGeom>
          <a:noFill/>
        </p:spPr>
        <p:txBody>
          <a:bodyPr wrap="square" rtlCol="0">
            <a:spAutoFit/>
          </a:bodyPr>
          <a:lstStyle/>
          <a:p>
            <a:pPr algn="ctr"/>
            <a:r>
              <a:rPr lang="en-CA" dirty="0">
                <a:solidFill>
                  <a:schemeClr val="accent2"/>
                </a:solidFill>
                <a:latin typeface="Helvetica Neue" panose="02000503000000020004" pitchFamily="2" charset="0"/>
                <a:ea typeface="Helvetica Neue" panose="02000503000000020004" pitchFamily="2" charset="0"/>
                <a:cs typeface="Helvetica Neue" panose="02000503000000020004" pitchFamily="2" charset="0"/>
              </a:rPr>
              <a:t>Dual reward model</a:t>
            </a:r>
          </a:p>
        </p:txBody>
      </p:sp>
      <p:sp>
        <p:nvSpPr>
          <p:cNvPr id="21" name="TextBox 20">
            <a:extLst>
              <a:ext uri="{FF2B5EF4-FFF2-40B4-BE49-F238E27FC236}">
                <a16:creationId xmlns:a16="http://schemas.microsoft.com/office/drawing/2014/main" id="{A1CC6CF0-CCB8-2A9C-812C-FF118C7ABD0D}"/>
              </a:ext>
            </a:extLst>
          </p:cNvPr>
          <p:cNvSpPr txBox="1"/>
          <p:nvPr/>
        </p:nvSpPr>
        <p:spPr>
          <a:xfrm>
            <a:off x="296315" y="3545096"/>
            <a:ext cx="2286663" cy="584775"/>
          </a:xfrm>
          <a:prstGeom prst="rect">
            <a:avLst/>
          </a:prstGeom>
          <a:noFill/>
        </p:spPr>
        <p:txBody>
          <a:bodyPr wrap="square" rtlCol="0">
            <a:spAutoFit/>
          </a:bodyPr>
          <a:lstStyle/>
          <a:p>
            <a:r>
              <a:rPr lang="en-CA" sz="1600" dirty="0">
                <a:latin typeface="Helvetica Neue" panose="02000503000000020004" pitchFamily="2" charset="0"/>
                <a:ea typeface="Helvetica Neue" panose="02000503000000020004" pitchFamily="2" charset="0"/>
                <a:cs typeface="Helvetica Neue" panose="02000503000000020004" pitchFamily="2" charset="0"/>
              </a:rPr>
              <a:t>Given problem scenario</a:t>
            </a:r>
          </a:p>
        </p:txBody>
      </p:sp>
      <p:sp>
        <p:nvSpPr>
          <p:cNvPr id="22" name="TextBox 21">
            <a:extLst>
              <a:ext uri="{FF2B5EF4-FFF2-40B4-BE49-F238E27FC236}">
                <a16:creationId xmlns:a16="http://schemas.microsoft.com/office/drawing/2014/main" id="{2975E74F-433A-BF23-893A-F092A6797E19}"/>
              </a:ext>
            </a:extLst>
          </p:cNvPr>
          <p:cNvSpPr txBox="1"/>
          <p:nvPr/>
        </p:nvSpPr>
        <p:spPr>
          <a:xfrm>
            <a:off x="5911676" y="3481498"/>
            <a:ext cx="831462" cy="338554"/>
          </a:xfrm>
          <a:prstGeom prst="rect">
            <a:avLst/>
          </a:prstGeom>
          <a:noFill/>
        </p:spPr>
        <p:txBody>
          <a:bodyPr wrap="square" rtlCol="0">
            <a:spAutoFit/>
          </a:bodyPr>
          <a:lstStyle/>
          <a:p>
            <a:r>
              <a:rPr lang="en-CA" sz="1600" dirty="0">
                <a:latin typeface="Helvetica Neue" panose="02000503000000020004" pitchFamily="2" charset="0"/>
                <a:ea typeface="Helvetica Neue" panose="02000503000000020004" pitchFamily="2" charset="0"/>
                <a:cs typeface="Helvetica Neue" panose="02000503000000020004" pitchFamily="2" charset="0"/>
              </a:rPr>
              <a:t>Agent</a:t>
            </a:r>
          </a:p>
        </p:txBody>
      </p:sp>
      <p:sp>
        <p:nvSpPr>
          <p:cNvPr id="23" name="TextBox 22">
            <a:extLst>
              <a:ext uri="{FF2B5EF4-FFF2-40B4-BE49-F238E27FC236}">
                <a16:creationId xmlns:a16="http://schemas.microsoft.com/office/drawing/2014/main" id="{3C13F9D5-B221-B0BD-2E89-6EDC19A16340}"/>
              </a:ext>
            </a:extLst>
          </p:cNvPr>
          <p:cNvSpPr txBox="1"/>
          <p:nvPr/>
        </p:nvSpPr>
        <p:spPr>
          <a:xfrm>
            <a:off x="6869215" y="4333359"/>
            <a:ext cx="1123420" cy="338554"/>
          </a:xfrm>
          <a:prstGeom prst="rect">
            <a:avLst/>
          </a:prstGeom>
          <a:noFill/>
        </p:spPr>
        <p:txBody>
          <a:bodyPr wrap="square" rtlCol="0">
            <a:spAutoFit/>
          </a:bodyPr>
          <a:lstStyle/>
          <a:p>
            <a:r>
              <a:rPr lang="en-CA" sz="1600" dirty="0">
                <a:latin typeface="Helvetica Neue" panose="02000503000000020004" pitchFamily="2" charset="0"/>
                <a:ea typeface="Helvetica Neue" panose="02000503000000020004" pitchFamily="2" charset="0"/>
                <a:cs typeface="Helvetica Neue" panose="02000503000000020004" pitchFamily="2" charset="0"/>
              </a:rPr>
              <a:t>Customer</a:t>
            </a:r>
          </a:p>
        </p:txBody>
      </p:sp>
      <p:sp>
        <p:nvSpPr>
          <p:cNvPr id="30" name="TextBox 29">
            <a:extLst>
              <a:ext uri="{FF2B5EF4-FFF2-40B4-BE49-F238E27FC236}">
                <a16:creationId xmlns:a16="http://schemas.microsoft.com/office/drawing/2014/main" id="{6DCA1279-3F29-8DAF-E57C-295EC80BC203}"/>
              </a:ext>
            </a:extLst>
          </p:cNvPr>
          <p:cNvSpPr txBox="1"/>
          <p:nvPr/>
        </p:nvSpPr>
        <p:spPr>
          <a:xfrm>
            <a:off x="5586474" y="4985948"/>
            <a:ext cx="2530391" cy="923330"/>
          </a:xfrm>
          <a:prstGeom prst="rect">
            <a:avLst/>
          </a:prstGeom>
          <a:noFill/>
        </p:spPr>
        <p:txBody>
          <a:bodyPr wrap="square" rtlCol="0">
            <a:spAutoFit/>
          </a:bodyPr>
          <a:lstStyle/>
          <a:p>
            <a:r>
              <a:rPr lang="en-CA"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2) Consistent choices? </a:t>
            </a:r>
          </a:p>
          <a:p>
            <a:r>
              <a:rPr lang="en-CA"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3) Plausible fixes given causes?</a:t>
            </a:r>
          </a:p>
        </p:txBody>
      </p:sp>
      <p:sp>
        <p:nvSpPr>
          <p:cNvPr id="33" name="TextBox 32">
            <a:extLst>
              <a:ext uri="{FF2B5EF4-FFF2-40B4-BE49-F238E27FC236}">
                <a16:creationId xmlns:a16="http://schemas.microsoft.com/office/drawing/2014/main" id="{7A06853C-1B0B-D401-ABF6-DC0062398740}"/>
              </a:ext>
            </a:extLst>
          </p:cNvPr>
          <p:cNvSpPr txBox="1"/>
          <p:nvPr/>
        </p:nvSpPr>
        <p:spPr>
          <a:xfrm>
            <a:off x="8606154" y="4277098"/>
            <a:ext cx="3441162" cy="646331"/>
          </a:xfrm>
          <a:prstGeom prst="rect">
            <a:avLst/>
          </a:prstGeom>
          <a:noFill/>
        </p:spPr>
        <p:txBody>
          <a:bodyPr wrap="square" rtlCol="0">
            <a:spAutoFit/>
          </a:bodyPr>
          <a:lstStyle/>
          <a:p>
            <a:pPr marL="285750" indent="-285750">
              <a:buFont typeface="Arial" panose="020B0604020202020204" pitchFamily="34" charset="0"/>
              <a:buChar char="•"/>
            </a:pPr>
            <a:r>
              <a:rPr lang="en-CA" dirty="0">
                <a:latin typeface="Helvetica Neue" panose="02000503000000020004" pitchFamily="2" charset="0"/>
                <a:ea typeface="Helvetica Neue" panose="02000503000000020004" pitchFamily="2" charset="0"/>
                <a:cs typeface="Helvetica Neue" panose="02000503000000020004" pitchFamily="2" charset="0"/>
              </a:rPr>
              <a:t>Point 3) encodes causal relations into reward</a:t>
            </a:r>
          </a:p>
        </p:txBody>
      </p:sp>
      <p:sp>
        <p:nvSpPr>
          <p:cNvPr id="39" name="Right Brace 38">
            <a:extLst>
              <a:ext uri="{FF2B5EF4-FFF2-40B4-BE49-F238E27FC236}">
                <a16:creationId xmlns:a16="http://schemas.microsoft.com/office/drawing/2014/main" id="{4C81A61D-7CDC-16C9-E379-AC09ADB455C1}"/>
              </a:ext>
            </a:extLst>
          </p:cNvPr>
          <p:cNvSpPr/>
          <p:nvPr/>
        </p:nvSpPr>
        <p:spPr>
          <a:xfrm rot="5400000">
            <a:off x="3033344" y="4693893"/>
            <a:ext cx="136463" cy="373557"/>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0" name="Right Brace 39">
            <a:extLst>
              <a:ext uri="{FF2B5EF4-FFF2-40B4-BE49-F238E27FC236}">
                <a16:creationId xmlns:a16="http://schemas.microsoft.com/office/drawing/2014/main" id="{1F8BBF33-B9DF-01E2-60E5-759C9C059553}"/>
              </a:ext>
            </a:extLst>
          </p:cNvPr>
          <p:cNvSpPr/>
          <p:nvPr/>
        </p:nvSpPr>
        <p:spPr>
          <a:xfrm rot="5400000">
            <a:off x="4306268" y="4608409"/>
            <a:ext cx="136465" cy="519017"/>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44" name="TextBox 43">
            <a:extLst>
              <a:ext uri="{FF2B5EF4-FFF2-40B4-BE49-F238E27FC236}">
                <a16:creationId xmlns:a16="http://schemas.microsoft.com/office/drawing/2014/main" id="{97E802CC-5347-E841-B3C8-6B394B69A318}"/>
              </a:ext>
            </a:extLst>
          </p:cNvPr>
          <p:cNvSpPr txBox="1"/>
          <p:nvPr/>
        </p:nvSpPr>
        <p:spPr>
          <a:xfrm>
            <a:off x="144684" y="4997973"/>
            <a:ext cx="2094644" cy="646331"/>
          </a:xfrm>
          <a:prstGeom prst="rect">
            <a:avLst/>
          </a:prstGeom>
          <a:noFill/>
        </p:spPr>
        <p:txBody>
          <a:bodyPr wrap="square" rtlCol="0">
            <a:spAutoFit/>
          </a:bodyPr>
          <a:lstStyle/>
          <a:p>
            <a:r>
              <a:rPr lang="en-CA"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1) Correct causes and components? </a:t>
            </a: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EF82F6C4-6B5F-E949-D1A9-3509D472E87C}"/>
                  </a:ext>
                </a:extLst>
              </p:cNvPr>
              <p:cNvSpPr txBox="1"/>
              <p:nvPr/>
            </p:nvSpPr>
            <p:spPr>
              <a:xfrm>
                <a:off x="8259083" y="3342998"/>
                <a:ext cx="257346"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CA" i="1" smtClean="0">
                          <a:latin typeface="Cambria Math" panose="02040503050406030204" pitchFamily="18" charset="0"/>
                          <a:ea typeface="Cambria Math" panose="02040503050406030204" pitchFamily="18" charset="0"/>
                        </a:rPr>
                        <m:t>→</m:t>
                      </m:r>
                    </m:oMath>
                  </m:oMathPara>
                </a14:m>
                <a:endParaRPr lang="en-CA" dirty="0">
                  <a:latin typeface="Helvetica Neue" panose="02000503000000020004" pitchFamily="2" charset="0"/>
                  <a:ea typeface="Helvetica Neue" panose="02000503000000020004" pitchFamily="2" charset="0"/>
                  <a:cs typeface="Helvetica Neue" panose="02000503000000020004" pitchFamily="2" charset="0"/>
                </a:endParaRPr>
              </a:p>
            </p:txBody>
          </p:sp>
        </mc:Choice>
        <mc:Fallback xmlns="">
          <p:sp>
            <p:nvSpPr>
              <p:cNvPr id="46" name="TextBox 45">
                <a:extLst>
                  <a:ext uri="{FF2B5EF4-FFF2-40B4-BE49-F238E27FC236}">
                    <a16:creationId xmlns:a16="http://schemas.microsoft.com/office/drawing/2014/main" id="{EF82F6C4-6B5F-E949-D1A9-3509D472E87C}"/>
                  </a:ext>
                </a:extLst>
              </p:cNvPr>
              <p:cNvSpPr txBox="1">
                <a:spLocks noRot="1" noChangeAspect="1" noMove="1" noResize="1" noEditPoints="1" noAdjustHandles="1" noChangeArrowheads="1" noChangeShapeType="1" noTextEdit="1"/>
              </p:cNvSpPr>
              <p:nvPr/>
            </p:nvSpPr>
            <p:spPr>
              <a:xfrm>
                <a:off x="8259083" y="3342998"/>
                <a:ext cx="257346" cy="276999"/>
              </a:xfrm>
              <a:prstGeom prst="rect">
                <a:avLst/>
              </a:prstGeom>
              <a:blipFill>
                <a:blip r:embed="rId5"/>
                <a:stretch>
                  <a:fillRect l="-9524" r="-9524" b="-4348"/>
                </a:stretch>
              </a:blipFill>
            </p:spPr>
            <p:txBody>
              <a:bodyPr/>
              <a:lstStyle/>
              <a:p>
                <a:r>
                  <a:rPr lang="en-CA">
                    <a:noFill/>
                  </a:rPr>
                  <a:t> </a:t>
                </a:r>
              </a:p>
            </p:txBody>
          </p:sp>
        </mc:Fallback>
      </mc:AlternateContent>
      <p:cxnSp>
        <p:nvCxnSpPr>
          <p:cNvPr id="48" name="Straight Arrow Connector 47">
            <a:extLst>
              <a:ext uri="{FF2B5EF4-FFF2-40B4-BE49-F238E27FC236}">
                <a16:creationId xmlns:a16="http://schemas.microsoft.com/office/drawing/2014/main" id="{0A40BFC2-1D55-8645-ADAB-9D1459EA9862}"/>
              </a:ext>
            </a:extLst>
          </p:cNvPr>
          <p:cNvCxnSpPr>
            <a:cxnSpLocks/>
          </p:cNvCxnSpPr>
          <p:nvPr/>
        </p:nvCxnSpPr>
        <p:spPr>
          <a:xfrm flipH="1">
            <a:off x="2208462" y="5124968"/>
            <a:ext cx="444195" cy="0"/>
          </a:xfrm>
          <a:prstGeom prst="straightConnector1">
            <a:avLst/>
          </a:prstGeom>
          <a:ln w="317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9582AFDD-1940-1576-870D-A3C89E801D78}"/>
              </a:ext>
            </a:extLst>
          </p:cNvPr>
          <p:cNvCxnSpPr>
            <a:cxnSpLocks/>
          </p:cNvCxnSpPr>
          <p:nvPr/>
        </p:nvCxnSpPr>
        <p:spPr>
          <a:xfrm>
            <a:off x="4960851" y="5145941"/>
            <a:ext cx="604547" cy="0"/>
          </a:xfrm>
          <a:prstGeom prst="straightConnector1">
            <a:avLst/>
          </a:prstGeom>
          <a:ln w="317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940446AD-628A-290B-89F9-C9C1A2A92519}"/>
              </a:ext>
            </a:extLst>
          </p:cNvPr>
          <p:cNvSpPr txBox="1"/>
          <p:nvPr/>
        </p:nvSpPr>
        <p:spPr>
          <a:xfrm>
            <a:off x="3867921" y="4934706"/>
            <a:ext cx="1146668" cy="584775"/>
          </a:xfrm>
          <a:prstGeom prst="rect">
            <a:avLst/>
          </a:prstGeom>
          <a:noFill/>
        </p:spPr>
        <p:txBody>
          <a:bodyPr wrap="square" rtlCol="0">
            <a:spAutoFit/>
          </a:bodyPr>
          <a:lstStyle/>
          <a:p>
            <a:pPr algn="ctr"/>
            <a:r>
              <a:rPr lang="en-CA" sz="1600" dirty="0">
                <a:latin typeface="Helvetica Neue" panose="02000503000000020004" pitchFamily="2" charset="0"/>
                <a:ea typeface="Helvetica Neue" panose="02000503000000020004" pitchFamily="2" charset="0"/>
                <a:cs typeface="Helvetica Neue" panose="02000503000000020004" pitchFamily="2" charset="0"/>
              </a:rPr>
              <a:t>Plausibility reward</a:t>
            </a:r>
          </a:p>
        </p:txBody>
      </p:sp>
      <p:sp>
        <p:nvSpPr>
          <p:cNvPr id="57" name="TextBox 56">
            <a:extLst>
              <a:ext uri="{FF2B5EF4-FFF2-40B4-BE49-F238E27FC236}">
                <a16:creationId xmlns:a16="http://schemas.microsoft.com/office/drawing/2014/main" id="{79DC33B1-63E9-85BA-23F9-CC5DFB07AE20}"/>
              </a:ext>
            </a:extLst>
          </p:cNvPr>
          <p:cNvSpPr txBox="1"/>
          <p:nvPr/>
        </p:nvSpPr>
        <p:spPr>
          <a:xfrm>
            <a:off x="2582978" y="4923429"/>
            <a:ext cx="1262758" cy="584775"/>
          </a:xfrm>
          <a:prstGeom prst="rect">
            <a:avLst/>
          </a:prstGeom>
          <a:noFill/>
        </p:spPr>
        <p:txBody>
          <a:bodyPr wrap="square" rtlCol="0">
            <a:spAutoFit/>
          </a:bodyPr>
          <a:lstStyle/>
          <a:p>
            <a:pPr algn="ctr"/>
            <a:r>
              <a:rPr lang="en-CA" sz="1600" dirty="0">
                <a:latin typeface="Helvetica Neue" panose="02000503000000020004" pitchFamily="2" charset="0"/>
                <a:ea typeface="Helvetica Neue" panose="02000503000000020004" pitchFamily="2" charset="0"/>
                <a:cs typeface="Helvetica Neue" panose="02000503000000020004" pitchFamily="2" charset="0"/>
              </a:rPr>
              <a:t>Hypothesis reward</a:t>
            </a:r>
          </a:p>
        </p:txBody>
      </p:sp>
      <p:sp>
        <p:nvSpPr>
          <p:cNvPr id="9" name="TextBox 8">
            <a:extLst>
              <a:ext uri="{FF2B5EF4-FFF2-40B4-BE49-F238E27FC236}">
                <a16:creationId xmlns:a16="http://schemas.microsoft.com/office/drawing/2014/main" id="{A683A2F9-4611-95AF-1E61-9F1A7C14E6D8}"/>
              </a:ext>
            </a:extLst>
          </p:cNvPr>
          <p:cNvSpPr txBox="1"/>
          <p:nvPr/>
        </p:nvSpPr>
        <p:spPr>
          <a:xfrm>
            <a:off x="8606154" y="4931049"/>
            <a:ext cx="3674746" cy="923330"/>
          </a:xfrm>
          <a:prstGeom prst="rect">
            <a:avLst/>
          </a:prstGeom>
          <a:noFill/>
        </p:spPr>
        <p:txBody>
          <a:bodyPr wrap="square">
            <a:spAutoFit/>
          </a:bodyPr>
          <a:lstStyle/>
          <a:p>
            <a:pPr marL="285750" indent="-285750">
              <a:buFont typeface="Arial" panose="020B0604020202020204" pitchFamily="34" charset="0"/>
              <a:buChar char="•"/>
            </a:pPr>
            <a:r>
              <a:rPr lang="en-CA" dirty="0">
                <a:latin typeface="Helvetica Neue" panose="02000503000000020004" pitchFamily="2" charset="0"/>
                <a:ea typeface="Helvetica Neue" panose="02000503000000020004" pitchFamily="2" charset="0"/>
                <a:cs typeface="Helvetica Neue" panose="02000503000000020004" pitchFamily="2" charset="0"/>
              </a:rPr>
              <a:t>Enables partial generalization by training transitions outside scenario set</a:t>
            </a:r>
          </a:p>
        </p:txBody>
      </p:sp>
      <p:sp>
        <p:nvSpPr>
          <p:cNvPr id="4" name="TextBox 3">
            <a:extLst>
              <a:ext uri="{FF2B5EF4-FFF2-40B4-BE49-F238E27FC236}">
                <a16:creationId xmlns:a16="http://schemas.microsoft.com/office/drawing/2014/main" id="{8BFA9485-57F1-184A-8277-DD492DFA7367}"/>
              </a:ext>
            </a:extLst>
          </p:cNvPr>
          <p:cNvSpPr txBox="1"/>
          <p:nvPr/>
        </p:nvSpPr>
        <p:spPr>
          <a:xfrm>
            <a:off x="1045338" y="1041773"/>
            <a:ext cx="2552700" cy="338554"/>
          </a:xfrm>
          <a:prstGeom prst="rect">
            <a:avLst/>
          </a:prstGeom>
          <a:noFill/>
        </p:spPr>
        <p:txBody>
          <a:bodyPr wrap="square" rtlCol="0">
            <a:spAutoFit/>
          </a:bodyPr>
          <a:lstStyle/>
          <a:p>
            <a:r>
              <a:rPr lang="en-CA" sz="1600" dirty="0">
                <a:latin typeface="Helvetica Neue" panose="02000503000000020004" pitchFamily="2" charset="0"/>
                <a:ea typeface="Helvetica Neue" panose="02000503000000020004" pitchFamily="2" charset="0"/>
                <a:cs typeface="Helvetica Neue" panose="02000503000000020004" pitchFamily="2" charset="0"/>
              </a:rPr>
              <a:t>What is cause of issue?</a:t>
            </a:r>
          </a:p>
        </p:txBody>
      </p:sp>
      <p:sp>
        <p:nvSpPr>
          <p:cNvPr id="5" name="TextBox 4">
            <a:extLst>
              <a:ext uri="{FF2B5EF4-FFF2-40B4-BE49-F238E27FC236}">
                <a16:creationId xmlns:a16="http://schemas.microsoft.com/office/drawing/2014/main" id="{65FD6E77-E1B1-C1B4-B4C0-271D90958F5C}"/>
              </a:ext>
            </a:extLst>
          </p:cNvPr>
          <p:cNvSpPr txBox="1"/>
          <p:nvPr/>
        </p:nvSpPr>
        <p:spPr>
          <a:xfrm>
            <a:off x="4148047" y="1014750"/>
            <a:ext cx="2866403" cy="338554"/>
          </a:xfrm>
          <a:prstGeom prst="rect">
            <a:avLst/>
          </a:prstGeom>
          <a:noFill/>
        </p:spPr>
        <p:txBody>
          <a:bodyPr wrap="square" rtlCol="0">
            <a:spAutoFit/>
          </a:bodyPr>
          <a:lstStyle/>
          <a:p>
            <a:r>
              <a:rPr lang="en-CA" sz="1600" dirty="0">
                <a:latin typeface="Helvetica Neue" panose="02000503000000020004" pitchFamily="2" charset="0"/>
                <a:ea typeface="Helvetica Neue" panose="02000503000000020004" pitchFamily="2" charset="0"/>
                <a:cs typeface="Helvetica Neue" panose="02000503000000020004" pitchFamily="2" charset="0"/>
              </a:rPr>
              <a:t>What fix to use given cause?</a:t>
            </a:r>
          </a:p>
        </p:txBody>
      </p:sp>
      <p:sp>
        <p:nvSpPr>
          <p:cNvPr id="6" name="Right Brace 5">
            <a:extLst>
              <a:ext uri="{FF2B5EF4-FFF2-40B4-BE49-F238E27FC236}">
                <a16:creationId xmlns:a16="http://schemas.microsoft.com/office/drawing/2014/main" id="{1E825311-73A7-7FEB-24C1-13D6509931C1}"/>
              </a:ext>
            </a:extLst>
          </p:cNvPr>
          <p:cNvSpPr/>
          <p:nvPr/>
        </p:nvSpPr>
        <p:spPr>
          <a:xfrm rot="16200000">
            <a:off x="2987607" y="1221288"/>
            <a:ext cx="182394" cy="419101"/>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latin typeface="Helvetica Neue" panose="02000503000000020004" pitchFamily="2" charset="0"/>
              <a:ea typeface="Helvetica Neue" panose="02000503000000020004" pitchFamily="2" charset="0"/>
              <a:cs typeface="Helvetica Neue" panose="02000503000000020004" pitchFamily="2" charset="0"/>
            </a:endParaRPr>
          </a:p>
        </p:txBody>
      </p:sp>
      <p:sp>
        <p:nvSpPr>
          <p:cNvPr id="10" name="Right Brace 9">
            <a:extLst>
              <a:ext uri="{FF2B5EF4-FFF2-40B4-BE49-F238E27FC236}">
                <a16:creationId xmlns:a16="http://schemas.microsoft.com/office/drawing/2014/main" id="{87FF4E6C-55B9-A2F8-8D0C-48F9CA0B6221}"/>
              </a:ext>
            </a:extLst>
          </p:cNvPr>
          <p:cNvSpPr/>
          <p:nvPr/>
        </p:nvSpPr>
        <p:spPr>
          <a:xfrm rot="16200000">
            <a:off x="4300544" y="1154092"/>
            <a:ext cx="147918" cy="519016"/>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latin typeface="Helvetica Neue" panose="02000503000000020004" pitchFamily="2" charset="0"/>
              <a:ea typeface="Helvetica Neue" panose="02000503000000020004" pitchFamily="2" charset="0"/>
              <a:cs typeface="Helvetica Neue" panose="02000503000000020004" pitchFamily="2" charset="0"/>
            </a:endParaRPr>
          </a:p>
        </p:txBody>
      </p:sp>
    </p:spTree>
    <p:custDataLst>
      <p:tags r:id="rId1"/>
    </p:custDataLst>
    <p:extLst>
      <p:ext uri="{BB962C8B-B14F-4D97-AF65-F5344CB8AC3E}">
        <p14:creationId xmlns:p14="http://schemas.microsoft.com/office/powerpoint/2010/main" val="3911095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52" grpId="0" animBg="1"/>
      <p:bldP spid="51" grpId="0" animBg="1"/>
      <p:bldP spid="20" grpId="0"/>
      <p:bldP spid="30" grpId="0"/>
      <p:bldP spid="33" grpId="0"/>
      <p:bldP spid="39" grpId="0" animBg="1"/>
      <p:bldP spid="40" grpId="0" animBg="1"/>
      <p:bldP spid="44" grpId="0"/>
      <p:bldP spid="46" grpId="0"/>
      <p:bldP spid="56" grpId="0"/>
      <p:bldP spid="57" grpId="0"/>
      <p:bldP spid="9" grpId="0"/>
      <p:bldP spid="4" grpId="0"/>
      <p:bldP spid="5" grpId="0"/>
      <p:bldP spid="6" grpId="0" animBg="1"/>
      <p:bldP spid="1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ußzeilenplatzhalter 1"/>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IJCAI 2026, Bremen, Germany I Phil LeMaitre I 20.08.2026</a:t>
            </a:r>
            <a:endParaRPr lang="de-DE" dirty="0"/>
          </a:p>
        </p:txBody>
      </p:sp>
      <p:sp>
        <p:nvSpPr>
          <p:cNvPr id="3" name="Titel 1">
            <a:extLst>
              <a:ext uri="{FF2B5EF4-FFF2-40B4-BE49-F238E27FC236}">
                <a16:creationId xmlns:a16="http://schemas.microsoft.com/office/drawing/2014/main" id="{8EA3482B-9788-BCB4-D810-065E821DE54B}"/>
              </a:ext>
            </a:extLst>
          </p:cNvPr>
          <p:cNvSpPr txBox="1">
            <a:spLocks/>
          </p:cNvSpPr>
          <p:nvPr/>
        </p:nvSpPr>
        <p:spPr bwMode="auto">
          <a:xfrm>
            <a:off x="0" y="0"/>
            <a:ext cx="12280900" cy="1014750"/>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Helvetica Neue" panose="02000503000000020004" pitchFamily="2" charset="0"/>
                <a:ea typeface="Helvetica Neue" panose="02000503000000020004" pitchFamily="2" charset="0"/>
                <a:cs typeface="Helvetica Neue" panose="02000503000000020004" pitchFamily="2" charset="0"/>
              </a:rPr>
              <a:t>The Computer Maintenance Environment</a:t>
            </a:r>
          </a:p>
        </p:txBody>
      </p:sp>
      <p:sp>
        <p:nvSpPr>
          <p:cNvPr id="7" name="Slide Number Placeholder 6">
            <a:extLst>
              <a:ext uri="{FF2B5EF4-FFF2-40B4-BE49-F238E27FC236}">
                <a16:creationId xmlns:a16="http://schemas.microsoft.com/office/drawing/2014/main" id="{ADAD8F46-C7D2-791E-07B5-C56BF2CFF8A0}"/>
              </a:ext>
            </a:extLst>
          </p:cNvPr>
          <p:cNvSpPr>
            <a:spLocks noGrp="1"/>
          </p:cNvSpPr>
          <p:nvPr>
            <p:ph type="sldNum" sz="quarter" idx="12"/>
          </p:nvPr>
        </p:nvSpPr>
        <p:spPr/>
        <p:txBody>
          <a:bodyPr/>
          <a:lstStyle/>
          <a:p>
            <a:fld id="{D0617D14-1B55-43C0-819D-0D244AC23646}" type="slidenum">
              <a:rPr lang="de-AT" smtClean="0"/>
              <a:t>13</a:t>
            </a:fld>
            <a:endParaRPr lang="de-AT"/>
          </a:p>
        </p:txBody>
      </p:sp>
      <p:pic>
        <p:nvPicPr>
          <p:cNvPr id="4" name="Picture 3">
            <a:extLst>
              <a:ext uri="{FF2B5EF4-FFF2-40B4-BE49-F238E27FC236}">
                <a16:creationId xmlns:a16="http://schemas.microsoft.com/office/drawing/2014/main" id="{BF37A13D-0C41-4B73-A6BD-899343C81838}"/>
              </a:ext>
            </a:extLst>
          </p:cNvPr>
          <p:cNvPicPr>
            <a:picLocks noChangeAspect="1"/>
          </p:cNvPicPr>
          <p:nvPr/>
        </p:nvPicPr>
        <p:blipFill>
          <a:blip r:embed="rId3"/>
          <a:srcRect b="68088"/>
          <a:stretch>
            <a:fillRect/>
          </a:stretch>
        </p:blipFill>
        <p:spPr>
          <a:xfrm>
            <a:off x="4062699" y="1300602"/>
            <a:ext cx="4114083" cy="2485093"/>
          </a:xfrm>
          <a:prstGeom prst="rect">
            <a:avLst/>
          </a:prstGeom>
        </p:spPr>
      </p:pic>
      <p:pic>
        <p:nvPicPr>
          <p:cNvPr id="5" name="Picture 4">
            <a:extLst>
              <a:ext uri="{FF2B5EF4-FFF2-40B4-BE49-F238E27FC236}">
                <a16:creationId xmlns:a16="http://schemas.microsoft.com/office/drawing/2014/main" id="{B51AAB78-4270-32A9-DD18-430013E43C6B}"/>
              </a:ext>
            </a:extLst>
          </p:cNvPr>
          <p:cNvPicPr>
            <a:picLocks noChangeAspect="1"/>
          </p:cNvPicPr>
          <p:nvPr/>
        </p:nvPicPr>
        <p:blipFill>
          <a:blip r:embed="rId3"/>
          <a:srcRect t="32606" b="34702"/>
          <a:stretch>
            <a:fillRect/>
          </a:stretch>
        </p:blipFill>
        <p:spPr>
          <a:xfrm>
            <a:off x="23333" y="1239840"/>
            <a:ext cx="4114083" cy="2545855"/>
          </a:xfrm>
          <a:prstGeom prst="rect">
            <a:avLst/>
          </a:prstGeom>
        </p:spPr>
      </p:pic>
      <p:pic>
        <p:nvPicPr>
          <p:cNvPr id="6" name="Picture 5">
            <a:extLst>
              <a:ext uri="{FF2B5EF4-FFF2-40B4-BE49-F238E27FC236}">
                <a16:creationId xmlns:a16="http://schemas.microsoft.com/office/drawing/2014/main" id="{562EA59B-5527-8A1C-5BC3-C772323B1097}"/>
              </a:ext>
            </a:extLst>
          </p:cNvPr>
          <p:cNvPicPr>
            <a:picLocks noChangeAspect="1"/>
          </p:cNvPicPr>
          <p:nvPr/>
        </p:nvPicPr>
        <p:blipFill>
          <a:blip r:embed="rId3"/>
          <a:srcRect t="66612"/>
          <a:stretch>
            <a:fillRect/>
          </a:stretch>
        </p:blipFill>
        <p:spPr>
          <a:xfrm>
            <a:off x="8077916" y="1296935"/>
            <a:ext cx="4114083" cy="2600021"/>
          </a:xfrm>
          <a:prstGeom prst="rect">
            <a:avLst/>
          </a:prstGeom>
        </p:spPr>
      </p:pic>
      <p:pic>
        <p:nvPicPr>
          <p:cNvPr id="16" name="Picture 15">
            <a:extLst>
              <a:ext uri="{FF2B5EF4-FFF2-40B4-BE49-F238E27FC236}">
                <a16:creationId xmlns:a16="http://schemas.microsoft.com/office/drawing/2014/main" id="{3D7A85E5-2C33-9AE0-F30E-8831BBE254BB}"/>
              </a:ext>
            </a:extLst>
          </p:cNvPr>
          <p:cNvPicPr>
            <a:picLocks noChangeAspect="1"/>
          </p:cNvPicPr>
          <p:nvPr/>
        </p:nvPicPr>
        <p:blipFill rotWithShape="1">
          <a:blip r:embed="rId4">
            <a:extLst>
              <a:ext uri="{28A0092B-C50C-407E-A947-70E740481C1C}">
                <a14:useLocalDpi xmlns:a14="http://schemas.microsoft.com/office/drawing/2010/main"/>
              </a:ext>
            </a:extLst>
          </a:blip>
          <a:srcRect/>
          <a:stretch/>
        </p:blipFill>
        <p:spPr>
          <a:xfrm>
            <a:off x="0" y="3705003"/>
            <a:ext cx="4283152" cy="241646"/>
          </a:xfrm>
          <a:prstGeom prst="rect">
            <a:avLst/>
          </a:prstGeom>
        </p:spPr>
      </p:pic>
      <p:pic>
        <p:nvPicPr>
          <p:cNvPr id="17" name="Picture 16">
            <a:extLst>
              <a:ext uri="{FF2B5EF4-FFF2-40B4-BE49-F238E27FC236}">
                <a16:creationId xmlns:a16="http://schemas.microsoft.com/office/drawing/2014/main" id="{B3A95431-43C9-2360-02D1-069654B66315}"/>
              </a:ext>
            </a:extLst>
          </p:cNvPr>
          <p:cNvPicPr>
            <a:picLocks noChangeAspect="1"/>
          </p:cNvPicPr>
          <p:nvPr/>
        </p:nvPicPr>
        <p:blipFill rotWithShape="1">
          <a:blip r:embed="rId4">
            <a:extLst>
              <a:ext uri="{28A0092B-C50C-407E-A947-70E740481C1C}">
                <a14:useLocalDpi xmlns:a14="http://schemas.microsoft.com/office/drawing/2010/main"/>
              </a:ext>
            </a:extLst>
          </a:blip>
          <a:srcRect/>
          <a:stretch/>
        </p:blipFill>
        <p:spPr>
          <a:xfrm>
            <a:off x="3980863" y="3712384"/>
            <a:ext cx="4283152" cy="241646"/>
          </a:xfrm>
          <a:prstGeom prst="rect">
            <a:avLst/>
          </a:prstGeom>
        </p:spPr>
      </p:pic>
      <p:sp>
        <p:nvSpPr>
          <p:cNvPr id="18" name="Rectangle 17">
            <a:extLst>
              <a:ext uri="{FF2B5EF4-FFF2-40B4-BE49-F238E27FC236}">
                <a16:creationId xmlns:a16="http://schemas.microsoft.com/office/drawing/2014/main" id="{8508CE5E-D0DA-0AFB-79A2-FE0B7341A050}"/>
              </a:ext>
            </a:extLst>
          </p:cNvPr>
          <p:cNvSpPr>
            <a:spLocks noGrp="1"/>
          </p:cNvSpPr>
          <p:nvPr/>
        </p:nvSpPr>
        <p:spPr>
          <a:xfrm>
            <a:off x="440231" y="4092016"/>
            <a:ext cx="2571750" cy="514350"/>
          </a:xfrm>
          <a:prstGeom prst="rect">
            <a:avLst/>
          </a:prstGeom>
          <a:noFill/>
          <a:ln w="0">
            <a:noFill/>
            <a:prstDash val="solid"/>
          </a:ln>
        </p:spPr>
        <p:txBody>
          <a:bodyPr lIns="0" tIns="0" rIns="0" bIns="0" anchor="t">
            <a:normAutofit/>
          </a:bodyPr>
          <a:lstStyle/>
          <a:p>
            <a:pPr algn="l">
              <a:defRPr sz="2775" b="1">
                <a:solidFill>
                  <a:srgbClr val="3D8DFF"/>
                </a:solidFill>
                <a:latin typeface="Helvetica Neue"/>
                <a:ea typeface="Helvetica Neue"/>
                <a:cs typeface="Helvetica Neue"/>
              </a:defRPr>
            </a:pPr>
            <a:r>
              <a:rPr sz="2775" b="1">
                <a:solidFill>
                  <a:srgbClr val="3D8DFF"/>
                </a:solidFill>
                <a:latin typeface="Helvetica Neue"/>
                <a:ea typeface="Helvetica Neue"/>
                <a:cs typeface="Helvetica Neue"/>
              </a:rPr>
              <a:t>114,375</a:t>
            </a:r>
          </a:p>
        </p:txBody>
      </p:sp>
      <p:sp>
        <p:nvSpPr>
          <p:cNvPr id="20" name="Rectangle 19">
            <a:extLst>
              <a:ext uri="{FF2B5EF4-FFF2-40B4-BE49-F238E27FC236}">
                <a16:creationId xmlns:a16="http://schemas.microsoft.com/office/drawing/2014/main" id="{49CA0A11-2DCB-2B9D-3EA9-39D0E0399531}"/>
              </a:ext>
            </a:extLst>
          </p:cNvPr>
          <p:cNvSpPr>
            <a:spLocks noGrp="1"/>
          </p:cNvSpPr>
          <p:nvPr/>
        </p:nvSpPr>
        <p:spPr>
          <a:xfrm>
            <a:off x="440231" y="4625416"/>
            <a:ext cx="2571750" cy="495300"/>
          </a:xfrm>
          <a:prstGeom prst="rect">
            <a:avLst/>
          </a:prstGeom>
          <a:noFill/>
          <a:ln w="0">
            <a:noFill/>
            <a:prstDash val="solid"/>
          </a:ln>
        </p:spPr>
        <p:txBody>
          <a:bodyPr lIns="0" tIns="0" rIns="0" bIns="0" anchor="t">
            <a:normAutofit/>
          </a:bodyPr>
          <a:lstStyle/>
          <a:p>
            <a:pPr algn="l">
              <a:defRPr sz="1425" b="0">
                <a:solidFill>
                  <a:srgbClr val="4D5562"/>
                </a:solidFill>
                <a:latin typeface="Helvetica Neue"/>
                <a:ea typeface="Helvetica Neue"/>
                <a:cs typeface="Helvetica Neue"/>
              </a:defRPr>
            </a:pPr>
            <a:r>
              <a:rPr sz="1425" b="0" dirty="0">
                <a:solidFill>
                  <a:srgbClr val="4D5562"/>
                </a:solidFill>
                <a:latin typeface="Helvetica Neue"/>
                <a:ea typeface="Helvetica Neue"/>
                <a:cs typeface="Helvetica Neue"/>
              </a:rPr>
              <a:t>trainable parameters for the inductive-bias MEPS agent</a:t>
            </a:r>
          </a:p>
        </p:txBody>
      </p:sp>
      <p:sp>
        <p:nvSpPr>
          <p:cNvPr id="22" name="Rectangle 21">
            <a:extLst>
              <a:ext uri="{FF2B5EF4-FFF2-40B4-BE49-F238E27FC236}">
                <a16:creationId xmlns:a16="http://schemas.microsoft.com/office/drawing/2014/main" id="{A3BD1023-6CA0-B727-3261-7E90AA807715}"/>
              </a:ext>
            </a:extLst>
          </p:cNvPr>
          <p:cNvSpPr>
            <a:spLocks noGrp="1"/>
          </p:cNvSpPr>
          <p:nvPr/>
        </p:nvSpPr>
        <p:spPr>
          <a:xfrm>
            <a:off x="4275380" y="4092016"/>
            <a:ext cx="2952750" cy="514350"/>
          </a:xfrm>
          <a:prstGeom prst="rect">
            <a:avLst/>
          </a:prstGeom>
          <a:noFill/>
          <a:ln w="0">
            <a:noFill/>
            <a:prstDash val="solid"/>
          </a:ln>
        </p:spPr>
        <p:txBody>
          <a:bodyPr lIns="0" tIns="0" rIns="0" bIns="0" anchor="t">
            <a:normAutofit/>
          </a:bodyPr>
          <a:lstStyle/>
          <a:p>
            <a:pPr algn="l">
              <a:defRPr sz="2775" b="1">
                <a:solidFill>
                  <a:srgbClr val="FF7D7D"/>
                </a:solidFill>
                <a:latin typeface="Helvetica Neue"/>
                <a:ea typeface="Helvetica Neue"/>
                <a:cs typeface="Helvetica Neue"/>
              </a:defRPr>
            </a:pPr>
            <a:r>
              <a:rPr sz="2775" b="1" dirty="0">
                <a:solidFill>
                  <a:srgbClr val="FF7D7D"/>
                </a:solidFill>
                <a:latin typeface="Helvetica Neue"/>
                <a:ea typeface="Helvetica Neue"/>
                <a:cs typeface="Helvetica Neue"/>
              </a:rPr>
              <a:t>1,429,968</a:t>
            </a:r>
          </a:p>
        </p:txBody>
      </p:sp>
      <p:sp>
        <p:nvSpPr>
          <p:cNvPr id="23" name="Rectangle 22">
            <a:extLst>
              <a:ext uri="{FF2B5EF4-FFF2-40B4-BE49-F238E27FC236}">
                <a16:creationId xmlns:a16="http://schemas.microsoft.com/office/drawing/2014/main" id="{0C958163-CF06-C21C-6E6E-7B97C954DC7F}"/>
              </a:ext>
            </a:extLst>
          </p:cNvPr>
          <p:cNvSpPr>
            <a:spLocks noGrp="1"/>
          </p:cNvSpPr>
          <p:nvPr/>
        </p:nvSpPr>
        <p:spPr>
          <a:xfrm>
            <a:off x="4275380" y="4625416"/>
            <a:ext cx="2952750" cy="495300"/>
          </a:xfrm>
          <a:prstGeom prst="rect">
            <a:avLst/>
          </a:prstGeom>
          <a:noFill/>
          <a:ln w="0">
            <a:noFill/>
            <a:prstDash val="solid"/>
          </a:ln>
        </p:spPr>
        <p:txBody>
          <a:bodyPr lIns="0" tIns="0" rIns="0" bIns="0" anchor="t">
            <a:normAutofit/>
          </a:bodyPr>
          <a:lstStyle/>
          <a:p>
            <a:pPr algn="l">
              <a:defRPr sz="1425" b="0">
                <a:solidFill>
                  <a:srgbClr val="4D5562"/>
                </a:solidFill>
                <a:latin typeface="Helvetica Neue"/>
                <a:ea typeface="Helvetica Neue"/>
                <a:cs typeface="Helvetica Neue"/>
              </a:defRPr>
            </a:pPr>
            <a:r>
              <a:rPr sz="1425" b="0" dirty="0">
                <a:solidFill>
                  <a:srgbClr val="4D5562"/>
                </a:solidFill>
                <a:latin typeface="Helvetica Neue"/>
                <a:ea typeface="Helvetica Neue"/>
                <a:cs typeface="Helvetica Neue"/>
              </a:rPr>
              <a:t>trainable parameters for the unrestricted and tabular baselines</a:t>
            </a:r>
          </a:p>
        </p:txBody>
      </p:sp>
      <p:sp>
        <p:nvSpPr>
          <p:cNvPr id="24" name="Rectangle 23">
            <a:extLst>
              <a:ext uri="{FF2B5EF4-FFF2-40B4-BE49-F238E27FC236}">
                <a16:creationId xmlns:a16="http://schemas.microsoft.com/office/drawing/2014/main" id="{0F4AAB1D-BF0D-8FEF-8454-37314131EA49}"/>
              </a:ext>
            </a:extLst>
          </p:cNvPr>
          <p:cNvSpPr>
            <a:spLocks noGrp="1"/>
          </p:cNvSpPr>
          <p:nvPr/>
        </p:nvSpPr>
        <p:spPr>
          <a:xfrm>
            <a:off x="8127351" y="4050964"/>
            <a:ext cx="2952750" cy="514350"/>
          </a:xfrm>
          <a:prstGeom prst="rect">
            <a:avLst/>
          </a:prstGeom>
          <a:noFill/>
          <a:ln w="0">
            <a:noFill/>
            <a:prstDash val="solid"/>
          </a:ln>
        </p:spPr>
        <p:txBody>
          <a:bodyPr lIns="0" tIns="0" rIns="0" bIns="0" anchor="t">
            <a:normAutofit/>
          </a:bodyPr>
          <a:lstStyle/>
          <a:p>
            <a:pPr algn="l">
              <a:defRPr sz="2775" b="1">
                <a:solidFill>
                  <a:srgbClr val="93A637"/>
                </a:solidFill>
                <a:latin typeface="Helvetica Neue"/>
                <a:ea typeface="Helvetica Neue"/>
                <a:cs typeface="Helvetica Neue"/>
              </a:defRPr>
            </a:pPr>
            <a:r>
              <a:rPr sz="2775" b="1" dirty="0">
                <a:solidFill>
                  <a:srgbClr val="93A637"/>
                </a:solidFill>
                <a:latin typeface="Helvetica Neue"/>
                <a:ea typeface="Helvetica Neue"/>
                <a:cs typeface="Helvetica Neue"/>
              </a:rPr>
              <a:t>16,766</a:t>
            </a:r>
          </a:p>
        </p:txBody>
      </p:sp>
      <p:sp>
        <p:nvSpPr>
          <p:cNvPr id="25" name="Rectangle 24">
            <a:extLst>
              <a:ext uri="{FF2B5EF4-FFF2-40B4-BE49-F238E27FC236}">
                <a16:creationId xmlns:a16="http://schemas.microsoft.com/office/drawing/2014/main" id="{56E18400-4E77-DA96-F9C7-E4412F22CD49}"/>
              </a:ext>
            </a:extLst>
          </p:cNvPr>
          <p:cNvSpPr>
            <a:spLocks noGrp="1"/>
          </p:cNvSpPr>
          <p:nvPr/>
        </p:nvSpPr>
        <p:spPr>
          <a:xfrm>
            <a:off x="8127351" y="4584364"/>
            <a:ext cx="2952750" cy="495300"/>
          </a:xfrm>
          <a:prstGeom prst="rect">
            <a:avLst/>
          </a:prstGeom>
          <a:noFill/>
          <a:ln w="0">
            <a:noFill/>
            <a:prstDash val="solid"/>
          </a:ln>
        </p:spPr>
        <p:txBody>
          <a:bodyPr lIns="0" tIns="0" rIns="0" bIns="0" anchor="t">
            <a:normAutofit/>
          </a:bodyPr>
          <a:lstStyle/>
          <a:p>
            <a:pPr algn="l">
              <a:defRPr sz="1425" b="0">
                <a:solidFill>
                  <a:srgbClr val="4D5562"/>
                </a:solidFill>
                <a:latin typeface="Helvetica Neue"/>
                <a:ea typeface="Helvetica Neue"/>
                <a:cs typeface="Helvetica Neue"/>
              </a:defRPr>
            </a:pPr>
            <a:r>
              <a:rPr sz="1425" b="0" dirty="0">
                <a:solidFill>
                  <a:srgbClr val="4D5562"/>
                </a:solidFill>
                <a:latin typeface="Helvetica Neue"/>
                <a:ea typeface="Helvetica Neue"/>
                <a:cs typeface="Helvetica Neue"/>
              </a:rPr>
              <a:t>average steps to optimum vs. 35,817 and 115,261</a:t>
            </a:r>
          </a:p>
        </p:txBody>
      </p:sp>
      <p:sp>
        <p:nvSpPr>
          <p:cNvPr id="26" name="Rectangle 25">
            <a:extLst>
              <a:ext uri="{FF2B5EF4-FFF2-40B4-BE49-F238E27FC236}">
                <a16:creationId xmlns:a16="http://schemas.microsoft.com/office/drawing/2014/main" id="{8298E71C-2EA9-540D-FC96-AAFD73C842C3}"/>
              </a:ext>
            </a:extLst>
          </p:cNvPr>
          <p:cNvSpPr>
            <a:spLocks noGrp="1"/>
          </p:cNvSpPr>
          <p:nvPr/>
        </p:nvSpPr>
        <p:spPr>
          <a:xfrm>
            <a:off x="706893" y="5375253"/>
            <a:ext cx="10867113" cy="533400"/>
          </a:xfrm>
          <a:prstGeom prst="rect">
            <a:avLst/>
          </a:prstGeom>
          <a:noFill/>
          <a:ln w="0">
            <a:noFill/>
            <a:prstDash val="solid"/>
          </a:ln>
        </p:spPr>
        <p:txBody>
          <a:bodyPr lIns="0" tIns="0" rIns="0" bIns="0" anchor="t">
            <a:normAutofit fontScale="95211"/>
          </a:bodyPr>
          <a:lstStyle/>
          <a:p>
            <a:pPr algn="l">
              <a:defRPr sz="1650" b="0">
                <a:solidFill>
                  <a:srgbClr val="4D5562"/>
                </a:solidFill>
                <a:latin typeface="Helvetica Neue"/>
                <a:ea typeface="Helvetica Neue"/>
                <a:cs typeface="Helvetica Neue"/>
              </a:defRPr>
            </a:pPr>
            <a:r>
              <a:rPr sz="1650" b="0" dirty="0">
                <a:solidFill>
                  <a:srgbClr val="4D5562"/>
                </a:solidFill>
                <a:latin typeface="Helvetica Neue"/>
                <a:ea typeface="Helvetica Neue"/>
                <a:cs typeface="Helvetica Neue"/>
              </a:rPr>
              <a:t>The agent can reach near-optimal hypothesis and plausibility rewards while keeping the explanation path structured enough to inspect.</a:t>
            </a:r>
          </a:p>
        </p:txBody>
      </p:sp>
    </p:spTree>
    <p:extLst>
      <p:ext uri="{BB962C8B-B14F-4D97-AF65-F5344CB8AC3E}">
        <p14:creationId xmlns:p14="http://schemas.microsoft.com/office/powerpoint/2010/main" val="4253762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ußzeilenplatzhalter 1"/>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IJCAI 2026, Bremen, Germany I Phil LeMaitre I 20.08.2026</a:t>
            </a:r>
            <a:endParaRPr lang="de-DE" dirty="0"/>
          </a:p>
        </p:txBody>
      </p:sp>
      <p:sp>
        <p:nvSpPr>
          <p:cNvPr id="3" name="Titel 1">
            <a:extLst>
              <a:ext uri="{FF2B5EF4-FFF2-40B4-BE49-F238E27FC236}">
                <a16:creationId xmlns:a16="http://schemas.microsoft.com/office/drawing/2014/main" id="{8EA3482B-9788-BCB4-D810-065E821DE54B}"/>
              </a:ext>
            </a:extLst>
          </p:cNvPr>
          <p:cNvSpPr txBox="1">
            <a:spLocks/>
          </p:cNvSpPr>
          <p:nvPr/>
        </p:nvSpPr>
        <p:spPr bwMode="auto">
          <a:xfrm>
            <a:off x="0" y="0"/>
            <a:ext cx="12280900" cy="1014750"/>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de-AT" sz="3200" kern="0" dirty="0">
                <a:solidFill>
                  <a:schemeClr val="bg1"/>
                </a:solidFill>
                <a:latin typeface="Calibri Light" panose="020F0302020204030204" pitchFamily="34" charset="0"/>
                <a:cs typeface="Calibri Light" panose="020F0302020204030204" pitchFamily="34" charset="0"/>
              </a:rPr>
              <a:t>Quantum </a:t>
            </a:r>
            <a:r>
              <a:rPr lang="de-AT" sz="3200" kern="0" dirty="0" err="1">
                <a:solidFill>
                  <a:schemeClr val="bg1"/>
                </a:solidFill>
                <a:latin typeface="Calibri Light" panose="020F0302020204030204" pitchFamily="34" charset="0"/>
                <a:cs typeface="Calibri Light" panose="020F0302020204030204" pitchFamily="34" charset="0"/>
              </a:rPr>
              <a:t>mePS</a:t>
            </a:r>
            <a:r>
              <a:rPr lang="de-AT" sz="3200" kern="0" dirty="0">
                <a:solidFill>
                  <a:schemeClr val="bg1"/>
                </a:solidFill>
                <a:latin typeface="Calibri Light" panose="020F0302020204030204" pitchFamily="34" charset="0"/>
                <a:cs typeface="Calibri Light" panose="020F0302020204030204" pitchFamily="34" charset="0"/>
              </a:rPr>
              <a:t> - </a:t>
            </a:r>
            <a:r>
              <a:rPr lang="de-AT" sz="3200" kern="0" dirty="0" err="1">
                <a:solidFill>
                  <a:schemeClr val="bg1"/>
                </a:solidFill>
                <a:latin typeface="Calibri Light" panose="020F0302020204030204" pitchFamily="34" charset="0"/>
                <a:cs typeface="Calibri Light" panose="020F0302020204030204" pitchFamily="34" charset="0"/>
              </a:rPr>
              <a:t>Preliminaries</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F4A24675-E9F9-B996-D7DB-60295AF348BC}"/>
              </a:ext>
            </a:extLst>
          </p:cNvPr>
          <p:cNvSpPr>
            <a:spLocks noGrp="1"/>
          </p:cNvSpPr>
          <p:nvPr>
            <p:ph type="sldNum" sz="quarter" idx="12"/>
          </p:nvPr>
        </p:nvSpPr>
        <p:spPr/>
        <p:txBody>
          <a:bodyPr/>
          <a:lstStyle/>
          <a:p>
            <a:fld id="{D0617D14-1B55-43C0-819D-0D244AC23646}" type="slidenum">
              <a:rPr lang="de-AT" smtClean="0"/>
              <a:t>14</a:t>
            </a:fld>
            <a:endParaRPr lang="de-AT"/>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0EBA9CB-A3A0-13D5-400D-E1ABA99D7CC9}"/>
                  </a:ext>
                </a:extLst>
              </p:cNvPr>
              <p:cNvSpPr txBox="1"/>
              <p:nvPr/>
            </p:nvSpPr>
            <p:spPr>
              <a:xfrm>
                <a:off x="3079980" y="4919706"/>
                <a:ext cx="4002634" cy="8212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CA" i="1" smtClean="0">
                              <a:latin typeface="Cambria Math" panose="02040503050406030204" pitchFamily="18" charset="0"/>
                            </a:rPr>
                          </m:ctrlPr>
                        </m:accPr>
                        <m:e>
                          <m:r>
                            <a:rPr lang="en-CA" i="1">
                              <a:latin typeface="Cambria Math" panose="02040503050406030204" pitchFamily="18" charset="0"/>
                            </a:rPr>
                            <m:t>𝐻</m:t>
                          </m:r>
                        </m:e>
                      </m:acc>
                      <m:d>
                        <m:dPr>
                          <m:ctrlPr>
                            <a:rPr lang="en-US" b="0" i="1" smtClean="0">
                              <a:latin typeface="Cambria Math" panose="02040503050406030204" pitchFamily="18" charset="0"/>
                            </a:rPr>
                          </m:ctrlPr>
                        </m:dPr>
                        <m:e>
                          <m:r>
                            <a:rPr lang="en-US" b="0" i="1" smtClean="0">
                              <a:latin typeface="Cambria Math" panose="02040503050406030204" pitchFamily="18" charset="0"/>
                            </a:rPr>
                            <m:t>𝜏</m:t>
                          </m:r>
                        </m:e>
                      </m:d>
                      <m:r>
                        <a:rPr lang="en-CA" i="1">
                          <a:latin typeface="Cambria Math" panose="02040503050406030204" pitchFamily="18" charset="0"/>
                        </a:rPr>
                        <m:t>=</m:t>
                      </m:r>
                      <m:nary>
                        <m:naryPr>
                          <m:chr m:val="∑"/>
                          <m:ctrlPr>
                            <a:rPr lang="en-CA"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𝑜</m:t>
                          </m:r>
                        </m:sub>
                        <m:sup>
                          <m:r>
                            <a:rPr lang="en-US" b="0" i="1" smtClean="0">
                              <a:latin typeface="Cambria Math" panose="02040503050406030204" pitchFamily="18" charset="0"/>
                            </a:rPr>
                            <m:t>𝑁</m:t>
                          </m:r>
                        </m:sup>
                        <m:e>
                          <m:nary>
                            <m:naryPr>
                              <m:chr m:val="∑"/>
                              <m:ctrlPr>
                                <a:rPr lang="en-CA" i="1" smtClean="0">
                                  <a:latin typeface="Cambria Math" panose="02040503050406030204" pitchFamily="18" charset="0"/>
                                </a:rPr>
                              </m:ctrlPr>
                            </m:naryPr>
                            <m:sub>
                              <m:r>
                                <m:rPr>
                                  <m:brk m:alnAt="23"/>
                                </m:rPr>
                                <a:rPr lang="en-US" b="0" i="1" smtClean="0">
                                  <a:latin typeface="Cambria Math" panose="02040503050406030204" pitchFamily="18" charset="0"/>
                                </a:rPr>
                                <m:t>𝑘</m:t>
                              </m:r>
                            </m:sub>
                            <m:sup>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sup>
                            <m:e>
                              <m:nary>
                                <m:naryPr>
                                  <m:chr m:val="∑"/>
                                  <m:ctrlPr>
                                    <a:rPr lang="en-CA" i="1" smtClean="0">
                                      <a:latin typeface="Cambria Math" panose="02040503050406030204" pitchFamily="18" charset="0"/>
                                    </a:rPr>
                                  </m:ctrlPr>
                                </m:naryPr>
                                <m:sub>
                                  <m:r>
                                    <m:rPr>
                                      <m:brk m:alnAt="23"/>
                                    </m:rPr>
                                    <a:rPr lang="en-US" b="0" i="1" smtClean="0">
                                      <a:latin typeface="Cambria Math" panose="02040503050406030204" pitchFamily="18" charset="0"/>
                                    </a:rPr>
                                    <m:t>𝑗</m:t>
                                  </m:r>
                                </m:sub>
                                <m:sup>
                                  <m:r>
                                    <a:rPr lang="en-US" b="0" i="1" smtClean="0">
                                      <a:latin typeface="Cambria Math" panose="02040503050406030204" pitchFamily="18" charset="0"/>
                                    </a:rPr>
                                    <m:t>|</m:t>
                                  </m:r>
                                  <m:r>
                                    <a:rPr lang="en-US" b="0" i="1" smtClean="0">
                                      <a:latin typeface="Cambria Math" panose="02040503050406030204" pitchFamily="18" charset="0"/>
                                    </a:rPr>
                                    <m:t>𝑌</m:t>
                                  </m:r>
                                  <m:r>
                                    <a:rPr lang="en-US" b="0" i="1" smtClean="0">
                                      <a:latin typeface="Cambria Math" panose="02040503050406030204" pitchFamily="18" charset="0"/>
                                    </a:rPr>
                                    <m:t>|</m:t>
                                  </m:r>
                                </m:sup>
                                <m:e>
                                  <m:sSub>
                                    <m:sSubPr>
                                      <m:ctrlPr>
                                        <a:rPr lang="en-US" i="1" dirty="0">
                                          <a:latin typeface="Cambria Math" panose="02040503050406030204" pitchFamily="18" charset="0"/>
                                        </a:rPr>
                                      </m:ctrlPr>
                                    </m:sSubPr>
                                    <m:e>
                                      <m:r>
                                        <a:rPr lang="en-US" i="1" dirty="0">
                                          <a:latin typeface="Cambria Math" panose="02040503050406030204" pitchFamily="18" charset="0"/>
                                        </a:rPr>
                                        <m:t>h</m:t>
                                      </m:r>
                                    </m:e>
                                    <m:sub>
                                      <m:d>
                                        <m:dPr>
                                          <m:ctrlPr>
                                            <a:rPr lang="en-US" i="1" dirty="0">
                                              <a:latin typeface="Cambria Math" panose="02040503050406030204" pitchFamily="18" charset="0"/>
                                            </a:rPr>
                                          </m:ctrlPr>
                                        </m:dPr>
                                        <m:e>
                                          <m:r>
                                            <a:rPr lang="en-US" i="1" dirty="0">
                                              <a:latin typeface="Cambria Math" panose="02040503050406030204" pitchFamily="18" charset="0"/>
                                            </a:rPr>
                                            <m:t>𝑖</m:t>
                                          </m:r>
                                          <m:r>
                                            <a:rPr lang="en-US" i="1" dirty="0">
                                              <a:latin typeface="Cambria Math" panose="02040503050406030204" pitchFamily="18" charset="0"/>
                                            </a:rPr>
                                            <m:t>, </m:t>
                                          </m:r>
                                          <m:r>
                                            <a:rPr lang="en-US" i="1" dirty="0">
                                              <a:latin typeface="Cambria Math" panose="02040503050406030204" pitchFamily="18" charset="0"/>
                                            </a:rPr>
                                            <m:t>𝑜</m:t>
                                          </m:r>
                                        </m:e>
                                      </m:d>
                                    </m:sub>
                                  </m:sSub>
                                  <m:d>
                                    <m:dPr>
                                      <m:ctrlPr>
                                        <a:rPr lang="en-US" i="1" dirty="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panose="02040503050406030204" pitchFamily="18" charset="0"/>
                                            </a:rPr>
                                            <m:t>𝑋</m:t>
                                          </m:r>
                                        </m:e>
                                        <m:sub>
                                          <m:r>
                                            <a:rPr lang="en-US" i="1" dirty="0">
                                              <a:latin typeface="Cambria Math" panose="02040503050406030204" pitchFamily="18" charset="0"/>
                                            </a:rPr>
                                            <m:t>𝑘</m:t>
                                          </m:r>
                                        </m:sub>
                                      </m:sSub>
                                      <m:r>
                                        <a:rPr lang="en-US" i="1" dirty="0">
                                          <a:latin typeface="Cambria Math" panose="02040503050406030204" pitchFamily="18" charset="0"/>
                                        </a:rPr>
                                        <m:t>, </m:t>
                                      </m:r>
                                      <m:sSub>
                                        <m:sSubPr>
                                          <m:ctrlPr>
                                            <a:rPr lang="en-US" i="1" dirty="0">
                                              <a:latin typeface="Cambria Math" panose="02040503050406030204" pitchFamily="18" charset="0"/>
                                            </a:rPr>
                                          </m:ctrlPr>
                                        </m:sSubPr>
                                        <m:e>
                                          <m:r>
                                            <a:rPr lang="en-US" i="1" dirty="0">
                                              <a:latin typeface="Cambria Math" panose="02040503050406030204" pitchFamily="18" charset="0"/>
                                            </a:rPr>
                                            <m:t>𝑌</m:t>
                                          </m:r>
                                        </m:e>
                                        <m:sub>
                                          <m:r>
                                            <a:rPr lang="en-US" i="1" dirty="0">
                                              <a:latin typeface="Cambria Math" panose="02040503050406030204" pitchFamily="18" charset="0"/>
                                            </a:rPr>
                                            <m:t>𝑗</m:t>
                                          </m:r>
                                        </m:sub>
                                      </m:sSub>
                                      <m:r>
                                        <a:rPr lang="en-US" b="0" i="1" dirty="0" smtClean="0">
                                          <a:latin typeface="Cambria Math" panose="02040503050406030204" pitchFamily="18" charset="0"/>
                                        </a:rPr>
                                        <m:t>;</m:t>
                                      </m:r>
                                      <m:r>
                                        <a:rPr lang="en-US" b="0" i="1" dirty="0" smtClean="0">
                                          <a:latin typeface="Cambria Math" panose="02040503050406030204" pitchFamily="18" charset="0"/>
                                        </a:rPr>
                                        <m:t>𝜏</m:t>
                                      </m:r>
                                    </m:e>
                                  </m:d>
                                  <m:sSubSup>
                                    <m:sSubSupPr>
                                      <m:ctrlPr>
                                        <a:rPr lang="en-US" i="1" dirty="0">
                                          <a:latin typeface="Cambria Math" panose="02040503050406030204" pitchFamily="18" charset="0"/>
                                        </a:rPr>
                                      </m:ctrlPr>
                                    </m:sSubSupPr>
                                    <m:e>
                                      <m:acc>
                                        <m:accPr>
                                          <m:chr m:val="̂"/>
                                          <m:ctrlPr>
                                            <a:rPr lang="en-US" i="1" dirty="0">
                                              <a:latin typeface="Cambria Math" panose="02040503050406030204" pitchFamily="18" charset="0"/>
                                            </a:rPr>
                                          </m:ctrlPr>
                                        </m:accPr>
                                        <m:e>
                                          <m:r>
                                            <m:rPr>
                                              <m:sty m:val="p"/>
                                            </m:rPr>
                                            <a:rPr lang="el-GR" i="1" dirty="0">
                                              <a:latin typeface="Cambria Math" panose="02040503050406030204" pitchFamily="18" charset="0"/>
                                              <a:ea typeface="Cambria Math" panose="02040503050406030204" pitchFamily="18" charset="0"/>
                                            </a:rPr>
                                            <m:t>Ω</m:t>
                                          </m:r>
                                        </m:e>
                                      </m:acc>
                                    </m:e>
                                    <m:sub>
                                      <m:sSub>
                                        <m:sSubPr>
                                          <m:ctrlPr>
                                            <a:rPr lang="en-US" i="1" dirty="0">
                                              <a:latin typeface="Cambria Math" panose="02040503050406030204" pitchFamily="18" charset="0"/>
                                            </a:rPr>
                                          </m:ctrlPr>
                                        </m:sSubPr>
                                        <m:e>
                                          <m:r>
                                            <a:rPr lang="en-US" i="1" dirty="0">
                                              <a:latin typeface="Cambria Math" panose="02040503050406030204" pitchFamily="18" charset="0"/>
                                            </a:rPr>
                                            <m:t>𝑋</m:t>
                                          </m:r>
                                        </m:e>
                                        <m:sub>
                                          <m:r>
                                            <a:rPr lang="en-US" i="1" dirty="0">
                                              <a:latin typeface="Cambria Math" panose="02040503050406030204" pitchFamily="18" charset="0"/>
                                            </a:rPr>
                                            <m:t>𝑘</m:t>
                                          </m:r>
                                        </m:sub>
                                      </m:sSub>
                                    </m:sub>
                                    <m:sup>
                                      <m:r>
                                        <a:rPr lang="en-US" i="1" dirty="0">
                                          <a:latin typeface="Cambria Math" panose="02040503050406030204" pitchFamily="18" charset="0"/>
                                          <a:ea typeface="Cambria Math" panose="02040503050406030204" pitchFamily="18" charset="0"/>
                                        </a:rPr>
                                        <m:t>†</m:t>
                                      </m:r>
                                    </m:sup>
                                  </m:sSubSup>
                                  <m:sSub>
                                    <m:sSubPr>
                                      <m:ctrlPr>
                                        <a:rPr lang="en-US" i="1" dirty="0">
                                          <a:latin typeface="Cambria Math" panose="02040503050406030204" pitchFamily="18" charset="0"/>
                                          <a:ea typeface="Cambria Math" panose="02040503050406030204" pitchFamily="18" charset="0"/>
                                        </a:rPr>
                                      </m:ctrlPr>
                                    </m:sSubPr>
                                    <m:e>
                                      <m:acc>
                                        <m:accPr>
                                          <m:chr m:val="̂"/>
                                          <m:ctrlPr>
                                            <a:rPr lang="en-US" i="1" dirty="0">
                                              <a:latin typeface="Cambria Math" panose="02040503050406030204" pitchFamily="18" charset="0"/>
                                            </a:rPr>
                                          </m:ctrlPr>
                                        </m:accPr>
                                        <m:e>
                                          <m:r>
                                            <m:rPr>
                                              <m:sty m:val="p"/>
                                            </m:rPr>
                                            <a:rPr lang="el-GR" i="1" dirty="0">
                                              <a:latin typeface="Cambria Math" panose="02040503050406030204" pitchFamily="18" charset="0"/>
                                              <a:ea typeface="Cambria Math" panose="02040503050406030204" pitchFamily="18" charset="0"/>
                                            </a:rPr>
                                            <m:t>Ω</m:t>
                                          </m:r>
                                        </m:e>
                                      </m:acc>
                                    </m:e>
                                    <m:sub>
                                      <m:sSub>
                                        <m:sSubPr>
                                          <m:ctrlPr>
                                            <a:rPr lang="en-US" i="1" dirty="0">
                                              <a:latin typeface="Cambria Math" panose="02040503050406030204" pitchFamily="18" charset="0"/>
                                            </a:rPr>
                                          </m:ctrlPr>
                                        </m:sSubPr>
                                        <m:e>
                                          <m:r>
                                            <a:rPr lang="en-US" i="1" dirty="0">
                                              <a:latin typeface="Cambria Math" panose="02040503050406030204" pitchFamily="18" charset="0"/>
                                            </a:rPr>
                                            <m:t>𝑌</m:t>
                                          </m:r>
                                        </m:e>
                                        <m:sub>
                                          <m:r>
                                            <a:rPr lang="en-US" i="1" dirty="0">
                                              <a:latin typeface="Cambria Math" panose="02040503050406030204" pitchFamily="18" charset="0"/>
                                            </a:rPr>
                                            <m:t>𝑗</m:t>
                                          </m:r>
                                        </m:sub>
                                      </m:sSub>
                                    </m:sub>
                                  </m:sSub>
                                </m:e>
                              </m:nary>
                            </m:e>
                          </m:nary>
                        </m:e>
                      </m:nary>
                    </m:oMath>
                  </m:oMathPara>
                </a14:m>
                <a:endParaRPr lang="en-CA" dirty="0"/>
              </a:p>
            </p:txBody>
          </p:sp>
        </mc:Choice>
        <mc:Fallback xmlns="">
          <p:sp>
            <p:nvSpPr>
              <p:cNvPr id="4" name="TextBox 3">
                <a:extLst>
                  <a:ext uri="{FF2B5EF4-FFF2-40B4-BE49-F238E27FC236}">
                    <a16:creationId xmlns:a16="http://schemas.microsoft.com/office/drawing/2014/main" id="{B0EBA9CB-A3A0-13D5-400D-E1ABA99D7CC9}"/>
                  </a:ext>
                </a:extLst>
              </p:cNvPr>
              <p:cNvSpPr txBox="1">
                <a:spLocks noRot="1" noChangeAspect="1" noMove="1" noResize="1" noEditPoints="1" noAdjustHandles="1" noChangeArrowheads="1" noChangeShapeType="1" noTextEdit="1"/>
              </p:cNvSpPr>
              <p:nvPr/>
            </p:nvSpPr>
            <p:spPr>
              <a:xfrm>
                <a:off x="3079980" y="4919706"/>
                <a:ext cx="4002634" cy="821250"/>
              </a:xfrm>
              <a:prstGeom prst="rect">
                <a:avLst/>
              </a:prstGeom>
              <a:blipFill>
                <a:blip r:embed="rId3"/>
                <a:stretch>
                  <a:fillRect l="-1266" t="-103030" r="-316" b="-1590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2C27A6AF-6021-85FE-0DB3-6CD120DBFFF4}"/>
                  </a:ext>
                </a:extLst>
              </p:cNvPr>
              <p:cNvSpPr txBox="1"/>
              <p:nvPr/>
            </p:nvSpPr>
            <p:spPr>
              <a:xfrm>
                <a:off x="6193638" y="3795908"/>
                <a:ext cx="4243196" cy="453457"/>
              </a:xfrm>
              <a:prstGeom prst="rect">
                <a:avLst/>
              </a:prstGeom>
              <a:noFill/>
            </p:spPr>
            <p:txBody>
              <a:bodyPr wrap="square">
                <a:spAutoFit/>
              </a:bodyPr>
              <a:lstStyle/>
              <a:p>
                <a:pPr lvl="0">
                  <a:defRPr/>
                </a:pPr>
                <a14:m>
                  <m:oMathPara xmlns:m="http://schemas.openxmlformats.org/officeDocument/2006/math">
                    <m:oMathParaPr>
                      <m:jc m:val="centerGroup"/>
                    </m:oMathParaPr>
                    <m:oMath xmlns:m="http://schemas.openxmlformats.org/officeDocument/2006/math">
                      <m:sSubSup>
                        <m:sSubSupPr>
                          <m:ctrlPr>
                            <a:rPr lang="en-US" i="1" dirty="0" smtClean="0">
                              <a:latin typeface="Cambria Math" panose="02040503050406030204" pitchFamily="18" charset="0"/>
                            </a:rPr>
                          </m:ctrlPr>
                        </m:sSubSupPr>
                        <m:e>
                          <m:acc>
                            <m:accPr>
                              <m:chr m:val="̂"/>
                              <m:ctrlPr>
                                <a:rPr lang="en-US" i="1" dirty="0">
                                  <a:latin typeface="Cambria Math" panose="02040503050406030204" pitchFamily="18" charset="0"/>
                                </a:rPr>
                              </m:ctrlPr>
                            </m:accPr>
                            <m:e>
                              <m:r>
                                <m:rPr>
                                  <m:sty m:val="p"/>
                                </m:rPr>
                                <a:rPr lang="el-GR" i="1" dirty="0">
                                  <a:latin typeface="Cambria Math" panose="02040503050406030204" pitchFamily="18" charset="0"/>
                                  <a:ea typeface="Cambria Math" panose="02040503050406030204" pitchFamily="18" charset="0"/>
                                </a:rPr>
                                <m:t>Ω</m:t>
                              </m:r>
                            </m:e>
                          </m:acc>
                        </m:e>
                        <m:sub>
                          <m:sSub>
                            <m:sSubPr>
                              <m:ctrlPr>
                                <a:rPr lang="en-US" i="1" dirty="0">
                                  <a:latin typeface="Cambria Math" panose="02040503050406030204" pitchFamily="18" charset="0"/>
                                </a:rPr>
                              </m:ctrlPr>
                            </m:sSubPr>
                            <m:e>
                              <m:r>
                                <a:rPr lang="en-US" i="1" dirty="0">
                                  <a:latin typeface="Cambria Math" panose="02040503050406030204" pitchFamily="18" charset="0"/>
                                </a:rPr>
                                <m:t>𝑋</m:t>
                              </m:r>
                            </m:e>
                            <m:sub>
                              <m:r>
                                <a:rPr lang="en-US" i="1" dirty="0">
                                  <a:latin typeface="Cambria Math" panose="02040503050406030204" pitchFamily="18" charset="0"/>
                                </a:rPr>
                                <m:t>𝑖</m:t>
                              </m:r>
                            </m:sub>
                          </m:sSub>
                        </m:sub>
                        <m:sup>
                          <m:r>
                            <a:rPr lang="en-US" i="1" dirty="0">
                              <a:latin typeface="Cambria Math" panose="02040503050406030204" pitchFamily="18" charset="0"/>
                              <a:ea typeface="Cambria Math" panose="02040503050406030204" pitchFamily="18" charset="0"/>
                            </a:rPr>
                            <m:t>†</m:t>
                          </m:r>
                        </m:sup>
                      </m:sSubSup>
                      <m:d>
                        <m:dPr>
                          <m:ctrlPr>
                            <a:rPr kumimoji="0" lang="ar-AE" sz="1800" b="0" i="1" u="none" strike="noStrike" kern="1200" cap="none" spc="0" normalizeH="0" baseline="0" noProof="0" dirty="0">
                              <a:ln>
                                <a:noFill/>
                              </a:ln>
                              <a:solidFill>
                                <a:prstClr val="black"/>
                              </a:solidFill>
                              <a:effectLst/>
                              <a:uLnTx/>
                              <a:uFillTx/>
                              <a:latin typeface="Cambria Math" panose="02040503050406030204" pitchFamily="18" charset="0"/>
                            </a:rPr>
                          </m:ctrlPr>
                        </m:dPr>
                        <m:e>
                          <m: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rPr>
                            <m:t>𝜏</m:t>
                          </m:r>
                        </m:e>
                      </m:d>
                      <m:r>
                        <a:rPr kumimoji="0" lang="ar-AE" sz="1800" b="0" i="1" u="none" strike="noStrike" kern="1200" cap="none" spc="0" normalizeH="0" baseline="0" noProof="0" dirty="0">
                          <a:ln>
                            <a:noFill/>
                          </a:ln>
                          <a:solidFill>
                            <a:prstClr val="black"/>
                          </a:solidFill>
                          <a:effectLst/>
                          <a:uLnTx/>
                          <a:uFillTx/>
                          <a:latin typeface="Cambria Math" panose="02040503050406030204" pitchFamily="18" charset="0"/>
                        </a:rPr>
                        <m:t>=</m:t>
                      </m:r>
                      <m:acc>
                        <m:accPr>
                          <m:chr m:val="̂"/>
                          <m:ctrlPr>
                            <a:rPr lang="ar-AE" i="1" dirty="0">
                              <a:solidFill>
                                <a:prstClr val="black"/>
                              </a:solidFill>
                              <a:latin typeface="Cambria Math" panose="02040503050406030204" pitchFamily="18" charset="0"/>
                            </a:rPr>
                          </m:ctrlPr>
                        </m:accPr>
                        <m:e>
                          <m:r>
                            <a:rPr lang="en-US" i="1" dirty="0">
                              <a:solidFill>
                                <a:prstClr val="black"/>
                              </a:solidFill>
                              <a:latin typeface="Cambria Math" panose="02040503050406030204" pitchFamily="18" charset="0"/>
                            </a:rPr>
                            <m:t>𝑈</m:t>
                          </m:r>
                        </m:e>
                      </m:acc>
                      <m:d>
                        <m:dPr>
                          <m:ctrlPr>
                            <a:rPr lang="ar-AE" i="1" dirty="0">
                              <a:solidFill>
                                <a:prstClr val="black"/>
                              </a:solidFill>
                              <a:latin typeface="Cambria Math" panose="02040503050406030204" pitchFamily="18" charset="0"/>
                            </a:rPr>
                          </m:ctrlPr>
                        </m:dPr>
                        <m:e>
                          <m:r>
                            <a:rPr lang="en-US" i="1" dirty="0">
                              <a:solidFill>
                                <a:prstClr val="black"/>
                              </a:solidFill>
                              <a:latin typeface="Cambria Math" panose="02040503050406030204" pitchFamily="18" charset="0"/>
                            </a:rPr>
                            <m:t>𝜏</m:t>
                          </m:r>
                          <m:r>
                            <a:rPr lang="ar-AE" i="1" dirty="0">
                              <a:solidFill>
                                <a:prstClr val="black"/>
                              </a:solidFill>
                              <a:latin typeface="Cambria Math" panose="02040503050406030204" pitchFamily="18" charset="0"/>
                            </a:rPr>
                            <m:t>, </m:t>
                          </m:r>
                          <m:sSub>
                            <m:sSubPr>
                              <m:ctrlPr>
                                <a:rPr lang="ar-AE" i="1" dirty="0">
                                  <a:solidFill>
                                    <a:prstClr val="black"/>
                                  </a:solidFill>
                                  <a:latin typeface="Cambria Math" panose="02040503050406030204" pitchFamily="18" charset="0"/>
                                </a:rPr>
                              </m:ctrlPr>
                            </m:sSubPr>
                            <m:e>
                              <m:r>
                                <a:rPr lang="ar-AE" i="1" dirty="0">
                                  <a:solidFill>
                                    <a:prstClr val="black"/>
                                  </a:solidFill>
                                  <a:latin typeface="Cambria Math" panose="02040503050406030204" pitchFamily="18" charset="0"/>
                                </a:rPr>
                                <m:t>𝜏</m:t>
                              </m:r>
                            </m:e>
                            <m:sub>
                              <m:r>
                                <a:rPr lang="ar-AE" i="1" dirty="0">
                                  <a:solidFill>
                                    <a:prstClr val="black"/>
                                  </a:solidFill>
                                  <a:latin typeface="Cambria Math" panose="02040503050406030204" pitchFamily="18" charset="0"/>
                                </a:rPr>
                                <m:t>0</m:t>
                              </m:r>
                            </m:sub>
                          </m:sSub>
                        </m:e>
                      </m:d>
                      <m:sSubSup>
                        <m:sSubSupPr>
                          <m:ctrlPr>
                            <a:rPr lang="en-US" i="1" dirty="0">
                              <a:latin typeface="Cambria Math" panose="02040503050406030204" pitchFamily="18" charset="0"/>
                            </a:rPr>
                          </m:ctrlPr>
                        </m:sSubSupPr>
                        <m:e>
                          <m:acc>
                            <m:accPr>
                              <m:chr m:val="̂"/>
                              <m:ctrlPr>
                                <a:rPr lang="en-US" i="1" dirty="0">
                                  <a:latin typeface="Cambria Math" panose="02040503050406030204" pitchFamily="18" charset="0"/>
                                </a:rPr>
                              </m:ctrlPr>
                            </m:accPr>
                            <m:e>
                              <m:r>
                                <m:rPr>
                                  <m:sty m:val="p"/>
                                </m:rPr>
                                <a:rPr lang="el-GR" i="1" dirty="0">
                                  <a:latin typeface="Cambria Math" panose="02040503050406030204" pitchFamily="18" charset="0"/>
                                  <a:ea typeface="Cambria Math" panose="02040503050406030204" pitchFamily="18" charset="0"/>
                                </a:rPr>
                                <m:t>Ω</m:t>
                              </m:r>
                            </m:e>
                          </m:acc>
                        </m:e>
                        <m:sub>
                          <m:sSub>
                            <m:sSubPr>
                              <m:ctrlPr>
                                <a:rPr lang="en-US" i="1" dirty="0">
                                  <a:latin typeface="Cambria Math" panose="02040503050406030204" pitchFamily="18" charset="0"/>
                                </a:rPr>
                              </m:ctrlPr>
                            </m:sSubPr>
                            <m:e>
                              <m:r>
                                <a:rPr lang="en-US" i="1" dirty="0">
                                  <a:latin typeface="Cambria Math" panose="02040503050406030204" pitchFamily="18" charset="0"/>
                                </a:rPr>
                                <m:t>𝑋</m:t>
                              </m:r>
                            </m:e>
                            <m:sub>
                              <m:r>
                                <a:rPr lang="en-US" i="1" dirty="0">
                                  <a:latin typeface="Cambria Math" panose="02040503050406030204" pitchFamily="18" charset="0"/>
                                </a:rPr>
                                <m:t>𝑖</m:t>
                              </m:r>
                            </m:sub>
                          </m:sSub>
                        </m:sub>
                        <m:sup>
                          <m:r>
                            <a:rPr lang="en-US" i="1" dirty="0">
                              <a:latin typeface="Cambria Math" panose="02040503050406030204" pitchFamily="18" charset="0"/>
                              <a:ea typeface="Cambria Math" panose="02040503050406030204" pitchFamily="18" charset="0"/>
                            </a:rPr>
                            <m:t>†</m:t>
                          </m:r>
                        </m:sup>
                      </m:sSubSup>
                      <m:d>
                        <m:dPr>
                          <m:ctrlPr>
                            <a:rPr kumimoji="0" lang="ar-AE" sz="1800" b="0" i="1" u="none" strike="noStrike" kern="1200" cap="none" spc="0" normalizeH="0" baseline="0" noProof="0" dirty="0">
                              <a:ln>
                                <a:noFill/>
                              </a:ln>
                              <a:solidFill>
                                <a:prstClr val="black"/>
                              </a:solidFill>
                              <a:effectLst/>
                              <a:uLnTx/>
                              <a:uFillTx/>
                              <a:latin typeface="Cambria Math" panose="02040503050406030204" pitchFamily="18" charset="0"/>
                            </a:rPr>
                          </m:ctrlPr>
                        </m:dPr>
                        <m:e>
                          <m:sSub>
                            <m:sSubPr>
                              <m:ctrlPr>
                                <a:rPr kumimoji="0" lang="ar-AE" sz="1800" b="0" i="1" u="none" strike="noStrike" kern="1200" cap="none" spc="0" normalizeH="0" baseline="0" noProof="0" dirty="0" err="1">
                                  <a:ln>
                                    <a:noFill/>
                                  </a:ln>
                                  <a:solidFill>
                                    <a:prstClr val="black"/>
                                  </a:solidFill>
                                  <a:effectLst/>
                                  <a:uLnTx/>
                                  <a:uFillTx/>
                                  <a:latin typeface="Cambria Math" panose="02040503050406030204" pitchFamily="18" charset="0"/>
                                </a:rPr>
                              </m:ctrlPr>
                            </m:sSubPr>
                            <m:e>
                              <m:r>
                                <a:rPr kumimoji="0" lang="ar-AE" sz="1800" b="0" i="1" u="none" strike="noStrike" kern="1200" cap="none" spc="0" normalizeH="0" baseline="0" noProof="0" dirty="0">
                                  <a:ln>
                                    <a:noFill/>
                                  </a:ln>
                                  <a:solidFill>
                                    <a:prstClr val="black"/>
                                  </a:solidFill>
                                  <a:effectLst/>
                                  <a:uLnTx/>
                                  <a:uFillTx/>
                                  <a:latin typeface="Cambria Math" panose="02040503050406030204" pitchFamily="18" charset="0"/>
                                </a:rPr>
                                <m:t>𝜏</m:t>
                              </m:r>
                            </m:e>
                            <m:sub>
                              <m:r>
                                <a:rPr kumimoji="0" lang="ar-AE" sz="1800" b="0" i="1" u="none" strike="noStrike" kern="1200" cap="none" spc="0" normalizeH="0" baseline="0" noProof="0" dirty="0" smtClean="0">
                                  <a:ln>
                                    <a:noFill/>
                                  </a:ln>
                                  <a:solidFill>
                                    <a:prstClr val="black"/>
                                  </a:solidFill>
                                  <a:effectLst/>
                                  <a:uLnTx/>
                                  <a:uFillTx/>
                                  <a:latin typeface="Cambria Math" panose="02040503050406030204" pitchFamily="18" charset="0"/>
                                </a:rPr>
                                <m:t>0</m:t>
                              </m:r>
                            </m:sub>
                          </m:sSub>
                        </m:e>
                      </m:d>
                      <m:sSup>
                        <m:sSupPr>
                          <m:ctrlPr>
                            <a:rPr lang="ar-AE" i="1" dirty="0">
                              <a:solidFill>
                                <a:prstClr val="black"/>
                              </a:solidFill>
                              <a:latin typeface="Cambria Math" panose="02040503050406030204" pitchFamily="18" charset="0"/>
                            </a:rPr>
                          </m:ctrlPr>
                        </m:sSupPr>
                        <m:e>
                          <m:acc>
                            <m:accPr>
                              <m:chr m:val="̂"/>
                              <m:ctrlPr>
                                <a:rPr lang="ar-AE" i="1">
                                  <a:solidFill>
                                    <a:prstClr val="black"/>
                                  </a:solidFill>
                                  <a:latin typeface="Cambria Math" panose="02040503050406030204" pitchFamily="18" charset="0"/>
                                </a:rPr>
                              </m:ctrlPr>
                            </m:accPr>
                            <m:e>
                              <m:r>
                                <a:rPr lang="en-US" i="1">
                                  <a:solidFill>
                                    <a:prstClr val="black"/>
                                  </a:solidFill>
                                  <a:latin typeface="Cambria Math" panose="02040503050406030204" pitchFamily="18" charset="0"/>
                                </a:rPr>
                                <m:t>𝑈</m:t>
                              </m:r>
                            </m:e>
                          </m:acc>
                        </m:e>
                        <m:sup>
                          <m:r>
                            <a:rPr lang="ar-AE" i="1">
                              <a:solidFill>
                                <a:prstClr val="black"/>
                              </a:solidFill>
                              <a:latin typeface="Cambria Math" panose="02040503050406030204" pitchFamily="18" charset="0"/>
                            </a:rPr>
                            <m:t>†</m:t>
                          </m:r>
                        </m:sup>
                      </m:sSup>
                      <m:d>
                        <m:dPr>
                          <m:ctrlPr>
                            <a:rPr lang="ar-AE" i="1">
                              <a:solidFill>
                                <a:prstClr val="black"/>
                              </a:solidFill>
                              <a:latin typeface="Cambria Math" panose="02040503050406030204" pitchFamily="18" charset="0"/>
                            </a:rPr>
                          </m:ctrlPr>
                        </m:dPr>
                        <m:e>
                          <m:r>
                            <a:rPr lang="en-US" i="1">
                              <a:solidFill>
                                <a:prstClr val="black"/>
                              </a:solidFill>
                              <a:latin typeface="Cambria Math" panose="02040503050406030204" pitchFamily="18" charset="0"/>
                            </a:rPr>
                            <m:t>𝜏</m:t>
                          </m:r>
                          <m:r>
                            <a:rPr lang="en-US" i="1">
                              <a:solidFill>
                                <a:prstClr val="black"/>
                              </a:solidFill>
                              <a:latin typeface="Cambria Math" panose="02040503050406030204" pitchFamily="18" charset="0"/>
                            </a:rPr>
                            <m:t>, </m:t>
                          </m:r>
                          <m:sSub>
                            <m:sSubPr>
                              <m:ctrlPr>
                                <a:rPr lang="ar-AE" i="1" dirty="0">
                                  <a:solidFill>
                                    <a:prstClr val="black"/>
                                  </a:solidFill>
                                  <a:latin typeface="Cambria Math" panose="02040503050406030204" pitchFamily="18" charset="0"/>
                                </a:rPr>
                              </m:ctrlPr>
                            </m:sSubPr>
                            <m:e>
                              <m:r>
                                <a:rPr lang="ar-AE" i="1" dirty="0">
                                  <a:solidFill>
                                    <a:prstClr val="black"/>
                                  </a:solidFill>
                                  <a:latin typeface="Cambria Math" panose="02040503050406030204" pitchFamily="18" charset="0"/>
                                </a:rPr>
                                <m:t>𝜏</m:t>
                              </m:r>
                            </m:e>
                            <m:sub>
                              <m:r>
                                <a:rPr lang="ar-AE" i="1" dirty="0">
                                  <a:solidFill>
                                    <a:prstClr val="black"/>
                                  </a:solidFill>
                                  <a:latin typeface="Cambria Math" panose="02040503050406030204" pitchFamily="18" charset="0"/>
                                </a:rPr>
                                <m:t>0</m:t>
                              </m:r>
                            </m:sub>
                          </m:sSub>
                        </m:e>
                      </m:d>
                    </m:oMath>
                  </m:oMathPara>
                </a14:m>
                <a:endParaRPr kumimoji="0" lang="ar-AE" sz="1800" b="0" i="0" u="none" strike="noStrike" kern="1200" cap="none" spc="0" normalizeH="0" baseline="0" noProof="0" dirty="0">
                  <a:ln>
                    <a:noFill/>
                  </a:ln>
                  <a:solidFill>
                    <a:prstClr val="black"/>
                  </a:solidFill>
                  <a:effectLst/>
                  <a:uLnTx/>
                  <a:uFillTx/>
                  <a:latin typeface="Calibri"/>
                </a:endParaRPr>
              </a:p>
            </p:txBody>
          </p:sp>
        </mc:Choice>
        <mc:Fallback xmlns="">
          <p:sp>
            <p:nvSpPr>
              <p:cNvPr id="27" name="TextBox 26">
                <a:extLst>
                  <a:ext uri="{FF2B5EF4-FFF2-40B4-BE49-F238E27FC236}">
                    <a16:creationId xmlns:a16="http://schemas.microsoft.com/office/drawing/2014/main" id="{2C27A6AF-6021-85FE-0DB3-6CD120DBFFF4}"/>
                  </a:ext>
                </a:extLst>
              </p:cNvPr>
              <p:cNvSpPr txBox="1">
                <a:spLocks noRot="1" noChangeAspect="1" noMove="1" noResize="1" noEditPoints="1" noAdjustHandles="1" noChangeArrowheads="1" noChangeShapeType="1" noTextEdit="1"/>
              </p:cNvSpPr>
              <p:nvPr/>
            </p:nvSpPr>
            <p:spPr>
              <a:xfrm>
                <a:off x="6193638" y="3795908"/>
                <a:ext cx="4243196" cy="453457"/>
              </a:xfrm>
              <a:prstGeom prst="rect">
                <a:avLst/>
              </a:prstGeom>
              <a:blipFill>
                <a:blip r:embed="rId4"/>
                <a:stretch>
                  <a:fillRect t="-2778" b="-8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7FBA7850-BDC1-B9D0-8A7F-E5FE0F6CE432}"/>
                  </a:ext>
                </a:extLst>
              </p:cNvPr>
              <p:cNvSpPr txBox="1"/>
              <p:nvPr/>
            </p:nvSpPr>
            <p:spPr>
              <a:xfrm>
                <a:off x="6593674" y="2391159"/>
                <a:ext cx="2533809" cy="40209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CA" sz="1800" i="1" dirty="0" smtClean="0">
                              <a:latin typeface="Cambria Math" panose="02040503050406030204" pitchFamily="18" charset="0"/>
                            </a:rPr>
                          </m:ctrlPr>
                        </m:accPr>
                        <m:e>
                          <m:r>
                            <a:rPr lang="en-US" sz="1800" b="0" i="1" dirty="0" smtClean="0">
                              <a:latin typeface="Cambria Math" panose="02040503050406030204" pitchFamily="18" charset="0"/>
                            </a:rPr>
                            <m:t>𝑈</m:t>
                          </m:r>
                        </m:e>
                      </m:acc>
                      <m:d>
                        <m:dPr>
                          <m:ctrlPr>
                            <a:rPr lang="en-CA" sz="1800" i="1" dirty="0" smtClean="0">
                              <a:latin typeface="Cambria Math" panose="02040503050406030204" pitchFamily="18" charset="0"/>
                            </a:rPr>
                          </m:ctrlPr>
                        </m:dPr>
                        <m:e>
                          <m:r>
                            <a:rPr lang="en-CA" sz="1800" b="0" i="1" dirty="0" smtClean="0">
                              <a:latin typeface="Cambria Math" panose="02040503050406030204" pitchFamily="18" charset="0"/>
                            </a:rPr>
                            <m:t>𝜏</m:t>
                          </m:r>
                          <m:r>
                            <a:rPr lang="en-CA" sz="1800" b="0" i="1" dirty="0" smtClean="0">
                              <a:latin typeface="Cambria Math" panose="02040503050406030204" pitchFamily="18" charset="0"/>
                            </a:rPr>
                            <m:t>, </m:t>
                          </m:r>
                          <m:sSub>
                            <m:sSubPr>
                              <m:ctrlPr>
                                <a:rPr lang="en-CA" sz="1800" b="0" i="1" dirty="0" smtClean="0">
                                  <a:latin typeface="Cambria Math" panose="02040503050406030204" pitchFamily="18" charset="0"/>
                                </a:rPr>
                              </m:ctrlPr>
                            </m:sSubPr>
                            <m:e>
                              <m:r>
                                <a:rPr lang="en-CA" sz="1800" b="0" i="1" dirty="0" smtClean="0">
                                  <a:latin typeface="Cambria Math" panose="02040503050406030204" pitchFamily="18" charset="0"/>
                                </a:rPr>
                                <m:t>𝜏</m:t>
                              </m:r>
                            </m:e>
                            <m:sub>
                              <m:r>
                                <a:rPr lang="en-CA" sz="1800" b="0" i="1" dirty="0" smtClean="0">
                                  <a:latin typeface="Cambria Math" panose="02040503050406030204" pitchFamily="18" charset="0"/>
                                </a:rPr>
                                <m:t>0</m:t>
                              </m:r>
                            </m:sub>
                          </m:sSub>
                        </m:e>
                      </m:d>
                      <m:r>
                        <a:rPr lang="en-CA" sz="1800" i="1" dirty="0">
                          <a:latin typeface="Cambria Math" panose="02040503050406030204" pitchFamily="18" charset="0"/>
                        </a:rPr>
                        <m:t>=</m:t>
                      </m:r>
                      <m:sSup>
                        <m:sSupPr>
                          <m:ctrlPr>
                            <a:rPr lang="en-CA" sz="1800" i="1" dirty="0">
                              <a:latin typeface="Cambria Math" panose="02040503050406030204" pitchFamily="18" charset="0"/>
                            </a:rPr>
                          </m:ctrlPr>
                        </m:sSupPr>
                        <m:e>
                          <m:r>
                            <a:rPr lang="en-CA" sz="1800" i="1" dirty="0">
                              <a:latin typeface="Cambria Math" panose="02040503050406030204" pitchFamily="18" charset="0"/>
                            </a:rPr>
                            <m:t>𝑒</m:t>
                          </m:r>
                        </m:e>
                        <m:sup>
                          <m:r>
                            <a:rPr lang="en-CA" sz="1800" i="1" dirty="0" err="1">
                              <a:latin typeface="Cambria Math" panose="02040503050406030204" pitchFamily="18" charset="0"/>
                            </a:rPr>
                            <m:t>𝑖</m:t>
                          </m:r>
                          <m:r>
                            <a:rPr lang="en-US" sz="1800" b="0" i="1" dirty="0" smtClean="0">
                              <a:latin typeface="Cambria Math" panose="02040503050406030204" pitchFamily="18" charset="0"/>
                            </a:rPr>
                            <m:t>(</m:t>
                          </m:r>
                          <m:r>
                            <a:rPr lang="en-US" sz="1800" b="0" i="1" dirty="0" smtClean="0">
                              <a:latin typeface="Cambria Math" panose="02040503050406030204" pitchFamily="18" charset="0"/>
                            </a:rPr>
                            <m:t>𝜏</m:t>
                          </m:r>
                          <m:r>
                            <a:rPr lang="en-US" sz="1800" b="0" i="1" dirty="0" smtClean="0">
                              <a:latin typeface="Cambria Math" panose="02040503050406030204" pitchFamily="18" charset="0"/>
                            </a:rPr>
                            <m:t>−</m:t>
                          </m:r>
                          <m:sSub>
                            <m:sSubPr>
                              <m:ctrlPr>
                                <a:rPr lang="en-US" sz="1800" b="0" i="1" dirty="0" smtClean="0">
                                  <a:latin typeface="Cambria Math" panose="02040503050406030204" pitchFamily="18" charset="0"/>
                                </a:rPr>
                              </m:ctrlPr>
                            </m:sSubPr>
                            <m:e>
                              <m:r>
                                <a:rPr lang="en-US" sz="1800" b="0" i="1" dirty="0" smtClean="0">
                                  <a:latin typeface="Cambria Math" panose="02040503050406030204" pitchFamily="18" charset="0"/>
                                </a:rPr>
                                <m:t>𝜏</m:t>
                              </m:r>
                            </m:e>
                            <m:sub>
                              <m:r>
                                <a:rPr lang="en-US" sz="1800" b="0" i="1" dirty="0" smtClean="0">
                                  <a:latin typeface="Cambria Math" panose="02040503050406030204" pitchFamily="18" charset="0"/>
                                </a:rPr>
                                <m:t>0</m:t>
                              </m:r>
                            </m:sub>
                          </m:sSub>
                          <m:r>
                            <a:rPr lang="en-US" sz="1800" b="0" i="1" dirty="0" smtClean="0">
                              <a:latin typeface="Cambria Math" panose="02040503050406030204" pitchFamily="18" charset="0"/>
                            </a:rPr>
                            <m:t>)</m:t>
                          </m:r>
                          <m:acc>
                            <m:accPr>
                              <m:chr m:val="̂"/>
                              <m:ctrlPr>
                                <a:rPr lang="en-CA" sz="1800" i="1" dirty="0">
                                  <a:latin typeface="Cambria Math" panose="02040503050406030204" pitchFamily="18" charset="0"/>
                                </a:rPr>
                              </m:ctrlPr>
                            </m:accPr>
                            <m:e>
                              <m:r>
                                <a:rPr lang="en-CA" sz="1800" i="1" dirty="0">
                                  <a:latin typeface="Cambria Math" panose="02040503050406030204" pitchFamily="18" charset="0"/>
                                </a:rPr>
                                <m:t>𝐻</m:t>
                              </m:r>
                            </m:e>
                          </m:acc>
                        </m:sup>
                      </m:sSup>
                    </m:oMath>
                  </m:oMathPara>
                </a14:m>
                <a:endParaRPr lang="en-US" dirty="0"/>
              </a:p>
            </p:txBody>
          </p:sp>
        </mc:Choice>
        <mc:Fallback xmlns="">
          <p:sp>
            <p:nvSpPr>
              <p:cNvPr id="29" name="TextBox 28">
                <a:extLst>
                  <a:ext uri="{FF2B5EF4-FFF2-40B4-BE49-F238E27FC236}">
                    <a16:creationId xmlns:a16="http://schemas.microsoft.com/office/drawing/2014/main" id="{7FBA7850-BDC1-B9D0-8A7F-E5FE0F6CE432}"/>
                  </a:ext>
                </a:extLst>
              </p:cNvPr>
              <p:cNvSpPr txBox="1">
                <a:spLocks noRot="1" noChangeAspect="1" noMove="1" noResize="1" noEditPoints="1" noAdjustHandles="1" noChangeArrowheads="1" noChangeShapeType="1" noTextEdit="1"/>
              </p:cNvSpPr>
              <p:nvPr/>
            </p:nvSpPr>
            <p:spPr>
              <a:xfrm>
                <a:off x="6593674" y="2391159"/>
                <a:ext cx="2533809" cy="402098"/>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1FDFB3CD-BD82-1E51-4577-119DAD68D1CF}"/>
                  </a:ext>
                </a:extLst>
              </p:cNvPr>
              <p:cNvSpPr txBox="1"/>
              <p:nvPr/>
            </p:nvSpPr>
            <p:spPr>
              <a:xfrm>
                <a:off x="2985421" y="3187386"/>
                <a:ext cx="2284152" cy="49840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1800" b="0" i="1" dirty="0" smtClean="0">
                              <a:latin typeface="Cambria Math" panose="02040503050406030204" pitchFamily="18" charset="0"/>
                            </a:rPr>
                          </m:ctrlPr>
                        </m:sSubSupPr>
                        <m:e>
                          <m:acc>
                            <m:accPr>
                              <m:chr m:val="̂"/>
                              <m:ctrlPr>
                                <a:rPr lang="en-US" sz="1800" b="0" i="1" dirty="0" smtClean="0">
                                  <a:latin typeface="Cambria Math" panose="02040503050406030204" pitchFamily="18" charset="0"/>
                                </a:rPr>
                              </m:ctrlPr>
                            </m:accPr>
                            <m:e>
                              <m:r>
                                <m:rPr>
                                  <m:sty m:val="p"/>
                                </m:rPr>
                                <a:rPr lang="el-GR" sz="1800" b="0" i="1" dirty="0" smtClean="0">
                                  <a:latin typeface="Cambria Math" panose="02040503050406030204" pitchFamily="18" charset="0"/>
                                  <a:ea typeface="Cambria Math" panose="02040503050406030204" pitchFamily="18" charset="0"/>
                                </a:rPr>
                                <m:t>Ω</m:t>
                              </m:r>
                            </m:e>
                          </m:acc>
                        </m:e>
                        <m:sub>
                          <m:sSub>
                            <m:sSubPr>
                              <m:ctrlPr>
                                <a:rPr lang="en-US" sz="1800" b="0" i="1" dirty="0" smtClean="0">
                                  <a:latin typeface="Cambria Math" panose="02040503050406030204" pitchFamily="18" charset="0"/>
                                </a:rPr>
                              </m:ctrlPr>
                            </m:sSubPr>
                            <m:e>
                              <m:r>
                                <a:rPr lang="en-US" sz="1800" b="0" i="1" dirty="0" smtClean="0">
                                  <a:latin typeface="Cambria Math" panose="02040503050406030204" pitchFamily="18" charset="0"/>
                                </a:rPr>
                                <m:t>𝑋</m:t>
                              </m:r>
                            </m:e>
                            <m:sub>
                              <m:r>
                                <a:rPr lang="en-US" sz="1800" b="0" i="1" dirty="0" smtClean="0">
                                  <a:latin typeface="Cambria Math" panose="02040503050406030204" pitchFamily="18" charset="0"/>
                                </a:rPr>
                                <m:t>𝑖</m:t>
                              </m:r>
                            </m:sub>
                          </m:sSub>
                        </m:sub>
                        <m:sup>
                          <m:r>
                            <a:rPr lang="en-US" sz="1800" b="0" i="1" dirty="0" smtClean="0">
                              <a:latin typeface="Cambria Math" panose="02040503050406030204" pitchFamily="18" charset="0"/>
                              <a:ea typeface="Cambria Math" panose="02040503050406030204" pitchFamily="18" charset="0"/>
                            </a:rPr>
                            <m:t>†</m:t>
                          </m:r>
                        </m:sup>
                      </m:sSubSup>
                      <m:r>
                        <a:rPr lang="en-US" i="1" dirty="0">
                          <a:latin typeface="Cambria Math" panose="02040503050406030204" pitchFamily="18" charset="0"/>
                          <a:ea typeface="Cambria Math" panose="02040503050406030204" pitchFamily="18" charset="0"/>
                        </a:rPr>
                        <m:t>≡</m:t>
                      </m:r>
                      <m:sSubSup>
                        <m:sSubSupPr>
                          <m:ctrlPr>
                            <a:rPr lang="en-CA" i="1" dirty="0">
                              <a:latin typeface="Cambria Math" panose="02040503050406030204" pitchFamily="18" charset="0"/>
                            </a:rPr>
                          </m:ctrlPr>
                        </m:sSubSupPr>
                        <m:e>
                          <m:acc>
                            <m:accPr>
                              <m:chr m:val="̂"/>
                              <m:ctrlPr>
                                <a:rPr lang="en-CA" i="1" dirty="0">
                                  <a:latin typeface="Cambria Math" panose="02040503050406030204" pitchFamily="18" charset="0"/>
                                </a:rPr>
                              </m:ctrlPr>
                            </m:accPr>
                            <m:e>
                              <m:r>
                                <a:rPr lang="en-US" b="0" i="1" dirty="0" smtClean="0">
                                  <a:latin typeface="Cambria Math" panose="02040503050406030204" pitchFamily="18" charset="0"/>
                                </a:rPr>
                                <m:t>𝛼</m:t>
                              </m:r>
                            </m:e>
                          </m:acc>
                        </m:e>
                        <m:sub>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1</m:t>
                              </m:r>
                            </m:sub>
                          </m:sSub>
                        </m:sub>
                        <m:sup>
                          <m:r>
                            <a:rPr lang="en-CA" i="1" dirty="0">
                              <a:latin typeface="Cambria Math" panose="02040503050406030204" pitchFamily="18" charset="0"/>
                            </a:rPr>
                            <m:t>†</m:t>
                          </m:r>
                        </m:sup>
                      </m:sSubSup>
                      <m:r>
                        <a:rPr lang="en-CA" i="1" dirty="0">
                          <a:latin typeface="Cambria Math" panose="02040503050406030204" pitchFamily="18" charset="0"/>
                        </a:rPr>
                        <m:t>⋯</m:t>
                      </m:r>
                      <m:sSubSup>
                        <m:sSubSupPr>
                          <m:ctrlPr>
                            <a:rPr lang="en-CA" i="1" dirty="0">
                              <a:latin typeface="Cambria Math" panose="02040503050406030204" pitchFamily="18" charset="0"/>
                            </a:rPr>
                          </m:ctrlPr>
                        </m:sSubSupPr>
                        <m:e>
                          <m:acc>
                            <m:accPr>
                              <m:chr m:val="̂"/>
                              <m:ctrlPr>
                                <a:rPr lang="en-CA" i="1" dirty="0">
                                  <a:latin typeface="Cambria Math" panose="02040503050406030204" pitchFamily="18" charset="0"/>
                                </a:rPr>
                              </m:ctrlPr>
                            </m:accPr>
                            <m:e>
                              <m:r>
                                <a:rPr lang="en-US" b="0" i="1" dirty="0" smtClean="0">
                                  <a:latin typeface="Cambria Math" panose="02040503050406030204" pitchFamily="18" charset="0"/>
                                </a:rPr>
                                <m:t>𝛼</m:t>
                              </m:r>
                            </m:e>
                          </m:acc>
                        </m:e>
                        <m:sub>
                          <m:sSub>
                            <m:sSubPr>
                              <m:ctrlPr>
                                <a:rPr lang="en-CA" i="1" dirty="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𝑋</m:t>
                                  </m:r>
                                </m:e>
                                <m:sub>
                                  <m:r>
                                    <a:rPr lang="en-US" b="0" i="1" dirty="0" smtClean="0">
                                      <a:latin typeface="Cambria Math" panose="02040503050406030204" pitchFamily="18" charset="0"/>
                                    </a:rPr>
                                    <m:t>𝑖</m:t>
                                  </m:r>
                                </m:sub>
                              </m:sSub>
                              <m:r>
                                <a:rPr lang="en-US" b="0" i="1" dirty="0" smtClean="0">
                                  <a:latin typeface="Cambria Math" panose="02040503050406030204" pitchFamily="18" charset="0"/>
                                </a:rPr>
                                <m:t>|</m:t>
                              </m:r>
                            </m:sub>
                          </m:sSub>
                        </m:sub>
                        <m:sup>
                          <m:r>
                            <a:rPr lang="en-CA" i="1" dirty="0">
                              <a:latin typeface="Cambria Math" panose="02040503050406030204" pitchFamily="18" charset="0"/>
                            </a:rPr>
                            <m:t>†</m:t>
                          </m:r>
                        </m:sup>
                      </m:sSubSup>
                    </m:oMath>
                  </m:oMathPara>
                </a14:m>
                <a:endParaRPr lang="en-CA" dirty="0"/>
              </a:p>
            </p:txBody>
          </p:sp>
        </mc:Choice>
        <mc:Fallback xmlns="">
          <p:sp>
            <p:nvSpPr>
              <p:cNvPr id="40" name="TextBox 39">
                <a:extLst>
                  <a:ext uri="{FF2B5EF4-FFF2-40B4-BE49-F238E27FC236}">
                    <a16:creationId xmlns:a16="http://schemas.microsoft.com/office/drawing/2014/main" id="{1FDFB3CD-BD82-1E51-4577-119DAD68D1CF}"/>
                  </a:ext>
                </a:extLst>
              </p:cNvPr>
              <p:cNvSpPr txBox="1">
                <a:spLocks noRot="1" noChangeAspect="1" noMove="1" noResize="1" noEditPoints="1" noAdjustHandles="1" noChangeArrowheads="1" noChangeShapeType="1" noTextEdit="1"/>
              </p:cNvSpPr>
              <p:nvPr/>
            </p:nvSpPr>
            <p:spPr>
              <a:xfrm>
                <a:off x="2985421" y="3187386"/>
                <a:ext cx="2284152" cy="498406"/>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2113DC33-2570-FF9D-4F63-E7ADD769FB5C}"/>
                  </a:ext>
                </a:extLst>
              </p:cNvPr>
              <p:cNvSpPr txBox="1"/>
              <p:nvPr/>
            </p:nvSpPr>
            <p:spPr>
              <a:xfrm>
                <a:off x="2970890" y="4081912"/>
                <a:ext cx="2284152" cy="46846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ea typeface="Cambria Math" panose="02040503050406030204" pitchFamily="18" charset="0"/>
                            </a:rPr>
                          </m:ctrlPr>
                        </m:sSubPr>
                        <m:e>
                          <m:acc>
                            <m:accPr>
                              <m:chr m:val="̂"/>
                              <m:ctrlPr>
                                <a:rPr lang="en-US" i="1" dirty="0" smtClean="0">
                                  <a:latin typeface="Cambria Math" panose="02040503050406030204" pitchFamily="18" charset="0"/>
                                </a:rPr>
                              </m:ctrlPr>
                            </m:accPr>
                            <m:e>
                              <m:r>
                                <m:rPr>
                                  <m:sty m:val="p"/>
                                </m:rPr>
                                <a:rPr lang="el-GR" i="1" dirty="0">
                                  <a:latin typeface="Cambria Math" panose="02040503050406030204" pitchFamily="18" charset="0"/>
                                  <a:ea typeface="Cambria Math" panose="02040503050406030204" pitchFamily="18" charset="0"/>
                                </a:rPr>
                                <m:t>Ω</m:t>
                              </m:r>
                            </m:e>
                          </m:acc>
                        </m:e>
                        <m:sub>
                          <m:sSub>
                            <m:sSubPr>
                              <m:ctrlPr>
                                <a:rPr lang="en-US" i="1" dirty="0">
                                  <a:latin typeface="Cambria Math" panose="02040503050406030204" pitchFamily="18" charset="0"/>
                                </a:rPr>
                              </m:ctrlPr>
                            </m:sSubPr>
                            <m:e>
                              <m:r>
                                <a:rPr lang="en-US" b="0" i="1" dirty="0" smtClean="0">
                                  <a:latin typeface="Cambria Math" panose="02040503050406030204" pitchFamily="18" charset="0"/>
                                </a:rPr>
                                <m:t>𝑋</m:t>
                              </m:r>
                            </m:e>
                            <m:sub>
                              <m:r>
                                <a:rPr lang="en-US" i="1" dirty="0">
                                  <a:latin typeface="Cambria Math" panose="02040503050406030204" pitchFamily="18" charset="0"/>
                                </a:rPr>
                                <m:t>𝑖</m:t>
                              </m:r>
                            </m:sub>
                          </m:sSub>
                        </m:sub>
                      </m:sSub>
                      <m:r>
                        <a:rPr lang="en-US" i="1" dirty="0">
                          <a:latin typeface="Cambria Math" panose="02040503050406030204" pitchFamily="18" charset="0"/>
                          <a:ea typeface="Cambria Math" panose="02040503050406030204" pitchFamily="18" charset="0"/>
                        </a:rPr>
                        <m:t>≡</m:t>
                      </m:r>
                      <m:sSub>
                        <m:sSubPr>
                          <m:ctrlPr>
                            <a:rPr lang="en-US" b="0" i="1" dirty="0" smtClean="0">
                              <a:latin typeface="Cambria Math" panose="02040503050406030204" pitchFamily="18" charset="0"/>
                            </a:rPr>
                          </m:ctrlPr>
                        </m:sSubPr>
                        <m:e>
                          <m:acc>
                            <m:accPr>
                              <m:chr m:val="̂"/>
                              <m:ctrlPr>
                                <a:rPr lang="en-CA" i="1" dirty="0">
                                  <a:latin typeface="Cambria Math" panose="02040503050406030204" pitchFamily="18" charset="0"/>
                                </a:rPr>
                              </m:ctrlPr>
                            </m:accPr>
                            <m:e>
                              <m:r>
                                <a:rPr lang="en-US" b="0" i="1" dirty="0" smtClean="0">
                                  <a:latin typeface="Cambria Math" panose="02040503050406030204" pitchFamily="18" charset="0"/>
                                </a:rPr>
                                <m:t>𝛼</m:t>
                              </m:r>
                            </m:e>
                          </m:acc>
                        </m:e>
                        <m:sub>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𝑥</m:t>
                              </m:r>
                            </m:e>
                            <m:sub>
                              <m:r>
                                <a:rPr lang="en-US" b="0" i="1" dirty="0" smtClean="0">
                                  <a:latin typeface="Cambria Math" panose="02040503050406030204" pitchFamily="18" charset="0"/>
                                </a:rPr>
                                <m:t>1</m:t>
                              </m:r>
                            </m:sub>
                          </m:sSub>
                        </m:sub>
                      </m:sSub>
                      <m:r>
                        <a:rPr lang="en-US" b="0" i="1" dirty="0" smtClean="0">
                          <a:latin typeface="Cambria Math" panose="02040503050406030204" pitchFamily="18" charset="0"/>
                        </a:rPr>
                        <m:t>⋯</m:t>
                      </m:r>
                      <m:sSub>
                        <m:sSubPr>
                          <m:ctrlPr>
                            <a:rPr lang="en-US" i="1" dirty="0">
                              <a:latin typeface="Cambria Math" panose="02040503050406030204" pitchFamily="18" charset="0"/>
                            </a:rPr>
                          </m:ctrlPr>
                        </m:sSubPr>
                        <m:e>
                          <m:acc>
                            <m:accPr>
                              <m:chr m:val="̂"/>
                              <m:ctrlPr>
                                <a:rPr lang="en-CA" i="1" dirty="0">
                                  <a:latin typeface="Cambria Math" panose="02040503050406030204" pitchFamily="18" charset="0"/>
                                </a:rPr>
                              </m:ctrlPr>
                            </m:accPr>
                            <m:e>
                              <m:r>
                                <a:rPr lang="en-US" b="0" i="1" dirty="0" smtClean="0">
                                  <a:latin typeface="Cambria Math" panose="02040503050406030204" pitchFamily="18" charset="0"/>
                                </a:rPr>
                                <m:t>𝛼</m:t>
                              </m:r>
                            </m:e>
                          </m:acc>
                        </m:e>
                        <m:sub>
                          <m:sSub>
                            <m:sSubPr>
                              <m:ctrlPr>
                                <a:rPr lang="en-CA" i="1" dirty="0">
                                  <a:latin typeface="Cambria Math" panose="02040503050406030204" pitchFamily="18" charset="0"/>
                                </a:rPr>
                              </m:ctrlPr>
                            </m:sSubPr>
                            <m:e>
                              <m:r>
                                <a:rPr lang="en-US" b="0" i="1" dirty="0" smtClean="0">
                                  <a:latin typeface="Cambria Math" panose="02040503050406030204" pitchFamily="18" charset="0"/>
                                </a:rPr>
                                <m:t>𝑥</m:t>
                              </m:r>
                            </m:e>
                            <m: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b="0" i="1" dirty="0" smtClean="0">
                                      <a:latin typeface="Cambria Math" panose="02040503050406030204" pitchFamily="18" charset="0"/>
                                    </a:rPr>
                                    <m:t>𝑋</m:t>
                                  </m:r>
                                </m:e>
                                <m:sub>
                                  <m:r>
                                    <a:rPr lang="en-US" i="1" dirty="0">
                                      <a:latin typeface="Cambria Math" panose="02040503050406030204" pitchFamily="18" charset="0"/>
                                    </a:rPr>
                                    <m:t>𝑖</m:t>
                                  </m:r>
                                </m:sub>
                              </m:sSub>
                              <m:r>
                                <a:rPr lang="en-US" i="1" dirty="0">
                                  <a:latin typeface="Cambria Math" panose="02040503050406030204" pitchFamily="18" charset="0"/>
                                </a:rPr>
                                <m:t>|</m:t>
                              </m:r>
                            </m:sub>
                          </m:sSub>
                        </m:sub>
                      </m:sSub>
                    </m:oMath>
                  </m:oMathPara>
                </a14:m>
                <a:endParaRPr lang="en-CA" dirty="0"/>
              </a:p>
            </p:txBody>
          </p:sp>
        </mc:Choice>
        <mc:Fallback xmlns="">
          <p:sp>
            <p:nvSpPr>
              <p:cNvPr id="41" name="TextBox 40">
                <a:extLst>
                  <a:ext uri="{FF2B5EF4-FFF2-40B4-BE49-F238E27FC236}">
                    <a16:creationId xmlns:a16="http://schemas.microsoft.com/office/drawing/2014/main" id="{2113DC33-2570-FF9D-4F63-E7ADD769FB5C}"/>
                  </a:ext>
                </a:extLst>
              </p:cNvPr>
              <p:cNvSpPr txBox="1">
                <a:spLocks noRot="1" noChangeAspect="1" noMove="1" noResize="1" noEditPoints="1" noAdjustHandles="1" noChangeArrowheads="1" noChangeShapeType="1" noTextEdit="1"/>
              </p:cNvSpPr>
              <p:nvPr/>
            </p:nvSpPr>
            <p:spPr>
              <a:xfrm>
                <a:off x="2970890" y="4081912"/>
                <a:ext cx="2284152" cy="468462"/>
              </a:xfrm>
              <a:prstGeom prst="rect">
                <a:avLst/>
              </a:prstGeom>
              <a:blipFill>
                <a:blip r:embed="rId7"/>
                <a:stretch>
                  <a:fillRect t="-26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374E12F-F140-CDCA-3CE3-2611D34AC05B}"/>
                  </a:ext>
                </a:extLst>
              </p:cNvPr>
              <p:cNvSpPr txBox="1"/>
              <p:nvPr/>
            </p:nvSpPr>
            <p:spPr>
              <a:xfrm>
                <a:off x="2411060" y="2785937"/>
                <a:ext cx="2284151" cy="376450"/>
              </a:xfrm>
              <a:prstGeom prst="rect">
                <a:avLst/>
              </a:prstGeom>
              <a:noFill/>
            </p:spPr>
            <p:txBody>
              <a:bodyPr wrap="square" rtlCol="0">
                <a:spAutoFit/>
              </a:bodyPr>
              <a:lstStyle/>
              <a:p>
                <a:r>
                  <a:rPr lang="en-CA" dirty="0"/>
                  <a:t>Creation operator: </a:t>
                </a:r>
                <a14:m>
                  <m:oMath xmlns:m="http://schemas.openxmlformats.org/officeDocument/2006/math">
                    <m:sSup>
                      <m:sSupPr>
                        <m:ctrlPr>
                          <a:rPr lang="en-US" b="0" i="1" smtClean="0">
                            <a:latin typeface="Cambria Math" panose="02040503050406030204" pitchFamily="18" charset="0"/>
                          </a:rPr>
                        </m:ctrlPr>
                      </m:sSupPr>
                      <m:e>
                        <m:acc>
                          <m:accPr>
                            <m:chr m:val="̂"/>
                            <m:ctrlPr>
                              <a:rPr lang="en-CA" i="1" smtClean="0">
                                <a:latin typeface="Cambria Math" panose="02040503050406030204" pitchFamily="18" charset="0"/>
                              </a:rPr>
                            </m:ctrlPr>
                          </m:accPr>
                          <m:e>
                            <m:r>
                              <a:rPr lang="en-CA" i="1" smtClean="0">
                                <a:latin typeface="Cambria Math" panose="02040503050406030204" pitchFamily="18" charset="0"/>
                                <a:ea typeface="Cambria Math" panose="02040503050406030204" pitchFamily="18" charset="0"/>
                              </a:rPr>
                              <m:t>𝛼</m:t>
                            </m:r>
                          </m:e>
                        </m:acc>
                      </m:e>
                      <m:sup>
                        <m:r>
                          <a:rPr lang="en-CA" i="1" smtClean="0">
                            <a:latin typeface="Cambria Math" panose="02040503050406030204" pitchFamily="18" charset="0"/>
                            <a:ea typeface="Cambria Math" panose="02040503050406030204" pitchFamily="18" charset="0"/>
                          </a:rPr>
                          <m:t>†</m:t>
                        </m:r>
                      </m:sup>
                    </m:sSup>
                  </m:oMath>
                </a14:m>
                <a:endParaRPr lang="en-CA" dirty="0"/>
              </a:p>
            </p:txBody>
          </p:sp>
        </mc:Choice>
        <mc:Fallback xmlns="">
          <p:sp>
            <p:nvSpPr>
              <p:cNvPr id="42" name="TextBox 41">
                <a:extLst>
                  <a:ext uri="{FF2B5EF4-FFF2-40B4-BE49-F238E27FC236}">
                    <a16:creationId xmlns:a16="http://schemas.microsoft.com/office/drawing/2014/main" id="{3374E12F-F140-CDCA-3CE3-2611D34AC05B}"/>
                  </a:ext>
                </a:extLst>
              </p:cNvPr>
              <p:cNvSpPr txBox="1">
                <a:spLocks noRot="1" noChangeAspect="1" noMove="1" noResize="1" noEditPoints="1" noAdjustHandles="1" noChangeArrowheads="1" noChangeShapeType="1" noTextEdit="1"/>
              </p:cNvSpPr>
              <p:nvPr/>
            </p:nvSpPr>
            <p:spPr>
              <a:xfrm>
                <a:off x="2411060" y="2785937"/>
                <a:ext cx="2284151" cy="376450"/>
              </a:xfrm>
              <a:prstGeom prst="rect">
                <a:avLst/>
              </a:prstGeom>
              <a:blipFill>
                <a:blip r:embed="rId8"/>
                <a:stretch>
                  <a:fillRect l="-2778" t="-3226" b="-258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B6CB82CA-AE3A-14CF-8A02-2BF8472C2EE0}"/>
                  </a:ext>
                </a:extLst>
              </p:cNvPr>
              <p:cNvSpPr txBox="1"/>
              <p:nvPr/>
            </p:nvSpPr>
            <p:spPr>
              <a:xfrm>
                <a:off x="2420867" y="3695886"/>
                <a:ext cx="2588291" cy="369332"/>
              </a:xfrm>
              <a:prstGeom prst="rect">
                <a:avLst/>
              </a:prstGeom>
              <a:noFill/>
            </p:spPr>
            <p:txBody>
              <a:bodyPr wrap="square" rtlCol="0">
                <a:spAutoFit/>
              </a:bodyPr>
              <a:lstStyle/>
              <a:p>
                <a:r>
                  <a:rPr lang="en-CA" dirty="0"/>
                  <a:t>Annihilation operator: </a:t>
                </a:r>
                <a14:m>
                  <m:oMath xmlns:m="http://schemas.openxmlformats.org/officeDocument/2006/math">
                    <m:acc>
                      <m:accPr>
                        <m:chr m:val="̂"/>
                        <m:ctrlPr>
                          <a:rPr lang="en-CA" i="1" smtClean="0">
                            <a:latin typeface="Cambria Math" panose="02040503050406030204" pitchFamily="18" charset="0"/>
                          </a:rPr>
                        </m:ctrlPr>
                      </m:accPr>
                      <m:e>
                        <m:r>
                          <a:rPr lang="en-CA" i="1" smtClean="0">
                            <a:latin typeface="Cambria Math" panose="02040503050406030204" pitchFamily="18" charset="0"/>
                            <a:ea typeface="Cambria Math" panose="02040503050406030204" pitchFamily="18" charset="0"/>
                          </a:rPr>
                          <m:t>𝛼</m:t>
                        </m:r>
                      </m:e>
                    </m:acc>
                  </m:oMath>
                </a14:m>
                <a:endParaRPr lang="en-CA" dirty="0"/>
              </a:p>
            </p:txBody>
          </p:sp>
        </mc:Choice>
        <mc:Fallback xmlns="">
          <p:sp>
            <p:nvSpPr>
              <p:cNvPr id="43" name="TextBox 42">
                <a:extLst>
                  <a:ext uri="{FF2B5EF4-FFF2-40B4-BE49-F238E27FC236}">
                    <a16:creationId xmlns:a16="http://schemas.microsoft.com/office/drawing/2014/main" id="{B6CB82CA-AE3A-14CF-8A02-2BF8472C2EE0}"/>
                  </a:ext>
                </a:extLst>
              </p:cNvPr>
              <p:cNvSpPr txBox="1">
                <a:spLocks noRot="1" noChangeAspect="1" noMove="1" noResize="1" noEditPoints="1" noAdjustHandles="1" noChangeArrowheads="1" noChangeShapeType="1" noTextEdit="1"/>
              </p:cNvSpPr>
              <p:nvPr/>
            </p:nvSpPr>
            <p:spPr>
              <a:xfrm>
                <a:off x="2420867" y="3695886"/>
                <a:ext cx="2588291" cy="369332"/>
              </a:xfrm>
              <a:prstGeom prst="rect">
                <a:avLst/>
              </a:prstGeom>
              <a:blipFill>
                <a:blip r:embed="rId9"/>
                <a:stretch>
                  <a:fillRect l="-1951" t="-6452" b="-225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D0D47AD7-7990-C5A1-97CD-D8B3D4151338}"/>
                  </a:ext>
                </a:extLst>
              </p:cNvPr>
              <p:cNvSpPr txBox="1"/>
              <p:nvPr/>
            </p:nvSpPr>
            <p:spPr>
              <a:xfrm>
                <a:off x="3013488" y="1265803"/>
                <a:ext cx="2470984" cy="396519"/>
              </a:xfrm>
              <a:prstGeom prst="rect">
                <a:avLst/>
              </a:prstGeom>
              <a:noFill/>
            </p:spPr>
            <p:txBody>
              <a:bodyPr wrap="square">
                <a:spAutoFit/>
              </a:bodyPr>
              <a:lstStyle/>
              <a:p>
                <a14:m>
                  <m:oMath xmlns:m="http://schemas.openxmlformats.org/officeDocument/2006/math">
                    <m:sSub>
                      <m:sSubPr>
                        <m:ctrlPr>
                          <a:rPr lang="en-US" sz="1800" b="0" i="1" dirty="0" smtClean="0">
                            <a:latin typeface="Cambria Math" panose="02040503050406030204" pitchFamily="18" charset="0"/>
                          </a:rPr>
                        </m:ctrlPr>
                      </m:sSubPr>
                      <m:e>
                        <m:r>
                          <a:rPr lang="en-US" sz="1800" b="0" i="1" dirty="0" smtClean="0">
                            <a:latin typeface="Cambria Math" panose="02040503050406030204" pitchFamily="18" charset="0"/>
                          </a:rPr>
                          <m:t>𝑋</m:t>
                        </m:r>
                      </m:e>
                      <m:sub>
                        <m:r>
                          <a:rPr lang="en-US" sz="1800" b="0" i="1" dirty="0" smtClean="0">
                            <a:latin typeface="Cambria Math" panose="02040503050406030204" pitchFamily="18" charset="0"/>
                          </a:rPr>
                          <m:t>𝑖</m:t>
                        </m:r>
                      </m:sub>
                    </m:sSub>
                    <m:r>
                      <a:rPr lang="en-US" sz="1800" b="0" i="1" dirty="0" smtClean="0">
                        <a:latin typeface="Cambria Math" panose="02040503050406030204" pitchFamily="18" charset="0"/>
                        <a:ea typeface="Cambria Math" panose="02040503050406030204" pitchFamily="18" charset="0"/>
                      </a:rPr>
                      <m:t>≡{</m:t>
                    </m:r>
                    <m:sSub>
                      <m:sSubPr>
                        <m:ctrlPr>
                          <a:rPr lang="en-CA" sz="1800" i="1" dirty="0" smtClean="0">
                            <a:latin typeface="Cambria Math" panose="02040503050406030204" pitchFamily="18" charset="0"/>
                          </a:rPr>
                        </m:ctrlPr>
                      </m:sSubPr>
                      <m:e>
                        <m:r>
                          <a:rPr lang="en-US" sz="1800" b="0" i="1" dirty="0" smtClean="0">
                            <a:latin typeface="Cambria Math" panose="02040503050406030204" pitchFamily="18" charset="0"/>
                          </a:rPr>
                          <m:t>𝑥</m:t>
                        </m:r>
                      </m:e>
                      <m:sub>
                        <m:r>
                          <a:rPr lang="en-US" sz="1800" b="0" i="1" dirty="0" smtClean="0">
                            <a:latin typeface="Cambria Math" panose="02040503050406030204" pitchFamily="18" charset="0"/>
                          </a:rPr>
                          <m:t>1</m:t>
                        </m:r>
                      </m:sub>
                    </m:sSub>
                    <m:r>
                      <a:rPr lang="en-CA" sz="1800" i="1" dirty="0">
                        <a:latin typeface="Cambria Math" panose="02040503050406030204" pitchFamily="18" charset="0"/>
                      </a:rPr>
                      <m:t>,</m:t>
                    </m:r>
                    <m:sSub>
                      <m:sSubPr>
                        <m:ctrlPr>
                          <a:rPr lang="en-CA" sz="1800" i="1" dirty="0">
                            <a:latin typeface="Cambria Math" panose="02040503050406030204" pitchFamily="18" charset="0"/>
                          </a:rPr>
                        </m:ctrlPr>
                      </m:sSubPr>
                      <m:e>
                        <m:r>
                          <a:rPr lang="en-US" sz="1800" b="0" i="1" dirty="0" smtClean="0">
                            <a:latin typeface="Cambria Math" panose="02040503050406030204" pitchFamily="18" charset="0"/>
                          </a:rPr>
                          <m:t>𝑥</m:t>
                        </m:r>
                      </m:e>
                      <m:sub>
                        <m:r>
                          <a:rPr lang="en-US" sz="1800" b="0" i="1" dirty="0" smtClean="0">
                            <a:latin typeface="Cambria Math" panose="02040503050406030204" pitchFamily="18" charset="0"/>
                          </a:rPr>
                          <m:t>2</m:t>
                        </m:r>
                      </m:sub>
                    </m:sSub>
                    <m:r>
                      <a:rPr lang="en-CA" sz="1800" i="1" dirty="0">
                        <a:latin typeface="Cambria Math" panose="02040503050406030204" pitchFamily="18" charset="0"/>
                      </a:rPr>
                      <m:t>,…, </m:t>
                    </m:r>
                    <m:sSub>
                      <m:sSubPr>
                        <m:ctrlPr>
                          <a:rPr lang="en-CA" sz="1800" i="1" dirty="0">
                            <a:latin typeface="Cambria Math" panose="02040503050406030204" pitchFamily="18" charset="0"/>
                          </a:rPr>
                        </m:ctrlPr>
                      </m:sSubPr>
                      <m:e>
                        <m:r>
                          <a:rPr lang="en-US" sz="1800" b="0" i="1" dirty="0" smtClean="0">
                            <a:latin typeface="Cambria Math" panose="02040503050406030204" pitchFamily="18" charset="0"/>
                          </a:rPr>
                          <m:t>𝑥</m:t>
                        </m:r>
                      </m:e>
                      <m:sub>
                        <m:r>
                          <a:rPr lang="en-US" sz="1800" b="0" i="1" dirty="0" smtClean="0">
                            <a:latin typeface="Cambria Math" panose="02040503050406030204" pitchFamily="18" charset="0"/>
                          </a:rPr>
                          <m:t>|</m:t>
                        </m:r>
                        <m:sSub>
                          <m:sSubPr>
                            <m:ctrlPr>
                              <a:rPr lang="en-US" sz="1800" b="0" i="1" dirty="0" smtClean="0">
                                <a:latin typeface="Cambria Math" panose="02040503050406030204" pitchFamily="18" charset="0"/>
                              </a:rPr>
                            </m:ctrlPr>
                          </m:sSubPr>
                          <m:e>
                            <m:r>
                              <a:rPr lang="en-US" sz="1800" b="0" i="1" dirty="0" smtClean="0">
                                <a:latin typeface="Cambria Math" panose="02040503050406030204" pitchFamily="18" charset="0"/>
                              </a:rPr>
                              <m:t>𝑋</m:t>
                            </m:r>
                          </m:e>
                          <m:sub>
                            <m:r>
                              <a:rPr lang="en-US" sz="1800" b="0" i="1" dirty="0" smtClean="0">
                                <a:latin typeface="Cambria Math" panose="02040503050406030204" pitchFamily="18" charset="0"/>
                              </a:rPr>
                              <m:t>𝑖</m:t>
                            </m:r>
                          </m:sub>
                        </m:sSub>
                        <m:r>
                          <a:rPr lang="en-US" sz="1800" b="0" i="1" dirty="0" smtClean="0">
                            <a:latin typeface="Cambria Math" panose="02040503050406030204" pitchFamily="18" charset="0"/>
                          </a:rPr>
                          <m:t>|</m:t>
                        </m:r>
                      </m:sub>
                    </m:sSub>
                    <m:r>
                      <a:rPr lang="en-US" sz="1800" b="0" i="1" dirty="0" smtClean="0">
                        <a:latin typeface="Cambria Math" panose="02040503050406030204" pitchFamily="18" charset="0"/>
                      </a:rPr>
                      <m:t>}</m:t>
                    </m:r>
                  </m:oMath>
                </a14:m>
                <a:r>
                  <a:rPr lang="en-CA" dirty="0"/>
                  <a:t>,</a:t>
                </a:r>
              </a:p>
            </p:txBody>
          </p:sp>
        </mc:Choice>
        <mc:Fallback xmlns="">
          <p:sp>
            <p:nvSpPr>
              <p:cNvPr id="44" name="TextBox 43">
                <a:extLst>
                  <a:ext uri="{FF2B5EF4-FFF2-40B4-BE49-F238E27FC236}">
                    <a16:creationId xmlns:a16="http://schemas.microsoft.com/office/drawing/2014/main" id="{D0D47AD7-7990-C5A1-97CD-D8B3D4151338}"/>
                  </a:ext>
                </a:extLst>
              </p:cNvPr>
              <p:cNvSpPr txBox="1">
                <a:spLocks noRot="1" noChangeAspect="1" noMove="1" noResize="1" noEditPoints="1" noAdjustHandles="1" noChangeArrowheads="1" noChangeShapeType="1" noTextEdit="1"/>
              </p:cNvSpPr>
              <p:nvPr/>
            </p:nvSpPr>
            <p:spPr>
              <a:xfrm>
                <a:off x="3013488" y="1265803"/>
                <a:ext cx="2470984" cy="396519"/>
              </a:xfrm>
              <a:prstGeom prst="rect">
                <a:avLst/>
              </a:prstGeom>
              <a:blipFill>
                <a:blip r:embed="rId10"/>
                <a:stretch>
                  <a:fillRect t="-6061" b="-151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62A4FA6C-072C-2EDD-AAE8-65DCE355024D}"/>
                  </a:ext>
                </a:extLst>
              </p:cNvPr>
              <p:cNvSpPr txBox="1"/>
              <p:nvPr/>
            </p:nvSpPr>
            <p:spPr>
              <a:xfrm>
                <a:off x="5164178" y="1275499"/>
                <a:ext cx="129653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dirty="0" smtClean="0">
                          <a:latin typeface="Cambria Math" panose="02040503050406030204" pitchFamily="18" charset="0"/>
                        </a:rPr>
                        <m:t>𝑋</m:t>
                      </m:r>
                      <m:r>
                        <a:rPr lang="en-US" sz="1800" b="0" i="1" dirty="0" smtClean="0">
                          <a:latin typeface="Cambria Math" panose="02040503050406030204" pitchFamily="18" charset="0"/>
                          <a:ea typeface="Cambria Math" panose="02040503050406030204" pitchFamily="18" charset="0"/>
                        </a:rPr>
                        <m:t>≡</m:t>
                      </m:r>
                      <m:r>
                        <a:rPr lang="en-US" sz="1800" b="0" i="1" dirty="0" smtClean="0">
                          <a:latin typeface="Cambria Math" panose="02040503050406030204" pitchFamily="18" charset="0"/>
                          <a:ea typeface="Cambria Math" panose="02040503050406030204" pitchFamily="18" charset="0"/>
                        </a:rPr>
                        <m:t>𝑆</m:t>
                      </m:r>
                      <m:r>
                        <a:rPr lang="en-US" sz="1800" b="0" i="1" dirty="0" smtClean="0">
                          <a:latin typeface="Cambria Math" panose="02040503050406030204" pitchFamily="18" charset="0"/>
                          <a:ea typeface="Cambria Math" panose="02040503050406030204" pitchFamily="18" charset="0"/>
                        </a:rPr>
                        <m:t>, </m:t>
                      </m:r>
                      <m:r>
                        <a:rPr lang="en-US" sz="1800" b="0" i="1" dirty="0" smtClean="0">
                          <a:latin typeface="Cambria Math" panose="02040503050406030204" pitchFamily="18" charset="0"/>
                          <a:ea typeface="Cambria Math" panose="02040503050406030204" pitchFamily="18" charset="0"/>
                        </a:rPr>
                        <m:t>𝐶</m:t>
                      </m:r>
                      <m:r>
                        <a:rPr lang="en-US" sz="1800" b="0" i="1" dirty="0" smtClean="0">
                          <a:latin typeface="Cambria Math" panose="02040503050406030204" pitchFamily="18" charset="0"/>
                          <a:ea typeface="Cambria Math" panose="02040503050406030204" pitchFamily="18" charset="0"/>
                        </a:rPr>
                        <m:t>, </m:t>
                      </m:r>
                      <m:r>
                        <a:rPr lang="en-US" sz="1800" b="0" i="1" dirty="0" smtClean="0">
                          <a:latin typeface="Cambria Math" panose="02040503050406030204" pitchFamily="18" charset="0"/>
                          <a:ea typeface="Cambria Math" panose="02040503050406030204" pitchFamily="18" charset="0"/>
                        </a:rPr>
                        <m:t>𝐴</m:t>
                      </m:r>
                    </m:oMath>
                  </m:oMathPara>
                </a14:m>
                <a:endParaRPr lang="en-CA" dirty="0"/>
              </a:p>
            </p:txBody>
          </p:sp>
        </mc:Choice>
        <mc:Fallback xmlns="">
          <p:sp>
            <p:nvSpPr>
              <p:cNvPr id="45" name="TextBox 44">
                <a:extLst>
                  <a:ext uri="{FF2B5EF4-FFF2-40B4-BE49-F238E27FC236}">
                    <a16:creationId xmlns:a16="http://schemas.microsoft.com/office/drawing/2014/main" id="{62A4FA6C-072C-2EDD-AAE8-65DCE355024D}"/>
                  </a:ext>
                </a:extLst>
              </p:cNvPr>
              <p:cNvSpPr txBox="1">
                <a:spLocks noRot="1" noChangeAspect="1" noMove="1" noResize="1" noEditPoints="1" noAdjustHandles="1" noChangeArrowheads="1" noChangeShapeType="1" noTextEdit="1"/>
              </p:cNvSpPr>
              <p:nvPr/>
            </p:nvSpPr>
            <p:spPr>
              <a:xfrm>
                <a:off x="5164178" y="1275499"/>
                <a:ext cx="1296533"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FF9262D7-3C46-D394-0F37-15AF6EB0E30B}"/>
                  </a:ext>
                </a:extLst>
              </p:cNvPr>
              <p:cNvSpPr txBox="1"/>
              <p:nvPr/>
            </p:nvSpPr>
            <p:spPr>
              <a:xfrm>
                <a:off x="6681125" y="1275499"/>
                <a:ext cx="2470985" cy="39651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b="0" i="1" dirty="0" smtClean="0">
                              <a:latin typeface="Cambria Math" panose="02040503050406030204" pitchFamily="18" charset="0"/>
                              <a:ea typeface="Cambria Math" panose="02040503050406030204" pitchFamily="18" charset="0"/>
                            </a:rPr>
                          </m:ctrlPr>
                        </m:sSubPr>
                        <m:e>
                          <m:r>
                            <a:rPr lang="en-US" sz="1800" b="0" i="1" dirty="0" smtClean="0">
                              <a:latin typeface="Cambria Math" panose="02040503050406030204" pitchFamily="18" charset="0"/>
                              <a:ea typeface="Cambria Math" panose="02040503050406030204" pitchFamily="18" charset="0"/>
                            </a:rPr>
                            <m:t>0</m:t>
                          </m:r>
                        </m:e>
                        <m:sub>
                          <m:sSub>
                            <m:sSubPr>
                              <m:ctrlPr>
                                <a:rPr lang="en-US" sz="1800" b="0" i="1" dirty="0" smtClean="0">
                                  <a:latin typeface="Cambria Math" panose="02040503050406030204" pitchFamily="18" charset="0"/>
                                  <a:ea typeface="Cambria Math" panose="02040503050406030204" pitchFamily="18" charset="0"/>
                                </a:rPr>
                              </m:ctrlPr>
                            </m:sSubPr>
                            <m:e>
                              <m:r>
                                <a:rPr lang="en-US" sz="1800" b="0" i="1" dirty="0" smtClean="0">
                                  <a:latin typeface="Cambria Math" panose="02040503050406030204" pitchFamily="18" charset="0"/>
                                  <a:ea typeface="Cambria Math" panose="02040503050406030204" pitchFamily="18" charset="0"/>
                                </a:rPr>
                                <m:t>𝑋</m:t>
                              </m:r>
                            </m:e>
                            <m:sub>
                              <m:r>
                                <a:rPr lang="en-US" sz="1800" b="0" i="1" dirty="0" smtClean="0">
                                  <a:latin typeface="Cambria Math" panose="02040503050406030204" pitchFamily="18" charset="0"/>
                                  <a:ea typeface="Cambria Math" panose="02040503050406030204" pitchFamily="18" charset="0"/>
                                </a:rPr>
                                <m:t>𝑖</m:t>
                              </m:r>
                            </m:sub>
                          </m:sSub>
                        </m:sub>
                      </m:sSub>
                      <m:r>
                        <a:rPr lang="en-US" i="1" dirty="0">
                          <a:latin typeface="Cambria Math" panose="02040503050406030204" pitchFamily="18" charset="0"/>
                          <a:ea typeface="Cambria Math" panose="02040503050406030204" pitchFamily="18" charset="0"/>
                        </a:rPr>
                        <m:t>≡{</m:t>
                      </m:r>
                      <m:sSub>
                        <m:sSubPr>
                          <m:ctrlPr>
                            <a:rPr lang="en-CA" i="1" dirty="0">
                              <a:latin typeface="Cambria Math" panose="02040503050406030204" pitchFamily="18" charset="0"/>
                            </a:rPr>
                          </m:ctrlPr>
                        </m:sSubPr>
                        <m:e>
                          <m:r>
                            <a:rPr lang="en-US" b="0" i="1" dirty="0" smtClean="0">
                              <a:latin typeface="Cambria Math" panose="02040503050406030204" pitchFamily="18" charset="0"/>
                            </a:rPr>
                            <m:t>0</m:t>
                          </m:r>
                        </m:e>
                        <m:sub>
                          <m:r>
                            <a:rPr lang="en-US" i="1" dirty="0">
                              <a:latin typeface="Cambria Math" panose="02040503050406030204" pitchFamily="18" charset="0"/>
                            </a:rPr>
                            <m:t>1</m:t>
                          </m:r>
                        </m:sub>
                      </m:sSub>
                      <m:r>
                        <a:rPr lang="en-CA" i="1" dirty="0">
                          <a:latin typeface="Cambria Math" panose="02040503050406030204" pitchFamily="18" charset="0"/>
                        </a:rPr>
                        <m:t>,</m:t>
                      </m:r>
                      <m:sSub>
                        <m:sSubPr>
                          <m:ctrlPr>
                            <a:rPr lang="en-CA" i="1" dirty="0">
                              <a:latin typeface="Cambria Math" panose="02040503050406030204" pitchFamily="18" charset="0"/>
                            </a:rPr>
                          </m:ctrlPr>
                        </m:sSubPr>
                        <m:e>
                          <m:r>
                            <a:rPr lang="en-US" b="0" i="1" dirty="0" smtClean="0">
                              <a:latin typeface="Cambria Math" panose="02040503050406030204" pitchFamily="18" charset="0"/>
                            </a:rPr>
                            <m:t>0</m:t>
                          </m:r>
                        </m:e>
                        <m:sub>
                          <m:r>
                            <a:rPr lang="en-US" i="1" dirty="0">
                              <a:latin typeface="Cambria Math" panose="02040503050406030204" pitchFamily="18" charset="0"/>
                            </a:rPr>
                            <m:t>2</m:t>
                          </m:r>
                        </m:sub>
                      </m:sSub>
                      <m:r>
                        <a:rPr lang="en-CA" i="1" dirty="0">
                          <a:latin typeface="Cambria Math" panose="02040503050406030204" pitchFamily="18" charset="0"/>
                        </a:rPr>
                        <m:t>,…, </m:t>
                      </m:r>
                      <m:sSub>
                        <m:sSubPr>
                          <m:ctrlPr>
                            <a:rPr lang="en-CA" i="1" dirty="0">
                              <a:latin typeface="Cambria Math" panose="02040503050406030204" pitchFamily="18" charset="0"/>
                            </a:rPr>
                          </m:ctrlPr>
                        </m:sSubPr>
                        <m:e>
                          <m:r>
                            <a:rPr lang="en-US" b="0" i="1" dirty="0" smtClean="0">
                              <a:latin typeface="Cambria Math" panose="02040503050406030204" pitchFamily="18" charset="0"/>
                            </a:rPr>
                            <m:t>0</m:t>
                          </m:r>
                        </m:e>
                        <m: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𝑋</m:t>
                              </m:r>
                            </m:e>
                            <m:sub>
                              <m:r>
                                <a:rPr lang="en-US" i="1" dirty="0">
                                  <a:latin typeface="Cambria Math" panose="02040503050406030204" pitchFamily="18" charset="0"/>
                                </a:rPr>
                                <m:t>𝑖</m:t>
                              </m:r>
                            </m:sub>
                          </m:sSub>
                          <m:r>
                            <a:rPr lang="en-US" i="1" dirty="0">
                              <a:latin typeface="Cambria Math" panose="02040503050406030204" pitchFamily="18" charset="0"/>
                            </a:rPr>
                            <m:t>|</m:t>
                          </m:r>
                        </m:sub>
                      </m:sSub>
                      <m:r>
                        <a:rPr lang="en-US" i="1" dirty="0">
                          <a:latin typeface="Cambria Math" panose="02040503050406030204" pitchFamily="18" charset="0"/>
                        </a:rPr>
                        <m:t>}</m:t>
                      </m:r>
                    </m:oMath>
                  </m:oMathPara>
                </a14:m>
                <a:endParaRPr lang="en-CA" dirty="0"/>
              </a:p>
            </p:txBody>
          </p:sp>
        </mc:Choice>
        <mc:Fallback xmlns="">
          <p:sp>
            <p:nvSpPr>
              <p:cNvPr id="48" name="TextBox 47">
                <a:extLst>
                  <a:ext uri="{FF2B5EF4-FFF2-40B4-BE49-F238E27FC236}">
                    <a16:creationId xmlns:a16="http://schemas.microsoft.com/office/drawing/2014/main" id="{FF9262D7-3C46-D394-0F37-15AF6EB0E30B}"/>
                  </a:ext>
                </a:extLst>
              </p:cNvPr>
              <p:cNvSpPr txBox="1">
                <a:spLocks noRot="1" noChangeAspect="1" noMove="1" noResize="1" noEditPoints="1" noAdjustHandles="1" noChangeArrowheads="1" noChangeShapeType="1" noTextEdit="1"/>
              </p:cNvSpPr>
              <p:nvPr/>
            </p:nvSpPr>
            <p:spPr>
              <a:xfrm>
                <a:off x="6681125" y="1275499"/>
                <a:ext cx="2470985" cy="396519"/>
              </a:xfrm>
              <a:prstGeom prst="rect">
                <a:avLst/>
              </a:prstGeom>
              <a:blipFill>
                <a:blip r:embed="rId12"/>
                <a:stretch>
                  <a:fillRect b="-62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1EF1D4CA-0EE3-BE77-F7A6-373E9AB39642}"/>
                  </a:ext>
                </a:extLst>
              </p:cNvPr>
              <p:cNvSpPr txBox="1"/>
              <p:nvPr/>
            </p:nvSpPr>
            <p:spPr>
              <a:xfrm>
                <a:off x="6008576" y="1945840"/>
                <a:ext cx="2826060" cy="369332"/>
              </a:xfrm>
              <a:prstGeom prst="rect">
                <a:avLst/>
              </a:prstGeom>
              <a:noFill/>
            </p:spPr>
            <p:txBody>
              <a:bodyPr wrap="square" rtlCol="0">
                <a:spAutoFit/>
              </a:bodyPr>
              <a:lstStyle/>
              <a:p>
                <a:r>
                  <a:rPr lang="en-US" dirty="0"/>
                  <a:t>Time evolution from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a:rPr lang="en-US" b="0" i="1" smtClean="0">
                            <a:latin typeface="Cambria Math" panose="02040503050406030204" pitchFamily="18" charset="0"/>
                          </a:rPr>
                          <m:t>0</m:t>
                        </m:r>
                      </m:sub>
                    </m:sSub>
                  </m:oMath>
                </a14:m>
                <a:r>
                  <a:rPr lang="en-US" dirty="0"/>
                  <a:t> to </a:t>
                </a:r>
                <a14:m>
                  <m:oMath xmlns:m="http://schemas.openxmlformats.org/officeDocument/2006/math">
                    <m:r>
                      <a:rPr lang="en-US" b="0" i="1" smtClean="0">
                        <a:latin typeface="Cambria Math" panose="02040503050406030204" pitchFamily="18" charset="0"/>
                      </a:rPr>
                      <m:t>𝜏</m:t>
                    </m:r>
                  </m:oMath>
                </a14:m>
                <a:r>
                  <a:rPr lang="en-CA" dirty="0"/>
                  <a:t>:</a:t>
                </a:r>
              </a:p>
            </p:txBody>
          </p:sp>
        </mc:Choice>
        <mc:Fallback xmlns="">
          <p:sp>
            <p:nvSpPr>
              <p:cNvPr id="72" name="TextBox 71">
                <a:extLst>
                  <a:ext uri="{FF2B5EF4-FFF2-40B4-BE49-F238E27FC236}">
                    <a16:creationId xmlns:a16="http://schemas.microsoft.com/office/drawing/2014/main" id="{1EF1D4CA-0EE3-BE77-F7A6-373E9AB39642}"/>
                  </a:ext>
                </a:extLst>
              </p:cNvPr>
              <p:cNvSpPr txBox="1">
                <a:spLocks noRot="1" noChangeAspect="1" noMove="1" noResize="1" noEditPoints="1" noAdjustHandles="1" noChangeArrowheads="1" noChangeShapeType="1" noTextEdit="1"/>
              </p:cNvSpPr>
              <p:nvPr/>
            </p:nvSpPr>
            <p:spPr>
              <a:xfrm>
                <a:off x="6008576" y="1945840"/>
                <a:ext cx="2826060" cy="369332"/>
              </a:xfrm>
              <a:prstGeom prst="rect">
                <a:avLst/>
              </a:prstGeom>
              <a:blipFill>
                <a:blip r:embed="rId13"/>
                <a:stretch>
                  <a:fillRect l="-2242" t="-6667" r="-1345"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CFB7756A-01AE-E511-F7B0-765EC3237BEC}"/>
                  </a:ext>
                </a:extLst>
              </p:cNvPr>
              <p:cNvSpPr txBox="1"/>
              <p:nvPr/>
            </p:nvSpPr>
            <p:spPr>
              <a:xfrm>
                <a:off x="2880026" y="2315172"/>
                <a:ext cx="228415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CA" sz="1800" i="1" dirty="0" smtClean="0">
                              <a:latin typeface="Cambria Math" panose="02040503050406030204" pitchFamily="18" charset="0"/>
                            </a:rPr>
                          </m:ctrlPr>
                        </m:dPr>
                        <m:e>
                          <m:r>
                            <a:rPr lang="en-CA" sz="1800" i="1" dirty="0" smtClean="0">
                              <a:latin typeface="Cambria Math" panose="02040503050406030204" pitchFamily="18" charset="0"/>
                            </a:rPr>
                            <m:t>𝑣𝑎𝑐</m:t>
                          </m:r>
                        </m:e>
                      </m:d>
                      <m:r>
                        <a:rPr lang="en-US" sz="1800" b="0" i="1" dirty="0" smtClean="0">
                          <a:latin typeface="Cambria Math" panose="02040503050406030204" pitchFamily="18" charset="0"/>
                        </a:rPr>
                        <m:t>=|</m:t>
                      </m:r>
                      <m:sSub>
                        <m:sSubPr>
                          <m:ctrlPr>
                            <a:rPr lang="en-US" sz="1800" b="0" i="1" dirty="0" smtClean="0">
                              <a:latin typeface="Cambria Math" panose="02040503050406030204" pitchFamily="18" charset="0"/>
                            </a:rPr>
                          </m:ctrlPr>
                        </m:sSubPr>
                        <m:e>
                          <m:r>
                            <a:rPr lang="en-US" sz="1800" b="0" i="1" dirty="0" smtClean="0">
                              <a:latin typeface="Cambria Math" panose="02040503050406030204" pitchFamily="18" charset="0"/>
                            </a:rPr>
                            <m:t>0</m:t>
                          </m:r>
                        </m:e>
                        <m:sub>
                          <m:r>
                            <a:rPr lang="en-US" sz="1800" b="0" i="1" dirty="0" smtClean="0">
                              <a:latin typeface="Cambria Math" panose="02040503050406030204" pitchFamily="18" charset="0"/>
                            </a:rPr>
                            <m:t>𝑆</m:t>
                          </m:r>
                        </m:sub>
                      </m:sSub>
                      <m:r>
                        <a:rPr lang="en-US" sz="1800" b="0" i="1" dirty="0" smtClean="0">
                          <a:latin typeface="Cambria Math" panose="02040503050406030204" pitchFamily="18" charset="0"/>
                        </a:rPr>
                        <m:t>,</m:t>
                      </m:r>
                      <m:sSub>
                        <m:sSubPr>
                          <m:ctrlPr>
                            <a:rPr lang="en-US" sz="1800" b="0" i="1" dirty="0" smtClean="0">
                              <a:latin typeface="Cambria Math" panose="02040503050406030204" pitchFamily="18" charset="0"/>
                            </a:rPr>
                          </m:ctrlPr>
                        </m:sSubPr>
                        <m:e>
                          <m:r>
                            <a:rPr lang="en-US" sz="1800" b="0" i="1" dirty="0" smtClean="0">
                              <a:latin typeface="Cambria Math" panose="02040503050406030204" pitchFamily="18" charset="0"/>
                            </a:rPr>
                            <m:t>0</m:t>
                          </m:r>
                        </m:e>
                        <m:sub>
                          <m:r>
                            <a:rPr lang="en-US" sz="1800" b="0" i="1" dirty="0" smtClean="0">
                              <a:latin typeface="Cambria Math" panose="02040503050406030204" pitchFamily="18" charset="0"/>
                            </a:rPr>
                            <m:t>𝐶</m:t>
                          </m:r>
                        </m:sub>
                      </m:sSub>
                      <m:r>
                        <a:rPr lang="en-US" sz="1800" b="0" i="1" dirty="0" smtClean="0">
                          <a:latin typeface="Cambria Math" panose="02040503050406030204" pitchFamily="18" charset="0"/>
                        </a:rPr>
                        <m:t>, </m:t>
                      </m:r>
                      <m:sSub>
                        <m:sSubPr>
                          <m:ctrlPr>
                            <a:rPr lang="en-US" sz="1800" b="0" i="1" dirty="0" smtClean="0">
                              <a:latin typeface="Cambria Math" panose="02040503050406030204" pitchFamily="18" charset="0"/>
                            </a:rPr>
                          </m:ctrlPr>
                        </m:sSubPr>
                        <m:e>
                          <m:r>
                            <a:rPr lang="en-US" sz="1800" b="0" i="1" dirty="0" smtClean="0">
                              <a:latin typeface="Cambria Math" panose="02040503050406030204" pitchFamily="18" charset="0"/>
                            </a:rPr>
                            <m:t>0</m:t>
                          </m:r>
                        </m:e>
                        <m:sub>
                          <m:r>
                            <a:rPr lang="en-US" sz="1800" b="0" i="1" dirty="0" smtClean="0">
                              <a:latin typeface="Cambria Math" panose="02040503050406030204" pitchFamily="18" charset="0"/>
                            </a:rPr>
                            <m:t>𝐴</m:t>
                          </m:r>
                        </m:sub>
                      </m:sSub>
                      <m:r>
                        <a:rPr lang="en-US" sz="1800" b="0" i="1" dirty="0" smtClean="0">
                          <a:latin typeface="Cambria Math" panose="02040503050406030204" pitchFamily="18" charset="0"/>
                        </a:rPr>
                        <m:t>⟩</m:t>
                      </m:r>
                      <m:r>
                        <a:rPr lang="en-CA" sz="1800" i="1" dirty="0" smtClean="0">
                          <a:latin typeface="Cambria Math" panose="02040503050406030204" pitchFamily="18" charset="0"/>
                        </a:rPr>
                        <m:t> </m:t>
                      </m:r>
                    </m:oMath>
                  </m:oMathPara>
                </a14:m>
                <a:endParaRPr lang="en-CA" dirty="0"/>
              </a:p>
            </p:txBody>
          </p:sp>
        </mc:Choice>
        <mc:Fallback xmlns="">
          <p:sp>
            <p:nvSpPr>
              <p:cNvPr id="89" name="TextBox 88">
                <a:extLst>
                  <a:ext uri="{FF2B5EF4-FFF2-40B4-BE49-F238E27FC236}">
                    <a16:creationId xmlns:a16="http://schemas.microsoft.com/office/drawing/2014/main" id="{CFB7756A-01AE-E511-F7B0-765EC3237BEC}"/>
                  </a:ext>
                </a:extLst>
              </p:cNvPr>
              <p:cNvSpPr txBox="1">
                <a:spLocks noRot="1" noChangeAspect="1" noMove="1" noResize="1" noEditPoints="1" noAdjustHandles="1" noChangeArrowheads="1" noChangeShapeType="1" noTextEdit="1"/>
              </p:cNvSpPr>
              <p:nvPr/>
            </p:nvSpPr>
            <p:spPr>
              <a:xfrm>
                <a:off x="2880026" y="2315172"/>
                <a:ext cx="2284152" cy="369332"/>
              </a:xfrm>
              <a:prstGeom prst="rect">
                <a:avLst/>
              </a:prstGeom>
              <a:blipFill>
                <a:blip r:embed="rId14"/>
                <a:stretch>
                  <a:fillRect b="-16667"/>
                </a:stretch>
              </a:blipFill>
            </p:spPr>
            <p:txBody>
              <a:bodyPr/>
              <a:lstStyle/>
              <a:p>
                <a:r>
                  <a:rPr lang="en-US">
                    <a:noFill/>
                  </a:rPr>
                  <a:t> </a:t>
                </a:r>
              </a:p>
            </p:txBody>
          </p:sp>
        </mc:Fallback>
      </mc:AlternateContent>
      <p:sp>
        <p:nvSpPr>
          <p:cNvPr id="90" name="TextBox 89">
            <a:extLst>
              <a:ext uri="{FF2B5EF4-FFF2-40B4-BE49-F238E27FC236}">
                <a16:creationId xmlns:a16="http://schemas.microsoft.com/office/drawing/2014/main" id="{B6FDBB04-D45A-6433-2D1C-07DE439268E9}"/>
              </a:ext>
            </a:extLst>
          </p:cNvPr>
          <p:cNvSpPr txBox="1"/>
          <p:nvPr/>
        </p:nvSpPr>
        <p:spPr>
          <a:xfrm>
            <a:off x="2422871" y="1945840"/>
            <a:ext cx="1584463" cy="369332"/>
          </a:xfrm>
          <a:prstGeom prst="rect">
            <a:avLst/>
          </a:prstGeom>
          <a:noFill/>
        </p:spPr>
        <p:txBody>
          <a:bodyPr wrap="square" rtlCol="0">
            <a:spAutoFit/>
          </a:bodyPr>
          <a:lstStyle/>
          <a:p>
            <a:r>
              <a:rPr lang="en-CA" dirty="0"/>
              <a:t>Vacuum state:</a:t>
            </a:r>
          </a:p>
        </p:txBody>
      </p:sp>
      <p:sp>
        <p:nvSpPr>
          <p:cNvPr id="91" name="TextBox 90">
            <a:extLst>
              <a:ext uri="{FF2B5EF4-FFF2-40B4-BE49-F238E27FC236}">
                <a16:creationId xmlns:a16="http://schemas.microsoft.com/office/drawing/2014/main" id="{1E0FC9B4-F2AE-9F6F-18FE-92010262C5B9}"/>
              </a:ext>
            </a:extLst>
          </p:cNvPr>
          <p:cNvSpPr txBox="1"/>
          <p:nvPr/>
        </p:nvSpPr>
        <p:spPr>
          <a:xfrm>
            <a:off x="2422870" y="4564242"/>
            <a:ext cx="1584463" cy="369332"/>
          </a:xfrm>
          <a:prstGeom prst="rect">
            <a:avLst/>
          </a:prstGeom>
          <a:noFill/>
        </p:spPr>
        <p:txBody>
          <a:bodyPr wrap="square" rtlCol="0">
            <a:spAutoFit/>
          </a:bodyPr>
          <a:lstStyle/>
          <a:p>
            <a:r>
              <a:rPr lang="en-CA" dirty="0"/>
              <a:t>Hamiltonian:</a:t>
            </a:r>
          </a:p>
        </p:txBody>
      </p:sp>
      <p:sp>
        <p:nvSpPr>
          <p:cNvPr id="96" name="TextBox 95">
            <a:extLst>
              <a:ext uri="{FF2B5EF4-FFF2-40B4-BE49-F238E27FC236}">
                <a16:creationId xmlns:a16="http://schemas.microsoft.com/office/drawing/2014/main" id="{629C56DB-6938-37E7-2575-590991B5A25A}"/>
              </a:ext>
            </a:extLst>
          </p:cNvPr>
          <p:cNvSpPr txBox="1"/>
          <p:nvPr/>
        </p:nvSpPr>
        <p:spPr>
          <a:xfrm>
            <a:off x="6011966" y="3000840"/>
            <a:ext cx="3194613" cy="646331"/>
          </a:xfrm>
          <a:prstGeom prst="rect">
            <a:avLst/>
          </a:prstGeom>
          <a:noFill/>
        </p:spPr>
        <p:txBody>
          <a:bodyPr wrap="square" rtlCol="0">
            <a:spAutoFit/>
          </a:bodyPr>
          <a:lstStyle/>
          <a:p>
            <a:r>
              <a:rPr lang="en-CA" dirty="0"/>
              <a:t>Time-evolution of creation/annihilation operators:</a:t>
            </a:r>
          </a:p>
        </p:txBody>
      </p:sp>
    </p:spTree>
    <p:extLst>
      <p:ext uri="{BB962C8B-B14F-4D97-AF65-F5344CB8AC3E}">
        <p14:creationId xmlns:p14="http://schemas.microsoft.com/office/powerpoint/2010/main" val="9299057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ußzeilenplatzhalter 1"/>
          <p:cNvSpPr>
            <a:spLocks noGrp="1"/>
          </p:cNvSpPr>
          <p:nvPr>
            <p:ph type="ftr" sz="quarter" idx="3"/>
          </p:nvPr>
        </p:nvSpPr>
        <p:spPr>
          <a:xfrm>
            <a:off x="3807160" y="6341879"/>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IJCAI 2026, Bremen, Germany I Phil LeMaitre I 20.08.2026</a:t>
            </a:r>
            <a:endParaRPr lang="de-DE" dirty="0"/>
          </a:p>
        </p:txBody>
      </p:sp>
      <p:sp>
        <p:nvSpPr>
          <p:cNvPr id="3" name="Titel 1">
            <a:extLst>
              <a:ext uri="{FF2B5EF4-FFF2-40B4-BE49-F238E27FC236}">
                <a16:creationId xmlns:a16="http://schemas.microsoft.com/office/drawing/2014/main" id="{8EA3482B-9788-BCB4-D810-065E821DE54B}"/>
              </a:ext>
            </a:extLst>
          </p:cNvPr>
          <p:cNvSpPr txBox="1">
            <a:spLocks/>
          </p:cNvSpPr>
          <p:nvPr/>
        </p:nvSpPr>
        <p:spPr bwMode="auto">
          <a:xfrm>
            <a:off x="0" y="0"/>
            <a:ext cx="12280900" cy="1014750"/>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de-AT" sz="3200" kern="0" dirty="0">
                <a:solidFill>
                  <a:schemeClr val="bg1"/>
                </a:solidFill>
                <a:latin typeface="Calibri Light" panose="020F0302020204030204" pitchFamily="34" charset="0"/>
                <a:cs typeface="Calibri Light" panose="020F0302020204030204" pitchFamily="34" charset="0"/>
              </a:rPr>
              <a:t>Quantum </a:t>
            </a:r>
            <a:r>
              <a:rPr lang="de-AT" sz="3200" kern="0" dirty="0" err="1">
                <a:solidFill>
                  <a:schemeClr val="bg1"/>
                </a:solidFill>
                <a:latin typeface="Calibri Light" panose="020F0302020204030204" pitchFamily="34" charset="0"/>
                <a:cs typeface="Calibri Light" panose="020F0302020204030204" pitchFamily="34" charset="0"/>
              </a:rPr>
              <a:t>mePS</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F4A24675-E9F9-B996-D7DB-60295AF348BC}"/>
              </a:ext>
            </a:extLst>
          </p:cNvPr>
          <p:cNvSpPr>
            <a:spLocks noGrp="1"/>
          </p:cNvSpPr>
          <p:nvPr>
            <p:ph type="sldNum" sz="quarter" idx="12"/>
          </p:nvPr>
        </p:nvSpPr>
        <p:spPr/>
        <p:txBody>
          <a:bodyPr/>
          <a:lstStyle/>
          <a:p>
            <a:fld id="{D0617D14-1B55-43C0-819D-0D244AC23646}" type="slidenum">
              <a:rPr lang="de-AT" smtClean="0"/>
              <a:t>15</a:t>
            </a:fld>
            <a:endParaRPr lang="de-AT"/>
          </a:p>
        </p:txBody>
      </p:sp>
      <p:sp>
        <p:nvSpPr>
          <p:cNvPr id="71" name="TextBox 70">
            <a:extLst>
              <a:ext uri="{FF2B5EF4-FFF2-40B4-BE49-F238E27FC236}">
                <a16:creationId xmlns:a16="http://schemas.microsoft.com/office/drawing/2014/main" id="{8C5DA73A-51A9-44C3-065C-3D35F7AA98F4}"/>
              </a:ext>
            </a:extLst>
          </p:cNvPr>
          <p:cNvSpPr txBox="1"/>
          <p:nvPr/>
        </p:nvSpPr>
        <p:spPr>
          <a:xfrm>
            <a:off x="163113" y="1488366"/>
            <a:ext cx="1845476" cy="646331"/>
          </a:xfrm>
          <a:prstGeom prst="rect">
            <a:avLst/>
          </a:prstGeom>
          <a:noFill/>
        </p:spPr>
        <p:txBody>
          <a:bodyPr wrap="square" rtlCol="0">
            <a:spAutoFit/>
          </a:bodyPr>
          <a:lstStyle/>
          <a:p>
            <a:pPr marL="342900" indent="-342900">
              <a:buFont typeface="+mj-lt"/>
              <a:buAutoNum type="arabicPeriod"/>
            </a:pPr>
            <a:r>
              <a:rPr lang="en-CA" dirty="0"/>
              <a:t>Excite percept modes</a:t>
            </a:r>
          </a:p>
        </p:txBody>
      </p:sp>
      <p:sp>
        <p:nvSpPr>
          <p:cNvPr id="72" name="TextBox 71">
            <a:extLst>
              <a:ext uri="{FF2B5EF4-FFF2-40B4-BE49-F238E27FC236}">
                <a16:creationId xmlns:a16="http://schemas.microsoft.com/office/drawing/2014/main" id="{1EF1D4CA-0EE3-BE77-F7A6-373E9AB39642}"/>
              </a:ext>
            </a:extLst>
          </p:cNvPr>
          <p:cNvSpPr txBox="1"/>
          <p:nvPr/>
        </p:nvSpPr>
        <p:spPr>
          <a:xfrm>
            <a:off x="2545675" y="1485943"/>
            <a:ext cx="2577772" cy="923330"/>
          </a:xfrm>
          <a:prstGeom prst="rect">
            <a:avLst/>
          </a:prstGeom>
          <a:noFill/>
        </p:spPr>
        <p:txBody>
          <a:bodyPr wrap="square" rtlCol="0">
            <a:spAutoFit/>
          </a:bodyPr>
          <a:lstStyle/>
          <a:p>
            <a:pPr marL="342900" indent="-342900">
              <a:buFont typeface="+mj-lt"/>
              <a:buAutoNum type="arabicPeriod" startAt="2"/>
            </a:pPr>
            <a:r>
              <a:rPr lang="en-US" dirty="0"/>
              <a:t>Entangle all states then move excitations through ECM  </a:t>
            </a:r>
            <a:endParaRPr lang="en-CA" dirty="0"/>
          </a:p>
        </p:txBody>
      </p:sp>
      <p:sp>
        <p:nvSpPr>
          <p:cNvPr id="73" name="TextBox 72">
            <a:extLst>
              <a:ext uri="{FF2B5EF4-FFF2-40B4-BE49-F238E27FC236}">
                <a16:creationId xmlns:a16="http://schemas.microsoft.com/office/drawing/2014/main" id="{5CA51E0D-6972-8148-72A0-E3EE821B33C5}"/>
              </a:ext>
            </a:extLst>
          </p:cNvPr>
          <p:cNvSpPr txBox="1"/>
          <p:nvPr/>
        </p:nvSpPr>
        <p:spPr>
          <a:xfrm>
            <a:off x="5679282" y="1483850"/>
            <a:ext cx="2084309" cy="923330"/>
          </a:xfrm>
          <a:prstGeom prst="rect">
            <a:avLst/>
          </a:prstGeom>
          <a:noFill/>
        </p:spPr>
        <p:txBody>
          <a:bodyPr wrap="square" rtlCol="0">
            <a:spAutoFit/>
          </a:bodyPr>
          <a:lstStyle/>
          <a:p>
            <a:pPr marL="342900" indent="-342900">
              <a:buFont typeface="+mj-lt"/>
              <a:buAutoNum type="arabicPeriod" startAt="3"/>
            </a:pPr>
            <a:r>
              <a:rPr lang="en-US" dirty="0"/>
              <a:t>Measure action modes until </a:t>
            </a:r>
            <a:r>
              <a:rPr lang="en-CA" dirty="0"/>
              <a:t>condition is met </a:t>
            </a:r>
          </a:p>
        </p:txBody>
      </p:sp>
      <p:sp>
        <p:nvSpPr>
          <p:cNvPr id="83" name="TextBox 82">
            <a:extLst>
              <a:ext uri="{FF2B5EF4-FFF2-40B4-BE49-F238E27FC236}">
                <a16:creationId xmlns:a16="http://schemas.microsoft.com/office/drawing/2014/main" id="{26E699AE-147F-8A7F-D2A5-1775F6E5F982}"/>
              </a:ext>
            </a:extLst>
          </p:cNvPr>
          <p:cNvSpPr txBox="1"/>
          <p:nvPr/>
        </p:nvSpPr>
        <p:spPr>
          <a:xfrm>
            <a:off x="8319426" y="1483850"/>
            <a:ext cx="1753061" cy="923330"/>
          </a:xfrm>
          <a:prstGeom prst="rect">
            <a:avLst/>
          </a:prstGeom>
          <a:noFill/>
        </p:spPr>
        <p:txBody>
          <a:bodyPr wrap="square" rtlCol="0">
            <a:spAutoFit/>
          </a:bodyPr>
          <a:lstStyle/>
          <a:p>
            <a:pPr marL="342900" indent="-342900">
              <a:buFont typeface="+mj-lt"/>
              <a:buAutoNum type="arabicPeriod" startAt="4"/>
            </a:pPr>
            <a:r>
              <a:rPr lang="en-US" dirty="0"/>
              <a:t>Perform actions from step 3 </a:t>
            </a:r>
            <a:endParaRPr lang="en-CA" dirty="0"/>
          </a:p>
        </p:txBody>
      </p:sp>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60C2425A-3076-505A-D2B0-8C056BA31E9E}"/>
                  </a:ext>
                </a:extLst>
              </p:cNvPr>
              <p:cNvSpPr txBox="1"/>
              <p:nvPr/>
            </p:nvSpPr>
            <p:spPr>
              <a:xfrm>
                <a:off x="10537621" y="1467517"/>
                <a:ext cx="1654379" cy="646331"/>
              </a:xfrm>
              <a:prstGeom prst="rect">
                <a:avLst/>
              </a:prstGeom>
              <a:noFill/>
            </p:spPr>
            <p:txBody>
              <a:bodyPr wrap="square" rtlCol="0">
                <a:spAutoFit/>
              </a:bodyPr>
              <a:lstStyle/>
              <a:p>
                <a:pPr marL="342900" indent="-342900">
                  <a:buFont typeface="+mj-lt"/>
                  <a:buAutoNum type="arabicPeriod" startAt="5"/>
                </a:pPr>
                <a:r>
                  <a:rPr lang="en-US" dirty="0"/>
                  <a:t>Update the </a:t>
                </a:r>
                <a14:m>
                  <m:oMath xmlns:m="http://schemas.openxmlformats.org/officeDocument/2006/math">
                    <m:r>
                      <a:rPr lang="en-US" b="0" i="1" smtClean="0">
                        <a:latin typeface="Cambria Math" panose="02040503050406030204" pitchFamily="18" charset="0"/>
                      </a:rPr>
                      <m:t>h</m:t>
                    </m:r>
                  </m:oMath>
                </a14:m>
                <a:r>
                  <a:rPr lang="en-CA" dirty="0"/>
                  <a:t> values</a:t>
                </a:r>
              </a:p>
            </p:txBody>
          </p:sp>
        </mc:Choice>
        <mc:Fallback xmlns="">
          <p:sp>
            <p:nvSpPr>
              <p:cNvPr id="84" name="TextBox 83">
                <a:extLst>
                  <a:ext uri="{FF2B5EF4-FFF2-40B4-BE49-F238E27FC236}">
                    <a16:creationId xmlns:a16="http://schemas.microsoft.com/office/drawing/2014/main" id="{60C2425A-3076-505A-D2B0-8C056BA31E9E}"/>
                  </a:ext>
                </a:extLst>
              </p:cNvPr>
              <p:cNvSpPr txBox="1">
                <a:spLocks noRot="1" noChangeAspect="1" noMove="1" noResize="1" noEditPoints="1" noAdjustHandles="1" noChangeArrowheads="1" noChangeShapeType="1" noTextEdit="1"/>
              </p:cNvSpPr>
              <p:nvPr/>
            </p:nvSpPr>
            <p:spPr>
              <a:xfrm>
                <a:off x="10537621" y="1467517"/>
                <a:ext cx="1654379" cy="646331"/>
              </a:xfrm>
              <a:prstGeom prst="rect">
                <a:avLst/>
              </a:prstGeom>
              <a:blipFill>
                <a:blip r:embed="rId4"/>
                <a:stretch>
                  <a:fillRect l="-3030" t="-3846" r="-758" b="-15385"/>
                </a:stretch>
              </a:blipFill>
            </p:spPr>
            <p:txBody>
              <a:bodyPr/>
              <a:lstStyle/>
              <a:p>
                <a:r>
                  <a:rPr lang="en-CA">
                    <a:noFill/>
                  </a:rPr>
                  <a:t> </a:t>
                </a:r>
              </a:p>
            </p:txBody>
          </p:sp>
        </mc:Fallback>
      </mc:AlternateContent>
      <p:sp>
        <p:nvSpPr>
          <p:cNvPr id="93" name="TextBox 92">
            <a:extLst>
              <a:ext uri="{FF2B5EF4-FFF2-40B4-BE49-F238E27FC236}">
                <a16:creationId xmlns:a16="http://schemas.microsoft.com/office/drawing/2014/main" id="{DCF15E0E-F483-E967-A408-0645BB84B2FB}"/>
              </a:ext>
            </a:extLst>
          </p:cNvPr>
          <p:cNvSpPr txBox="1"/>
          <p:nvPr/>
        </p:nvSpPr>
        <p:spPr>
          <a:xfrm>
            <a:off x="5569825" y="1066690"/>
            <a:ext cx="1344611" cy="400110"/>
          </a:xfrm>
          <a:prstGeom prst="rect">
            <a:avLst/>
          </a:prstGeom>
          <a:noFill/>
        </p:spPr>
        <p:txBody>
          <a:bodyPr wrap="square" rtlCol="0">
            <a:spAutoFit/>
          </a:bodyPr>
          <a:lstStyle/>
          <a:p>
            <a:r>
              <a:rPr lang="en-CA" sz="2000" dirty="0">
                <a:solidFill>
                  <a:schemeClr val="accent2"/>
                </a:solidFill>
              </a:rPr>
              <a:t>Deliberate</a:t>
            </a:r>
          </a:p>
        </p:txBody>
      </p:sp>
      <p:sp>
        <p:nvSpPr>
          <p:cNvPr id="5" name="TextBox 4">
            <a:extLst>
              <a:ext uri="{FF2B5EF4-FFF2-40B4-BE49-F238E27FC236}">
                <a16:creationId xmlns:a16="http://schemas.microsoft.com/office/drawing/2014/main" id="{97B8927E-9852-53EB-445F-DD0A7562F07A}"/>
              </a:ext>
            </a:extLst>
          </p:cNvPr>
          <p:cNvSpPr txBox="1"/>
          <p:nvPr/>
        </p:nvSpPr>
        <p:spPr>
          <a:xfrm>
            <a:off x="4997987" y="3544790"/>
            <a:ext cx="810490" cy="400110"/>
          </a:xfrm>
          <a:prstGeom prst="rect">
            <a:avLst/>
          </a:prstGeom>
          <a:noFill/>
        </p:spPr>
        <p:txBody>
          <a:bodyPr wrap="square" rtlCol="0">
            <a:spAutoFit/>
          </a:bodyPr>
          <a:lstStyle/>
          <a:p>
            <a:r>
              <a:rPr lang="en-CA" sz="2000" dirty="0">
                <a:solidFill>
                  <a:schemeClr val="accent2"/>
                </a:solidFill>
              </a:rPr>
              <a:t>Learn</a:t>
            </a:r>
          </a:p>
        </p:txBody>
      </p:sp>
      <p:sp>
        <p:nvSpPr>
          <p:cNvPr id="6" name="Chevron 5">
            <a:extLst>
              <a:ext uri="{FF2B5EF4-FFF2-40B4-BE49-F238E27FC236}">
                <a16:creationId xmlns:a16="http://schemas.microsoft.com/office/drawing/2014/main" id="{9A187C7B-EA95-6E64-0BA5-F276F65D2011}"/>
              </a:ext>
            </a:extLst>
          </p:cNvPr>
          <p:cNvSpPr/>
          <p:nvPr/>
        </p:nvSpPr>
        <p:spPr>
          <a:xfrm>
            <a:off x="2085635" y="1574140"/>
            <a:ext cx="369332" cy="474782"/>
          </a:xfrm>
          <a:prstGeom prst="chevron">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solidFill>
                <a:schemeClr val="tx1"/>
              </a:solidFill>
            </a:endParaRPr>
          </a:p>
        </p:txBody>
      </p:sp>
      <p:cxnSp>
        <p:nvCxnSpPr>
          <p:cNvPr id="89" name="Straight Connector 88">
            <a:extLst>
              <a:ext uri="{FF2B5EF4-FFF2-40B4-BE49-F238E27FC236}">
                <a16:creationId xmlns:a16="http://schemas.microsoft.com/office/drawing/2014/main" id="{D1AC732A-1CF4-8133-1262-92B534190A7C}"/>
              </a:ext>
            </a:extLst>
          </p:cNvPr>
          <p:cNvCxnSpPr>
            <a:cxnSpLocks/>
          </p:cNvCxnSpPr>
          <p:nvPr/>
        </p:nvCxnSpPr>
        <p:spPr>
          <a:xfrm>
            <a:off x="2026911" y="3136540"/>
            <a:ext cx="7315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FE156EF0-1490-81E2-85D2-C6CC1E309F20}"/>
              </a:ext>
            </a:extLst>
          </p:cNvPr>
          <p:cNvCxnSpPr>
            <a:cxnSpLocks/>
          </p:cNvCxnSpPr>
          <p:nvPr/>
        </p:nvCxnSpPr>
        <p:spPr>
          <a:xfrm>
            <a:off x="2026913" y="3547135"/>
            <a:ext cx="7315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3915F7F3-794C-5D30-E4E5-0DFFB80F09B0}"/>
              </a:ext>
            </a:extLst>
          </p:cNvPr>
          <p:cNvCxnSpPr>
            <a:cxnSpLocks/>
          </p:cNvCxnSpPr>
          <p:nvPr/>
        </p:nvCxnSpPr>
        <p:spPr>
          <a:xfrm>
            <a:off x="2026913" y="3996054"/>
            <a:ext cx="7315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76067B0C-535F-F017-EB02-E858B890D824}"/>
              </a:ext>
            </a:extLst>
          </p:cNvPr>
          <p:cNvCxnSpPr>
            <a:cxnSpLocks/>
          </p:cNvCxnSpPr>
          <p:nvPr/>
        </p:nvCxnSpPr>
        <p:spPr>
          <a:xfrm>
            <a:off x="2026913" y="4945249"/>
            <a:ext cx="7315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0946EA0C-0159-6BC3-CF1D-5B18BF1E7FF3}"/>
              </a:ext>
            </a:extLst>
          </p:cNvPr>
          <p:cNvCxnSpPr>
            <a:cxnSpLocks/>
          </p:cNvCxnSpPr>
          <p:nvPr/>
        </p:nvCxnSpPr>
        <p:spPr>
          <a:xfrm>
            <a:off x="2026913" y="5418204"/>
            <a:ext cx="7315200" cy="0"/>
          </a:xfrm>
          <a:prstGeom prst="line">
            <a:avLst/>
          </a:prstGeom>
        </p:spPr>
        <p:style>
          <a:lnRef idx="1">
            <a:schemeClr val="accent1"/>
          </a:lnRef>
          <a:fillRef idx="0">
            <a:schemeClr val="accent1"/>
          </a:fillRef>
          <a:effectRef idx="0">
            <a:schemeClr val="accent1"/>
          </a:effectRef>
          <a:fontRef idx="minor">
            <a:schemeClr val="tx1"/>
          </a:fontRef>
        </p:style>
      </p:cxnSp>
      <p:sp>
        <p:nvSpPr>
          <p:cNvPr id="96" name="Rounded Rectangle 95">
            <a:extLst>
              <a:ext uri="{FF2B5EF4-FFF2-40B4-BE49-F238E27FC236}">
                <a16:creationId xmlns:a16="http://schemas.microsoft.com/office/drawing/2014/main" id="{63EF5203-8B2D-CA10-A56B-CC9E3A5DF15F}"/>
              </a:ext>
            </a:extLst>
          </p:cNvPr>
          <p:cNvSpPr/>
          <p:nvPr/>
        </p:nvSpPr>
        <p:spPr>
          <a:xfrm>
            <a:off x="2281849" y="2830965"/>
            <a:ext cx="1313197" cy="2913796"/>
          </a:xfrm>
          <a:prstGeom prst="roundRect">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no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E02CAC05-8805-2ECD-B6BB-7E4608C9614F}"/>
                  </a:ext>
                </a:extLst>
              </p:cNvPr>
              <p:cNvSpPr txBox="1"/>
              <p:nvPr/>
            </p:nvSpPr>
            <p:spPr>
              <a:xfrm>
                <a:off x="2409033" y="4222230"/>
                <a:ext cx="1049361" cy="3767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kumimoji="0" lang="en-CA"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ctrlPr>
                        </m:accPr>
                        <m:e>
                          <m: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𝑈</m:t>
                          </m:r>
                        </m:e>
                      </m:acc>
                      <m:d>
                        <m:dPr>
                          <m:ctrlPr>
                            <a:rPr kumimoji="0" lang="en-CA"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ctrlPr>
                        </m:dPr>
                        <m:e>
                          <m:sSub>
                            <m:sSubPr>
                              <m:ctrlP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ctrlPr>
                            </m:sSubPr>
                            <m:e>
                              <m:r>
                                <a:rPr kumimoji="0" lang="en-CA"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𝜏</m:t>
                              </m:r>
                            </m:e>
                            <m:sub>
                              <m: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1</m:t>
                              </m:r>
                            </m:sub>
                          </m:sSub>
                          <m:r>
                            <a:rPr kumimoji="0" lang="en-CA"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 </m:t>
                          </m:r>
                          <m:sSub>
                            <m:sSubPr>
                              <m:ctrlPr>
                                <a:rPr kumimoji="0" lang="en-CA"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ctrlPr>
                            </m:sSubPr>
                            <m:e>
                              <m:r>
                                <a:rPr kumimoji="0" lang="en-CA"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𝜏</m:t>
                              </m:r>
                            </m:e>
                            <m:sub>
                              <m:r>
                                <a:rPr kumimoji="0" lang="en-CA"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0</m:t>
                              </m:r>
                            </m:sub>
                          </m:sSub>
                        </m:e>
                      </m:d>
                    </m:oMath>
                  </m:oMathPara>
                </a14:m>
                <a:endParaRPr kumimoji="0" lang="en-CA"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97" name="TextBox 96">
                <a:extLst>
                  <a:ext uri="{FF2B5EF4-FFF2-40B4-BE49-F238E27FC236}">
                    <a16:creationId xmlns:a16="http://schemas.microsoft.com/office/drawing/2014/main" id="{E02CAC05-8805-2ECD-B6BB-7E4608C9614F}"/>
                  </a:ext>
                </a:extLst>
              </p:cNvPr>
              <p:cNvSpPr txBox="1">
                <a:spLocks noRot="1" noChangeAspect="1" noMove="1" noResize="1" noEditPoints="1" noAdjustHandles="1" noChangeArrowheads="1" noChangeShapeType="1" noTextEdit="1"/>
              </p:cNvSpPr>
              <p:nvPr/>
            </p:nvSpPr>
            <p:spPr>
              <a:xfrm>
                <a:off x="2409033" y="4222230"/>
                <a:ext cx="1049361" cy="376770"/>
              </a:xfrm>
              <a:prstGeom prst="rect">
                <a:avLst/>
              </a:prstGeom>
              <a:blipFill>
                <a:blip r:embed="rId5"/>
                <a:stretch>
                  <a:fillRect t="-3333"/>
                </a:stretch>
              </a:blipFill>
            </p:spPr>
            <p:txBody>
              <a:bodyPr/>
              <a:lstStyle/>
              <a:p>
                <a:r>
                  <a:rPr lang="en-CA">
                    <a:noFill/>
                  </a:rPr>
                  <a:t> </a:t>
                </a:r>
              </a:p>
            </p:txBody>
          </p:sp>
        </mc:Fallback>
      </mc:AlternateContent>
      <p:pic>
        <p:nvPicPr>
          <p:cNvPr id="98" name="Picture 2">
            <a:extLst>
              <a:ext uri="{FF2B5EF4-FFF2-40B4-BE49-F238E27FC236}">
                <a16:creationId xmlns:a16="http://schemas.microsoft.com/office/drawing/2014/main" id="{87A9ED1F-1440-54E5-304E-F653A39BB6D2}"/>
              </a:ext>
            </a:extLst>
          </p:cNvPr>
          <p:cNvPicPr>
            <a:picLocks noChangeAspect="1" noChangeArrowheads="1"/>
          </p:cNvPicPr>
          <p:nvPr/>
        </p:nvPicPr>
        <p:blipFill rotWithShape="1">
          <a:blip r:embed="rId6">
            <a:extLst>
              <a:ext uri="{28A0092B-C50C-407E-A947-70E740481C1C}">
                <a14:useLocalDpi xmlns:a14="http://schemas.microsoft.com/office/drawing/2010/main"/>
              </a:ext>
            </a:extLst>
          </a:blip>
          <a:srcRect/>
          <a:stretch/>
        </p:blipFill>
        <p:spPr bwMode="auto">
          <a:xfrm>
            <a:off x="9166907" y="5230127"/>
            <a:ext cx="495266" cy="37615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5EA3A6ED-154E-8E17-F4C9-362E7E7CD489}"/>
                  </a:ext>
                </a:extLst>
              </p:cNvPr>
              <p:cNvSpPr txBox="1"/>
              <p:nvPr/>
            </p:nvSpPr>
            <p:spPr>
              <a:xfrm>
                <a:off x="548765" y="2989943"/>
                <a:ext cx="1117294" cy="31483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𝑆</m:t>
                                  </m:r>
                                </m:e>
                              </m:d>
                            </m:sub>
                          </m:sSub>
                        </m:e>
                      </m:d>
                    </m:oMath>
                  </m:oMathPara>
                </a14:m>
                <a:endParaRPr lang="en-CA" dirty="0"/>
              </a:p>
            </p:txBody>
          </p:sp>
        </mc:Choice>
        <mc:Fallback xmlns="">
          <p:sp>
            <p:nvSpPr>
              <p:cNvPr id="100" name="TextBox 99">
                <a:extLst>
                  <a:ext uri="{FF2B5EF4-FFF2-40B4-BE49-F238E27FC236}">
                    <a16:creationId xmlns:a16="http://schemas.microsoft.com/office/drawing/2014/main" id="{5EA3A6ED-154E-8E17-F4C9-362E7E7CD489}"/>
                  </a:ext>
                </a:extLst>
              </p:cNvPr>
              <p:cNvSpPr txBox="1">
                <a:spLocks noRot="1" noChangeAspect="1" noMove="1" noResize="1" noEditPoints="1" noAdjustHandles="1" noChangeArrowheads="1" noChangeShapeType="1" noTextEdit="1"/>
              </p:cNvSpPr>
              <p:nvPr/>
            </p:nvSpPr>
            <p:spPr>
              <a:xfrm>
                <a:off x="548765" y="2989943"/>
                <a:ext cx="1117294" cy="314830"/>
              </a:xfrm>
              <a:prstGeom prst="rect">
                <a:avLst/>
              </a:prstGeom>
              <a:blipFill>
                <a:blip r:embed="rId7"/>
                <a:stretch>
                  <a:fillRect b="-7692"/>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29B91A0E-870D-96CB-7D38-0F8BD55EA98D}"/>
                  </a:ext>
                </a:extLst>
              </p:cNvPr>
              <p:cNvSpPr txBox="1"/>
              <p:nvPr/>
            </p:nvSpPr>
            <p:spPr>
              <a:xfrm>
                <a:off x="547234" y="3401083"/>
                <a:ext cx="1111843" cy="32053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1</m:t>
                                  </m:r>
                                </m:sub>
                              </m:sSub>
                            </m:sub>
                          </m:sSub>
                        </m:e>
                      </m:d>
                    </m:oMath>
                  </m:oMathPara>
                </a14:m>
                <a:endParaRPr lang="en-CA" dirty="0"/>
              </a:p>
            </p:txBody>
          </p:sp>
        </mc:Choice>
        <mc:Fallback xmlns="">
          <p:sp>
            <p:nvSpPr>
              <p:cNvPr id="101" name="TextBox 100">
                <a:extLst>
                  <a:ext uri="{FF2B5EF4-FFF2-40B4-BE49-F238E27FC236}">
                    <a16:creationId xmlns:a16="http://schemas.microsoft.com/office/drawing/2014/main" id="{29B91A0E-870D-96CB-7D38-0F8BD55EA98D}"/>
                  </a:ext>
                </a:extLst>
              </p:cNvPr>
              <p:cNvSpPr txBox="1">
                <a:spLocks noRot="1" noChangeAspect="1" noMove="1" noResize="1" noEditPoints="1" noAdjustHandles="1" noChangeArrowheads="1" noChangeShapeType="1" noTextEdit="1"/>
              </p:cNvSpPr>
              <p:nvPr/>
            </p:nvSpPr>
            <p:spPr>
              <a:xfrm>
                <a:off x="547234" y="3401083"/>
                <a:ext cx="1111843" cy="320537"/>
              </a:xfrm>
              <a:prstGeom prst="rect">
                <a:avLst/>
              </a:prstGeom>
              <a:blipFill>
                <a:blip r:embed="rId8"/>
                <a:stretch>
                  <a:fillRect b="-14815"/>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02" name="TextBox 101">
                <a:extLst>
                  <a:ext uri="{FF2B5EF4-FFF2-40B4-BE49-F238E27FC236}">
                    <a16:creationId xmlns:a16="http://schemas.microsoft.com/office/drawing/2014/main" id="{53FDA1A8-F5A4-60C0-5ED6-F5DEBF47950A}"/>
                  </a:ext>
                </a:extLst>
              </p:cNvPr>
              <p:cNvSpPr txBox="1"/>
              <p:nvPr/>
            </p:nvSpPr>
            <p:spPr>
              <a:xfrm>
                <a:off x="363962" y="3844456"/>
                <a:ext cx="1445331" cy="32053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1</m:t>
                                  </m:r>
                                </m:sub>
                              </m:s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2</m:t>
                                  </m:r>
                                </m:sub>
                              </m:sSub>
                            </m:sub>
                          </m:sSub>
                        </m:e>
                      </m:d>
                    </m:oMath>
                  </m:oMathPara>
                </a14:m>
                <a:endParaRPr lang="en-CA" dirty="0"/>
              </a:p>
            </p:txBody>
          </p:sp>
        </mc:Choice>
        <mc:Fallback xmlns="">
          <p:sp>
            <p:nvSpPr>
              <p:cNvPr id="102" name="TextBox 101">
                <a:extLst>
                  <a:ext uri="{FF2B5EF4-FFF2-40B4-BE49-F238E27FC236}">
                    <a16:creationId xmlns:a16="http://schemas.microsoft.com/office/drawing/2014/main" id="{53FDA1A8-F5A4-60C0-5ED6-F5DEBF47950A}"/>
                  </a:ext>
                </a:extLst>
              </p:cNvPr>
              <p:cNvSpPr txBox="1">
                <a:spLocks noRot="1" noChangeAspect="1" noMove="1" noResize="1" noEditPoints="1" noAdjustHandles="1" noChangeArrowheads="1" noChangeShapeType="1" noTextEdit="1"/>
              </p:cNvSpPr>
              <p:nvPr/>
            </p:nvSpPr>
            <p:spPr>
              <a:xfrm>
                <a:off x="363962" y="3844456"/>
                <a:ext cx="1445331" cy="320537"/>
              </a:xfrm>
              <a:prstGeom prst="rect">
                <a:avLst/>
              </a:prstGeom>
              <a:blipFill>
                <a:blip r:embed="rId9"/>
                <a:stretch>
                  <a:fillRect b="-15385"/>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588793BC-AE6C-6166-074E-73F8BF79B4CB}"/>
                  </a:ext>
                </a:extLst>
              </p:cNvPr>
              <p:cNvSpPr txBox="1"/>
              <p:nvPr/>
            </p:nvSpPr>
            <p:spPr>
              <a:xfrm>
                <a:off x="285222" y="4778639"/>
                <a:ext cx="1657633" cy="32194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𝑁</m:t>
                                  </m:r>
                                </m:e>
                                <m:sub>
                                  <m:r>
                                    <a:rPr lang="en-US" b="0" i="1" smtClean="0">
                                      <a:latin typeface="Cambria Math" panose="02040503050406030204" pitchFamily="18" charset="0"/>
                                    </a:rPr>
                                    <m:t>𝑛</m:t>
                                  </m:r>
                                  <m:r>
                                    <a:rPr lang="en-US" b="0" i="1" smtClean="0">
                                      <a:latin typeface="Cambria Math" panose="02040503050406030204" pitchFamily="18" charset="0"/>
                                    </a:rPr>
                                    <m:t>−1</m:t>
                                  </m:r>
                                </m:sub>
                              </m:s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𝐶</m:t>
                                  </m:r>
                                </m:e>
                              </m:d>
                            </m:sub>
                          </m:sSub>
                        </m:e>
                      </m:d>
                    </m:oMath>
                  </m:oMathPara>
                </a14:m>
                <a:endParaRPr lang="en-CA" dirty="0"/>
              </a:p>
            </p:txBody>
          </p:sp>
        </mc:Choice>
        <mc:Fallback xmlns="">
          <p:sp>
            <p:nvSpPr>
              <p:cNvPr id="103" name="TextBox 102">
                <a:extLst>
                  <a:ext uri="{FF2B5EF4-FFF2-40B4-BE49-F238E27FC236}">
                    <a16:creationId xmlns:a16="http://schemas.microsoft.com/office/drawing/2014/main" id="{588793BC-AE6C-6166-074E-73F8BF79B4CB}"/>
                  </a:ext>
                </a:extLst>
              </p:cNvPr>
              <p:cNvSpPr txBox="1">
                <a:spLocks noRot="1" noChangeAspect="1" noMove="1" noResize="1" noEditPoints="1" noAdjustHandles="1" noChangeArrowheads="1" noChangeShapeType="1" noTextEdit="1"/>
              </p:cNvSpPr>
              <p:nvPr/>
            </p:nvSpPr>
            <p:spPr>
              <a:xfrm>
                <a:off x="285222" y="4778639"/>
                <a:ext cx="1657633" cy="321948"/>
              </a:xfrm>
              <a:prstGeom prst="rect">
                <a:avLst/>
              </a:prstGeom>
              <a:blipFill>
                <a:blip r:embed="rId10"/>
                <a:stretch>
                  <a:fillRect b="-15385"/>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04" name="TextBox 103">
                <a:extLst>
                  <a:ext uri="{FF2B5EF4-FFF2-40B4-BE49-F238E27FC236}">
                    <a16:creationId xmlns:a16="http://schemas.microsoft.com/office/drawing/2014/main" id="{9C2A2746-A20B-234D-5CCE-01B9BF52474A}"/>
                  </a:ext>
                </a:extLst>
              </p:cNvPr>
              <p:cNvSpPr txBox="1"/>
              <p:nvPr/>
            </p:nvSpPr>
            <p:spPr>
              <a:xfrm>
                <a:off x="544534" y="5271607"/>
                <a:ext cx="1182247" cy="31483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𝐴</m:t>
                                  </m:r>
                                </m:e>
                              </m:d>
                            </m:sub>
                          </m:sSub>
                        </m:e>
                      </m:d>
                    </m:oMath>
                  </m:oMathPara>
                </a14:m>
                <a:endParaRPr lang="en-CA" dirty="0"/>
              </a:p>
            </p:txBody>
          </p:sp>
        </mc:Choice>
        <mc:Fallback xmlns="">
          <p:sp>
            <p:nvSpPr>
              <p:cNvPr id="104" name="TextBox 103">
                <a:extLst>
                  <a:ext uri="{FF2B5EF4-FFF2-40B4-BE49-F238E27FC236}">
                    <a16:creationId xmlns:a16="http://schemas.microsoft.com/office/drawing/2014/main" id="{9C2A2746-A20B-234D-5CCE-01B9BF52474A}"/>
                  </a:ext>
                </a:extLst>
              </p:cNvPr>
              <p:cNvSpPr txBox="1">
                <a:spLocks noRot="1" noChangeAspect="1" noMove="1" noResize="1" noEditPoints="1" noAdjustHandles="1" noChangeArrowheads="1" noChangeShapeType="1" noTextEdit="1"/>
              </p:cNvSpPr>
              <p:nvPr/>
            </p:nvSpPr>
            <p:spPr>
              <a:xfrm>
                <a:off x="544534" y="5271607"/>
                <a:ext cx="1182247" cy="314830"/>
              </a:xfrm>
              <a:prstGeom prst="rect">
                <a:avLst/>
              </a:prstGeom>
              <a:blipFill>
                <a:blip r:embed="rId11"/>
                <a:stretch>
                  <a:fillRect b="-12000"/>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70409BEC-FE6C-A67E-A495-8D8EB0ED843B}"/>
                  </a:ext>
                </a:extLst>
              </p:cNvPr>
              <p:cNvSpPr txBox="1"/>
              <p:nvPr/>
            </p:nvSpPr>
            <p:spPr>
              <a:xfrm rot="5400000">
                <a:off x="933901" y="4321182"/>
                <a:ext cx="33959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105" name="TextBox 104">
                <a:extLst>
                  <a:ext uri="{FF2B5EF4-FFF2-40B4-BE49-F238E27FC236}">
                    <a16:creationId xmlns:a16="http://schemas.microsoft.com/office/drawing/2014/main" id="{70409BEC-FE6C-A67E-A495-8D8EB0ED843B}"/>
                  </a:ext>
                </a:extLst>
              </p:cNvPr>
              <p:cNvSpPr txBox="1">
                <a:spLocks noRot="1" noChangeAspect="1" noMove="1" noResize="1" noEditPoints="1" noAdjustHandles="1" noChangeArrowheads="1" noChangeShapeType="1" noTextEdit="1"/>
              </p:cNvSpPr>
              <p:nvPr/>
            </p:nvSpPr>
            <p:spPr>
              <a:xfrm rot="5400000">
                <a:off x="933901" y="4321182"/>
                <a:ext cx="339598" cy="369332"/>
              </a:xfrm>
              <a:prstGeom prst="rect">
                <a:avLst/>
              </a:prstGeom>
              <a:blipFill>
                <a:blip r:embed="rId12"/>
                <a:stretch>
                  <a:fillRect/>
                </a:stretch>
              </a:blipFill>
            </p:spPr>
            <p:txBody>
              <a:bodyPr/>
              <a:lstStyle/>
              <a:p>
                <a:r>
                  <a:rPr lang="en-CA">
                    <a:noFill/>
                  </a:rPr>
                  <a:t> </a:t>
                </a:r>
              </a:p>
            </p:txBody>
          </p:sp>
        </mc:Fallback>
      </mc:AlternateContent>
      <p:sp>
        <p:nvSpPr>
          <p:cNvPr id="106" name="Rounded Rectangle 105">
            <a:extLst>
              <a:ext uri="{FF2B5EF4-FFF2-40B4-BE49-F238E27FC236}">
                <a16:creationId xmlns:a16="http://schemas.microsoft.com/office/drawing/2014/main" id="{70F88194-73AC-6D9A-4BBA-DE26654D5AE6}"/>
              </a:ext>
            </a:extLst>
          </p:cNvPr>
          <p:cNvSpPr/>
          <p:nvPr/>
        </p:nvSpPr>
        <p:spPr>
          <a:xfrm>
            <a:off x="3839507" y="2908379"/>
            <a:ext cx="925462" cy="857699"/>
          </a:xfrm>
          <a:prstGeom prst="roundRect">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noFill/>
              <a:effectLst/>
              <a:uLnTx/>
              <a:uFillTx/>
              <a:latin typeface="Calibri" panose="020F0502020204030204"/>
              <a:ea typeface="+mn-ea"/>
              <a:cs typeface="+mn-cs"/>
            </a:endParaRPr>
          </a:p>
        </p:txBody>
      </p:sp>
      <p:sp>
        <p:nvSpPr>
          <p:cNvPr id="107" name="Rounded Rectangle 106">
            <a:extLst>
              <a:ext uri="{FF2B5EF4-FFF2-40B4-BE49-F238E27FC236}">
                <a16:creationId xmlns:a16="http://schemas.microsoft.com/office/drawing/2014/main" id="{3C022674-AABA-C630-0B57-D9A768A74D97}"/>
              </a:ext>
            </a:extLst>
          </p:cNvPr>
          <p:cNvSpPr/>
          <p:nvPr/>
        </p:nvSpPr>
        <p:spPr>
          <a:xfrm>
            <a:off x="4946765" y="3337109"/>
            <a:ext cx="925462" cy="857699"/>
          </a:xfrm>
          <a:prstGeom prst="roundRect">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noFill/>
              <a:effectLst/>
              <a:uLnTx/>
              <a:uFillTx/>
              <a:latin typeface="Calibri" panose="020F0502020204030204"/>
              <a:ea typeface="+mn-ea"/>
              <a:cs typeface="+mn-cs"/>
            </a:endParaRPr>
          </a:p>
        </p:txBody>
      </p:sp>
      <p:sp>
        <p:nvSpPr>
          <p:cNvPr id="108" name="Rounded Rectangle 107">
            <a:extLst>
              <a:ext uri="{FF2B5EF4-FFF2-40B4-BE49-F238E27FC236}">
                <a16:creationId xmlns:a16="http://schemas.microsoft.com/office/drawing/2014/main" id="{58FFF7FC-791F-A80A-5351-B96CFA246B8D}"/>
              </a:ext>
            </a:extLst>
          </p:cNvPr>
          <p:cNvSpPr/>
          <p:nvPr/>
        </p:nvSpPr>
        <p:spPr>
          <a:xfrm>
            <a:off x="6054023" y="3765958"/>
            <a:ext cx="1491980" cy="1395468"/>
          </a:xfrm>
          <a:prstGeom prst="roundRect">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noFill/>
              <a:effectLst/>
              <a:uLnTx/>
              <a:uFillTx/>
              <a:latin typeface="Calibri" panose="020F0502020204030204"/>
              <a:ea typeface="+mn-ea"/>
              <a:cs typeface="+mn-cs"/>
            </a:endParaRPr>
          </a:p>
        </p:txBody>
      </p:sp>
      <p:sp>
        <p:nvSpPr>
          <p:cNvPr id="109" name="Rounded Rectangle 108">
            <a:extLst>
              <a:ext uri="{FF2B5EF4-FFF2-40B4-BE49-F238E27FC236}">
                <a16:creationId xmlns:a16="http://schemas.microsoft.com/office/drawing/2014/main" id="{046160E1-B124-9059-A960-DE4968EA738D}"/>
              </a:ext>
            </a:extLst>
          </p:cNvPr>
          <p:cNvSpPr/>
          <p:nvPr/>
        </p:nvSpPr>
        <p:spPr>
          <a:xfrm>
            <a:off x="7727793" y="4732576"/>
            <a:ext cx="1157272" cy="857699"/>
          </a:xfrm>
          <a:prstGeom prst="roundRect">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no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110" name="TextBox 109">
                <a:extLst>
                  <a:ext uri="{FF2B5EF4-FFF2-40B4-BE49-F238E27FC236}">
                    <a16:creationId xmlns:a16="http://schemas.microsoft.com/office/drawing/2014/main" id="{D382A82C-251F-6731-2146-F70565BECE40}"/>
                  </a:ext>
                </a:extLst>
              </p:cNvPr>
              <p:cNvSpPr txBox="1"/>
              <p:nvPr/>
            </p:nvSpPr>
            <p:spPr>
              <a:xfrm>
                <a:off x="3804122" y="3145871"/>
                <a:ext cx="1049361" cy="3767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kumimoji="0" lang="en-CA"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ctrlPr>
                        </m:accPr>
                        <m:e>
                          <m: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𝑈</m:t>
                          </m:r>
                        </m:e>
                      </m:acc>
                      <m:d>
                        <m:dPr>
                          <m:ctrlPr>
                            <a:rPr kumimoji="0" lang="en-CA"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ctrlPr>
                        </m:dPr>
                        <m:e>
                          <m:sSub>
                            <m:sSubPr>
                              <m:ctrlP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ctrlPr>
                            </m:sSubPr>
                            <m:e>
                              <m:r>
                                <a:rPr kumimoji="0" lang="en-CA"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𝜏</m:t>
                              </m:r>
                            </m:e>
                            <m:sub>
                              <m: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2</m:t>
                              </m:r>
                            </m:sub>
                          </m:sSub>
                          <m:r>
                            <a:rPr kumimoji="0" lang="en-CA"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 </m:t>
                          </m:r>
                          <m:sSub>
                            <m:sSubPr>
                              <m:ctrlPr>
                                <a:rPr kumimoji="0" lang="en-CA"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ctrlPr>
                            </m:sSubPr>
                            <m:e>
                              <m:r>
                                <a:rPr kumimoji="0" lang="en-CA"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𝜏</m:t>
                              </m:r>
                            </m:e>
                            <m:sub>
                              <m: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1</m:t>
                              </m:r>
                            </m:sub>
                          </m:sSub>
                        </m:e>
                      </m:d>
                    </m:oMath>
                  </m:oMathPara>
                </a14:m>
                <a:endParaRPr kumimoji="0" lang="en-CA"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110" name="TextBox 109">
                <a:extLst>
                  <a:ext uri="{FF2B5EF4-FFF2-40B4-BE49-F238E27FC236}">
                    <a16:creationId xmlns:a16="http://schemas.microsoft.com/office/drawing/2014/main" id="{D382A82C-251F-6731-2146-F70565BECE40}"/>
                  </a:ext>
                </a:extLst>
              </p:cNvPr>
              <p:cNvSpPr txBox="1">
                <a:spLocks noRot="1" noChangeAspect="1" noMove="1" noResize="1" noEditPoints="1" noAdjustHandles="1" noChangeArrowheads="1" noChangeShapeType="1" noTextEdit="1"/>
              </p:cNvSpPr>
              <p:nvPr/>
            </p:nvSpPr>
            <p:spPr>
              <a:xfrm>
                <a:off x="3804122" y="3145871"/>
                <a:ext cx="1049361" cy="376770"/>
              </a:xfrm>
              <a:prstGeom prst="rect">
                <a:avLst/>
              </a:prstGeom>
              <a:blipFill>
                <a:blip r:embed="rId13"/>
                <a:stretch>
                  <a:fillRect t="-3226"/>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11" name="TextBox 110">
                <a:extLst>
                  <a:ext uri="{FF2B5EF4-FFF2-40B4-BE49-F238E27FC236}">
                    <a16:creationId xmlns:a16="http://schemas.microsoft.com/office/drawing/2014/main" id="{E22D7F87-8017-CEB4-9B66-77B609CF8289}"/>
                  </a:ext>
                </a:extLst>
              </p:cNvPr>
              <p:cNvSpPr txBox="1"/>
              <p:nvPr/>
            </p:nvSpPr>
            <p:spPr>
              <a:xfrm>
                <a:off x="4901736" y="3568777"/>
                <a:ext cx="1049361" cy="3767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kumimoji="0" lang="en-CA"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ctrlPr>
                        </m:accPr>
                        <m:e>
                          <m: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𝑈</m:t>
                          </m:r>
                        </m:e>
                      </m:acc>
                      <m:d>
                        <m:dPr>
                          <m:ctrlPr>
                            <a:rPr kumimoji="0" lang="en-CA"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ctrlPr>
                        </m:dPr>
                        <m:e>
                          <m:sSub>
                            <m:sSubPr>
                              <m:ctrlP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ctrlPr>
                            </m:sSubPr>
                            <m:e>
                              <m:r>
                                <a:rPr kumimoji="0" lang="en-CA"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𝜏</m:t>
                              </m:r>
                            </m:e>
                            <m:sub>
                              <m: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3</m:t>
                              </m:r>
                            </m:sub>
                          </m:sSub>
                          <m:r>
                            <a:rPr kumimoji="0" lang="en-CA"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 </m:t>
                          </m:r>
                          <m:sSub>
                            <m:sSubPr>
                              <m:ctrlPr>
                                <a:rPr kumimoji="0" lang="en-CA"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ctrlPr>
                            </m:sSubPr>
                            <m:e>
                              <m:r>
                                <a:rPr kumimoji="0" lang="en-CA"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𝜏</m:t>
                              </m:r>
                            </m:e>
                            <m:sub>
                              <m: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2</m:t>
                              </m:r>
                            </m:sub>
                          </m:sSub>
                        </m:e>
                      </m:d>
                    </m:oMath>
                  </m:oMathPara>
                </a14:m>
                <a:endParaRPr kumimoji="0" lang="en-CA"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111" name="TextBox 110">
                <a:extLst>
                  <a:ext uri="{FF2B5EF4-FFF2-40B4-BE49-F238E27FC236}">
                    <a16:creationId xmlns:a16="http://schemas.microsoft.com/office/drawing/2014/main" id="{E22D7F87-8017-CEB4-9B66-77B609CF8289}"/>
                  </a:ext>
                </a:extLst>
              </p:cNvPr>
              <p:cNvSpPr txBox="1">
                <a:spLocks noRot="1" noChangeAspect="1" noMove="1" noResize="1" noEditPoints="1" noAdjustHandles="1" noChangeArrowheads="1" noChangeShapeType="1" noTextEdit="1"/>
              </p:cNvSpPr>
              <p:nvPr/>
            </p:nvSpPr>
            <p:spPr>
              <a:xfrm>
                <a:off x="4901736" y="3568777"/>
                <a:ext cx="1049361" cy="376770"/>
              </a:xfrm>
              <a:prstGeom prst="rect">
                <a:avLst/>
              </a:prstGeom>
              <a:blipFill>
                <a:blip r:embed="rId14"/>
                <a:stretch>
                  <a:fillRect t="-3226"/>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12" name="TextBox 111">
                <a:extLst>
                  <a:ext uri="{FF2B5EF4-FFF2-40B4-BE49-F238E27FC236}">
                    <a16:creationId xmlns:a16="http://schemas.microsoft.com/office/drawing/2014/main" id="{C8E5F4F3-8BCC-2923-D4E4-F78A5D0B2BAE}"/>
                  </a:ext>
                </a:extLst>
              </p:cNvPr>
              <p:cNvSpPr txBox="1"/>
              <p:nvPr/>
            </p:nvSpPr>
            <p:spPr>
              <a:xfrm>
                <a:off x="6272500" y="3879591"/>
                <a:ext cx="1049361" cy="3767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kumimoji="0" lang="en-CA"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ctrlPr>
                        </m:accPr>
                        <m:e>
                          <m: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𝑈</m:t>
                          </m:r>
                        </m:e>
                      </m:acc>
                      <m:d>
                        <m:dPr>
                          <m:ctrlPr>
                            <a:rPr kumimoji="0" lang="en-CA"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ctrlPr>
                        </m:dPr>
                        <m:e>
                          <m:sSub>
                            <m:sSubPr>
                              <m:ctrlP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ctrlPr>
                            </m:sSubPr>
                            <m:e>
                              <m:r>
                                <a:rPr kumimoji="0" lang="en-CA"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𝜏</m:t>
                              </m:r>
                            </m:e>
                            <m:sub>
                              <m: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4</m:t>
                              </m:r>
                            </m:sub>
                          </m:sSub>
                          <m:r>
                            <a:rPr kumimoji="0" lang="en-CA"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 </m:t>
                          </m:r>
                          <m:sSub>
                            <m:sSubPr>
                              <m:ctrlPr>
                                <a:rPr kumimoji="0" lang="en-CA"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ctrlPr>
                            </m:sSubPr>
                            <m:e>
                              <m:r>
                                <a:rPr kumimoji="0" lang="en-CA"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𝜏</m:t>
                              </m:r>
                            </m:e>
                            <m:sub>
                              <m: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3</m:t>
                              </m:r>
                            </m:sub>
                          </m:sSub>
                        </m:e>
                      </m:d>
                    </m:oMath>
                  </m:oMathPara>
                </a14:m>
                <a:endParaRPr kumimoji="0" lang="en-CA"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112" name="TextBox 111">
                <a:extLst>
                  <a:ext uri="{FF2B5EF4-FFF2-40B4-BE49-F238E27FC236}">
                    <a16:creationId xmlns:a16="http://schemas.microsoft.com/office/drawing/2014/main" id="{C8E5F4F3-8BCC-2923-D4E4-F78A5D0B2BAE}"/>
                  </a:ext>
                </a:extLst>
              </p:cNvPr>
              <p:cNvSpPr txBox="1">
                <a:spLocks noRot="1" noChangeAspect="1" noMove="1" noResize="1" noEditPoints="1" noAdjustHandles="1" noChangeArrowheads="1" noChangeShapeType="1" noTextEdit="1"/>
              </p:cNvSpPr>
              <p:nvPr/>
            </p:nvSpPr>
            <p:spPr>
              <a:xfrm>
                <a:off x="6272500" y="3879591"/>
                <a:ext cx="1049361" cy="376770"/>
              </a:xfrm>
              <a:prstGeom prst="rect">
                <a:avLst/>
              </a:prstGeom>
              <a:blipFill>
                <a:blip r:embed="rId15"/>
                <a:stretch>
                  <a:fillRect t="-3226"/>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2731F533-A0DD-B736-32B2-9C456BCD2318}"/>
                  </a:ext>
                </a:extLst>
              </p:cNvPr>
              <p:cNvSpPr txBox="1"/>
              <p:nvPr/>
            </p:nvSpPr>
            <p:spPr>
              <a:xfrm>
                <a:off x="7690851" y="4971922"/>
                <a:ext cx="1049361" cy="3767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kumimoji="0" lang="en-CA"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ctrlPr>
                        </m:accPr>
                        <m:e>
                          <m: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𝑈</m:t>
                          </m:r>
                        </m:e>
                      </m:acc>
                      <m:d>
                        <m:dPr>
                          <m:ctrlPr>
                            <a:rPr kumimoji="0" lang="en-CA"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ctrlPr>
                        </m:dPr>
                        <m:e>
                          <m:r>
                            <a:rPr kumimoji="0" lang="en-CA"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𝜏</m:t>
                          </m:r>
                          <m:r>
                            <a:rPr kumimoji="0" lang="en-CA"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 </m:t>
                          </m:r>
                          <m:sSub>
                            <m:sSubPr>
                              <m:ctrlPr>
                                <a:rPr kumimoji="0" lang="en-CA"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ctrlPr>
                            </m:sSubPr>
                            <m:e>
                              <m:r>
                                <a:rPr kumimoji="0" lang="en-CA"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𝜏</m:t>
                              </m:r>
                            </m:e>
                            <m:sub>
                              <m: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𝑚</m:t>
                              </m:r>
                              <m: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−1</m:t>
                              </m:r>
                            </m:sub>
                          </m:sSub>
                        </m:e>
                      </m:d>
                    </m:oMath>
                  </m:oMathPara>
                </a14:m>
                <a:endParaRPr kumimoji="0" lang="en-CA"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113" name="TextBox 112">
                <a:extLst>
                  <a:ext uri="{FF2B5EF4-FFF2-40B4-BE49-F238E27FC236}">
                    <a16:creationId xmlns:a16="http://schemas.microsoft.com/office/drawing/2014/main" id="{2731F533-A0DD-B736-32B2-9C456BCD2318}"/>
                  </a:ext>
                </a:extLst>
              </p:cNvPr>
              <p:cNvSpPr txBox="1">
                <a:spLocks noRot="1" noChangeAspect="1" noMove="1" noResize="1" noEditPoints="1" noAdjustHandles="1" noChangeArrowheads="1" noChangeShapeType="1" noTextEdit="1"/>
              </p:cNvSpPr>
              <p:nvPr/>
            </p:nvSpPr>
            <p:spPr>
              <a:xfrm>
                <a:off x="7690851" y="4971922"/>
                <a:ext cx="1049361" cy="376770"/>
              </a:xfrm>
              <a:prstGeom prst="rect">
                <a:avLst/>
              </a:prstGeom>
              <a:blipFill>
                <a:blip r:embed="rId16"/>
                <a:stretch>
                  <a:fillRect t="-3333" r="-5952"/>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14" name="TextBox 113">
                <a:extLst>
                  <a:ext uri="{FF2B5EF4-FFF2-40B4-BE49-F238E27FC236}">
                    <a16:creationId xmlns:a16="http://schemas.microsoft.com/office/drawing/2014/main" id="{AF2B14F8-6B92-E18A-0FB9-73CC34420CC9}"/>
                  </a:ext>
                </a:extLst>
              </p:cNvPr>
              <p:cNvSpPr txBox="1"/>
              <p:nvPr/>
            </p:nvSpPr>
            <p:spPr>
              <a:xfrm>
                <a:off x="5996126" y="4594434"/>
                <a:ext cx="1049361" cy="37677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kumimoji="0" lang="en-CA"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ctrlPr>
                        </m:accPr>
                        <m:e>
                          <m: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𝑈</m:t>
                          </m:r>
                        </m:e>
                      </m:acc>
                      <m:d>
                        <m:dPr>
                          <m:ctrlPr>
                            <a:rPr kumimoji="0" lang="en-CA"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ctrlPr>
                        </m:dPr>
                        <m:e>
                          <m:sSub>
                            <m:sSubPr>
                              <m:ctrlP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ctrlPr>
                            </m:sSubPr>
                            <m:e>
                              <m:r>
                                <a:rPr kumimoji="0" lang="en-CA"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𝜏</m:t>
                              </m:r>
                            </m:e>
                            <m:sub>
                              <m: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𝑚</m:t>
                              </m:r>
                              <m: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−1</m:t>
                              </m:r>
                            </m:sub>
                          </m:sSub>
                          <m:r>
                            <a:rPr kumimoji="0" lang="en-CA"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 </m:t>
                          </m:r>
                          <m:sSub>
                            <m:sSubPr>
                              <m:ctrlPr>
                                <a:rPr kumimoji="0" lang="en-CA"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ctrlPr>
                            </m:sSubPr>
                            <m:e>
                              <m:r>
                                <a:rPr kumimoji="0" lang="en-CA"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𝜏</m:t>
                              </m:r>
                            </m:e>
                            <m:sub>
                              <m: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𝑚</m:t>
                              </m:r>
                              <m: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−2</m:t>
                              </m:r>
                            </m:sub>
                          </m:sSub>
                        </m:e>
                      </m:d>
                    </m:oMath>
                  </m:oMathPara>
                </a14:m>
                <a:endParaRPr kumimoji="0" lang="en-CA"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114" name="TextBox 113">
                <a:extLst>
                  <a:ext uri="{FF2B5EF4-FFF2-40B4-BE49-F238E27FC236}">
                    <a16:creationId xmlns:a16="http://schemas.microsoft.com/office/drawing/2014/main" id="{AF2B14F8-6B92-E18A-0FB9-73CC34420CC9}"/>
                  </a:ext>
                </a:extLst>
              </p:cNvPr>
              <p:cNvSpPr txBox="1">
                <a:spLocks noRot="1" noChangeAspect="1" noMove="1" noResize="1" noEditPoints="1" noAdjustHandles="1" noChangeArrowheads="1" noChangeShapeType="1" noTextEdit="1"/>
              </p:cNvSpPr>
              <p:nvPr/>
            </p:nvSpPr>
            <p:spPr>
              <a:xfrm>
                <a:off x="5996126" y="4594434"/>
                <a:ext cx="1049361" cy="376770"/>
              </a:xfrm>
              <a:prstGeom prst="rect">
                <a:avLst/>
              </a:prstGeom>
              <a:blipFill>
                <a:blip r:embed="rId17"/>
                <a:stretch>
                  <a:fillRect t="-3226" r="-42169"/>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115" name="TextBox 114">
                <a:extLst>
                  <a:ext uri="{FF2B5EF4-FFF2-40B4-BE49-F238E27FC236}">
                    <a16:creationId xmlns:a16="http://schemas.microsoft.com/office/drawing/2014/main" id="{5D9B3652-D1F0-E8CB-0432-2FD7BDD0A1AD}"/>
                  </a:ext>
                </a:extLst>
              </p:cNvPr>
              <p:cNvSpPr txBox="1"/>
              <p:nvPr/>
            </p:nvSpPr>
            <p:spPr>
              <a:xfrm rot="5400000">
                <a:off x="6627381" y="4247861"/>
                <a:ext cx="33959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oMath>
                  </m:oMathPara>
                </a14:m>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115" name="TextBox 114">
                <a:extLst>
                  <a:ext uri="{FF2B5EF4-FFF2-40B4-BE49-F238E27FC236}">
                    <a16:creationId xmlns:a16="http://schemas.microsoft.com/office/drawing/2014/main" id="{5D9B3652-D1F0-E8CB-0432-2FD7BDD0A1AD}"/>
                  </a:ext>
                </a:extLst>
              </p:cNvPr>
              <p:cNvSpPr txBox="1">
                <a:spLocks noRot="1" noChangeAspect="1" noMove="1" noResize="1" noEditPoints="1" noAdjustHandles="1" noChangeArrowheads="1" noChangeShapeType="1" noTextEdit="1"/>
              </p:cNvSpPr>
              <p:nvPr/>
            </p:nvSpPr>
            <p:spPr>
              <a:xfrm rot="5400000">
                <a:off x="6627381" y="4247861"/>
                <a:ext cx="339598" cy="369332"/>
              </a:xfrm>
              <a:prstGeom prst="rect">
                <a:avLst/>
              </a:prstGeom>
              <a:blipFill>
                <a:blip r:embed="rId18"/>
                <a:stretch>
                  <a:fillRect/>
                </a:stretch>
              </a:blipFill>
            </p:spPr>
            <p:txBody>
              <a:bodyPr/>
              <a:lstStyle/>
              <a:p>
                <a:r>
                  <a:rPr lang="en-CA">
                    <a:noFill/>
                  </a:rPr>
                  <a:t> </a:t>
                </a:r>
              </a:p>
            </p:txBody>
          </p:sp>
        </mc:Fallback>
      </mc:AlternateContent>
      <p:cxnSp>
        <p:nvCxnSpPr>
          <p:cNvPr id="117" name="Straight Connector 116">
            <a:extLst>
              <a:ext uri="{FF2B5EF4-FFF2-40B4-BE49-F238E27FC236}">
                <a16:creationId xmlns:a16="http://schemas.microsoft.com/office/drawing/2014/main" id="{F304307A-482F-CC1A-B4F7-6E3D902179EF}"/>
              </a:ext>
            </a:extLst>
          </p:cNvPr>
          <p:cNvCxnSpPr>
            <a:cxnSpLocks/>
            <a:endCxn id="71" idx="2"/>
          </p:cNvCxnSpPr>
          <p:nvPr/>
        </p:nvCxnSpPr>
        <p:spPr>
          <a:xfrm flipV="1">
            <a:off x="813408" y="2134697"/>
            <a:ext cx="272443" cy="810371"/>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119" name="Straight Connector 118">
            <a:extLst>
              <a:ext uri="{FF2B5EF4-FFF2-40B4-BE49-F238E27FC236}">
                <a16:creationId xmlns:a16="http://schemas.microsoft.com/office/drawing/2014/main" id="{23487175-EA61-BB3B-674A-536C1DB4CC49}"/>
              </a:ext>
            </a:extLst>
          </p:cNvPr>
          <p:cNvCxnSpPr>
            <a:cxnSpLocks/>
            <a:stCxn id="71" idx="2"/>
          </p:cNvCxnSpPr>
          <p:nvPr/>
        </p:nvCxnSpPr>
        <p:spPr>
          <a:xfrm>
            <a:off x="1085851" y="2134697"/>
            <a:ext cx="276197" cy="855246"/>
          </a:xfrm>
          <a:prstGeom prst="line">
            <a:avLst/>
          </a:prstGeom>
          <a:ln w="19050"/>
        </p:spPr>
        <p:style>
          <a:lnRef idx="1">
            <a:schemeClr val="accent2"/>
          </a:lnRef>
          <a:fillRef idx="0">
            <a:schemeClr val="accent2"/>
          </a:fillRef>
          <a:effectRef idx="0">
            <a:schemeClr val="accent2"/>
          </a:effectRef>
          <a:fontRef idx="minor">
            <a:schemeClr val="tx1"/>
          </a:fontRef>
        </p:style>
      </p:cxnSp>
      <p:sp>
        <p:nvSpPr>
          <p:cNvPr id="3072" name="Left Brace 3071">
            <a:extLst>
              <a:ext uri="{FF2B5EF4-FFF2-40B4-BE49-F238E27FC236}">
                <a16:creationId xmlns:a16="http://schemas.microsoft.com/office/drawing/2014/main" id="{AB08EB34-E7F1-2E58-E4BF-9D38B8CD1F72}"/>
              </a:ext>
            </a:extLst>
          </p:cNvPr>
          <p:cNvSpPr/>
          <p:nvPr/>
        </p:nvSpPr>
        <p:spPr>
          <a:xfrm rot="5400000">
            <a:off x="5465481" y="-604782"/>
            <a:ext cx="208687" cy="6608765"/>
          </a:xfrm>
          <a:prstGeom prst="leftBrace">
            <a:avLst>
              <a:gd name="adj1" fmla="val 8333"/>
              <a:gd name="adj2" fmla="val 70329"/>
            </a:avLst>
          </a:prstGeom>
          <a:ln w="1905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dirty="0"/>
          </a:p>
        </p:txBody>
      </p:sp>
      <p:sp>
        <p:nvSpPr>
          <p:cNvPr id="3073" name="Chevron 3072">
            <a:extLst>
              <a:ext uri="{FF2B5EF4-FFF2-40B4-BE49-F238E27FC236}">
                <a16:creationId xmlns:a16="http://schemas.microsoft.com/office/drawing/2014/main" id="{A49B9F92-E636-04B4-EE98-49AE460ACC68}"/>
              </a:ext>
            </a:extLst>
          </p:cNvPr>
          <p:cNvSpPr/>
          <p:nvPr/>
        </p:nvSpPr>
        <p:spPr>
          <a:xfrm>
            <a:off x="5214155" y="1572332"/>
            <a:ext cx="369332" cy="474782"/>
          </a:xfrm>
          <a:prstGeom prst="chevron">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solidFill>
                <a:schemeClr val="tx1"/>
              </a:solidFill>
            </a:endParaRPr>
          </a:p>
        </p:txBody>
      </p:sp>
      <p:sp>
        <p:nvSpPr>
          <p:cNvPr id="3075" name="Chevron 3074">
            <a:extLst>
              <a:ext uri="{FF2B5EF4-FFF2-40B4-BE49-F238E27FC236}">
                <a16:creationId xmlns:a16="http://schemas.microsoft.com/office/drawing/2014/main" id="{A74291D6-4284-B48A-B036-58D3738808AF}"/>
              </a:ext>
            </a:extLst>
          </p:cNvPr>
          <p:cNvSpPr/>
          <p:nvPr/>
        </p:nvSpPr>
        <p:spPr>
          <a:xfrm>
            <a:off x="7859386" y="1572332"/>
            <a:ext cx="369332" cy="474782"/>
          </a:xfrm>
          <a:prstGeom prst="chevron">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solidFill>
                <a:schemeClr val="tx1"/>
              </a:solidFill>
            </a:endParaRPr>
          </a:p>
        </p:txBody>
      </p:sp>
      <p:sp>
        <p:nvSpPr>
          <p:cNvPr id="3078" name="TextBox 3077">
            <a:extLst>
              <a:ext uri="{FF2B5EF4-FFF2-40B4-BE49-F238E27FC236}">
                <a16:creationId xmlns:a16="http://schemas.microsoft.com/office/drawing/2014/main" id="{47DC4FE5-27DB-F95C-1C2D-021B2D61D0DF}"/>
              </a:ext>
            </a:extLst>
          </p:cNvPr>
          <p:cNvSpPr txBox="1"/>
          <p:nvPr/>
        </p:nvSpPr>
        <p:spPr>
          <a:xfrm>
            <a:off x="10990485" y="1072676"/>
            <a:ext cx="792581" cy="400110"/>
          </a:xfrm>
          <a:prstGeom prst="rect">
            <a:avLst/>
          </a:prstGeom>
          <a:noFill/>
        </p:spPr>
        <p:txBody>
          <a:bodyPr wrap="square" rtlCol="0">
            <a:spAutoFit/>
          </a:bodyPr>
          <a:lstStyle/>
          <a:p>
            <a:r>
              <a:rPr lang="en-CA" sz="2000" dirty="0">
                <a:solidFill>
                  <a:schemeClr val="accent2"/>
                </a:solidFill>
              </a:rPr>
              <a:t>Learn</a:t>
            </a:r>
          </a:p>
        </p:txBody>
      </p:sp>
      <p:sp>
        <p:nvSpPr>
          <p:cNvPr id="3079" name="Chevron 3078">
            <a:extLst>
              <a:ext uri="{FF2B5EF4-FFF2-40B4-BE49-F238E27FC236}">
                <a16:creationId xmlns:a16="http://schemas.microsoft.com/office/drawing/2014/main" id="{CE654BB8-D1FC-CCA7-68EB-C28C15DBFB49}"/>
              </a:ext>
            </a:extLst>
          </p:cNvPr>
          <p:cNvSpPr/>
          <p:nvPr/>
        </p:nvSpPr>
        <p:spPr>
          <a:xfrm>
            <a:off x="10082670" y="1572332"/>
            <a:ext cx="369332" cy="474782"/>
          </a:xfrm>
          <a:prstGeom prst="chevron">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solidFill>
                <a:schemeClr val="tx1"/>
              </a:solidFill>
            </a:endParaRPr>
          </a:p>
        </p:txBody>
      </p:sp>
      <p:sp>
        <p:nvSpPr>
          <p:cNvPr id="3083" name="Rectangle 3082">
            <a:extLst>
              <a:ext uri="{FF2B5EF4-FFF2-40B4-BE49-F238E27FC236}">
                <a16:creationId xmlns:a16="http://schemas.microsoft.com/office/drawing/2014/main" id="{40198BFB-492E-6CE8-599D-9EFD3558D2B6}"/>
              </a:ext>
            </a:extLst>
          </p:cNvPr>
          <p:cNvSpPr/>
          <p:nvPr/>
        </p:nvSpPr>
        <p:spPr>
          <a:xfrm>
            <a:off x="9195935" y="5263244"/>
            <a:ext cx="437209" cy="331556"/>
          </a:xfrm>
          <a:prstGeom prst="rect">
            <a:avLst/>
          </a:prstGeom>
          <a:noFill/>
          <a:ln w="2222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custDataLst>
      <p:tags r:id="rId1"/>
    </p:custDataLst>
    <p:extLst>
      <p:ext uri="{BB962C8B-B14F-4D97-AF65-F5344CB8AC3E}">
        <p14:creationId xmlns:p14="http://schemas.microsoft.com/office/powerpoint/2010/main" val="733224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07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07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08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07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07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7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p:bldP spid="72" grpId="0"/>
      <p:bldP spid="73" grpId="0"/>
      <p:bldP spid="83" grpId="0"/>
      <p:bldP spid="84" grpId="0"/>
      <p:bldP spid="93" grpId="0"/>
      <p:bldP spid="6" grpId="0" animBg="1"/>
      <p:bldP spid="3072" grpId="0" animBg="1"/>
      <p:bldP spid="3073" grpId="0" animBg="1"/>
      <p:bldP spid="3075" grpId="0" animBg="1"/>
      <p:bldP spid="3078" grpId="0"/>
      <p:bldP spid="3079" grpId="0" animBg="1"/>
      <p:bldP spid="3083" grpId="0" animBg="1"/>
    </p:bld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 name="Alternate Process 14">
            <a:extLst>
              <a:ext uri="{FF2B5EF4-FFF2-40B4-BE49-F238E27FC236}">
                <a16:creationId xmlns:a16="http://schemas.microsoft.com/office/drawing/2014/main" id="{2E11554D-92F1-06C9-650F-386B4F2DA51F}"/>
              </a:ext>
            </a:extLst>
          </p:cNvPr>
          <p:cNvSpPr/>
          <p:nvPr/>
        </p:nvSpPr>
        <p:spPr>
          <a:xfrm>
            <a:off x="4027597" y="4834009"/>
            <a:ext cx="5184980" cy="1054827"/>
          </a:xfrm>
          <a:prstGeom prst="flowChartAlternateProcess">
            <a:avLst/>
          </a:prstGeom>
          <a:solidFill>
            <a:srgbClr val="FCFAC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 name="Fußzeilenplatzhalter 1"/>
          <p:cNvSpPr>
            <a:spLocks noGrp="1"/>
          </p:cNvSpPr>
          <p:nvPr>
            <p:ph type="ftr" sz="quarter" idx="3"/>
          </p:nvPr>
        </p:nvSpPr>
        <p:spPr>
          <a:xfrm>
            <a:off x="3807160" y="6341879"/>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de-DE"/>
              <a:t>IJCAI 2026, Bremen, Germany I Phil LeMaitre I 20.08.2026</a:t>
            </a:r>
            <a:endParaRPr lang="de-DE" dirty="0"/>
          </a:p>
        </p:txBody>
      </p:sp>
      <p:sp>
        <p:nvSpPr>
          <p:cNvPr id="3" name="Titel 1">
            <a:extLst>
              <a:ext uri="{FF2B5EF4-FFF2-40B4-BE49-F238E27FC236}">
                <a16:creationId xmlns:a16="http://schemas.microsoft.com/office/drawing/2014/main" id="{8EA3482B-9788-BCB4-D810-065E821DE54B}"/>
              </a:ext>
            </a:extLst>
          </p:cNvPr>
          <p:cNvSpPr txBox="1">
            <a:spLocks/>
          </p:cNvSpPr>
          <p:nvPr/>
        </p:nvSpPr>
        <p:spPr bwMode="auto">
          <a:xfrm>
            <a:off x="0" y="0"/>
            <a:ext cx="12280900" cy="1014750"/>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de-AT" sz="3200" kern="0" dirty="0">
                <a:solidFill>
                  <a:schemeClr val="bg1"/>
                </a:solidFill>
                <a:latin typeface="Calibri Light" panose="020F0302020204030204" pitchFamily="34" charset="0"/>
                <a:cs typeface="Calibri Light" panose="020F0302020204030204" pitchFamily="34" charset="0"/>
              </a:rPr>
              <a:t>Quantum </a:t>
            </a:r>
            <a:r>
              <a:rPr lang="de-AT" sz="3200" kern="0" dirty="0" err="1">
                <a:solidFill>
                  <a:schemeClr val="bg1"/>
                </a:solidFill>
                <a:latin typeface="Calibri Light" panose="020F0302020204030204" pitchFamily="34" charset="0"/>
                <a:cs typeface="Calibri Light" panose="020F0302020204030204" pitchFamily="34" charset="0"/>
              </a:rPr>
              <a:t>mePS</a:t>
            </a:r>
            <a:endParaRPr lang="de-AT" sz="3200" kern="0" dirty="0">
              <a:solidFill>
                <a:schemeClr val="bg1"/>
              </a:solidFill>
              <a:latin typeface="Calibri Light" panose="020F0302020204030204" pitchFamily="34" charset="0"/>
              <a:cs typeface="Calibri Light" panose="020F0302020204030204" pitchFamily="34" charset="0"/>
            </a:endParaRPr>
          </a:p>
        </p:txBody>
      </p:sp>
      <p:sp>
        <p:nvSpPr>
          <p:cNvPr id="7" name="Slide Number Placeholder 6">
            <a:extLst>
              <a:ext uri="{FF2B5EF4-FFF2-40B4-BE49-F238E27FC236}">
                <a16:creationId xmlns:a16="http://schemas.microsoft.com/office/drawing/2014/main" id="{F4A24675-E9F9-B996-D7DB-60295AF348BC}"/>
              </a:ext>
            </a:extLst>
          </p:cNvPr>
          <p:cNvSpPr>
            <a:spLocks noGrp="1"/>
          </p:cNvSpPr>
          <p:nvPr>
            <p:ph type="sldNum" sz="quarter" idx="12"/>
          </p:nvPr>
        </p:nvSpPr>
        <p:spPr/>
        <p:txBody>
          <a:bodyPr/>
          <a:lstStyle/>
          <a:p>
            <a:fld id="{D0617D14-1B55-43C0-819D-0D244AC23646}" type="slidenum">
              <a:rPr lang="de-AT" smtClean="0"/>
              <a:t>16</a:t>
            </a:fld>
            <a:endParaRPr lang="de-AT"/>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A3FA7FB0-FC59-2DCC-235C-76DC8044D2A9}"/>
                  </a:ext>
                </a:extLst>
              </p:cNvPr>
              <p:cNvSpPr txBox="1"/>
              <p:nvPr/>
            </p:nvSpPr>
            <p:spPr>
              <a:xfrm>
                <a:off x="8164405" y="2565480"/>
                <a:ext cx="3613100" cy="50796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i="1" dirty="0" smtClean="0">
                              <a:solidFill>
                                <a:prstClr val="black"/>
                              </a:solidFill>
                              <a:latin typeface="Cambria Math" panose="02040503050406030204" pitchFamily="18" charset="0"/>
                            </a:rPr>
                          </m:ctrlPr>
                        </m:sSubSupPr>
                        <m:e>
                          <m:r>
                            <a:rPr lang="en-US" i="1" dirty="0">
                              <a:solidFill>
                                <a:prstClr val="black"/>
                              </a:solidFill>
                              <a:latin typeface="Cambria Math" panose="02040503050406030204" pitchFamily="18" charset="0"/>
                            </a:rPr>
                            <m:t>𝑃</m:t>
                          </m:r>
                        </m:e>
                        <m:sub>
                          <m:d>
                            <m:dPr>
                              <m:begChr m:val="{"/>
                              <m:endChr m:val="}"/>
                              <m:ctrlPr>
                                <a:rPr lang="en-US" i="1" dirty="0">
                                  <a:solidFill>
                                    <a:prstClr val="black"/>
                                  </a:solidFill>
                                  <a:latin typeface="Cambria Math" panose="02040503050406030204" pitchFamily="18" charset="0"/>
                                </a:rPr>
                              </m:ctrlPr>
                            </m:dPr>
                            <m:e>
                              <m:r>
                                <a:rPr lang="en-US" b="0" i="1" dirty="0" smtClean="0">
                                  <a:solidFill>
                                    <a:prstClr val="black"/>
                                  </a:solidFill>
                                  <a:latin typeface="Cambria Math" panose="02040503050406030204" pitchFamily="18" charset="0"/>
                                </a:rPr>
                                <m:t>𝜏</m:t>
                              </m:r>
                              <m:r>
                                <a:rPr lang="ar-AE" i="1" dirty="0">
                                  <a:solidFill>
                                    <a:prstClr val="black"/>
                                  </a:solidFill>
                                  <a:latin typeface="Cambria Math" panose="02040503050406030204" pitchFamily="18" charset="0"/>
                                </a:rPr>
                                <m:t>, </m:t>
                              </m:r>
                              <m:sSub>
                                <m:sSubPr>
                                  <m:ctrlPr>
                                    <a:rPr lang="ar-AE" i="1" dirty="0">
                                      <a:solidFill>
                                        <a:prstClr val="black"/>
                                      </a:solidFill>
                                      <a:latin typeface="Cambria Math" panose="02040503050406030204" pitchFamily="18" charset="0"/>
                                    </a:rPr>
                                  </m:ctrlPr>
                                </m:sSubPr>
                                <m:e>
                                  <m:r>
                                    <a:rPr lang="ar-AE" i="1" dirty="0">
                                      <a:solidFill>
                                        <a:prstClr val="black"/>
                                      </a:solidFill>
                                      <a:latin typeface="Cambria Math" panose="02040503050406030204" pitchFamily="18" charset="0"/>
                                    </a:rPr>
                                    <m:t>𝜏</m:t>
                                  </m:r>
                                </m:e>
                                <m:sub>
                                  <m:r>
                                    <a:rPr lang="ar-AE" i="1" dirty="0">
                                      <a:solidFill>
                                        <a:prstClr val="black"/>
                                      </a:solidFill>
                                      <a:latin typeface="Cambria Math" panose="02040503050406030204" pitchFamily="18" charset="0"/>
                                    </a:rPr>
                                    <m:t>0</m:t>
                                  </m:r>
                                </m:sub>
                              </m:sSub>
                            </m:e>
                          </m:d>
                        </m:sub>
                        <m:sup>
                          <m:d>
                            <m:dPr>
                              <m:ctrlPr>
                                <a:rPr lang="en-US" i="1" dirty="0">
                                  <a:solidFill>
                                    <a:prstClr val="black"/>
                                  </a:solidFill>
                                  <a:latin typeface="Cambria Math" panose="02040503050406030204" pitchFamily="18" charset="0"/>
                                </a:rPr>
                              </m:ctrlPr>
                            </m:dPr>
                            <m:e>
                              <m:r>
                                <a:rPr lang="en-US" i="1" dirty="0">
                                  <a:solidFill>
                                    <a:prstClr val="black"/>
                                  </a:solidFill>
                                  <a:latin typeface="Cambria Math" panose="02040503050406030204" pitchFamily="18" charset="0"/>
                                </a:rPr>
                                <m:t>𝑛</m:t>
                              </m:r>
                            </m:e>
                          </m:d>
                        </m:sup>
                      </m:sSubSup>
                      <m:r>
                        <a:rPr kumimoji="0" lang="ar-AE" sz="1800" b="0" i="1" u="none" strike="noStrike" kern="1200" cap="none" spc="0" normalizeH="0" baseline="0" noProof="0" dirty="0">
                          <a:ln>
                            <a:noFill/>
                          </a:ln>
                          <a:solidFill>
                            <a:prstClr val="black"/>
                          </a:solidFill>
                          <a:effectLst/>
                          <a:uLnTx/>
                          <a:uFillTx/>
                          <a:latin typeface="Cambria Math" panose="02040503050406030204" pitchFamily="18" charset="0"/>
                        </a:rPr>
                        <m:t>(</m:t>
                      </m:r>
                      <m:sSub>
                        <m:sSubPr>
                          <m:ctrlP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rPr>
                          </m:ctrlPr>
                        </m:sSubPr>
                        <m:e>
                          <m: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rPr>
                            <m:t>𝐴</m:t>
                          </m:r>
                        </m:e>
                        <m:sub>
                          <m: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rPr>
                            <m:t>𝑗</m:t>
                          </m:r>
                        </m:sub>
                      </m:sSub>
                      <m: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rPr>
                        <m:t>|</m:t>
                      </m:r>
                      <m:sSub>
                        <m:sSubPr>
                          <m:ctrlP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rPr>
                          </m:ctrlPr>
                        </m:sSubPr>
                        <m:e>
                          <m: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rPr>
                            <m:t>𝑆</m:t>
                          </m:r>
                        </m:e>
                        <m:sub>
                          <m: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rPr>
                            <m:t>𝑖</m:t>
                          </m:r>
                        </m:sub>
                      </m:sSub>
                      <m:r>
                        <a:rPr kumimoji="0" lang="ar-AE" sz="1800" b="0" i="1" u="none" strike="noStrike" kern="1200" cap="none" spc="0" normalizeH="0" baseline="0" noProof="0" dirty="0">
                          <a:ln>
                            <a:noFill/>
                          </a:ln>
                          <a:solidFill>
                            <a:prstClr val="black"/>
                          </a:solidFill>
                          <a:effectLst/>
                          <a:uLnTx/>
                          <a:uFillTx/>
                          <a:latin typeface="Cambria Math" panose="02040503050406030204" pitchFamily="18" charset="0"/>
                        </a:rPr>
                        <m:t>) = </m:t>
                      </m:r>
                      <m:sSup>
                        <m:sSupPr>
                          <m:ctrlPr>
                            <a:rPr kumimoji="0" lang="ar-AE" sz="1800" b="0" i="1" u="none" strike="noStrike" kern="1200" cap="none" spc="0" normalizeH="0" baseline="0" noProof="0" dirty="0">
                              <a:ln>
                                <a:noFill/>
                              </a:ln>
                              <a:solidFill>
                                <a:prstClr val="black"/>
                              </a:solidFill>
                              <a:effectLst/>
                              <a:uLnTx/>
                              <a:uFillTx/>
                              <a:latin typeface="Cambria Math" panose="02040503050406030204" pitchFamily="18" charset="0"/>
                            </a:rPr>
                          </m:ctrlPr>
                        </m:sSupPr>
                        <m:e>
                          <m:d>
                            <m:dPr>
                              <m:begChr m:val="|"/>
                              <m:endChr m:val="|"/>
                              <m:ctrlPr>
                                <a:rPr kumimoji="0" lang="ar-AE" sz="1800" b="0" i="1" u="none" strike="noStrike" kern="1200" cap="none" spc="0" normalizeH="0" baseline="0" noProof="0" dirty="0">
                                  <a:ln>
                                    <a:noFill/>
                                  </a:ln>
                                  <a:solidFill>
                                    <a:prstClr val="black"/>
                                  </a:solidFill>
                                  <a:effectLst/>
                                  <a:uLnTx/>
                                  <a:uFillTx/>
                                  <a:latin typeface="Cambria Math" panose="02040503050406030204" pitchFamily="18" charset="0"/>
                                </a:rPr>
                              </m:ctrlPr>
                            </m:dPr>
                            <m:e>
                              <m:d>
                                <m:dPr>
                                  <m:begChr m:val="⟨"/>
                                  <m:endChr m:val="⟩"/>
                                  <m:ctrlPr>
                                    <a:rPr kumimoji="0" lang="ar-AE" sz="1800" b="0" i="1" u="none" strike="noStrike" kern="1200" cap="none" spc="0" normalizeH="0" baseline="0" noProof="0" dirty="0" smtClean="0">
                                      <a:ln>
                                        <a:noFill/>
                                      </a:ln>
                                      <a:solidFill>
                                        <a:prstClr val="black"/>
                                      </a:solidFill>
                                      <a:effectLst/>
                                      <a:uLnTx/>
                                      <a:uFillTx/>
                                      <a:latin typeface="Cambria Math" panose="02040503050406030204" pitchFamily="18" charset="0"/>
                                    </a:rPr>
                                  </m:ctrlPr>
                                </m:dPr>
                                <m:e>
                                  <m:r>
                                    <a:rPr kumimoji="0" lang="ar-AE" sz="1800" b="0" i="1" u="none" strike="noStrike" kern="1200" cap="none" spc="0" normalizeH="0" baseline="0" noProof="0" dirty="0">
                                      <a:ln>
                                        <a:noFill/>
                                      </a:ln>
                                      <a:solidFill>
                                        <a:prstClr val="black"/>
                                      </a:solidFill>
                                      <a:effectLst/>
                                      <a:uLnTx/>
                                      <a:uFillTx/>
                                      <a:latin typeface="Cambria Math" panose="02040503050406030204" pitchFamily="18" charset="0"/>
                                    </a:rPr>
                                    <m:t> </m:t>
                                  </m:r>
                                  <m:sSub>
                                    <m:sSubPr>
                                      <m:ctrlP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rPr>
                                      </m:ctrlPr>
                                    </m:sSubPr>
                                    <m:e>
                                      <m: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rPr>
                                        <m:t>𝐴</m:t>
                                      </m:r>
                                    </m:e>
                                    <m:sub>
                                      <m: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rPr>
                                        <m:t>𝑗</m:t>
                                      </m:r>
                                    </m:sub>
                                  </m:sSub>
                                  <m:d>
                                    <m:dPr>
                                      <m:ctrlPr>
                                        <a:rPr kumimoji="0" lang="ar-AE" sz="1800" b="0" i="1" u="none" strike="noStrike" kern="1200" cap="none" spc="0" normalizeH="0" baseline="0" noProof="0" dirty="0">
                                          <a:ln>
                                            <a:noFill/>
                                          </a:ln>
                                          <a:solidFill>
                                            <a:prstClr val="black"/>
                                          </a:solidFill>
                                          <a:effectLst/>
                                          <a:uLnTx/>
                                          <a:uFillTx/>
                                          <a:latin typeface="Cambria Math" panose="02040503050406030204" pitchFamily="18" charset="0"/>
                                        </a:rPr>
                                      </m:ctrlPr>
                                    </m:dPr>
                                    <m:e>
                                      <m: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rPr>
                                        <m:t>𝜏</m:t>
                                      </m:r>
                                    </m:e>
                                  </m:d>
                                </m:e>
                                <m:e>
                                  <m:sSub>
                                    <m:sSubPr>
                                      <m:ctrlP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rPr>
                                      </m:ctrlPr>
                                    </m:sSubPr>
                                    <m:e>
                                      <m: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rPr>
                                        <m:t>𝑆</m:t>
                                      </m:r>
                                    </m:e>
                                    <m:sub>
                                      <m:r>
                                        <a:rPr kumimoji="0" lang="en-US" sz="1800" b="0" i="1" u="none" strike="noStrike" kern="1200" cap="none" spc="0" normalizeH="0" baseline="0" noProof="0" dirty="0" smtClean="0">
                                          <a:ln>
                                            <a:noFill/>
                                          </a:ln>
                                          <a:solidFill>
                                            <a:prstClr val="black"/>
                                          </a:solidFill>
                                          <a:effectLst/>
                                          <a:uLnTx/>
                                          <a:uFillTx/>
                                          <a:latin typeface="Cambria Math" panose="02040503050406030204" pitchFamily="18" charset="0"/>
                                        </a:rPr>
                                        <m:t>𝑖</m:t>
                                      </m:r>
                                    </m:sub>
                                  </m:sSub>
                                  <m:d>
                                    <m:dPr>
                                      <m:ctrlPr>
                                        <a:rPr kumimoji="0" lang="ar-AE" sz="1800" b="0" i="1" u="none" strike="noStrike" kern="1200" cap="none" spc="0" normalizeH="0" baseline="0" noProof="0" dirty="0">
                                          <a:ln>
                                            <a:noFill/>
                                          </a:ln>
                                          <a:solidFill>
                                            <a:prstClr val="black"/>
                                          </a:solidFill>
                                          <a:effectLst/>
                                          <a:uLnTx/>
                                          <a:uFillTx/>
                                          <a:latin typeface="Cambria Math" panose="02040503050406030204" pitchFamily="18" charset="0"/>
                                        </a:rPr>
                                      </m:ctrlPr>
                                    </m:dPr>
                                    <m:e>
                                      <m:sSub>
                                        <m:sSubPr>
                                          <m:ctrlPr>
                                            <a:rPr kumimoji="0" lang="ar-AE" sz="1800" b="0" i="1" u="none" strike="noStrike" kern="1200" cap="none" spc="0" normalizeH="0" baseline="0" noProof="0" dirty="0">
                                              <a:ln>
                                                <a:noFill/>
                                              </a:ln>
                                              <a:solidFill>
                                                <a:prstClr val="black"/>
                                              </a:solidFill>
                                              <a:effectLst/>
                                              <a:uLnTx/>
                                              <a:uFillTx/>
                                              <a:latin typeface="Cambria Math" panose="02040503050406030204" pitchFamily="18" charset="0"/>
                                            </a:rPr>
                                          </m:ctrlPr>
                                        </m:sSubPr>
                                        <m:e>
                                          <m:r>
                                            <a:rPr kumimoji="0" lang="ar-AE" sz="1800" b="0" i="1" u="none" strike="noStrike" kern="1200" cap="none" spc="0" normalizeH="0" baseline="0" noProof="0" dirty="0" smtClean="0">
                                              <a:ln>
                                                <a:noFill/>
                                              </a:ln>
                                              <a:solidFill>
                                                <a:prstClr val="black"/>
                                              </a:solidFill>
                                              <a:effectLst/>
                                              <a:uLnTx/>
                                              <a:uFillTx/>
                                              <a:latin typeface="Cambria Math" panose="02040503050406030204" pitchFamily="18" charset="0"/>
                                            </a:rPr>
                                            <m:t>𝜏</m:t>
                                          </m:r>
                                        </m:e>
                                        <m:sub>
                                          <m:r>
                                            <a:rPr kumimoji="0" lang="ar-AE" sz="1800" b="0" i="1" u="none" strike="noStrike" kern="1200" cap="none" spc="0" normalizeH="0" baseline="0" noProof="0" dirty="0">
                                              <a:ln>
                                                <a:noFill/>
                                              </a:ln>
                                              <a:solidFill>
                                                <a:prstClr val="black"/>
                                              </a:solidFill>
                                              <a:effectLst/>
                                              <a:uLnTx/>
                                              <a:uFillTx/>
                                              <a:latin typeface="Cambria Math" panose="02040503050406030204" pitchFamily="18" charset="0"/>
                                            </a:rPr>
                                            <m:t>0</m:t>
                                          </m:r>
                                        </m:sub>
                                      </m:sSub>
                                    </m:e>
                                  </m:d>
                                </m:e>
                              </m:d>
                            </m:e>
                          </m:d>
                        </m:e>
                        <m:sup>
                          <m:r>
                            <a:rPr kumimoji="0" lang="ar-AE" sz="1800" b="0" i="1" u="none" strike="noStrike" kern="1200" cap="none" spc="0" normalizeH="0" baseline="0" noProof="0" dirty="0" smtClean="0">
                              <a:ln>
                                <a:noFill/>
                              </a:ln>
                              <a:solidFill>
                                <a:prstClr val="black"/>
                              </a:solidFill>
                              <a:effectLst/>
                              <a:uLnTx/>
                              <a:uFillTx/>
                              <a:latin typeface="Cambria Math" panose="02040503050406030204" pitchFamily="18" charset="0"/>
                            </a:rPr>
                            <m:t>2</m:t>
                          </m:r>
                        </m:sup>
                      </m:sSup>
                    </m:oMath>
                  </m:oMathPara>
                </a14:m>
                <a:endParaRPr lang="en-CA" dirty="0"/>
              </a:p>
            </p:txBody>
          </p:sp>
        </mc:Choice>
        <mc:Fallback xmlns="">
          <p:sp>
            <p:nvSpPr>
              <p:cNvPr id="33" name="TextBox 32">
                <a:extLst>
                  <a:ext uri="{FF2B5EF4-FFF2-40B4-BE49-F238E27FC236}">
                    <a16:creationId xmlns:a16="http://schemas.microsoft.com/office/drawing/2014/main" id="{A3FA7FB0-FC59-2DCC-235C-76DC8044D2A9}"/>
                  </a:ext>
                </a:extLst>
              </p:cNvPr>
              <p:cNvSpPr txBox="1">
                <a:spLocks noRot="1" noChangeAspect="1" noMove="1" noResize="1" noEditPoints="1" noAdjustHandles="1" noChangeArrowheads="1" noChangeShapeType="1" noTextEdit="1"/>
              </p:cNvSpPr>
              <p:nvPr/>
            </p:nvSpPr>
            <p:spPr>
              <a:xfrm>
                <a:off x="8164405" y="2565480"/>
                <a:ext cx="3613100" cy="507960"/>
              </a:xfrm>
              <a:prstGeom prst="rect">
                <a:avLst/>
              </a:prstGeom>
              <a:blipFill>
                <a:blip r:embed="rId3"/>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2BBDC9BE-359E-E347-43CF-D3970EC32286}"/>
                  </a:ext>
                </a:extLst>
              </p:cNvPr>
              <p:cNvSpPr txBox="1"/>
              <p:nvPr/>
            </p:nvSpPr>
            <p:spPr>
              <a:xfrm>
                <a:off x="649689" y="2260213"/>
                <a:ext cx="3377908" cy="45429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i="1" dirty="0" smtClean="0">
                              <a:latin typeface="Cambria Math" panose="02040503050406030204" pitchFamily="18" charset="0"/>
                            </a:rPr>
                          </m:ctrlPr>
                        </m:sSubSupPr>
                        <m:e>
                          <m:acc>
                            <m:accPr>
                              <m:chr m:val="̂"/>
                              <m:ctrlPr>
                                <a:rPr lang="en-US" i="1" dirty="0">
                                  <a:latin typeface="Cambria Math" panose="02040503050406030204" pitchFamily="18" charset="0"/>
                                </a:rPr>
                              </m:ctrlPr>
                            </m:accPr>
                            <m:e>
                              <m:r>
                                <m:rPr>
                                  <m:sty m:val="p"/>
                                </m:rPr>
                                <a:rPr lang="el-GR" i="1" dirty="0">
                                  <a:latin typeface="Cambria Math" panose="02040503050406030204" pitchFamily="18" charset="0"/>
                                  <a:ea typeface="Cambria Math" panose="02040503050406030204" pitchFamily="18" charset="0"/>
                                </a:rPr>
                                <m:t>Ω</m:t>
                              </m:r>
                            </m:e>
                          </m:acc>
                        </m:e>
                        <m:sub>
                          <m:sSub>
                            <m:sSubPr>
                              <m:ctrlPr>
                                <a:rPr lang="en-US" i="1" dirty="0">
                                  <a:latin typeface="Cambria Math" panose="02040503050406030204" pitchFamily="18" charset="0"/>
                                </a:rPr>
                              </m:ctrlPr>
                            </m:sSubPr>
                            <m:e>
                              <m:r>
                                <a:rPr lang="en-US" b="0" i="1" dirty="0" smtClean="0">
                                  <a:latin typeface="Cambria Math" panose="02040503050406030204" pitchFamily="18" charset="0"/>
                                </a:rPr>
                                <m:t>𝑆</m:t>
                              </m:r>
                            </m:e>
                            <m:sub>
                              <m:r>
                                <a:rPr lang="en-US" i="1" dirty="0">
                                  <a:latin typeface="Cambria Math" panose="02040503050406030204" pitchFamily="18" charset="0"/>
                                </a:rPr>
                                <m:t>𝑖</m:t>
                              </m:r>
                            </m:sub>
                          </m:sSub>
                        </m:sub>
                        <m:sup>
                          <m:r>
                            <a:rPr lang="en-US" i="1" dirty="0">
                              <a:latin typeface="Cambria Math" panose="02040503050406030204" pitchFamily="18" charset="0"/>
                              <a:ea typeface="Cambria Math" panose="02040503050406030204" pitchFamily="18" charset="0"/>
                            </a:rPr>
                            <m:t>†</m:t>
                          </m:r>
                        </m:sup>
                      </m:sSubSup>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0</m:t>
                          </m:r>
                        </m:e>
                        <m:sub>
                          <m:r>
                            <a:rPr lang="en-US" i="1" dirty="0">
                              <a:latin typeface="Cambria Math" panose="02040503050406030204" pitchFamily="18" charset="0"/>
                            </a:rPr>
                            <m:t>𝑆</m:t>
                          </m:r>
                        </m:sub>
                      </m:sSub>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a:latin typeface="Cambria Math" panose="02040503050406030204" pitchFamily="18" charset="0"/>
                            </a:rPr>
                            <m:t>0</m:t>
                          </m:r>
                        </m:e>
                        <m:sub>
                          <m:r>
                            <a:rPr lang="en-US" i="1" dirty="0">
                              <a:latin typeface="Cambria Math" panose="02040503050406030204" pitchFamily="18" charset="0"/>
                            </a:rPr>
                            <m:t>𝐶</m:t>
                          </m:r>
                        </m:sub>
                      </m:sSub>
                      <m:r>
                        <a:rPr lang="en-US" i="1" dirty="0">
                          <a:latin typeface="Cambria Math" panose="02040503050406030204" pitchFamily="18" charset="0"/>
                        </a:rPr>
                        <m:t>, </m:t>
                      </m:r>
                      <m:sSub>
                        <m:sSubPr>
                          <m:ctrlPr>
                            <a:rPr lang="en-US" i="1" dirty="0">
                              <a:latin typeface="Cambria Math" panose="02040503050406030204" pitchFamily="18" charset="0"/>
                            </a:rPr>
                          </m:ctrlPr>
                        </m:sSubPr>
                        <m:e>
                          <m:r>
                            <a:rPr lang="en-US" i="1" dirty="0">
                              <a:latin typeface="Cambria Math" panose="02040503050406030204" pitchFamily="18" charset="0"/>
                            </a:rPr>
                            <m:t>0</m:t>
                          </m:r>
                        </m:e>
                        <m:sub>
                          <m:r>
                            <a:rPr lang="en-US" i="1" dirty="0">
                              <a:latin typeface="Cambria Math" panose="02040503050406030204" pitchFamily="18" charset="0"/>
                            </a:rPr>
                            <m:t>𝐴</m:t>
                          </m:r>
                        </m:sub>
                      </m:sSub>
                      <m:r>
                        <a:rPr lang="en-US" i="1" dirty="0">
                          <a:latin typeface="Cambria Math" panose="02040503050406030204" pitchFamily="18" charset="0"/>
                        </a:rPr>
                        <m:t>⟩</m:t>
                      </m:r>
                      <m:r>
                        <a:rPr lang="en-CA" sz="1800" i="1" dirty="0">
                          <a:latin typeface="Cambria Math" panose="02040503050406030204" pitchFamily="18" charset="0"/>
                        </a:rPr>
                        <m:t>=|</m:t>
                      </m:r>
                      <m:sSub>
                        <m:sSubPr>
                          <m:ctrlPr>
                            <a:rPr lang="en-US" sz="1800" b="0" i="1" dirty="0" smtClean="0">
                              <a:latin typeface="Cambria Math" panose="02040503050406030204" pitchFamily="18" charset="0"/>
                            </a:rPr>
                          </m:ctrlPr>
                        </m:sSubPr>
                        <m:e>
                          <m:r>
                            <a:rPr lang="en-US" sz="1800" b="0" i="1" dirty="0" smtClean="0">
                              <a:latin typeface="Cambria Math" panose="02040503050406030204" pitchFamily="18" charset="0"/>
                            </a:rPr>
                            <m:t>𝑆</m:t>
                          </m:r>
                        </m:e>
                        <m:sub>
                          <m:r>
                            <a:rPr lang="en-US" sz="1800" b="0" i="1" dirty="0" smtClean="0">
                              <a:latin typeface="Cambria Math" panose="02040503050406030204" pitchFamily="18" charset="0"/>
                            </a:rPr>
                            <m:t>𝑖</m:t>
                          </m:r>
                        </m:sub>
                      </m:sSub>
                      <m:r>
                        <a:rPr lang="en-US" sz="1800" b="0" i="1" dirty="0" smtClean="0">
                          <a:latin typeface="Cambria Math" panose="02040503050406030204" pitchFamily="18" charset="0"/>
                        </a:rPr>
                        <m:t>, </m:t>
                      </m:r>
                      <m:sSub>
                        <m:sSubPr>
                          <m:ctrlPr>
                            <a:rPr lang="en-US" sz="1800" b="0" i="1" dirty="0" smtClean="0">
                              <a:latin typeface="Cambria Math" panose="02040503050406030204" pitchFamily="18" charset="0"/>
                            </a:rPr>
                          </m:ctrlPr>
                        </m:sSubPr>
                        <m:e>
                          <m:r>
                            <a:rPr lang="en-US" sz="1800" b="0" i="1" dirty="0" smtClean="0">
                              <a:latin typeface="Cambria Math" panose="02040503050406030204" pitchFamily="18" charset="0"/>
                            </a:rPr>
                            <m:t>0</m:t>
                          </m:r>
                        </m:e>
                        <m:sub>
                          <m:r>
                            <a:rPr lang="en-US" sz="1800" b="0" i="1" dirty="0" smtClean="0">
                              <a:latin typeface="Cambria Math" panose="02040503050406030204" pitchFamily="18" charset="0"/>
                            </a:rPr>
                            <m:t>𝑆</m:t>
                          </m:r>
                          <m:r>
                            <a:rPr lang="en-US" sz="1800" b="0" i="1" dirty="0" smtClean="0">
                              <a:latin typeface="Cambria Math" panose="02040503050406030204" pitchFamily="18" charset="0"/>
                            </a:rPr>
                            <m:t>\</m:t>
                          </m:r>
                          <m:sSub>
                            <m:sSubPr>
                              <m:ctrlPr>
                                <a:rPr lang="en-US" sz="1800" b="0" i="1" dirty="0" smtClean="0">
                                  <a:latin typeface="Cambria Math" panose="02040503050406030204" pitchFamily="18" charset="0"/>
                                </a:rPr>
                              </m:ctrlPr>
                            </m:sSubPr>
                            <m:e>
                              <m:r>
                                <m:rPr>
                                  <m:sty m:val="p"/>
                                </m:rPr>
                                <a:rPr lang="en-US" sz="1800" b="0" i="1" dirty="0" smtClean="0">
                                  <a:latin typeface="Cambria Math" panose="02040503050406030204" pitchFamily="18" charset="0"/>
                                </a:rPr>
                                <m:t>S</m:t>
                              </m:r>
                            </m:e>
                            <m:sub>
                              <m:r>
                                <a:rPr lang="en-US" sz="1800" b="0" i="1" dirty="0" smtClean="0">
                                  <a:latin typeface="Cambria Math" panose="02040503050406030204" pitchFamily="18" charset="0"/>
                                </a:rPr>
                                <m:t>𝑖</m:t>
                              </m:r>
                            </m:sub>
                          </m:sSub>
                        </m:sub>
                      </m:sSub>
                      <m:r>
                        <a:rPr lang="en-US" sz="1800" b="0" i="1" dirty="0" smtClean="0">
                          <a:latin typeface="Cambria Math" panose="02040503050406030204" pitchFamily="18" charset="0"/>
                        </a:rPr>
                        <m:t>, </m:t>
                      </m:r>
                      <m:sSub>
                        <m:sSubPr>
                          <m:ctrlPr>
                            <a:rPr lang="en-US" sz="1800" b="0" i="1" dirty="0" smtClean="0">
                              <a:latin typeface="Cambria Math" panose="02040503050406030204" pitchFamily="18" charset="0"/>
                            </a:rPr>
                          </m:ctrlPr>
                        </m:sSubPr>
                        <m:e>
                          <m:r>
                            <a:rPr lang="en-US" sz="1800" b="0" i="1" dirty="0" smtClean="0">
                              <a:latin typeface="Cambria Math" panose="02040503050406030204" pitchFamily="18" charset="0"/>
                            </a:rPr>
                            <m:t>0</m:t>
                          </m:r>
                        </m:e>
                        <m:sub>
                          <m:r>
                            <a:rPr lang="en-US" sz="1800" b="0" i="1" dirty="0" smtClean="0">
                              <a:latin typeface="Cambria Math" panose="02040503050406030204" pitchFamily="18" charset="0"/>
                            </a:rPr>
                            <m:t>𝐶</m:t>
                          </m:r>
                        </m:sub>
                      </m:sSub>
                      <m:r>
                        <a:rPr lang="en-US" sz="1800" b="0" i="1" dirty="0" smtClean="0">
                          <a:latin typeface="Cambria Math" panose="02040503050406030204" pitchFamily="18" charset="0"/>
                        </a:rPr>
                        <m:t>, </m:t>
                      </m:r>
                      <m:sSub>
                        <m:sSubPr>
                          <m:ctrlPr>
                            <a:rPr lang="en-US" sz="1800" b="0" i="1" dirty="0" smtClean="0">
                              <a:latin typeface="Cambria Math" panose="02040503050406030204" pitchFamily="18" charset="0"/>
                            </a:rPr>
                          </m:ctrlPr>
                        </m:sSubPr>
                        <m:e>
                          <m:r>
                            <a:rPr lang="en-US" sz="1800" b="0" i="1" dirty="0" smtClean="0">
                              <a:latin typeface="Cambria Math" panose="02040503050406030204" pitchFamily="18" charset="0"/>
                            </a:rPr>
                            <m:t>0</m:t>
                          </m:r>
                        </m:e>
                        <m:sub>
                          <m:r>
                            <a:rPr lang="en-US" sz="1800" b="0" i="1" dirty="0" smtClean="0">
                              <a:latin typeface="Cambria Math" panose="02040503050406030204" pitchFamily="18" charset="0"/>
                            </a:rPr>
                            <m:t>𝐴</m:t>
                          </m:r>
                        </m:sub>
                      </m:sSub>
                      <m:r>
                        <a:rPr lang="en-CA" sz="1800" i="1" dirty="0">
                          <a:latin typeface="Cambria Math" panose="02040503050406030204" pitchFamily="18" charset="0"/>
                        </a:rPr>
                        <m:t>⟩</m:t>
                      </m:r>
                    </m:oMath>
                  </m:oMathPara>
                </a14:m>
                <a:endParaRPr lang="en-CA" sz="1800" dirty="0"/>
              </a:p>
            </p:txBody>
          </p:sp>
        </mc:Choice>
        <mc:Fallback xmlns="">
          <p:sp>
            <p:nvSpPr>
              <p:cNvPr id="35" name="TextBox 34">
                <a:extLst>
                  <a:ext uri="{FF2B5EF4-FFF2-40B4-BE49-F238E27FC236}">
                    <a16:creationId xmlns:a16="http://schemas.microsoft.com/office/drawing/2014/main" id="{2BBDC9BE-359E-E347-43CF-D3970EC32286}"/>
                  </a:ext>
                </a:extLst>
              </p:cNvPr>
              <p:cNvSpPr txBox="1">
                <a:spLocks noRot="1" noChangeAspect="1" noMove="1" noResize="1" noEditPoints="1" noAdjustHandles="1" noChangeArrowheads="1" noChangeShapeType="1" noTextEdit="1"/>
              </p:cNvSpPr>
              <p:nvPr/>
            </p:nvSpPr>
            <p:spPr>
              <a:xfrm>
                <a:off x="649689" y="2260213"/>
                <a:ext cx="3377908" cy="454292"/>
              </a:xfrm>
              <a:prstGeom prst="rect">
                <a:avLst/>
              </a:prstGeom>
              <a:blipFill>
                <a:blip r:embed="rId4"/>
                <a:stretch>
                  <a:fillRect b="-2778"/>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8C5DA73A-51A9-44C3-065C-3D35F7AA98F4}"/>
                  </a:ext>
                </a:extLst>
              </p:cNvPr>
              <p:cNvSpPr txBox="1"/>
              <p:nvPr/>
            </p:nvSpPr>
            <p:spPr>
              <a:xfrm>
                <a:off x="251518" y="1605092"/>
                <a:ext cx="4065839" cy="646331"/>
              </a:xfrm>
              <a:prstGeom prst="rect">
                <a:avLst/>
              </a:prstGeom>
              <a:noFill/>
            </p:spPr>
            <p:txBody>
              <a:bodyPr wrap="square" rtlCol="0">
                <a:spAutoFit/>
              </a:bodyPr>
              <a:lstStyle/>
              <a:p>
                <a:pPr marL="342900" indent="-342900">
                  <a:buFont typeface="+mj-lt"/>
                  <a:buAutoNum type="arabicPeriod"/>
                </a:pPr>
                <a:r>
                  <a:rPr lang="en-CA" dirty="0"/>
                  <a:t>Excite percept source hyperedge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𝑖</m:t>
                        </m:r>
                      </m:sub>
                    </m:sSub>
                  </m:oMath>
                </a14:m>
                <a:r>
                  <a:rPr lang="en-CA" dirty="0"/>
                  <a:t> at time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𝜏</m:t>
                        </m:r>
                      </m:e>
                      <m:sub>
                        <m:r>
                          <a:rPr lang="en-US" b="0" i="1" smtClean="0">
                            <a:latin typeface="Cambria Math" panose="02040503050406030204" pitchFamily="18" charset="0"/>
                          </a:rPr>
                          <m:t>0</m:t>
                        </m:r>
                      </m:sub>
                    </m:sSub>
                  </m:oMath>
                </a14:m>
                <a:endParaRPr lang="en-CA" dirty="0"/>
              </a:p>
            </p:txBody>
          </p:sp>
        </mc:Choice>
        <mc:Fallback xmlns="">
          <p:sp>
            <p:nvSpPr>
              <p:cNvPr id="71" name="TextBox 70">
                <a:extLst>
                  <a:ext uri="{FF2B5EF4-FFF2-40B4-BE49-F238E27FC236}">
                    <a16:creationId xmlns:a16="http://schemas.microsoft.com/office/drawing/2014/main" id="{8C5DA73A-51A9-44C3-065C-3D35F7AA98F4}"/>
                  </a:ext>
                </a:extLst>
              </p:cNvPr>
              <p:cNvSpPr txBox="1">
                <a:spLocks noRot="1" noChangeAspect="1" noMove="1" noResize="1" noEditPoints="1" noAdjustHandles="1" noChangeArrowheads="1" noChangeShapeType="1" noTextEdit="1"/>
              </p:cNvSpPr>
              <p:nvPr/>
            </p:nvSpPr>
            <p:spPr>
              <a:xfrm>
                <a:off x="251518" y="1605092"/>
                <a:ext cx="4065839" cy="646331"/>
              </a:xfrm>
              <a:prstGeom prst="rect">
                <a:avLst/>
              </a:prstGeom>
              <a:blipFill>
                <a:blip r:embed="rId5"/>
                <a:stretch>
                  <a:fillRect l="-1246" t="-3846" r="-1558" b="-15385"/>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1EF1D4CA-0EE3-BE77-F7A6-373E9AB39642}"/>
                  </a:ext>
                </a:extLst>
              </p:cNvPr>
              <p:cNvSpPr txBox="1"/>
              <p:nvPr/>
            </p:nvSpPr>
            <p:spPr>
              <a:xfrm>
                <a:off x="4840784" y="1605092"/>
                <a:ext cx="2472953" cy="930768"/>
              </a:xfrm>
              <a:prstGeom prst="rect">
                <a:avLst/>
              </a:prstGeom>
              <a:noFill/>
            </p:spPr>
            <p:txBody>
              <a:bodyPr wrap="square" rtlCol="0">
                <a:spAutoFit/>
              </a:bodyPr>
              <a:lstStyle/>
              <a:p>
                <a:pPr marL="342900" indent="-342900">
                  <a:buFont typeface="+mj-lt"/>
                  <a:buAutoNum type="arabicPeriod" startAt="2"/>
                </a:pPr>
                <a:r>
                  <a:rPr lang="en-US" dirty="0"/>
                  <a:t>Time evolve state to time </a:t>
                </a:r>
                <a14:m>
                  <m:oMath xmlns:m="http://schemas.openxmlformats.org/officeDocument/2006/math">
                    <m:r>
                      <a:rPr lang="en-US" b="0" i="1" smtClean="0">
                        <a:latin typeface="Cambria Math" panose="02040503050406030204" pitchFamily="18" charset="0"/>
                      </a:rPr>
                      <m:t>𝜏</m:t>
                    </m:r>
                  </m:oMath>
                </a14:m>
                <a:r>
                  <a:rPr lang="en-US" dirty="0"/>
                  <a:t> by applying </a:t>
                </a:r>
                <a14:m>
                  <m:oMath xmlns:m="http://schemas.openxmlformats.org/officeDocument/2006/math">
                    <m:acc>
                      <m:accPr>
                        <m:chr m:val="̂"/>
                        <m:ctrlPr>
                          <a:rPr lang="en-CA" i="1" dirty="0">
                            <a:latin typeface="Cambria Math" panose="02040503050406030204" pitchFamily="18" charset="0"/>
                          </a:rPr>
                        </m:ctrlPr>
                      </m:accPr>
                      <m:e>
                        <m:r>
                          <a:rPr lang="en-US" i="1" dirty="0">
                            <a:latin typeface="Cambria Math" panose="02040503050406030204" pitchFamily="18" charset="0"/>
                          </a:rPr>
                          <m:t>𝑈</m:t>
                        </m:r>
                      </m:e>
                    </m:acc>
                    <m:d>
                      <m:dPr>
                        <m:ctrlPr>
                          <a:rPr lang="en-CA" i="1" dirty="0">
                            <a:latin typeface="Cambria Math" panose="02040503050406030204" pitchFamily="18" charset="0"/>
                          </a:rPr>
                        </m:ctrlPr>
                      </m:dPr>
                      <m:e>
                        <m:r>
                          <a:rPr lang="en-CA" i="1" dirty="0">
                            <a:latin typeface="Cambria Math" panose="02040503050406030204" pitchFamily="18" charset="0"/>
                          </a:rPr>
                          <m:t>𝜏</m:t>
                        </m:r>
                        <m:r>
                          <a:rPr lang="en-CA" i="1" dirty="0">
                            <a:latin typeface="Cambria Math" panose="02040503050406030204" pitchFamily="18" charset="0"/>
                          </a:rPr>
                          <m:t>, </m:t>
                        </m:r>
                        <m:sSub>
                          <m:sSubPr>
                            <m:ctrlPr>
                              <a:rPr lang="en-CA" i="1" dirty="0">
                                <a:latin typeface="Cambria Math" panose="02040503050406030204" pitchFamily="18" charset="0"/>
                              </a:rPr>
                            </m:ctrlPr>
                          </m:sSubPr>
                          <m:e>
                            <m:r>
                              <a:rPr lang="en-CA" i="1" dirty="0">
                                <a:latin typeface="Cambria Math" panose="02040503050406030204" pitchFamily="18" charset="0"/>
                              </a:rPr>
                              <m:t>𝜏</m:t>
                            </m:r>
                          </m:e>
                          <m:sub>
                            <m:r>
                              <a:rPr lang="en-CA" i="1" dirty="0">
                                <a:latin typeface="Cambria Math" panose="02040503050406030204" pitchFamily="18" charset="0"/>
                              </a:rPr>
                              <m:t>0</m:t>
                            </m:r>
                          </m:sub>
                        </m:sSub>
                      </m:e>
                    </m:d>
                  </m:oMath>
                </a14:m>
                <a:endParaRPr lang="en-CA" dirty="0"/>
              </a:p>
            </p:txBody>
          </p:sp>
        </mc:Choice>
        <mc:Fallback xmlns="">
          <p:sp>
            <p:nvSpPr>
              <p:cNvPr id="72" name="TextBox 71">
                <a:extLst>
                  <a:ext uri="{FF2B5EF4-FFF2-40B4-BE49-F238E27FC236}">
                    <a16:creationId xmlns:a16="http://schemas.microsoft.com/office/drawing/2014/main" id="{1EF1D4CA-0EE3-BE77-F7A6-373E9AB39642}"/>
                  </a:ext>
                </a:extLst>
              </p:cNvPr>
              <p:cNvSpPr txBox="1">
                <a:spLocks noRot="1" noChangeAspect="1" noMove="1" noResize="1" noEditPoints="1" noAdjustHandles="1" noChangeArrowheads="1" noChangeShapeType="1" noTextEdit="1"/>
              </p:cNvSpPr>
              <p:nvPr/>
            </p:nvSpPr>
            <p:spPr>
              <a:xfrm>
                <a:off x="4840784" y="1605092"/>
                <a:ext cx="2472953" cy="930768"/>
              </a:xfrm>
              <a:prstGeom prst="rect">
                <a:avLst/>
              </a:prstGeom>
              <a:blipFill>
                <a:blip r:embed="rId6"/>
                <a:stretch>
                  <a:fillRect l="-2051" t="-2703" r="-1026"/>
                </a:stretch>
              </a:blipFill>
            </p:spPr>
            <p:txBody>
              <a:bodyPr/>
              <a:lstStyle/>
              <a:p>
                <a:r>
                  <a:rPr lang="en-CA">
                    <a:noFill/>
                  </a:rPr>
                  <a:t> </a:t>
                </a:r>
              </a:p>
            </p:txBody>
          </p:sp>
        </mc:Fallback>
      </mc:AlternateContent>
      <p:sp>
        <p:nvSpPr>
          <p:cNvPr id="73" name="TextBox 72">
            <a:extLst>
              <a:ext uri="{FF2B5EF4-FFF2-40B4-BE49-F238E27FC236}">
                <a16:creationId xmlns:a16="http://schemas.microsoft.com/office/drawing/2014/main" id="{5CA51E0D-6972-8148-72A0-E3EE821B33C5}"/>
              </a:ext>
            </a:extLst>
          </p:cNvPr>
          <p:cNvSpPr txBox="1"/>
          <p:nvPr/>
        </p:nvSpPr>
        <p:spPr>
          <a:xfrm>
            <a:off x="7966218" y="1599290"/>
            <a:ext cx="3388547" cy="923330"/>
          </a:xfrm>
          <a:prstGeom prst="rect">
            <a:avLst/>
          </a:prstGeom>
          <a:noFill/>
        </p:spPr>
        <p:txBody>
          <a:bodyPr wrap="square" rtlCol="0">
            <a:spAutoFit/>
          </a:bodyPr>
          <a:lstStyle/>
          <a:p>
            <a:pPr marL="342900" indent="-342900">
              <a:buFont typeface="+mj-lt"/>
              <a:buAutoNum type="arabicPeriod" startAt="3"/>
            </a:pPr>
            <a:r>
              <a:rPr lang="en-US" dirty="0"/>
              <a:t>Repeatedly measure excitation numbers of action modes </a:t>
            </a:r>
            <a:r>
              <a:rPr lang="en-CA" dirty="0"/>
              <a:t>until some condition is met </a:t>
            </a:r>
          </a:p>
        </p:txBody>
      </p:sp>
      <p:grpSp>
        <p:nvGrpSpPr>
          <p:cNvPr id="92" name="Group 91">
            <a:extLst>
              <a:ext uri="{FF2B5EF4-FFF2-40B4-BE49-F238E27FC236}">
                <a16:creationId xmlns:a16="http://schemas.microsoft.com/office/drawing/2014/main" id="{133608B0-E3B3-51C4-6D0C-4BA3BE157D3A}"/>
              </a:ext>
            </a:extLst>
          </p:cNvPr>
          <p:cNvGrpSpPr/>
          <p:nvPr/>
        </p:nvGrpSpPr>
        <p:grpSpPr>
          <a:xfrm>
            <a:off x="384498" y="2955208"/>
            <a:ext cx="3090191" cy="2913796"/>
            <a:chOff x="4571924" y="1287799"/>
            <a:chExt cx="3090191" cy="2913796"/>
          </a:xfrm>
        </p:grpSpPr>
        <p:cxnSp>
          <p:nvCxnSpPr>
            <p:cNvPr id="9" name="Straight Connector 8">
              <a:extLst>
                <a:ext uri="{FF2B5EF4-FFF2-40B4-BE49-F238E27FC236}">
                  <a16:creationId xmlns:a16="http://schemas.microsoft.com/office/drawing/2014/main" id="{F98CEFB9-5F15-836B-C928-AA34C034D74D}"/>
                </a:ext>
              </a:extLst>
            </p:cNvPr>
            <p:cNvCxnSpPr>
              <a:cxnSpLocks/>
            </p:cNvCxnSpPr>
            <p:nvPr/>
          </p:nvCxnSpPr>
          <p:spPr>
            <a:xfrm>
              <a:off x="5020071" y="1512228"/>
              <a:ext cx="22855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75B5723-7DBC-756B-99F2-467817C3EF8A}"/>
                </a:ext>
              </a:extLst>
            </p:cNvPr>
            <p:cNvCxnSpPr>
              <a:cxnSpLocks/>
            </p:cNvCxnSpPr>
            <p:nvPr/>
          </p:nvCxnSpPr>
          <p:spPr>
            <a:xfrm>
              <a:off x="5020071" y="2152308"/>
              <a:ext cx="22855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23B766A-57F3-46BC-F536-F866EFA91D26}"/>
                </a:ext>
              </a:extLst>
            </p:cNvPr>
            <p:cNvCxnSpPr>
              <a:cxnSpLocks/>
            </p:cNvCxnSpPr>
            <p:nvPr/>
          </p:nvCxnSpPr>
          <p:spPr>
            <a:xfrm>
              <a:off x="5020071" y="2426628"/>
              <a:ext cx="22855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3040FEDC-1E46-07B8-A25B-DD21B5A9F6B9}"/>
                </a:ext>
              </a:extLst>
            </p:cNvPr>
            <p:cNvCxnSpPr>
              <a:cxnSpLocks/>
            </p:cNvCxnSpPr>
            <p:nvPr/>
          </p:nvCxnSpPr>
          <p:spPr>
            <a:xfrm>
              <a:off x="5020071" y="3066708"/>
              <a:ext cx="22855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5BC7F74A-6DA6-9507-3CCA-3F55067FD850}"/>
                </a:ext>
              </a:extLst>
            </p:cNvPr>
            <p:cNvCxnSpPr>
              <a:cxnSpLocks/>
            </p:cNvCxnSpPr>
            <p:nvPr/>
          </p:nvCxnSpPr>
          <p:spPr>
            <a:xfrm>
              <a:off x="5020071" y="3341028"/>
              <a:ext cx="228559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E6974B8-039D-379E-6DE7-BDC261189024}"/>
                </a:ext>
              </a:extLst>
            </p:cNvPr>
            <p:cNvCxnSpPr>
              <a:cxnSpLocks/>
            </p:cNvCxnSpPr>
            <p:nvPr/>
          </p:nvCxnSpPr>
          <p:spPr>
            <a:xfrm>
              <a:off x="5020071" y="3981108"/>
              <a:ext cx="2285598" cy="0"/>
            </a:xfrm>
            <a:prstGeom prst="line">
              <a:avLst/>
            </a:prstGeom>
          </p:spPr>
          <p:style>
            <a:lnRef idx="1">
              <a:schemeClr val="accent1"/>
            </a:lnRef>
            <a:fillRef idx="0">
              <a:schemeClr val="accent1"/>
            </a:fillRef>
            <a:effectRef idx="0">
              <a:schemeClr val="accent1"/>
            </a:effectRef>
            <a:fontRef idx="minor">
              <a:schemeClr val="tx1"/>
            </a:fontRef>
          </p:style>
        </p:cxnSp>
        <p:sp>
          <p:nvSpPr>
            <p:cNvPr id="23" name="Rounded Rectangle 22">
              <a:extLst>
                <a:ext uri="{FF2B5EF4-FFF2-40B4-BE49-F238E27FC236}">
                  <a16:creationId xmlns:a16="http://schemas.microsoft.com/office/drawing/2014/main" id="{86F79393-1D1C-EFFD-0CFF-5A6B20F6B87D}"/>
                </a:ext>
              </a:extLst>
            </p:cNvPr>
            <p:cNvSpPr/>
            <p:nvPr/>
          </p:nvSpPr>
          <p:spPr>
            <a:xfrm>
              <a:off x="5470509" y="1287799"/>
              <a:ext cx="1344611" cy="2913796"/>
            </a:xfrm>
            <a:prstGeom prst="roundRect">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noFill/>
              </a:endParaRPr>
            </a:p>
          </p:txBody>
        </p: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851B271E-B247-8943-6DE7-0E080946504B}"/>
                    </a:ext>
                  </a:extLst>
                </p:cNvPr>
                <p:cNvSpPr txBox="1"/>
                <p:nvPr/>
              </p:nvSpPr>
              <p:spPr>
                <a:xfrm>
                  <a:off x="4580602" y="1358107"/>
                  <a:ext cx="25667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1</m:t>
                            </m:r>
                          </m:sub>
                        </m:sSub>
                      </m:oMath>
                    </m:oMathPara>
                  </a14:m>
                  <a:endParaRPr lang="en-CA" dirty="0"/>
                </a:p>
              </p:txBody>
            </p:sp>
          </mc:Choice>
          <mc:Fallback xmlns="">
            <p:sp>
              <p:nvSpPr>
                <p:cNvPr id="34" name="TextBox 33">
                  <a:extLst>
                    <a:ext uri="{FF2B5EF4-FFF2-40B4-BE49-F238E27FC236}">
                      <a16:creationId xmlns:a16="http://schemas.microsoft.com/office/drawing/2014/main" id="{851B271E-B247-8943-6DE7-0E080946504B}"/>
                    </a:ext>
                  </a:extLst>
                </p:cNvPr>
                <p:cNvSpPr txBox="1">
                  <a:spLocks noRot="1" noChangeAspect="1" noMove="1" noResize="1" noEditPoints="1" noAdjustHandles="1" noChangeArrowheads="1" noChangeShapeType="1" noTextEdit="1"/>
                </p:cNvSpPr>
                <p:nvPr/>
              </p:nvSpPr>
              <p:spPr>
                <a:xfrm>
                  <a:off x="4580602" y="1358107"/>
                  <a:ext cx="256673" cy="276999"/>
                </a:xfrm>
                <a:prstGeom prst="rect">
                  <a:avLst/>
                </a:prstGeom>
                <a:blipFill>
                  <a:blip r:embed="rId7"/>
                  <a:stretch>
                    <a:fillRect l="-9091" r="-4545" b="-13043"/>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D056E83F-78F6-6F6A-0DE9-DA3EAD0B1E66}"/>
                    </a:ext>
                  </a:extLst>
                </p:cNvPr>
                <p:cNvSpPr txBox="1"/>
                <p:nvPr/>
              </p:nvSpPr>
              <p:spPr>
                <a:xfrm>
                  <a:off x="4580602" y="1921936"/>
                  <a:ext cx="366254" cy="30187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m:t>
                            </m:r>
                            <m:r>
                              <a:rPr lang="en-US" b="0" i="1" smtClean="0">
                                <a:latin typeface="Cambria Math" panose="02040503050406030204" pitchFamily="18" charset="0"/>
                              </a:rPr>
                              <m:t>𝑆</m:t>
                            </m:r>
                            <m:r>
                              <a:rPr lang="en-US" b="0" i="1" smtClean="0">
                                <a:latin typeface="Cambria Math" panose="02040503050406030204" pitchFamily="18" charset="0"/>
                              </a:rPr>
                              <m:t>|</m:t>
                            </m:r>
                          </m:sub>
                        </m:sSub>
                      </m:oMath>
                    </m:oMathPara>
                  </a14:m>
                  <a:endParaRPr lang="en-CA" dirty="0"/>
                </a:p>
              </p:txBody>
            </p:sp>
          </mc:Choice>
          <mc:Fallback xmlns="">
            <p:sp>
              <p:nvSpPr>
                <p:cNvPr id="51" name="TextBox 50">
                  <a:extLst>
                    <a:ext uri="{FF2B5EF4-FFF2-40B4-BE49-F238E27FC236}">
                      <a16:creationId xmlns:a16="http://schemas.microsoft.com/office/drawing/2014/main" id="{D056E83F-78F6-6F6A-0DE9-DA3EAD0B1E66}"/>
                    </a:ext>
                  </a:extLst>
                </p:cNvPr>
                <p:cNvSpPr txBox="1">
                  <a:spLocks noRot="1" noChangeAspect="1" noMove="1" noResize="1" noEditPoints="1" noAdjustHandles="1" noChangeArrowheads="1" noChangeShapeType="1" noTextEdit="1"/>
                </p:cNvSpPr>
                <p:nvPr/>
              </p:nvSpPr>
              <p:spPr>
                <a:xfrm>
                  <a:off x="4580602" y="1921936"/>
                  <a:ext cx="366254" cy="301878"/>
                </a:xfrm>
                <a:prstGeom prst="rect">
                  <a:avLst/>
                </a:prstGeom>
                <a:blipFill>
                  <a:blip r:embed="rId8"/>
                  <a:stretch>
                    <a:fillRect l="-6452" r="-6452" b="-24000"/>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10521F2B-A9AE-3948-F6EE-DF4581A088DF}"/>
                    </a:ext>
                  </a:extLst>
                </p:cNvPr>
                <p:cNvSpPr txBox="1"/>
                <p:nvPr/>
              </p:nvSpPr>
              <p:spPr>
                <a:xfrm rot="5400000">
                  <a:off x="4586791" y="1605432"/>
                  <a:ext cx="33959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b="0" dirty="0"/>
                </a:p>
              </p:txBody>
            </p:sp>
          </mc:Choice>
          <mc:Fallback xmlns="">
            <p:sp>
              <p:nvSpPr>
                <p:cNvPr id="52" name="TextBox 51">
                  <a:extLst>
                    <a:ext uri="{FF2B5EF4-FFF2-40B4-BE49-F238E27FC236}">
                      <a16:creationId xmlns:a16="http://schemas.microsoft.com/office/drawing/2014/main" id="{10521F2B-A9AE-3948-F6EE-DF4581A088DF}"/>
                    </a:ext>
                  </a:extLst>
                </p:cNvPr>
                <p:cNvSpPr txBox="1">
                  <a:spLocks noRot="1" noChangeAspect="1" noMove="1" noResize="1" noEditPoints="1" noAdjustHandles="1" noChangeArrowheads="1" noChangeShapeType="1" noTextEdit="1"/>
                </p:cNvSpPr>
                <p:nvPr/>
              </p:nvSpPr>
              <p:spPr>
                <a:xfrm rot="5400000">
                  <a:off x="4586791" y="1605432"/>
                  <a:ext cx="339598" cy="369332"/>
                </a:xfrm>
                <a:prstGeom prst="rect">
                  <a:avLst/>
                </a:prstGeom>
                <a:blipFill>
                  <a:blip r:embed="rId9"/>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16CCB019-E525-5576-FD65-3415F27F6AFB}"/>
                    </a:ext>
                  </a:extLst>
                </p:cNvPr>
                <p:cNvSpPr txBox="1"/>
                <p:nvPr/>
              </p:nvSpPr>
              <p:spPr>
                <a:xfrm>
                  <a:off x="4585958" y="2275085"/>
                  <a:ext cx="25507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1</m:t>
                            </m:r>
                          </m:sub>
                        </m:sSub>
                      </m:oMath>
                    </m:oMathPara>
                  </a14:m>
                  <a:endParaRPr lang="en-CA" dirty="0"/>
                </a:p>
              </p:txBody>
            </p:sp>
          </mc:Choice>
          <mc:Fallback xmlns="">
            <p:sp>
              <p:nvSpPr>
                <p:cNvPr id="53" name="TextBox 52">
                  <a:extLst>
                    <a:ext uri="{FF2B5EF4-FFF2-40B4-BE49-F238E27FC236}">
                      <a16:creationId xmlns:a16="http://schemas.microsoft.com/office/drawing/2014/main" id="{16CCB019-E525-5576-FD65-3415F27F6AFB}"/>
                    </a:ext>
                  </a:extLst>
                </p:cNvPr>
                <p:cNvSpPr txBox="1">
                  <a:spLocks noRot="1" noChangeAspect="1" noMove="1" noResize="1" noEditPoints="1" noAdjustHandles="1" noChangeArrowheads="1" noChangeShapeType="1" noTextEdit="1"/>
                </p:cNvSpPr>
                <p:nvPr/>
              </p:nvSpPr>
              <p:spPr>
                <a:xfrm>
                  <a:off x="4585958" y="2275085"/>
                  <a:ext cx="255070" cy="276999"/>
                </a:xfrm>
                <a:prstGeom prst="rect">
                  <a:avLst/>
                </a:prstGeom>
                <a:blipFill>
                  <a:blip r:embed="rId10"/>
                  <a:stretch>
                    <a:fillRect l="-14286" r="-4762" b="-13043"/>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EEF843DB-B751-4E2B-50A4-D9F51C0B21D4}"/>
                    </a:ext>
                  </a:extLst>
                </p:cNvPr>
                <p:cNvSpPr txBox="1"/>
                <p:nvPr/>
              </p:nvSpPr>
              <p:spPr>
                <a:xfrm>
                  <a:off x="4581159" y="2838914"/>
                  <a:ext cx="378373" cy="30187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m:t>
                            </m:r>
                            <m:r>
                              <a:rPr lang="en-US" b="0" i="1" smtClean="0">
                                <a:latin typeface="Cambria Math" panose="02040503050406030204" pitchFamily="18" charset="0"/>
                              </a:rPr>
                              <m:t>𝐶</m:t>
                            </m:r>
                            <m:r>
                              <a:rPr lang="en-US" b="0" i="1" smtClean="0">
                                <a:latin typeface="Cambria Math" panose="02040503050406030204" pitchFamily="18" charset="0"/>
                              </a:rPr>
                              <m:t>|</m:t>
                            </m:r>
                          </m:sub>
                        </m:sSub>
                      </m:oMath>
                    </m:oMathPara>
                  </a14:m>
                  <a:endParaRPr lang="en-CA" dirty="0"/>
                </a:p>
              </p:txBody>
            </p:sp>
          </mc:Choice>
          <mc:Fallback xmlns="">
            <p:sp>
              <p:nvSpPr>
                <p:cNvPr id="54" name="TextBox 53">
                  <a:extLst>
                    <a:ext uri="{FF2B5EF4-FFF2-40B4-BE49-F238E27FC236}">
                      <a16:creationId xmlns:a16="http://schemas.microsoft.com/office/drawing/2014/main" id="{EEF843DB-B751-4E2B-50A4-D9F51C0B21D4}"/>
                    </a:ext>
                  </a:extLst>
                </p:cNvPr>
                <p:cNvSpPr txBox="1">
                  <a:spLocks noRot="1" noChangeAspect="1" noMove="1" noResize="1" noEditPoints="1" noAdjustHandles="1" noChangeArrowheads="1" noChangeShapeType="1" noTextEdit="1"/>
                </p:cNvSpPr>
                <p:nvPr/>
              </p:nvSpPr>
              <p:spPr>
                <a:xfrm>
                  <a:off x="4581159" y="2838914"/>
                  <a:ext cx="378373" cy="301878"/>
                </a:xfrm>
                <a:prstGeom prst="rect">
                  <a:avLst/>
                </a:prstGeom>
                <a:blipFill>
                  <a:blip r:embed="rId11"/>
                  <a:stretch>
                    <a:fillRect l="-10000" r="-10000" b="-24000"/>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56B751B4-0033-4D30-9D9D-4780015699E1}"/>
                    </a:ext>
                  </a:extLst>
                </p:cNvPr>
                <p:cNvSpPr txBox="1"/>
                <p:nvPr/>
              </p:nvSpPr>
              <p:spPr>
                <a:xfrm rot="5400000">
                  <a:off x="4592147" y="2522410"/>
                  <a:ext cx="33959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b="0" dirty="0"/>
                </a:p>
              </p:txBody>
            </p:sp>
          </mc:Choice>
          <mc:Fallback xmlns="">
            <p:sp>
              <p:nvSpPr>
                <p:cNvPr id="55" name="TextBox 54">
                  <a:extLst>
                    <a:ext uri="{FF2B5EF4-FFF2-40B4-BE49-F238E27FC236}">
                      <a16:creationId xmlns:a16="http://schemas.microsoft.com/office/drawing/2014/main" id="{56B751B4-0033-4D30-9D9D-4780015699E1}"/>
                    </a:ext>
                  </a:extLst>
                </p:cNvPr>
                <p:cNvSpPr txBox="1">
                  <a:spLocks noRot="1" noChangeAspect="1" noMove="1" noResize="1" noEditPoints="1" noAdjustHandles="1" noChangeArrowheads="1" noChangeShapeType="1" noTextEdit="1"/>
                </p:cNvSpPr>
                <p:nvPr/>
              </p:nvSpPr>
              <p:spPr>
                <a:xfrm rot="5400000">
                  <a:off x="4592147" y="2522410"/>
                  <a:ext cx="339598" cy="369332"/>
                </a:xfrm>
                <a:prstGeom prst="rect">
                  <a:avLst/>
                </a:prstGeom>
                <a:blipFill>
                  <a:blip r:embed="rId12"/>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F475DE8F-9645-7A6E-AA45-3D68A6221ABF}"/>
                    </a:ext>
                  </a:extLst>
                </p:cNvPr>
                <p:cNvSpPr txBox="1"/>
                <p:nvPr/>
              </p:nvSpPr>
              <p:spPr>
                <a:xfrm>
                  <a:off x="4587993" y="3196437"/>
                  <a:ext cx="28315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oMath>
                    </m:oMathPara>
                  </a14:m>
                  <a:endParaRPr lang="en-CA" dirty="0"/>
                </a:p>
              </p:txBody>
            </p:sp>
          </mc:Choice>
          <mc:Fallback xmlns="">
            <p:sp>
              <p:nvSpPr>
                <p:cNvPr id="56" name="TextBox 55">
                  <a:extLst>
                    <a:ext uri="{FF2B5EF4-FFF2-40B4-BE49-F238E27FC236}">
                      <a16:creationId xmlns:a16="http://schemas.microsoft.com/office/drawing/2014/main" id="{F475DE8F-9645-7A6E-AA45-3D68A6221ABF}"/>
                    </a:ext>
                  </a:extLst>
                </p:cNvPr>
                <p:cNvSpPr txBox="1">
                  <a:spLocks noRot="1" noChangeAspect="1" noMove="1" noResize="1" noEditPoints="1" noAdjustHandles="1" noChangeArrowheads="1" noChangeShapeType="1" noTextEdit="1"/>
                </p:cNvSpPr>
                <p:nvPr/>
              </p:nvSpPr>
              <p:spPr>
                <a:xfrm>
                  <a:off x="4587993" y="3196437"/>
                  <a:ext cx="283154" cy="276999"/>
                </a:xfrm>
                <a:prstGeom prst="rect">
                  <a:avLst/>
                </a:prstGeom>
                <a:blipFill>
                  <a:blip r:embed="rId13"/>
                  <a:stretch>
                    <a:fillRect l="-13043" r="-8696" b="-18182"/>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73D98572-5DD7-FF82-4E65-1FFE28D79B6C}"/>
                    </a:ext>
                  </a:extLst>
                </p:cNvPr>
                <p:cNvSpPr txBox="1"/>
                <p:nvPr/>
              </p:nvSpPr>
              <p:spPr>
                <a:xfrm>
                  <a:off x="4581159" y="3760266"/>
                  <a:ext cx="410369" cy="30187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sub>
                        </m:sSub>
                      </m:oMath>
                    </m:oMathPara>
                  </a14:m>
                  <a:endParaRPr lang="en-CA" dirty="0"/>
                </a:p>
              </p:txBody>
            </p:sp>
          </mc:Choice>
          <mc:Fallback xmlns="">
            <p:sp>
              <p:nvSpPr>
                <p:cNvPr id="57" name="TextBox 56">
                  <a:extLst>
                    <a:ext uri="{FF2B5EF4-FFF2-40B4-BE49-F238E27FC236}">
                      <a16:creationId xmlns:a16="http://schemas.microsoft.com/office/drawing/2014/main" id="{73D98572-5DD7-FF82-4E65-1FFE28D79B6C}"/>
                    </a:ext>
                  </a:extLst>
                </p:cNvPr>
                <p:cNvSpPr txBox="1">
                  <a:spLocks noRot="1" noChangeAspect="1" noMove="1" noResize="1" noEditPoints="1" noAdjustHandles="1" noChangeArrowheads="1" noChangeShapeType="1" noTextEdit="1"/>
                </p:cNvSpPr>
                <p:nvPr/>
              </p:nvSpPr>
              <p:spPr>
                <a:xfrm>
                  <a:off x="4581159" y="3760266"/>
                  <a:ext cx="410369" cy="301878"/>
                </a:xfrm>
                <a:prstGeom prst="rect">
                  <a:avLst/>
                </a:prstGeom>
                <a:blipFill>
                  <a:blip r:embed="rId14"/>
                  <a:stretch>
                    <a:fillRect l="-9091" r="-9091" b="-24000"/>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D321C2DF-E8D4-2C31-6D39-47EE781CC3FC}"/>
                    </a:ext>
                  </a:extLst>
                </p:cNvPr>
                <p:cNvSpPr txBox="1"/>
                <p:nvPr/>
              </p:nvSpPr>
              <p:spPr>
                <a:xfrm rot="5400000">
                  <a:off x="4594182" y="3443762"/>
                  <a:ext cx="33959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oMath>
                    </m:oMathPara>
                  </a14:m>
                  <a:endParaRPr lang="en-US" b="0" dirty="0"/>
                </a:p>
              </p:txBody>
            </p:sp>
          </mc:Choice>
          <mc:Fallback xmlns="">
            <p:sp>
              <p:nvSpPr>
                <p:cNvPr id="58" name="TextBox 57">
                  <a:extLst>
                    <a:ext uri="{FF2B5EF4-FFF2-40B4-BE49-F238E27FC236}">
                      <a16:creationId xmlns:a16="http://schemas.microsoft.com/office/drawing/2014/main" id="{D321C2DF-E8D4-2C31-6D39-47EE781CC3FC}"/>
                    </a:ext>
                  </a:extLst>
                </p:cNvPr>
                <p:cNvSpPr txBox="1">
                  <a:spLocks noRot="1" noChangeAspect="1" noMove="1" noResize="1" noEditPoints="1" noAdjustHandles="1" noChangeArrowheads="1" noChangeShapeType="1" noTextEdit="1"/>
                </p:cNvSpPr>
                <p:nvPr/>
              </p:nvSpPr>
              <p:spPr>
                <a:xfrm rot="5400000">
                  <a:off x="4594182" y="3443762"/>
                  <a:ext cx="339598" cy="369332"/>
                </a:xfrm>
                <a:prstGeom prst="rect">
                  <a:avLst/>
                </a:prstGeom>
                <a:blipFill>
                  <a:blip r:embed="rId15"/>
                  <a:stretch>
                    <a:fillRect/>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4E5C37F1-2802-8550-8039-779862575D29}"/>
                    </a:ext>
                  </a:extLst>
                </p:cNvPr>
                <p:cNvSpPr txBox="1"/>
                <p:nvPr/>
              </p:nvSpPr>
              <p:spPr>
                <a:xfrm>
                  <a:off x="5475865" y="2397629"/>
                  <a:ext cx="1344611" cy="37677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CA" sz="1800" i="1" dirty="0" smtClean="0">
                                <a:latin typeface="Cambria Math" panose="02040503050406030204" pitchFamily="18" charset="0"/>
                              </a:rPr>
                            </m:ctrlPr>
                          </m:accPr>
                          <m:e>
                            <m:r>
                              <a:rPr lang="en-US" sz="1800" b="0" i="1" dirty="0" smtClean="0">
                                <a:latin typeface="Cambria Math" panose="02040503050406030204" pitchFamily="18" charset="0"/>
                              </a:rPr>
                              <m:t>𝑈</m:t>
                            </m:r>
                          </m:e>
                        </m:acc>
                        <m:d>
                          <m:dPr>
                            <m:ctrlPr>
                              <a:rPr lang="en-CA" sz="1800" i="1" dirty="0" smtClean="0">
                                <a:latin typeface="Cambria Math" panose="02040503050406030204" pitchFamily="18" charset="0"/>
                              </a:rPr>
                            </m:ctrlPr>
                          </m:dPr>
                          <m:e>
                            <m:r>
                              <a:rPr lang="en-CA" sz="1800" b="0" i="1" dirty="0" smtClean="0">
                                <a:latin typeface="Cambria Math" panose="02040503050406030204" pitchFamily="18" charset="0"/>
                              </a:rPr>
                              <m:t>𝜏</m:t>
                            </m:r>
                            <m:r>
                              <a:rPr lang="en-CA" sz="1800" b="0" i="1" dirty="0" smtClean="0">
                                <a:latin typeface="Cambria Math" panose="02040503050406030204" pitchFamily="18" charset="0"/>
                              </a:rPr>
                              <m:t>, </m:t>
                            </m:r>
                            <m:sSub>
                              <m:sSubPr>
                                <m:ctrlPr>
                                  <a:rPr lang="en-CA" sz="1800" b="0" i="1" dirty="0" smtClean="0">
                                    <a:latin typeface="Cambria Math" panose="02040503050406030204" pitchFamily="18" charset="0"/>
                                  </a:rPr>
                                </m:ctrlPr>
                              </m:sSubPr>
                              <m:e>
                                <m:r>
                                  <a:rPr lang="en-CA" sz="1800" b="0" i="1" dirty="0" smtClean="0">
                                    <a:latin typeface="Cambria Math" panose="02040503050406030204" pitchFamily="18" charset="0"/>
                                  </a:rPr>
                                  <m:t>𝜏</m:t>
                                </m:r>
                              </m:e>
                              <m:sub>
                                <m:r>
                                  <a:rPr lang="en-CA" sz="1800" b="0" i="1" dirty="0" smtClean="0">
                                    <a:latin typeface="Cambria Math" panose="02040503050406030204" pitchFamily="18" charset="0"/>
                                  </a:rPr>
                                  <m:t>0</m:t>
                                </m:r>
                              </m:sub>
                            </m:sSub>
                          </m:e>
                        </m:d>
                      </m:oMath>
                    </m:oMathPara>
                  </a14:m>
                  <a:endParaRPr lang="en-CA" dirty="0"/>
                </a:p>
              </p:txBody>
            </p:sp>
          </mc:Choice>
          <mc:Fallback xmlns="">
            <p:sp>
              <p:nvSpPr>
                <p:cNvPr id="62" name="TextBox 61">
                  <a:extLst>
                    <a:ext uri="{FF2B5EF4-FFF2-40B4-BE49-F238E27FC236}">
                      <a16:creationId xmlns:a16="http://schemas.microsoft.com/office/drawing/2014/main" id="{4E5C37F1-2802-8550-8039-779862575D29}"/>
                    </a:ext>
                  </a:extLst>
                </p:cNvPr>
                <p:cNvSpPr txBox="1">
                  <a:spLocks noRot="1" noChangeAspect="1" noMove="1" noResize="1" noEditPoints="1" noAdjustHandles="1" noChangeArrowheads="1" noChangeShapeType="1" noTextEdit="1"/>
                </p:cNvSpPr>
                <p:nvPr/>
              </p:nvSpPr>
              <p:spPr>
                <a:xfrm>
                  <a:off x="5475865" y="2397629"/>
                  <a:ext cx="1344611" cy="376770"/>
                </a:xfrm>
                <a:prstGeom prst="rect">
                  <a:avLst/>
                </a:prstGeom>
                <a:blipFill>
                  <a:blip r:embed="rId16"/>
                  <a:stretch>
                    <a:fillRect t="-3333"/>
                  </a:stretch>
                </a:blipFill>
              </p:spPr>
              <p:txBody>
                <a:bodyPr/>
                <a:lstStyle/>
                <a:p>
                  <a:r>
                    <a:rPr lang="en-CA">
                      <a:noFill/>
                    </a:rPr>
                    <a:t> </a:t>
                  </a:r>
                </a:p>
              </p:txBody>
            </p:sp>
          </mc:Fallback>
        </mc:AlternateContent>
        <p:pic>
          <p:nvPicPr>
            <p:cNvPr id="3074" name="Picture 2">
              <a:extLst>
                <a:ext uri="{FF2B5EF4-FFF2-40B4-BE49-F238E27FC236}">
                  <a16:creationId xmlns:a16="http://schemas.microsoft.com/office/drawing/2014/main" id="{E95763D4-0208-24CC-4C63-FC091E2B8B7B}"/>
                </a:ext>
              </a:extLst>
            </p:cNvPr>
            <p:cNvPicPr>
              <a:picLocks noChangeAspect="1" noChangeArrowheads="1"/>
            </p:cNvPicPr>
            <p:nvPr/>
          </p:nvPicPr>
          <p:blipFill rotWithShape="1">
            <a:blip r:embed="rId17">
              <a:extLst>
                <a:ext uri="{28A0092B-C50C-407E-A947-70E740481C1C}">
                  <a14:useLocalDpi xmlns:a14="http://schemas.microsoft.com/office/drawing/2010/main"/>
                </a:ext>
              </a:extLst>
            </a:blip>
            <a:srcRect/>
            <a:stretch/>
          </p:blipFill>
          <p:spPr bwMode="auto">
            <a:xfrm>
              <a:off x="7166849" y="3799635"/>
              <a:ext cx="495266" cy="376154"/>
            </a:xfrm>
            <a:prstGeom prst="rect">
              <a:avLst/>
            </a:prstGeom>
            <a:noFill/>
            <a:extLst>
              <a:ext uri="{909E8E84-426E-40DD-AFC4-6F175D3DCCD1}">
                <a14:hiddenFill xmlns:a14="http://schemas.microsoft.com/office/drawing/2010/main">
                  <a:solidFill>
                    <a:srgbClr val="FFFFFF"/>
                  </a:solidFill>
                </a14:hiddenFill>
              </a:ext>
            </a:extLst>
          </p:spPr>
        </p:pic>
        <p:pic>
          <p:nvPicPr>
            <p:cNvPr id="75" name="Picture 2">
              <a:extLst>
                <a:ext uri="{FF2B5EF4-FFF2-40B4-BE49-F238E27FC236}">
                  <a16:creationId xmlns:a16="http://schemas.microsoft.com/office/drawing/2014/main" id="{5FE9AB13-6C6F-F2FF-5F5B-6F0B95A6D83B}"/>
                </a:ext>
              </a:extLst>
            </p:cNvPr>
            <p:cNvPicPr>
              <a:picLocks noChangeAspect="1" noChangeArrowheads="1"/>
            </p:cNvPicPr>
            <p:nvPr/>
          </p:nvPicPr>
          <p:blipFill rotWithShape="1">
            <a:blip r:embed="rId17">
              <a:extLst>
                <a:ext uri="{28A0092B-C50C-407E-A947-70E740481C1C}">
                  <a14:useLocalDpi xmlns:a14="http://schemas.microsoft.com/office/drawing/2010/main"/>
                </a:ext>
              </a:extLst>
            </a:blip>
            <a:srcRect/>
            <a:stretch/>
          </p:blipFill>
          <p:spPr bwMode="auto">
            <a:xfrm>
              <a:off x="7166849" y="3147142"/>
              <a:ext cx="495266" cy="376154"/>
            </a:xfrm>
            <a:prstGeom prst="rect">
              <a:avLst/>
            </a:prstGeom>
            <a:noFill/>
            <a:extLst>
              <a:ext uri="{909E8E84-426E-40DD-AFC4-6F175D3DCCD1}">
                <a14:hiddenFill xmlns:a14="http://schemas.microsoft.com/office/drawing/2010/main">
                  <a:solidFill>
                    <a:srgbClr val="FFFFFF"/>
                  </a:solidFill>
                </a14:hiddenFill>
              </a:ext>
            </a:extLst>
          </p:spPr>
        </p:pic>
      </p:grpSp>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26E699AE-147F-8A7F-D2A5-1775F6E5F982}"/>
                  </a:ext>
                </a:extLst>
              </p:cNvPr>
              <p:cNvSpPr txBox="1"/>
              <p:nvPr/>
            </p:nvSpPr>
            <p:spPr>
              <a:xfrm>
                <a:off x="8022286" y="3685630"/>
                <a:ext cx="4101552" cy="945643"/>
              </a:xfrm>
              <a:prstGeom prst="rect">
                <a:avLst/>
              </a:prstGeom>
              <a:noFill/>
            </p:spPr>
            <p:txBody>
              <a:bodyPr wrap="square" rtlCol="0">
                <a:spAutoFit/>
              </a:bodyPr>
              <a:lstStyle/>
              <a:p>
                <a:pPr marL="342900" indent="-342900">
                  <a:buFont typeface="+mj-lt"/>
                  <a:buAutoNum type="arabicPeriod" startAt="4"/>
                </a:pPr>
                <a:r>
                  <a:rPr lang="en-US" dirty="0"/>
                  <a:t>Couple out the action target hyperedge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𝑗</m:t>
                        </m:r>
                      </m:sub>
                    </m:sSub>
                  </m:oMath>
                </a14:m>
                <a:r>
                  <a:rPr lang="en-US" dirty="0"/>
                  <a:t> that satisfied the condition from step 3</a:t>
                </a:r>
                <a:endParaRPr lang="en-CA" dirty="0"/>
              </a:p>
            </p:txBody>
          </p:sp>
        </mc:Choice>
        <mc:Fallback xmlns="">
          <p:sp>
            <p:nvSpPr>
              <p:cNvPr id="83" name="TextBox 82">
                <a:extLst>
                  <a:ext uri="{FF2B5EF4-FFF2-40B4-BE49-F238E27FC236}">
                    <a16:creationId xmlns:a16="http://schemas.microsoft.com/office/drawing/2014/main" id="{26E699AE-147F-8A7F-D2A5-1775F6E5F982}"/>
                  </a:ext>
                </a:extLst>
              </p:cNvPr>
              <p:cNvSpPr txBox="1">
                <a:spLocks noRot="1" noChangeAspect="1" noMove="1" noResize="1" noEditPoints="1" noAdjustHandles="1" noChangeArrowheads="1" noChangeShapeType="1" noTextEdit="1"/>
              </p:cNvSpPr>
              <p:nvPr/>
            </p:nvSpPr>
            <p:spPr>
              <a:xfrm>
                <a:off x="8022286" y="3685630"/>
                <a:ext cx="4101552" cy="945643"/>
              </a:xfrm>
              <a:prstGeom prst="rect">
                <a:avLst/>
              </a:prstGeom>
              <a:blipFill>
                <a:blip r:embed="rId18"/>
                <a:stretch>
                  <a:fillRect l="-1235" t="-2667" b="-9333"/>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84" name="TextBox 83">
                <a:extLst>
                  <a:ext uri="{FF2B5EF4-FFF2-40B4-BE49-F238E27FC236}">
                    <a16:creationId xmlns:a16="http://schemas.microsoft.com/office/drawing/2014/main" id="{60C2425A-3076-505A-D2B0-8C056BA31E9E}"/>
                  </a:ext>
                </a:extLst>
              </p:cNvPr>
              <p:cNvSpPr txBox="1"/>
              <p:nvPr/>
            </p:nvSpPr>
            <p:spPr>
              <a:xfrm>
                <a:off x="4276612" y="4176464"/>
                <a:ext cx="2472953" cy="369332"/>
              </a:xfrm>
              <a:prstGeom prst="rect">
                <a:avLst/>
              </a:prstGeom>
              <a:noFill/>
            </p:spPr>
            <p:txBody>
              <a:bodyPr wrap="square" rtlCol="0">
                <a:spAutoFit/>
              </a:bodyPr>
              <a:lstStyle/>
              <a:p>
                <a:pPr marL="342900" indent="-342900">
                  <a:buFont typeface="+mj-lt"/>
                  <a:buAutoNum type="arabicPeriod" startAt="5"/>
                </a:pPr>
                <a:r>
                  <a:rPr lang="en-US" dirty="0"/>
                  <a:t>Update the </a:t>
                </a:r>
                <a14:m>
                  <m:oMath xmlns:m="http://schemas.openxmlformats.org/officeDocument/2006/math">
                    <m:r>
                      <a:rPr lang="en-US" b="0" i="1" smtClean="0">
                        <a:latin typeface="Cambria Math" panose="02040503050406030204" pitchFamily="18" charset="0"/>
                      </a:rPr>
                      <m:t>h</m:t>
                    </m:r>
                  </m:oMath>
                </a14:m>
                <a:r>
                  <a:rPr lang="en-CA" dirty="0"/>
                  <a:t> values</a:t>
                </a:r>
              </a:p>
            </p:txBody>
          </p:sp>
        </mc:Choice>
        <mc:Fallback xmlns="">
          <p:sp>
            <p:nvSpPr>
              <p:cNvPr id="84" name="TextBox 83">
                <a:extLst>
                  <a:ext uri="{FF2B5EF4-FFF2-40B4-BE49-F238E27FC236}">
                    <a16:creationId xmlns:a16="http://schemas.microsoft.com/office/drawing/2014/main" id="{60C2425A-3076-505A-D2B0-8C056BA31E9E}"/>
                  </a:ext>
                </a:extLst>
              </p:cNvPr>
              <p:cNvSpPr txBox="1">
                <a:spLocks noRot="1" noChangeAspect="1" noMove="1" noResize="1" noEditPoints="1" noAdjustHandles="1" noChangeArrowheads="1" noChangeShapeType="1" noTextEdit="1"/>
              </p:cNvSpPr>
              <p:nvPr/>
            </p:nvSpPr>
            <p:spPr>
              <a:xfrm>
                <a:off x="4276612" y="4176464"/>
                <a:ext cx="2472953" cy="369332"/>
              </a:xfrm>
              <a:prstGeom prst="rect">
                <a:avLst/>
              </a:prstGeom>
              <a:blipFill>
                <a:blip r:embed="rId19"/>
                <a:stretch>
                  <a:fillRect l="-2041" t="-6452" b="-22581"/>
                </a:stretch>
              </a:blipFill>
            </p:spPr>
            <p:txBody>
              <a:bodyPr/>
              <a:lstStyle/>
              <a:p>
                <a:r>
                  <a:rPr lang="en-CA">
                    <a:noFill/>
                  </a:rPr>
                  <a:t> </a:t>
                </a:r>
              </a:p>
            </p:txBody>
          </p:sp>
        </mc:Fallback>
      </mc:AlternateContent>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39FDC182-78CD-4493-A2C4-5CB36CE2E565}"/>
                  </a:ext>
                </a:extLst>
              </p:cNvPr>
              <p:cNvSpPr txBox="1"/>
              <p:nvPr/>
            </p:nvSpPr>
            <p:spPr>
              <a:xfrm>
                <a:off x="4108026" y="5022650"/>
                <a:ext cx="5023656" cy="65005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i="1">
                              <a:latin typeface="Cambria Math" panose="02040503050406030204" pitchFamily="18" charset="0"/>
                            </a:rPr>
                            <m:t>h</m:t>
                          </m:r>
                        </m:e>
                        <m:sup>
                          <m:d>
                            <m:dPr>
                              <m:ctrlPr>
                                <a:rPr lang="en-US" i="1">
                                  <a:latin typeface="Cambria Math" panose="02040503050406030204" pitchFamily="18" charset="0"/>
                                </a:rPr>
                              </m:ctrlPr>
                            </m:dPr>
                            <m:e>
                              <m:r>
                                <a:rPr lang="en-US" i="1">
                                  <a:latin typeface="Cambria Math" panose="02040503050406030204" pitchFamily="18" charset="0"/>
                                </a:rPr>
                                <m:t>𝑛</m:t>
                              </m:r>
                              <m:r>
                                <a:rPr lang="en-US" i="1">
                                  <a:latin typeface="Cambria Math" panose="02040503050406030204" pitchFamily="18" charset="0"/>
                                </a:rPr>
                                <m:t>+1</m:t>
                              </m:r>
                            </m:e>
                          </m:d>
                        </m:sup>
                      </m:sSup>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𝑖</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𝑗</m:t>
                              </m:r>
                            </m:sub>
                          </m:sSub>
                        </m:e>
                      </m:d>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sSubSup>
                            <m:sSubSupPr>
                              <m:ctrlPr>
                                <a:rPr lang="en-US" i="1" dirty="0">
                                  <a:solidFill>
                                    <a:prstClr val="black"/>
                                  </a:solidFill>
                                  <a:latin typeface="Cambria Math" panose="02040503050406030204" pitchFamily="18" charset="0"/>
                                </a:rPr>
                              </m:ctrlPr>
                            </m:sSubSupPr>
                            <m:e>
                              <m:r>
                                <a:rPr lang="en-US" i="1" dirty="0">
                                  <a:solidFill>
                                    <a:prstClr val="black"/>
                                  </a:solidFill>
                                  <a:latin typeface="Cambria Math" panose="02040503050406030204" pitchFamily="18" charset="0"/>
                                </a:rPr>
                                <m:t>𝑃</m:t>
                              </m:r>
                            </m:e>
                            <m:sub>
                              <m:d>
                                <m:dPr>
                                  <m:begChr m:val="{"/>
                                  <m:endChr m:val="}"/>
                                  <m:ctrlPr>
                                    <a:rPr lang="en-US" i="1" dirty="0">
                                      <a:solidFill>
                                        <a:prstClr val="black"/>
                                      </a:solidFill>
                                      <a:latin typeface="Cambria Math" panose="02040503050406030204" pitchFamily="18" charset="0"/>
                                    </a:rPr>
                                  </m:ctrlPr>
                                </m:dPr>
                                <m:e>
                                  <m:r>
                                    <a:rPr lang="en-US" b="0" i="1" dirty="0" smtClean="0">
                                      <a:solidFill>
                                        <a:prstClr val="black"/>
                                      </a:solidFill>
                                      <a:latin typeface="Cambria Math" panose="02040503050406030204" pitchFamily="18" charset="0"/>
                                    </a:rPr>
                                    <m:t>𝜏</m:t>
                                  </m:r>
                                  <m:r>
                                    <a:rPr lang="ar-AE" i="1" dirty="0">
                                      <a:solidFill>
                                        <a:prstClr val="black"/>
                                      </a:solidFill>
                                      <a:latin typeface="Cambria Math" panose="02040503050406030204" pitchFamily="18" charset="0"/>
                                    </a:rPr>
                                    <m:t>, </m:t>
                                  </m:r>
                                  <m:sSub>
                                    <m:sSubPr>
                                      <m:ctrlPr>
                                        <a:rPr lang="ar-AE" i="1" dirty="0">
                                          <a:solidFill>
                                            <a:prstClr val="black"/>
                                          </a:solidFill>
                                          <a:latin typeface="Cambria Math" panose="02040503050406030204" pitchFamily="18" charset="0"/>
                                        </a:rPr>
                                      </m:ctrlPr>
                                    </m:sSubPr>
                                    <m:e>
                                      <m:r>
                                        <a:rPr lang="ar-AE" i="1" dirty="0">
                                          <a:solidFill>
                                            <a:prstClr val="black"/>
                                          </a:solidFill>
                                          <a:latin typeface="Cambria Math" panose="02040503050406030204" pitchFamily="18" charset="0"/>
                                        </a:rPr>
                                        <m:t>𝜏</m:t>
                                      </m:r>
                                    </m:e>
                                    <m:sub>
                                      <m:r>
                                        <a:rPr lang="ar-AE" i="1" dirty="0">
                                          <a:solidFill>
                                            <a:prstClr val="black"/>
                                          </a:solidFill>
                                          <a:latin typeface="Cambria Math" panose="02040503050406030204" pitchFamily="18" charset="0"/>
                                        </a:rPr>
                                        <m:t>0</m:t>
                                      </m:r>
                                    </m:sub>
                                  </m:sSub>
                                </m:e>
                              </m:d>
                            </m:sub>
                            <m:sup>
                              <m:d>
                                <m:dPr>
                                  <m:ctrlPr>
                                    <a:rPr lang="en-US" i="1" dirty="0">
                                      <a:solidFill>
                                        <a:prstClr val="black"/>
                                      </a:solidFill>
                                      <a:latin typeface="Cambria Math" panose="02040503050406030204" pitchFamily="18" charset="0"/>
                                    </a:rPr>
                                  </m:ctrlPr>
                                </m:dPr>
                                <m:e>
                                  <m:r>
                                    <a:rPr lang="en-US" i="1" dirty="0">
                                      <a:solidFill>
                                        <a:prstClr val="black"/>
                                      </a:solidFill>
                                      <a:latin typeface="Cambria Math" panose="02040503050406030204" pitchFamily="18" charset="0"/>
                                    </a:rPr>
                                    <m:t>𝑛</m:t>
                                  </m:r>
                                </m:e>
                              </m:d>
                            </m:sup>
                          </m:sSubSup>
                          <m:d>
                            <m:dPr>
                              <m:ctrlPr>
                                <a:rPr lang="ar-AE" i="1" dirty="0">
                                  <a:solidFill>
                                    <a:prstClr val="black"/>
                                  </a:solidFill>
                                  <a:latin typeface="Cambria Math" panose="02040503050406030204" pitchFamily="18" charset="0"/>
                                </a:rPr>
                              </m:ctrlPr>
                            </m:dPr>
                            <m:e>
                              <m:sSub>
                                <m:sSubPr>
                                  <m:ctrlPr>
                                    <a:rPr lang="en-US" i="1" dirty="0">
                                      <a:solidFill>
                                        <a:prstClr val="black"/>
                                      </a:solidFill>
                                      <a:latin typeface="Cambria Math" panose="02040503050406030204" pitchFamily="18" charset="0"/>
                                    </a:rPr>
                                  </m:ctrlPr>
                                </m:sSubPr>
                                <m:e>
                                  <m:r>
                                    <a:rPr lang="en-US" i="1" dirty="0">
                                      <a:solidFill>
                                        <a:prstClr val="black"/>
                                      </a:solidFill>
                                      <a:latin typeface="Cambria Math" panose="02040503050406030204" pitchFamily="18" charset="0"/>
                                    </a:rPr>
                                    <m:t>𝐴</m:t>
                                  </m:r>
                                </m:e>
                                <m:sub>
                                  <m:r>
                                    <a:rPr lang="en-US" i="1" dirty="0">
                                      <a:solidFill>
                                        <a:prstClr val="black"/>
                                      </a:solidFill>
                                      <a:latin typeface="Cambria Math" panose="02040503050406030204" pitchFamily="18" charset="0"/>
                                    </a:rPr>
                                    <m:t>𝑗</m:t>
                                  </m:r>
                                </m:sub>
                              </m:sSub>
                            </m:e>
                            <m:e>
                              <m:sSub>
                                <m:sSubPr>
                                  <m:ctrlPr>
                                    <a:rPr lang="en-US" i="1" dirty="0">
                                      <a:solidFill>
                                        <a:prstClr val="black"/>
                                      </a:solidFill>
                                      <a:latin typeface="Cambria Math" panose="02040503050406030204" pitchFamily="18" charset="0"/>
                                    </a:rPr>
                                  </m:ctrlPr>
                                </m:sSubPr>
                                <m:e>
                                  <m:r>
                                    <a:rPr lang="en-US" i="1" dirty="0">
                                      <a:solidFill>
                                        <a:prstClr val="black"/>
                                      </a:solidFill>
                                      <a:latin typeface="Cambria Math" panose="02040503050406030204" pitchFamily="18" charset="0"/>
                                    </a:rPr>
                                    <m:t>𝑆</m:t>
                                  </m:r>
                                </m:e>
                                <m:sub>
                                  <m:r>
                                    <a:rPr lang="en-US" i="1" dirty="0">
                                      <a:solidFill>
                                        <a:prstClr val="black"/>
                                      </a:solidFill>
                                      <a:latin typeface="Cambria Math" panose="02040503050406030204" pitchFamily="18" charset="0"/>
                                    </a:rPr>
                                    <m:t>𝑖</m:t>
                                  </m:r>
                                </m:sub>
                              </m:sSub>
                            </m:e>
                          </m:d>
                          <m:r>
                            <a:rPr lang="en-US" b="0" i="1" smtClean="0">
                              <a:latin typeface="Cambria Math" panose="02040503050406030204" pitchFamily="18" charset="0"/>
                            </a:rPr>
                            <m:t>, </m:t>
                          </m:r>
                          <m:nary>
                            <m:naryPr>
                              <m:chr m:val="∑"/>
                              <m:limLoc m:val="subSup"/>
                              <m:supHide m:val="on"/>
                              <m:ctrlPr>
                                <a:rPr lang="en-US" b="0" i="1" smtClean="0">
                                  <a:latin typeface="Cambria Math" panose="02040503050406030204" pitchFamily="18" charset="0"/>
                                </a:rPr>
                              </m:ctrlPr>
                            </m:naryPr>
                            <m:sub>
                              <m:sSub>
                                <m:sSubPr>
                                  <m:ctrlPr>
                                    <a:rPr lang="en-US" b="0" i="1" smtClean="0">
                                      <a:latin typeface="Cambria Math" panose="02040503050406030204" pitchFamily="18" charset="0"/>
                                    </a:rPr>
                                  </m:ctrlPr>
                                </m:sSubPr>
                                <m:e>
                                  <m:r>
                                    <m:rPr>
                                      <m:brk m:alnAt="9"/>
                                    </m:rPr>
                                    <a:rPr lang="en-US" b="0" i="1" smtClean="0">
                                      <a:latin typeface="Cambria Math" panose="02040503050406030204" pitchFamily="18" charset="0"/>
                                    </a:rPr>
                                    <m:t>𝐴</m:t>
                                  </m:r>
                                </m:e>
                                <m:sub>
                                  <m:r>
                                    <m:rPr>
                                      <m:brk m:alnAt="9"/>
                                    </m:rPr>
                                    <a:rPr lang="en-US" b="0" i="1" smtClean="0">
                                      <a:latin typeface="Cambria Math" panose="02040503050406030204" pitchFamily="18" charset="0"/>
                                    </a:rPr>
                                    <m:t>𝑗</m:t>
                                  </m:r>
                                </m:sub>
                              </m:sSub>
                            </m:sub>
                            <m:sup/>
                            <m:e>
                              <m:sSup>
                                <m:sSupPr>
                                  <m:ctrlPr>
                                    <a:rPr lang="en-US" b="0" i="1" smtClean="0">
                                      <a:latin typeface="Cambria Math" panose="02040503050406030204" pitchFamily="18" charset="0"/>
                                    </a:rPr>
                                  </m:ctrlPr>
                                </m:sSupPr>
                                <m:e>
                                  <m:r>
                                    <a:rPr lang="en-US" b="0" i="1" smtClean="0">
                                      <a:latin typeface="Cambria Math" panose="02040503050406030204" pitchFamily="18" charset="0"/>
                                    </a:rPr>
                                    <m:t>h</m:t>
                                  </m:r>
                                </m:e>
                                <m:sup>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sup>
                              </m:sSup>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𝑖</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𝑗</m:t>
                                      </m:r>
                                    </m:sub>
                                  </m:sSub>
                                </m:e>
                              </m:d>
                            </m:e>
                          </m:nary>
                        </m:e>
                      </m:d>
                    </m:oMath>
                  </m:oMathPara>
                </a14:m>
                <a:endParaRPr lang="en-CA" dirty="0"/>
              </a:p>
            </p:txBody>
          </p:sp>
        </mc:Choice>
        <mc:Fallback xmlns="">
          <p:sp>
            <p:nvSpPr>
              <p:cNvPr id="85" name="TextBox 84">
                <a:extLst>
                  <a:ext uri="{FF2B5EF4-FFF2-40B4-BE49-F238E27FC236}">
                    <a16:creationId xmlns:a16="http://schemas.microsoft.com/office/drawing/2014/main" id="{39FDC182-78CD-4493-A2C4-5CB36CE2E565}"/>
                  </a:ext>
                </a:extLst>
              </p:cNvPr>
              <p:cNvSpPr txBox="1">
                <a:spLocks noRot="1" noChangeAspect="1" noMove="1" noResize="1" noEditPoints="1" noAdjustHandles="1" noChangeArrowheads="1" noChangeShapeType="1" noTextEdit="1"/>
              </p:cNvSpPr>
              <p:nvPr/>
            </p:nvSpPr>
            <p:spPr>
              <a:xfrm>
                <a:off x="4108026" y="5022650"/>
                <a:ext cx="5023656" cy="650050"/>
              </a:xfrm>
              <a:prstGeom prst="rect">
                <a:avLst/>
              </a:prstGeom>
              <a:blipFill>
                <a:blip r:embed="rId20"/>
                <a:stretch>
                  <a:fillRect l="-504" t="-146154" b="-213462"/>
                </a:stretch>
              </a:blipFill>
            </p:spPr>
            <p:txBody>
              <a:bodyPr/>
              <a:lstStyle/>
              <a:p>
                <a:r>
                  <a:rPr lang="en-CA">
                    <a:noFill/>
                  </a:rPr>
                  <a:t> </a:t>
                </a:r>
              </a:p>
            </p:txBody>
          </p:sp>
        </mc:Fallback>
      </mc:AlternateContent>
      <p:sp>
        <p:nvSpPr>
          <p:cNvPr id="88" name="Chevron 87">
            <a:extLst>
              <a:ext uri="{FF2B5EF4-FFF2-40B4-BE49-F238E27FC236}">
                <a16:creationId xmlns:a16="http://schemas.microsoft.com/office/drawing/2014/main" id="{0DA75AEC-DAD2-6CAB-44A8-C5EEA497E077}"/>
              </a:ext>
            </a:extLst>
          </p:cNvPr>
          <p:cNvSpPr/>
          <p:nvPr/>
        </p:nvSpPr>
        <p:spPr>
          <a:xfrm rot="5400000">
            <a:off x="9730502" y="3112276"/>
            <a:ext cx="369332" cy="568503"/>
          </a:xfrm>
          <a:prstGeom prst="chevron">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solidFill>
                <a:schemeClr val="tx1"/>
              </a:solidFill>
            </a:endParaRPr>
          </a:p>
        </p:txBody>
      </p:sp>
      <p:sp>
        <p:nvSpPr>
          <p:cNvPr id="93" name="TextBox 92">
            <a:extLst>
              <a:ext uri="{FF2B5EF4-FFF2-40B4-BE49-F238E27FC236}">
                <a16:creationId xmlns:a16="http://schemas.microsoft.com/office/drawing/2014/main" id="{DCF15E0E-F483-E967-A408-0645BB84B2FB}"/>
              </a:ext>
            </a:extLst>
          </p:cNvPr>
          <p:cNvSpPr txBox="1"/>
          <p:nvPr/>
        </p:nvSpPr>
        <p:spPr>
          <a:xfrm>
            <a:off x="5404954" y="1084709"/>
            <a:ext cx="1344611" cy="400110"/>
          </a:xfrm>
          <a:prstGeom prst="rect">
            <a:avLst/>
          </a:prstGeom>
          <a:noFill/>
        </p:spPr>
        <p:txBody>
          <a:bodyPr wrap="square" rtlCol="0">
            <a:spAutoFit/>
          </a:bodyPr>
          <a:lstStyle/>
          <a:p>
            <a:r>
              <a:rPr lang="en-CA" sz="2000" dirty="0">
                <a:solidFill>
                  <a:schemeClr val="accent2"/>
                </a:solidFill>
              </a:rPr>
              <a:t>Deliberate</a:t>
            </a:r>
          </a:p>
        </p:txBody>
      </p:sp>
      <p:sp>
        <p:nvSpPr>
          <p:cNvPr id="5" name="TextBox 4">
            <a:extLst>
              <a:ext uri="{FF2B5EF4-FFF2-40B4-BE49-F238E27FC236}">
                <a16:creationId xmlns:a16="http://schemas.microsoft.com/office/drawing/2014/main" id="{97B8927E-9852-53EB-445F-DD0A7562F07A}"/>
              </a:ext>
            </a:extLst>
          </p:cNvPr>
          <p:cNvSpPr txBox="1"/>
          <p:nvPr/>
        </p:nvSpPr>
        <p:spPr>
          <a:xfrm>
            <a:off x="5071961" y="3592308"/>
            <a:ext cx="810490" cy="400110"/>
          </a:xfrm>
          <a:prstGeom prst="rect">
            <a:avLst/>
          </a:prstGeom>
          <a:noFill/>
        </p:spPr>
        <p:txBody>
          <a:bodyPr wrap="square" rtlCol="0">
            <a:spAutoFit/>
          </a:bodyPr>
          <a:lstStyle/>
          <a:p>
            <a:r>
              <a:rPr lang="en-CA" sz="2000" dirty="0">
                <a:solidFill>
                  <a:schemeClr val="accent2"/>
                </a:solidFill>
              </a:rPr>
              <a:t>Learn</a:t>
            </a:r>
          </a:p>
        </p:txBody>
      </p:sp>
      <p:sp>
        <p:nvSpPr>
          <p:cNvPr id="6" name="Chevron 5">
            <a:extLst>
              <a:ext uri="{FF2B5EF4-FFF2-40B4-BE49-F238E27FC236}">
                <a16:creationId xmlns:a16="http://schemas.microsoft.com/office/drawing/2014/main" id="{9A187C7B-EA95-6E64-0BA5-F276F65D2011}"/>
              </a:ext>
            </a:extLst>
          </p:cNvPr>
          <p:cNvSpPr/>
          <p:nvPr/>
        </p:nvSpPr>
        <p:spPr>
          <a:xfrm>
            <a:off x="4329877" y="1779433"/>
            <a:ext cx="369332" cy="568503"/>
          </a:xfrm>
          <a:prstGeom prst="chevron">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solidFill>
                <a:schemeClr val="tx1"/>
              </a:solidFill>
            </a:endParaRPr>
          </a:p>
        </p:txBody>
      </p:sp>
      <p:sp>
        <p:nvSpPr>
          <p:cNvPr id="8" name="Chevron 7">
            <a:extLst>
              <a:ext uri="{FF2B5EF4-FFF2-40B4-BE49-F238E27FC236}">
                <a16:creationId xmlns:a16="http://schemas.microsoft.com/office/drawing/2014/main" id="{6F961084-7D8F-E58B-95C5-0C41F6BACD73}"/>
              </a:ext>
            </a:extLst>
          </p:cNvPr>
          <p:cNvSpPr/>
          <p:nvPr/>
        </p:nvSpPr>
        <p:spPr>
          <a:xfrm>
            <a:off x="7455312" y="1778716"/>
            <a:ext cx="369332" cy="568503"/>
          </a:xfrm>
          <a:prstGeom prst="chevron">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solidFill>
                <a:schemeClr val="tx1"/>
              </a:solidFill>
            </a:endParaRPr>
          </a:p>
        </p:txBody>
      </p:sp>
      <p:sp>
        <p:nvSpPr>
          <p:cNvPr id="10" name="Chevron 9">
            <a:extLst>
              <a:ext uri="{FF2B5EF4-FFF2-40B4-BE49-F238E27FC236}">
                <a16:creationId xmlns:a16="http://schemas.microsoft.com/office/drawing/2014/main" id="{5B5AE4C8-82E0-EFB3-87F6-B828B4557B24}"/>
              </a:ext>
            </a:extLst>
          </p:cNvPr>
          <p:cNvSpPr/>
          <p:nvPr/>
        </p:nvSpPr>
        <p:spPr>
          <a:xfrm rot="10800000">
            <a:off x="7436375" y="3843603"/>
            <a:ext cx="369332" cy="568503"/>
          </a:xfrm>
          <a:prstGeom prst="chevron">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solidFill>
                <a:schemeClr val="tx1"/>
              </a:solidFill>
            </a:endParaRPr>
          </a:p>
        </p:txBody>
      </p:sp>
    </p:spTree>
    <p:extLst>
      <p:ext uri="{BB962C8B-B14F-4D97-AF65-F5344CB8AC3E}">
        <p14:creationId xmlns:p14="http://schemas.microsoft.com/office/powerpoint/2010/main" val="3949603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33" grpId="0"/>
      <p:bldP spid="35" grpId="0"/>
      <p:bldP spid="71" grpId="0"/>
      <p:bldP spid="72" grpId="0"/>
      <p:bldP spid="73" grpId="0"/>
      <p:bldP spid="83" grpId="0"/>
      <p:bldP spid="84" grpId="0"/>
      <p:bldP spid="85" grpId="0"/>
      <p:bldP spid="88" grpId="0" animBg="1"/>
      <p:bldP spid="93" grpId="0"/>
      <p:bldP spid="5" grpId="0"/>
      <p:bldP spid="6" grpId="0" animBg="1"/>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ußzeilenplatzhalter 1"/>
          <p:cNvSpPr>
            <a:spLocks noGrp="1"/>
          </p:cNvSpPr>
          <p:nvPr>
            <p:ph type="ftr" sz="quarter" idx="3"/>
          </p:nvPr>
        </p:nvSpPr>
        <p:spPr>
          <a:xfrm>
            <a:off x="3719736" y="6356350"/>
            <a:ext cx="4577680" cy="365125"/>
          </a:xfrm>
          <a:prstGeom prst="rect">
            <a:avLst/>
          </a:prstGeom>
        </p:spPr>
        <p:txBody>
          <a:bodyPr vert="horz" lIns="91440" tIns="45720" rIns="91440" bIns="45720" rtlCol="0" anchor="ctr"/>
          <a:lstStyle>
            <a:defPPr>
              <a:defRPr lang="de-DE"/>
            </a:defPPr>
            <a:lvl1pPr marL="0" algn="ctr"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CA"/>
              <a:t>IJCAI 2026, Bremen, Germany I Phil LeMaitre I 20.08.2026</a:t>
            </a:r>
          </a:p>
        </p:txBody>
      </p:sp>
      <p:sp>
        <p:nvSpPr>
          <p:cNvPr id="9" name="Titel 1">
            <a:extLst>
              <a:ext uri="{FF2B5EF4-FFF2-40B4-BE49-F238E27FC236}">
                <a16:creationId xmlns:a16="http://schemas.microsoft.com/office/drawing/2014/main" id="{135DD113-A52E-C9F7-3CB3-DD39A0310BBD}"/>
              </a:ext>
            </a:extLst>
          </p:cNvPr>
          <p:cNvSpPr txBox="1">
            <a:spLocks/>
          </p:cNvSpPr>
          <p:nvPr/>
        </p:nvSpPr>
        <p:spPr bwMode="auto">
          <a:xfrm>
            <a:off x="0" y="0"/>
            <a:ext cx="12280900" cy="1014750"/>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r>
              <a:rPr lang="en-CA" sz="3200" kern="0" dirty="0">
                <a:solidFill>
                  <a:schemeClr val="bg1"/>
                </a:solidFill>
                <a:latin typeface="Calibri Light" panose="020F0302020204030204" pitchFamily="34" charset="0"/>
                <a:cs typeface="Calibri Light" panose="020F0302020204030204" pitchFamily="34" charset="0"/>
              </a:rPr>
              <a:t>Outlook</a:t>
            </a:r>
          </a:p>
        </p:txBody>
      </p:sp>
      <p:sp>
        <p:nvSpPr>
          <p:cNvPr id="10" name="Slide Number Placeholder 9">
            <a:extLst>
              <a:ext uri="{FF2B5EF4-FFF2-40B4-BE49-F238E27FC236}">
                <a16:creationId xmlns:a16="http://schemas.microsoft.com/office/drawing/2014/main" id="{52CAF501-DE31-60BB-2730-6EC8F9EE905F}"/>
              </a:ext>
            </a:extLst>
          </p:cNvPr>
          <p:cNvSpPr>
            <a:spLocks noGrp="1"/>
          </p:cNvSpPr>
          <p:nvPr>
            <p:ph type="sldNum" sz="quarter" idx="12"/>
          </p:nvPr>
        </p:nvSpPr>
        <p:spPr/>
        <p:txBody>
          <a:bodyPr/>
          <a:lstStyle/>
          <a:p>
            <a:fld id="{D0617D14-1B55-43C0-819D-0D244AC23646}" type="slidenum">
              <a:rPr lang="de-AT" smtClean="0"/>
              <a:t>17</a:t>
            </a:fld>
            <a:endParaRPr lang="de-AT"/>
          </a:p>
        </p:txBody>
      </p:sp>
      <p:pic>
        <p:nvPicPr>
          <p:cNvPr id="6" name="Picture 5" descr="Squirrel monkeys playing on tree branch">
            <a:extLst>
              <a:ext uri="{FF2B5EF4-FFF2-40B4-BE49-F238E27FC236}">
                <a16:creationId xmlns:a16="http://schemas.microsoft.com/office/drawing/2014/main" id="{38DD0641-09ED-ACED-074A-C29E0E2C16D6}"/>
              </a:ext>
            </a:extLst>
          </p:cNvPr>
          <p:cNvPicPr>
            <a:picLocks noChangeAspect="1"/>
          </p:cNvPicPr>
          <p:nvPr/>
        </p:nvPicPr>
        <p:blipFill rotWithShape="1">
          <a:blip r:embed="rId4">
            <a:extLst>
              <a:ext uri="{28A0092B-C50C-407E-A947-70E740481C1C}">
                <a14:useLocalDpi xmlns:a14="http://schemas.microsoft.com/office/drawing/2010/main"/>
              </a:ext>
            </a:extLst>
          </a:blip>
          <a:srcRect/>
          <a:stretch/>
        </p:blipFill>
        <p:spPr>
          <a:xfrm>
            <a:off x="2691775" y="1401895"/>
            <a:ext cx="2188724" cy="1590473"/>
          </a:xfrm>
          <a:prstGeom prst="rect">
            <a:avLst/>
          </a:prstGeom>
        </p:spPr>
      </p:pic>
      <p:pic>
        <p:nvPicPr>
          <p:cNvPr id="1028" name="Picture 4" descr="Mathematical Foundations of Hypergraph | SpringerLink">
            <a:extLst>
              <a:ext uri="{FF2B5EF4-FFF2-40B4-BE49-F238E27FC236}">
                <a16:creationId xmlns:a16="http://schemas.microsoft.com/office/drawing/2014/main" id="{23EB6D04-61F7-55AE-A173-9AB058C2CEA1}"/>
              </a:ext>
            </a:extLst>
          </p:cNvPr>
          <p:cNvPicPr>
            <a:picLocks noChangeAspect="1" noChangeArrowheads="1"/>
          </p:cNvPicPr>
          <p:nvPr/>
        </p:nvPicPr>
        <p:blipFill rotWithShape="1">
          <a:blip r:embed="rId5">
            <a:extLst>
              <a:ext uri="{28A0092B-C50C-407E-A947-70E740481C1C}">
                <a14:useLocalDpi xmlns:a14="http://schemas.microsoft.com/office/drawing/2010/main"/>
              </a:ext>
            </a:extLst>
          </a:blip>
          <a:srcRect/>
          <a:stretch/>
        </p:blipFill>
        <p:spPr bwMode="auto">
          <a:xfrm>
            <a:off x="5795955" y="1646911"/>
            <a:ext cx="3898900" cy="124348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1.5: Electrons in Atoms Flashcards | Quizlet">
            <a:extLst>
              <a:ext uri="{FF2B5EF4-FFF2-40B4-BE49-F238E27FC236}">
                <a16:creationId xmlns:a16="http://schemas.microsoft.com/office/drawing/2014/main" id="{3C2C2CBE-CEF5-D4B9-363E-64D28095156B}"/>
              </a:ext>
            </a:extLst>
          </p:cNvPr>
          <p:cNvPicPr>
            <a:picLocks noChangeAspect="1" noChangeArrowheads="1"/>
          </p:cNvPicPr>
          <p:nvPr/>
        </p:nvPicPr>
        <p:blipFill rotWithShape="1">
          <a:blip r:embed="rId6">
            <a:extLst>
              <a:ext uri="{28A0092B-C50C-407E-A947-70E740481C1C}">
                <a14:useLocalDpi xmlns:a14="http://schemas.microsoft.com/office/drawing/2010/main"/>
              </a:ext>
            </a:extLst>
          </a:blip>
          <a:srcRect/>
          <a:stretch/>
        </p:blipFill>
        <p:spPr bwMode="auto">
          <a:xfrm>
            <a:off x="3602250" y="3710693"/>
            <a:ext cx="744746" cy="1771770"/>
          </a:xfrm>
          <a:prstGeom prst="rect">
            <a:avLst/>
          </a:prstGeom>
          <a:noFill/>
          <a:extLst>
            <a:ext uri="{909E8E84-426E-40DD-AFC4-6F175D3DCCD1}">
              <a14:hiddenFill xmlns:a14="http://schemas.microsoft.com/office/drawing/2010/main">
                <a:solidFill>
                  <a:srgbClr val="FFFFFF"/>
                </a:solidFill>
              </a14:hiddenFill>
            </a:ext>
          </a:extLst>
        </p:spPr>
      </p:pic>
      <p:sp>
        <p:nvSpPr>
          <p:cNvPr id="30" name="TextBox 29">
            <a:extLst>
              <a:ext uri="{FF2B5EF4-FFF2-40B4-BE49-F238E27FC236}">
                <a16:creationId xmlns:a16="http://schemas.microsoft.com/office/drawing/2014/main" id="{AE1C9665-F3BE-12FA-6260-51F666371E11}"/>
              </a:ext>
            </a:extLst>
          </p:cNvPr>
          <p:cNvSpPr txBox="1"/>
          <p:nvPr/>
        </p:nvSpPr>
        <p:spPr>
          <a:xfrm>
            <a:off x="2721195" y="3115484"/>
            <a:ext cx="2118681" cy="369332"/>
          </a:xfrm>
          <a:prstGeom prst="rect">
            <a:avLst/>
          </a:prstGeom>
          <a:noFill/>
        </p:spPr>
        <p:txBody>
          <a:bodyPr wrap="square" rtlCol="0">
            <a:spAutoFit/>
          </a:bodyPr>
          <a:lstStyle/>
          <a:p>
            <a:r>
              <a:rPr lang="en-CA" dirty="0"/>
              <a:t>Behavioural biology</a:t>
            </a:r>
          </a:p>
        </p:txBody>
      </p:sp>
      <p:sp>
        <p:nvSpPr>
          <p:cNvPr id="31" name="TextBox 30">
            <a:extLst>
              <a:ext uri="{FF2B5EF4-FFF2-40B4-BE49-F238E27FC236}">
                <a16:creationId xmlns:a16="http://schemas.microsoft.com/office/drawing/2014/main" id="{F7013DBC-00B9-7EC6-1BED-F53B384BB758}"/>
              </a:ext>
            </a:extLst>
          </p:cNvPr>
          <p:cNvSpPr txBox="1"/>
          <p:nvPr/>
        </p:nvSpPr>
        <p:spPr>
          <a:xfrm>
            <a:off x="3258964" y="5530658"/>
            <a:ext cx="2088753" cy="369332"/>
          </a:xfrm>
          <a:prstGeom prst="rect">
            <a:avLst/>
          </a:prstGeom>
          <a:noFill/>
        </p:spPr>
        <p:txBody>
          <a:bodyPr wrap="square" rtlCol="0">
            <a:spAutoFit/>
          </a:bodyPr>
          <a:lstStyle/>
          <a:p>
            <a:r>
              <a:rPr lang="en-CA" dirty="0"/>
              <a:t>Many-body features</a:t>
            </a:r>
          </a:p>
        </p:txBody>
      </p:sp>
      <p:sp>
        <p:nvSpPr>
          <p:cNvPr id="32" name="TextBox 31">
            <a:extLst>
              <a:ext uri="{FF2B5EF4-FFF2-40B4-BE49-F238E27FC236}">
                <a16:creationId xmlns:a16="http://schemas.microsoft.com/office/drawing/2014/main" id="{D4E52FE3-2D38-0A86-193F-C4EC59C14755}"/>
              </a:ext>
            </a:extLst>
          </p:cNvPr>
          <p:cNvSpPr txBox="1"/>
          <p:nvPr/>
        </p:nvSpPr>
        <p:spPr>
          <a:xfrm>
            <a:off x="6754858" y="3113775"/>
            <a:ext cx="1981094" cy="369332"/>
          </a:xfrm>
          <a:prstGeom prst="rect">
            <a:avLst/>
          </a:prstGeom>
          <a:noFill/>
        </p:spPr>
        <p:txBody>
          <a:bodyPr wrap="square" rtlCol="0">
            <a:spAutoFit/>
          </a:bodyPr>
          <a:lstStyle/>
          <a:p>
            <a:r>
              <a:rPr lang="en-CA" dirty="0"/>
              <a:t>Hypergraph results</a:t>
            </a:r>
          </a:p>
        </p:txBody>
      </p:sp>
      <p:sp>
        <p:nvSpPr>
          <p:cNvPr id="33" name="TextBox 32">
            <a:extLst>
              <a:ext uri="{FF2B5EF4-FFF2-40B4-BE49-F238E27FC236}">
                <a16:creationId xmlns:a16="http://schemas.microsoft.com/office/drawing/2014/main" id="{BEF59493-F617-0D80-E6EB-D7A154A0B1DC}"/>
              </a:ext>
            </a:extLst>
          </p:cNvPr>
          <p:cNvSpPr txBox="1"/>
          <p:nvPr/>
        </p:nvSpPr>
        <p:spPr>
          <a:xfrm>
            <a:off x="8165145" y="5524930"/>
            <a:ext cx="1685388" cy="369332"/>
          </a:xfrm>
          <a:prstGeom prst="rect">
            <a:avLst/>
          </a:prstGeom>
          <a:noFill/>
        </p:spPr>
        <p:txBody>
          <a:bodyPr wrap="square" rtlCol="0">
            <a:spAutoFit/>
          </a:bodyPr>
          <a:lstStyle/>
          <a:p>
            <a:r>
              <a:rPr lang="en-CA" dirty="0"/>
              <a:t>Quantum </a:t>
            </a:r>
            <a:r>
              <a:rPr lang="en-CA" dirty="0" err="1"/>
              <a:t>mePS</a:t>
            </a:r>
            <a:endParaRPr lang="en-CA" dirty="0"/>
          </a:p>
        </p:txBody>
      </p:sp>
      <p:sp>
        <p:nvSpPr>
          <p:cNvPr id="34" name="TextBox 33">
            <a:extLst>
              <a:ext uri="{FF2B5EF4-FFF2-40B4-BE49-F238E27FC236}">
                <a16:creationId xmlns:a16="http://schemas.microsoft.com/office/drawing/2014/main" id="{14BEFE23-964A-FE3A-4C72-D889C771958E}"/>
              </a:ext>
            </a:extLst>
          </p:cNvPr>
          <p:cNvSpPr txBox="1"/>
          <p:nvPr/>
        </p:nvSpPr>
        <p:spPr>
          <a:xfrm>
            <a:off x="724820" y="5524930"/>
            <a:ext cx="1966955" cy="369332"/>
          </a:xfrm>
          <a:prstGeom prst="rect">
            <a:avLst/>
          </a:prstGeom>
          <a:noFill/>
        </p:spPr>
        <p:txBody>
          <a:bodyPr wrap="square" rtlCol="0">
            <a:spAutoFit/>
          </a:bodyPr>
          <a:lstStyle/>
          <a:p>
            <a:r>
              <a:rPr lang="en-CA" dirty="0"/>
              <a:t>Neuro-symbolic AI</a:t>
            </a:r>
          </a:p>
        </p:txBody>
      </p:sp>
      <p:pic>
        <p:nvPicPr>
          <p:cNvPr id="36" name="Picture 6" descr="1.5: Electrons in Atoms Flashcards | Quizlet">
            <a:extLst>
              <a:ext uri="{FF2B5EF4-FFF2-40B4-BE49-F238E27FC236}">
                <a16:creationId xmlns:a16="http://schemas.microsoft.com/office/drawing/2014/main" id="{FD60E2F7-C766-7B68-2ECA-38DA67431F5C}"/>
              </a:ext>
            </a:extLst>
          </p:cNvPr>
          <p:cNvPicPr>
            <a:picLocks noChangeAspect="1" noChangeArrowheads="1"/>
          </p:cNvPicPr>
          <p:nvPr/>
        </p:nvPicPr>
        <p:blipFill rotWithShape="1">
          <a:blip r:embed="rId6">
            <a:extLst>
              <a:ext uri="{28A0092B-C50C-407E-A947-70E740481C1C}">
                <a14:useLocalDpi xmlns:a14="http://schemas.microsoft.com/office/drawing/2010/main"/>
              </a:ext>
            </a:extLst>
          </a:blip>
          <a:srcRect/>
          <a:stretch/>
        </p:blipFill>
        <p:spPr bwMode="auto">
          <a:xfrm>
            <a:off x="4306774" y="3710693"/>
            <a:ext cx="744746" cy="1771770"/>
          </a:xfrm>
          <a:prstGeom prst="rect">
            <a:avLst/>
          </a:prstGeom>
          <a:noFill/>
          <a:extLst>
            <a:ext uri="{909E8E84-426E-40DD-AFC4-6F175D3DCCD1}">
              <a14:hiddenFill xmlns:a14="http://schemas.microsoft.com/office/drawing/2010/main">
                <a:solidFill>
                  <a:srgbClr val="FFFFFF"/>
                </a:solidFill>
              </a14:hiddenFill>
            </a:ext>
          </a:extLst>
        </p:spPr>
      </p:pic>
      <p:pic>
        <p:nvPicPr>
          <p:cNvPr id="41" name="Graphic 40" descr="Close with solid fill">
            <a:extLst>
              <a:ext uri="{FF2B5EF4-FFF2-40B4-BE49-F238E27FC236}">
                <a16:creationId xmlns:a16="http://schemas.microsoft.com/office/drawing/2014/main" id="{D3EBA37A-A6DB-E650-8D7C-9F3DD6E7169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091400" y="4336675"/>
            <a:ext cx="489901" cy="489901"/>
          </a:xfrm>
          <a:prstGeom prst="rect">
            <a:avLst/>
          </a:prstGeom>
        </p:spPr>
      </p:pic>
      <p:pic>
        <p:nvPicPr>
          <p:cNvPr id="42" name="Picture 41">
            <a:extLst>
              <a:ext uri="{FF2B5EF4-FFF2-40B4-BE49-F238E27FC236}">
                <a16:creationId xmlns:a16="http://schemas.microsoft.com/office/drawing/2014/main" id="{BE06AC2B-048A-72BD-3E25-E4DDDCD97F71}"/>
              </a:ext>
            </a:extLst>
          </p:cNvPr>
          <p:cNvPicPr>
            <a:picLocks noChangeAspect="1"/>
          </p:cNvPicPr>
          <p:nvPr/>
        </p:nvPicPr>
        <p:blipFill>
          <a:blip r:embed="rId8"/>
          <a:stretch>
            <a:fillRect/>
          </a:stretch>
        </p:blipFill>
        <p:spPr>
          <a:xfrm>
            <a:off x="812411" y="3822061"/>
            <a:ext cx="1644450" cy="1644450"/>
          </a:xfrm>
          <a:prstGeom prst="rect">
            <a:avLst/>
          </a:prstGeom>
        </p:spPr>
      </p:pic>
      <p:pic>
        <p:nvPicPr>
          <p:cNvPr id="1033" name="Picture 1032">
            <a:extLst>
              <a:ext uri="{FF2B5EF4-FFF2-40B4-BE49-F238E27FC236}">
                <a16:creationId xmlns:a16="http://schemas.microsoft.com/office/drawing/2014/main" id="{D3198853-24BB-3495-9522-A06286FD1BD3}"/>
              </a:ext>
            </a:extLst>
          </p:cNvPr>
          <p:cNvPicPr>
            <a:picLocks noChangeAspect="1"/>
          </p:cNvPicPr>
          <p:nvPr/>
        </p:nvPicPr>
        <p:blipFill>
          <a:blip r:embed="rId9"/>
          <a:stretch>
            <a:fillRect/>
          </a:stretch>
        </p:blipFill>
        <p:spPr>
          <a:xfrm>
            <a:off x="5795955" y="3714151"/>
            <a:ext cx="5819705" cy="1818443"/>
          </a:xfrm>
          <a:prstGeom prst="rect">
            <a:avLst/>
          </a:prstGeom>
        </p:spPr>
      </p:pic>
      <p:sp>
        <p:nvSpPr>
          <p:cNvPr id="3" name="TextBox 2">
            <a:extLst>
              <a:ext uri="{FF2B5EF4-FFF2-40B4-BE49-F238E27FC236}">
                <a16:creationId xmlns:a16="http://schemas.microsoft.com/office/drawing/2014/main" id="{F6B22519-408A-AC93-AD37-C70C8E86695D}"/>
              </a:ext>
            </a:extLst>
          </p:cNvPr>
          <p:cNvSpPr txBox="1"/>
          <p:nvPr/>
        </p:nvSpPr>
        <p:spPr>
          <a:xfrm>
            <a:off x="934763" y="3579888"/>
            <a:ext cx="1522098" cy="246221"/>
          </a:xfrm>
          <a:prstGeom prst="rect">
            <a:avLst/>
          </a:prstGeom>
          <a:noFill/>
        </p:spPr>
        <p:txBody>
          <a:bodyPr wrap="square" rtlCol="0">
            <a:spAutoFit/>
          </a:bodyPr>
          <a:lstStyle/>
          <a:p>
            <a:r>
              <a:rPr lang="en-CA" sz="1000" dirty="0">
                <a:solidFill>
                  <a:schemeClr val="bg2">
                    <a:lumMod val="90000"/>
                  </a:schemeClr>
                </a:solidFill>
              </a:rPr>
              <a:t>Generated by DALL-E</a:t>
            </a:r>
          </a:p>
        </p:txBody>
      </p:sp>
      <p:sp>
        <p:nvSpPr>
          <p:cNvPr id="5" name="TextBox 4">
            <a:extLst>
              <a:ext uri="{FF2B5EF4-FFF2-40B4-BE49-F238E27FC236}">
                <a16:creationId xmlns:a16="http://schemas.microsoft.com/office/drawing/2014/main" id="{C521AE84-05A7-C49A-67F8-F42EAA75BEEF}"/>
              </a:ext>
            </a:extLst>
          </p:cNvPr>
          <p:cNvSpPr txBox="1"/>
          <p:nvPr/>
        </p:nvSpPr>
        <p:spPr>
          <a:xfrm>
            <a:off x="2858694" y="5912355"/>
            <a:ext cx="3640905" cy="246221"/>
          </a:xfrm>
          <a:prstGeom prst="rect">
            <a:avLst/>
          </a:prstGeom>
          <a:noFill/>
        </p:spPr>
        <p:txBody>
          <a:bodyPr wrap="square">
            <a:spAutoFit/>
          </a:bodyPr>
          <a:lstStyle/>
          <a:p>
            <a:r>
              <a:rPr lang="en-CA" sz="1000" dirty="0">
                <a:solidFill>
                  <a:schemeClr val="bg2">
                    <a:lumMod val="90000"/>
                  </a:schemeClr>
                </a:solidFill>
              </a:rPr>
              <a:t>https://</a:t>
            </a:r>
            <a:r>
              <a:rPr lang="en-CA" sz="1000" dirty="0" err="1">
                <a:solidFill>
                  <a:schemeClr val="bg2">
                    <a:lumMod val="90000"/>
                  </a:schemeClr>
                </a:solidFill>
              </a:rPr>
              <a:t>quizlet.com</a:t>
            </a:r>
            <a:r>
              <a:rPr lang="en-CA" sz="1000" dirty="0">
                <a:solidFill>
                  <a:schemeClr val="bg2">
                    <a:lumMod val="90000"/>
                  </a:schemeClr>
                </a:solidFill>
              </a:rPr>
              <a:t>/537524242/15-electrons-in-atoms-flash-cards</a:t>
            </a:r>
          </a:p>
        </p:txBody>
      </p:sp>
      <p:sp>
        <p:nvSpPr>
          <p:cNvPr id="8" name="TextBox 7">
            <a:extLst>
              <a:ext uri="{FF2B5EF4-FFF2-40B4-BE49-F238E27FC236}">
                <a16:creationId xmlns:a16="http://schemas.microsoft.com/office/drawing/2014/main" id="{DAA85B1D-5835-CF7E-8F86-D881088A4819}"/>
              </a:ext>
            </a:extLst>
          </p:cNvPr>
          <p:cNvSpPr txBox="1"/>
          <p:nvPr/>
        </p:nvSpPr>
        <p:spPr>
          <a:xfrm>
            <a:off x="5937741" y="1147914"/>
            <a:ext cx="6140196" cy="400110"/>
          </a:xfrm>
          <a:prstGeom prst="rect">
            <a:avLst/>
          </a:prstGeom>
          <a:noFill/>
        </p:spPr>
        <p:txBody>
          <a:bodyPr wrap="square">
            <a:spAutoFit/>
          </a:bodyPr>
          <a:lstStyle/>
          <a:p>
            <a:r>
              <a:rPr lang="en-US" sz="1000" b="0" i="0" dirty="0">
                <a:solidFill>
                  <a:schemeClr val="bg2">
                    <a:lumMod val="90000"/>
                  </a:schemeClr>
                </a:solidFill>
                <a:effectLst/>
                <a:latin typeface="-apple-system"/>
              </a:rPr>
              <a:t>Dai, Q., Gao, Y. (2023). Mathematical Foundations of Hypergraph. In: Hypergraph Computation. Artificial Intelligence: Foundations, Theory, and Algorithms. Springer, Singapore</a:t>
            </a:r>
            <a:endParaRPr lang="en-CA" sz="1000" dirty="0">
              <a:solidFill>
                <a:schemeClr val="bg2">
                  <a:lumMod val="90000"/>
                </a:schemeClr>
              </a:solidFill>
            </a:endParaRPr>
          </a:p>
        </p:txBody>
      </p:sp>
    </p:spTree>
    <p:custDataLst>
      <p:tags r:id="rId1"/>
    </p:custDataLst>
    <p:extLst>
      <p:ext uri="{BB962C8B-B14F-4D97-AF65-F5344CB8AC3E}">
        <p14:creationId xmlns:p14="http://schemas.microsoft.com/office/powerpoint/2010/main" val="203825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2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03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03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p:bldP spid="32" grpId="0"/>
      <p:bldP spid="33" grpId="0"/>
      <p:bldP spid="34" grpId="0"/>
      <p:bldP spid="3" grpId="0"/>
      <p:bldP spid="5"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p:cNvSpPr>
            <a:spLocks noGrp="1"/>
          </p:cNvSpPr>
          <p:nvPr>
            <p:ph type="title"/>
          </p:nvPr>
        </p:nvSpPr>
        <p:spPr>
          <a:xfrm>
            <a:off x="7842647" y="2131191"/>
            <a:ext cx="4190206" cy="762000"/>
          </a:xfrm>
        </p:spPr>
        <p:txBody>
          <a:bodyPr>
            <a:noAutofit/>
          </a:bodyPr>
          <a:lstStyle/>
          <a:p>
            <a:pPr algn="ctr"/>
            <a:r>
              <a:rPr lang="en-CA" sz="4400" dirty="0">
                <a:latin typeface="Helvetica Neue" panose="02000503000000020004" pitchFamily="2" charset="0"/>
                <a:ea typeface="Helvetica Neue" panose="02000503000000020004" pitchFamily="2" charset="0"/>
                <a:cs typeface="Helvetica Neue" panose="02000503000000020004" pitchFamily="2" charset="0"/>
              </a:rPr>
              <a:t>Questions?</a:t>
            </a:r>
          </a:p>
        </p:txBody>
      </p:sp>
      <p:sp>
        <p:nvSpPr>
          <p:cNvPr id="3" name="Titel 1">
            <a:extLst>
              <a:ext uri="{FF2B5EF4-FFF2-40B4-BE49-F238E27FC236}">
                <a16:creationId xmlns:a16="http://schemas.microsoft.com/office/drawing/2014/main" id="{61BE9CC0-95AD-1603-8AD8-2F406992E27B}"/>
              </a:ext>
            </a:extLst>
          </p:cNvPr>
          <p:cNvSpPr txBox="1">
            <a:spLocks/>
          </p:cNvSpPr>
          <p:nvPr/>
        </p:nvSpPr>
        <p:spPr bwMode="auto">
          <a:xfrm>
            <a:off x="0" y="0"/>
            <a:ext cx="12280900" cy="1014750"/>
          </a:xfrm>
          <a:prstGeom prst="rect">
            <a:avLst/>
          </a:prstGeom>
          <a:solidFill>
            <a:srgbClr val="002060"/>
          </a:solidFill>
          <a:ln cap="flat">
            <a:noFill/>
          </a:ln>
          <a:effectLst>
            <a:softEdge rad="0"/>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2400">
                <a:solidFill>
                  <a:srgbClr val="333399"/>
                </a:solidFill>
                <a:latin typeface="+mj-lt"/>
                <a:ea typeface="+mj-ea"/>
                <a:cs typeface="+mj-cs"/>
              </a:defRPr>
            </a:lvl1pPr>
            <a:lvl2pPr algn="ctr" rtl="0" eaLnBrk="0" fontAlgn="base" hangingPunct="0">
              <a:spcBef>
                <a:spcPct val="0"/>
              </a:spcBef>
              <a:spcAft>
                <a:spcPct val="0"/>
              </a:spcAft>
              <a:defRPr sz="2400">
                <a:solidFill>
                  <a:srgbClr val="333399"/>
                </a:solidFill>
                <a:latin typeface="Comic Sans MS" pitchFamily="66" charset="0"/>
              </a:defRPr>
            </a:lvl2pPr>
            <a:lvl3pPr algn="ctr" rtl="0" eaLnBrk="0" fontAlgn="base" hangingPunct="0">
              <a:spcBef>
                <a:spcPct val="0"/>
              </a:spcBef>
              <a:spcAft>
                <a:spcPct val="0"/>
              </a:spcAft>
              <a:defRPr sz="2400">
                <a:solidFill>
                  <a:srgbClr val="333399"/>
                </a:solidFill>
                <a:latin typeface="Comic Sans MS" pitchFamily="66" charset="0"/>
              </a:defRPr>
            </a:lvl3pPr>
            <a:lvl4pPr algn="ctr" rtl="0" eaLnBrk="0" fontAlgn="base" hangingPunct="0">
              <a:spcBef>
                <a:spcPct val="0"/>
              </a:spcBef>
              <a:spcAft>
                <a:spcPct val="0"/>
              </a:spcAft>
              <a:defRPr sz="2400">
                <a:solidFill>
                  <a:srgbClr val="333399"/>
                </a:solidFill>
                <a:latin typeface="Comic Sans MS" pitchFamily="66" charset="0"/>
              </a:defRPr>
            </a:lvl4pPr>
            <a:lvl5pPr algn="ctr" rtl="0" eaLnBrk="0" fontAlgn="base" hangingPunct="0">
              <a:spcBef>
                <a:spcPct val="0"/>
              </a:spcBef>
              <a:spcAft>
                <a:spcPct val="0"/>
              </a:spcAft>
              <a:defRPr sz="2400">
                <a:solidFill>
                  <a:srgbClr val="333399"/>
                </a:solidFill>
                <a:latin typeface="Comic Sans MS" pitchFamily="66" charset="0"/>
              </a:defRPr>
            </a:lvl5pPr>
            <a:lvl6pPr marL="457200" algn="ctr" rtl="0" fontAlgn="base">
              <a:spcBef>
                <a:spcPct val="0"/>
              </a:spcBef>
              <a:spcAft>
                <a:spcPct val="0"/>
              </a:spcAft>
              <a:defRPr sz="2000">
                <a:solidFill>
                  <a:srgbClr val="333399"/>
                </a:solidFill>
                <a:latin typeface="Comic Sans MS" pitchFamily="66" charset="0"/>
              </a:defRPr>
            </a:lvl6pPr>
            <a:lvl7pPr marL="914400" algn="ctr" rtl="0" fontAlgn="base">
              <a:spcBef>
                <a:spcPct val="0"/>
              </a:spcBef>
              <a:spcAft>
                <a:spcPct val="0"/>
              </a:spcAft>
              <a:defRPr sz="2000">
                <a:solidFill>
                  <a:srgbClr val="333399"/>
                </a:solidFill>
                <a:latin typeface="Comic Sans MS" pitchFamily="66" charset="0"/>
              </a:defRPr>
            </a:lvl7pPr>
            <a:lvl8pPr marL="1371600" algn="ctr" rtl="0" fontAlgn="base">
              <a:spcBef>
                <a:spcPct val="0"/>
              </a:spcBef>
              <a:spcAft>
                <a:spcPct val="0"/>
              </a:spcAft>
              <a:defRPr sz="2000">
                <a:solidFill>
                  <a:srgbClr val="333399"/>
                </a:solidFill>
                <a:latin typeface="Comic Sans MS" pitchFamily="66" charset="0"/>
              </a:defRPr>
            </a:lvl8pPr>
            <a:lvl9pPr marL="1828800" algn="ctr" rtl="0" fontAlgn="base">
              <a:spcBef>
                <a:spcPct val="0"/>
              </a:spcBef>
              <a:spcAft>
                <a:spcPct val="0"/>
              </a:spcAft>
              <a:defRPr sz="2000">
                <a:solidFill>
                  <a:srgbClr val="333399"/>
                </a:solidFill>
                <a:latin typeface="Comic Sans MS" pitchFamily="66" charset="0"/>
              </a:defRPr>
            </a:lvl9pPr>
          </a:lstStyle>
          <a:p>
            <a:pPr lvl="2" algn="l" eaLnBrk="1" fontAlgn="auto" hangingPunct="1">
              <a:spcAft>
                <a:spcPts val="0"/>
              </a:spcAft>
              <a:defRPr/>
            </a:pPr>
            <a:endParaRPr lang="en-CA" sz="2800" kern="0" dirty="0">
              <a:solidFill>
                <a:schemeClr val="bg1"/>
              </a:solidFill>
              <a:latin typeface="Calibri Light" panose="020F0302020204030204" pitchFamily="34" charset="0"/>
              <a:cs typeface="Calibri Light" panose="020F0302020204030204" pitchFamily="34" charset="0"/>
            </a:endParaRPr>
          </a:p>
        </p:txBody>
      </p:sp>
      <p:pic>
        <p:nvPicPr>
          <p:cNvPr id="6" name="Picture 5">
            <a:extLst>
              <a:ext uri="{FF2B5EF4-FFF2-40B4-BE49-F238E27FC236}">
                <a16:creationId xmlns:a16="http://schemas.microsoft.com/office/drawing/2014/main" id="{BF68D3F3-E8B0-9DEB-A502-BC664D5D600D}"/>
              </a:ext>
            </a:extLst>
          </p:cNvPr>
          <p:cNvPicPr>
            <a:picLocks noChangeAspect="1"/>
          </p:cNvPicPr>
          <p:nvPr/>
        </p:nvPicPr>
        <p:blipFill>
          <a:blip r:embed="rId3"/>
          <a:stretch>
            <a:fillRect/>
          </a:stretch>
        </p:blipFill>
        <p:spPr>
          <a:xfrm>
            <a:off x="0" y="1014750"/>
            <a:ext cx="7594600" cy="5119349"/>
          </a:xfrm>
          <a:prstGeom prst="rect">
            <a:avLst/>
          </a:prstGeom>
        </p:spPr>
      </p:pic>
      <p:sp>
        <p:nvSpPr>
          <p:cNvPr id="2" name="Footer Placeholder 1">
            <a:extLst>
              <a:ext uri="{FF2B5EF4-FFF2-40B4-BE49-F238E27FC236}">
                <a16:creationId xmlns:a16="http://schemas.microsoft.com/office/drawing/2014/main" id="{A1D4FF17-676B-9719-6B37-6227142324CA}"/>
              </a:ext>
            </a:extLst>
          </p:cNvPr>
          <p:cNvSpPr>
            <a:spLocks noGrp="1"/>
          </p:cNvSpPr>
          <p:nvPr>
            <p:ph type="ftr" sz="quarter" idx="11"/>
          </p:nvPr>
        </p:nvSpPr>
        <p:spPr/>
        <p:txBody>
          <a:bodyPr/>
          <a:lstStyle/>
          <a:p>
            <a:r>
              <a:rPr lang="de-AT"/>
              <a:t>IJCAI 2026, Bremen, Germany I Phil LeMaitre I 20.08.2026</a:t>
            </a:r>
          </a:p>
        </p:txBody>
      </p:sp>
      <p:sp>
        <p:nvSpPr>
          <p:cNvPr id="4" name="Slide Number Placeholder 3">
            <a:extLst>
              <a:ext uri="{FF2B5EF4-FFF2-40B4-BE49-F238E27FC236}">
                <a16:creationId xmlns:a16="http://schemas.microsoft.com/office/drawing/2014/main" id="{E010BB95-D675-1CE9-0059-527A3560D2FC}"/>
              </a:ext>
            </a:extLst>
          </p:cNvPr>
          <p:cNvSpPr>
            <a:spLocks noGrp="1"/>
          </p:cNvSpPr>
          <p:nvPr>
            <p:ph type="sldNum" sz="quarter" idx="12"/>
          </p:nvPr>
        </p:nvSpPr>
        <p:spPr/>
        <p:txBody>
          <a:bodyPr/>
          <a:lstStyle/>
          <a:p>
            <a:fld id="{D0617D14-1B55-43C0-819D-0D244AC23646}" type="slidenum">
              <a:rPr lang="de-AT" smtClean="0"/>
              <a:t>18</a:t>
            </a:fld>
            <a:endParaRPr lang="de-AT"/>
          </a:p>
        </p:txBody>
      </p:sp>
      <p:pic>
        <p:nvPicPr>
          <p:cNvPr id="7" name="Picture 6">
            <a:extLst>
              <a:ext uri="{FF2B5EF4-FFF2-40B4-BE49-F238E27FC236}">
                <a16:creationId xmlns:a16="http://schemas.microsoft.com/office/drawing/2014/main" id="{D02A6081-137F-204C-B849-A145EA35DA71}"/>
              </a:ext>
            </a:extLst>
          </p:cNvPr>
          <p:cNvPicPr>
            <a:picLocks noChangeAspect="1"/>
          </p:cNvPicPr>
          <p:nvPr/>
        </p:nvPicPr>
        <p:blipFill>
          <a:blip r:embed="rId4"/>
          <a:stretch>
            <a:fillRect/>
          </a:stretch>
        </p:blipFill>
        <p:spPr>
          <a:xfrm>
            <a:off x="9112714" y="3429000"/>
            <a:ext cx="1746896" cy="1746896"/>
          </a:xfrm>
          <a:prstGeom prst="rect">
            <a:avLst/>
          </a:prstGeom>
        </p:spPr>
      </p:pic>
      <p:sp>
        <p:nvSpPr>
          <p:cNvPr id="8" name="TextBox 7">
            <a:extLst>
              <a:ext uri="{FF2B5EF4-FFF2-40B4-BE49-F238E27FC236}">
                <a16:creationId xmlns:a16="http://schemas.microsoft.com/office/drawing/2014/main" id="{93934B54-BC80-D6A0-51D2-04FB837FA902}"/>
              </a:ext>
            </a:extLst>
          </p:cNvPr>
          <p:cNvSpPr txBox="1"/>
          <p:nvPr/>
        </p:nvSpPr>
        <p:spPr>
          <a:xfrm>
            <a:off x="8828327" y="5175896"/>
            <a:ext cx="2517961" cy="646331"/>
          </a:xfrm>
          <a:prstGeom prst="rect">
            <a:avLst/>
          </a:prstGeom>
          <a:noFill/>
        </p:spPr>
        <p:txBody>
          <a:bodyPr wrap="square">
            <a:spAutoFit/>
          </a:bodyPr>
          <a:lstStyle/>
          <a:p>
            <a:r>
              <a:rPr lang="de-DE" i="1" dirty="0" err="1">
                <a:solidFill>
                  <a:srgbClr val="0000FF"/>
                </a:solidFill>
                <a:latin typeface="Helvetica Neue" panose="02000503000000020004" pitchFamily="2" charset="0"/>
                <a:ea typeface="Helvetica Neue" panose="02000503000000020004" pitchFamily="2" charset="0"/>
                <a:cs typeface="Helvetica Neue" panose="02000503000000020004" pitchFamily="2" charset="0"/>
              </a:rPr>
              <a:t>Artificial</a:t>
            </a:r>
            <a:r>
              <a:rPr lang="de-DE" i="1" dirty="0">
                <a:solidFill>
                  <a:srgbClr val="0000FF"/>
                </a:solidFill>
                <a:latin typeface="Helvetica Neue" panose="02000503000000020004" pitchFamily="2" charset="0"/>
                <a:ea typeface="Helvetica Neue" panose="02000503000000020004" pitchFamily="2" charset="0"/>
                <a:cs typeface="Helvetica Neue" panose="02000503000000020004" pitchFamily="2" charset="0"/>
              </a:rPr>
              <a:t> </a:t>
            </a:r>
            <a:r>
              <a:rPr lang="de-DE" i="1" dirty="0" err="1">
                <a:solidFill>
                  <a:srgbClr val="0000FF"/>
                </a:solidFill>
                <a:latin typeface="Helvetica Neue" panose="02000503000000020004" pitchFamily="2" charset="0"/>
                <a:ea typeface="Helvetica Neue" panose="02000503000000020004" pitchFamily="2" charset="0"/>
                <a:cs typeface="Helvetica Neue" panose="02000503000000020004" pitchFamily="2" charset="0"/>
              </a:rPr>
              <a:t>Intelligence</a:t>
            </a:r>
            <a:r>
              <a:rPr lang="de-DE" i="1" dirty="0">
                <a:solidFill>
                  <a:srgbClr val="0000FF"/>
                </a:solidFill>
                <a:latin typeface="Helvetica Neue" panose="02000503000000020004" pitchFamily="2" charset="0"/>
                <a:ea typeface="Helvetica Neue" panose="02000503000000020004" pitchFamily="2" charset="0"/>
                <a:cs typeface="Helvetica Neue" panose="02000503000000020004" pitchFamily="2" charset="0"/>
              </a:rPr>
              <a:t> </a:t>
            </a:r>
            <a:r>
              <a:rPr lang="de-DE" dirty="0">
                <a:solidFill>
                  <a:srgbClr val="0000FF"/>
                </a:solidFill>
                <a:latin typeface="Helvetica Neue" panose="02000503000000020004" pitchFamily="2" charset="0"/>
                <a:ea typeface="Helvetica Neue" panose="02000503000000020004" pitchFamily="2" charset="0"/>
                <a:cs typeface="Helvetica Neue" panose="02000503000000020004" pitchFamily="2" charset="0"/>
              </a:rPr>
              <a:t>352</a:t>
            </a:r>
            <a:r>
              <a:rPr lang="de-DE" i="1" dirty="0">
                <a:solidFill>
                  <a:srgbClr val="0000FF"/>
                </a:solidFill>
                <a:latin typeface="Helvetica Neue" panose="02000503000000020004" pitchFamily="2" charset="0"/>
                <a:ea typeface="Helvetica Neue" panose="02000503000000020004" pitchFamily="2" charset="0"/>
                <a:cs typeface="Helvetica Neue" panose="02000503000000020004" pitchFamily="2" charset="0"/>
              </a:rPr>
              <a:t>, </a:t>
            </a:r>
            <a:r>
              <a:rPr lang="de-DE" dirty="0">
                <a:solidFill>
                  <a:srgbClr val="0000FF"/>
                </a:solidFill>
                <a:latin typeface="Helvetica Neue" panose="02000503000000020004" pitchFamily="2" charset="0"/>
                <a:ea typeface="Helvetica Neue" panose="02000503000000020004" pitchFamily="2" charset="0"/>
                <a:cs typeface="Helvetica Neue" panose="02000503000000020004" pitchFamily="2" charset="0"/>
              </a:rPr>
              <a:t>104489</a:t>
            </a:r>
            <a:r>
              <a:rPr lang="en-US" dirty="0">
                <a:latin typeface="Helvetica Neue" panose="02000503000000020004" pitchFamily="2" charset="0"/>
                <a:ea typeface="Helvetica Neue" panose="02000503000000020004" pitchFamily="2" charset="0"/>
                <a:cs typeface="Helvetica Neue" panose="02000503000000020004" pitchFamily="2" charset="0"/>
              </a:rPr>
              <a:t> </a:t>
            </a:r>
            <a:r>
              <a:rPr lang="de-DE" dirty="0">
                <a:solidFill>
                  <a:srgbClr val="0000FF"/>
                </a:solidFill>
                <a:latin typeface="Helvetica Neue" panose="02000503000000020004" pitchFamily="2" charset="0"/>
                <a:ea typeface="Helvetica Neue" panose="02000503000000020004" pitchFamily="2" charset="0"/>
                <a:cs typeface="Helvetica Neue" panose="02000503000000020004" pitchFamily="2" charset="0"/>
              </a:rPr>
              <a:t>(2026) </a:t>
            </a:r>
            <a:endParaRPr lang="en-CA" dirty="0">
              <a:latin typeface="Helvetica Neue" panose="02000503000000020004" pitchFamily="2" charset="0"/>
              <a:ea typeface="Helvetica Neue" panose="02000503000000020004" pitchFamily="2" charset="0"/>
              <a:cs typeface="Helvetica Neue" panose="02000503000000020004" pitchFamily="2" charset="0"/>
            </a:endParaRPr>
          </a:p>
        </p:txBody>
      </p:sp>
    </p:spTree>
    <p:extLst>
      <p:ext uri="{BB962C8B-B14F-4D97-AF65-F5344CB8AC3E}">
        <p14:creationId xmlns:p14="http://schemas.microsoft.com/office/powerpoint/2010/main" val="180604314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33.7"/>
</p:tagLst>
</file>

<file path=ppt/tags/tag2.xml><?xml version="1.0" encoding="utf-8"?>
<p:tagLst xmlns:a="http://schemas.openxmlformats.org/drawingml/2006/main" xmlns:r="http://schemas.openxmlformats.org/officeDocument/2006/relationships" xmlns:p="http://schemas.openxmlformats.org/presentationml/2006/main">
  <p:tag name="TIMING" val="|58.6|10.8|25.4|35.5|0.6"/>
</p:tagLst>
</file>

<file path=ppt/tags/tag3.xml><?xml version="1.0" encoding="utf-8"?>
<p:tagLst xmlns:a="http://schemas.openxmlformats.org/drawingml/2006/main" xmlns:r="http://schemas.openxmlformats.org/officeDocument/2006/relationships" xmlns:p="http://schemas.openxmlformats.org/presentationml/2006/main">
  <p:tag name="TIMING" val="|33.7"/>
</p:tagLst>
</file>

<file path=ppt/tags/tag4.xml><?xml version="1.0" encoding="utf-8"?>
<p:tagLst xmlns:a="http://schemas.openxmlformats.org/drawingml/2006/main" xmlns:r="http://schemas.openxmlformats.org/officeDocument/2006/relationships" xmlns:p="http://schemas.openxmlformats.org/presentationml/2006/main">
  <p:tag name="TIMING" val="|32.7"/>
</p:tagLst>
</file>

<file path=ppt/tags/tag5.xml><?xml version="1.0" encoding="utf-8"?>
<p:tagLst xmlns:a="http://schemas.openxmlformats.org/drawingml/2006/main" xmlns:r="http://schemas.openxmlformats.org/officeDocument/2006/relationships" xmlns:p="http://schemas.openxmlformats.org/presentationml/2006/main">
  <p:tag name="TIMING" val="|3|29.8|31.3|34.6|30.5|16.9"/>
</p:tagLst>
</file>

<file path=ppt/tags/tag6.xml><?xml version="1.0" encoding="utf-8"?>
<p:tagLst xmlns:a="http://schemas.openxmlformats.org/drawingml/2006/main" xmlns:r="http://schemas.openxmlformats.org/officeDocument/2006/relationships" xmlns:p="http://schemas.openxmlformats.org/presentationml/2006/main">
  <p:tag name="TIMING" val="|7.8|21.8|15.2|19.3|25.3|6.9"/>
</p:tagLst>
</file>

<file path=ppt/tags/tag7.xml><?xml version="1.0" encoding="utf-8"?>
<p:tagLst xmlns:a="http://schemas.openxmlformats.org/drawingml/2006/main" xmlns:r="http://schemas.openxmlformats.org/officeDocument/2006/relationships" xmlns:p="http://schemas.openxmlformats.org/presentationml/2006/main">
  <p:tag name="TIMING" val="|81|64.2|20.1|23.4|29.6"/>
</p:tagLst>
</file>

<file path=ppt/tags/tag8.xml><?xml version="1.0" encoding="utf-8"?>
<p:tagLst xmlns:a="http://schemas.openxmlformats.org/drawingml/2006/main" xmlns:r="http://schemas.openxmlformats.org/officeDocument/2006/relationships" xmlns:p="http://schemas.openxmlformats.org/presentationml/2006/main">
  <p:tag name="TIMING" val="|81|64.2|20.1|23.4|29.6"/>
</p:tagLst>
</file>

<file path=ppt/tags/tag9.xml><?xml version="1.0" encoding="utf-8"?>
<p:tagLst xmlns:a="http://schemas.openxmlformats.org/drawingml/2006/main" xmlns:r="http://schemas.openxmlformats.org/officeDocument/2006/relationships" xmlns:p="http://schemas.openxmlformats.org/presentationml/2006/main">
  <p:tag name="TIMING" val="|18.9|5.4|18|9.3|8.8"/>
</p:tagLst>
</file>

<file path=ppt/tags/tag10.xml><?xml version="1.0" encoding="utf-8"?>
<p:tagLst xmlns:a="http://schemas.openxmlformats.org/drawingml/2006/main" xmlns:r="http://schemas.openxmlformats.org/officeDocument/2006/relationships" xmlns:p="http://schemas.openxmlformats.org/presentationml/2006/main">
  <p:tag name="TIMING" val="|3|6.4|14|13.7|20.4"/>
</p:tagLst>
</file>

<file path=ppt/theme/theme1.xml><?xml version="1.0" encoding="utf-8"?>
<a:theme xmlns:a="http://schemas.openxmlformats.org/drawingml/2006/main" name="Office">
  <a:themeElements>
    <a:clrScheme name="UIBK">
      <a:dk1>
        <a:sysClr val="windowText" lastClr="000000"/>
      </a:dk1>
      <a:lt1>
        <a:sysClr val="window" lastClr="FFFFFF"/>
      </a:lt1>
      <a:dk2>
        <a:srgbClr val="44546A"/>
      </a:dk2>
      <a:lt2>
        <a:srgbClr val="E7E6E6"/>
      </a:lt2>
      <a:accent1>
        <a:srgbClr val="003361"/>
      </a:accent1>
      <a:accent2>
        <a:srgbClr val="F39200"/>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IBK Vorlage.potx" id="{58FE73E0-1F97-4983-8CCE-E0D27B996328}" vid="{0FC2F37A-9B86-4E8E-9FF9-7FC6DC429F6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37535</TotalTime>
  <Words>5954</Words>
  <Application>Microsoft Macintosh PowerPoint</Application>
  <PresentationFormat>Widescreen</PresentationFormat>
  <Paragraphs>617</Paragraphs>
  <Slides>18</Slides>
  <Notes>16</Notes>
  <HiddenSlides>10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18</vt:i4>
      </vt:variant>
    </vt:vector>
  </HeadingPairs>
  <TitlesOfParts>
    <vt:vector size="30" baseType="lpstr">
      <vt:lpstr>-apple-system</vt:lpstr>
      <vt:lpstr>Aptos</vt:lpstr>
      <vt:lpstr>Arial</vt:lpstr>
      <vt:lpstr>Calibri</vt:lpstr>
      <vt:lpstr>Calibri Light</vt:lpstr>
      <vt:lpstr>Cambria Math</vt:lpstr>
      <vt:lpstr>Helvetica Neue</vt:lpstr>
      <vt:lpstr>Söhne</vt:lpstr>
      <vt:lpstr>Symbol</vt:lpstr>
      <vt:lpstr>Times New Roman</vt:lpstr>
      <vt:lpstr>Wingdings</vt:lpstr>
      <vt:lpstr>Office</vt:lpstr>
      <vt:lpstr>A Multi-Excitation Projective Simulation Agent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Phil L</dc:creator>
  <cp:lastModifiedBy>Mark L</cp:lastModifiedBy>
  <cp:revision>170</cp:revision>
  <dcterms:created xsi:type="dcterms:W3CDTF">2024-02-16T21:19:37Z</dcterms:created>
  <dcterms:modified xsi:type="dcterms:W3CDTF">2026-08-20T07:58:08Z</dcterms:modified>
</cp:coreProperties>
</file>