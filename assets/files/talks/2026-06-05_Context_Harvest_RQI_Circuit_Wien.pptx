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2.xml" ContentType="application/vnd.openxmlformats-officedocument.presentationml.tag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6"/>
  </p:notesMasterIdLst>
  <p:sldIdLst>
    <p:sldId id="260" r:id="rId2"/>
    <p:sldId id="306" r:id="rId3"/>
    <p:sldId id="309" r:id="rId4"/>
    <p:sldId id="337" r:id="rId5"/>
    <p:sldId id="308" r:id="rId6"/>
    <p:sldId id="328" r:id="rId7"/>
    <p:sldId id="310" r:id="rId8"/>
    <p:sldId id="314" r:id="rId9"/>
    <p:sldId id="334" r:id="rId10"/>
    <p:sldId id="326" r:id="rId11"/>
    <p:sldId id="315" r:id="rId12"/>
    <p:sldId id="330" r:id="rId13"/>
    <p:sldId id="317" r:id="rId14"/>
    <p:sldId id="339" r:id="rId15"/>
    <p:sldId id="342" r:id="rId16"/>
    <p:sldId id="343" r:id="rId17"/>
    <p:sldId id="321" r:id="rId18"/>
    <p:sldId id="346" r:id="rId19"/>
    <p:sldId id="347" r:id="rId20"/>
    <p:sldId id="348" r:id="rId21"/>
    <p:sldId id="287" r:id="rId22"/>
    <p:sldId id="325" r:id="rId23"/>
    <p:sldId id="270" r:id="rId24"/>
    <p:sldId id="34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AFF"/>
    <a:srgbClr val="FCFAC1"/>
    <a:srgbClr val="FF524D"/>
    <a:srgbClr val="FF7972"/>
    <a:srgbClr val="FF9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71"/>
    <p:restoredTop sz="87849"/>
  </p:normalViewPr>
  <p:slideViewPr>
    <p:cSldViewPr snapToGrid="0">
      <p:cViewPr>
        <p:scale>
          <a:sx n="112" d="100"/>
          <a:sy n="112" d="100"/>
        </p:scale>
        <p:origin x="1288" y="144"/>
      </p:cViewPr>
      <p:guideLst/>
    </p:cSldViewPr>
  </p:slid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6D1FF0-3E54-6E47-B0C8-5E62699D42EE}" type="datetimeFigureOut">
              <a:rPr lang="en-CA" smtClean="0"/>
              <a:t>2026-06-01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720B4-AB10-0342-9541-2DF5352E8B38}" type="slidenum">
              <a:rPr lang="en-CA" smtClean="0"/>
              <a:t>‹#›</a:t>
            </a:fld>
            <a:endParaRPr lang="en-CA"/>
          </a:p>
        </p:txBody>
      </p:sp>
    </p:spTree>
    <p:extLst>
      <p:ext uri="{BB962C8B-B14F-4D97-AF65-F5344CB8AC3E}">
        <p14:creationId xmlns:p14="http://schemas.microsoft.com/office/powerpoint/2010/main" val="3643010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Hi everyone, thanks for coming to my presentation. My name is Phil and I am a PhD student from the University of Innsbruck in the group of Hans </a:t>
            </a:r>
            <a:r>
              <a:rPr lang="en-CA" dirty="0" err="1"/>
              <a:t>Briegel</a:t>
            </a:r>
            <a:r>
              <a:rPr lang="en-CA" dirty="0"/>
              <a:t>. Today I will be talking about Multi-Excitation Projective Simulation.</a:t>
            </a:r>
          </a:p>
        </p:txBody>
      </p:sp>
      <p:sp>
        <p:nvSpPr>
          <p:cNvPr id="4" name="Slide Number Placeholder 3"/>
          <p:cNvSpPr>
            <a:spLocks noGrp="1"/>
          </p:cNvSpPr>
          <p:nvPr>
            <p:ph type="sldNum" sz="quarter" idx="5"/>
          </p:nvPr>
        </p:nvSpPr>
        <p:spPr/>
        <p:txBody>
          <a:bodyPr/>
          <a:lstStyle/>
          <a:p>
            <a:fld id="{E40720B4-AB10-0342-9541-2DF5352E8B38}" type="slidenum">
              <a:rPr lang="en-CA" smtClean="0"/>
              <a:t>1</a:t>
            </a:fld>
            <a:endParaRPr lang="en-CA"/>
          </a:p>
        </p:txBody>
      </p:sp>
    </p:spTree>
    <p:extLst>
      <p:ext uri="{BB962C8B-B14F-4D97-AF65-F5344CB8AC3E}">
        <p14:creationId xmlns:p14="http://schemas.microsoft.com/office/powerpoint/2010/main" val="1747424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D77B2-3C89-9933-D532-CD69B55AE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D50A6-B193-3461-414B-E9F51AF82F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8AF0D-D87C-014E-EA5C-4717CE91A7D5}"/>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5002084B-3C5D-BDD8-D314-F4D579A0D107}"/>
              </a:ext>
            </a:extLst>
          </p:cNvPr>
          <p:cNvSpPr>
            <a:spLocks noGrp="1"/>
          </p:cNvSpPr>
          <p:nvPr>
            <p:ph type="sldNum" sz="quarter" idx="5"/>
          </p:nvPr>
        </p:nvSpPr>
        <p:spPr/>
        <p:txBody>
          <a:bodyPr/>
          <a:lstStyle/>
          <a:p>
            <a:fld id="{E40720B4-AB10-0342-9541-2DF5352E8B38}" type="slidenum">
              <a:rPr lang="en-CA" smtClean="0"/>
              <a:t>2</a:t>
            </a:fld>
            <a:endParaRPr lang="en-CA"/>
          </a:p>
        </p:txBody>
      </p:sp>
    </p:spTree>
    <p:extLst>
      <p:ext uri="{BB962C8B-B14F-4D97-AF65-F5344CB8AC3E}">
        <p14:creationId xmlns:p14="http://schemas.microsoft.com/office/powerpoint/2010/main" val="2716158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2F88E-F135-502B-9E3F-5DD5303CB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F8295-ED38-BE69-21A3-B6032CB30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691EA-23DD-9014-58CD-5CD29F6B111C}"/>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D42DB024-C336-4CD6-5F6E-A0B336DBA52E}"/>
              </a:ext>
            </a:extLst>
          </p:cNvPr>
          <p:cNvSpPr>
            <a:spLocks noGrp="1"/>
          </p:cNvSpPr>
          <p:nvPr>
            <p:ph type="sldNum" sz="quarter" idx="5"/>
          </p:nvPr>
        </p:nvSpPr>
        <p:spPr/>
        <p:txBody>
          <a:bodyPr/>
          <a:lstStyle/>
          <a:p>
            <a:fld id="{E40720B4-AB10-0342-9541-2DF5352E8B38}" type="slidenum">
              <a:rPr lang="en-CA" smtClean="0"/>
              <a:t>3</a:t>
            </a:fld>
            <a:endParaRPr lang="en-CA"/>
          </a:p>
        </p:txBody>
      </p:sp>
    </p:spTree>
    <p:extLst>
      <p:ext uri="{BB962C8B-B14F-4D97-AF65-F5344CB8AC3E}">
        <p14:creationId xmlns:p14="http://schemas.microsoft.com/office/powerpoint/2010/main" val="4104110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6D39C-4C90-E093-25C7-DCEE55B42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BBB4D-BDF0-8177-1934-FD87B2D9B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2AFC91-E2DA-19DE-15F6-DB381FA27904}"/>
              </a:ext>
            </a:extLst>
          </p:cNvPr>
          <p:cNvSpPr>
            <a:spLocks noGrp="1"/>
          </p:cNvSpPr>
          <p:nvPr>
            <p:ph type="body" idx="1"/>
          </p:nvPr>
        </p:nvSpPr>
        <p:spPr/>
        <p:txBody>
          <a:bodyPr/>
          <a:lstStyle/>
          <a:p>
            <a:pPr marL="171450" indent="-171450">
              <a:buFont typeface="Arial" panose="020B0604020202020204" pitchFamily="34" charset="0"/>
              <a:buChar char="•"/>
            </a:pPr>
            <a:r>
              <a:rPr lang="en-CA" dirty="0"/>
              <a:t>Since we have only two possible values and the -1,-1 outcome cant happen, the graph of the projectors associated to -1 should have max independence number equal to 2</a:t>
            </a:r>
          </a:p>
          <a:p>
            <a:pPr marL="171450" indent="-171450">
              <a:buFont typeface="Arial" panose="020B0604020202020204" pitchFamily="34" charset="0"/>
              <a:buChar char="•"/>
            </a:pPr>
            <a:r>
              <a:rPr lang="en-CA" dirty="0"/>
              <a:t>Then the expected value of the -1 outcomes with respect to a global distribution should just be the sum of the -1 marginals</a:t>
            </a:r>
          </a:p>
          <a:p>
            <a:endParaRPr lang="en-CA" dirty="0"/>
          </a:p>
        </p:txBody>
      </p:sp>
      <p:sp>
        <p:nvSpPr>
          <p:cNvPr id="4" name="Slide Number Placeholder 3">
            <a:extLst>
              <a:ext uri="{FF2B5EF4-FFF2-40B4-BE49-F238E27FC236}">
                <a16:creationId xmlns:a16="http://schemas.microsoft.com/office/drawing/2014/main" id="{9F4B5FAE-2035-AE7D-27ED-BEDF5F2499EE}"/>
              </a:ext>
            </a:extLst>
          </p:cNvPr>
          <p:cNvSpPr>
            <a:spLocks noGrp="1"/>
          </p:cNvSpPr>
          <p:nvPr>
            <p:ph type="sldNum" sz="quarter" idx="5"/>
          </p:nvPr>
        </p:nvSpPr>
        <p:spPr/>
        <p:txBody>
          <a:bodyPr/>
          <a:lstStyle/>
          <a:p>
            <a:fld id="{E40720B4-AB10-0342-9541-2DF5352E8B38}" type="slidenum">
              <a:rPr lang="en-CA" smtClean="0"/>
              <a:t>4</a:t>
            </a:fld>
            <a:endParaRPr lang="en-CA"/>
          </a:p>
        </p:txBody>
      </p:sp>
    </p:spTree>
    <p:extLst>
      <p:ext uri="{BB962C8B-B14F-4D97-AF65-F5344CB8AC3E}">
        <p14:creationId xmlns:p14="http://schemas.microsoft.com/office/powerpoint/2010/main" val="2739999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B550-868C-82D5-158D-C2578EC6E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08073-2F21-C70A-8F83-BDCBE732FC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F4494-49B5-356E-C3B8-A030C0227560}"/>
              </a:ext>
            </a:extLst>
          </p:cNvPr>
          <p:cNvSpPr>
            <a:spLocks noGrp="1"/>
          </p:cNvSpPr>
          <p:nvPr>
            <p:ph type="body" idx="1"/>
          </p:nvPr>
        </p:nvSpPr>
        <p:spPr/>
        <p:txBody>
          <a:bodyPr/>
          <a:lstStyle/>
          <a:p>
            <a:pPr marL="171450" indent="-171450">
              <a:buFont typeface="Arial" panose="020B0604020202020204" pitchFamily="34" charset="0"/>
              <a:buChar char="•"/>
            </a:pPr>
            <a:r>
              <a:rPr lang="en-CA" dirty="0"/>
              <a:t>Knowledge balance principle: If one has maximal knowledge, then for every system, at every time, the amount of knowledge one possesses about the ontic state of the system at that time must equal the amount of knowledge one lacks.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t>Contextuality/nonlocality resist a classical explanation, so I will take them to be the defining feature of what makes quantum theory non-classical.</a:t>
            </a:r>
          </a:p>
          <a:p>
            <a:pPr marL="171450" indent="-171450">
              <a:buFont typeface="Arial" panose="020B0604020202020204" pitchFamily="34" charset="0"/>
              <a:buChar char="•"/>
            </a:pPr>
            <a:endParaRPr lang="en-CA" dirty="0"/>
          </a:p>
          <a:p>
            <a:endParaRPr lang="en-CA" dirty="0"/>
          </a:p>
        </p:txBody>
      </p:sp>
      <p:sp>
        <p:nvSpPr>
          <p:cNvPr id="4" name="Slide Number Placeholder 3">
            <a:extLst>
              <a:ext uri="{FF2B5EF4-FFF2-40B4-BE49-F238E27FC236}">
                <a16:creationId xmlns:a16="http://schemas.microsoft.com/office/drawing/2014/main" id="{C3C83ED6-076B-E47F-123D-74EF0BA7376C}"/>
              </a:ext>
            </a:extLst>
          </p:cNvPr>
          <p:cNvSpPr>
            <a:spLocks noGrp="1"/>
          </p:cNvSpPr>
          <p:nvPr>
            <p:ph type="sldNum" sz="quarter" idx="5"/>
          </p:nvPr>
        </p:nvSpPr>
        <p:spPr/>
        <p:txBody>
          <a:bodyPr/>
          <a:lstStyle/>
          <a:p>
            <a:fld id="{E40720B4-AB10-0342-9541-2DF5352E8B38}" type="slidenum">
              <a:rPr lang="en-CA" smtClean="0"/>
              <a:t>5</a:t>
            </a:fld>
            <a:endParaRPr lang="en-CA"/>
          </a:p>
        </p:txBody>
      </p:sp>
    </p:spTree>
    <p:extLst>
      <p:ext uri="{BB962C8B-B14F-4D97-AF65-F5344CB8AC3E}">
        <p14:creationId xmlns:p14="http://schemas.microsoft.com/office/powerpoint/2010/main" val="3781602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9F8F1-B448-24BD-7CBE-E9C685911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93DC7-EEB8-A58A-05D5-EE579C26EB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AFD8F-9AC1-A81D-C9A4-74D59B2231B2}"/>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Contextuality generalizes familiar nonclassical resources such as magic and nonlocal entanglement, and is equivalent to Wigner negativity as a measure of non-classicality</a:t>
            </a:r>
            <a:endParaRPr lang="en-CA" dirty="0"/>
          </a:p>
          <a:p>
            <a:r>
              <a:rPr lang="en-CA" dirty="0"/>
              <a:t>Just say which contextuality in particular relates them</a:t>
            </a:r>
          </a:p>
          <a:p>
            <a:pPr marL="171450" indent="-171450">
              <a:buFont typeface="Arial" panose="020B0604020202020204" pitchFamily="34" charset="0"/>
              <a:buChar char="•"/>
            </a:pPr>
            <a:r>
              <a:rPr lang="en-CA" dirty="0"/>
              <a:t>Bell non-locality is just contextuality of spatially-separated subsystems via Fine’s theorem</a:t>
            </a:r>
          </a:p>
          <a:p>
            <a:pPr marL="171450" indent="-171450">
              <a:buFont typeface="Arial" panose="020B0604020202020204" pitchFamily="34" charset="0"/>
              <a:buChar char="•"/>
            </a:pPr>
            <a:r>
              <a:rPr lang="en-CA" dirty="0"/>
              <a:t>Magic is the contextual non-stabilizer resource (for specific kinds of systems, like qutrits)</a:t>
            </a:r>
          </a:p>
          <a:p>
            <a:pPr marL="171450" indent="-171450">
              <a:buFont typeface="Arial" panose="020B0604020202020204" pitchFamily="34" charset="0"/>
              <a:buChar char="•"/>
            </a:pPr>
            <a:r>
              <a:rPr lang="en-CA" dirty="0"/>
              <a:t>Wigner negativity is the same as generalized contextuality since one can either change the basis for the ontological model or allow negative values for the measure</a:t>
            </a:r>
          </a:p>
        </p:txBody>
      </p:sp>
      <p:sp>
        <p:nvSpPr>
          <p:cNvPr id="4" name="Slide Number Placeholder 3">
            <a:extLst>
              <a:ext uri="{FF2B5EF4-FFF2-40B4-BE49-F238E27FC236}">
                <a16:creationId xmlns:a16="http://schemas.microsoft.com/office/drawing/2014/main" id="{7EBD97E3-FE8A-C0C9-E834-E8A1A696B134}"/>
              </a:ext>
            </a:extLst>
          </p:cNvPr>
          <p:cNvSpPr>
            <a:spLocks noGrp="1"/>
          </p:cNvSpPr>
          <p:nvPr>
            <p:ph type="sldNum" sz="quarter" idx="5"/>
          </p:nvPr>
        </p:nvSpPr>
        <p:spPr/>
        <p:txBody>
          <a:bodyPr/>
          <a:lstStyle/>
          <a:p>
            <a:fld id="{E40720B4-AB10-0342-9541-2DF5352E8B38}" type="slidenum">
              <a:rPr lang="en-CA" smtClean="0"/>
              <a:t>6</a:t>
            </a:fld>
            <a:endParaRPr lang="en-CA"/>
          </a:p>
        </p:txBody>
      </p:sp>
    </p:spTree>
    <p:extLst>
      <p:ext uri="{BB962C8B-B14F-4D97-AF65-F5344CB8AC3E}">
        <p14:creationId xmlns:p14="http://schemas.microsoft.com/office/powerpoint/2010/main" val="1949764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B9B5C-0E5C-C3DF-C3ED-D42E26A7E5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B6358-9D89-70DD-7004-8EBFEEF75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D9EB5C-F26A-D7DD-8E72-3E7C01044F9C}"/>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66BA56F7-D554-A5AE-418B-85F08B193267}"/>
              </a:ext>
            </a:extLst>
          </p:cNvPr>
          <p:cNvSpPr>
            <a:spLocks noGrp="1"/>
          </p:cNvSpPr>
          <p:nvPr>
            <p:ph type="sldNum" sz="quarter" idx="5"/>
          </p:nvPr>
        </p:nvSpPr>
        <p:spPr/>
        <p:txBody>
          <a:bodyPr/>
          <a:lstStyle/>
          <a:p>
            <a:fld id="{E40720B4-AB10-0342-9541-2DF5352E8B38}" type="slidenum">
              <a:rPr lang="en-CA" smtClean="0"/>
              <a:t>7</a:t>
            </a:fld>
            <a:endParaRPr lang="en-CA"/>
          </a:p>
        </p:txBody>
      </p:sp>
    </p:spTree>
    <p:extLst>
      <p:ext uri="{BB962C8B-B14F-4D97-AF65-F5344CB8AC3E}">
        <p14:creationId xmlns:p14="http://schemas.microsoft.com/office/powerpoint/2010/main" val="1808116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2E637-7921-98FB-497C-36AEB1877B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90CB1-0943-B44A-D0F5-9C993B36E5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24807-E38B-E4FD-DFE4-8C4ADE72921F}"/>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AA94D81C-523D-B9AE-F209-53C8162E9361}"/>
              </a:ext>
            </a:extLst>
          </p:cNvPr>
          <p:cNvSpPr>
            <a:spLocks noGrp="1"/>
          </p:cNvSpPr>
          <p:nvPr>
            <p:ph type="sldNum" sz="quarter" idx="5"/>
          </p:nvPr>
        </p:nvSpPr>
        <p:spPr/>
        <p:txBody>
          <a:bodyPr/>
          <a:lstStyle/>
          <a:p>
            <a:fld id="{E40720B4-AB10-0342-9541-2DF5352E8B38}" type="slidenum">
              <a:rPr lang="en-CA" smtClean="0"/>
              <a:t>8</a:t>
            </a:fld>
            <a:endParaRPr lang="en-CA"/>
          </a:p>
        </p:txBody>
      </p:sp>
    </p:spTree>
    <p:extLst>
      <p:ext uri="{BB962C8B-B14F-4D97-AF65-F5344CB8AC3E}">
        <p14:creationId xmlns:p14="http://schemas.microsoft.com/office/powerpoint/2010/main" val="2418087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AAF6D-FC4D-E0D9-EAB1-20C544D396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58A9C-3CDF-89B9-9732-51CBA0390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E941F-2640-CA07-1F4B-932045AC8E8E}"/>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F5E01BD8-E24E-2556-5F0B-073E3E08E042}"/>
              </a:ext>
            </a:extLst>
          </p:cNvPr>
          <p:cNvSpPr>
            <a:spLocks noGrp="1"/>
          </p:cNvSpPr>
          <p:nvPr>
            <p:ph type="sldNum" sz="quarter" idx="5"/>
          </p:nvPr>
        </p:nvSpPr>
        <p:spPr/>
        <p:txBody>
          <a:bodyPr/>
          <a:lstStyle/>
          <a:p>
            <a:fld id="{E40720B4-AB10-0342-9541-2DF5352E8B38}" type="slidenum">
              <a:rPr lang="en-CA" smtClean="0"/>
              <a:t>9</a:t>
            </a:fld>
            <a:endParaRPr lang="en-CA"/>
          </a:p>
        </p:txBody>
      </p:sp>
    </p:spTree>
    <p:extLst>
      <p:ext uri="{BB962C8B-B14F-4D97-AF65-F5344CB8AC3E}">
        <p14:creationId xmlns:p14="http://schemas.microsoft.com/office/powerpoint/2010/main" val="2994859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B8D15-A926-BD1F-6E44-60AA0F648E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176CDE-17B3-2973-F96C-DD6598E82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83B68-E96C-2E52-A417-B802DEA3B635}"/>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65A19035-89DE-CD49-3A41-B6B744C23231}"/>
              </a:ext>
            </a:extLst>
          </p:cNvPr>
          <p:cNvSpPr>
            <a:spLocks noGrp="1"/>
          </p:cNvSpPr>
          <p:nvPr>
            <p:ph type="sldNum" sz="quarter" idx="5"/>
          </p:nvPr>
        </p:nvSpPr>
        <p:spPr/>
        <p:txBody>
          <a:bodyPr/>
          <a:lstStyle/>
          <a:p>
            <a:fld id="{E40720B4-AB10-0342-9541-2DF5352E8B38}" type="slidenum">
              <a:rPr lang="en-CA" smtClean="0"/>
              <a:t>10</a:t>
            </a:fld>
            <a:endParaRPr lang="en-CA"/>
          </a:p>
        </p:txBody>
      </p:sp>
    </p:spTree>
    <p:extLst>
      <p:ext uri="{BB962C8B-B14F-4D97-AF65-F5344CB8AC3E}">
        <p14:creationId xmlns:p14="http://schemas.microsoft.com/office/powerpoint/2010/main" val="2778254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CBDCF-4329-FC4D-600D-A54E9CC92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D2E9F9-8350-9FCC-23CC-273BA8642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816F2-65BB-07DB-A8AA-06B2B85E1ED2}"/>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2AC0B818-37A4-88D9-BD83-4F412D50E32A}"/>
              </a:ext>
            </a:extLst>
          </p:cNvPr>
          <p:cNvSpPr>
            <a:spLocks noGrp="1"/>
          </p:cNvSpPr>
          <p:nvPr>
            <p:ph type="sldNum" sz="quarter" idx="5"/>
          </p:nvPr>
        </p:nvSpPr>
        <p:spPr/>
        <p:txBody>
          <a:bodyPr/>
          <a:lstStyle/>
          <a:p>
            <a:fld id="{E40720B4-AB10-0342-9541-2DF5352E8B38}" type="slidenum">
              <a:rPr lang="en-CA" smtClean="0"/>
              <a:t>11</a:t>
            </a:fld>
            <a:endParaRPr lang="en-CA"/>
          </a:p>
        </p:txBody>
      </p:sp>
    </p:spTree>
    <p:extLst>
      <p:ext uri="{BB962C8B-B14F-4D97-AF65-F5344CB8AC3E}">
        <p14:creationId xmlns:p14="http://schemas.microsoft.com/office/powerpoint/2010/main" val="1589818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DA434-49EB-E4A0-7140-9B984A460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BA95F-41AC-A5A9-8F34-57BDCF569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538EC8-BC17-AF0E-327F-CAF372628375}"/>
              </a:ext>
            </a:extLst>
          </p:cNvPr>
          <p:cNvSpPr>
            <a:spLocks noGrp="1"/>
          </p:cNvSpPr>
          <p:nvPr>
            <p:ph type="body" idx="1"/>
          </p:nvPr>
        </p:nvSpPr>
        <p:spPr/>
        <p:txBody>
          <a:bodyPr/>
          <a:lstStyle/>
          <a:p>
            <a:pPr marL="171450" indent="-171450">
              <a:buFont typeface="Arial" panose="020B0604020202020204" pitchFamily="34" charset="0"/>
              <a:buChar char="•"/>
            </a:pPr>
            <a:r>
              <a:rPr lang="en-CA" dirty="0"/>
              <a:t>Just because a transformation can generate contextuality doesn’t mean it always does, </a:t>
            </a:r>
          </a:p>
          <a:p>
            <a:pPr marL="171450" indent="-171450">
              <a:buFont typeface="Arial" panose="020B0604020202020204" pitchFamily="34" charset="0"/>
              <a:buChar char="•"/>
            </a:pPr>
            <a:r>
              <a:rPr lang="en-CA" dirty="0"/>
              <a:t>One can check that the state was part of linearly independent set beforehand and then observe that the field state assignment makes the resulting reduced state contextual, also we know that unitary interactions cannot create preparation/measurement contextuality if there wasn’t any to begin with</a:t>
            </a:r>
          </a:p>
          <a:p>
            <a:pPr marL="171450" indent="-171450">
              <a:buFont typeface="Arial" panose="020B0604020202020204" pitchFamily="34" charset="0"/>
              <a:buChar char="•"/>
            </a:pPr>
            <a:r>
              <a:rPr lang="en-CA" dirty="0"/>
              <a:t>Could try out multiple interactions on the vacuum and see that it doesn’t matter what transformation you use. </a:t>
            </a:r>
          </a:p>
        </p:txBody>
      </p:sp>
      <p:sp>
        <p:nvSpPr>
          <p:cNvPr id="4" name="Slide Number Placeholder 3">
            <a:extLst>
              <a:ext uri="{FF2B5EF4-FFF2-40B4-BE49-F238E27FC236}">
                <a16:creationId xmlns:a16="http://schemas.microsoft.com/office/drawing/2014/main" id="{F4C6680A-9D22-2033-957D-EC5FFA5D3CBE}"/>
              </a:ext>
            </a:extLst>
          </p:cNvPr>
          <p:cNvSpPr>
            <a:spLocks noGrp="1"/>
          </p:cNvSpPr>
          <p:nvPr>
            <p:ph type="sldNum" sz="quarter" idx="5"/>
          </p:nvPr>
        </p:nvSpPr>
        <p:spPr/>
        <p:txBody>
          <a:bodyPr/>
          <a:lstStyle/>
          <a:p>
            <a:fld id="{E40720B4-AB10-0342-9541-2DF5352E8B38}" type="slidenum">
              <a:rPr lang="en-CA" smtClean="0"/>
              <a:t>12</a:t>
            </a:fld>
            <a:endParaRPr lang="en-CA"/>
          </a:p>
        </p:txBody>
      </p:sp>
    </p:spTree>
    <p:extLst>
      <p:ext uri="{BB962C8B-B14F-4D97-AF65-F5344CB8AC3E}">
        <p14:creationId xmlns:p14="http://schemas.microsoft.com/office/powerpoint/2010/main" val="1260188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B207D-CA1B-1897-4F5D-40A6CDBB1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913E-136A-1DCD-E5FD-D64E31831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35AE6-BF8A-1B1E-63CB-3799E0ADA3B8}"/>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429BE435-5941-3391-FA1E-576E2797DF4B}"/>
              </a:ext>
            </a:extLst>
          </p:cNvPr>
          <p:cNvSpPr>
            <a:spLocks noGrp="1"/>
          </p:cNvSpPr>
          <p:nvPr>
            <p:ph type="sldNum" sz="quarter" idx="5"/>
          </p:nvPr>
        </p:nvSpPr>
        <p:spPr/>
        <p:txBody>
          <a:bodyPr/>
          <a:lstStyle/>
          <a:p>
            <a:fld id="{E40720B4-AB10-0342-9541-2DF5352E8B38}" type="slidenum">
              <a:rPr lang="en-CA" smtClean="0"/>
              <a:t>13</a:t>
            </a:fld>
            <a:endParaRPr lang="en-CA"/>
          </a:p>
        </p:txBody>
      </p:sp>
    </p:spTree>
    <p:extLst>
      <p:ext uri="{BB962C8B-B14F-4D97-AF65-F5344CB8AC3E}">
        <p14:creationId xmlns:p14="http://schemas.microsoft.com/office/powerpoint/2010/main" val="1906161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14A4-5C6E-06E3-9CAA-27979C695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365C4-F2D7-DE4F-329C-B1102B5A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0FCF67-31A1-6B0D-4740-69AC840E54A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5D61C70-DEB9-57D9-18D3-1AFDA330A619}"/>
              </a:ext>
            </a:extLst>
          </p:cNvPr>
          <p:cNvSpPr>
            <a:spLocks noGrp="1"/>
          </p:cNvSpPr>
          <p:nvPr>
            <p:ph type="sldNum" sz="quarter" idx="5"/>
          </p:nvPr>
        </p:nvSpPr>
        <p:spPr/>
        <p:txBody>
          <a:bodyPr/>
          <a:lstStyle/>
          <a:p>
            <a:fld id="{E40720B4-AB10-0342-9541-2DF5352E8B38}" type="slidenum">
              <a:rPr lang="en-CA" smtClean="0"/>
              <a:t>14</a:t>
            </a:fld>
            <a:endParaRPr lang="en-CA"/>
          </a:p>
        </p:txBody>
      </p:sp>
    </p:spTree>
    <p:extLst>
      <p:ext uri="{BB962C8B-B14F-4D97-AF65-F5344CB8AC3E}">
        <p14:creationId xmlns:p14="http://schemas.microsoft.com/office/powerpoint/2010/main" val="3221084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0E226-29DB-0881-C9A4-904E8D140A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8847E-350E-3870-52B5-BED79C176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0617C7-A460-B3DA-EA08-538EE45CDB90}"/>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83830554-4C90-CCE6-81BB-122032EFB752}"/>
              </a:ext>
            </a:extLst>
          </p:cNvPr>
          <p:cNvSpPr>
            <a:spLocks noGrp="1"/>
          </p:cNvSpPr>
          <p:nvPr>
            <p:ph type="sldNum" sz="quarter" idx="5"/>
          </p:nvPr>
        </p:nvSpPr>
        <p:spPr/>
        <p:txBody>
          <a:bodyPr/>
          <a:lstStyle/>
          <a:p>
            <a:fld id="{E40720B4-AB10-0342-9541-2DF5352E8B38}" type="slidenum">
              <a:rPr lang="en-CA" smtClean="0"/>
              <a:t>15</a:t>
            </a:fld>
            <a:endParaRPr lang="en-CA"/>
          </a:p>
        </p:txBody>
      </p:sp>
    </p:spTree>
    <p:extLst>
      <p:ext uri="{BB962C8B-B14F-4D97-AF65-F5344CB8AC3E}">
        <p14:creationId xmlns:p14="http://schemas.microsoft.com/office/powerpoint/2010/main" val="179425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87430-3EE1-4430-40C1-C39679FEF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D07B5-1C23-8E0E-1494-2E6300879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3526E5-90AF-6F18-B38E-C0DD5755C844}"/>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rgbClr val="000000"/>
                </a:solidFill>
              </a:rPr>
              <a:t>Can tune measurements to alter harvested amount at zero gap, contextuality can persist after harvested magic has already vanished, showing they have different state boundaries</a:t>
            </a:r>
          </a:p>
          <a:p>
            <a:pPr marL="171450" indent="-171450">
              <a:buFont typeface="Arial" panose="020B0604020202020204" pitchFamily="34" charset="0"/>
              <a:buChar char="•"/>
            </a:pPr>
            <a:endParaRPr lang="en-CA" dirty="0"/>
          </a:p>
        </p:txBody>
      </p:sp>
      <p:sp>
        <p:nvSpPr>
          <p:cNvPr id="4" name="Slide Number Placeholder 3">
            <a:extLst>
              <a:ext uri="{FF2B5EF4-FFF2-40B4-BE49-F238E27FC236}">
                <a16:creationId xmlns:a16="http://schemas.microsoft.com/office/drawing/2014/main" id="{8CFC86B1-640C-A44F-79BF-5C8B05B2C7B9}"/>
              </a:ext>
            </a:extLst>
          </p:cNvPr>
          <p:cNvSpPr>
            <a:spLocks noGrp="1"/>
          </p:cNvSpPr>
          <p:nvPr>
            <p:ph type="sldNum" sz="quarter" idx="5"/>
          </p:nvPr>
        </p:nvSpPr>
        <p:spPr/>
        <p:txBody>
          <a:bodyPr/>
          <a:lstStyle/>
          <a:p>
            <a:fld id="{E40720B4-AB10-0342-9541-2DF5352E8B38}" type="slidenum">
              <a:rPr lang="en-CA" smtClean="0"/>
              <a:t>16</a:t>
            </a:fld>
            <a:endParaRPr lang="en-CA"/>
          </a:p>
        </p:txBody>
      </p:sp>
    </p:spTree>
    <p:extLst>
      <p:ext uri="{BB962C8B-B14F-4D97-AF65-F5344CB8AC3E}">
        <p14:creationId xmlns:p14="http://schemas.microsoft.com/office/powerpoint/2010/main" val="27776340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C69E3-C179-CBA3-3DA8-194ABA308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03184-F2A7-6442-1E8E-A9041589F1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550852-B3CF-7EBC-CE16-3B120F8545CB}"/>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06C99300-2565-3BA3-38A6-EBC192409F83}"/>
              </a:ext>
            </a:extLst>
          </p:cNvPr>
          <p:cNvSpPr>
            <a:spLocks noGrp="1"/>
          </p:cNvSpPr>
          <p:nvPr>
            <p:ph type="sldNum" sz="quarter" idx="5"/>
          </p:nvPr>
        </p:nvSpPr>
        <p:spPr/>
        <p:txBody>
          <a:bodyPr/>
          <a:lstStyle/>
          <a:p>
            <a:fld id="{E40720B4-AB10-0342-9541-2DF5352E8B38}" type="slidenum">
              <a:rPr lang="en-CA" smtClean="0"/>
              <a:t>17</a:t>
            </a:fld>
            <a:endParaRPr lang="en-CA"/>
          </a:p>
        </p:txBody>
      </p:sp>
    </p:spTree>
    <p:extLst>
      <p:ext uri="{BB962C8B-B14F-4D97-AF65-F5344CB8AC3E}">
        <p14:creationId xmlns:p14="http://schemas.microsoft.com/office/powerpoint/2010/main" val="2084422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70EFE-1DF7-A26D-7B46-4F1613B89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F01DF-D3D1-44A1-EEB4-8F254E6B8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C2BFB-D87C-B295-E3D4-603C980A13F7}"/>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000C9D8E-20DC-D6F0-C838-27121A17DB1F}"/>
              </a:ext>
            </a:extLst>
          </p:cNvPr>
          <p:cNvSpPr>
            <a:spLocks noGrp="1"/>
          </p:cNvSpPr>
          <p:nvPr>
            <p:ph type="sldNum" sz="quarter" idx="5"/>
          </p:nvPr>
        </p:nvSpPr>
        <p:spPr/>
        <p:txBody>
          <a:bodyPr/>
          <a:lstStyle/>
          <a:p>
            <a:fld id="{E40720B4-AB10-0342-9541-2DF5352E8B38}" type="slidenum">
              <a:rPr lang="en-CA" smtClean="0"/>
              <a:t>18</a:t>
            </a:fld>
            <a:endParaRPr lang="en-CA"/>
          </a:p>
        </p:txBody>
      </p:sp>
    </p:spTree>
    <p:extLst>
      <p:ext uri="{BB962C8B-B14F-4D97-AF65-F5344CB8AC3E}">
        <p14:creationId xmlns:p14="http://schemas.microsoft.com/office/powerpoint/2010/main" val="3949877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5F296-96D8-9625-6373-8F8C0C2A6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E8E849-255E-B15D-3FA1-0412F2E221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9630F-A629-3B63-FC2A-D2A40CB90809}"/>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8E0E4101-F44D-BA7A-0DBC-4787EF061595}"/>
              </a:ext>
            </a:extLst>
          </p:cNvPr>
          <p:cNvSpPr>
            <a:spLocks noGrp="1"/>
          </p:cNvSpPr>
          <p:nvPr>
            <p:ph type="sldNum" sz="quarter" idx="5"/>
          </p:nvPr>
        </p:nvSpPr>
        <p:spPr/>
        <p:txBody>
          <a:bodyPr/>
          <a:lstStyle/>
          <a:p>
            <a:fld id="{E40720B4-AB10-0342-9541-2DF5352E8B38}" type="slidenum">
              <a:rPr lang="en-CA" smtClean="0"/>
              <a:t>19</a:t>
            </a:fld>
            <a:endParaRPr lang="en-CA"/>
          </a:p>
        </p:txBody>
      </p:sp>
    </p:spTree>
    <p:extLst>
      <p:ext uri="{BB962C8B-B14F-4D97-AF65-F5344CB8AC3E}">
        <p14:creationId xmlns:p14="http://schemas.microsoft.com/office/powerpoint/2010/main" val="1580813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33688-CC29-4350-BBF1-C5CB80E76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49EB2-3421-B56A-FE99-5F4C4FC70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C4C072-6B7F-EDDF-4EF2-A9B0E0CADEA6}"/>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8C967199-3917-4779-564B-CFC6F41B4B1B}"/>
              </a:ext>
            </a:extLst>
          </p:cNvPr>
          <p:cNvSpPr>
            <a:spLocks noGrp="1"/>
          </p:cNvSpPr>
          <p:nvPr>
            <p:ph type="sldNum" sz="quarter" idx="5"/>
          </p:nvPr>
        </p:nvSpPr>
        <p:spPr/>
        <p:txBody>
          <a:bodyPr/>
          <a:lstStyle/>
          <a:p>
            <a:fld id="{E40720B4-AB10-0342-9541-2DF5352E8B38}" type="slidenum">
              <a:rPr lang="en-CA" smtClean="0"/>
              <a:t>20</a:t>
            </a:fld>
            <a:endParaRPr lang="en-CA"/>
          </a:p>
        </p:txBody>
      </p:sp>
    </p:spTree>
    <p:extLst>
      <p:ext uri="{BB962C8B-B14F-4D97-AF65-F5344CB8AC3E}">
        <p14:creationId xmlns:p14="http://schemas.microsoft.com/office/powerpoint/2010/main" val="857094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Gates are derived in a spacetime independent way so we aren’t just limited to </a:t>
            </a:r>
            <a:r>
              <a:rPr lang="en-CA" dirty="0" err="1"/>
              <a:t>Minkowski</a:t>
            </a:r>
            <a:r>
              <a:rPr lang="en-CA" dirty="0"/>
              <a:t>; we just use it because we know what the expressions for the Wightman function and propagators look like</a:t>
            </a:r>
          </a:p>
          <a:p>
            <a:pPr marL="171450" lvl="0" indent="-171450">
              <a:buFont typeface="Arial" panose="020B0604020202020204" pitchFamily="34" charset="0"/>
              <a:buChar char="•"/>
            </a:pPr>
            <a:endParaRPr lang="en-CA" dirty="0"/>
          </a:p>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21</a:t>
            </a:fld>
            <a:endParaRPr lang="en-CA"/>
          </a:p>
        </p:txBody>
      </p:sp>
    </p:spTree>
    <p:extLst>
      <p:ext uri="{BB962C8B-B14F-4D97-AF65-F5344CB8AC3E}">
        <p14:creationId xmlns:p14="http://schemas.microsoft.com/office/powerpoint/2010/main" val="34517782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76286-050A-4831-BD2E-360D4C136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6D3AD1-0EB8-B48C-9EC8-391152F4D5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F2976-F076-7DD2-58F5-DBC2F153BE2C}"/>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9E41EE11-0BC0-230D-7CDD-A8753213A327}"/>
              </a:ext>
            </a:extLst>
          </p:cNvPr>
          <p:cNvSpPr>
            <a:spLocks noGrp="1"/>
          </p:cNvSpPr>
          <p:nvPr>
            <p:ph type="sldNum" sz="quarter" idx="5"/>
          </p:nvPr>
        </p:nvSpPr>
        <p:spPr/>
        <p:txBody>
          <a:bodyPr/>
          <a:lstStyle/>
          <a:p>
            <a:fld id="{E40720B4-AB10-0342-9541-2DF5352E8B38}" type="slidenum">
              <a:rPr lang="en-CA" smtClean="0"/>
              <a:t>22</a:t>
            </a:fld>
            <a:endParaRPr lang="en-CA"/>
          </a:p>
        </p:txBody>
      </p:sp>
    </p:spTree>
    <p:extLst>
      <p:ext uri="{BB962C8B-B14F-4D97-AF65-F5344CB8AC3E}">
        <p14:creationId xmlns:p14="http://schemas.microsoft.com/office/powerpoint/2010/main" val="12517013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23</a:t>
            </a:fld>
            <a:endParaRPr lang="en-CA"/>
          </a:p>
        </p:txBody>
      </p:sp>
    </p:spTree>
    <p:extLst>
      <p:ext uri="{BB962C8B-B14F-4D97-AF65-F5344CB8AC3E}">
        <p14:creationId xmlns:p14="http://schemas.microsoft.com/office/powerpoint/2010/main" val="3976849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C1E92-1D30-F8DE-331F-2DD9AD30C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7EC65-2B16-6AB9-5831-FDB00DAF7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008205-E9CF-EF8E-367E-7C896A6FD980}"/>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08785916-ED22-86F7-BF31-570800873193}"/>
              </a:ext>
            </a:extLst>
          </p:cNvPr>
          <p:cNvSpPr>
            <a:spLocks noGrp="1"/>
          </p:cNvSpPr>
          <p:nvPr>
            <p:ph type="sldNum" sz="quarter" idx="5"/>
          </p:nvPr>
        </p:nvSpPr>
        <p:spPr/>
        <p:txBody>
          <a:bodyPr/>
          <a:lstStyle/>
          <a:p>
            <a:fld id="{E40720B4-AB10-0342-9541-2DF5352E8B38}" type="slidenum">
              <a:rPr lang="en-CA" smtClean="0"/>
              <a:t>24</a:t>
            </a:fld>
            <a:endParaRPr lang="en-CA"/>
          </a:p>
        </p:txBody>
      </p:sp>
    </p:spTree>
    <p:extLst>
      <p:ext uri="{BB962C8B-B14F-4D97-AF65-F5344CB8AC3E}">
        <p14:creationId xmlns:p14="http://schemas.microsoft.com/office/powerpoint/2010/main" val="2523423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F24CEA-727C-42BA-9AB0-2A391237A795}"/>
              </a:ext>
            </a:extLst>
          </p:cNvPr>
          <p:cNvSpPr>
            <a:spLocks noGrp="1"/>
          </p:cNvSpPr>
          <p:nvPr>
            <p:ph type="ctrTitle"/>
          </p:nvPr>
        </p:nvSpPr>
        <p:spPr>
          <a:xfrm>
            <a:off x="695399" y="5459104"/>
            <a:ext cx="10801201" cy="485302"/>
          </a:xfrm>
          <a:prstGeom prst="rect">
            <a:avLst/>
          </a:prstGeom>
        </p:spPr>
        <p:txBody>
          <a:bodyPr anchor="b">
            <a:normAutofit/>
          </a:bodyPr>
          <a:lstStyle>
            <a:lvl1pPr algn="l">
              <a:defRPr sz="2800" b="1"/>
            </a:lvl1pPr>
          </a:lstStyle>
          <a:p>
            <a:r>
              <a:rPr lang="en-US"/>
              <a:t>Click to edit Master title style</a:t>
            </a:r>
            <a:endParaRPr lang="de-AT" dirty="0"/>
          </a:p>
        </p:txBody>
      </p:sp>
      <p:sp>
        <p:nvSpPr>
          <p:cNvPr id="4" name="Textplatzhalter 2">
            <a:extLst>
              <a:ext uri="{FF2B5EF4-FFF2-40B4-BE49-F238E27FC236}">
                <a16:creationId xmlns:a16="http://schemas.microsoft.com/office/drawing/2014/main" id="{0441614C-8250-4D7B-A116-94B79E1492AA}"/>
              </a:ext>
            </a:extLst>
          </p:cNvPr>
          <p:cNvSpPr>
            <a:spLocks noGrp="1"/>
          </p:cNvSpPr>
          <p:nvPr>
            <p:ph type="body" idx="1"/>
          </p:nvPr>
        </p:nvSpPr>
        <p:spPr>
          <a:xfrm>
            <a:off x="695325" y="6021288"/>
            <a:ext cx="10801275" cy="485302"/>
          </a:xfrm>
        </p:spPr>
        <p:txBody>
          <a:bodyPr>
            <a:normAutofit/>
          </a:bodyPr>
          <a:lstStyle>
            <a:lvl1pPr marL="0" indent="0">
              <a:buNone/>
              <a:defRPr sz="15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1711976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1E7A02D9-28AC-4102-8D50-0161B6E6FF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BFF02FDD-BF21-49A1-A6A4-CEE1B425A938}"/>
              </a:ext>
            </a:extLst>
          </p:cNvPr>
          <p:cNvSpPr>
            <a:spLocks noGrp="1"/>
          </p:cNvSpPr>
          <p:nvPr>
            <p:ph type="dt" sz="half" idx="10"/>
          </p:nvPr>
        </p:nvSpPr>
        <p:spPr/>
        <p:txBody>
          <a:bodyPr/>
          <a:lstStyle/>
          <a:p>
            <a:fld id="{F57CF7CA-C0A3-5045-AFF4-6CDDB8A397F9}" type="datetime1">
              <a:rPr lang="en-US" smtClean="0"/>
              <a:t>6/1/26</a:t>
            </a:fld>
            <a:endParaRPr lang="de-AT"/>
          </a:p>
        </p:txBody>
      </p:sp>
      <p:sp>
        <p:nvSpPr>
          <p:cNvPr id="5" name="Fußzeilenplatzhalter 4">
            <a:extLst>
              <a:ext uri="{FF2B5EF4-FFF2-40B4-BE49-F238E27FC236}">
                <a16:creationId xmlns:a16="http://schemas.microsoft.com/office/drawing/2014/main" id="{83ACD104-2273-476A-B4D8-E834260F2594}"/>
              </a:ext>
            </a:extLst>
          </p:cNvPr>
          <p:cNvSpPr>
            <a:spLocks noGrp="1"/>
          </p:cNvSpPr>
          <p:nvPr>
            <p:ph type="ftr" sz="quarter" idx="11"/>
          </p:nvPr>
        </p:nvSpPr>
        <p:spPr/>
        <p:txBody>
          <a:bodyPr/>
          <a:lstStyle/>
          <a:p>
            <a:r>
              <a:rPr lang="de-AT"/>
              <a:t>RQI Circuit 2026, Wien I Phil LeMaitre I 05.06.2026</a:t>
            </a:r>
          </a:p>
        </p:txBody>
      </p:sp>
      <p:sp>
        <p:nvSpPr>
          <p:cNvPr id="6" name="Foliennummernplatzhalter 5">
            <a:extLst>
              <a:ext uri="{FF2B5EF4-FFF2-40B4-BE49-F238E27FC236}">
                <a16:creationId xmlns:a16="http://schemas.microsoft.com/office/drawing/2014/main" id="{91AA336B-2E26-42E0-A00D-8E65CA4E7AE4}"/>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7" name="Titel 6">
            <a:extLst>
              <a:ext uri="{FF2B5EF4-FFF2-40B4-BE49-F238E27FC236}">
                <a16:creationId xmlns:a16="http://schemas.microsoft.com/office/drawing/2014/main" id="{1CDC1238-C893-4835-85CC-6C255E9F560B}"/>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516232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B8FDBD-31B4-4D04-8B83-083656EE5FCF}"/>
              </a:ext>
            </a:extLst>
          </p:cNvPr>
          <p:cNvSpPr>
            <a:spLocks noGrp="1"/>
          </p:cNvSpPr>
          <p:nvPr>
            <p:ph type="title"/>
          </p:nvPr>
        </p:nvSpPr>
        <p:spPr>
          <a:xfrm>
            <a:off x="695325" y="1709738"/>
            <a:ext cx="10801275" cy="2852737"/>
          </a:xfrm>
          <a:prstGeom prst="rect">
            <a:avLst/>
          </a:prstGeom>
        </p:spPr>
        <p:txBody>
          <a:bodyPr anchor="b">
            <a:normAutofit/>
          </a:bodyPr>
          <a:lstStyle>
            <a:lvl1pPr>
              <a:defRPr sz="3000"/>
            </a:lvl1pPr>
          </a:lstStyle>
          <a:p>
            <a:r>
              <a:rPr lang="en-US"/>
              <a:t>Click to edit Master title style</a:t>
            </a:r>
            <a:endParaRPr lang="de-AT"/>
          </a:p>
        </p:txBody>
      </p:sp>
      <p:sp>
        <p:nvSpPr>
          <p:cNvPr id="3" name="Textplatzhalter 2">
            <a:extLst>
              <a:ext uri="{FF2B5EF4-FFF2-40B4-BE49-F238E27FC236}">
                <a16:creationId xmlns:a16="http://schemas.microsoft.com/office/drawing/2014/main" id="{38CAB8A3-9F60-49BC-B437-6B4E2253C6F3}"/>
              </a:ext>
            </a:extLst>
          </p:cNvPr>
          <p:cNvSpPr>
            <a:spLocks noGrp="1"/>
          </p:cNvSpPr>
          <p:nvPr>
            <p:ph type="body" idx="1"/>
          </p:nvPr>
        </p:nvSpPr>
        <p:spPr>
          <a:xfrm>
            <a:off x="695325" y="4589463"/>
            <a:ext cx="10801275" cy="135981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umsplatzhalter 3">
            <a:extLst>
              <a:ext uri="{FF2B5EF4-FFF2-40B4-BE49-F238E27FC236}">
                <a16:creationId xmlns:a16="http://schemas.microsoft.com/office/drawing/2014/main" id="{EDF1D4AB-3EEA-4B02-82C9-F6BB9E0123C6}"/>
              </a:ext>
            </a:extLst>
          </p:cNvPr>
          <p:cNvSpPr>
            <a:spLocks noGrp="1"/>
          </p:cNvSpPr>
          <p:nvPr>
            <p:ph type="dt" sz="half" idx="10"/>
          </p:nvPr>
        </p:nvSpPr>
        <p:spPr/>
        <p:txBody>
          <a:bodyPr/>
          <a:lstStyle/>
          <a:p>
            <a:fld id="{5F726524-39FE-5149-9D3F-285450B60D20}" type="datetime1">
              <a:rPr lang="en-US" smtClean="0"/>
              <a:t>6/1/26</a:t>
            </a:fld>
            <a:endParaRPr lang="de-AT"/>
          </a:p>
        </p:txBody>
      </p:sp>
      <p:sp>
        <p:nvSpPr>
          <p:cNvPr id="5" name="Fußzeilenplatzhalter 4">
            <a:extLst>
              <a:ext uri="{FF2B5EF4-FFF2-40B4-BE49-F238E27FC236}">
                <a16:creationId xmlns:a16="http://schemas.microsoft.com/office/drawing/2014/main" id="{0233F298-7A96-4AF6-A2A2-1B8CCC54674A}"/>
              </a:ext>
            </a:extLst>
          </p:cNvPr>
          <p:cNvSpPr>
            <a:spLocks noGrp="1"/>
          </p:cNvSpPr>
          <p:nvPr>
            <p:ph type="ftr" sz="quarter" idx="11"/>
          </p:nvPr>
        </p:nvSpPr>
        <p:spPr/>
        <p:txBody>
          <a:bodyPr/>
          <a:lstStyle/>
          <a:p>
            <a:r>
              <a:rPr lang="de-AT"/>
              <a:t>RQI Circuit 2026, Wien I Phil LeMaitre I 05.06.2026</a:t>
            </a:r>
          </a:p>
        </p:txBody>
      </p:sp>
      <p:sp>
        <p:nvSpPr>
          <p:cNvPr id="6" name="Foliennummernplatzhalter 5">
            <a:extLst>
              <a:ext uri="{FF2B5EF4-FFF2-40B4-BE49-F238E27FC236}">
                <a16:creationId xmlns:a16="http://schemas.microsoft.com/office/drawing/2014/main" id="{DEF18B5A-DEA1-4D52-885C-6807D3E0ABEB}"/>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447927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60BB3F39-69C5-491A-B23E-3EC5DFC98E34}"/>
              </a:ext>
            </a:extLst>
          </p:cNvPr>
          <p:cNvSpPr>
            <a:spLocks noGrp="1"/>
          </p:cNvSpPr>
          <p:nvPr>
            <p:ph sz="half" idx="1"/>
          </p:nvPr>
        </p:nvSpPr>
        <p:spPr>
          <a:xfrm>
            <a:off x="695399" y="1124744"/>
            <a:ext cx="5256585" cy="4824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Inhaltsplatzhalter 3">
            <a:extLst>
              <a:ext uri="{FF2B5EF4-FFF2-40B4-BE49-F238E27FC236}">
                <a16:creationId xmlns:a16="http://schemas.microsoft.com/office/drawing/2014/main" id="{37030C33-F186-4007-B1CD-D018983D95EB}"/>
              </a:ext>
            </a:extLst>
          </p:cNvPr>
          <p:cNvSpPr>
            <a:spLocks noGrp="1"/>
          </p:cNvSpPr>
          <p:nvPr>
            <p:ph sz="half" idx="2"/>
          </p:nvPr>
        </p:nvSpPr>
        <p:spPr>
          <a:xfrm>
            <a:off x="6240014" y="1124744"/>
            <a:ext cx="5256585" cy="4824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5" name="Datumsplatzhalter 4">
            <a:extLst>
              <a:ext uri="{FF2B5EF4-FFF2-40B4-BE49-F238E27FC236}">
                <a16:creationId xmlns:a16="http://schemas.microsoft.com/office/drawing/2014/main" id="{F6B61046-E478-4C18-A7A7-989009BBDB96}"/>
              </a:ext>
            </a:extLst>
          </p:cNvPr>
          <p:cNvSpPr>
            <a:spLocks noGrp="1"/>
          </p:cNvSpPr>
          <p:nvPr>
            <p:ph type="dt" sz="half" idx="10"/>
          </p:nvPr>
        </p:nvSpPr>
        <p:spPr/>
        <p:txBody>
          <a:bodyPr/>
          <a:lstStyle/>
          <a:p>
            <a:fld id="{68D44AF7-1A31-9842-BBDF-9FAB6E7CA773}" type="datetime1">
              <a:rPr lang="en-US" smtClean="0"/>
              <a:t>6/1/26</a:t>
            </a:fld>
            <a:endParaRPr lang="de-AT"/>
          </a:p>
        </p:txBody>
      </p:sp>
      <p:sp>
        <p:nvSpPr>
          <p:cNvPr id="6" name="Fußzeilenplatzhalter 5">
            <a:extLst>
              <a:ext uri="{FF2B5EF4-FFF2-40B4-BE49-F238E27FC236}">
                <a16:creationId xmlns:a16="http://schemas.microsoft.com/office/drawing/2014/main" id="{6C0022B3-6375-4B24-A37E-9B4CFB067757}"/>
              </a:ext>
            </a:extLst>
          </p:cNvPr>
          <p:cNvSpPr>
            <a:spLocks noGrp="1"/>
          </p:cNvSpPr>
          <p:nvPr>
            <p:ph type="ftr" sz="quarter" idx="11"/>
          </p:nvPr>
        </p:nvSpPr>
        <p:spPr/>
        <p:txBody>
          <a:bodyPr/>
          <a:lstStyle/>
          <a:p>
            <a:r>
              <a:rPr lang="de-AT"/>
              <a:t>RQI Circuit 2026, Wien I Phil LeMaitre I 05.06.2026</a:t>
            </a:r>
          </a:p>
        </p:txBody>
      </p:sp>
      <p:sp>
        <p:nvSpPr>
          <p:cNvPr id="7" name="Foliennummernplatzhalter 6">
            <a:extLst>
              <a:ext uri="{FF2B5EF4-FFF2-40B4-BE49-F238E27FC236}">
                <a16:creationId xmlns:a16="http://schemas.microsoft.com/office/drawing/2014/main" id="{A1F0E2EA-826C-45D2-ACC0-C9C5FEDF5657}"/>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8" name="Titel 7">
            <a:extLst>
              <a:ext uri="{FF2B5EF4-FFF2-40B4-BE49-F238E27FC236}">
                <a16:creationId xmlns:a16="http://schemas.microsoft.com/office/drawing/2014/main" id="{0B57E19A-F4B8-4DC2-8BFF-E77129F06D93}"/>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289576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0EBAB14F-6F2B-46CB-AB06-768840028F78}"/>
              </a:ext>
            </a:extLst>
          </p:cNvPr>
          <p:cNvSpPr>
            <a:spLocks noGrp="1"/>
          </p:cNvSpPr>
          <p:nvPr>
            <p:ph type="body" idx="1"/>
          </p:nvPr>
        </p:nvSpPr>
        <p:spPr>
          <a:xfrm>
            <a:off x="695325" y="1124744"/>
            <a:ext cx="5256659" cy="576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Inhaltsplatzhalter 3">
            <a:extLst>
              <a:ext uri="{FF2B5EF4-FFF2-40B4-BE49-F238E27FC236}">
                <a16:creationId xmlns:a16="http://schemas.microsoft.com/office/drawing/2014/main" id="{642ADAC9-3884-480C-BE29-94657F38DBCA}"/>
              </a:ext>
            </a:extLst>
          </p:cNvPr>
          <p:cNvSpPr>
            <a:spLocks noGrp="1"/>
          </p:cNvSpPr>
          <p:nvPr>
            <p:ph sz="half" idx="2"/>
          </p:nvPr>
        </p:nvSpPr>
        <p:spPr>
          <a:xfrm>
            <a:off x="695325" y="1772816"/>
            <a:ext cx="5256659" cy="4176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5" name="Textplatzhalter 4">
            <a:extLst>
              <a:ext uri="{FF2B5EF4-FFF2-40B4-BE49-F238E27FC236}">
                <a16:creationId xmlns:a16="http://schemas.microsoft.com/office/drawing/2014/main" id="{F56FDCD5-B563-4FC7-988F-9947EA2BD9B8}"/>
              </a:ext>
            </a:extLst>
          </p:cNvPr>
          <p:cNvSpPr>
            <a:spLocks noGrp="1"/>
          </p:cNvSpPr>
          <p:nvPr>
            <p:ph type="body" sz="quarter" idx="3"/>
          </p:nvPr>
        </p:nvSpPr>
        <p:spPr>
          <a:xfrm>
            <a:off x="6240014" y="1120296"/>
            <a:ext cx="5256585" cy="576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Inhaltsplatzhalter 5">
            <a:extLst>
              <a:ext uri="{FF2B5EF4-FFF2-40B4-BE49-F238E27FC236}">
                <a16:creationId xmlns:a16="http://schemas.microsoft.com/office/drawing/2014/main" id="{659056A8-5F21-41F4-939D-6F8675D31C2E}"/>
              </a:ext>
            </a:extLst>
          </p:cNvPr>
          <p:cNvSpPr>
            <a:spLocks noGrp="1"/>
          </p:cNvSpPr>
          <p:nvPr>
            <p:ph sz="quarter" idx="4"/>
          </p:nvPr>
        </p:nvSpPr>
        <p:spPr>
          <a:xfrm>
            <a:off x="6240013" y="1769400"/>
            <a:ext cx="5256585" cy="4176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7" name="Datumsplatzhalter 6">
            <a:extLst>
              <a:ext uri="{FF2B5EF4-FFF2-40B4-BE49-F238E27FC236}">
                <a16:creationId xmlns:a16="http://schemas.microsoft.com/office/drawing/2014/main" id="{9A263CFE-F881-4D85-86D9-85FA5842F427}"/>
              </a:ext>
            </a:extLst>
          </p:cNvPr>
          <p:cNvSpPr>
            <a:spLocks noGrp="1"/>
          </p:cNvSpPr>
          <p:nvPr>
            <p:ph type="dt" sz="half" idx="10"/>
          </p:nvPr>
        </p:nvSpPr>
        <p:spPr/>
        <p:txBody>
          <a:bodyPr/>
          <a:lstStyle/>
          <a:p>
            <a:fld id="{CE9182D6-7325-3742-A26B-6B7108A3611D}" type="datetime1">
              <a:rPr lang="en-US" smtClean="0"/>
              <a:t>6/1/26</a:t>
            </a:fld>
            <a:endParaRPr lang="de-AT"/>
          </a:p>
        </p:txBody>
      </p:sp>
      <p:sp>
        <p:nvSpPr>
          <p:cNvPr id="8" name="Fußzeilenplatzhalter 7">
            <a:extLst>
              <a:ext uri="{FF2B5EF4-FFF2-40B4-BE49-F238E27FC236}">
                <a16:creationId xmlns:a16="http://schemas.microsoft.com/office/drawing/2014/main" id="{FCC2BBAD-3480-48CA-A529-35992336D4A3}"/>
              </a:ext>
            </a:extLst>
          </p:cNvPr>
          <p:cNvSpPr>
            <a:spLocks noGrp="1"/>
          </p:cNvSpPr>
          <p:nvPr>
            <p:ph type="ftr" sz="quarter" idx="11"/>
          </p:nvPr>
        </p:nvSpPr>
        <p:spPr/>
        <p:txBody>
          <a:bodyPr/>
          <a:lstStyle/>
          <a:p>
            <a:r>
              <a:rPr lang="de-AT"/>
              <a:t>RQI Circuit 2026, Wien I Phil LeMaitre I 05.06.2026</a:t>
            </a:r>
          </a:p>
        </p:txBody>
      </p:sp>
      <p:sp>
        <p:nvSpPr>
          <p:cNvPr id="9" name="Foliennummernplatzhalter 8">
            <a:extLst>
              <a:ext uri="{FF2B5EF4-FFF2-40B4-BE49-F238E27FC236}">
                <a16:creationId xmlns:a16="http://schemas.microsoft.com/office/drawing/2014/main" id="{31237708-2F44-402D-A07E-1A1D355A025C}"/>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10" name="Titel 9">
            <a:extLst>
              <a:ext uri="{FF2B5EF4-FFF2-40B4-BE49-F238E27FC236}">
                <a16:creationId xmlns:a16="http://schemas.microsoft.com/office/drawing/2014/main" id="{8184191F-B93B-44AA-8611-17F5295610ED}"/>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18850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1B10E69-4ECC-4600-9446-E89CD97F2F4A}"/>
              </a:ext>
            </a:extLst>
          </p:cNvPr>
          <p:cNvSpPr>
            <a:spLocks noGrp="1"/>
          </p:cNvSpPr>
          <p:nvPr>
            <p:ph type="dt" sz="half" idx="10"/>
          </p:nvPr>
        </p:nvSpPr>
        <p:spPr/>
        <p:txBody>
          <a:bodyPr/>
          <a:lstStyle/>
          <a:p>
            <a:fld id="{E49B68BD-1842-9B48-9EC0-F349E219967A}" type="datetime1">
              <a:rPr lang="en-US" smtClean="0"/>
              <a:t>6/1/26</a:t>
            </a:fld>
            <a:endParaRPr lang="de-AT"/>
          </a:p>
        </p:txBody>
      </p:sp>
      <p:sp>
        <p:nvSpPr>
          <p:cNvPr id="4" name="Fußzeilenplatzhalter 3">
            <a:extLst>
              <a:ext uri="{FF2B5EF4-FFF2-40B4-BE49-F238E27FC236}">
                <a16:creationId xmlns:a16="http://schemas.microsoft.com/office/drawing/2014/main" id="{E6038B8C-7CF4-4BA9-96EA-E297A5DA88AE}"/>
              </a:ext>
            </a:extLst>
          </p:cNvPr>
          <p:cNvSpPr>
            <a:spLocks noGrp="1"/>
          </p:cNvSpPr>
          <p:nvPr>
            <p:ph type="ftr" sz="quarter" idx="11"/>
          </p:nvPr>
        </p:nvSpPr>
        <p:spPr/>
        <p:txBody>
          <a:bodyPr/>
          <a:lstStyle/>
          <a:p>
            <a:r>
              <a:rPr lang="de-AT"/>
              <a:t>RQI Circuit 2026, Wien I Phil LeMaitre I 05.06.2026</a:t>
            </a:r>
          </a:p>
        </p:txBody>
      </p:sp>
      <p:sp>
        <p:nvSpPr>
          <p:cNvPr id="5" name="Foliennummernplatzhalter 4">
            <a:extLst>
              <a:ext uri="{FF2B5EF4-FFF2-40B4-BE49-F238E27FC236}">
                <a16:creationId xmlns:a16="http://schemas.microsoft.com/office/drawing/2014/main" id="{751118D6-5E56-4935-BA78-AF6BE9D12231}"/>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6" name="Titel 5">
            <a:extLst>
              <a:ext uri="{FF2B5EF4-FFF2-40B4-BE49-F238E27FC236}">
                <a16:creationId xmlns:a16="http://schemas.microsoft.com/office/drawing/2014/main" id="{DA2F99A1-CCA6-4863-8703-3807A8AD73B3}"/>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671367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33B1515-0EC6-4B84-92AF-159C2C422F36}"/>
              </a:ext>
            </a:extLst>
          </p:cNvPr>
          <p:cNvSpPr>
            <a:spLocks noGrp="1"/>
          </p:cNvSpPr>
          <p:nvPr>
            <p:ph type="dt" sz="half" idx="10"/>
          </p:nvPr>
        </p:nvSpPr>
        <p:spPr/>
        <p:txBody>
          <a:bodyPr/>
          <a:lstStyle/>
          <a:p>
            <a:fld id="{691609DE-84B8-3D4D-9DC1-3039AF807685}" type="datetime1">
              <a:rPr lang="en-US" smtClean="0"/>
              <a:t>6/1/26</a:t>
            </a:fld>
            <a:endParaRPr lang="de-AT"/>
          </a:p>
        </p:txBody>
      </p:sp>
      <p:sp>
        <p:nvSpPr>
          <p:cNvPr id="3" name="Fußzeilenplatzhalter 2">
            <a:extLst>
              <a:ext uri="{FF2B5EF4-FFF2-40B4-BE49-F238E27FC236}">
                <a16:creationId xmlns:a16="http://schemas.microsoft.com/office/drawing/2014/main" id="{4F6B6A2B-A4C8-4BCD-BFAF-2FF68AEAD7E0}"/>
              </a:ext>
            </a:extLst>
          </p:cNvPr>
          <p:cNvSpPr>
            <a:spLocks noGrp="1"/>
          </p:cNvSpPr>
          <p:nvPr>
            <p:ph type="ftr" sz="quarter" idx="11"/>
          </p:nvPr>
        </p:nvSpPr>
        <p:spPr/>
        <p:txBody>
          <a:bodyPr/>
          <a:lstStyle/>
          <a:p>
            <a:r>
              <a:rPr lang="de-AT"/>
              <a:t>RQI Circuit 2026, Wien I Phil LeMaitre I 05.06.2026</a:t>
            </a:r>
          </a:p>
        </p:txBody>
      </p:sp>
      <p:sp>
        <p:nvSpPr>
          <p:cNvPr id="4" name="Foliennummernplatzhalter 3">
            <a:extLst>
              <a:ext uri="{FF2B5EF4-FFF2-40B4-BE49-F238E27FC236}">
                <a16:creationId xmlns:a16="http://schemas.microsoft.com/office/drawing/2014/main" id="{99138A11-1CD8-4E58-A751-07DAE449FD96}"/>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389917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B835DC-1E16-4EDD-8F21-6C9F708B6161}"/>
              </a:ext>
            </a:extLst>
          </p:cNvPr>
          <p:cNvSpPr>
            <a:spLocks noGrp="1"/>
          </p:cNvSpPr>
          <p:nvPr>
            <p:ph type="title"/>
          </p:nvPr>
        </p:nvSpPr>
        <p:spPr>
          <a:xfrm>
            <a:off x="695326" y="333375"/>
            <a:ext cx="4104530" cy="1151409"/>
          </a:xfrm>
          <a:prstGeom prst="rect">
            <a:avLst/>
          </a:prstGeom>
        </p:spPr>
        <p:txBody>
          <a:bodyPr anchor="b">
            <a:normAutofit/>
          </a:bodyPr>
          <a:lstStyle>
            <a:lvl1pPr>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58C8C1CC-4F86-497F-9300-01063FC179DE}"/>
              </a:ext>
            </a:extLst>
          </p:cNvPr>
          <p:cNvSpPr>
            <a:spLocks noGrp="1"/>
          </p:cNvSpPr>
          <p:nvPr>
            <p:ph idx="1"/>
          </p:nvPr>
        </p:nvSpPr>
        <p:spPr>
          <a:xfrm>
            <a:off x="5087888" y="333375"/>
            <a:ext cx="6408712" cy="5615905"/>
          </a:xfrm>
        </p:spPr>
        <p:txBody>
          <a:bodyPr/>
          <a:lstStyle>
            <a:lvl1pPr>
              <a:defRPr sz="24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dirty="0"/>
          </a:p>
        </p:txBody>
      </p:sp>
      <p:sp>
        <p:nvSpPr>
          <p:cNvPr id="4" name="Textplatzhalter 3">
            <a:extLst>
              <a:ext uri="{FF2B5EF4-FFF2-40B4-BE49-F238E27FC236}">
                <a16:creationId xmlns:a16="http://schemas.microsoft.com/office/drawing/2014/main" id="{107D65E3-BA38-4663-80FD-629DAF4F96B8}"/>
              </a:ext>
            </a:extLst>
          </p:cNvPr>
          <p:cNvSpPr>
            <a:spLocks noGrp="1"/>
          </p:cNvSpPr>
          <p:nvPr>
            <p:ph type="body" sz="half" idx="2"/>
          </p:nvPr>
        </p:nvSpPr>
        <p:spPr>
          <a:xfrm>
            <a:off x="695326" y="1700808"/>
            <a:ext cx="4104530" cy="424847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umsplatzhalter 4">
            <a:extLst>
              <a:ext uri="{FF2B5EF4-FFF2-40B4-BE49-F238E27FC236}">
                <a16:creationId xmlns:a16="http://schemas.microsoft.com/office/drawing/2014/main" id="{DF117A17-1C4B-487E-812B-ACE0154104EB}"/>
              </a:ext>
            </a:extLst>
          </p:cNvPr>
          <p:cNvSpPr>
            <a:spLocks noGrp="1"/>
          </p:cNvSpPr>
          <p:nvPr>
            <p:ph type="dt" sz="half" idx="10"/>
          </p:nvPr>
        </p:nvSpPr>
        <p:spPr/>
        <p:txBody>
          <a:bodyPr/>
          <a:lstStyle/>
          <a:p>
            <a:fld id="{E31B3550-FF2B-1E49-8D05-1F8EDEF723D1}" type="datetime1">
              <a:rPr lang="en-US" smtClean="0"/>
              <a:t>6/1/26</a:t>
            </a:fld>
            <a:endParaRPr lang="de-AT"/>
          </a:p>
        </p:txBody>
      </p:sp>
      <p:sp>
        <p:nvSpPr>
          <p:cNvPr id="6" name="Fußzeilenplatzhalter 5">
            <a:extLst>
              <a:ext uri="{FF2B5EF4-FFF2-40B4-BE49-F238E27FC236}">
                <a16:creationId xmlns:a16="http://schemas.microsoft.com/office/drawing/2014/main" id="{08ECA08F-2904-4D77-A825-46BE30DE8E42}"/>
              </a:ext>
            </a:extLst>
          </p:cNvPr>
          <p:cNvSpPr>
            <a:spLocks noGrp="1"/>
          </p:cNvSpPr>
          <p:nvPr>
            <p:ph type="ftr" sz="quarter" idx="11"/>
          </p:nvPr>
        </p:nvSpPr>
        <p:spPr/>
        <p:txBody>
          <a:bodyPr/>
          <a:lstStyle/>
          <a:p>
            <a:r>
              <a:rPr lang="de-AT"/>
              <a:t>RQI Circuit 2026, Wien I Phil LeMaitre I 05.06.2026</a:t>
            </a:r>
          </a:p>
        </p:txBody>
      </p:sp>
      <p:sp>
        <p:nvSpPr>
          <p:cNvPr id="7" name="Foliennummernplatzhalter 6">
            <a:extLst>
              <a:ext uri="{FF2B5EF4-FFF2-40B4-BE49-F238E27FC236}">
                <a16:creationId xmlns:a16="http://schemas.microsoft.com/office/drawing/2014/main" id="{6EC7F59D-8933-4ED7-AA87-863803A8B989}"/>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245588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75EAE6-23BB-4FEA-852F-163D8E1669A3}"/>
              </a:ext>
            </a:extLst>
          </p:cNvPr>
          <p:cNvSpPr>
            <a:spLocks noGrp="1"/>
          </p:cNvSpPr>
          <p:nvPr>
            <p:ph type="title"/>
          </p:nvPr>
        </p:nvSpPr>
        <p:spPr>
          <a:xfrm>
            <a:off x="695324" y="333375"/>
            <a:ext cx="4104532" cy="1151409"/>
          </a:xfrm>
          <a:prstGeom prst="rect">
            <a:avLst/>
          </a:prstGeom>
        </p:spPr>
        <p:txBody>
          <a:bodyPr anchor="b">
            <a:normAutofit/>
          </a:bodyPr>
          <a:lstStyle>
            <a:lvl1pPr>
              <a:defRPr sz="2800"/>
            </a:lvl1pPr>
          </a:lstStyle>
          <a:p>
            <a:r>
              <a:rPr lang="en-US"/>
              <a:t>Click to edit Master title style</a:t>
            </a:r>
            <a:endParaRPr lang="de-AT"/>
          </a:p>
        </p:txBody>
      </p:sp>
      <p:sp>
        <p:nvSpPr>
          <p:cNvPr id="3" name="Bildplatzhalter 2">
            <a:extLst>
              <a:ext uri="{FF2B5EF4-FFF2-40B4-BE49-F238E27FC236}">
                <a16:creationId xmlns:a16="http://schemas.microsoft.com/office/drawing/2014/main" id="{D6586F6F-2E4F-4A36-96E3-6D497D84ECAE}"/>
              </a:ext>
            </a:extLst>
          </p:cNvPr>
          <p:cNvSpPr>
            <a:spLocks noGrp="1"/>
          </p:cNvSpPr>
          <p:nvPr>
            <p:ph type="pic" idx="1"/>
          </p:nvPr>
        </p:nvSpPr>
        <p:spPr>
          <a:xfrm>
            <a:off x="5087888" y="340226"/>
            <a:ext cx="6408712" cy="5609054"/>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de-AT"/>
          </a:p>
        </p:txBody>
      </p:sp>
      <p:sp>
        <p:nvSpPr>
          <p:cNvPr id="4" name="Textplatzhalter 3">
            <a:extLst>
              <a:ext uri="{FF2B5EF4-FFF2-40B4-BE49-F238E27FC236}">
                <a16:creationId xmlns:a16="http://schemas.microsoft.com/office/drawing/2014/main" id="{13D56DDB-FADF-49C5-9809-768422AD1492}"/>
              </a:ext>
            </a:extLst>
          </p:cNvPr>
          <p:cNvSpPr>
            <a:spLocks noGrp="1"/>
          </p:cNvSpPr>
          <p:nvPr>
            <p:ph type="body" sz="half" idx="2"/>
          </p:nvPr>
        </p:nvSpPr>
        <p:spPr>
          <a:xfrm>
            <a:off x="695325" y="1700808"/>
            <a:ext cx="4104531" cy="424847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umsplatzhalter 4">
            <a:extLst>
              <a:ext uri="{FF2B5EF4-FFF2-40B4-BE49-F238E27FC236}">
                <a16:creationId xmlns:a16="http://schemas.microsoft.com/office/drawing/2014/main" id="{12E4E76F-0F8F-4D3E-911C-356098EB7A01}"/>
              </a:ext>
            </a:extLst>
          </p:cNvPr>
          <p:cNvSpPr>
            <a:spLocks noGrp="1"/>
          </p:cNvSpPr>
          <p:nvPr>
            <p:ph type="dt" sz="half" idx="10"/>
          </p:nvPr>
        </p:nvSpPr>
        <p:spPr/>
        <p:txBody>
          <a:bodyPr/>
          <a:lstStyle/>
          <a:p>
            <a:fld id="{B3A522CB-0F59-AE4F-A628-1A34ABE85D81}" type="datetime1">
              <a:rPr lang="en-US" smtClean="0"/>
              <a:t>6/1/26</a:t>
            </a:fld>
            <a:endParaRPr lang="de-AT"/>
          </a:p>
        </p:txBody>
      </p:sp>
      <p:sp>
        <p:nvSpPr>
          <p:cNvPr id="6" name="Fußzeilenplatzhalter 5">
            <a:extLst>
              <a:ext uri="{FF2B5EF4-FFF2-40B4-BE49-F238E27FC236}">
                <a16:creationId xmlns:a16="http://schemas.microsoft.com/office/drawing/2014/main" id="{BF32B37C-0987-4DBE-8AE5-F6BE2589D6F0}"/>
              </a:ext>
            </a:extLst>
          </p:cNvPr>
          <p:cNvSpPr>
            <a:spLocks noGrp="1"/>
          </p:cNvSpPr>
          <p:nvPr>
            <p:ph type="ftr" sz="quarter" idx="11"/>
          </p:nvPr>
        </p:nvSpPr>
        <p:spPr/>
        <p:txBody>
          <a:bodyPr/>
          <a:lstStyle/>
          <a:p>
            <a:r>
              <a:rPr lang="de-AT"/>
              <a:t>RQI Circuit 2026, Wien I Phil LeMaitre I 05.06.2026</a:t>
            </a:r>
          </a:p>
        </p:txBody>
      </p:sp>
      <p:sp>
        <p:nvSpPr>
          <p:cNvPr id="7" name="Foliennummernplatzhalter 6">
            <a:extLst>
              <a:ext uri="{FF2B5EF4-FFF2-40B4-BE49-F238E27FC236}">
                <a16:creationId xmlns:a16="http://schemas.microsoft.com/office/drawing/2014/main" id="{2FE9802D-53D8-4ADF-A795-D77A3ED744FF}"/>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628483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und vertikaler Text">
    <p:spTree>
      <p:nvGrpSpPr>
        <p:cNvPr id="1" name=""/>
        <p:cNvGrpSpPr/>
        <p:nvPr/>
      </p:nvGrpSpPr>
      <p:grpSpPr>
        <a:xfrm>
          <a:off x="0" y="0"/>
          <a:ext cx="0" cy="0"/>
          <a:chOff x="0" y="0"/>
          <a:chExt cx="0" cy="0"/>
        </a:xfrm>
      </p:grpSpPr>
      <p:sp>
        <p:nvSpPr>
          <p:cNvPr id="3" name="Vertikaler Textplatzhalter 2">
            <a:extLst>
              <a:ext uri="{FF2B5EF4-FFF2-40B4-BE49-F238E27FC236}">
                <a16:creationId xmlns:a16="http://schemas.microsoft.com/office/drawing/2014/main" id="{4C5EAB1F-B43A-4658-9581-D76D14F85F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3389A0FB-EEC3-4EF0-9ADD-A25306DA90FE}"/>
              </a:ext>
            </a:extLst>
          </p:cNvPr>
          <p:cNvSpPr>
            <a:spLocks noGrp="1"/>
          </p:cNvSpPr>
          <p:nvPr>
            <p:ph type="dt" sz="half" idx="10"/>
          </p:nvPr>
        </p:nvSpPr>
        <p:spPr/>
        <p:txBody>
          <a:bodyPr/>
          <a:lstStyle/>
          <a:p>
            <a:fld id="{FEAAA17A-0148-EA4F-AE5C-CBBB6E738B9E}" type="datetime1">
              <a:rPr lang="en-US" smtClean="0"/>
              <a:t>6/1/26</a:t>
            </a:fld>
            <a:endParaRPr lang="de-AT"/>
          </a:p>
        </p:txBody>
      </p:sp>
      <p:sp>
        <p:nvSpPr>
          <p:cNvPr id="5" name="Fußzeilenplatzhalter 4">
            <a:extLst>
              <a:ext uri="{FF2B5EF4-FFF2-40B4-BE49-F238E27FC236}">
                <a16:creationId xmlns:a16="http://schemas.microsoft.com/office/drawing/2014/main" id="{BA7103B7-551F-4B50-A5D4-7E57DED5CE0A}"/>
              </a:ext>
            </a:extLst>
          </p:cNvPr>
          <p:cNvSpPr>
            <a:spLocks noGrp="1"/>
          </p:cNvSpPr>
          <p:nvPr>
            <p:ph type="ftr" sz="quarter" idx="11"/>
          </p:nvPr>
        </p:nvSpPr>
        <p:spPr/>
        <p:txBody>
          <a:bodyPr/>
          <a:lstStyle/>
          <a:p>
            <a:r>
              <a:rPr lang="de-AT"/>
              <a:t>RQI Circuit 2026, Wien I Phil LeMaitre I 05.06.2026</a:t>
            </a:r>
          </a:p>
        </p:txBody>
      </p:sp>
      <p:sp>
        <p:nvSpPr>
          <p:cNvPr id="6" name="Foliennummernplatzhalter 5">
            <a:extLst>
              <a:ext uri="{FF2B5EF4-FFF2-40B4-BE49-F238E27FC236}">
                <a16:creationId xmlns:a16="http://schemas.microsoft.com/office/drawing/2014/main" id="{EA3FF2B3-2015-4796-82BE-B3575BED550E}"/>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7" name="Titel 6">
            <a:extLst>
              <a:ext uri="{FF2B5EF4-FFF2-40B4-BE49-F238E27FC236}">
                <a16:creationId xmlns:a16="http://schemas.microsoft.com/office/drawing/2014/main" id="{7B95CA12-F909-41D8-A784-E228C9072098}"/>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37591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6A27B21-E248-4667-B1A8-91247D8BB80C}"/>
              </a:ext>
            </a:extLst>
          </p:cNvPr>
          <p:cNvSpPr>
            <a:spLocks noGrp="1"/>
          </p:cNvSpPr>
          <p:nvPr>
            <p:ph type="title" orient="vert"/>
          </p:nvPr>
        </p:nvSpPr>
        <p:spPr>
          <a:xfrm>
            <a:off x="8724900" y="333375"/>
            <a:ext cx="2771700" cy="5615905"/>
          </a:xfrm>
          <a:prstGeom prst="rect">
            <a:avLst/>
          </a:prstGeom>
        </p:spPr>
        <p:txBody>
          <a:bodyPr vert="eaVert"/>
          <a:lstStyle/>
          <a:p>
            <a:r>
              <a:rPr lang="en-US"/>
              <a:t>Click to edit Master title style</a:t>
            </a:r>
            <a:endParaRPr lang="de-AT"/>
          </a:p>
        </p:txBody>
      </p:sp>
      <p:sp>
        <p:nvSpPr>
          <p:cNvPr id="3" name="Vertikaler Textplatzhalter 2">
            <a:extLst>
              <a:ext uri="{FF2B5EF4-FFF2-40B4-BE49-F238E27FC236}">
                <a16:creationId xmlns:a16="http://schemas.microsoft.com/office/drawing/2014/main" id="{9BAC2EE9-BFB6-4286-BD71-DDE7114176DC}"/>
              </a:ext>
            </a:extLst>
          </p:cNvPr>
          <p:cNvSpPr>
            <a:spLocks noGrp="1"/>
          </p:cNvSpPr>
          <p:nvPr>
            <p:ph type="body" orient="vert" idx="1"/>
          </p:nvPr>
        </p:nvSpPr>
        <p:spPr>
          <a:xfrm>
            <a:off x="695325" y="333375"/>
            <a:ext cx="7877175" cy="56159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77C7FD9C-CA6A-4C91-9817-8053D045C070}"/>
              </a:ext>
            </a:extLst>
          </p:cNvPr>
          <p:cNvSpPr>
            <a:spLocks noGrp="1"/>
          </p:cNvSpPr>
          <p:nvPr>
            <p:ph type="dt" sz="half" idx="10"/>
          </p:nvPr>
        </p:nvSpPr>
        <p:spPr/>
        <p:txBody>
          <a:bodyPr/>
          <a:lstStyle/>
          <a:p>
            <a:fld id="{054D867C-3AF7-6A4D-8C7C-252C65653FA0}" type="datetime1">
              <a:rPr lang="en-US" smtClean="0"/>
              <a:t>6/1/26</a:t>
            </a:fld>
            <a:endParaRPr lang="de-AT"/>
          </a:p>
        </p:txBody>
      </p:sp>
      <p:sp>
        <p:nvSpPr>
          <p:cNvPr id="5" name="Fußzeilenplatzhalter 4">
            <a:extLst>
              <a:ext uri="{FF2B5EF4-FFF2-40B4-BE49-F238E27FC236}">
                <a16:creationId xmlns:a16="http://schemas.microsoft.com/office/drawing/2014/main" id="{43DCE2AE-61CC-4750-9C5D-FDF78A698002}"/>
              </a:ext>
            </a:extLst>
          </p:cNvPr>
          <p:cNvSpPr>
            <a:spLocks noGrp="1"/>
          </p:cNvSpPr>
          <p:nvPr>
            <p:ph type="ftr" sz="quarter" idx="11"/>
          </p:nvPr>
        </p:nvSpPr>
        <p:spPr/>
        <p:txBody>
          <a:bodyPr/>
          <a:lstStyle/>
          <a:p>
            <a:r>
              <a:rPr lang="de-AT"/>
              <a:t>RQI Circuit 2026, Wien I Phil LeMaitre I 05.06.2026</a:t>
            </a:r>
          </a:p>
        </p:txBody>
      </p:sp>
      <p:sp>
        <p:nvSpPr>
          <p:cNvPr id="6" name="Foliennummernplatzhalter 5">
            <a:extLst>
              <a:ext uri="{FF2B5EF4-FFF2-40B4-BE49-F238E27FC236}">
                <a16:creationId xmlns:a16="http://schemas.microsoft.com/office/drawing/2014/main" id="{27BAD0E1-6707-4963-A804-E3B7549D6B7A}"/>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594298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8F077A78-823C-4FB1-A554-48EEEDB5B2BC}"/>
              </a:ext>
            </a:extLst>
          </p:cNvPr>
          <p:cNvPicPr>
            <a:picLocks noChangeAspect="1"/>
          </p:cNvPicPr>
          <p:nvPr userDrawn="1"/>
        </p:nvPicPr>
        <p:blipFill>
          <a:blip r:embed="rId13"/>
          <a:srcRect/>
          <a:stretch/>
        </p:blipFill>
        <p:spPr>
          <a:xfrm>
            <a:off x="0" y="0"/>
            <a:ext cx="12250813" cy="6891082"/>
          </a:xfrm>
          <a:prstGeom prst="rect">
            <a:avLst/>
          </a:prstGeom>
        </p:spPr>
      </p:pic>
      <p:sp>
        <p:nvSpPr>
          <p:cNvPr id="2" name="Titelplatzhalter 1">
            <a:extLst>
              <a:ext uri="{FF2B5EF4-FFF2-40B4-BE49-F238E27FC236}">
                <a16:creationId xmlns:a16="http://schemas.microsoft.com/office/drawing/2014/main" id="{BB2EF590-3470-459C-9316-671ECA281F27}"/>
              </a:ext>
            </a:extLst>
          </p:cNvPr>
          <p:cNvSpPr>
            <a:spLocks noGrp="1"/>
          </p:cNvSpPr>
          <p:nvPr>
            <p:ph type="title"/>
          </p:nvPr>
        </p:nvSpPr>
        <p:spPr>
          <a:xfrm>
            <a:off x="695400" y="332656"/>
            <a:ext cx="10801200" cy="576064"/>
          </a:xfrm>
          <a:prstGeom prst="rect">
            <a:avLst/>
          </a:prstGeom>
        </p:spPr>
        <p:txBody>
          <a:bodyPr vert="horz" lIns="91440" tIns="45720" rIns="91440" bIns="45720" rtlCol="0" anchor="b">
            <a:normAutofit/>
          </a:bodyPr>
          <a:lstStyle/>
          <a:p>
            <a:r>
              <a:rPr lang="de-DE" dirty="0"/>
              <a:t>Mastertitelformat bearbeiten</a:t>
            </a:r>
            <a:endParaRPr lang="de-AT" dirty="0"/>
          </a:p>
        </p:txBody>
      </p:sp>
      <p:sp>
        <p:nvSpPr>
          <p:cNvPr id="3" name="Textplatzhalter 2">
            <a:extLst>
              <a:ext uri="{FF2B5EF4-FFF2-40B4-BE49-F238E27FC236}">
                <a16:creationId xmlns:a16="http://schemas.microsoft.com/office/drawing/2014/main" id="{A68C32D3-9180-48A2-9E47-8252F5399794}"/>
              </a:ext>
            </a:extLst>
          </p:cNvPr>
          <p:cNvSpPr>
            <a:spLocks noGrp="1"/>
          </p:cNvSpPr>
          <p:nvPr>
            <p:ph type="body" idx="1"/>
          </p:nvPr>
        </p:nvSpPr>
        <p:spPr>
          <a:xfrm>
            <a:off x="695400" y="1124743"/>
            <a:ext cx="10801200" cy="4824537"/>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AT" dirty="0"/>
          </a:p>
        </p:txBody>
      </p:sp>
      <p:sp>
        <p:nvSpPr>
          <p:cNvPr id="4" name="Datumsplatzhalter 3">
            <a:extLst>
              <a:ext uri="{FF2B5EF4-FFF2-40B4-BE49-F238E27FC236}">
                <a16:creationId xmlns:a16="http://schemas.microsoft.com/office/drawing/2014/main" id="{EC326DDF-8A21-4E62-B496-3854373C44F6}"/>
              </a:ext>
            </a:extLst>
          </p:cNvPr>
          <p:cNvSpPr>
            <a:spLocks noGrp="1"/>
          </p:cNvSpPr>
          <p:nvPr>
            <p:ph type="dt" sz="half" idx="2"/>
          </p:nvPr>
        </p:nvSpPr>
        <p:spPr>
          <a:xfrm>
            <a:off x="5159896" y="6310311"/>
            <a:ext cx="1080119" cy="365125"/>
          </a:xfrm>
          <a:prstGeom prst="rect">
            <a:avLst/>
          </a:prstGeom>
        </p:spPr>
        <p:txBody>
          <a:bodyPr vert="horz" lIns="91440" tIns="45720" rIns="91440" bIns="45720" rtlCol="0" anchor="ctr"/>
          <a:lstStyle>
            <a:lvl1pPr algn="l">
              <a:defRPr sz="900">
                <a:solidFill>
                  <a:schemeClr val="accent3"/>
                </a:solidFill>
              </a:defRPr>
            </a:lvl1pPr>
          </a:lstStyle>
          <a:p>
            <a:fld id="{DD483C82-657F-D84A-BCD9-538D69AD8E78}" type="datetime1">
              <a:rPr lang="en-US" smtClean="0"/>
              <a:t>6/1/26</a:t>
            </a:fld>
            <a:endParaRPr lang="de-AT" dirty="0"/>
          </a:p>
        </p:txBody>
      </p:sp>
      <p:sp>
        <p:nvSpPr>
          <p:cNvPr id="5" name="Fußzeilenplatzhalter 4">
            <a:extLst>
              <a:ext uri="{FF2B5EF4-FFF2-40B4-BE49-F238E27FC236}">
                <a16:creationId xmlns:a16="http://schemas.microsoft.com/office/drawing/2014/main" id="{0F6A1B67-E1AA-4B80-BE53-EEFBF856BAAC}"/>
              </a:ext>
            </a:extLst>
          </p:cNvPr>
          <p:cNvSpPr>
            <a:spLocks noGrp="1"/>
          </p:cNvSpPr>
          <p:nvPr>
            <p:ph type="ftr" sz="quarter" idx="3"/>
          </p:nvPr>
        </p:nvSpPr>
        <p:spPr>
          <a:xfrm>
            <a:off x="6456039" y="6310311"/>
            <a:ext cx="3744417" cy="365125"/>
          </a:xfrm>
          <a:prstGeom prst="rect">
            <a:avLst/>
          </a:prstGeom>
        </p:spPr>
        <p:txBody>
          <a:bodyPr vert="horz" lIns="91440" tIns="45720" rIns="91440" bIns="45720" rtlCol="0" anchor="ctr"/>
          <a:lstStyle>
            <a:lvl1pPr algn="ctr">
              <a:defRPr sz="900">
                <a:solidFill>
                  <a:schemeClr val="accent3"/>
                </a:solidFill>
              </a:defRPr>
            </a:lvl1pPr>
          </a:lstStyle>
          <a:p>
            <a:r>
              <a:rPr lang="de-AT"/>
              <a:t>RQI Circuit 2026, Wien I Phil LeMaitre I 05.06.2026</a:t>
            </a:r>
            <a:endParaRPr lang="de-AT" dirty="0"/>
          </a:p>
        </p:txBody>
      </p:sp>
      <p:sp>
        <p:nvSpPr>
          <p:cNvPr id="6" name="Foliennummernplatzhalter 5">
            <a:extLst>
              <a:ext uri="{FF2B5EF4-FFF2-40B4-BE49-F238E27FC236}">
                <a16:creationId xmlns:a16="http://schemas.microsoft.com/office/drawing/2014/main" id="{482BB844-BB3C-4946-8814-43B26C37D90B}"/>
              </a:ext>
            </a:extLst>
          </p:cNvPr>
          <p:cNvSpPr>
            <a:spLocks noGrp="1"/>
          </p:cNvSpPr>
          <p:nvPr>
            <p:ph type="sldNum" sz="quarter" idx="4"/>
          </p:nvPr>
        </p:nvSpPr>
        <p:spPr>
          <a:xfrm>
            <a:off x="10416480" y="6310311"/>
            <a:ext cx="1080120" cy="365125"/>
          </a:xfrm>
          <a:prstGeom prst="rect">
            <a:avLst/>
          </a:prstGeom>
        </p:spPr>
        <p:txBody>
          <a:bodyPr vert="horz" lIns="91440" tIns="45720" rIns="91440" bIns="45720" rtlCol="0" anchor="ctr"/>
          <a:lstStyle>
            <a:lvl1pPr algn="r">
              <a:defRPr sz="900">
                <a:solidFill>
                  <a:schemeClr val="accent3"/>
                </a:solidFill>
              </a:defRPr>
            </a:lvl1pPr>
          </a:lstStyle>
          <a:p>
            <a:r>
              <a:rPr lang="de-AT"/>
              <a:t>Seite </a:t>
            </a:r>
            <a:fld id="{D0617D14-1B55-43C0-819D-0D244AC23646}" type="slidenum">
              <a:rPr lang="de-AT" smtClean="0"/>
              <a:pPr/>
              <a:t>‹#›</a:t>
            </a:fld>
            <a:endParaRPr lang="de-AT" dirty="0"/>
          </a:p>
        </p:txBody>
      </p:sp>
    </p:spTree>
    <p:extLst>
      <p:ext uri="{BB962C8B-B14F-4D97-AF65-F5344CB8AC3E}">
        <p14:creationId xmlns:p14="http://schemas.microsoft.com/office/powerpoint/2010/main" val="1515775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0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SzPct val="80000"/>
        <a:buFont typeface="Wingdings" panose="05000000000000000000" pitchFamily="2" charset="2"/>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8">
          <p15:clr>
            <a:srgbClr val="F26B43"/>
          </p15:clr>
        </p15:guide>
        <p15:guide id="4" orient="horz" pos="210">
          <p15:clr>
            <a:srgbClr val="F26B43"/>
          </p15:clr>
        </p15:guide>
        <p15:guide id="5" orient="horz" pos="5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4.xml"/><Relationship Id="rId7" Type="http://schemas.openxmlformats.org/officeDocument/2006/relationships/image" Target="../media/image25.png"/><Relationship Id="rId12"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24.png"/><Relationship Id="rId11" Type="http://schemas.openxmlformats.org/officeDocument/2006/relationships/image" Target="../media/image8.png"/><Relationship Id="rId10" Type="http://schemas.openxmlformats.org/officeDocument/2006/relationships/image" Target="../media/image28.png"/><Relationship Id="rId9"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15.png"/><Relationship Id="rId3" Type="http://schemas.openxmlformats.org/officeDocument/2006/relationships/notesSlide" Target="../notesSlides/notesSlide9.xml"/><Relationship Id="rId7" Type="http://schemas.openxmlformats.org/officeDocument/2006/relationships/image" Target="../media/image13.png"/><Relationship Id="rId12"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2.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16.png"/><Relationship Id="rId5" Type="http://schemas.openxmlformats.org/officeDocument/2006/relationships/image" Target="../media/image51.png"/><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22.jp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22.jp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hyperlink" Target="https://doi.org/10.1103/9ph7-cyzh" TargetMode="External"/><Relationship Id="rId4" Type="http://schemas.openxmlformats.org/officeDocument/2006/relationships/image" Target="../media/image22.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2.jp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2.jp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24.xml"/><Relationship Id="rId7"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35.png"/><Relationship Id="rId5" Type="http://schemas.openxmlformats.org/officeDocument/2006/relationships/image" Target="../media/image10.png"/><Relationship Id="rId4" Type="http://schemas.openxmlformats.org/officeDocument/2006/relationships/image" Target="../media/image34.png"/><Relationship Id="rId9"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1">
            <a:extLst>
              <a:ext uri="{FF2B5EF4-FFF2-40B4-BE49-F238E27FC236}">
                <a16:creationId xmlns:a16="http://schemas.microsoft.com/office/drawing/2014/main" id="{48A768A2-9AF2-4905-34CE-EF3C06C5FBDE}"/>
              </a:ext>
            </a:extLst>
          </p:cNvPr>
          <p:cNvSpPr txBox="1">
            <a:spLocks/>
          </p:cNvSpPr>
          <p:nvPr/>
        </p:nvSpPr>
        <p:spPr bwMode="auto">
          <a:xfrm>
            <a:off x="3162528" y="0"/>
            <a:ext cx="9029472" cy="84022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de-AT" sz="2800" kern="0" dirty="0">
              <a:solidFill>
                <a:schemeClr val="bg1"/>
              </a:solidFill>
              <a:latin typeface="Calibri Light" panose="020F0302020204030204" pitchFamily="34" charset="0"/>
              <a:cs typeface="Calibri Light" panose="020F0302020204030204" pitchFamily="34" charset="0"/>
            </a:endParaRPr>
          </a:p>
        </p:txBody>
      </p:sp>
      <p:sp>
        <p:nvSpPr>
          <p:cNvPr id="4" name="Titel 3">
            <a:extLst>
              <a:ext uri="{FF2B5EF4-FFF2-40B4-BE49-F238E27FC236}">
                <a16:creationId xmlns:a16="http://schemas.microsoft.com/office/drawing/2014/main" id="{7FC92962-78A1-41F8-8629-003DFB9D2A86}"/>
              </a:ext>
            </a:extLst>
          </p:cNvPr>
          <p:cNvSpPr>
            <a:spLocks noGrp="1"/>
          </p:cNvSpPr>
          <p:nvPr>
            <p:ph type="ctrTitle"/>
          </p:nvPr>
        </p:nvSpPr>
        <p:spPr>
          <a:xfrm>
            <a:off x="1968202" y="1737299"/>
            <a:ext cx="8232701" cy="1233251"/>
          </a:xfrm>
        </p:spPr>
        <p:txBody>
          <a:bodyPr>
            <a:noAutofit/>
          </a:bodyPr>
          <a:lstStyle/>
          <a:p>
            <a:pPr algn="ctr"/>
            <a:r>
              <a:rPr lang="en-US" sz="4400" dirty="0"/>
              <a:t>Harvesting Contextuality from the Vacuum</a:t>
            </a:r>
            <a:endParaRPr lang="de-AT" sz="4400" dirty="0"/>
          </a:p>
        </p:txBody>
      </p:sp>
      <p:sp>
        <p:nvSpPr>
          <p:cNvPr id="2" name="Textfeld 1">
            <a:extLst>
              <a:ext uri="{FF2B5EF4-FFF2-40B4-BE49-F238E27FC236}">
                <a16:creationId xmlns:a16="http://schemas.microsoft.com/office/drawing/2014/main" id="{12020C8E-D6C1-0DB1-CBA5-7EC3660E52C8}"/>
              </a:ext>
            </a:extLst>
          </p:cNvPr>
          <p:cNvSpPr txBox="1"/>
          <p:nvPr/>
        </p:nvSpPr>
        <p:spPr>
          <a:xfrm>
            <a:off x="6084553" y="-11447"/>
            <a:ext cx="184731" cy="584775"/>
          </a:xfrm>
          <a:prstGeom prst="rect">
            <a:avLst/>
          </a:prstGeom>
          <a:noFill/>
        </p:spPr>
        <p:txBody>
          <a:bodyPr wrap="none" rtlCol="0">
            <a:spAutoFit/>
          </a:bodyPr>
          <a:lstStyle/>
          <a:p>
            <a:endParaRPr lang="de-DE" sz="3200" dirty="0"/>
          </a:p>
        </p:txBody>
      </p:sp>
      <p:pic>
        <p:nvPicPr>
          <p:cNvPr id="3" name="Immagine 7">
            <a:extLst>
              <a:ext uri="{FF2B5EF4-FFF2-40B4-BE49-F238E27FC236}">
                <a16:creationId xmlns:a16="http://schemas.microsoft.com/office/drawing/2014/main" id="{A809EC6E-AA20-F3C3-5997-7FABF74C75D8}"/>
              </a:ext>
            </a:extLst>
          </p:cNvPr>
          <p:cNvPicPr>
            <a:picLocks noChangeAspect="1"/>
          </p:cNvPicPr>
          <p:nvPr/>
        </p:nvPicPr>
        <p:blipFill rotWithShape="1">
          <a:blip r:embed="rId3">
            <a:extLst>
              <a:ext uri="{28A0092B-C50C-407E-A947-70E740481C1C}">
                <a14:useLocalDpi xmlns:a14="http://schemas.microsoft.com/office/drawing/2010/main"/>
              </a:ext>
            </a:extLst>
          </a:blip>
          <a:srcRect t="4056"/>
          <a:stretch/>
        </p:blipFill>
        <p:spPr>
          <a:xfrm>
            <a:off x="0" y="0"/>
            <a:ext cx="3162528" cy="877310"/>
          </a:xfrm>
          <a:prstGeom prst="rect">
            <a:avLst/>
          </a:prstGeom>
        </p:spPr>
      </p:pic>
      <p:sp>
        <p:nvSpPr>
          <p:cNvPr id="8" name="Subtitle 2">
            <a:extLst>
              <a:ext uri="{FF2B5EF4-FFF2-40B4-BE49-F238E27FC236}">
                <a16:creationId xmlns:a16="http://schemas.microsoft.com/office/drawing/2014/main" id="{8E9D1A80-420D-81AB-B33D-F10A07A5B90F}"/>
              </a:ext>
            </a:extLst>
          </p:cNvPr>
          <p:cNvSpPr txBox="1">
            <a:spLocks/>
          </p:cNvSpPr>
          <p:nvPr/>
        </p:nvSpPr>
        <p:spPr>
          <a:xfrm>
            <a:off x="1524000" y="3429000"/>
            <a:ext cx="9144000" cy="101475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SzPct val="80000"/>
              <a:buFont typeface="Wingdings" panose="05000000000000000000" pitchFamily="2" charset="2"/>
              <a:buNone/>
              <a:defRPr sz="15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SzPct val="80000"/>
              <a:buFont typeface="Wingdings" panose="05000000000000000000" pitchFamily="2" charset="2"/>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SzPct val="80000"/>
              <a:buFont typeface="Wingdings" panose="05000000000000000000" pitchFamily="2" charset="2"/>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SzPct val="80000"/>
              <a:buFont typeface="Wingdings" panose="05000000000000000000" pitchFamily="2" charset="2"/>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SzPct val="80000"/>
              <a:buFont typeface="Wingdings" panose="05000000000000000000" pitchFamily="2" charset="2"/>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US" sz="2400" dirty="0">
                <a:solidFill>
                  <a:schemeClr val="tx1"/>
                </a:solidFill>
              </a:rPr>
              <a:t>Philip A. </a:t>
            </a:r>
            <a:r>
              <a:rPr lang="en-US" sz="2400" dirty="0" err="1">
                <a:solidFill>
                  <a:schemeClr val="tx1"/>
                </a:solidFill>
              </a:rPr>
              <a:t>LeMaitre</a:t>
            </a:r>
            <a:endParaRPr lang="en-US" sz="2400" dirty="0">
              <a:solidFill>
                <a:schemeClr val="tx1"/>
              </a:solidFill>
            </a:endParaRPr>
          </a:p>
          <a:p>
            <a:pPr algn="ctr"/>
            <a:r>
              <a:rPr lang="en-US" sz="2400" dirty="0">
                <a:solidFill>
                  <a:schemeClr val="tx1"/>
                </a:solidFill>
              </a:rPr>
              <a:t>June 5, 2026</a:t>
            </a:r>
          </a:p>
        </p:txBody>
      </p:sp>
      <p:pic>
        <p:nvPicPr>
          <p:cNvPr id="5" name="Picture 4">
            <a:extLst>
              <a:ext uri="{FF2B5EF4-FFF2-40B4-BE49-F238E27FC236}">
                <a16:creationId xmlns:a16="http://schemas.microsoft.com/office/drawing/2014/main" id="{DCAA3EB6-5835-3FB8-1458-D6B61A75C48A}"/>
              </a:ext>
            </a:extLst>
          </p:cNvPr>
          <p:cNvPicPr>
            <a:picLocks noChangeAspect="1"/>
          </p:cNvPicPr>
          <p:nvPr/>
        </p:nvPicPr>
        <p:blipFill>
          <a:blip r:embed="rId4"/>
          <a:stretch>
            <a:fillRect/>
          </a:stretch>
        </p:blipFill>
        <p:spPr>
          <a:xfrm>
            <a:off x="3162528" y="5276096"/>
            <a:ext cx="1742839" cy="1307129"/>
          </a:xfrm>
          <a:prstGeom prst="rect">
            <a:avLst/>
          </a:prstGeom>
        </p:spPr>
      </p:pic>
      <p:pic>
        <p:nvPicPr>
          <p:cNvPr id="6" name="Picture 2">
            <a:extLst>
              <a:ext uri="{FF2B5EF4-FFF2-40B4-BE49-F238E27FC236}">
                <a16:creationId xmlns:a16="http://schemas.microsoft.com/office/drawing/2014/main" id="{116251D0-EE4D-38E4-A36F-772137F79AD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951464" y="5457479"/>
            <a:ext cx="2449178" cy="828849"/>
          </a:xfrm>
          <a:prstGeom prst="rect">
            <a:avLst/>
          </a:prstGeom>
          <a:noFill/>
          <a:extLst>
            <a:ext uri="{909E8E84-426E-40DD-AFC4-6F175D3DCCD1}">
              <a14:hiddenFill xmlns:a14="http://schemas.microsoft.com/office/drawing/2010/main">
                <a:solidFill>
                  <a:srgbClr val="FFFFFF"/>
                </a:solidFill>
              </a14:hiddenFill>
            </a:ext>
          </a:extLst>
        </p:spPr>
      </p:pic>
      <p:pic>
        <p:nvPicPr>
          <p:cNvPr id="7" name="Immagine 59" descr="Immagine che contiene screenshot&#10;&#10;Descrizione generata automaticamente">
            <a:extLst>
              <a:ext uri="{FF2B5EF4-FFF2-40B4-BE49-F238E27FC236}">
                <a16:creationId xmlns:a16="http://schemas.microsoft.com/office/drawing/2014/main" id="{22A443E8-F163-F98C-C097-26E5072C0867}"/>
              </a:ext>
            </a:extLst>
          </p:cNvPr>
          <p:cNvPicPr>
            <a:picLocks noChangeAspect="1"/>
          </p:cNvPicPr>
          <p:nvPr/>
        </p:nvPicPr>
        <p:blipFill rotWithShape="1">
          <a:blip r:embed="rId6">
            <a:extLst>
              <a:ext uri="{28A0092B-C50C-407E-A947-70E740481C1C}">
                <a14:useLocalDpi xmlns:a14="http://schemas.microsoft.com/office/drawing/2010/main"/>
              </a:ext>
            </a:extLst>
          </a:blip>
          <a:srcRect l="2427" t="13899" r="2389" b="23338"/>
          <a:stretch/>
        </p:blipFill>
        <p:spPr>
          <a:xfrm>
            <a:off x="4986228" y="5515235"/>
            <a:ext cx="1884375" cy="828849"/>
          </a:xfrm>
          <a:prstGeom prst="rect">
            <a:avLst/>
          </a:prstGeom>
        </p:spPr>
      </p:pic>
      <p:sp>
        <p:nvSpPr>
          <p:cNvPr id="17" name="TextBox 16">
            <a:extLst>
              <a:ext uri="{FF2B5EF4-FFF2-40B4-BE49-F238E27FC236}">
                <a16:creationId xmlns:a16="http://schemas.microsoft.com/office/drawing/2014/main" id="{12856B93-6D75-3573-EE40-320E889072E6}"/>
              </a:ext>
            </a:extLst>
          </p:cNvPr>
          <p:cNvSpPr txBox="1"/>
          <p:nvPr/>
        </p:nvSpPr>
        <p:spPr>
          <a:xfrm>
            <a:off x="900801" y="4791226"/>
            <a:ext cx="2180866" cy="646331"/>
          </a:xfrm>
          <a:prstGeom prst="rect">
            <a:avLst/>
          </a:prstGeom>
          <a:noFill/>
        </p:spPr>
        <p:txBody>
          <a:bodyPr wrap="square" rtlCol="0">
            <a:spAutoFit/>
          </a:bodyPr>
          <a:lstStyle/>
          <a:p>
            <a:r>
              <a:rPr lang="en-CA" i="1" dirty="0"/>
              <a:t>Phys. Rev. D. </a:t>
            </a:r>
            <a:r>
              <a:rPr lang="en-US" b="1" i="1" dirty="0"/>
              <a:t>113</a:t>
            </a:r>
            <a:r>
              <a:rPr lang="en-US" i="1" dirty="0"/>
              <a:t>, 045001 </a:t>
            </a:r>
            <a:r>
              <a:rPr lang="en-CA" dirty="0"/>
              <a:t>(2026)</a:t>
            </a:r>
          </a:p>
        </p:txBody>
      </p:sp>
      <p:pic>
        <p:nvPicPr>
          <p:cNvPr id="18" name="Picture 17">
            <a:extLst>
              <a:ext uri="{FF2B5EF4-FFF2-40B4-BE49-F238E27FC236}">
                <a16:creationId xmlns:a16="http://schemas.microsoft.com/office/drawing/2014/main" id="{2FA88726-2D49-92B1-F937-1C4AFC37337C}"/>
              </a:ext>
            </a:extLst>
          </p:cNvPr>
          <p:cNvPicPr>
            <a:picLocks noChangeAspect="1"/>
          </p:cNvPicPr>
          <p:nvPr/>
        </p:nvPicPr>
        <p:blipFill>
          <a:blip r:embed="rId7"/>
          <a:stretch>
            <a:fillRect/>
          </a:stretch>
        </p:blipFill>
        <p:spPr>
          <a:xfrm>
            <a:off x="730255" y="2784308"/>
            <a:ext cx="2092462" cy="2092462"/>
          </a:xfrm>
          <a:prstGeom prst="rect">
            <a:avLst/>
          </a:prstGeom>
        </p:spPr>
      </p:pic>
    </p:spTree>
    <p:extLst>
      <p:ext uri="{BB962C8B-B14F-4D97-AF65-F5344CB8AC3E}">
        <p14:creationId xmlns:p14="http://schemas.microsoft.com/office/powerpoint/2010/main" val="2451991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00225-99C7-E203-4001-6DEBB872A03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9D0D2D19-6882-F540-07E4-4262D8EC3A00}"/>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E3B73CBB-56E3-7A9E-C547-88453938856A}"/>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Introduction and Motivation</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F4C54DD4-0FB2-DEB5-E3F3-06CFEB530F67}"/>
              </a:ext>
            </a:extLst>
          </p:cNvPr>
          <p:cNvSpPr>
            <a:spLocks noGrp="1"/>
          </p:cNvSpPr>
          <p:nvPr>
            <p:ph type="sldNum" sz="quarter" idx="12"/>
          </p:nvPr>
        </p:nvSpPr>
        <p:spPr/>
        <p:txBody>
          <a:bodyPr/>
          <a:lstStyle/>
          <a:p>
            <a:fld id="{D0617D14-1B55-43C0-819D-0D244AC23646}" type="slidenum">
              <a:rPr lang="de-AT" smtClean="0"/>
              <a:t>2</a:t>
            </a:fld>
            <a:endParaRPr lang="de-AT"/>
          </a:p>
        </p:txBody>
      </p:sp>
      <p:sp>
        <p:nvSpPr>
          <p:cNvPr id="4" name="TextBox 3">
            <a:extLst>
              <a:ext uri="{FF2B5EF4-FFF2-40B4-BE49-F238E27FC236}">
                <a16:creationId xmlns:a16="http://schemas.microsoft.com/office/drawing/2014/main" id="{F7D9947D-A5DB-46CE-C7C3-5E2A724B5282}"/>
              </a:ext>
            </a:extLst>
          </p:cNvPr>
          <p:cNvSpPr txBox="1"/>
          <p:nvPr/>
        </p:nvSpPr>
        <p:spPr>
          <a:xfrm>
            <a:off x="459509" y="4063760"/>
            <a:ext cx="11272981" cy="800000"/>
          </a:xfrm>
          <a:prstGeom prst="rect">
            <a:avLst/>
          </a:prstGeom>
          <a:noFill/>
        </p:spPr>
        <p:txBody>
          <a:bodyPr wrap="square">
            <a:noAutofit/>
          </a:bodyPr>
          <a:lstStyle/>
          <a:p>
            <a:pPr algn="ctr"/>
            <a:r>
              <a:rPr sz="2800" b="1" u="sng" dirty="0">
                <a:solidFill>
                  <a:srgbClr val="000000"/>
                </a:solidFill>
              </a:rPr>
              <a:t>Key question</a:t>
            </a:r>
            <a:r>
              <a:rPr sz="2800" b="1" dirty="0">
                <a:solidFill>
                  <a:srgbClr val="000000"/>
                </a:solidFill>
              </a:rPr>
              <a:t>: </a:t>
            </a:r>
            <a:r>
              <a:rPr sz="2600" b="1" dirty="0">
                <a:solidFill>
                  <a:srgbClr val="000000"/>
                </a:solidFill>
              </a:rPr>
              <a:t>can an initially non</a:t>
            </a:r>
            <a:r>
              <a:rPr lang="en-US" sz="2600" b="1" dirty="0">
                <a:solidFill>
                  <a:srgbClr val="000000"/>
                </a:solidFill>
              </a:rPr>
              <a:t>-</a:t>
            </a:r>
            <a:r>
              <a:rPr sz="2600" b="1" dirty="0">
                <a:solidFill>
                  <a:srgbClr val="000000"/>
                </a:solidFill>
              </a:rPr>
              <a:t>contextual </a:t>
            </a:r>
            <a:r>
              <a:rPr lang="en-US" sz="2600" b="1" dirty="0">
                <a:solidFill>
                  <a:srgbClr val="000000"/>
                </a:solidFill>
              </a:rPr>
              <a:t>Unruh-DeWitt (UDW) system</a:t>
            </a:r>
            <a:r>
              <a:rPr sz="2600" b="1" dirty="0">
                <a:solidFill>
                  <a:srgbClr val="000000"/>
                </a:solidFill>
              </a:rPr>
              <a:t> state become contextual after a local interaction with the vacuum?</a:t>
            </a:r>
          </a:p>
        </p:txBody>
      </p:sp>
      <p:sp>
        <p:nvSpPr>
          <p:cNvPr id="8" name="TextBox 7">
            <a:extLst>
              <a:ext uri="{FF2B5EF4-FFF2-40B4-BE49-F238E27FC236}">
                <a16:creationId xmlns:a16="http://schemas.microsoft.com/office/drawing/2014/main" id="{A615DFDE-B85C-0445-5DFC-AFAB30D98925}"/>
              </a:ext>
            </a:extLst>
          </p:cNvPr>
          <p:cNvSpPr txBox="1"/>
          <p:nvPr/>
        </p:nvSpPr>
        <p:spPr>
          <a:xfrm>
            <a:off x="810312" y="1394601"/>
            <a:ext cx="11018273" cy="592942"/>
          </a:xfrm>
          <a:prstGeom prst="rect">
            <a:avLst/>
          </a:prstGeom>
          <a:noFill/>
        </p:spPr>
        <p:txBody>
          <a:bodyPr wrap="square">
            <a:noAutofit/>
          </a:bodyPr>
          <a:lstStyle/>
          <a:p>
            <a:pPr algn="ctr"/>
            <a:r>
              <a:rPr lang="en-US" sz="2800" b="1" u="sng" dirty="0">
                <a:solidFill>
                  <a:srgbClr val="000000"/>
                </a:solidFill>
              </a:rPr>
              <a:t>Motivating</a:t>
            </a:r>
            <a:r>
              <a:rPr sz="2800" b="1" u="sng" dirty="0">
                <a:solidFill>
                  <a:srgbClr val="000000"/>
                </a:solidFill>
              </a:rPr>
              <a:t> question</a:t>
            </a:r>
            <a:r>
              <a:rPr sz="2600" b="1" dirty="0">
                <a:solidFill>
                  <a:srgbClr val="000000"/>
                </a:solidFill>
              </a:rPr>
              <a:t>: </a:t>
            </a:r>
            <a:r>
              <a:rPr lang="en-US" sz="2600" b="1" dirty="0">
                <a:solidFill>
                  <a:srgbClr val="000000"/>
                </a:solidFill>
              </a:rPr>
              <a:t>are there other resources besides entanglement we can extract from quantum fields?</a:t>
            </a:r>
            <a:endParaRPr sz="2600" b="1" dirty="0">
              <a:solidFill>
                <a:srgbClr val="000000"/>
              </a:solidFill>
            </a:endParaRPr>
          </a:p>
        </p:txBody>
      </p:sp>
      <p:sp>
        <p:nvSpPr>
          <p:cNvPr id="10" name="TextBox 9">
            <a:extLst>
              <a:ext uri="{FF2B5EF4-FFF2-40B4-BE49-F238E27FC236}">
                <a16:creationId xmlns:a16="http://schemas.microsoft.com/office/drawing/2014/main" id="{ACE60E41-D21D-DD11-EA82-73A950FBE97C}"/>
              </a:ext>
            </a:extLst>
          </p:cNvPr>
          <p:cNvSpPr txBox="1"/>
          <p:nvPr/>
        </p:nvSpPr>
        <p:spPr>
          <a:xfrm>
            <a:off x="4874902" y="2836058"/>
            <a:ext cx="3624329" cy="592942"/>
          </a:xfrm>
          <a:prstGeom prst="rect">
            <a:avLst/>
          </a:prstGeom>
          <a:noFill/>
        </p:spPr>
        <p:txBody>
          <a:bodyPr wrap="square">
            <a:noAutofit/>
          </a:bodyPr>
          <a:lstStyle/>
          <a:p>
            <a:pPr algn="ctr"/>
            <a:r>
              <a:rPr lang="en-US" sz="2600" b="1" dirty="0">
                <a:solidFill>
                  <a:srgbClr val="000000"/>
                </a:solidFill>
              </a:rPr>
              <a:t>Yes, (measurement) contextuality!</a:t>
            </a:r>
            <a:endParaRPr sz="2600" b="1" dirty="0">
              <a:solidFill>
                <a:srgbClr val="000000"/>
              </a:solidFill>
            </a:endParaRPr>
          </a:p>
        </p:txBody>
      </p:sp>
      <p:sp>
        <p:nvSpPr>
          <p:cNvPr id="11" name="Right Arrow 10">
            <a:extLst>
              <a:ext uri="{FF2B5EF4-FFF2-40B4-BE49-F238E27FC236}">
                <a16:creationId xmlns:a16="http://schemas.microsoft.com/office/drawing/2014/main" id="{C3CE757A-3C93-4AA1-FA9B-6C60D6D1AA37}"/>
              </a:ext>
            </a:extLst>
          </p:cNvPr>
          <p:cNvSpPr/>
          <p:nvPr/>
        </p:nvSpPr>
        <p:spPr>
          <a:xfrm>
            <a:off x="4027042" y="2933948"/>
            <a:ext cx="751569" cy="391562"/>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600"/>
          </a:p>
        </p:txBody>
      </p:sp>
    </p:spTree>
    <p:custDataLst>
      <p:tags r:id="rId1"/>
    </p:custDataLst>
    <p:extLst>
      <p:ext uri="{BB962C8B-B14F-4D97-AF65-F5344CB8AC3E}">
        <p14:creationId xmlns:p14="http://schemas.microsoft.com/office/powerpoint/2010/main" val="425434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01BF6-44C0-2959-18A0-4D76C1046350}"/>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D4518BAF-5050-597C-0EF9-3EC81517F7F3}"/>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BB69A0AA-4E3C-849E-86E0-E5EE48B2E863}"/>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a:solidFill>
                  <a:schemeClr val="bg1"/>
                </a:solidFill>
                <a:latin typeface="Calibri Light" panose="020F0302020204030204" pitchFamily="34" charset="0"/>
                <a:cs typeface="Calibri Light" panose="020F0302020204030204" pitchFamily="34" charset="0"/>
              </a:rPr>
              <a:t>Contextuality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A060EFDE-F17E-A52C-F767-44B6A6887125}"/>
              </a:ext>
            </a:extLst>
          </p:cNvPr>
          <p:cNvSpPr>
            <a:spLocks noGrp="1"/>
          </p:cNvSpPr>
          <p:nvPr>
            <p:ph type="sldNum" sz="quarter" idx="12"/>
          </p:nvPr>
        </p:nvSpPr>
        <p:spPr/>
        <p:txBody>
          <a:bodyPr/>
          <a:lstStyle/>
          <a:p>
            <a:fld id="{D0617D14-1B55-43C0-819D-0D244AC23646}" type="slidenum">
              <a:rPr lang="de-AT" smtClean="0"/>
              <a:t>3</a:t>
            </a:fld>
            <a:endParaRPr lang="de-AT"/>
          </a:p>
        </p:txBody>
      </p:sp>
      <p:sp>
        <p:nvSpPr>
          <p:cNvPr id="4" name="TextBox 3">
            <a:extLst>
              <a:ext uri="{FF2B5EF4-FFF2-40B4-BE49-F238E27FC236}">
                <a16:creationId xmlns:a16="http://schemas.microsoft.com/office/drawing/2014/main" id="{D2010456-51D8-02EF-FA4C-9C62FA1D3E19}"/>
              </a:ext>
            </a:extLst>
          </p:cNvPr>
          <p:cNvSpPr txBox="1"/>
          <p:nvPr/>
        </p:nvSpPr>
        <p:spPr>
          <a:xfrm>
            <a:off x="6291945" y="2587738"/>
            <a:ext cx="5146040" cy="1134253"/>
          </a:xfrm>
          <a:prstGeom prst="rect">
            <a:avLst/>
          </a:prstGeom>
          <a:noFill/>
        </p:spPr>
        <p:txBody>
          <a:bodyPr wrap="square">
            <a:noAutofit/>
          </a:bodyPr>
          <a:lstStyle/>
          <a:p>
            <a:r>
              <a:rPr lang="en-US" sz="2600" dirty="0">
                <a:solidFill>
                  <a:srgbClr val="000000"/>
                </a:solidFill>
              </a:rPr>
              <a:t>Contextuality asks whether a family of compatible local measurement data admit a single global model independent of context.</a:t>
            </a:r>
          </a:p>
        </p:txBody>
      </p:sp>
      <p:pic>
        <p:nvPicPr>
          <p:cNvPr id="18" name="Picture 17" descr="Wooden ball with wooden cube">
            <a:extLst>
              <a:ext uri="{FF2B5EF4-FFF2-40B4-BE49-F238E27FC236}">
                <a16:creationId xmlns:a16="http://schemas.microsoft.com/office/drawing/2014/main" id="{2F4202E7-74D4-A2ED-365D-849CFA483CBD}"/>
              </a:ext>
            </a:extLst>
          </p:cNvPr>
          <p:cNvPicPr>
            <a:picLocks noChangeAspect="1"/>
          </p:cNvPicPr>
          <p:nvPr/>
        </p:nvPicPr>
        <p:blipFill>
          <a:blip r:embed="rId4"/>
          <a:stretch>
            <a:fillRect/>
          </a:stretch>
        </p:blipFill>
        <p:spPr>
          <a:xfrm>
            <a:off x="1013538" y="1765460"/>
            <a:ext cx="4560391" cy="34202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1"/>
    </p:custDataLst>
    <p:extLst>
      <p:ext uri="{BB962C8B-B14F-4D97-AF65-F5344CB8AC3E}">
        <p14:creationId xmlns:p14="http://schemas.microsoft.com/office/powerpoint/2010/main" val="551656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08F53-E03C-CB18-0A43-5A1025D68AFB}"/>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777DF908-D3B4-F8FD-B155-8FBAADD4EFA8}"/>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875A5482-88A6-0590-8376-BA8BA92CBF8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A4BA240-E9FA-3314-8518-79E7CA5D13A0}"/>
              </a:ext>
            </a:extLst>
          </p:cNvPr>
          <p:cNvSpPr>
            <a:spLocks noGrp="1"/>
          </p:cNvSpPr>
          <p:nvPr>
            <p:ph type="sldNum" sz="quarter" idx="12"/>
          </p:nvPr>
        </p:nvSpPr>
        <p:spPr/>
        <p:txBody>
          <a:bodyPr/>
          <a:lstStyle/>
          <a:p>
            <a:fld id="{D0617D14-1B55-43C0-819D-0D244AC23646}" type="slidenum">
              <a:rPr lang="de-AT" smtClean="0"/>
              <a:t>4</a:t>
            </a:fld>
            <a:endParaRPr lang="de-AT"/>
          </a:p>
        </p:txBody>
      </p:sp>
      <p:sp>
        <p:nvSpPr>
          <p:cNvPr id="30" name="TextBox 29">
            <a:extLst>
              <a:ext uri="{FF2B5EF4-FFF2-40B4-BE49-F238E27FC236}">
                <a16:creationId xmlns:a16="http://schemas.microsoft.com/office/drawing/2014/main" id="{13D7B2CF-3DE9-C63A-E294-819EEF56755E}"/>
              </a:ext>
            </a:extLst>
          </p:cNvPr>
          <p:cNvSpPr txBox="1"/>
          <p:nvPr/>
        </p:nvSpPr>
        <p:spPr>
          <a:xfrm>
            <a:off x="5670467" y="2992582"/>
            <a:ext cx="65" cy="553998"/>
          </a:xfrm>
          <a:prstGeom prst="rect">
            <a:avLst/>
          </a:prstGeom>
          <a:noFill/>
        </p:spPr>
        <p:txBody>
          <a:bodyPr wrap="none" lIns="0" tIns="0" rIns="0" bIns="0" rtlCol="0">
            <a:spAutoFit/>
          </a:bodyPr>
          <a:lstStyle/>
          <a:p>
            <a:endParaRPr lang="en-US" b="0" dirty="0"/>
          </a:p>
          <a:p>
            <a:endParaRPr lang="en-CA" dirty="0"/>
          </a:p>
        </p:txBody>
      </p:sp>
      <p:sp>
        <p:nvSpPr>
          <p:cNvPr id="4" name="Slide Number Placeholder 6">
            <a:extLst>
              <a:ext uri="{FF2B5EF4-FFF2-40B4-BE49-F238E27FC236}">
                <a16:creationId xmlns:a16="http://schemas.microsoft.com/office/drawing/2014/main" id="{BB7680D9-95A2-100C-EA47-B78A8064C160}"/>
              </a:ext>
            </a:extLst>
          </p:cNvPr>
          <p:cNvSpPr txBox="1">
            <a:spLocks/>
          </p:cNvSpPr>
          <p:nvPr/>
        </p:nvSpPr>
        <p:spPr>
          <a:xfrm>
            <a:off x="10416480" y="6310311"/>
            <a:ext cx="108012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617D14-1B55-43C0-819D-0D244AC23646}" type="slidenum">
              <a:rPr lang="de-AT" smtClean="0"/>
              <a:pPr/>
              <a:t>4</a:t>
            </a:fld>
            <a:endParaRPr lang="de-AT"/>
          </a:p>
        </p:txBody>
      </p:sp>
      <p:grpSp>
        <p:nvGrpSpPr>
          <p:cNvPr id="6" name="Group 5">
            <a:extLst>
              <a:ext uri="{FF2B5EF4-FFF2-40B4-BE49-F238E27FC236}">
                <a16:creationId xmlns:a16="http://schemas.microsoft.com/office/drawing/2014/main" id="{10A7CC4E-E76F-A689-F2C3-7BF811A04AB3}"/>
              </a:ext>
            </a:extLst>
          </p:cNvPr>
          <p:cNvGrpSpPr/>
          <p:nvPr/>
        </p:nvGrpSpPr>
        <p:grpSpPr>
          <a:xfrm>
            <a:off x="266593" y="1595025"/>
            <a:ext cx="4820192" cy="4331348"/>
            <a:chOff x="8920193" y="13186785"/>
            <a:chExt cx="4820192" cy="4331348"/>
          </a:xfrm>
        </p:grpSpPr>
        <p:sp>
          <p:nvSpPr>
            <p:cNvPr id="11" name="Oval 10">
              <a:extLst>
                <a:ext uri="{FF2B5EF4-FFF2-40B4-BE49-F238E27FC236}">
                  <a16:creationId xmlns:a16="http://schemas.microsoft.com/office/drawing/2014/main" id="{C2834275-4FA2-9970-6B21-FD805BEA7F2B}"/>
                </a:ext>
              </a:extLst>
            </p:cNvPr>
            <p:cNvSpPr/>
            <p:nvPr/>
          </p:nvSpPr>
          <p:spPr>
            <a:xfrm>
              <a:off x="9476528" y="14615554"/>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102FD612-4CE9-8FDE-F0F4-3E6D733B11DA}"/>
                </a:ext>
              </a:extLst>
            </p:cNvPr>
            <p:cNvSpPr/>
            <p:nvPr/>
          </p:nvSpPr>
          <p:spPr>
            <a:xfrm>
              <a:off x="11118094" y="13645963"/>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71160CF7-8F6D-EC52-FA4B-04967DD3F219}"/>
                </a:ext>
              </a:extLst>
            </p:cNvPr>
            <p:cNvSpPr/>
            <p:nvPr/>
          </p:nvSpPr>
          <p:spPr>
            <a:xfrm>
              <a:off x="12315254" y="16403961"/>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839EB380-2C57-9D25-F485-96D8C3684492}"/>
                </a:ext>
              </a:extLst>
            </p:cNvPr>
            <p:cNvSpPr/>
            <p:nvPr/>
          </p:nvSpPr>
          <p:spPr>
            <a:xfrm>
              <a:off x="9915915" y="16403962"/>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19103DD4-43AB-8A49-FC04-FF4C159B89EE}"/>
                </a:ext>
              </a:extLst>
            </p:cNvPr>
            <p:cNvSpPr/>
            <p:nvPr/>
          </p:nvSpPr>
          <p:spPr>
            <a:xfrm>
              <a:off x="12754641" y="14615554"/>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1" name="Straight Connector 20">
              <a:extLst>
                <a:ext uri="{FF2B5EF4-FFF2-40B4-BE49-F238E27FC236}">
                  <a16:creationId xmlns:a16="http://schemas.microsoft.com/office/drawing/2014/main" id="{F0BFA4A8-4668-5810-2E81-B86DFF1BA9B7}"/>
                </a:ext>
              </a:extLst>
            </p:cNvPr>
            <p:cNvCxnSpPr>
              <a:cxnSpLocks/>
              <a:stCxn id="18" idx="7"/>
              <a:endCxn id="12" idx="4"/>
            </p:cNvCxnSpPr>
            <p:nvPr/>
          </p:nvCxnSpPr>
          <p:spPr>
            <a:xfrm flipV="1">
              <a:off x="10290955" y="14083183"/>
              <a:ext cx="1046833" cy="2384808"/>
            </a:xfrm>
            <a:prstGeom prst="line">
              <a:avLst/>
            </a:prstGeom>
            <a:ln w="2540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1269DB3-7665-F239-6D14-19B21E0A16A8}"/>
                </a:ext>
              </a:extLst>
            </p:cNvPr>
            <p:cNvCxnSpPr>
              <a:cxnSpLocks/>
              <a:stCxn id="11" idx="6"/>
              <a:endCxn id="19" idx="2"/>
            </p:cNvCxnSpPr>
            <p:nvPr/>
          </p:nvCxnSpPr>
          <p:spPr>
            <a:xfrm>
              <a:off x="9915915" y="14834164"/>
              <a:ext cx="2838726"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AEBE241E-08A8-155F-1A7B-BC9183D897A5}"/>
                </a:ext>
              </a:extLst>
            </p:cNvPr>
            <p:cNvCxnSpPr>
              <a:cxnSpLocks/>
              <a:stCxn id="11" idx="6"/>
              <a:endCxn id="15" idx="1"/>
            </p:cNvCxnSpPr>
            <p:nvPr/>
          </p:nvCxnSpPr>
          <p:spPr>
            <a:xfrm>
              <a:off x="9915915" y="14834164"/>
              <a:ext cx="2463686" cy="1633826"/>
            </a:xfrm>
            <a:prstGeom prst="line">
              <a:avLst/>
            </a:prstGeom>
            <a:ln w="2540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460B76A4-AB4D-246B-22F2-DEB3CD266551}"/>
                </a:ext>
              </a:extLst>
            </p:cNvPr>
            <p:cNvCxnSpPr>
              <a:cxnSpLocks/>
              <a:stCxn id="18" idx="7"/>
              <a:endCxn id="19" idx="2"/>
            </p:cNvCxnSpPr>
            <p:nvPr/>
          </p:nvCxnSpPr>
          <p:spPr>
            <a:xfrm flipV="1">
              <a:off x="10290955" y="14834164"/>
              <a:ext cx="2463686" cy="1633827"/>
            </a:xfrm>
            <a:prstGeom prst="line">
              <a:avLst/>
            </a:prstGeom>
            <a:ln w="2540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A98D0AA-CDE3-6A08-83B2-71C5E9F0A0CB}"/>
                </a:ext>
              </a:extLst>
            </p:cNvPr>
            <p:cNvCxnSpPr>
              <a:cxnSpLocks/>
              <a:stCxn id="15" idx="1"/>
              <a:endCxn id="12" idx="4"/>
            </p:cNvCxnSpPr>
            <p:nvPr/>
          </p:nvCxnSpPr>
          <p:spPr>
            <a:xfrm flipH="1" flipV="1">
              <a:off x="11337788" y="14083183"/>
              <a:ext cx="1041813" cy="2384807"/>
            </a:xfrm>
            <a:prstGeom prst="line">
              <a:avLst/>
            </a:prstGeom>
            <a:ln w="254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F0034AE-8B14-E005-74BC-85B721152102}"/>
                    </a:ext>
                  </a:extLst>
                </p:cNvPr>
                <p:cNvSpPr txBox="1"/>
                <p:nvPr/>
              </p:nvSpPr>
              <p:spPr>
                <a:xfrm>
                  <a:off x="11090734" y="13186785"/>
                  <a:ext cx="540725"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𝑚</m:t>
                            </m:r>
                          </m:e>
                          <m:sub>
                            <m:r>
                              <a:rPr lang="en-US" sz="2600" b="0" i="1" smtClean="0">
                                <a:latin typeface="Cambria Math" panose="02040503050406030204" pitchFamily="18" charset="0"/>
                              </a:rPr>
                              <m:t>0</m:t>
                            </m:r>
                          </m:sub>
                        </m:sSub>
                      </m:oMath>
                    </m:oMathPara>
                  </a14:m>
                  <a:endParaRPr lang="en-US" sz="2600" b="0" dirty="0"/>
                </a:p>
                <a:p>
                  <a:endParaRPr lang="en-CA" dirty="0"/>
                </a:p>
              </p:txBody>
            </p:sp>
          </mc:Choice>
          <mc:Fallback xmlns="">
            <p:sp>
              <p:nvSpPr>
                <p:cNvPr id="28" name="TextBox 27">
                  <a:extLst>
                    <a:ext uri="{FF2B5EF4-FFF2-40B4-BE49-F238E27FC236}">
                      <a16:creationId xmlns:a16="http://schemas.microsoft.com/office/drawing/2014/main" id="{7F0034AE-8B14-E005-74BC-85B721152102}"/>
                    </a:ext>
                  </a:extLst>
                </p:cNvPr>
                <p:cNvSpPr txBox="1">
                  <a:spLocks noRot="1" noChangeAspect="1" noMove="1" noResize="1" noEditPoints="1" noAdjustHandles="1" noChangeArrowheads="1" noChangeShapeType="1" noTextEdit="1"/>
                </p:cNvSpPr>
                <p:nvPr/>
              </p:nvSpPr>
              <p:spPr>
                <a:xfrm>
                  <a:off x="11090734" y="13186785"/>
                  <a:ext cx="540725" cy="677108"/>
                </a:xfrm>
                <a:prstGeom prst="rect">
                  <a:avLst/>
                </a:prstGeom>
                <a:blipFill>
                  <a:blip r:embed="rId6"/>
                  <a:stretch>
                    <a:fillRect l="-4651" r="-23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CF22773-7BB6-B2EC-71FB-122947DA16FB}"/>
                    </a:ext>
                  </a:extLst>
                </p:cNvPr>
                <p:cNvSpPr txBox="1"/>
                <p:nvPr/>
              </p:nvSpPr>
              <p:spPr>
                <a:xfrm>
                  <a:off x="13206713" y="14436705"/>
                  <a:ext cx="533672"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𝑚</m:t>
                            </m:r>
                          </m:e>
                          <m:sub>
                            <m:r>
                              <a:rPr lang="en-US" sz="2600" b="0" i="1" smtClean="0">
                                <a:latin typeface="Cambria Math" panose="02040503050406030204" pitchFamily="18" charset="0"/>
                              </a:rPr>
                              <m:t>1</m:t>
                            </m:r>
                          </m:sub>
                        </m:sSub>
                      </m:oMath>
                    </m:oMathPara>
                  </a14:m>
                  <a:endParaRPr lang="en-US" sz="2600" b="0" dirty="0"/>
                </a:p>
                <a:p>
                  <a:endParaRPr lang="en-CA" dirty="0"/>
                </a:p>
              </p:txBody>
            </p:sp>
          </mc:Choice>
          <mc:Fallback xmlns="">
            <p:sp>
              <p:nvSpPr>
                <p:cNvPr id="36" name="TextBox 35">
                  <a:extLst>
                    <a:ext uri="{FF2B5EF4-FFF2-40B4-BE49-F238E27FC236}">
                      <a16:creationId xmlns:a16="http://schemas.microsoft.com/office/drawing/2014/main" id="{FCF22773-7BB6-B2EC-71FB-122947DA16FB}"/>
                    </a:ext>
                  </a:extLst>
                </p:cNvPr>
                <p:cNvSpPr txBox="1">
                  <a:spLocks noRot="1" noChangeAspect="1" noMove="1" noResize="1" noEditPoints="1" noAdjustHandles="1" noChangeArrowheads="1" noChangeShapeType="1" noTextEdit="1"/>
                </p:cNvSpPr>
                <p:nvPr/>
              </p:nvSpPr>
              <p:spPr>
                <a:xfrm>
                  <a:off x="13206713" y="14436705"/>
                  <a:ext cx="533672" cy="677108"/>
                </a:xfrm>
                <a:prstGeom prst="rect">
                  <a:avLst/>
                </a:prstGeom>
                <a:blipFill>
                  <a:blip r:embed="rId7"/>
                  <a:stretch>
                    <a:fillRect l="-4651" r="-23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82EE086-8F86-AAF2-12D1-E9794F5CF0F0}"/>
                    </a:ext>
                  </a:extLst>
                </p:cNvPr>
                <p:cNvSpPr txBox="1"/>
                <p:nvPr/>
              </p:nvSpPr>
              <p:spPr>
                <a:xfrm>
                  <a:off x="8920193" y="14363767"/>
                  <a:ext cx="539891"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𝑚</m:t>
                            </m:r>
                          </m:e>
                          <m:sub>
                            <m:r>
                              <a:rPr lang="en-US" sz="2600" b="0" i="1" smtClean="0">
                                <a:latin typeface="Cambria Math" panose="02040503050406030204" pitchFamily="18" charset="0"/>
                              </a:rPr>
                              <m:t>4</m:t>
                            </m:r>
                          </m:sub>
                        </m:sSub>
                      </m:oMath>
                    </m:oMathPara>
                  </a14:m>
                  <a:endParaRPr lang="en-US" sz="2600" b="0" dirty="0"/>
                </a:p>
                <a:p>
                  <a:endParaRPr lang="en-CA" dirty="0"/>
                </a:p>
              </p:txBody>
            </p:sp>
          </mc:Choice>
          <mc:Fallback xmlns="">
            <p:sp>
              <p:nvSpPr>
                <p:cNvPr id="39" name="TextBox 38">
                  <a:extLst>
                    <a:ext uri="{FF2B5EF4-FFF2-40B4-BE49-F238E27FC236}">
                      <a16:creationId xmlns:a16="http://schemas.microsoft.com/office/drawing/2014/main" id="{782EE086-8F86-AAF2-12D1-E9794F5CF0F0}"/>
                    </a:ext>
                  </a:extLst>
                </p:cNvPr>
                <p:cNvSpPr txBox="1">
                  <a:spLocks noRot="1" noChangeAspect="1" noMove="1" noResize="1" noEditPoints="1" noAdjustHandles="1" noChangeArrowheads="1" noChangeShapeType="1" noTextEdit="1"/>
                </p:cNvSpPr>
                <p:nvPr/>
              </p:nvSpPr>
              <p:spPr>
                <a:xfrm>
                  <a:off x="8920193" y="14363767"/>
                  <a:ext cx="539891" cy="677108"/>
                </a:xfrm>
                <a:prstGeom prst="rect">
                  <a:avLst/>
                </a:prstGeom>
                <a:blipFill>
                  <a:blip r:embed="rId8"/>
                  <a:stretch>
                    <a:fillRect l="-4651" r="-23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17820BA-20D4-BB56-0A29-2D2E6DA14AC1}"/>
                    </a:ext>
                  </a:extLst>
                </p:cNvPr>
                <p:cNvSpPr txBox="1"/>
                <p:nvPr/>
              </p:nvSpPr>
              <p:spPr>
                <a:xfrm>
                  <a:off x="12648708" y="16841025"/>
                  <a:ext cx="515077"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𝑚</m:t>
                            </m:r>
                          </m:e>
                          <m:sub>
                            <m:r>
                              <a:rPr lang="en-US" sz="2600" b="0" i="1" smtClean="0">
                                <a:latin typeface="Cambria Math" panose="02040503050406030204" pitchFamily="18" charset="0"/>
                              </a:rPr>
                              <m:t>2</m:t>
                            </m:r>
                          </m:sub>
                        </m:sSub>
                      </m:oMath>
                    </m:oMathPara>
                  </a14:m>
                  <a:endParaRPr lang="en-US" sz="2600" b="0" dirty="0"/>
                </a:p>
                <a:p>
                  <a:endParaRPr lang="en-CA" dirty="0"/>
                </a:p>
              </p:txBody>
            </p:sp>
          </mc:Choice>
          <mc:Fallback xmlns="">
            <p:sp>
              <p:nvSpPr>
                <p:cNvPr id="40" name="TextBox 39">
                  <a:extLst>
                    <a:ext uri="{FF2B5EF4-FFF2-40B4-BE49-F238E27FC236}">
                      <a16:creationId xmlns:a16="http://schemas.microsoft.com/office/drawing/2014/main" id="{217820BA-20D4-BB56-0A29-2D2E6DA14AC1}"/>
                    </a:ext>
                  </a:extLst>
                </p:cNvPr>
                <p:cNvSpPr txBox="1">
                  <a:spLocks noRot="1" noChangeAspect="1" noMove="1" noResize="1" noEditPoints="1" noAdjustHandles="1" noChangeArrowheads="1" noChangeShapeType="1" noTextEdit="1"/>
                </p:cNvSpPr>
                <p:nvPr/>
              </p:nvSpPr>
              <p:spPr>
                <a:xfrm>
                  <a:off x="12648708" y="16841025"/>
                  <a:ext cx="515077" cy="677108"/>
                </a:xfrm>
                <a:prstGeom prst="rect">
                  <a:avLst/>
                </a:prstGeom>
                <a:blipFill>
                  <a:blip r:embed="rId9"/>
                  <a:stretch>
                    <a:fillRect l="-7143" r="-476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DD1AC57-20CB-1BE8-CE0E-71CEED9B46BD}"/>
                    </a:ext>
                  </a:extLst>
                </p:cNvPr>
                <p:cNvSpPr txBox="1"/>
                <p:nvPr/>
              </p:nvSpPr>
              <p:spPr>
                <a:xfrm>
                  <a:off x="9532013" y="16841025"/>
                  <a:ext cx="515077"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𝑚</m:t>
                            </m:r>
                          </m:e>
                          <m:sub>
                            <m:r>
                              <a:rPr lang="en-US" sz="2600" b="0" i="1" smtClean="0">
                                <a:latin typeface="Cambria Math" panose="02040503050406030204" pitchFamily="18" charset="0"/>
                              </a:rPr>
                              <m:t>3</m:t>
                            </m:r>
                          </m:sub>
                        </m:sSub>
                      </m:oMath>
                    </m:oMathPara>
                  </a14:m>
                  <a:endParaRPr lang="en-US" sz="2600" b="0" dirty="0"/>
                </a:p>
                <a:p>
                  <a:endParaRPr lang="en-CA" dirty="0"/>
                </a:p>
              </p:txBody>
            </p:sp>
          </mc:Choice>
          <mc:Fallback xmlns="">
            <p:sp>
              <p:nvSpPr>
                <p:cNvPr id="41" name="TextBox 40">
                  <a:extLst>
                    <a:ext uri="{FF2B5EF4-FFF2-40B4-BE49-F238E27FC236}">
                      <a16:creationId xmlns:a16="http://schemas.microsoft.com/office/drawing/2014/main" id="{DDD1AC57-20CB-1BE8-CE0E-71CEED9B46BD}"/>
                    </a:ext>
                  </a:extLst>
                </p:cNvPr>
                <p:cNvSpPr txBox="1">
                  <a:spLocks noRot="1" noChangeAspect="1" noMove="1" noResize="1" noEditPoints="1" noAdjustHandles="1" noChangeArrowheads="1" noChangeShapeType="1" noTextEdit="1"/>
                </p:cNvSpPr>
                <p:nvPr/>
              </p:nvSpPr>
              <p:spPr>
                <a:xfrm>
                  <a:off x="9532013" y="16841025"/>
                  <a:ext cx="515077" cy="677108"/>
                </a:xfrm>
                <a:prstGeom prst="rect">
                  <a:avLst/>
                </a:prstGeom>
                <a:blipFill>
                  <a:blip r:embed="rId10"/>
                  <a:stretch>
                    <a:fillRect l="-7317" r="-4878"/>
                  </a:stretch>
                </a:blipFill>
              </p:spPr>
              <p:txBody>
                <a:bodyPr/>
                <a:lstStyle/>
                <a:p>
                  <a:r>
                    <a:rPr lang="en-CA">
                      <a:noFill/>
                    </a:rPr>
                    <a:t> </a:t>
                  </a:r>
                </a:p>
              </p:txBody>
            </p:sp>
          </mc:Fallback>
        </mc:AlternateContent>
      </p:grpSp>
      <p:sp>
        <p:nvSpPr>
          <p:cNvPr id="48" name="TextBox 47">
            <a:extLst>
              <a:ext uri="{FF2B5EF4-FFF2-40B4-BE49-F238E27FC236}">
                <a16:creationId xmlns:a16="http://schemas.microsoft.com/office/drawing/2014/main" id="{780089B1-8EEB-E46A-C874-3658BD4A3090}"/>
              </a:ext>
            </a:extLst>
          </p:cNvPr>
          <p:cNvSpPr txBox="1"/>
          <p:nvPr/>
        </p:nvSpPr>
        <p:spPr>
          <a:xfrm>
            <a:off x="1259752" y="1087190"/>
            <a:ext cx="3055563" cy="492443"/>
          </a:xfrm>
          <a:prstGeom prst="rect">
            <a:avLst/>
          </a:prstGeom>
          <a:noFill/>
        </p:spPr>
        <p:txBody>
          <a:bodyPr wrap="square" rtlCol="0">
            <a:spAutoFit/>
          </a:bodyPr>
          <a:lstStyle/>
          <a:p>
            <a:r>
              <a:rPr lang="en-CA" sz="2600" dirty="0"/>
              <a:t>Pentagram Scenario</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7924F52-7830-9C92-05D2-89A0316024F6}"/>
                  </a:ext>
                </a:extLst>
              </p:cNvPr>
              <p:cNvSpPr txBox="1"/>
              <p:nvPr/>
            </p:nvSpPr>
            <p:spPr>
              <a:xfrm>
                <a:off x="5245779" y="4896824"/>
                <a:ext cx="6763326" cy="7469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𝑖</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=−1</m:t>
                              </m:r>
                            </m:e>
                          </m:d>
                        </m:e>
                      </m:nary>
                      <m:r>
                        <a:rPr lang="en-US" sz="2000" b="0" i="1" smtClean="0">
                          <a:latin typeface="Cambria Math" panose="02040503050406030204" pitchFamily="18" charset="0"/>
                        </a:rPr>
                        <m:t>=2</m:t>
                      </m:r>
                      <m:r>
                        <m:rPr>
                          <m:lit/>
                        </m:rPr>
                        <a:rPr lang="en-US" sz="2000" b="0" i="1" smtClean="0">
                          <a:latin typeface="Cambria Math" panose="02040503050406030204" pitchFamily="18" charset="0"/>
                        </a:rPr>
                        <m:t>/</m:t>
                      </m:r>
                      <m:r>
                        <a:rPr lang="en-US" sz="2000" b="0" i="1" smtClean="0">
                          <a:latin typeface="Cambria Math" panose="02040503050406030204" pitchFamily="18" charset="0"/>
                        </a:rPr>
                        <m:t>3+2</m:t>
                      </m:r>
                      <m:r>
                        <m:rPr>
                          <m:lit/>
                        </m:rPr>
                        <a:rPr lang="en-US" sz="2000" b="0" i="1" smtClean="0">
                          <a:latin typeface="Cambria Math" panose="02040503050406030204" pitchFamily="18" charset="0"/>
                        </a:rPr>
                        <m:t>/</m:t>
                      </m:r>
                      <m:r>
                        <a:rPr lang="en-US" sz="2000" b="0" i="1" smtClean="0">
                          <a:latin typeface="Cambria Math" panose="02040503050406030204" pitchFamily="18" charset="0"/>
                        </a:rPr>
                        <m:t>3+1</m:t>
                      </m:r>
                      <m:r>
                        <m:rPr>
                          <m:lit/>
                        </m:rPr>
                        <a:rPr lang="en-US" sz="2000" b="0" i="1" smtClean="0">
                          <a:latin typeface="Cambria Math" panose="02040503050406030204" pitchFamily="18" charset="0"/>
                        </a:rPr>
                        <m:t>/</m:t>
                      </m:r>
                      <m:r>
                        <a:rPr lang="en-US" sz="2000" b="0" i="1" smtClean="0">
                          <a:latin typeface="Cambria Math" panose="02040503050406030204" pitchFamily="18" charset="0"/>
                        </a:rPr>
                        <m:t>3+1</m:t>
                      </m:r>
                      <m:r>
                        <m:rPr>
                          <m:lit/>
                        </m:rPr>
                        <a:rPr lang="en-US" sz="2000" b="0" i="1" smtClean="0">
                          <a:latin typeface="Cambria Math" panose="02040503050406030204" pitchFamily="18" charset="0"/>
                        </a:rPr>
                        <m:t>/</m:t>
                      </m:r>
                      <m:r>
                        <a:rPr lang="en-US" sz="2000" b="0" i="1" smtClean="0">
                          <a:latin typeface="Cambria Math" panose="02040503050406030204" pitchFamily="18" charset="0"/>
                        </a:rPr>
                        <m:t>3+1</m:t>
                      </m:r>
                      <m:r>
                        <m:rPr>
                          <m:lit/>
                        </m:rPr>
                        <a:rPr lang="en-US" sz="2000" b="0" i="1" smtClean="0">
                          <a:latin typeface="Cambria Math" panose="02040503050406030204" pitchFamily="18" charset="0"/>
                        </a:rPr>
                        <m:t>/</m:t>
                      </m:r>
                      <m:r>
                        <a:rPr lang="en-US" sz="2000" b="0" i="1" smtClean="0">
                          <a:latin typeface="Cambria Math" panose="02040503050406030204" pitchFamily="18" charset="0"/>
                        </a:rPr>
                        <m:t>9=19</m:t>
                      </m:r>
                      <m:r>
                        <m:rPr>
                          <m:lit/>
                        </m:rPr>
                        <a:rPr lang="en-US" sz="2000" b="0" i="1" smtClean="0">
                          <a:latin typeface="Cambria Math" panose="02040503050406030204" pitchFamily="18" charset="0"/>
                        </a:rPr>
                        <m:t>/</m:t>
                      </m:r>
                      <m:r>
                        <a:rPr lang="en-US" sz="2000" b="0" i="1" smtClean="0">
                          <a:latin typeface="Cambria Math" panose="02040503050406030204" pitchFamily="18" charset="0"/>
                        </a:rPr>
                        <m:t>9&gt;2</m:t>
                      </m:r>
                    </m:oMath>
                  </m:oMathPara>
                </a14:m>
                <a:endParaRPr lang="en-CA" sz="2000" dirty="0"/>
              </a:p>
            </p:txBody>
          </p:sp>
        </mc:Choice>
        <mc:Fallback xmlns="">
          <p:sp>
            <p:nvSpPr>
              <p:cNvPr id="9" name="TextBox 8">
                <a:extLst>
                  <a:ext uri="{FF2B5EF4-FFF2-40B4-BE49-F238E27FC236}">
                    <a16:creationId xmlns:a16="http://schemas.microsoft.com/office/drawing/2014/main" id="{47924F52-7830-9C92-05D2-89A0316024F6}"/>
                  </a:ext>
                </a:extLst>
              </p:cNvPr>
              <p:cNvSpPr txBox="1">
                <a:spLocks noRot="1" noChangeAspect="1" noMove="1" noResize="1" noEditPoints="1" noAdjustHandles="1" noChangeArrowheads="1" noChangeShapeType="1" noTextEdit="1"/>
              </p:cNvSpPr>
              <p:nvPr/>
            </p:nvSpPr>
            <p:spPr>
              <a:xfrm>
                <a:off x="5245779" y="4896824"/>
                <a:ext cx="6763326" cy="746936"/>
              </a:xfrm>
              <a:prstGeom prst="rect">
                <a:avLst/>
              </a:prstGeom>
              <a:blipFill>
                <a:blip r:embed="rId11"/>
                <a:stretch>
                  <a:fillRect l="-13508" t="-145000" r="-375" b="-200000"/>
                </a:stretch>
              </a:blipFill>
            </p:spPr>
            <p:txBody>
              <a:bodyPr/>
              <a:lstStyle/>
              <a:p>
                <a:r>
                  <a:rPr lang="en-CA">
                    <a:noFill/>
                  </a:rPr>
                  <a:t> </a:t>
                </a:r>
              </a:p>
            </p:txBody>
          </p:sp>
        </mc:Fallback>
      </mc:AlternateContent>
      <p:pic>
        <p:nvPicPr>
          <p:cNvPr id="10" name="Picture 9">
            <a:extLst>
              <a:ext uri="{FF2B5EF4-FFF2-40B4-BE49-F238E27FC236}">
                <a16:creationId xmlns:a16="http://schemas.microsoft.com/office/drawing/2014/main" id="{9B61AE56-9402-C76A-74A1-BDF7C15ACF12}"/>
              </a:ext>
            </a:extLst>
          </p:cNvPr>
          <p:cNvPicPr>
            <a:picLocks noChangeAspect="1"/>
          </p:cNvPicPr>
          <p:nvPr/>
        </p:nvPicPr>
        <p:blipFill>
          <a:blip r:embed="rId12"/>
          <a:stretch>
            <a:fillRect/>
          </a:stretch>
        </p:blipFill>
        <p:spPr>
          <a:xfrm>
            <a:off x="5317812" y="1264631"/>
            <a:ext cx="6691293" cy="3272200"/>
          </a:xfrm>
          <a:prstGeom prst="rect">
            <a:avLst/>
          </a:prstGeom>
        </p:spPr>
      </p:pic>
    </p:spTree>
    <p:custDataLst>
      <p:tags r:id="rId1"/>
    </p:custDataLst>
    <p:extLst>
      <p:ext uri="{BB962C8B-B14F-4D97-AF65-F5344CB8AC3E}">
        <p14:creationId xmlns:p14="http://schemas.microsoft.com/office/powerpoint/2010/main" val="388916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BC2294-8916-54BA-B9F3-B356720343F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F025CC35-68A5-4BEA-A3AF-87255D3C6DD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D508CAC5-13F1-36FE-6469-F8482D8CEE7D}"/>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and Non-Classicality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7C291D21-CC50-9919-0827-BCB2D8C6381C}"/>
              </a:ext>
            </a:extLst>
          </p:cNvPr>
          <p:cNvSpPr>
            <a:spLocks noGrp="1"/>
          </p:cNvSpPr>
          <p:nvPr>
            <p:ph type="sldNum" sz="quarter" idx="12"/>
          </p:nvPr>
        </p:nvSpPr>
        <p:spPr/>
        <p:txBody>
          <a:bodyPr/>
          <a:lstStyle/>
          <a:p>
            <a:fld id="{D0617D14-1B55-43C0-819D-0D244AC23646}" type="slidenum">
              <a:rPr lang="de-AT" smtClean="0"/>
              <a:t>5</a:t>
            </a:fld>
            <a:endParaRPr lang="de-AT"/>
          </a:p>
        </p:txBody>
      </p:sp>
      <p:sp>
        <p:nvSpPr>
          <p:cNvPr id="4" name="Rounded Rectangle 3">
            <a:extLst>
              <a:ext uri="{FF2B5EF4-FFF2-40B4-BE49-F238E27FC236}">
                <a16:creationId xmlns:a16="http://schemas.microsoft.com/office/drawing/2014/main" id="{92DD6599-3671-2F42-2BD9-1BE57B52F236}"/>
              </a:ext>
            </a:extLst>
          </p:cNvPr>
          <p:cNvSpPr/>
          <p:nvPr/>
        </p:nvSpPr>
        <p:spPr>
          <a:xfrm>
            <a:off x="1559169" y="4680488"/>
            <a:ext cx="9488052" cy="841248"/>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C348898C-3C27-E1C3-C44E-42CEBAED957F}"/>
              </a:ext>
            </a:extLst>
          </p:cNvPr>
          <p:cNvSpPr txBox="1"/>
          <p:nvPr/>
        </p:nvSpPr>
        <p:spPr>
          <a:xfrm>
            <a:off x="2797995" y="4845894"/>
            <a:ext cx="7010400" cy="461665"/>
          </a:xfrm>
          <a:prstGeom prst="rect">
            <a:avLst/>
          </a:prstGeom>
          <a:noFill/>
        </p:spPr>
        <p:txBody>
          <a:bodyPr wrap="square" rtlCol="0">
            <a:spAutoFit/>
          </a:bodyPr>
          <a:lstStyle/>
          <a:p>
            <a:r>
              <a:rPr lang="en-CA" sz="2400" dirty="0"/>
              <a:t>Contextuality/nonlocality resist a classical explanation</a:t>
            </a:r>
          </a:p>
        </p:txBody>
      </p:sp>
      <p:sp>
        <p:nvSpPr>
          <p:cNvPr id="5" name="TextBox 4">
            <a:extLst>
              <a:ext uri="{FF2B5EF4-FFF2-40B4-BE49-F238E27FC236}">
                <a16:creationId xmlns:a16="http://schemas.microsoft.com/office/drawing/2014/main" id="{B16929CF-3270-88A8-9564-F5D6CB438EB5}"/>
              </a:ext>
            </a:extLst>
          </p:cNvPr>
          <p:cNvSpPr txBox="1"/>
          <p:nvPr/>
        </p:nvSpPr>
        <p:spPr>
          <a:xfrm>
            <a:off x="393884" y="1173327"/>
            <a:ext cx="9605901" cy="461665"/>
          </a:xfrm>
          <a:prstGeom prst="rect">
            <a:avLst/>
          </a:prstGeom>
          <a:noFill/>
        </p:spPr>
        <p:txBody>
          <a:bodyPr wrap="square" rtlCol="0">
            <a:spAutoFit/>
          </a:bodyPr>
          <a:lstStyle/>
          <a:p>
            <a:r>
              <a:rPr lang="en-CA" sz="2400" dirty="0"/>
              <a:t>Many features of quantum theory can be explained with classical models…</a:t>
            </a:r>
          </a:p>
        </p:txBody>
      </p:sp>
      <p:sp>
        <p:nvSpPr>
          <p:cNvPr id="8" name="TextBox 7">
            <a:extLst>
              <a:ext uri="{FF2B5EF4-FFF2-40B4-BE49-F238E27FC236}">
                <a16:creationId xmlns:a16="http://schemas.microsoft.com/office/drawing/2014/main" id="{16F0B797-543D-56FE-D0F0-179C10F9995E}"/>
              </a:ext>
            </a:extLst>
          </p:cNvPr>
          <p:cNvSpPr txBox="1"/>
          <p:nvPr/>
        </p:nvSpPr>
        <p:spPr>
          <a:xfrm>
            <a:off x="783123" y="1691356"/>
            <a:ext cx="8538483" cy="2616101"/>
          </a:xfrm>
          <a:prstGeom prst="rect">
            <a:avLst/>
          </a:prstGeom>
          <a:noFill/>
        </p:spPr>
        <p:txBody>
          <a:bodyPr wrap="square" rtlCol="0">
            <a:spAutoFit/>
          </a:bodyPr>
          <a:lstStyle/>
          <a:p>
            <a:pPr marL="342900" indent="-342900">
              <a:buFont typeface="Arial" panose="020B0604020202020204" pitchFamily="34" charset="0"/>
              <a:buChar char="•"/>
            </a:pPr>
            <a:r>
              <a:rPr lang="en-CA" sz="2400" dirty="0"/>
              <a:t>Entanglement</a:t>
            </a:r>
          </a:p>
          <a:p>
            <a:pPr marL="342900" indent="-342900">
              <a:buFont typeface="Arial" panose="020B0604020202020204" pitchFamily="34" charset="0"/>
              <a:buChar char="•"/>
            </a:pPr>
            <a:r>
              <a:rPr lang="en-CA" sz="2400" dirty="0"/>
              <a:t>Steering</a:t>
            </a:r>
          </a:p>
          <a:p>
            <a:pPr marL="342900" indent="-342900">
              <a:buFont typeface="Arial" panose="020B0604020202020204" pitchFamily="34" charset="0"/>
              <a:buChar char="•"/>
            </a:pPr>
            <a:r>
              <a:rPr lang="en-CA" sz="2400" dirty="0"/>
              <a:t>Teleportation</a:t>
            </a:r>
          </a:p>
          <a:p>
            <a:pPr marL="342900" indent="-342900">
              <a:buFont typeface="Arial" panose="020B0604020202020204" pitchFamily="34" charset="0"/>
              <a:buChar char="•"/>
            </a:pPr>
            <a:r>
              <a:rPr lang="en-CA" sz="2400" dirty="0"/>
              <a:t>Dense Coding</a:t>
            </a:r>
          </a:p>
          <a:p>
            <a:pPr marL="342900" indent="-342900">
              <a:buFont typeface="Arial" panose="020B0604020202020204" pitchFamily="34" charset="0"/>
              <a:buChar char="•"/>
            </a:pPr>
            <a:r>
              <a:rPr lang="en-CA" sz="2400" dirty="0"/>
              <a:t>Interference</a:t>
            </a:r>
          </a:p>
          <a:p>
            <a:pPr marL="342900" indent="-342900">
              <a:buFont typeface="Arial" panose="020B0604020202020204" pitchFamily="34" charset="0"/>
              <a:buChar char="•"/>
            </a:pPr>
            <a:r>
              <a:rPr lang="en-CA" sz="2400" dirty="0"/>
              <a:t>… and more!</a:t>
            </a:r>
          </a:p>
          <a:p>
            <a:pPr marL="342900" indent="-342900">
              <a:buFont typeface="Arial" panose="020B0604020202020204" pitchFamily="34" charset="0"/>
              <a:buChar char="•"/>
            </a:pPr>
            <a:endParaRPr lang="en-CA" sz="2000" dirty="0"/>
          </a:p>
        </p:txBody>
      </p:sp>
      <p:sp>
        <p:nvSpPr>
          <p:cNvPr id="9" name="TextBox 8">
            <a:extLst>
              <a:ext uri="{FF2B5EF4-FFF2-40B4-BE49-F238E27FC236}">
                <a16:creationId xmlns:a16="http://schemas.microsoft.com/office/drawing/2014/main" id="{056E41BF-5456-6C3C-8F4E-42EFA8A86E00}"/>
              </a:ext>
            </a:extLst>
          </p:cNvPr>
          <p:cNvSpPr txBox="1"/>
          <p:nvPr/>
        </p:nvSpPr>
        <p:spPr>
          <a:xfrm>
            <a:off x="393884" y="3959548"/>
            <a:ext cx="8538483" cy="461665"/>
          </a:xfrm>
          <a:prstGeom prst="rect">
            <a:avLst/>
          </a:prstGeom>
          <a:noFill/>
        </p:spPr>
        <p:txBody>
          <a:bodyPr wrap="square" rtlCol="0">
            <a:spAutoFit/>
          </a:bodyPr>
          <a:lstStyle/>
          <a:p>
            <a:r>
              <a:rPr lang="en-CA" sz="2400" dirty="0"/>
              <a:t>So what about quantum theory is not classical?</a:t>
            </a:r>
          </a:p>
        </p:txBody>
      </p:sp>
      <p:sp>
        <p:nvSpPr>
          <p:cNvPr id="10" name="TextBox 9">
            <a:extLst>
              <a:ext uri="{FF2B5EF4-FFF2-40B4-BE49-F238E27FC236}">
                <a16:creationId xmlns:a16="http://schemas.microsoft.com/office/drawing/2014/main" id="{DC6B07D2-AE10-69E3-58F7-680219F6080C}"/>
              </a:ext>
            </a:extLst>
          </p:cNvPr>
          <p:cNvSpPr txBox="1"/>
          <p:nvPr/>
        </p:nvSpPr>
        <p:spPr>
          <a:xfrm rot="20625338">
            <a:off x="3592228" y="2417688"/>
            <a:ext cx="2920270" cy="461665"/>
          </a:xfrm>
          <a:prstGeom prst="rect">
            <a:avLst/>
          </a:prstGeom>
          <a:noFill/>
        </p:spPr>
        <p:txBody>
          <a:bodyPr wrap="square" rtlCol="0">
            <a:spAutoFit/>
          </a:bodyPr>
          <a:lstStyle/>
          <a:p>
            <a:r>
              <a:rPr lang="en-CA" sz="2400" dirty="0" err="1"/>
              <a:t>Spekkens</a:t>
            </a:r>
            <a:r>
              <a:rPr lang="en-CA" sz="2400" dirty="0"/>
              <a:t>’ toy model!</a:t>
            </a:r>
          </a:p>
        </p:txBody>
      </p:sp>
      <p:sp>
        <p:nvSpPr>
          <p:cNvPr id="12" name="TextBox 11">
            <a:extLst>
              <a:ext uri="{FF2B5EF4-FFF2-40B4-BE49-F238E27FC236}">
                <a16:creationId xmlns:a16="http://schemas.microsoft.com/office/drawing/2014/main" id="{187EC39A-01A1-9A0F-14F8-553E23BCCE19}"/>
              </a:ext>
            </a:extLst>
          </p:cNvPr>
          <p:cNvSpPr txBox="1"/>
          <p:nvPr/>
        </p:nvSpPr>
        <p:spPr>
          <a:xfrm>
            <a:off x="197687" y="5732240"/>
            <a:ext cx="10758853" cy="307777"/>
          </a:xfrm>
          <a:prstGeom prst="rect">
            <a:avLst/>
          </a:prstGeom>
          <a:noFill/>
        </p:spPr>
        <p:txBody>
          <a:bodyPr wrap="square">
            <a:spAutoFit/>
          </a:bodyPr>
          <a:lstStyle/>
          <a:p>
            <a:r>
              <a:rPr lang="en-CA" sz="1400" dirty="0">
                <a:solidFill>
                  <a:schemeClr val="bg1">
                    <a:lumMod val="75000"/>
                  </a:schemeClr>
                </a:solidFill>
              </a:rPr>
              <a:t>R. W. </a:t>
            </a:r>
            <a:r>
              <a:rPr lang="en-CA" sz="1400" dirty="0" err="1">
                <a:solidFill>
                  <a:schemeClr val="bg1">
                    <a:lumMod val="75000"/>
                  </a:schemeClr>
                </a:solidFill>
              </a:rPr>
              <a:t>Spekkens</a:t>
            </a:r>
            <a:r>
              <a:rPr lang="en-CA" sz="1400" dirty="0">
                <a:solidFill>
                  <a:schemeClr val="bg1">
                    <a:lumMod val="75000"/>
                  </a:schemeClr>
                </a:solidFill>
              </a:rPr>
              <a:t>, In defense of the epistemic view of  quantum states: A toy theory, Phys. Rev. A 75, 032110 (2007).</a:t>
            </a:r>
          </a:p>
        </p:txBody>
      </p:sp>
    </p:spTree>
    <p:custDataLst>
      <p:tags r:id="rId1"/>
    </p:custDataLst>
    <p:extLst>
      <p:ext uri="{BB962C8B-B14F-4D97-AF65-F5344CB8AC3E}">
        <p14:creationId xmlns:p14="http://schemas.microsoft.com/office/powerpoint/2010/main" val="141006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5655D8-BC48-822A-1029-90E2D088A33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544E446-5235-97B9-D56A-29491139DC7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3B7D538D-D776-C8BB-DACB-48693D209A38}"/>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vs. Magic vs. Wigner Negativity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A2047C28-7583-F28B-29A7-EB087BF62FDF}"/>
              </a:ext>
            </a:extLst>
          </p:cNvPr>
          <p:cNvSpPr>
            <a:spLocks noGrp="1"/>
          </p:cNvSpPr>
          <p:nvPr>
            <p:ph type="sldNum" sz="quarter" idx="12"/>
          </p:nvPr>
        </p:nvSpPr>
        <p:spPr/>
        <p:txBody>
          <a:bodyPr/>
          <a:lstStyle/>
          <a:p>
            <a:fld id="{D0617D14-1B55-43C0-819D-0D244AC23646}" type="slidenum">
              <a:rPr lang="de-AT" smtClean="0"/>
              <a:t>6</a:t>
            </a:fld>
            <a:endParaRPr lang="de-AT"/>
          </a:p>
        </p:txBody>
      </p:sp>
      <p:sp>
        <p:nvSpPr>
          <p:cNvPr id="9" name="TextBox 8">
            <a:extLst>
              <a:ext uri="{FF2B5EF4-FFF2-40B4-BE49-F238E27FC236}">
                <a16:creationId xmlns:a16="http://schemas.microsoft.com/office/drawing/2014/main" id="{1D9AA438-ADCB-8695-53E7-76810C710B5F}"/>
              </a:ext>
            </a:extLst>
          </p:cNvPr>
          <p:cNvSpPr txBox="1"/>
          <p:nvPr/>
        </p:nvSpPr>
        <p:spPr>
          <a:xfrm>
            <a:off x="96715" y="5797648"/>
            <a:ext cx="11040208" cy="307777"/>
          </a:xfrm>
          <a:prstGeom prst="rect">
            <a:avLst/>
          </a:prstGeom>
          <a:noFill/>
        </p:spPr>
        <p:txBody>
          <a:bodyPr wrap="square">
            <a:spAutoFit/>
          </a:bodyPr>
          <a:lstStyle/>
          <a:p>
            <a:r>
              <a:rPr lang="en-US" sz="1400" dirty="0">
                <a:solidFill>
                  <a:schemeClr val="bg1">
                    <a:lumMod val="75000"/>
                  </a:schemeClr>
                </a:solidFill>
              </a:rPr>
              <a:t>M. Howard, J. J. Wallman, V. Veitch, and J. Emerson, Contextuality supplies the magic for quantum computation, Nature (London) 510, 351 (2014).</a:t>
            </a:r>
          </a:p>
        </p:txBody>
      </p:sp>
      <p:sp>
        <p:nvSpPr>
          <p:cNvPr id="4" name="Oval 3">
            <a:extLst>
              <a:ext uri="{FF2B5EF4-FFF2-40B4-BE49-F238E27FC236}">
                <a16:creationId xmlns:a16="http://schemas.microsoft.com/office/drawing/2014/main" id="{687B7E11-448C-48A7-2C43-651CBE71CE77}"/>
              </a:ext>
            </a:extLst>
          </p:cNvPr>
          <p:cNvSpPr/>
          <p:nvPr/>
        </p:nvSpPr>
        <p:spPr>
          <a:xfrm>
            <a:off x="4664028" y="2046147"/>
            <a:ext cx="2863944" cy="2855983"/>
          </a:xfrm>
          <a:prstGeom prst="ellipse">
            <a:avLst/>
          </a:prstGeom>
          <a:solidFill>
            <a:srgbClr val="F2F7FC"/>
          </a:solidFill>
          <a:ln w="17780">
            <a:solidFill>
              <a:srgbClr val="002E5F"/>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2600" b="1" dirty="0">
                <a:solidFill>
                  <a:srgbClr val="002E5F"/>
                </a:solidFill>
                <a:latin typeface="Calibri Light"/>
              </a:rPr>
              <a:t>Contextuality</a:t>
            </a:r>
          </a:p>
        </p:txBody>
      </p:sp>
      <p:sp>
        <p:nvSpPr>
          <p:cNvPr id="6" name="Oval 5">
            <a:extLst>
              <a:ext uri="{FF2B5EF4-FFF2-40B4-BE49-F238E27FC236}">
                <a16:creationId xmlns:a16="http://schemas.microsoft.com/office/drawing/2014/main" id="{389DC463-0245-8597-164A-D0B5D60645CA}"/>
              </a:ext>
            </a:extLst>
          </p:cNvPr>
          <p:cNvSpPr/>
          <p:nvPr/>
        </p:nvSpPr>
        <p:spPr>
          <a:xfrm>
            <a:off x="2400233" y="2760833"/>
            <a:ext cx="1696866" cy="1545579"/>
          </a:xfrm>
          <a:prstGeom prst="ellipse">
            <a:avLst/>
          </a:prstGeom>
          <a:solidFill>
            <a:srgbClr val="FFFFFF"/>
          </a:solidFill>
          <a:ln w="17780">
            <a:solidFill>
              <a:srgbClr val="2C8465"/>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2000" b="1" dirty="0">
                <a:solidFill>
                  <a:srgbClr val="2C8465"/>
                </a:solidFill>
                <a:latin typeface="Calibri Light"/>
              </a:rPr>
              <a:t>Bell</a:t>
            </a:r>
          </a:p>
          <a:p>
            <a:pPr algn="ctr"/>
            <a:r>
              <a:rPr sz="2000" b="1" dirty="0">
                <a:solidFill>
                  <a:srgbClr val="2C8465"/>
                </a:solidFill>
                <a:latin typeface="Calibri Light"/>
              </a:rPr>
              <a:t>nonlocality</a:t>
            </a:r>
          </a:p>
        </p:txBody>
      </p:sp>
      <p:sp>
        <p:nvSpPr>
          <p:cNvPr id="8" name="Oval 7">
            <a:extLst>
              <a:ext uri="{FF2B5EF4-FFF2-40B4-BE49-F238E27FC236}">
                <a16:creationId xmlns:a16="http://schemas.microsoft.com/office/drawing/2014/main" id="{8AC73C5E-2A44-70A2-ABFB-F79802C8A826}"/>
              </a:ext>
            </a:extLst>
          </p:cNvPr>
          <p:cNvSpPr/>
          <p:nvPr/>
        </p:nvSpPr>
        <p:spPr>
          <a:xfrm>
            <a:off x="7782591" y="1534554"/>
            <a:ext cx="1379480" cy="1389887"/>
          </a:xfrm>
          <a:prstGeom prst="ellipse">
            <a:avLst/>
          </a:prstGeom>
          <a:solidFill>
            <a:srgbClr val="FFFFFF"/>
          </a:solidFill>
          <a:ln w="17780">
            <a:solidFill>
              <a:srgbClr val="F6B335"/>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2000" b="1" dirty="0">
                <a:solidFill>
                  <a:srgbClr val="FFC000"/>
                </a:solidFill>
                <a:latin typeface="Calibri Light"/>
              </a:rPr>
              <a:t>Magic</a:t>
            </a:r>
          </a:p>
        </p:txBody>
      </p:sp>
      <p:sp>
        <p:nvSpPr>
          <p:cNvPr id="10" name="Oval 9">
            <a:extLst>
              <a:ext uri="{FF2B5EF4-FFF2-40B4-BE49-F238E27FC236}">
                <a16:creationId xmlns:a16="http://schemas.microsoft.com/office/drawing/2014/main" id="{8652259B-AD29-A915-6D5F-051B19BC60FC}"/>
              </a:ext>
            </a:extLst>
          </p:cNvPr>
          <p:cNvSpPr/>
          <p:nvPr/>
        </p:nvSpPr>
        <p:spPr>
          <a:xfrm>
            <a:off x="7943863" y="3615470"/>
            <a:ext cx="1516166" cy="1488872"/>
          </a:xfrm>
          <a:prstGeom prst="ellipse">
            <a:avLst/>
          </a:prstGeom>
          <a:solidFill>
            <a:srgbClr val="FFFFFF"/>
          </a:solidFill>
          <a:ln w="17780">
            <a:solidFill>
              <a:srgbClr val="E47128"/>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2000" b="1" dirty="0">
                <a:solidFill>
                  <a:srgbClr val="E47128"/>
                </a:solidFill>
                <a:latin typeface="Calibri Light"/>
              </a:rPr>
              <a:t>Wigner</a:t>
            </a:r>
          </a:p>
          <a:p>
            <a:pPr algn="ctr"/>
            <a:r>
              <a:rPr sz="2000" b="1" dirty="0">
                <a:solidFill>
                  <a:srgbClr val="E47128"/>
                </a:solidFill>
                <a:latin typeface="Calibri Light"/>
              </a:rPr>
              <a:t>negativity</a:t>
            </a:r>
          </a:p>
        </p:txBody>
      </p:sp>
      <p:sp>
        <p:nvSpPr>
          <p:cNvPr id="11" name="Left-Right Arrow 10">
            <a:extLst>
              <a:ext uri="{FF2B5EF4-FFF2-40B4-BE49-F238E27FC236}">
                <a16:creationId xmlns:a16="http://schemas.microsoft.com/office/drawing/2014/main" id="{629DF88A-9A5F-1768-67D0-E9956B712F85}"/>
              </a:ext>
            </a:extLst>
          </p:cNvPr>
          <p:cNvSpPr/>
          <p:nvPr/>
        </p:nvSpPr>
        <p:spPr>
          <a:xfrm rot="10800000">
            <a:off x="4097100" y="3386762"/>
            <a:ext cx="566928" cy="301752"/>
          </a:xfrm>
          <a:prstGeom prst="leftRightArrow">
            <a:avLst/>
          </a:prstGeom>
          <a:solidFill>
            <a:srgbClr val="2C8465"/>
          </a:solidFill>
          <a:ln>
            <a:solidFill>
              <a:srgbClr val="2C84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Left-Right Arrow 11">
            <a:extLst>
              <a:ext uri="{FF2B5EF4-FFF2-40B4-BE49-F238E27FC236}">
                <a16:creationId xmlns:a16="http://schemas.microsoft.com/office/drawing/2014/main" id="{C5819514-FB92-4D6D-4D91-08980C96E837}"/>
              </a:ext>
            </a:extLst>
          </p:cNvPr>
          <p:cNvSpPr/>
          <p:nvPr/>
        </p:nvSpPr>
        <p:spPr>
          <a:xfrm rot="19980417">
            <a:off x="7339335" y="2525071"/>
            <a:ext cx="566928" cy="301752"/>
          </a:xfrm>
          <a:prstGeom prst="leftRightArrow">
            <a:avLst/>
          </a:prstGeom>
          <a:solidFill>
            <a:srgbClr val="F6B335"/>
          </a:solidFill>
          <a:ln>
            <a:solidFill>
              <a:srgbClr val="F6B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Left-Right Arrow 12">
            <a:extLst>
              <a:ext uri="{FF2B5EF4-FFF2-40B4-BE49-F238E27FC236}">
                <a16:creationId xmlns:a16="http://schemas.microsoft.com/office/drawing/2014/main" id="{F095EBD4-3D45-B332-BAF1-6B02070DACEA}"/>
              </a:ext>
            </a:extLst>
          </p:cNvPr>
          <p:cNvSpPr/>
          <p:nvPr/>
        </p:nvSpPr>
        <p:spPr>
          <a:xfrm rot="1171074">
            <a:off x="7414099" y="3947040"/>
            <a:ext cx="576003" cy="274320"/>
          </a:xfrm>
          <a:prstGeom prst="leftRightArrow">
            <a:avLst/>
          </a:prstGeom>
          <a:solidFill>
            <a:srgbClr val="E47128"/>
          </a:solidFill>
          <a:ln>
            <a:solidFill>
              <a:srgbClr val="E471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ustDataLst>
      <p:tags r:id="rId1"/>
    </p:custDataLst>
    <p:extLst>
      <p:ext uri="{BB962C8B-B14F-4D97-AF65-F5344CB8AC3E}">
        <p14:creationId xmlns:p14="http://schemas.microsoft.com/office/powerpoint/2010/main" val="76827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1CAB4-B256-900C-85C3-5B5277CC77DB}"/>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1ACE955D-EE14-A569-317C-20CA08331B8A}"/>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A59D590A-FB6E-AFB8-A63E-F3DF0FAA838C}"/>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 Fraction</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ECACE5B1-3A5B-664F-E750-123FC7C41E08}"/>
              </a:ext>
            </a:extLst>
          </p:cNvPr>
          <p:cNvSpPr>
            <a:spLocks noGrp="1"/>
          </p:cNvSpPr>
          <p:nvPr>
            <p:ph type="sldNum" sz="quarter" idx="12"/>
          </p:nvPr>
        </p:nvSpPr>
        <p:spPr/>
        <p:txBody>
          <a:bodyPr/>
          <a:lstStyle/>
          <a:p>
            <a:fld id="{D0617D14-1B55-43C0-819D-0D244AC23646}" type="slidenum">
              <a:rPr lang="de-AT" smtClean="0"/>
              <a:t>7</a:t>
            </a:fld>
            <a:endParaRPr lang="de-AT"/>
          </a:p>
        </p:txBody>
      </p:sp>
      <p:pic>
        <p:nvPicPr>
          <p:cNvPr id="5" name="Picture 4">
            <a:extLst>
              <a:ext uri="{FF2B5EF4-FFF2-40B4-BE49-F238E27FC236}">
                <a16:creationId xmlns:a16="http://schemas.microsoft.com/office/drawing/2014/main" id="{C0B92A8A-B794-B667-7C2A-6726BE664036}"/>
              </a:ext>
            </a:extLst>
          </p:cNvPr>
          <p:cNvPicPr>
            <a:picLocks noChangeAspect="1"/>
          </p:cNvPicPr>
          <p:nvPr/>
        </p:nvPicPr>
        <p:blipFill>
          <a:blip r:embed="rId4"/>
          <a:srcRect l="26390" r="6405"/>
          <a:stretch>
            <a:fillRect/>
          </a:stretch>
        </p:blipFill>
        <p:spPr>
          <a:xfrm>
            <a:off x="3570090" y="1948349"/>
            <a:ext cx="4449622" cy="980885"/>
          </a:xfrm>
          <a:prstGeom prst="rect">
            <a:avLst/>
          </a:prstGeom>
        </p:spPr>
      </p:pic>
      <p:sp>
        <p:nvSpPr>
          <p:cNvPr id="11" name="TextBox 10">
            <a:extLst>
              <a:ext uri="{FF2B5EF4-FFF2-40B4-BE49-F238E27FC236}">
                <a16:creationId xmlns:a16="http://schemas.microsoft.com/office/drawing/2014/main" id="{4D0EB0D9-A0F8-BE65-23C4-5CE3EEAB817E}"/>
              </a:ext>
            </a:extLst>
          </p:cNvPr>
          <p:cNvSpPr txBox="1"/>
          <p:nvPr/>
        </p:nvSpPr>
        <p:spPr>
          <a:xfrm>
            <a:off x="242040" y="1194712"/>
            <a:ext cx="9757745"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Previous probability table is called an empirical model and can be written as</a:t>
            </a:r>
            <a:endPar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FCBAF20D-9F30-FA6B-0139-56430405E52A}"/>
              </a:ext>
            </a:extLst>
          </p:cNvPr>
          <p:cNvSpPr txBox="1"/>
          <p:nvPr/>
        </p:nvSpPr>
        <p:spPr>
          <a:xfrm>
            <a:off x="3421029" y="3215357"/>
            <a:ext cx="2357669"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Contextual part</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20" name="TextBox 19">
            <a:extLst>
              <a:ext uri="{FF2B5EF4-FFF2-40B4-BE49-F238E27FC236}">
                <a16:creationId xmlns:a16="http://schemas.microsoft.com/office/drawing/2014/main" id="{356CBF16-7141-B4E8-5026-4C15DC6B120B}"/>
              </a:ext>
            </a:extLst>
          </p:cNvPr>
          <p:cNvSpPr txBox="1"/>
          <p:nvPr/>
        </p:nvSpPr>
        <p:spPr>
          <a:xfrm>
            <a:off x="5924543" y="3217632"/>
            <a:ext cx="2961534"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Non-contextual part</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21" name="Right Brace 20">
            <a:extLst>
              <a:ext uri="{FF2B5EF4-FFF2-40B4-BE49-F238E27FC236}">
                <a16:creationId xmlns:a16="http://schemas.microsoft.com/office/drawing/2014/main" id="{C1C2D319-C34E-52B8-E888-EB7EB267E816}"/>
              </a:ext>
            </a:extLst>
          </p:cNvPr>
          <p:cNvSpPr/>
          <p:nvPr/>
        </p:nvSpPr>
        <p:spPr>
          <a:xfrm rot="5400000">
            <a:off x="4867908" y="2243680"/>
            <a:ext cx="286524" cy="1356222"/>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CA" sz="2000"/>
          </a:p>
        </p:txBody>
      </p:sp>
      <p:sp>
        <p:nvSpPr>
          <p:cNvPr id="22" name="Right Brace 21">
            <a:extLst>
              <a:ext uri="{FF2B5EF4-FFF2-40B4-BE49-F238E27FC236}">
                <a16:creationId xmlns:a16="http://schemas.microsoft.com/office/drawing/2014/main" id="{53906C22-7E3D-9766-5078-74D38C655825}"/>
              </a:ext>
            </a:extLst>
          </p:cNvPr>
          <p:cNvSpPr/>
          <p:nvPr/>
        </p:nvSpPr>
        <p:spPr>
          <a:xfrm rot="5400000">
            <a:off x="6830367" y="2080822"/>
            <a:ext cx="308060" cy="1663717"/>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CA" sz="200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77E34D9-7022-B6C4-04F0-9503FB40AD43}"/>
                  </a:ext>
                </a:extLst>
              </p:cNvPr>
              <p:cNvSpPr txBox="1"/>
              <p:nvPr/>
            </p:nvSpPr>
            <p:spPr>
              <a:xfrm>
                <a:off x="4011872" y="4184551"/>
                <a:ext cx="4365083" cy="83099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Measure contextuality with t</a:t>
                </a:r>
                <a:r>
                  <a:rPr kumimoji="0" lang="en-US" sz="2400" b="0" i="0" u="none" strike="noStrike" kern="1200" cap="none" spc="0" normalizeH="0" baseline="0" noProof="0" dirty="0">
                    <a:ln>
                      <a:noFill/>
                    </a:ln>
                    <a:solidFill>
                      <a:srgbClr val="000000"/>
                    </a:solidFill>
                    <a:effectLst/>
                    <a:uLnTx/>
                    <a:uFillTx/>
                    <a:latin typeface="Calibri" panose="020F0502020204030204"/>
                  </a:rPr>
                  <a:t>he contextual fraction </a:t>
                </a: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𝐶𝐹</m:t>
                    </m:r>
                    <m:d>
                      <m:d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𝑒</m:t>
                        </m:r>
                      </m:e>
                    </m:d>
                  </m:oMath>
                </a14:m>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mc:Choice>
        <mc:Fallback xmlns="">
          <p:sp>
            <p:nvSpPr>
              <p:cNvPr id="23" name="TextBox 22">
                <a:extLst>
                  <a:ext uri="{FF2B5EF4-FFF2-40B4-BE49-F238E27FC236}">
                    <a16:creationId xmlns:a16="http://schemas.microsoft.com/office/drawing/2014/main" id="{F77E34D9-7022-B6C4-04F0-9503FB40AD43}"/>
                  </a:ext>
                </a:extLst>
              </p:cNvPr>
              <p:cNvSpPr txBox="1">
                <a:spLocks noRot="1" noChangeAspect="1" noMove="1" noResize="1" noEditPoints="1" noAdjustHandles="1" noChangeArrowheads="1" noChangeShapeType="1" noTextEdit="1"/>
              </p:cNvSpPr>
              <p:nvPr/>
            </p:nvSpPr>
            <p:spPr>
              <a:xfrm>
                <a:off x="4011872" y="4184551"/>
                <a:ext cx="4365083" cy="830997"/>
              </a:xfrm>
              <a:prstGeom prst="rect">
                <a:avLst/>
              </a:prstGeom>
              <a:blipFill>
                <a:blip r:embed="rId5"/>
                <a:stretch>
                  <a:fillRect l="-2029" t="-5970" b="-13433"/>
                </a:stretch>
              </a:blipFill>
            </p:spPr>
            <p:txBody>
              <a:bodyPr/>
              <a:lstStyle/>
              <a:p>
                <a:r>
                  <a:rPr lang="en-CA">
                    <a:noFill/>
                  </a:rPr>
                  <a:t> </a:t>
                </a:r>
              </a:p>
            </p:txBody>
          </p:sp>
        </mc:Fallback>
      </mc:AlternateContent>
      <p:sp>
        <p:nvSpPr>
          <p:cNvPr id="24" name="Right Arrow 23">
            <a:extLst>
              <a:ext uri="{FF2B5EF4-FFF2-40B4-BE49-F238E27FC236}">
                <a16:creationId xmlns:a16="http://schemas.microsoft.com/office/drawing/2014/main" id="{8504C33B-2B9A-22FB-BFFD-68B8BB3BDB00}"/>
              </a:ext>
            </a:extLst>
          </p:cNvPr>
          <p:cNvSpPr/>
          <p:nvPr/>
        </p:nvSpPr>
        <p:spPr>
          <a:xfrm>
            <a:off x="3116300" y="4426079"/>
            <a:ext cx="751569" cy="292296"/>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TextBox 25">
            <a:extLst>
              <a:ext uri="{FF2B5EF4-FFF2-40B4-BE49-F238E27FC236}">
                <a16:creationId xmlns:a16="http://schemas.microsoft.com/office/drawing/2014/main" id="{6D4C550C-AEFF-557B-9128-8724FE2EA929}"/>
              </a:ext>
            </a:extLst>
          </p:cNvPr>
          <p:cNvSpPr txBox="1"/>
          <p:nvPr/>
        </p:nvSpPr>
        <p:spPr>
          <a:xfrm>
            <a:off x="11723" y="5744381"/>
            <a:ext cx="10852921" cy="307777"/>
          </a:xfrm>
          <a:prstGeom prst="rect">
            <a:avLst/>
          </a:prstGeom>
          <a:noFill/>
        </p:spPr>
        <p:txBody>
          <a:bodyPr wrap="square">
            <a:spAutoFit/>
          </a:bodyPr>
          <a:lstStyle/>
          <a:p>
            <a:r>
              <a:rPr lang="en-US" sz="1400" dirty="0">
                <a:solidFill>
                  <a:schemeClr val="bg1">
                    <a:lumMod val="75000"/>
                  </a:schemeClr>
                </a:solidFill>
              </a:rPr>
              <a:t>S. Abramsky, R. S. Barbosa, and S. Mansfield, The contextual fraction as a measure of contextuality, Phys. Rev. Lett. 119, 050504 (2017).</a:t>
            </a:r>
          </a:p>
        </p:txBody>
      </p:sp>
    </p:spTree>
    <p:custDataLst>
      <p:tags r:id="rId1"/>
    </p:custDataLst>
    <p:extLst>
      <p:ext uri="{BB962C8B-B14F-4D97-AF65-F5344CB8AC3E}">
        <p14:creationId xmlns:p14="http://schemas.microsoft.com/office/powerpoint/2010/main" val="131307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animBg="1"/>
      <p:bldP spid="22" grpId="0" animBg="1"/>
      <p:bldP spid="23" grpId="0"/>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BBB931A-09A3-0E48-0084-A115ECE5515C}"/>
            </a:ext>
          </a:extLst>
        </p:cNvPr>
        <p:cNvGrpSpPr/>
        <p:nvPr/>
      </p:nvGrpSpPr>
      <p:grpSpPr>
        <a:xfrm>
          <a:off x="0" y="0"/>
          <a:ext cx="0" cy="0"/>
          <a:chOff x="0" y="0"/>
          <a:chExt cx="0" cy="0"/>
        </a:xfrm>
      </p:grpSpPr>
      <p:sp>
        <p:nvSpPr>
          <p:cNvPr id="3" name="Titel 1">
            <a:extLst>
              <a:ext uri="{FF2B5EF4-FFF2-40B4-BE49-F238E27FC236}">
                <a16:creationId xmlns:a16="http://schemas.microsoft.com/office/drawing/2014/main" id="{4A5B058A-8704-6920-BEE5-18E55CAF199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err="1">
                <a:solidFill>
                  <a:schemeClr val="bg1"/>
                </a:solidFill>
                <a:latin typeface="Calibri Light" panose="020F0302020204030204" pitchFamily="34" charset="0"/>
                <a:cs typeface="Calibri Light" panose="020F0302020204030204" pitchFamily="34" charset="0"/>
              </a:rPr>
              <a:t>Nonclassicality</a:t>
            </a:r>
            <a:r>
              <a:rPr lang="en-CA" sz="3200" kern="0" dirty="0">
                <a:solidFill>
                  <a:schemeClr val="bg1"/>
                </a:solidFill>
                <a:latin typeface="Calibri Light" panose="020F0302020204030204" pitchFamily="34" charset="0"/>
                <a:cs typeface="Calibri Light" panose="020F0302020204030204" pitchFamily="34" charset="0"/>
              </a:rPr>
              <a:t> in Quantum Fields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FAC721A6-05AD-0821-7162-995C1365DFD5}"/>
              </a:ext>
            </a:extLst>
          </p:cNvPr>
          <p:cNvSpPr txBox="1"/>
          <p:nvPr/>
        </p:nvSpPr>
        <p:spPr>
          <a:xfrm>
            <a:off x="526049" y="1301563"/>
            <a:ext cx="9122043" cy="461665"/>
          </a:xfrm>
          <a:prstGeom prst="rect">
            <a:avLst/>
          </a:prstGeom>
          <a:noFill/>
        </p:spPr>
        <p:txBody>
          <a:bodyPr wrap="square" rtlCol="0">
            <a:spAutoFit/>
          </a:bodyPr>
          <a:lstStyle/>
          <a:p>
            <a:r>
              <a:rPr lang="en-CA" sz="2400" dirty="0"/>
              <a:t>Summers and Werner showed most field states violate Bell inequalities:</a:t>
            </a:r>
          </a:p>
        </p:txBody>
      </p:sp>
      <p:pic>
        <p:nvPicPr>
          <p:cNvPr id="24" name="Picture 23">
            <a:extLst>
              <a:ext uri="{FF2B5EF4-FFF2-40B4-BE49-F238E27FC236}">
                <a16:creationId xmlns:a16="http://schemas.microsoft.com/office/drawing/2014/main" id="{56528918-1DFC-19C3-ED5A-1BCD69117F98}"/>
              </a:ext>
            </a:extLst>
          </p:cNvPr>
          <p:cNvPicPr>
            <a:picLocks noChangeAspect="1"/>
          </p:cNvPicPr>
          <p:nvPr/>
        </p:nvPicPr>
        <p:blipFill>
          <a:blip r:embed="rId4"/>
          <a:stretch>
            <a:fillRect/>
          </a:stretch>
        </p:blipFill>
        <p:spPr>
          <a:xfrm>
            <a:off x="2884854" y="2032000"/>
            <a:ext cx="6070600" cy="1397000"/>
          </a:xfrm>
          <a:prstGeom prst="rect">
            <a:avLst/>
          </a:prstGeom>
        </p:spPr>
      </p:pic>
      <p:sp>
        <p:nvSpPr>
          <p:cNvPr id="26" name="TextBox 25">
            <a:extLst>
              <a:ext uri="{FF2B5EF4-FFF2-40B4-BE49-F238E27FC236}">
                <a16:creationId xmlns:a16="http://schemas.microsoft.com/office/drawing/2014/main" id="{7D140A2E-C0A7-3E3E-F928-C8C5AEEE8B65}"/>
              </a:ext>
            </a:extLst>
          </p:cNvPr>
          <p:cNvSpPr txBox="1"/>
          <p:nvPr/>
        </p:nvSpPr>
        <p:spPr>
          <a:xfrm>
            <a:off x="52754" y="5556437"/>
            <a:ext cx="12086492" cy="523220"/>
          </a:xfrm>
          <a:prstGeom prst="rect">
            <a:avLst/>
          </a:prstGeom>
          <a:noFill/>
        </p:spPr>
        <p:txBody>
          <a:bodyPr wrap="square">
            <a:spAutoFit/>
          </a:bodyPr>
          <a:lstStyle/>
          <a:p>
            <a:r>
              <a:rPr lang="en-CA" sz="1400" dirty="0">
                <a:solidFill>
                  <a:schemeClr val="bg1">
                    <a:lumMod val="75000"/>
                  </a:schemeClr>
                </a:solidFill>
              </a:rPr>
              <a:t>S. J. Summers and R. Werner, Bell’s inequalities and  quantum field theory. II. Bell’s inequalities are maximally violated in the vacuum, J. Math. Phys. (N.Y.) 28, 2448 (1987).</a:t>
            </a:r>
          </a:p>
        </p:txBody>
      </p:sp>
      <p:sp>
        <p:nvSpPr>
          <p:cNvPr id="27" name="Right Arrow 26">
            <a:extLst>
              <a:ext uri="{FF2B5EF4-FFF2-40B4-BE49-F238E27FC236}">
                <a16:creationId xmlns:a16="http://schemas.microsoft.com/office/drawing/2014/main" id="{6A1BF934-E47C-5DA1-F69D-D6A93CDF74B5}"/>
              </a:ext>
            </a:extLst>
          </p:cNvPr>
          <p:cNvSpPr/>
          <p:nvPr/>
        </p:nvSpPr>
        <p:spPr>
          <a:xfrm>
            <a:off x="1606062" y="4038243"/>
            <a:ext cx="539261" cy="293077"/>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0000"/>
              </a:solidFill>
              <a:highlight>
                <a:srgbClr val="FF0000"/>
              </a:highlight>
            </a:endParaRPr>
          </a:p>
        </p:txBody>
      </p:sp>
      <p:sp>
        <p:nvSpPr>
          <p:cNvPr id="28" name="TextBox 27">
            <a:extLst>
              <a:ext uri="{FF2B5EF4-FFF2-40B4-BE49-F238E27FC236}">
                <a16:creationId xmlns:a16="http://schemas.microsoft.com/office/drawing/2014/main" id="{7D89A485-70A4-C421-D472-C4E540160E0C}"/>
              </a:ext>
            </a:extLst>
          </p:cNvPr>
          <p:cNvSpPr txBox="1"/>
          <p:nvPr/>
        </p:nvSpPr>
        <p:spPr>
          <a:xfrm>
            <a:off x="2268415" y="4000115"/>
            <a:ext cx="8059615" cy="461665"/>
          </a:xfrm>
          <a:prstGeom prst="rect">
            <a:avLst/>
          </a:prstGeom>
          <a:noFill/>
        </p:spPr>
        <p:txBody>
          <a:bodyPr wrap="square" rtlCol="0">
            <a:spAutoFit/>
          </a:bodyPr>
          <a:lstStyle/>
          <a:p>
            <a:r>
              <a:rPr lang="en-CA" sz="2400" dirty="0"/>
              <a:t>Not dependent on certain types of interactions or preparations</a:t>
            </a:r>
          </a:p>
        </p:txBody>
      </p:sp>
      <p:sp>
        <p:nvSpPr>
          <p:cNvPr id="29" name="TextBox 28">
            <a:extLst>
              <a:ext uri="{FF2B5EF4-FFF2-40B4-BE49-F238E27FC236}">
                <a16:creationId xmlns:a16="http://schemas.microsoft.com/office/drawing/2014/main" id="{E4C59544-C296-CE96-EEC7-E5C5F766ACC5}"/>
              </a:ext>
            </a:extLst>
          </p:cNvPr>
          <p:cNvSpPr txBox="1"/>
          <p:nvPr/>
        </p:nvSpPr>
        <p:spPr>
          <a:xfrm>
            <a:off x="3733802" y="4802062"/>
            <a:ext cx="3511060" cy="461665"/>
          </a:xfrm>
          <a:prstGeom prst="rect">
            <a:avLst/>
          </a:prstGeom>
          <a:noFill/>
        </p:spPr>
        <p:txBody>
          <a:bodyPr wrap="square" rtlCol="0">
            <a:spAutoFit/>
          </a:bodyPr>
          <a:lstStyle/>
          <a:p>
            <a:r>
              <a:rPr lang="en-CA" sz="2400" dirty="0"/>
              <a:t>Generic property of fields!</a:t>
            </a:r>
          </a:p>
        </p:txBody>
      </p:sp>
      <p:sp>
        <p:nvSpPr>
          <p:cNvPr id="2" name="Footer Placeholder 1">
            <a:extLst>
              <a:ext uri="{FF2B5EF4-FFF2-40B4-BE49-F238E27FC236}">
                <a16:creationId xmlns:a16="http://schemas.microsoft.com/office/drawing/2014/main" id="{2D9822D5-2160-61C9-AA93-F36DCA69FEA7}"/>
              </a:ext>
            </a:extLst>
          </p:cNvPr>
          <p:cNvSpPr>
            <a:spLocks noGrp="1"/>
          </p:cNvSpPr>
          <p:nvPr>
            <p:ph type="ftr" sz="quarter" idx="11"/>
          </p:nvPr>
        </p:nvSpPr>
        <p:spPr/>
        <p:txBody>
          <a:bodyPr/>
          <a:lstStyle/>
          <a:p>
            <a:r>
              <a:rPr lang="de-AT"/>
              <a:t>RQI Circuit 2026, Wien I Phil LeMaitre I 05.06.2026</a:t>
            </a:r>
          </a:p>
        </p:txBody>
      </p:sp>
      <p:sp>
        <p:nvSpPr>
          <p:cNvPr id="4" name="Slide Number Placeholder 3">
            <a:extLst>
              <a:ext uri="{FF2B5EF4-FFF2-40B4-BE49-F238E27FC236}">
                <a16:creationId xmlns:a16="http://schemas.microsoft.com/office/drawing/2014/main" id="{EA762745-4666-D04E-80A5-61C628D8A6F4}"/>
              </a:ext>
            </a:extLst>
          </p:cNvPr>
          <p:cNvSpPr>
            <a:spLocks noGrp="1"/>
          </p:cNvSpPr>
          <p:nvPr>
            <p:ph type="sldNum" sz="quarter" idx="12"/>
          </p:nvPr>
        </p:nvSpPr>
        <p:spPr/>
        <p:txBody>
          <a:bodyPr/>
          <a:lstStyle/>
          <a:p>
            <a:fld id="{D0617D14-1B55-43C0-819D-0D244AC23646}" type="slidenum">
              <a:rPr lang="de-AT" smtClean="0"/>
              <a:t>8</a:t>
            </a:fld>
            <a:endParaRPr lang="de-AT"/>
          </a:p>
        </p:txBody>
      </p:sp>
    </p:spTree>
    <p:custDataLst>
      <p:tags r:id="rId1"/>
    </p:custDataLst>
    <p:extLst>
      <p:ext uri="{BB962C8B-B14F-4D97-AF65-F5344CB8AC3E}">
        <p14:creationId xmlns:p14="http://schemas.microsoft.com/office/powerpoint/2010/main" val="191308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A6FC5-49C1-6383-453A-231138B8150B}"/>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B4059F78-0E3B-9A6C-9D19-8DBBAFD412B2}"/>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8A683038-46BC-7528-18B1-0D6AA9C25D72}"/>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Unruh-DeWitt (UDW) Systems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80583399-E73A-DEE6-8812-180F150B34EC}"/>
              </a:ext>
            </a:extLst>
          </p:cNvPr>
          <p:cNvSpPr>
            <a:spLocks noGrp="1"/>
          </p:cNvSpPr>
          <p:nvPr>
            <p:ph type="sldNum" sz="quarter" idx="12"/>
          </p:nvPr>
        </p:nvSpPr>
        <p:spPr/>
        <p:txBody>
          <a:bodyPr/>
          <a:lstStyle/>
          <a:p>
            <a:fld id="{D0617D14-1B55-43C0-819D-0D244AC23646}" type="slidenum">
              <a:rPr lang="de-AT" smtClean="0"/>
              <a:t>9</a:t>
            </a:fld>
            <a:endParaRPr lang="de-AT"/>
          </a:p>
        </p:txBody>
      </p:sp>
      <p:sp>
        <p:nvSpPr>
          <p:cNvPr id="8" name="TextBox 7">
            <a:extLst>
              <a:ext uri="{FF2B5EF4-FFF2-40B4-BE49-F238E27FC236}">
                <a16:creationId xmlns:a16="http://schemas.microsoft.com/office/drawing/2014/main" id="{81B3E5B1-2E42-1B5E-F159-7F7C2E721712}"/>
              </a:ext>
            </a:extLst>
          </p:cNvPr>
          <p:cNvSpPr txBox="1"/>
          <p:nvPr/>
        </p:nvSpPr>
        <p:spPr>
          <a:xfrm>
            <a:off x="6732203" y="1020879"/>
            <a:ext cx="5326616" cy="400110"/>
          </a:xfrm>
          <a:prstGeom prst="rect">
            <a:avLst/>
          </a:prstGeom>
          <a:noFill/>
        </p:spPr>
        <p:txBody>
          <a:bodyPr wrap="square" rtlCol="0">
            <a:spAutoFit/>
          </a:bodyPr>
          <a:lstStyle/>
          <a:p>
            <a:r>
              <a:rPr lang="en-CA" sz="2000" dirty="0"/>
              <a:t>Internal dynamics prescribed by free Hamiltonian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CCD0250-C03F-19AA-06C0-381EBF23651A}"/>
                  </a:ext>
                </a:extLst>
              </p:cNvPr>
              <p:cNvSpPr txBox="1"/>
              <p:nvPr/>
            </p:nvSpPr>
            <p:spPr>
              <a:xfrm>
                <a:off x="429086" y="5157349"/>
                <a:ext cx="259839"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𝑡</m:t>
                      </m:r>
                    </m:oMath>
                  </m:oMathPara>
                </a14:m>
                <a:endParaRPr lang="en-CA" sz="2000" dirty="0"/>
              </a:p>
            </p:txBody>
          </p:sp>
        </mc:Choice>
        <mc:Fallback xmlns="">
          <p:sp>
            <p:nvSpPr>
              <p:cNvPr id="9" name="TextBox 8">
                <a:extLst>
                  <a:ext uri="{FF2B5EF4-FFF2-40B4-BE49-F238E27FC236}">
                    <a16:creationId xmlns:a16="http://schemas.microsoft.com/office/drawing/2014/main" id="{DCCD0250-C03F-19AA-06C0-381EBF23651A}"/>
                  </a:ext>
                </a:extLst>
              </p:cNvPr>
              <p:cNvSpPr txBox="1">
                <a:spLocks noRot="1" noChangeAspect="1" noMove="1" noResize="1" noEditPoints="1" noAdjustHandles="1" noChangeArrowheads="1" noChangeShapeType="1" noTextEdit="1"/>
              </p:cNvSpPr>
              <p:nvPr/>
            </p:nvSpPr>
            <p:spPr>
              <a:xfrm>
                <a:off x="429086" y="5157349"/>
                <a:ext cx="259839" cy="307777"/>
              </a:xfrm>
              <a:prstGeom prst="rect">
                <a:avLst/>
              </a:prstGeom>
              <a:blipFill>
                <a:blip r:embed="rId4"/>
                <a:stretch>
                  <a:fillRect b="-4000"/>
                </a:stretch>
              </a:blipFill>
            </p:spPr>
            <p:txBody>
              <a:bodyPr/>
              <a:lstStyle/>
              <a:p>
                <a:r>
                  <a:rPr lang="en-CA">
                    <a:noFill/>
                  </a:rPr>
                  <a:t> </a:t>
                </a:r>
              </a:p>
            </p:txBody>
          </p:sp>
        </mc:Fallback>
      </mc:AlternateContent>
      <p:cxnSp>
        <p:nvCxnSpPr>
          <p:cNvPr id="10" name="Straight Arrow Connector 9">
            <a:extLst>
              <a:ext uri="{FF2B5EF4-FFF2-40B4-BE49-F238E27FC236}">
                <a16:creationId xmlns:a16="http://schemas.microsoft.com/office/drawing/2014/main" id="{90D643D1-08A2-704E-B55E-5D1D808B3FC2}"/>
              </a:ext>
            </a:extLst>
          </p:cNvPr>
          <p:cNvCxnSpPr>
            <a:cxnSpLocks/>
          </p:cNvCxnSpPr>
          <p:nvPr/>
        </p:nvCxnSpPr>
        <p:spPr>
          <a:xfrm flipH="1" flipV="1">
            <a:off x="709200" y="4960615"/>
            <a:ext cx="8728" cy="605736"/>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8141A74-184A-5ACF-56AC-0A60AB0BFC1C}"/>
                  </a:ext>
                </a:extLst>
              </p:cNvPr>
              <p:cNvSpPr txBox="1"/>
              <p:nvPr/>
            </p:nvSpPr>
            <p:spPr>
              <a:xfrm>
                <a:off x="770754" y="5670525"/>
                <a:ext cx="20172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oMath>
                  </m:oMathPara>
                </a14:m>
                <a:endParaRPr lang="en-CA" dirty="0"/>
              </a:p>
            </p:txBody>
          </p:sp>
        </mc:Choice>
        <mc:Fallback xmlns="">
          <p:sp>
            <p:nvSpPr>
              <p:cNvPr id="11" name="TextBox 10">
                <a:extLst>
                  <a:ext uri="{FF2B5EF4-FFF2-40B4-BE49-F238E27FC236}">
                    <a16:creationId xmlns:a16="http://schemas.microsoft.com/office/drawing/2014/main" id="{38141A74-184A-5ACF-56AC-0A60AB0BFC1C}"/>
                  </a:ext>
                </a:extLst>
              </p:cNvPr>
              <p:cNvSpPr txBox="1">
                <a:spLocks noRot="1" noChangeAspect="1" noMove="1" noResize="1" noEditPoints="1" noAdjustHandles="1" noChangeArrowheads="1" noChangeShapeType="1" noTextEdit="1"/>
              </p:cNvSpPr>
              <p:nvPr/>
            </p:nvSpPr>
            <p:spPr>
              <a:xfrm>
                <a:off x="770754" y="5670525"/>
                <a:ext cx="201722" cy="307777"/>
              </a:xfrm>
              <a:prstGeom prst="rect">
                <a:avLst/>
              </a:prstGeom>
              <a:blipFill>
                <a:blip r:embed="rId5"/>
                <a:stretch>
                  <a:fillRect l="-17647" r="-11765"/>
                </a:stretch>
              </a:blipFill>
            </p:spPr>
            <p:txBody>
              <a:bodyPr/>
              <a:lstStyle/>
              <a:p>
                <a:r>
                  <a:rPr lang="en-CA">
                    <a:noFill/>
                  </a:rPr>
                  <a:t> </a:t>
                </a:r>
              </a:p>
            </p:txBody>
          </p:sp>
        </mc:Fallback>
      </mc:AlternateContent>
      <p:cxnSp>
        <p:nvCxnSpPr>
          <p:cNvPr id="12" name="Straight Arrow Connector 11">
            <a:extLst>
              <a:ext uri="{FF2B5EF4-FFF2-40B4-BE49-F238E27FC236}">
                <a16:creationId xmlns:a16="http://schemas.microsoft.com/office/drawing/2014/main" id="{4CE8A414-8F76-816E-E13D-EEA6C020AC8C}"/>
              </a:ext>
            </a:extLst>
          </p:cNvPr>
          <p:cNvCxnSpPr>
            <a:cxnSpLocks/>
          </p:cNvCxnSpPr>
          <p:nvPr/>
        </p:nvCxnSpPr>
        <p:spPr>
          <a:xfrm>
            <a:off x="722091" y="5568325"/>
            <a:ext cx="477385" cy="24319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6946B5D-F6D8-7D18-782C-3B7DB7C37EED}"/>
                  </a:ext>
                </a:extLst>
              </p:cNvPr>
              <p:cNvSpPr txBox="1"/>
              <p:nvPr/>
            </p:nvSpPr>
            <p:spPr>
              <a:xfrm>
                <a:off x="39863" y="2311912"/>
                <a:ext cx="2696708" cy="4397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CA" sz="2000" i="1" dirty="0">
                              <a:solidFill>
                                <a:srgbClr val="FF0000"/>
                              </a:solidFill>
                              <a:latin typeface="Cambria Math" panose="02040503050406030204" pitchFamily="18" charset="0"/>
                            </a:rPr>
                          </m:ctrlPr>
                        </m:sSupPr>
                        <m:e>
                          <m:r>
                            <a:rPr lang="en-CA" sz="2000" i="1" dirty="0">
                              <a:solidFill>
                                <a:srgbClr val="FF0000"/>
                              </a:solidFill>
                              <a:latin typeface="Cambria Math" panose="02040503050406030204" pitchFamily="18" charset="0"/>
                            </a:rPr>
                            <m:t>𝑧</m:t>
                          </m:r>
                        </m:e>
                        <m:sup>
                          <m:r>
                            <a:rPr lang="en-CA" sz="2000" i="1" dirty="0">
                              <a:solidFill>
                                <a:srgbClr val="FF0000"/>
                              </a:solidFill>
                              <a:latin typeface="Cambria Math" panose="02040503050406030204" pitchFamily="18" charset="0"/>
                            </a:rPr>
                            <m:t>𝜇</m:t>
                          </m:r>
                        </m:sup>
                      </m:sSup>
                      <m:d>
                        <m:dPr>
                          <m:ctrlPr>
                            <a:rPr lang="en-CA" sz="2000" i="1" dirty="0">
                              <a:solidFill>
                                <a:srgbClr val="FF0000"/>
                              </a:solidFill>
                              <a:latin typeface="Cambria Math" panose="02040503050406030204" pitchFamily="18" charset="0"/>
                            </a:rPr>
                          </m:ctrlPr>
                        </m:dPr>
                        <m:e>
                          <m:r>
                            <a:rPr lang="en-US" sz="2000" i="1" dirty="0">
                              <a:solidFill>
                                <a:srgbClr val="FF0000"/>
                              </a:solidFill>
                              <a:latin typeface="Cambria Math" panose="02040503050406030204" pitchFamily="18" charset="0"/>
                            </a:rPr>
                            <m:t>𝜏</m:t>
                          </m:r>
                        </m:e>
                      </m:d>
                      <m:r>
                        <a:rPr lang="en-US" sz="2000" i="1" dirty="0">
                          <a:latin typeface="Cambria Math" panose="02040503050406030204" pitchFamily="18" charset="0"/>
                        </a:rPr>
                        <m:t>=</m:t>
                      </m:r>
                      <m:d>
                        <m:dPr>
                          <m:ctrlPr>
                            <a:rPr lang="en-US" sz="2000" i="1" dirty="0">
                              <a:latin typeface="Cambria Math" panose="02040503050406030204" pitchFamily="18" charset="0"/>
                            </a:rPr>
                          </m:ctrlPr>
                        </m:dPr>
                        <m:e>
                          <m:r>
                            <a:rPr lang="en-US" sz="2000" i="1" dirty="0">
                              <a:latin typeface="Cambria Math" panose="02040503050406030204" pitchFamily="18" charset="0"/>
                            </a:rPr>
                            <m:t>𝑡</m:t>
                          </m:r>
                          <m:d>
                            <m:dPr>
                              <m:ctrlPr>
                                <a:rPr lang="en-US" sz="2000" i="1" dirty="0">
                                  <a:latin typeface="Cambria Math" panose="02040503050406030204" pitchFamily="18" charset="0"/>
                                </a:rPr>
                              </m:ctrlPr>
                            </m:dPr>
                            <m:e>
                              <m:r>
                                <a:rPr lang="en-US" sz="2000" i="1" dirty="0">
                                  <a:latin typeface="Cambria Math" panose="02040503050406030204" pitchFamily="18" charset="0"/>
                                </a:rPr>
                                <m:t>𝜏</m:t>
                              </m:r>
                            </m:e>
                          </m:d>
                          <m:r>
                            <a:rPr lang="en-US" sz="2000" i="1" dirty="0">
                              <a:latin typeface="Cambria Math" panose="02040503050406030204" pitchFamily="18" charset="0"/>
                            </a:rPr>
                            <m:t>,</m:t>
                          </m:r>
                          <m:r>
                            <a:rPr lang="en-US" sz="2000" i="1" dirty="0">
                              <a:latin typeface="Cambria Math" panose="02040503050406030204" pitchFamily="18" charset="0"/>
                            </a:rPr>
                            <m:t>𝑥</m:t>
                          </m:r>
                          <m:d>
                            <m:dPr>
                              <m:ctrlPr>
                                <a:rPr lang="en-US" sz="2000" i="1" dirty="0">
                                  <a:latin typeface="Cambria Math" panose="02040503050406030204" pitchFamily="18" charset="0"/>
                                </a:rPr>
                              </m:ctrlPr>
                            </m:dPr>
                            <m:e>
                              <m:r>
                                <a:rPr lang="en-US" sz="2000" i="1" dirty="0">
                                  <a:latin typeface="Cambria Math" panose="02040503050406030204" pitchFamily="18" charset="0"/>
                                </a:rPr>
                                <m:t>𝜏</m:t>
                              </m:r>
                            </m:e>
                          </m:d>
                        </m:e>
                      </m:d>
                      <m:r>
                        <a:rPr lang="en-CA" sz="2000" i="1" dirty="0">
                          <a:latin typeface="Cambria Math" panose="02040503050406030204" pitchFamily="18" charset="0"/>
                        </a:rPr>
                        <m:t> </m:t>
                      </m:r>
                    </m:oMath>
                  </m:oMathPara>
                </a14:m>
                <a:endParaRPr lang="en-CA" sz="2000" dirty="0"/>
              </a:p>
            </p:txBody>
          </p:sp>
        </mc:Choice>
        <mc:Fallback xmlns="">
          <p:sp>
            <p:nvSpPr>
              <p:cNvPr id="13" name="TextBox 12">
                <a:extLst>
                  <a:ext uri="{FF2B5EF4-FFF2-40B4-BE49-F238E27FC236}">
                    <a16:creationId xmlns:a16="http://schemas.microsoft.com/office/drawing/2014/main" id="{46946B5D-F6D8-7D18-782C-3B7DB7C37EED}"/>
                  </a:ext>
                </a:extLst>
              </p:cNvPr>
              <p:cNvSpPr txBox="1">
                <a:spLocks noRot="1" noChangeAspect="1" noMove="1" noResize="1" noEditPoints="1" noAdjustHandles="1" noChangeArrowheads="1" noChangeShapeType="1" noTextEdit="1"/>
              </p:cNvSpPr>
              <p:nvPr/>
            </p:nvSpPr>
            <p:spPr>
              <a:xfrm>
                <a:off x="39863" y="2311912"/>
                <a:ext cx="2696708" cy="439736"/>
              </a:xfrm>
              <a:prstGeom prst="rect">
                <a:avLst/>
              </a:prstGeom>
              <a:blipFill>
                <a:blip r:embed="rId6"/>
                <a:stretch>
                  <a:fillRect b="-13889"/>
                </a:stretch>
              </a:blipFill>
            </p:spPr>
            <p:txBody>
              <a:bodyPr/>
              <a:lstStyle/>
              <a:p>
                <a:r>
                  <a:rPr lang="en-CA">
                    <a:noFill/>
                  </a:rPr>
                  <a:t> </a:t>
                </a:r>
              </a:p>
            </p:txBody>
          </p:sp>
        </mc:Fallback>
      </mc:AlternateContent>
      <p:sp>
        <p:nvSpPr>
          <p:cNvPr id="14" name="TextBox 13">
            <a:extLst>
              <a:ext uri="{FF2B5EF4-FFF2-40B4-BE49-F238E27FC236}">
                <a16:creationId xmlns:a16="http://schemas.microsoft.com/office/drawing/2014/main" id="{D15757E1-F01C-A1CD-9327-96E0503F828A}"/>
              </a:ext>
            </a:extLst>
          </p:cNvPr>
          <p:cNvSpPr txBox="1"/>
          <p:nvPr/>
        </p:nvSpPr>
        <p:spPr>
          <a:xfrm>
            <a:off x="559005" y="1208529"/>
            <a:ext cx="5326616" cy="400110"/>
          </a:xfrm>
          <a:prstGeom prst="rect">
            <a:avLst/>
          </a:prstGeom>
          <a:noFill/>
        </p:spPr>
        <p:txBody>
          <a:bodyPr wrap="square" rtlCol="0">
            <a:spAutoFit/>
          </a:bodyPr>
          <a:lstStyle/>
          <a:p>
            <a:r>
              <a:rPr lang="en-CA" sz="2000" dirty="0" err="1"/>
              <a:t>Qudit</a:t>
            </a:r>
            <a:r>
              <a:rPr lang="en-CA" sz="2000" dirty="0"/>
              <a:t> following trajectory through spacetime </a:t>
            </a:r>
          </a:p>
        </p:txBody>
      </p:sp>
      <p:pic>
        <p:nvPicPr>
          <p:cNvPr id="15" name="Picture 14">
            <a:extLst>
              <a:ext uri="{FF2B5EF4-FFF2-40B4-BE49-F238E27FC236}">
                <a16:creationId xmlns:a16="http://schemas.microsoft.com/office/drawing/2014/main" id="{5BD18B33-1A36-B792-33A2-E96622544C61}"/>
              </a:ext>
            </a:extLst>
          </p:cNvPr>
          <p:cNvPicPr>
            <a:picLocks noChangeAspect="1"/>
          </p:cNvPicPr>
          <p:nvPr/>
        </p:nvPicPr>
        <p:blipFill>
          <a:blip r:embed="rId7"/>
          <a:srcRect r="4575" b="1778"/>
          <a:stretch>
            <a:fillRect/>
          </a:stretch>
        </p:blipFill>
        <p:spPr>
          <a:xfrm>
            <a:off x="2795042" y="1830381"/>
            <a:ext cx="1546099" cy="4041008"/>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EF4D92E-F633-55A3-F238-CFA0F8A57369}"/>
                  </a:ext>
                </a:extLst>
              </p:cNvPr>
              <p:cNvSpPr txBox="1"/>
              <p:nvPr/>
            </p:nvSpPr>
            <p:spPr>
              <a:xfrm>
                <a:off x="6790676" y="2585156"/>
                <a:ext cx="5144025" cy="720838"/>
              </a:xfrm>
              <a:prstGeom prst="rect">
                <a:avLst/>
              </a:prstGeom>
              <a:noFill/>
            </p:spPr>
            <p:txBody>
              <a:bodyPr wrap="square" rtlCol="0">
                <a:spAutoFit/>
              </a:bodyPr>
              <a:lstStyle/>
              <a:p>
                <a:r>
                  <a:rPr lang="en-CA" sz="2000" dirty="0"/>
                  <a:t>Interacts with quantum field </a:t>
                </a:r>
                <a14:m>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i="1">
                            <a:latin typeface="Cambria Math" panose="02040503050406030204" pitchFamily="18" charset="0"/>
                          </a:rPr>
                        </m:ctrlPr>
                      </m:dPr>
                      <m:e>
                        <m:r>
                          <m:rPr>
                            <m:sty m:val="p"/>
                          </m:rPr>
                          <a:rPr lang="en-US" sz="2000">
                            <a:latin typeface="Cambria Math" panose="02040503050406030204" pitchFamily="18" charset="0"/>
                          </a:rPr>
                          <m:t>x</m:t>
                        </m:r>
                      </m:e>
                    </m:d>
                  </m:oMath>
                </a14:m>
                <a:r>
                  <a:rPr lang="en-CA" sz="2000" dirty="0"/>
                  <a:t> via Hamiltonian density  </a:t>
                </a:r>
              </a:p>
            </p:txBody>
          </p:sp>
        </mc:Choice>
        <mc:Fallback xmlns="">
          <p:sp>
            <p:nvSpPr>
              <p:cNvPr id="16" name="TextBox 15">
                <a:extLst>
                  <a:ext uri="{FF2B5EF4-FFF2-40B4-BE49-F238E27FC236}">
                    <a16:creationId xmlns:a16="http://schemas.microsoft.com/office/drawing/2014/main" id="{5EF4D92E-F633-55A3-F238-CFA0F8A57369}"/>
                  </a:ext>
                </a:extLst>
              </p:cNvPr>
              <p:cNvSpPr txBox="1">
                <a:spLocks noRot="1" noChangeAspect="1" noMove="1" noResize="1" noEditPoints="1" noAdjustHandles="1" noChangeArrowheads="1" noChangeShapeType="1" noTextEdit="1"/>
              </p:cNvSpPr>
              <p:nvPr/>
            </p:nvSpPr>
            <p:spPr>
              <a:xfrm>
                <a:off x="6790676" y="2585156"/>
                <a:ext cx="5144025" cy="720838"/>
              </a:xfrm>
              <a:prstGeom prst="rect">
                <a:avLst/>
              </a:prstGeom>
              <a:blipFill>
                <a:blip r:embed="rId8"/>
                <a:stretch>
                  <a:fillRect l="-1232" t="-1724" b="-13793"/>
                </a:stretch>
              </a:blipFill>
            </p:spPr>
            <p:txBody>
              <a:bodyPr/>
              <a:lstStyle/>
              <a:p>
                <a:r>
                  <a:rPr lang="en-CA">
                    <a:noFill/>
                  </a:rPr>
                  <a:t> </a:t>
                </a:r>
              </a:p>
            </p:txBody>
          </p:sp>
        </mc:Fallback>
      </mc:AlternateContent>
      <p:pic>
        <p:nvPicPr>
          <p:cNvPr id="18" name="Picture 17">
            <a:extLst>
              <a:ext uri="{FF2B5EF4-FFF2-40B4-BE49-F238E27FC236}">
                <a16:creationId xmlns:a16="http://schemas.microsoft.com/office/drawing/2014/main" id="{74370A43-B30C-057F-A692-A0A81D23F6A4}"/>
              </a:ext>
            </a:extLst>
          </p:cNvPr>
          <p:cNvPicPr>
            <a:picLocks noChangeAspect="1"/>
          </p:cNvPicPr>
          <p:nvPr/>
        </p:nvPicPr>
        <p:blipFill>
          <a:blip r:embed="rId9">
            <a:alphaModFix amt="60000"/>
          </a:blip>
          <a:stretch>
            <a:fillRect/>
          </a:stretch>
        </p:blipFill>
        <p:spPr>
          <a:xfrm rot="21259358">
            <a:off x="312053" y="2335899"/>
            <a:ext cx="6249993" cy="3749995"/>
          </a:xfrm>
          <a:prstGeom prst="rect">
            <a:avLst/>
          </a:prstGeom>
          <a:effectLst/>
          <a:scene3d>
            <a:camera prst="orthographicFront">
              <a:rot lat="2400000" lon="0" rev="0"/>
            </a:camera>
            <a:lightRig rig="threePt" dir="t"/>
          </a:scene3d>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3329D05-CBCA-C6B0-91DC-2F2C5AF40C8C}"/>
                  </a:ext>
                </a:extLst>
              </p:cNvPr>
              <p:cNvSpPr txBox="1"/>
              <p:nvPr/>
            </p:nvSpPr>
            <p:spPr>
              <a:xfrm>
                <a:off x="1596629" y="3999622"/>
                <a:ext cx="574260" cy="3207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19" name="TextBox 18">
                <a:extLst>
                  <a:ext uri="{FF2B5EF4-FFF2-40B4-BE49-F238E27FC236}">
                    <a16:creationId xmlns:a16="http://schemas.microsoft.com/office/drawing/2014/main" id="{D3329D05-CBCA-C6B0-91DC-2F2C5AF40C8C}"/>
                  </a:ext>
                </a:extLst>
              </p:cNvPr>
              <p:cNvSpPr txBox="1">
                <a:spLocks noRot="1" noChangeAspect="1" noMove="1" noResize="1" noEditPoints="1" noAdjustHandles="1" noChangeArrowheads="1" noChangeShapeType="1" noTextEdit="1"/>
              </p:cNvSpPr>
              <p:nvPr/>
            </p:nvSpPr>
            <p:spPr>
              <a:xfrm>
                <a:off x="1596629" y="3999622"/>
                <a:ext cx="574260" cy="320729"/>
              </a:xfrm>
              <a:prstGeom prst="rect">
                <a:avLst/>
              </a:prstGeom>
              <a:blipFill>
                <a:blip r:embed="rId10"/>
                <a:stretch>
                  <a:fillRect l="-13043" t="-14815" b="-259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468EFFB-31F3-A3D0-760F-C11E0319BCEA}"/>
                  </a:ext>
                </a:extLst>
              </p:cNvPr>
              <p:cNvSpPr txBox="1"/>
              <p:nvPr/>
            </p:nvSpPr>
            <p:spPr>
              <a:xfrm>
                <a:off x="6799265" y="4350841"/>
                <a:ext cx="4697335" cy="1015663"/>
              </a:xfrm>
              <a:prstGeom prst="rect">
                <a:avLst/>
              </a:prstGeom>
              <a:noFill/>
            </p:spPr>
            <p:txBody>
              <a:bodyPr wrap="square" rtlCol="0">
                <a:spAutoFit/>
              </a:bodyPr>
              <a:lstStyle/>
              <a:p>
                <a:r>
                  <a:rPr lang="en-US" sz="2000" dirty="0"/>
                  <a:t>Interaction is smeared out over some spacetime region via smearing function </a:t>
                </a:r>
                <a14:m>
                  <m:oMath xmlns:m="http://schemas.openxmlformats.org/officeDocument/2006/math">
                    <m:sSub>
                      <m:sSubPr>
                        <m:ctrlPr>
                          <a:rPr lang="en-US" sz="2000" i="1">
                            <a:solidFill>
                              <a:srgbClr val="02B9F3"/>
                            </a:solidFill>
                            <a:latin typeface="Cambria Math" panose="02040503050406030204" pitchFamily="18" charset="0"/>
                          </a:rPr>
                        </m:ctrlPr>
                      </m:sSubPr>
                      <m:e>
                        <m:r>
                          <m:rPr>
                            <m:sty m:val="p"/>
                          </m:rPr>
                          <a:rPr lang="en-US" sz="2000">
                            <a:solidFill>
                              <a:srgbClr val="02B9F3"/>
                            </a:solidFill>
                            <a:latin typeface="Cambria Math" panose="02040503050406030204" pitchFamily="18" charset="0"/>
                          </a:rPr>
                          <m:t>Λ</m:t>
                        </m:r>
                      </m:e>
                      <m:sub>
                        <m:r>
                          <a:rPr lang="en-US" sz="2000">
                            <a:solidFill>
                              <a:srgbClr val="02B9F3"/>
                            </a:solidFill>
                            <a:latin typeface="Cambria Math" panose="02040503050406030204" pitchFamily="18" charset="0"/>
                          </a:rPr>
                          <m:t>𝑑</m:t>
                        </m:r>
                      </m:sub>
                    </m:sSub>
                    <m:d>
                      <m:dPr>
                        <m:ctrlPr>
                          <a:rPr lang="en-US" sz="2000" i="1">
                            <a:solidFill>
                              <a:srgbClr val="02B9F3"/>
                            </a:solidFill>
                            <a:latin typeface="Cambria Math" panose="02040503050406030204" pitchFamily="18" charset="0"/>
                          </a:rPr>
                        </m:ctrlPr>
                      </m:dPr>
                      <m:e>
                        <m:r>
                          <m:rPr>
                            <m:sty m:val="p"/>
                          </m:rPr>
                          <a:rPr lang="en-US" sz="2000">
                            <a:solidFill>
                              <a:srgbClr val="02B9F3"/>
                            </a:solidFill>
                            <a:latin typeface="Cambria Math" panose="02040503050406030204" pitchFamily="18" charset="0"/>
                          </a:rPr>
                          <m:t>x</m:t>
                        </m:r>
                      </m:e>
                    </m:d>
                  </m:oMath>
                </a14:m>
                <a:endParaRPr lang="en-CA" sz="2000" dirty="0"/>
              </a:p>
            </p:txBody>
          </p:sp>
        </mc:Choice>
        <mc:Fallback xmlns="">
          <p:sp>
            <p:nvSpPr>
              <p:cNvPr id="20" name="TextBox 19">
                <a:extLst>
                  <a:ext uri="{FF2B5EF4-FFF2-40B4-BE49-F238E27FC236}">
                    <a16:creationId xmlns:a16="http://schemas.microsoft.com/office/drawing/2014/main" id="{2468EFFB-31F3-A3D0-760F-C11E0319BCEA}"/>
                  </a:ext>
                </a:extLst>
              </p:cNvPr>
              <p:cNvSpPr txBox="1">
                <a:spLocks noRot="1" noChangeAspect="1" noMove="1" noResize="1" noEditPoints="1" noAdjustHandles="1" noChangeArrowheads="1" noChangeShapeType="1" noTextEdit="1"/>
              </p:cNvSpPr>
              <p:nvPr/>
            </p:nvSpPr>
            <p:spPr>
              <a:xfrm>
                <a:off x="6799265" y="4350841"/>
                <a:ext cx="4697335" cy="1015663"/>
              </a:xfrm>
              <a:prstGeom prst="rect">
                <a:avLst/>
              </a:prstGeom>
              <a:blipFill>
                <a:blip r:embed="rId11"/>
                <a:stretch>
                  <a:fillRect l="-1348" t="-3704"/>
                </a:stretch>
              </a:blipFill>
            </p:spPr>
            <p:txBody>
              <a:bodyPr/>
              <a:lstStyle/>
              <a:p>
                <a:r>
                  <a:rPr lang="en-CA">
                    <a:noFill/>
                  </a:rPr>
                  <a:t> </a:t>
                </a:r>
              </a:p>
            </p:txBody>
          </p:sp>
        </mc:Fallback>
      </mc:AlternateContent>
      <p:cxnSp>
        <p:nvCxnSpPr>
          <p:cNvPr id="21" name="Straight Connector 20">
            <a:extLst>
              <a:ext uri="{FF2B5EF4-FFF2-40B4-BE49-F238E27FC236}">
                <a16:creationId xmlns:a16="http://schemas.microsoft.com/office/drawing/2014/main" id="{37F7B08B-B7C3-159C-C7DF-D037E3CFBC9A}"/>
              </a:ext>
            </a:extLst>
          </p:cNvPr>
          <p:cNvCxnSpPr>
            <a:cxnSpLocks/>
          </p:cNvCxnSpPr>
          <p:nvPr/>
        </p:nvCxnSpPr>
        <p:spPr>
          <a:xfrm>
            <a:off x="4250810" y="4099619"/>
            <a:ext cx="2510631" cy="542148"/>
          </a:xfrm>
          <a:prstGeom prst="line">
            <a:avLst/>
          </a:prstGeom>
          <a:ln w="25400">
            <a:headEnd type="stealth"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FF53075-8BB1-548F-4BBB-E6CE05031A53}"/>
                  </a:ext>
                </a:extLst>
              </p:cNvPr>
              <p:cNvSpPr txBox="1"/>
              <p:nvPr/>
            </p:nvSpPr>
            <p:spPr>
              <a:xfrm>
                <a:off x="7580936" y="3628827"/>
                <a:ext cx="3375604" cy="3242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000" i="1" smtClean="0">
                              <a:latin typeface="Cambria Math" panose="02040503050406030204" pitchFamily="18" charset="0"/>
                            </a:rPr>
                          </m:ctrlPr>
                        </m:sSubPr>
                        <m:e>
                          <m:acc>
                            <m:accPr>
                              <m:chr m:val="̂"/>
                              <m:ctrlPr>
                                <a:rPr lang="en-CA" sz="2000" i="1">
                                  <a:latin typeface="Cambria Math" panose="02040503050406030204" pitchFamily="18" charset="0"/>
                                </a:rPr>
                              </m:ctrlPr>
                            </m:accPr>
                            <m:e>
                              <m:r>
                                <a:rPr lang="en-US" sz="2000" i="1">
                                  <a:latin typeface="Cambria Math" panose="02040503050406030204" pitchFamily="18" charset="0"/>
                                </a:rPr>
                                <m:t>h</m:t>
                              </m:r>
                            </m:e>
                          </m:acc>
                        </m:e>
                        <m:sub>
                          <m:r>
                            <m:rPr>
                              <m:sty m:val="p"/>
                            </m:rPr>
                            <a:rPr lang="en-US" sz="2000" b="0" i="1" smtClean="0">
                              <a:latin typeface="Cambria Math" panose="02040503050406030204" pitchFamily="18" charset="0"/>
                            </a:rPr>
                            <m:t>d</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sty m:val="p"/>
                            </m:rPr>
                            <a:rPr lang="en-US" sz="2000" b="0" i="1" smtClean="0">
                              <a:latin typeface="Cambria Math" panose="02040503050406030204" pitchFamily="18" charset="0"/>
                            </a:rPr>
                            <m:t>λ</m:t>
                          </m:r>
                        </m:e>
                        <m:sub>
                          <m:r>
                            <m:rPr>
                              <m:sty m:val="p"/>
                            </m:rPr>
                            <a:rPr lang="en-US" sz="2000" b="0" i="1" smtClean="0">
                              <a:latin typeface="Cambria Math" panose="02040503050406030204" pitchFamily="18" charset="0"/>
                            </a:rPr>
                            <m:t>d</m:t>
                          </m:r>
                        </m:sub>
                      </m:sSub>
                      <m:sSub>
                        <m:sSubPr>
                          <m:ctrlPr>
                            <a:rPr lang="en-US" sz="2000" b="0" i="1" smtClean="0">
                              <a:solidFill>
                                <a:srgbClr val="02B9F3"/>
                              </a:solidFill>
                              <a:latin typeface="Cambria Math" panose="02040503050406030204" pitchFamily="18" charset="0"/>
                            </a:rPr>
                          </m:ctrlPr>
                        </m:sSubPr>
                        <m:e>
                          <m:r>
                            <m:rPr>
                              <m:sty m:val="p"/>
                            </m:rPr>
                            <a:rPr lang="en-US" sz="2000" b="0" i="1" smtClean="0">
                              <a:solidFill>
                                <a:srgbClr val="02B9F3"/>
                              </a:solidFill>
                              <a:latin typeface="Cambria Math" panose="02040503050406030204" pitchFamily="18" charset="0"/>
                            </a:rPr>
                            <m:t>Λ</m:t>
                          </m:r>
                        </m:e>
                        <m:sub>
                          <m:r>
                            <m:rPr>
                              <m:sty m:val="p"/>
                            </m:rPr>
                            <a:rPr lang="en-US" sz="2000" b="0" i="1" smtClean="0">
                              <a:solidFill>
                                <a:srgbClr val="02B9F3"/>
                              </a:solidFill>
                              <a:latin typeface="Cambria Math" panose="02040503050406030204" pitchFamily="18" charset="0"/>
                            </a:rPr>
                            <m:t>d</m:t>
                          </m:r>
                        </m:sub>
                      </m:sSub>
                      <m:d>
                        <m:dPr>
                          <m:ctrlPr>
                            <a:rPr lang="en-US" sz="2000" b="0" i="1" smtClean="0">
                              <a:solidFill>
                                <a:srgbClr val="02B9F3"/>
                              </a:solidFill>
                              <a:latin typeface="Cambria Math" panose="02040503050406030204" pitchFamily="18" charset="0"/>
                            </a:rPr>
                          </m:ctrlPr>
                        </m:dPr>
                        <m:e>
                          <m:r>
                            <m:rPr>
                              <m:sty m:val="p"/>
                            </m:rPr>
                            <a:rPr lang="en-US" sz="2000" b="0" i="0" smtClean="0">
                              <a:solidFill>
                                <a:srgbClr val="02B9F3"/>
                              </a:solidFill>
                              <a:latin typeface="Cambria Math" panose="02040503050406030204" pitchFamily="18" charset="0"/>
                            </a:rPr>
                            <m:t>x</m:t>
                          </m:r>
                        </m:e>
                      </m:d>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𝑑</m:t>
                          </m:r>
                        </m:sub>
                      </m:sSub>
                      <m:r>
                        <a:rPr lang="en-US" sz="2000" b="0" i="1" smtClean="0">
                          <a:latin typeface="Cambria Math" panose="02040503050406030204" pitchFamily="18" charset="0"/>
                        </a:rPr>
                        <m:t>(</m:t>
                      </m:r>
                      <m:r>
                        <m:rPr>
                          <m:sty m:val="p"/>
                        </m:rPr>
                        <a:rPr lang="en-US" sz="2000" b="0" i="1" smtClean="0">
                          <a:latin typeface="Cambria Math" panose="02040503050406030204" pitchFamily="18" charset="0"/>
                        </a:rPr>
                        <m:t>τ</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sz="2000" dirty="0"/>
              </a:p>
            </p:txBody>
          </p:sp>
        </mc:Choice>
        <mc:Fallback xmlns="">
          <p:sp>
            <p:nvSpPr>
              <p:cNvPr id="22" name="TextBox 21">
                <a:extLst>
                  <a:ext uri="{FF2B5EF4-FFF2-40B4-BE49-F238E27FC236}">
                    <a16:creationId xmlns:a16="http://schemas.microsoft.com/office/drawing/2014/main" id="{EFF53075-8BB1-548F-4BBB-E6CE05031A53}"/>
                  </a:ext>
                </a:extLst>
              </p:cNvPr>
              <p:cNvSpPr txBox="1">
                <a:spLocks noRot="1" noChangeAspect="1" noMove="1" noResize="1" noEditPoints="1" noAdjustHandles="1" noChangeArrowheads="1" noChangeShapeType="1" noTextEdit="1"/>
              </p:cNvSpPr>
              <p:nvPr/>
            </p:nvSpPr>
            <p:spPr>
              <a:xfrm>
                <a:off x="7580936" y="3628827"/>
                <a:ext cx="3375604" cy="324256"/>
              </a:xfrm>
              <a:prstGeom prst="rect">
                <a:avLst/>
              </a:prstGeom>
              <a:blipFill>
                <a:blip r:embed="rId12"/>
                <a:stretch>
                  <a:fillRect l="-1504" t="-14815" b="-29630"/>
                </a:stretch>
              </a:blipFill>
            </p:spPr>
            <p:txBody>
              <a:bodyPr/>
              <a:lstStyle/>
              <a:p>
                <a:r>
                  <a:rPr lang="en-CA">
                    <a:noFill/>
                  </a:rPr>
                  <a:t> </a:t>
                </a:r>
              </a:p>
            </p:txBody>
          </p:sp>
        </mc:Fallback>
      </mc:AlternateContent>
      <p:pic>
        <p:nvPicPr>
          <p:cNvPr id="23" name="Picture 22">
            <a:extLst>
              <a:ext uri="{FF2B5EF4-FFF2-40B4-BE49-F238E27FC236}">
                <a16:creationId xmlns:a16="http://schemas.microsoft.com/office/drawing/2014/main" id="{5E70717D-713B-2996-B9ED-227DF365AFCA}"/>
              </a:ext>
            </a:extLst>
          </p:cNvPr>
          <p:cNvPicPr>
            <a:picLocks noChangeAspect="1"/>
          </p:cNvPicPr>
          <p:nvPr/>
        </p:nvPicPr>
        <p:blipFill>
          <a:blip r:embed="rId13"/>
          <a:stretch>
            <a:fillRect/>
          </a:stretch>
        </p:blipFill>
        <p:spPr>
          <a:xfrm>
            <a:off x="7003500" y="1756851"/>
            <a:ext cx="4530476" cy="492443"/>
          </a:xfrm>
          <a:prstGeom prst="rect">
            <a:avLst/>
          </a:prstGeom>
        </p:spPr>
      </p:pic>
    </p:spTree>
    <p:custDataLst>
      <p:tags r:id="rId1"/>
    </p:custDataLst>
    <p:extLst>
      <p:ext uri="{BB962C8B-B14F-4D97-AF65-F5344CB8AC3E}">
        <p14:creationId xmlns:p14="http://schemas.microsoft.com/office/powerpoint/2010/main" val="341314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P spid="20"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26DE-5328-49E4-BF8D-DA87D68F2150}"/>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1047891E-BB57-4084-2051-09329D1EA8C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540C66D4-D360-3BC2-0C79-AD138451D736}"/>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6D3AA07F-3071-28C1-734F-C641748DF5AA}"/>
              </a:ext>
            </a:extLst>
          </p:cNvPr>
          <p:cNvSpPr>
            <a:spLocks noGrp="1"/>
          </p:cNvSpPr>
          <p:nvPr>
            <p:ph type="sldNum" sz="quarter" idx="12"/>
          </p:nvPr>
        </p:nvSpPr>
        <p:spPr/>
        <p:txBody>
          <a:bodyPr/>
          <a:lstStyle/>
          <a:p>
            <a:fld id="{D0617D14-1B55-43C0-819D-0D244AC23646}" type="slidenum">
              <a:rPr lang="de-AT" smtClean="0"/>
              <a:t>10</a:t>
            </a:fld>
            <a:endParaRPr lang="de-AT"/>
          </a:p>
        </p:txBody>
      </p:sp>
      <p:sp>
        <p:nvSpPr>
          <p:cNvPr id="5" name="Rounded Rectangle 4">
            <a:extLst>
              <a:ext uri="{FF2B5EF4-FFF2-40B4-BE49-F238E27FC236}">
                <a16:creationId xmlns:a16="http://schemas.microsoft.com/office/drawing/2014/main" id="{A7F80D2A-6F3C-18B1-EDC1-59697C8CD9E6}"/>
              </a:ext>
            </a:extLst>
          </p:cNvPr>
          <p:cNvSpPr/>
          <p:nvPr/>
        </p:nvSpPr>
        <p:spPr>
          <a:xfrm>
            <a:off x="1370684" y="3854327"/>
            <a:ext cx="2415069" cy="1637821"/>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dirty="0">
                <a:solidFill>
                  <a:srgbClr val="000000"/>
                </a:solidFill>
              </a:rPr>
              <a:t>1. </a:t>
            </a:r>
            <a:r>
              <a:rPr lang="en-US" sz="2400" b="1" dirty="0">
                <a:solidFill>
                  <a:srgbClr val="000000"/>
                </a:solidFill>
              </a:rPr>
              <a:t>Prepare</a:t>
            </a:r>
            <a:endParaRPr sz="2400" b="1" dirty="0">
              <a:solidFill>
                <a:srgbClr val="000000"/>
              </a:solidFill>
            </a:endParaRPr>
          </a:p>
          <a:p>
            <a:pPr algn="ctr"/>
            <a:r>
              <a:rPr sz="2400" dirty="0">
                <a:solidFill>
                  <a:srgbClr val="000000"/>
                </a:solidFill>
              </a:rPr>
              <a:t>Non</a:t>
            </a:r>
            <a:r>
              <a:rPr lang="en-US" sz="2400" dirty="0">
                <a:solidFill>
                  <a:srgbClr val="000000"/>
                </a:solidFill>
              </a:rPr>
              <a:t>-</a:t>
            </a:r>
            <a:r>
              <a:rPr sz="2400" dirty="0">
                <a:solidFill>
                  <a:srgbClr val="000000"/>
                </a:solidFill>
              </a:rPr>
              <a:t>contextual </a:t>
            </a:r>
            <a:r>
              <a:rPr lang="en-US" sz="2400" dirty="0">
                <a:solidFill>
                  <a:srgbClr val="000000"/>
                </a:solidFill>
              </a:rPr>
              <a:t>initial system</a:t>
            </a:r>
            <a:r>
              <a:rPr sz="2400" dirty="0">
                <a:solidFill>
                  <a:srgbClr val="000000"/>
                </a:solidFill>
              </a:rPr>
              <a:t> state</a:t>
            </a:r>
          </a:p>
        </p:txBody>
      </p:sp>
      <p:sp>
        <p:nvSpPr>
          <p:cNvPr id="8" name="Right Arrow 7">
            <a:extLst>
              <a:ext uri="{FF2B5EF4-FFF2-40B4-BE49-F238E27FC236}">
                <a16:creationId xmlns:a16="http://schemas.microsoft.com/office/drawing/2014/main" id="{8EDCFFF8-6869-9DAE-6200-69BD9D95ADED}"/>
              </a:ext>
            </a:extLst>
          </p:cNvPr>
          <p:cNvSpPr/>
          <p:nvPr/>
        </p:nvSpPr>
        <p:spPr>
          <a:xfrm>
            <a:off x="3785753" y="4521436"/>
            <a:ext cx="300000" cy="303602"/>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52814438-266F-FFBB-7C03-455756048026}"/>
                  </a:ext>
                </a:extLst>
              </p:cNvPr>
              <p:cNvSpPr/>
              <p:nvPr/>
            </p:nvSpPr>
            <p:spPr>
              <a:xfrm>
                <a:off x="4085753" y="3861391"/>
                <a:ext cx="2010247" cy="1630757"/>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dirty="0">
                    <a:solidFill>
                      <a:srgbClr val="000000"/>
                    </a:solidFill>
                  </a:rPr>
                  <a:t>2. Couple</a:t>
                </a:r>
              </a:p>
              <a:p>
                <a:pPr algn="ctr"/>
                <a:r>
                  <a:rPr sz="2400" dirty="0">
                    <a:solidFill>
                      <a:srgbClr val="000000"/>
                    </a:solidFill>
                  </a:rPr>
                  <a:t>Local interaction with</a:t>
                </a:r>
                <a:r>
                  <a:rPr lang="en-US" sz="2400" dirty="0">
                    <a:solidFill>
                      <a:srgbClr val="000000"/>
                    </a:solidFill>
                  </a:rPr>
                  <a:t> </a:t>
                </a:r>
                <a14:m>
                  <m:oMath xmlns:m="http://schemas.openxmlformats.org/officeDocument/2006/math">
                    <m:acc>
                      <m:accPr>
                        <m:chr m:val="̂"/>
                        <m:ctrlPr>
                          <a:rPr lang="en-US" sz="2400" i="1" smtClean="0">
                            <a:solidFill>
                              <a:srgbClr val="000000"/>
                            </a:solidFill>
                            <a:latin typeface="Cambria Math" panose="02040503050406030204" pitchFamily="18" charset="0"/>
                          </a:rPr>
                        </m:ctrlPr>
                      </m:accPr>
                      <m:e>
                        <m:r>
                          <m:rPr>
                            <m:sty m:val="p"/>
                          </m:rPr>
                          <a:rPr lang="en-US" sz="2400" b="0" i="1" smtClean="0">
                            <a:solidFill>
                              <a:srgbClr val="000000"/>
                            </a:solidFill>
                            <a:latin typeface="Cambria Math" panose="02040503050406030204" pitchFamily="18" charset="0"/>
                          </a:rPr>
                          <m:t>ϕ</m:t>
                        </m:r>
                      </m:e>
                    </m:acc>
                    <m:r>
                      <a:rPr lang="en-US" sz="2400" b="0" i="1" smtClean="0">
                        <a:solidFill>
                          <a:srgbClr val="000000"/>
                        </a:solidFill>
                        <a:latin typeface="Cambria Math" panose="02040503050406030204" pitchFamily="18" charset="0"/>
                      </a:rPr>
                      <m:t>(</m:t>
                    </m:r>
                    <m:r>
                      <m:rPr>
                        <m:sty m:val="p"/>
                      </m:rPr>
                      <a:rPr lang="en-US" sz="2400" b="0" i="1" smtClean="0">
                        <a:solidFill>
                          <a:srgbClr val="000000"/>
                        </a:solidFill>
                        <a:latin typeface="Cambria Math" panose="02040503050406030204" pitchFamily="18" charset="0"/>
                      </a:rPr>
                      <m:t>x</m:t>
                    </m:r>
                    <m:r>
                      <a:rPr lang="en-US" sz="2400" b="0" i="1" smtClean="0">
                        <a:solidFill>
                          <a:srgbClr val="000000"/>
                        </a:solidFill>
                        <a:latin typeface="Cambria Math" panose="02040503050406030204" pitchFamily="18" charset="0"/>
                      </a:rPr>
                      <m:t>)</m:t>
                    </m:r>
                  </m:oMath>
                </a14:m>
                <a:endParaRPr sz="2400" dirty="0">
                  <a:solidFill>
                    <a:srgbClr val="000000"/>
                  </a:solidFill>
                </a:endParaRPr>
              </a:p>
            </p:txBody>
          </p:sp>
        </mc:Choice>
        <mc:Fallback xmlns="">
          <p:sp>
            <p:nvSpPr>
              <p:cNvPr id="9" name="Rounded Rectangle 8">
                <a:extLst>
                  <a:ext uri="{FF2B5EF4-FFF2-40B4-BE49-F238E27FC236}">
                    <a16:creationId xmlns:a16="http://schemas.microsoft.com/office/drawing/2014/main" id="{52814438-266F-FFBB-7C03-455756048026}"/>
                  </a:ext>
                </a:extLst>
              </p:cNvPr>
              <p:cNvSpPr>
                <a:spLocks noRot="1" noChangeAspect="1" noMove="1" noResize="1" noEditPoints="1" noAdjustHandles="1" noChangeArrowheads="1" noChangeShapeType="1" noTextEdit="1"/>
              </p:cNvSpPr>
              <p:nvPr/>
            </p:nvSpPr>
            <p:spPr>
              <a:xfrm>
                <a:off x="4085753" y="3861391"/>
                <a:ext cx="2010247" cy="1630757"/>
              </a:xfrm>
              <a:prstGeom prst="roundRect">
                <a:avLst/>
              </a:prstGeom>
              <a:blipFill>
                <a:blip r:embed="rId4"/>
                <a:stretch>
                  <a:fillRect t="-769" b="-6154"/>
                </a:stretch>
              </a:blipFill>
              <a:ln w="1">
                <a:solidFill>
                  <a:srgbClr val="000000"/>
                </a:solidFill>
              </a:ln>
            </p:spPr>
            <p:txBody>
              <a:bodyPr/>
              <a:lstStyle/>
              <a:p>
                <a:r>
                  <a:rPr lang="en-CA">
                    <a:noFill/>
                  </a:rPr>
                  <a:t> </a:t>
                </a:r>
              </a:p>
            </p:txBody>
          </p:sp>
        </mc:Fallback>
      </mc:AlternateContent>
      <p:sp>
        <p:nvSpPr>
          <p:cNvPr id="10" name="Right Arrow 9">
            <a:extLst>
              <a:ext uri="{FF2B5EF4-FFF2-40B4-BE49-F238E27FC236}">
                <a16:creationId xmlns:a16="http://schemas.microsoft.com/office/drawing/2014/main" id="{E01AA698-92E1-A217-9FDA-E131FEF717E5}"/>
              </a:ext>
            </a:extLst>
          </p:cNvPr>
          <p:cNvSpPr/>
          <p:nvPr/>
        </p:nvSpPr>
        <p:spPr>
          <a:xfrm>
            <a:off x="6096000" y="4521436"/>
            <a:ext cx="300000" cy="303602"/>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Rounded Rectangle 12">
            <a:extLst>
              <a:ext uri="{FF2B5EF4-FFF2-40B4-BE49-F238E27FC236}">
                <a16:creationId xmlns:a16="http://schemas.microsoft.com/office/drawing/2014/main" id="{43077DB1-9A2D-20EB-CF9F-AEB0F79579A3}"/>
              </a:ext>
            </a:extLst>
          </p:cNvPr>
          <p:cNvSpPr/>
          <p:nvPr/>
        </p:nvSpPr>
        <p:spPr>
          <a:xfrm>
            <a:off x="6396000" y="3861391"/>
            <a:ext cx="2372862" cy="1630757"/>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dirty="0">
                <a:solidFill>
                  <a:srgbClr val="000000"/>
                </a:solidFill>
              </a:rPr>
              <a:t>3. Reduce</a:t>
            </a:r>
          </a:p>
          <a:p>
            <a:pPr algn="ctr"/>
            <a:r>
              <a:rPr sz="2400" dirty="0">
                <a:solidFill>
                  <a:srgbClr val="000000"/>
                </a:solidFill>
              </a:rPr>
              <a:t>Trace out the field after time evolution</a:t>
            </a:r>
          </a:p>
        </p:txBody>
      </p:sp>
      <p:sp>
        <p:nvSpPr>
          <p:cNvPr id="14" name="Right Arrow 13">
            <a:extLst>
              <a:ext uri="{FF2B5EF4-FFF2-40B4-BE49-F238E27FC236}">
                <a16:creationId xmlns:a16="http://schemas.microsoft.com/office/drawing/2014/main" id="{309BCC4B-8F65-123F-669A-78C5ABF5EFAA}"/>
              </a:ext>
            </a:extLst>
          </p:cNvPr>
          <p:cNvSpPr/>
          <p:nvPr/>
        </p:nvSpPr>
        <p:spPr>
          <a:xfrm>
            <a:off x="8768862" y="4521436"/>
            <a:ext cx="300000" cy="303602"/>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id="{AAE80622-ADE6-B5E5-4CFA-0EC4E7CCCB32}"/>
                  </a:ext>
                </a:extLst>
              </p:cNvPr>
              <p:cNvSpPr/>
              <p:nvPr/>
            </p:nvSpPr>
            <p:spPr>
              <a:xfrm>
                <a:off x="9068862" y="3861391"/>
                <a:ext cx="1808361" cy="1630757"/>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dirty="0">
                    <a:solidFill>
                      <a:srgbClr val="000000"/>
                    </a:solidFill>
                  </a:rPr>
                  <a:t>4. </a:t>
                </a:r>
                <a:r>
                  <a:rPr lang="en-US" sz="2400" b="1" dirty="0">
                    <a:solidFill>
                      <a:srgbClr val="000000"/>
                    </a:solidFill>
                  </a:rPr>
                  <a:t>Quantify</a:t>
                </a:r>
                <a:endParaRPr sz="2400" b="1" dirty="0">
                  <a:solidFill>
                    <a:srgbClr val="000000"/>
                  </a:solidFill>
                </a:endParaRPr>
              </a:p>
              <a:p>
                <a:pPr algn="ctr"/>
                <a:r>
                  <a:rPr sz="2400" dirty="0">
                    <a:solidFill>
                      <a:srgbClr val="000000"/>
                    </a:solidFill>
                  </a:rPr>
                  <a:t>Evaluate</a:t>
                </a:r>
                <a:r>
                  <a:rPr lang="en-US" sz="2400" dirty="0">
                    <a:solidFill>
                      <a:srgbClr val="000000"/>
                    </a:solidFill>
                  </a:rPr>
                  <a:t> </a:t>
                </a:r>
                <a14:m>
                  <m:oMath xmlns:m="http://schemas.openxmlformats.org/officeDocument/2006/math">
                    <m:r>
                      <m:rPr>
                        <m:sty m:val="p"/>
                      </m:rPr>
                      <a:rPr lang="en-US" sz="2400" b="0" i="0" smtClean="0">
                        <a:solidFill>
                          <a:srgbClr val="000000"/>
                        </a:solidFill>
                        <a:latin typeface="Cambria Math" panose="02040503050406030204" pitchFamily="18" charset="0"/>
                        <a:ea typeface="Cambria Math" panose="02040503050406030204" pitchFamily="18" charset="0"/>
                      </a:rPr>
                      <m:t>Δ</m:t>
                    </m:r>
                    <m:r>
                      <a:rPr lang="en-US" sz="2400" b="0" i="1" smtClean="0">
                        <a:solidFill>
                          <a:srgbClr val="000000"/>
                        </a:solidFill>
                        <a:latin typeface="Cambria Math" panose="02040503050406030204" pitchFamily="18" charset="0"/>
                        <a:ea typeface="Cambria Math" panose="02040503050406030204" pitchFamily="18" charset="0"/>
                      </a:rPr>
                      <m:t>𝐶𝐹</m:t>
                    </m:r>
                    <m:d>
                      <m:dPr>
                        <m:ctrlPr>
                          <a:rPr lang="en-US" sz="2400" b="0" i="1" smtClean="0">
                            <a:solidFill>
                              <a:srgbClr val="000000"/>
                            </a:solidFill>
                            <a:latin typeface="Cambria Math" panose="02040503050406030204" pitchFamily="18" charset="0"/>
                            <a:ea typeface="Cambria Math" panose="02040503050406030204" pitchFamily="18" charset="0"/>
                          </a:rPr>
                        </m:ctrlPr>
                      </m:dPr>
                      <m:e>
                        <m:sSup>
                          <m:sSupPr>
                            <m:ctrlPr>
                              <a:rPr lang="en-US" sz="2400" b="0" i="1" smtClean="0">
                                <a:solidFill>
                                  <a:srgbClr val="000000"/>
                                </a:solidFill>
                                <a:latin typeface="Cambria Math" panose="02040503050406030204" pitchFamily="18" charset="0"/>
                                <a:ea typeface="Cambria Math" panose="02040503050406030204" pitchFamily="18" charset="0"/>
                              </a:rPr>
                            </m:ctrlPr>
                          </m:sSupPr>
                          <m:e>
                            <m:r>
                              <a:rPr lang="en-US" sz="2400" b="1" i="1" smtClean="0">
                                <a:solidFill>
                                  <a:srgbClr val="000000"/>
                                </a:solidFill>
                                <a:latin typeface="Cambria Math" panose="02040503050406030204" pitchFamily="18" charset="0"/>
                                <a:ea typeface="Cambria Math" panose="02040503050406030204" pitchFamily="18" charset="0"/>
                              </a:rPr>
                              <m:t>𝒗</m:t>
                            </m:r>
                          </m:e>
                          <m:sup>
                            <m:r>
                              <a:rPr lang="en-US" sz="2400" b="0" i="1" smtClean="0">
                                <a:solidFill>
                                  <a:srgbClr val="000000"/>
                                </a:solidFill>
                                <a:latin typeface="Cambria Math" panose="02040503050406030204" pitchFamily="18" charset="0"/>
                                <a:ea typeface="Cambria Math" panose="02040503050406030204" pitchFamily="18" charset="0"/>
                              </a:rPr>
                              <m:t>𝑒</m:t>
                            </m:r>
                          </m:sup>
                        </m:sSup>
                      </m:e>
                    </m:d>
                  </m:oMath>
                </a14:m>
                <a:endParaRPr sz="2400" dirty="0">
                  <a:solidFill>
                    <a:srgbClr val="000000"/>
                  </a:solidFill>
                </a:endParaRPr>
              </a:p>
            </p:txBody>
          </p:sp>
        </mc:Choice>
        <mc:Fallback xmlns="">
          <p:sp>
            <p:nvSpPr>
              <p:cNvPr id="15" name="Rounded Rectangle 14">
                <a:extLst>
                  <a:ext uri="{FF2B5EF4-FFF2-40B4-BE49-F238E27FC236}">
                    <a16:creationId xmlns:a16="http://schemas.microsoft.com/office/drawing/2014/main" id="{AAE80622-ADE6-B5E5-4CFA-0EC4E7CCCB32}"/>
                  </a:ext>
                </a:extLst>
              </p:cNvPr>
              <p:cNvSpPr>
                <a:spLocks noRot="1" noChangeAspect="1" noMove="1" noResize="1" noEditPoints="1" noAdjustHandles="1" noChangeArrowheads="1" noChangeShapeType="1" noTextEdit="1"/>
              </p:cNvSpPr>
              <p:nvPr/>
            </p:nvSpPr>
            <p:spPr>
              <a:xfrm>
                <a:off x="9068862" y="3861391"/>
                <a:ext cx="1808361" cy="1630757"/>
              </a:xfrm>
              <a:prstGeom prst="roundRect">
                <a:avLst/>
              </a:prstGeom>
              <a:blipFill>
                <a:blip r:embed="rId5"/>
                <a:stretch>
                  <a:fillRect/>
                </a:stretch>
              </a:blipFill>
              <a:ln w="1">
                <a:solidFill>
                  <a:srgbClr val="000000"/>
                </a:solidFill>
              </a:ln>
            </p:spPr>
            <p:txBody>
              <a:bodyPr/>
              <a:lstStyle/>
              <a:p>
                <a:r>
                  <a:rPr lang="en-CA">
                    <a:noFill/>
                  </a:rPr>
                  <a:t> </a:t>
                </a:r>
              </a:p>
            </p:txBody>
          </p:sp>
        </mc:Fallback>
      </mc:AlternateContent>
      <p:sp>
        <p:nvSpPr>
          <p:cNvPr id="16" name="TextBox 15">
            <a:extLst>
              <a:ext uri="{FF2B5EF4-FFF2-40B4-BE49-F238E27FC236}">
                <a16:creationId xmlns:a16="http://schemas.microsoft.com/office/drawing/2014/main" id="{84A5983D-C03B-6697-E637-AF9532A04C18}"/>
              </a:ext>
            </a:extLst>
          </p:cNvPr>
          <p:cNvSpPr txBox="1"/>
          <p:nvPr/>
        </p:nvSpPr>
        <p:spPr>
          <a:xfrm>
            <a:off x="539929" y="2967335"/>
            <a:ext cx="2348524" cy="523220"/>
          </a:xfrm>
          <a:prstGeom prst="rect">
            <a:avLst/>
          </a:prstGeom>
          <a:noFill/>
        </p:spPr>
        <p:txBody>
          <a:bodyPr wrap="square" rtlCol="0">
            <a:spAutoFit/>
          </a:bodyPr>
          <a:lstStyle/>
          <a:p>
            <a:r>
              <a:rPr lang="en-CA" sz="2800" b="1" dirty="0"/>
              <a:t>The protocol:</a:t>
            </a:r>
          </a:p>
        </p:txBody>
      </p:sp>
      <p:pic>
        <p:nvPicPr>
          <p:cNvPr id="17" name="Picture 16">
            <a:extLst>
              <a:ext uri="{FF2B5EF4-FFF2-40B4-BE49-F238E27FC236}">
                <a16:creationId xmlns:a16="http://schemas.microsoft.com/office/drawing/2014/main" id="{75E3691E-0428-B6FF-BC50-3DAC72A47FAF}"/>
              </a:ext>
            </a:extLst>
          </p:cNvPr>
          <p:cNvPicPr>
            <a:picLocks noChangeAspect="1"/>
          </p:cNvPicPr>
          <p:nvPr/>
        </p:nvPicPr>
        <p:blipFill>
          <a:blip r:embed="rId6"/>
          <a:stretch>
            <a:fillRect/>
          </a:stretch>
        </p:blipFill>
        <p:spPr>
          <a:xfrm>
            <a:off x="3481074" y="1989784"/>
            <a:ext cx="4292630" cy="671275"/>
          </a:xfrm>
          <a:prstGeom prst="rect">
            <a:avLst/>
          </a:prstGeom>
        </p:spPr>
      </p:pic>
      <p:sp>
        <p:nvSpPr>
          <p:cNvPr id="18" name="TextBox 17">
            <a:extLst>
              <a:ext uri="{FF2B5EF4-FFF2-40B4-BE49-F238E27FC236}">
                <a16:creationId xmlns:a16="http://schemas.microsoft.com/office/drawing/2014/main" id="{3D433433-7673-032F-6557-DA24C16E19E4}"/>
              </a:ext>
            </a:extLst>
          </p:cNvPr>
          <p:cNvSpPr txBox="1"/>
          <p:nvPr/>
        </p:nvSpPr>
        <p:spPr>
          <a:xfrm>
            <a:off x="3087216" y="1243785"/>
            <a:ext cx="6317567" cy="461665"/>
          </a:xfrm>
          <a:prstGeom prst="rect">
            <a:avLst/>
          </a:prstGeom>
          <a:noFill/>
        </p:spPr>
        <p:txBody>
          <a:bodyPr wrap="square" rtlCol="0">
            <a:spAutoFit/>
          </a:bodyPr>
          <a:lstStyle/>
          <a:p>
            <a:r>
              <a:rPr lang="en-US" sz="2400" dirty="0"/>
              <a:t>Harvested contextuality measured using </a:t>
            </a:r>
            <a:endParaRPr lang="en-CA" sz="2400" dirty="0"/>
          </a:p>
        </p:txBody>
      </p:sp>
      <p:sp>
        <p:nvSpPr>
          <p:cNvPr id="19" name="Rectangle 18">
            <a:extLst>
              <a:ext uri="{FF2B5EF4-FFF2-40B4-BE49-F238E27FC236}">
                <a16:creationId xmlns:a16="http://schemas.microsoft.com/office/drawing/2014/main" id="{0FEEE89B-82F7-C285-02CA-BA30DD51E97C}"/>
              </a:ext>
            </a:extLst>
          </p:cNvPr>
          <p:cNvSpPr/>
          <p:nvPr/>
        </p:nvSpPr>
        <p:spPr>
          <a:xfrm>
            <a:off x="3587263" y="1978139"/>
            <a:ext cx="4186442" cy="671275"/>
          </a:xfrm>
          <a:prstGeom prst="rect">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spTree>
    <p:custDataLst>
      <p:tags r:id="rId1"/>
    </p:custDataLst>
    <p:extLst>
      <p:ext uri="{BB962C8B-B14F-4D97-AF65-F5344CB8AC3E}">
        <p14:creationId xmlns:p14="http://schemas.microsoft.com/office/powerpoint/2010/main" val="3811555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P spid="13" grpId="0" animBg="1"/>
      <p:bldP spid="14" grpId="0" animBg="1"/>
      <p:bldP spid="15" grpId="0" animBg="1"/>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A7D49-A956-4A6E-683E-A6B44AE06E8D}"/>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47EA7447-6EA4-1DA0-25BA-7C063C2A771F}"/>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BA60B48A-85C6-1F32-E848-869ED5F29FC8}"/>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Conditions for Genuine Contextuality Harvesting</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A8474799-5800-4CA5-C2D3-66C2760FF3E0}"/>
              </a:ext>
            </a:extLst>
          </p:cNvPr>
          <p:cNvSpPr>
            <a:spLocks noGrp="1"/>
          </p:cNvSpPr>
          <p:nvPr>
            <p:ph type="sldNum" sz="quarter" idx="12"/>
          </p:nvPr>
        </p:nvSpPr>
        <p:spPr/>
        <p:txBody>
          <a:bodyPr/>
          <a:lstStyle/>
          <a:p>
            <a:fld id="{D0617D14-1B55-43C0-819D-0D244AC23646}" type="slidenum">
              <a:rPr lang="de-AT" smtClean="0"/>
              <a:t>11</a:t>
            </a:fld>
            <a:endParaRPr lang="de-AT"/>
          </a:p>
        </p:txBody>
      </p:sp>
      <p:sp>
        <p:nvSpPr>
          <p:cNvPr id="4" name="Rounded Rectangle 3">
            <a:extLst>
              <a:ext uri="{FF2B5EF4-FFF2-40B4-BE49-F238E27FC236}">
                <a16:creationId xmlns:a16="http://schemas.microsoft.com/office/drawing/2014/main" id="{A5D37406-CAF2-A99C-74BD-89CD211287A7}"/>
              </a:ext>
            </a:extLst>
          </p:cNvPr>
          <p:cNvSpPr/>
          <p:nvPr/>
        </p:nvSpPr>
        <p:spPr>
          <a:xfrm>
            <a:off x="1536217" y="4555124"/>
            <a:ext cx="9414803" cy="1087414"/>
          </a:xfrm>
          <a:prstGeom prst="round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100000" tIns="50000" rIns="100000" bIns="50000" rtlCol="0" anchor="ctr">
            <a:noAutofit/>
          </a:bodyPr>
          <a:lstStyle/>
          <a:p>
            <a:pPr algn="ctr"/>
            <a:r>
              <a:rPr sz="2400" b="0" dirty="0">
                <a:solidFill>
                  <a:srgbClr val="000000"/>
                </a:solidFill>
              </a:rPr>
              <a:t>Genuine harvesting is identified when the Hadamard contribution dominates the </a:t>
            </a:r>
            <a:r>
              <a:rPr sz="2400" b="0" dirty="0" err="1">
                <a:solidFill>
                  <a:srgbClr val="000000"/>
                </a:solidFill>
              </a:rPr>
              <a:t>signalling</a:t>
            </a:r>
            <a:r>
              <a:rPr sz="2400" b="0" dirty="0">
                <a:solidFill>
                  <a:srgbClr val="000000"/>
                </a:solidFill>
              </a:rPr>
              <a:t> term in the relevant peak region</a:t>
            </a:r>
          </a:p>
        </p:txBody>
      </p:sp>
      <p:pic>
        <p:nvPicPr>
          <p:cNvPr id="6" name="Picture 5">
            <a:extLst>
              <a:ext uri="{FF2B5EF4-FFF2-40B4-BE49-F238E27FC236}">
                <a16:creationId xmlns:a16="http://schemas.microsoft.com/office/drawing/2014/main" id="{19879B73-4F94-0CDB-5566-02B57235C4F0}"/>
              </a:ext>
            </a:extLst>
          </p:cNvPr>
          <p:cNvPicPr>
            <a:picLocks noChangeAspect="1"/>
          </p:cNvPicPr>
          <p:nvPr/>
        </p:nvPicPr>
        <p:blipFill>
          <a:blip r:embed="rId4"/>
          <a:stretch>
            <a:fillRect/>
          </a:stretch>
        </p:blipFill>
        <p:spPr>
          <a:xfrm>
            <a:off x="6096000" y="2350476"/>
            <a:ext cx="5503956" cy="1256158"/>
          </a:xfrm>
          <a:prstGeom prst="rect">
            <a:avLst/>
          </a:prstGeom>
        </p:spPr>
      </p:pic>
      <p:sp>
        <p:nvSpPr>
          <p:cNvPr id="8" name="TextBox 7">
            <a:extLst>
              <a:ext uri="{FF2B5EF4-FFF2-40B4-BE49-F238E27FC236}">
                <a16:creationId xmlns:a16="http://schemas.microsoft.com/office/drawing/2014/main" id="{0AABE455-282C-7926-4E7B-F7AA763AE903}"/>
              </a:ext>
            </a:extLst>
          </p:cNvPr>
          <p:cNvSpPr txBox="1"/>
          <p:nvPr/>
        </p:nvSpPr>
        <p:spPr>
          <a:xfrm>
            <a:off x="369516" y="1140225"/>
            <a:ext cx="7285370" cy="461665"/>
          </a:xfrm>
          <a:prstGeom prst="rect">
            <a:avLst/>
          </a:prstGeom>
          <a:noFill/>
        </p:spPr>
        <p:txBody>
          <a:bodyPr wrap="square" rtlCol="0">
            <a:spAutoFit/>
          </a:bodyPr>
          <a:lstStyle/>
          <a:p>
            <a:r>
              <a:rPr lang="en-US" sz="2400" dirty="0"/>
              <a:t>Not all harvested contextuality is due to the field</a:t>
            </a:r>
            <a:endParaRPr lang="en-CA" sz="2400" dirty="0"/>
          </a:p>
        </p:txBody>
      </p:sp>
      <p:sp>
        <p:nvSpPr>
          <p:cNvPr id="9" name="Right Arrow 8">
            <a:extLst>
              <a:ext uri="{FF2B5EF4-FFF2-40B4-BE49-F238E27FC236}">
                <a16:creationId xmlns:a16="http://schemas.microsoft.com/office/drawing/2014/main" id="{99DE6B48-9AC0-2460-5DDB-AA6147D45F38}"/>
              </a:ext>
            </a:extLst>
          </p:cNvPr>
          <p:cNvSpPr/>
          <p:nvPr/>
        </p:nvSpPr>
        <p:spPr>
          <a:xfrm>
            <a:off x="4819170" y="2752895"/>
            <a:ext cx="751569" cy="391562"/>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a:extLst>
              <a:ext uri="{FF2B5EF4-FFF2-40B4-BE49-F238E27FC236}">
                <a16:creationId xmlns:a16="http://schemas.microsoft.com/office/drawing/2014/main" id="{4C24C8E8-FA7D-646B-AA59-C6F08B0EE5B6}"/>
              </a:ext>
            </a:extLst>
          </p:cNvPr>
          <p:cNvSpPr txBox="1"/>
          <p:nvPr/>
        </p:nvSpPr>
        <p:spPr>
          <a:xfrm>
            <a:off x="499057" y="2023308"/>
            <a:ext cx="3586115" cy="1965388"/>
          </a:xfrm>
          <a:prstGeom prst="rect">
            <a:avLst/>
          </a:prstGeom>
          <a:noFill/>
        </p:spPr>
        <p:txBody>
          <a:bodyPr wrap="square">
            <a:noAutofit/>
          </a:bodyPr>
          <a:lstStyle/>
          <a:p>
            <a:pPr marL="457200" indent="-457200">
              <a:buFont typeface="Arial" panose="020B0604020202020204" pitchFamily="34" charset="0"/>
              <a:buChar char="•"/>
            </a:pPr>
            <a:r>
              <a:rPr lang="en-US" sz="2400" dirty="0">
                <a:solidFill>
                  <a:srgbClr val="000000"/>
                </a:solidFill>
              </a:rPr>
              <a:t>Hadamard function encodes field state-dependence</a:t>
            </a:r>
          </a:p>
          <a:p>
            <a:pPr marL="457200" indent="-457200">
              <a:buFont typeface="Arial" panose="020B0604020202020204" pitchFamily="34" charset="0"/>
              <a:buChar char="•"/>
            </a:pPr>
            <a:r>
              <a:rPr lang="en-US" sz="2400" dirty="0">
                <a:solidFill>
                  <a:srgbClr val="000000"/>
                </a:solidFill>
              </a:rPr>
              <a:t>Symmetric propagator encodes </a:t>
            </a:r>
            <a:r>
              <a:rPr lang="en-US" sz="2400" dirty="0" err="1">
                <a:solidFill>
                  <a:srgbClr val="000000"/>
                </a:solidFill>
              </a:rPr>
              <a:t>signalling</a:t>
            </a:r>
            <a:endParaRPr sz="2400" dirty="0">
              <a:solidFill>
                <a:srgbClr val="000000"/>
              </a:solidFill>
            </a:endParaRPr>
          </a:p>
        </p:txBody>
      </p:sp>
      <p:sp>
        <p:nvSpPr>
          <p:cNvPr id="13" name="TextBox 12">
            <a:extLst>
              <a:ext uri="{FF2B5EF4-FFF2-40B4-BE49-F238E27FC236}">
                <a16:creationId xmlns:a16="http://schemas.microsoft.com/office/drawing/2014/main" id="{5D39E659-BC34-8F2D-54E6-1EB336F5578F}"/>
              </a:ext>
            </a:extLst>
          </p:cNvPr>
          <p:cNvSpPr txBox="1"/>
          <p:nvPr/>
        </p:nvSpPr>
        <p:spPr>
          <a:xfrm>
            <a:off x="4504925" y="2023308"/>
            <a:ext cx="1738694" cy="554721"/>
          </a:xfrm>
          <a:prstGeom prst="rect">
            <a:avLst/>
          </a:prstGeom>
          <a:noFill/>
        </p:spPr>
        <p:txBody>
          <a:bodyPr wrap="square">
            <a:noAutofit/>
          </a:bodyPr>
          <a:lstStyle/>
          <a:p>
            <a:r>
              <a:rPr lang="en-US" sz="2400" b="1" dirty="0">
                <a:solidFill>
                  <a:srgbClr val="000000"/>
                </a:solidFill>
              </a:rPr>
              <a:t>Quantify</a:t>
            </a:r>
            <a:r>
              <a:rPr lang="en-US" sz="2400" dirty="0">
                <a:solidFill>
                  <a:srgbClr val="000000"/>
                </a:solidFill>
              </a:rPr>
              <a:t>:</a:t>
            </a:r>
            <a:endParaRPr sz="2400" dirty="0">
              <a:solidFill>
                <a:srgbClr val="000000"/>
              </a:solidFill>
            </a:endParaRPr>
          </a:p>
        </p:txBody>
      </p:sp>
    </p:spTree>
    <p:custDataLst>
      <p:tags r:id="rId1"/>
    </p:custDataLst>
    <p:extLst>
      <p:ext uri="{BB962C8B-B14F-4D97-AF65-F5344CB8AC3E}">
        <p14:creationId xmlns:p14="http://schemas.microsoft.com/office/powerpoint/2010/main" val="3421221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90E68-E077-2C65-344C-B4BF0CEDA17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B6BA7EF9-5F29-EE18-69BF-877A5ADD7DEA}"/>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F2D97D83-A798-235F-C685-05F83890CB37}"/>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An Argument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287601DA-CC50-AD21-081E-60D08128D285}"/>
              </a:ext>
            </a:extLst>
          </p:cNvPr>
          <p:cNvSpPr>
            <a:spLocks noGrp="1"/>
          </p:cNvSpPr>
          <p:nvPr>
            <p:ph type="sldNum" sz="quarter" idx="12"/>
          </p:nvPr>
        </p:nvSpPr>
        <p:spPr/>
        <p:txBody>
          <a:bodyPr/>
          <a:lstStyle/>
          <a:p>
            <a:fld id="{D0617D14-1B55-43C0-819D-0D244AC23646}" type="slidenum">
              <a:rPr lang="de-AT" smtClean="0"/>
              <a:t>12</a:t>
            </a:fld>
            <a:endParaRPr lang="de-AT"/>
          </a:p>
        </p:txBody>
      </p:sp>
      <p:sp>
        <p:nvSpPr>
          <p:cNvPr id="5" name="TextBox 4">
            <a:extLst>
              <a:ext uri="{FF2B5EF4-FFF2-40B4-BE49-F238E27FC236}">
                <a16:creationId xmlns:a16="http://schemas.microsoft.com/office/drawing/2014/main" id="{8531FDE9-D635-4300-30A4-E4E710125A83}"/>
              </a:ext>
            </a:extLst>
          </p:cNvPr>
          <p:cNvSpPr txBox="1"/>
          <p:nvPr/>
        </p:nvSpPr>
        <p:spPr>
          <a:xfrm>
            <a:off x="1328276" y="2142392"/>
            <a:ext cx="4782919" cy="830997"/>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p>
            <a:r>
              <a:rPr lang="en-US" sz="2400" dirty="0">
                <a:solidFill>
                  <a:srgbClr val="000000"/>
                </a:solidFill>
              </a:rPr>
              <a:t>Vacuum state is generically highly non-classical</a:t>
            </a:r>
          </a:p>
        </p:txBody>
      </p:sp>
      <p:sp>
        <p:nvSpPr>
          <p:cNvPr id="8" name="TextBox 7">
            <a:extLst>
              <a:ext uri="{FF2B5EF4-FFF2-40B4-BE49-F238E27FC236}">
                <a16:creationId xmlns:a16="http://schemas.microsoft.com/office/drawing/2014/main" id="{2369BC57-F879-97FE-69B7-E556B4BC11EB}"/>
              </a:ext>
            </a:extLst>
          </p:cNvPr>
          <p:cNvSpPr txBox="1"/>
          <p:nvPr/>
        </p:nvSpPr>
        <p:spPr>
          <a:xfrm>
            <a:off x="260389" y="1156000"/>
            <a:ext cx="4782919" cy="523220"/>
          </a:xfrm>
          <a:prstGeom prst="rect">
            <a:avLst/>
          </a:prstGeom>
          <a:noFill/>
        </p:spPr>
        <p:txBody>
          <a:bodyPr wrap="square" rtlCol="0">
            <a:spAutoFit/>
          </a:bodyPr>
          <a:lstStyle/>
          <a:p>
            <a:r>
              <a:rPr lang="en-US" sz="2800" dirty="0"/>
              <a:t>Can we call it “harvesting?”</a:t>
            </a:r>
            <a:endParaRPr lang="en-CA" sz="2800" dirty="0"/>
          </a:p>
        </p:txBody>
      </p:sp>
      <p:sp>
        <p:nvSpPr>
          <p:cNvPr id="9" name="TextBox 8">
            <a:extLst>
              <a:ext uri="{FF2B5EF4-FFF2-40B4-BE49-F238E27FC236}">
                <a16:creationId xmlns:a16="http://schemas.microsoft.com/office/drawing/2014/main" id="{73642BE0-92A7-8F4A-40F8-28D03BF15AB9}"/>
              </a:ext>
            </a:extLst>
          </p:cNvPr>
          <p:cNvSpPr txBox="1"/>
          <p:nvPr/>
        </p:nvSpPr>
        <p:spPr>
          <a:xfrm>
            <a:off x="1328276" y="3261267"/>
            <a:ext cx="4782920"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Resource theory of contextuality identifies free operations</a:t>
            </a:r>
          </a:p>
        </p:txBody>
      </p:sp>
      <p:sp>
        <p:nvSpPr>
          <p:cNvPr id="10" name="Right Arrow 9">
            <a:extLst>
              <a:ext uri="{FF2B5EF4-FFF2-40B4-BE49-F238E27FC236}">
                <a16:creationId xmlns:a16="http://schemas.microsoft.com/office/drawing/2014/main" id="{3F33BC7B-EE35-8179-F7C4-C838927B9EBC}"/>
              </a:ext>
            </a:extLst>
          </p:cNvPr>
          <p:cNvSpPr/>
          <p:nvPr/>
        </p:nvSpPr>
        <p:spPr>
          <a:xfrm>
            <a:off x="6315721" y="2353444"/>
            <a:ext cx="751569" cy="248989"/>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a:extLst>
              <a:ext uri="{FF2B5EF4-FFF2-40B4-BE49-F238E27FC236}">
                <a16:creationId xmlns:a16="http://schemas.microsoft.com/office/drawing/2014/main" id="{2F591588-30E2-6C91-B683-965FA49968D1}"/>
              </a:ext>
            </a:extLst>
          </p:cNvPr>
          <p:cNvSpPr txBox="1"/>
          <p:nvPr/>
        </p:nvSpPr>
        <p:spPr>
          <a:xfrm>
            <a:off x="7407462" y="2231294"/>
            <a:ext cx="3466993" cy="668031"/>
          </a:xfrm>
          <a:prstGeom prst="rect">
            <a:avLst/>
          </a:prstGeom>
          <a:noFill/>
        </p:spPr>
        <p:txBody>
          <a:bodyPr wrap="square">
            <a:noAutofit/>
          </a:bodyPr>
          <a:lstStyle/>
          <a:p>
            <a:r>
              <a:rPr lang="en-US" sz="2400" dirty="0">
                <a:solidFill>
                  <a:srgbClr val="000000"/>
                </a:solidFill>
              </a:rPr>
              <a:t>Pre-existing contextuality</a:t>
            </a:r>
          </a:p>
        </p:txBody>
      </p:sp>
      <p:sp>
        <p:nvSpPr>
          <p:cNvPr id="14" name="TextBox 13">
            <a:extLst>
              <a:ext uri="{FF2B5EF4-FFF2-40B4-BE49-F238E27FC236}">
                <a16:creationId xmlns:a16="http://schemas.microsoft.com/office/drawing/2014/main" id="{6093E339-187B-266A-D9CF-ACBF9CF535BD}"/>
              </a:ext>
            </a:extLst>
          </p:cNvPr>
          <p:cNvSpPr txBox="1"/>
          <p:nvPr/>
        </p:nvSpPr>
        <p:spPr>
          <a:xfrm>
            <a:off x="7407463" y="2830191"/>
            <a:ext cx="4399808" cy="1569660"/>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US" sz="2400" dirty="0">
                <a:solidFill>
                  <a:srgbClr val="000000"/>
                </a:solidFill>
                <a:latin typeface="Calibri" panose="020F0502020204030204"/>
              </a:rPr>
              <a:t>U</a:t>
            </a:r>
            <a:r>
              <a:rPr kumimoji="0" lang="en-US" sz="2400" b="0" i="0" u="none" strike="noStrike" kern="1200" cap="none" spc="0" normalizeH="0" baseline="0" noProof="0" dirty="0">
                <a:ln>
                  <a:noFill/>
                </a:ln>
                <a:solidFill>
                  <a:srgbClr val="000000"/>
                </a:solidFill>
                <a:effectLst/>
                <a:uLnTx/>
                <a:uFillTx/>
                <a:latin typeface="Calibri" panose="020F0502020204030204"/>
              </a:rPr>
              <a:t>se on field and UDW systems to reduce explanation of acquired contextuality to non-classicality of vacuum</a:t>
            </a:r>
          </a:p>
        </p:txBody>
      </p:sp>
      <p:sp>
        <p:nvSpPr>
          <p:cNvPr id="15" name="Right Arrow 14">
            <a:extLst>
              <a:ext uri="{FF2B5EF4-FFF2-40B4-BE49-F238E27FC236}">
                <a16:creationId xmlns:a16="http://schemas.microsoft.com/office/drawing/2014/main" id="{4A3C81DF-CCED-625B-C87B-3A69A17852E3}"/>
              </a:ext>
            </a:extLst>
          </p:cNvPr>
          <p:cNvSpPr/>
          <p:nvPr/>
        </p:nvSpPr>
        <p:spPr>
          <a:xfrm>
            <a:off x="6315718" y="3490971"/>
            <a:ext cx="751569" cy="248989"/>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a:extLst>
              <a:ext uri="{FF2B5EF4-FFF2-40B4-BE49-F238E27FC236}">
                <a16:creationId xmlns:a16="http://schemas.microsoft.com/office/drawing/2014/main" id="{BB33FAE0-0948-DBB1-1798-3CB2BBBB0EB9}"/>
              </a:ext>
            </a:extLst>
          </p:cNvPr>
          <p:cNvSpPr txBox="1"/>
          <p:nvPr/>
        </p:nvSpPr>
        <p:spPr>
          <a:xfrm>
            <a:off x="1328276" y="4437493"/>
            <a:ext cx="4782920"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defTabSz="457200">
              <a:defRPr/>
            </a:pPr>
            <a:r>
              <a:rPr lang="en-US" sz="2400" dirty="0">
                <a:solidFill>
                  <a:srgbClr val="000000"/>
                </a:solidFill>
              </a:rPr>
              <a:t>State-dependent portion of vacuum correlations dominates</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17" name="Right Arrow 16">
            <a:extLst>
              <a:ext uri="{FF2B5EF4-FFF2-40B4-BE49-F238E27FC236}">
                <a16:creationId xmlns:a16="http://schemas.microsoft.com/office/drawing/2014/main" id="{FB8935C6-0236-1B2A-2CBC-B94A8FC5B905}"/>
              </a:ext>
            </a:extLst>
          </p:cNvPr>
          <p:cNvSpPr/>
          <p:nvPr/>
        </p:nvSpPr>
        <p:spPr>
          <a:xfrm>
            <a:off x="6315718" y="4715734"/>
            <a:ext cx="751569" cy="248989"/>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a:extLst>
              <a:ext uri="{FF2B5EF4-FFF2-40B4-BE49-F238E27FC236}">
                <a16:creationId xmlns:a16="http://schemas.microsoft.com/office/drawing/2014/main" id="{6D9DAB8E-6212-DB34-6108-F180E60AE6C0}"/>
              </a:ext>
            </a:extLst>
          </p:cNvPr>
          <p:cNvSpPr txBox="1"/>
          <p:nvPr/>
        </p:nvSpPr>
        <p:spPr>
          <a:xfrm>
            <a:off x="52754" y="5364363"/>
            <a:ext cx="7001498" cy="307777"/>
          </a:xfrm>
          <a:prstGeom prst="rect">
            <a:avLst/>
          </a:prstGeom>
          <a:noFill/>
        </p:spPr>
        <p:txBody>
          <a:bodyPr wrap="square">
            <a:spAutoFit/>
          </a:bodyPr>
          <a:lstStyle/>
          <a:p>
            <a:r>
              <a:rPr lang="en-US" sz="1400" dirty="0">
                <a:solidFill>
                  <a:schemeClr val="bg1">
                    <a:lumMod val="75000"/>
                  </a:schemeClr>
                </a:solidFill>
              </a:rPr>
              <a:t>B. Amaral, Resource theory of contextuality, Phil. Trans. R. Soc. 377, 20190010 (2019).</a:t>
            </a:r>
          </a:p>
        </p:txBody>
      </p:sp>
      <p:sp>
        <p:nvSpPr>
          <p:cNvPr id="20" name="TextBox 19">
            <a:extLst>
              <a:ext uri="{FF2B5EF4-FFF2-40B4-BE49-F238E27FC236}">
                <a16:creationId xmlns:a16="http://schemas.microsoft.com/office/drawing/2014/main" id="{9568B7B0-B7FA-B073-4699-6C6EAB3883DC}"/>
              </a:ext>
            </a:extLst>
          </p:cNvPr>
          <p:cNvSpPr txBox="1"/>
          <p:nvPr/>
        </p:nvSpPr>
        <p:spPr>
          <a:xfrm>
            <a:off x="7407462" y="4486218"/>
            <a:ext cx="4399808" cy="830997"/>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US" sz="2400" dirty="0">
                <a:solidFill>
                  <a:srgbClr val="000000"/>
                </a:solidFill>
                <a:latin typeface="Calibri" panose="020F0502020204030204"/>
              </a:rPr>
              <a:t>Specific field state sources non-classicality</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4" name="Shape 105">
            <a:extLst>
              <a:ext uri="{FF2B5EF4-FFF2-40B4-BE49-F238E27FC236}">
                <a16:creationId xmlns:a16="http://schemas.microsoft.com/office/drawing/2014/main" id="{04023B05-1AB1-799C-D759-184B4495E521}"/>
              </a:ext>
            </a:extLst>
          </p:cNvPr>
          <p:cNvSpPr/>
          <p:nvPr/>
        </p:nvSpPr>
        <p:spPr>
          <a:xfrm>
            <a:off x="600903" y="2390752"/>
            <a:ext cx="502920" cy="347472"/>
          </a:xfrm>
          <a:prstGeom prst="ellipse">
            <a:avLst/>
          </a:prstGeom>
          <a:solidFill>
            <a:srgbClr val="F4CCCC"/>
          </a:solidFill>
          <a:ln w="12700">
            <a:solidFill>
              <a:srgbClr val="D58F8F"/>
            </a:solidFill>
            <a:prstDash val="solid"/>
          </a:ln>
        </p:spPr>
        <p:txBody>
          <a:bodyPr/>
          <a:lstStyle/>
          <a:p>
            <a:endParaRPr/>
          </a:p>
        </p:txBody>
      </p:sp>
      <p:sp>
        <p:nvSpPr>
          <p:cNvPr id="6" name="Text 106">
            <a:extLst>
              <a:ext uri="{FF2B5EF4-FFF2-40B4-BE49-F238E27FC236}">
                <a16:creationId xmlns:a16="http://schemas.microsoft.com/office/drawing/2014/main" id="{C2CC7AF2-FF1E-7D43-AC4A-A355BB7E5074}"/>
              </a:ext>
            </a:extLst>
          </p:cNvPr>
          <p:cNvSpPr/>
          <p:nvPr/>
        </p:nvSpPr>
        <p:spPr>
          <a:xfrm>
            <a:off x="738063" y="2436472"/>
            <a:ext cx="228600" cy="146304"/>
          </a:xfrm>
          <a:prstGeom prst="rect">
            <a:avLst/>
          </a:prstGeom>
          <a:noFill/>
          <a:ln/>
        </p:spPr>
        <p:txBody>
          <a:bodyPr wrap="square" rtlCol="0" anchor="ctr"/>
          <a:lstStyle/>
          <a:p>
            <a:pPr marL="0" indent="0" algn="ctr">
              <a:buNone/>
            </a:pPr>
            <a:r>
              <a:rPr lang="en-US" sz="4000" b="1" dirty="0">
                <a:solidFill>
                  <a:srgbClr val="003366"/>
                </a:solidFill>
              </a:rPr>
              <a:t>1</a:t>
            </a:r>
            <a:endParaRPr lang="en-US" sz="1100" dirty="0"/>
          </a:p>
        </p:txBody>
      </p:sp>
      <p:sp>
        <p:nvSpPr>
          <p:cNvPr id="11" name="Shape 108">
            <a:extLst>
              <a:ext uri="{FF2B5EF4-FFF2-40B4-BE49-F238E27FC236}">
                <a16:creationId xmlns:a16="http://schemas.microsoft.com/office/drawing/2014/main" id="{0629A9CB-F008-8CF6-1247-557A0C90DA33}"/>
              </a:ext>
            </a:extLst>
          </p:cNvPr>
          <p:cNvSpPr/>
          <p:nvPr/>
        </p:nvSpPr>
        <p:spPr>
          <a:xfrm>
            <a:off x="600903" y="3488072"/>
            <a:ext cx="502920" cy="347472"/>
          </a:xfrm>
          <a:prstGeom prst="ellipse">
            <a:avLst/>
          </a:prstGeom>
          <a:solidFill>
            <a:srgbClr val="F4CCCC"/>
          </a:solidFill>
          <a:ln w="12700">
            <a:solidFill>
              <a:srgbClr val="D58F8F"/>
            </a:solidFill>
            <a:prstDash val="solid"/>
          </a:ln>
        </p:spPr>
        <p:txBody>
          <a:bodyPr/>
          <a:lstStyle/>
          <a:p>
            <a:endParaRPr/>
          </a:p>
        </p:txBody>
      </p:sp>
      <p:sp>
        <p:nvSpPr>
          <p:cNvPr id="12" name="Text 109">
            <a:extLst>
              <a:ext uri="{FF2B5EF4-FFF2-40B4-BE49-F238E27FC236}">
                <a16:creationId xmlns:a16="http://schemas.microsoft.com/office/drawing/2014/main" id="{CFEFC15E-63C5-7E3D-AEB8-9DC62D150612}"/>
              </a:ext>
            </a:extLst>
          </p:cNvPr>
          <p:cNvSpPr/>
          <p:nvPr/>
        </p:nvSpPr>
        <p:spPr>
          <a:xfrm>
            <a:off x="738063" y="3533792"/>
            <a:ext cx="228600" cy="146304"/>
          </a:xfrm>
          <a:prstGeom prst="rect">
            <a:avLst/>
          </a:prstGeom>
          <a:noFill/>
          <a:ln/>
        </p:spPr>
        <p:txBody>
          <a:bodyPr wrap="square" rtlCol="0" anchor="ctr"/>
          <a:lstStyle/>
          <a:p>
            <a:pPr marL="0" indent="0" algn="ctr">
              <a:buNone/>
            </a:pPr>
            <a:r>
              <a:rPr lang="en-US" sz="4000" b="1" dirty="0">
                <a:solidFill>
                  <a:srgbClr val="003366"/>
                </a:solidFill>
              </a:rPr>
              <a:t>2</a:t>
            </a:r>
            <a:endParaRPr lang="en-US" sz="1100" dirty="0"/>
          </a:p>
        </p:txBody>
      </p:sp>
      <p:sp>
        <p:nvSpPr>
          <p:cNvPr id="18" name="Shape 111">
            <a:extLst>
              <a:ext uri="{FF2B5EF4-FFF2-40B4-BE49-F238E27FC236}">
                <a16:creationId xmlns:a16="http://schemas.microsoft.com/office/drawing/2014/main" id="{C424D923-F8AE-25FC-B1EA-14C90301FABE}"/>
              </a:ext>
            </a:extLst>
          </p:cNvPr>
          <p:cNvSpPr/>
          <p:nvPr/>
        </p:nvSpPr>
        <p:spPr>
          <a:xfrm>
            <a:off x="600903" y="4715734"/>
            <a:ext cx="502920" cy="347472"/>
          </a:xfrm>
          <a:prstGeom prst="ellipse">
            <a:avLst/>
          </a:prstGeom>
          <a:solidFill>
            <a:srgbClr val="F4CCCC"/>
          </a:solidFill>
          <a:ln w="12700">
            <a:solidFill>
              <a:srgbClr val="D58F8F"/>
            </a:solidFill>
            <a:prstDash val="solid"/>
          </a:ln>
        </p:spPr>
        <p:txBody>
          <a:bodyPr/>
          <a:lstStyle/>
          <a:p>
            <a:endParaRPr/>
          </a:p>
        </p:txBody>
      </p:sp>
      <p:sp>
        <p:nvSpPr>
          <p:cNvPr id="21" name="Text 112">
            <a:extLst>
              <a:ext uri="{FF2B5EF4-FFF2-40B4-BE49-F238E27FC236}">
                <a16:creationId xmlns:a16="http://schemas.microsoft.com/office/drawing/2014/main" id="{52C8630F-A186-DB0D-D747-02648EA7ECF4}"/>
              </a:ext>
            </a:extLst>
          </p:cNvPr>
          <p:cNvSpPr/>
          <p:nvPr/>
        </p:nvSpPr>
        <p:spPr>
          <a:xfrm>
            <a:off x="738063" y="4761454"/>
            <a:ext cx="228600" cy="146304"/>
          </a:xfrm>
          <a:prstGeom prst="rect">
            <a:avLst/>
          </a:prstGeom>
          <a:noFill/>
          <a:ln/>
        </p:spPr>
        <p:txBody>
          <a:bodyPr wrap="square" rtlCol="0" anchor="ctr"/>
          <a:lstStyle/>
          <a:p>
            <a:pPr marL="0" indent="0" algn="ctr">
              <a:buNone/>
            </a:pPr>
            <a:r>
              <a:rPr lang="en-US" sz="4000" b="1" dirty="0">
                <a:solidFill>
                  <a:srgbClr val="003366"/>
                </a:solidFill>
              </a:rPr>
              <a:t>3</a:t>
            </a:r>
            <a:endParaRPr lang="en-US" sz="1100" dirty="0"/>
          </a:p>
        </p:txBody>
      </p:sp>
      <p:sp>
        <p:nvSpPr>
          <p:cNvPr id="22" name="TextBox 21">
            <a:extLst>
              <a:ext uri="{FF2B5EF4-FFF2-40B4-BE49-F238E27FC236}">
                <a16:creationId xmlns:a16="http://schemas.microsoft.com/office/drawing/2014/main" id="{E808C903-C715-31B4-3FB5-871A011E9270}"/>
              </a:ext>
            </a:extLst>
          </p:cNvPr>
          <p:cNvSpPr txBox="1"/>
          <p:nvPr/>
        </p:nvSpPr>
        <p:spPr>
          <a:xfrm>
            <a:off x="52754" y="5613719"/>
            <a:ext cx="12086492" cy="523220"/>
          </a:xfrm>
          <a:prstGeom prst="rect">
            <a:avLst/>
          </a:prstGeom>
          <a:noFill/>
        </p:spPr>
        <p:txBody>
          <a:bodyPr wrap="square">
            <a:spAutoFit/>
          </a:bodyPr>
          <a:lstStyle/>
          <a:p>
            <a:r>
              <a:rPr lang="en-CA" sz="1400" dirty="0">
                <a:solidFill>
                  <a:schemeClr val="bg1">
                    <a:lumMod val="75000"/>
                  </a:schemeClr>
                </a:solidFill>
              </a:rPr>
              <a:t>S. J. Summers and R. Werner, Bell’s inequalities and  quantum field theory. II. Bell’s inequalities are maximally violated in the vacuum, J. Math. Phys. (N.Y.) 28, 2448 (1987).</a:t>
            </a:r>
          </a:p>
        </p:txBody>
      </p:sp>
    </p:spTree>
    <p:custDataLst>
      <p:tags r:id="rId1"/>
    </p:custDataLst>
    <p:extLst>
      <p:ext uri="{BB962C8B-B14F-4D97-AF65-F5344CB8AC3E}">
        <p14:creationId xmlns:p14="http://schemas.microsoft.com/office/powerpoint/2010/main" val="120419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3" grpId="0"/>
      <p:bldP spid="14" grpId="0"/>
      <p:bldP spid="15" grpId="0" animBg="1"/>
      <p:bldP spid="16" grpId="0" animBg="1"/>
      <p:bldP spid="17" grpId="0" animBg="1"/>
      <p:bldP spid="20" grpId="0"/>
      <p:bldP spid="4" grpId="0" animBg="1"/>
      <p:bldP spid="6" grpId="0" animBg="1"/>
      <p:bldP spid="11" grpId="0" animBg="1"/>
      <p:bldP spid="12" grpId="0" animBg="1"/>
      <p:bldP spid="18"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173A0-7D05-2409-867E-BDBCF50AEC15}"/>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5FCF8DFC-8764-9B91-608A-F3AC7D46FA27}"/>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DA54F2C8-4966-2F44-995C-2E1E1372CAE5}"/>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Single 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5D4F8010-8E9A-AE28-E216-D59C5B91C2E3}"/>
              </a:ext>
            </a:extLst>
          </p:cNvPr>
          <p:cNvSpPr>
            <a:spLocks noGrp="1"/>
          </p:cNvSpPr>
          <p:nvPr>
            <p:ph type="sldNum" sz="quarter" idx="12"/>
          </p:nvPr>
        </p:nvSpPr>
        <p:spPr/>
        <p:txBody>
          <a:bodyPr/>
          <a:lstStyle/>
          <a:p>
            <a:fld id="{D0617D14-1B55-43C0-819D-0D244AC23646}" type="slidenum">
              <a:rPr lang="de-AT" smtClean="0"/>
              <a:t>13</a:t>
            </a:fld>
            <a:endParaRPr lang="de-AT"/>
          </a:p>
        </p:txBody>
      </p:sp>
      <p:pic>
        <p:nvPicPr>
          <p:cNvPr id="14" name="Picture 13">
            <a:extLst>
              <a:ext uri="{FF2B5EF4-FFF2-40B4-BE49-F238E27FC236}">
                <a16:creationId xmlns:a16="http://schemas.microsoft.com/office/drawing/2014/main" id="{CC2682F7-C647-EE8A-D15E-DE8E09164260}"/>
              </a:ext>
            </a:extLst>
          </p:cNvPr>
          <p:cNvPicPr>
            <a:picLocks noChangeAspect="1"/>
          </p:cNvPicPr>
          <p:nvPr/>
        </p:nvPicPr>
        <p:blipFill>
          <a:blip r:embed="rId4"/>
          <a:stretch>
            <a:fillRect/>
          </a:stretch>
        </p:blipFill>
        <p:spPr>
          <a:xfrm>
            <a:off x="1273230" y="2387215"/>
            <a:ext cx="6067790" cy="1417294"/>
          </a:xfrm>
          <a:prstGeom prst="rect">
            <a:avLst/>
          </a:prstGeom>
        </p:spPr>
      </p:pic>
      <p:pic>
        <p:nvPicPr>
          <p:cNvPr id="15" name="Picture 14">
            <a:extLst>
              <a:ext uri="{FF2B5EF4-FFF2-40B4-BE49-F238E27FC236}">
                <a16:creationId xmlns:a16="http://schemas.microsoft.com/office/drawing/2014/main" id="{25A9083A-0496-8E4B-E00A-7D0FBF38706B}"/>
              </a:ext>
            </a:extLst>
          </p:cNvPr>
          <p:cNvPicPr>
            <a:picLocks noChangeAspect="1"/>
          </p:cNvPicPr>
          <p:nvPr/>
        </p:nvPicPr>
        <p:blipFill>
          <a:blip r:embed="rId5"/>
          <a:srcRect t="1" b="2207"/>
          <a:stretch>
            <a:fillRect/>
          </a:stretch>
        </p:blipFill>
        <p:spPr>
          <a:xfrm>
            <a:off x="8600542" y="2709114"/>
            <a:ext cx="2896058" cy="412449"/>
          </a:xfrm>
          <a:prstGeom prst="rect">
            <a:avLst/>
          </a:prstGeom>
        </p:spPr>
      </p:pic>
      <p:grpSp>
        <p:nvGrpSpPr>
          <p:cNvPr id="16" name="Group 15">
            <a:extLst>
              <a:ext uri="{FF2B5EF4-FFF2-40B4-BE49-F238E27FC236}">
                <a16:creationId xmlns:a16="http://schemas.microsoft.com/office/drawing/2014/main" id="{F30710FA-4CCB-87C6-A14D-A97ECEAF89DF}"/>
              </a:ext>
            </a:extLst>
          </p:cNvPr>
          <p:cNvGrpSpPr/>
          <p:nvPr/>
        </p:nvGrpSpPr>
        <p:grpSpPr>
          <a:xfrm>
            <a:off x="8691112" y="3177099"/>
            <a:ext cx="2523199" cy="412449"/>
            <a:chOff x="5387980" y="22725021"/>
            <a:chExt cx="2329907" cy="368300"/>
          </a:xfrm>
        </p:grpSpPr>
        <p:pic>
          <p:nvPicPr>
            <p:cNvPr id="17" name="Picture 16">
              <a:extLst>
                <a:ext uri="{FF2B5EF4-FFF2-40B4-BE49-F238E27FC236}">
                  <a16:creationId xmlns:a16="http://schemas.microsoft.com/office/drawing/2014/main" id="{18C366E2-934D-A19C-7CD4-D4275F956215}"/>
                </a:ext>
              </a:extLst>
            </p:cNvPr>
            <p:cNvPicPr>
              <a:picLocks noChangeAspect="1"/>
            </p:cNvPicPr>
            <p:nvPr/>
          </p:nvPicPr>
          <p:blipFill>
            <a:blip r:embed="rId6"/>
            <a:stretch>
              <a:fillRect/>
            </a:stretch>
          </p:blipFill>
          <p:spPr>
            <a:xfrm>
              <a:off x="5387980" y="22725021"/>
              <a:ext cx="749300" cy="368300"/>
            </a:xfrm>
            <a:prstGeom prst="rect">
              <a:avLst/>
            </a:prstGeom>
          </p:spPr>
        </p:pic>
        <p:pic>
          <p:nvPicPr>
            <p:cNvPr id="18" name="Picture 17">
              <a:extLst>
                <a:ext uri="{FF2B5EF4-FFF2-40B4-BE49-F238E27FC236}">
                  <a16:creationId xmlns:a16="http://schemas.microsoft.com/office/drawing/2014/main" id="{62F3049F-3E13-E2AF-37A8-FBE5C4B90125}"/>
                </a:ext>
              </a:extLst>
            </p:cNvPr>
            <p:cNvPicPr>
              <a:picLocks noChangeAspect="1"/>
            </p:cNvPicPr>
            <p:nvPr/>
          </p:nvPicPr>
          <p:blipFill>
            <a:blip r:embed="rId7"/>
            <a:stretch>
              <a:fillRect/>
            </a:stretch>
          </p:blipFill>
          <p:spPr>
            <a:xfrm>
              <a:off x="6143087" y="22763121"/>
              <a:ext cx="1574800" cy="330200"/>
            </a:xfrm>
            <a:prstGeom prst="rect">
              <a:avLst/>
            </a:prstGeom>
          </p:spPr>
        </p:pic>
      </p:grpSp>
      <p:sp>
        <p:nvSpPr>
          <p:cNvPr id="21" name="TextBox 20">
            <a:extLst>
              <a:ext uri="{FF2B5EF4-FFF2-40B4-BE49-F238E27FC236}">
                <a16:creationId xmlns:a16="http://schemas.microsoft.com/office/drawing/2014/main" id="{F491D386-4A9E-3B4F-0D74-0E4F837E2756}"/>
              </a:ext>
            </a:extLst>
          </p:cNvPr>
          <p:cNvSpPr txBox="1"/>
          <p:nvPr/>
        </p:nvSpPr>
        <p:spPr>
          <a:xfrm>
            <a:off x="1422477" y="4632754"/>
            <a:ext cx="7336319" cy="1004416"/>
          </a:xfrm>
          <a:prstGeom prst="rect">
            <a:avLst/>
          </a:prstGeom>
          <a:noFill/>
        </p:spPr>
        <p:txBody>
          <a:bodyPr wrap="square">
            <a:noAutofit/>
          </a:bodyPr>
          <a:lstStyle/>
          <a:p>
            <a:pPr algn="l"/>
            <a:r>
              <a:rPr lang="en-US" sz="2600" b="0" dirty="0">
                <a:solidFill>
                  <a:srgbClr val="000000"/>
                </a:solidFill>
              </a:rPr>
              <a:t>Vacuum fluctuations transfer contextuality to qutrit</a:t>
            </a:r>
            <a:endParaRPr sz="2600" b="0" dirty="0">
              <a:solidFill>
                <a:srgbClr val="000000"/>
              </a:solidFill>
            </a:endParaRPr>
          </a:p>
        </p:txBody>
      </p:sp>
      <p:sp>
        <p:nvSpPr>
          <p:cNvPr id="22" name="Rectangle 21">
            <a:extLst>
              <a:ext uri="{FF2B5EF4-FFF2-40B4-BE49-F238E27FC236}">
                <a16:creationId xmlns:a16="http://schemas.microsoft.com/office/drawing/2014/main" id="{9B243965-014B-8835-B81B-A0A8C1187F99}"/>
              </a:ext>
            </a:extLst>
          </p:cNvPr>
          <p:cNvSpPr/>
          <p:nvPr/>
        </p:nvSpPr>
        <p:spPr>
          <a:xfrm>
            <a:off x="2562499" y="3335135"/>
            <a:ext cx="1254369" cy="4572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22">
            <a:extLst>
              <a:ext uri="{FF2B5EF4-FFF2-40B4-BE49-F238E27FC236}">
                <a16:creationId xmlns:a16="http://schemas.microsoft.com/office/drawing/2014/main" id="{C9CB0A5B-13E6-0B1A-C137-E95FEA314AFF}"/>
              </a:ext>
            </a:extLst>
          </p:cNvPr>
          <p:cNvSpPr/>
          <p:nvPr/>
        </p:nvSpPr>
        <p:spPr>
          <a:xfrm>
            <a:off x="4949755" y="2473267"/>
            <a:ext cx="1082775" cy="4572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5" name="Straight Arrow Connector 24">
            <a:extLst>
              <a:ext uri="{FF2B5EF4-FFF2-40B4-BE49-F238E27FC236}">
                <a16:creationId xmlns:a16="http://schemas.microsoft.com/office/drawing/2014/main" id="{73FEC564-31F4-D8AE-77FC-FD3085CC07C5}"/>
              </a:ext>
            </a:extLst>
          </p:cNvPr>
          <p:cNvCxnSpPr>
            <a:cxnSpLocks/>
            <a:stCxn id="21" idx="0"/>
            <a:endCxn id="22" idx="2"/>
          </p:cNvCxnSpPr>
          <p:nvPr/>
        </p:nvCxnSpPr>
        <p:spPr>
          <a:xfrm flipH="1" flipV="1">
            <a:off x="3189684" y="3792335"/>
            <a:ext cx="1900953" cy="8404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4789B8E-0C0A-B430-074C-449C0C4C330D}"/>
              </a:ext>
            </a:extLst>
          </p:cNvPr>
          <p:cNvCxnSpPr>
            <a:cxnSpLocks/>
            <a:stCxn id="21" idx="0"/>
          </p:cNvCxnSpPr>
          <p:nvPr/>
        </p:nvCxnSpPr>
        <p:spPr>
          <a:xfrm flipV="1">
            <a:off x="5090637" y="2930467"/>
            <a:ext cx="125047" cy="17022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3B2D11E-06B7-C763-D51E-DDD1DF85932A}"/>
              </a:ext>
            </a:extLst>
          </p:cNvPr>
          <p:cNvSpPr txBox="1"/>
          <p:nvPr/>
        </p:nvSpPr>
        <p:spPr>
          <a:xfrm>
            <a:off x="472001" y="1286960"/>
            <a:ext cx="2717684" cy="597494"/>
          </a:xfrm>
          <a:prstGeom prst="rect">
            <a:avLst/>
          </a:prstGeom>
          <a:noFill/>
        </p:spPr>
        <p:txBody>
          <a:bodyPr wrap="square">
            <a:noAutofit/>
          </a:bodyPr>
          <a:lstStyle/>
          <a:p>
            <a:pPr algn="l"/>
            <a:r>
              <a:rPr lang="en-US" sz="2600" b="0" dirty="0">
                <a:solidFill>
                  <a:srgbClr val="000000"/>
                </a:solidFill>
              </a:rPr>
              <a:t>Why single qutrit?</a:t>
            </a:r>
            <a:endParaRPr sz="2600" b="0" dirty="0">
              <a:solidFill>
                <a:srgbClr val="000000"/>
              </a:solidFill>
            </a:endParaRPr>
          </a:p>
        </p:txBody>
      </p:sp>
      <p:sp>
        <p:nvSpPr>
          <p:cNvPr id="10" name="TextBox 9">
            <a:extLst>
              <a:ext uri="{FF2B5EF4-FFF2-40B4-BE49-F238E27FC236}">
                <a16:creationId xmlns:a16="http://schemas.microsoft.com/office/drawing/2014/main" id="{C1FFC911-465A-95FA-328B-F99A9D58F7FF}"/>
              </a:ext>
            </a:extLst>
          </p:cNvPr>
          <p:cNvSpPr txBox="1"/>
          <p:nvPr/>
        </p:nvSpPr>
        <p:spPr>
          <a:xfrm>
            <a:off x="4413112" y="1298448"/>
            <a:ext cx="7336318" cy="461665"/>
          </a:xfrm>
          <a:prstGeom prst="rect">
            <a:avLst/>
          </a:prstGeom>
          <a:noFill/>
        </p:spPr>
        <p:txBody>
          <a:bodyPr wrap="square">
            <a:spAutoFit/>
          </a:bodyPr>
          <a:lstStyle/>
          <a:p>
            <a:r>
              <a:rPr lang="en-US" sz="2400" b="0" dirty="0">
                <a:solidFill>
                  <a:srgbClr val="000000"/>
                </a:solidFill>
              </a:rPr>
              <a:t>No subsystem entanglement but still can be non-classical</a:t>
            </a:r>
            <a:endParaRPr lang="en-CA" sz="2400" dirty="0"/>
          </a:p>
        </p:txBody>
      </p:sp>
      <p:sp>
        <p:nvSpPr>
          <p:cNvPr id="11" name="Right Arrow 10">
            <a:extLst>
              <a:ext uri="{FF2B5EF4-FFF2-40B4-BE49-F238E27FC236}">
                <a16:creationId xmlns:a16="http://schemas.microsoft.com/office/drawing/2014/main" id="{881B0BCF-79E3-8FD2-CC47-30DBA115CF4C}"/>
              </a:ext>
            </a:extLst>
          </p:cNvPr>
          <p:cNvSpPr/>
          <p:nvPr/>
        </p:nvSpPr>
        <p:spPr>
          <a:xfrm>
            <a:off x="3425614" y="1424275"/>
            <a:ext cx="751569" cy="248989"/>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custDataLst>
      <p:tags r:id="rId1"/>
    </p:custDataLst>
    <p:extLst>
      <p:ext uri="{BB962C8B-B14F-4D97-AF65-F5344CB8AC3E}">
        <p14:creationId xmlns:p14="http://schemas.microsoft.com/office/powerpoint/2010/main" val="3813192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P spid="23" grpId="0" animBg="1"/>
      <p:bldP spid="10" grpId="0"/>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7981A-EDAC-C87C-004C-719791A840F5}"/>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D9318D76-137F-6F00-3582-F0C81CE1383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945231CC-DE3F-4C0E-5904-0DAFE83EDB07}"/>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Single 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AF40E200-3FBF-F899-49BC-891D45097DE8}"/>
              </a:ext>
            </a:extLst>
          </p:cNvPr>
          <p:cNvSpPr>
            <a:spLocks noGrp="1"/>
          </p:cNvSpPr>
          <p:nvPr>
            <p:ph type="sldNum" sz="quarter" idx="12"/>
          </p:nvPr>
        </p:nvSpPr>
        <p:spPr/>
        <p:txBody>
          <a:bodyPr/>
          <a:lstStyle/>
          <a:p>
            <a:fld id="{D0617D14-1B55-43C0-819D-0D244AC23646}" type="slidenum">
              <a:rPr lang="de-AT" smtClean="0"/>
              <a:t>14</a:t>
            </a:fld>
            <a:endParaRPr lang="de-AT"/>
          </a:p>
        </p:txBody>
      </p:sp>
      <p:pic>
        <p:nvPicPr>
          <p:cNvPr id="9" name="Picture 8" descr="page10_Im2.jpg">
            <a:extLst>
              <a:ext uri="{FF2B5EF4-FFF2-40B4-BE49-F238E27FC236}">
                <a16:creationId xmlns:a16="http://schemas.microsoft.com/office/drawing/2014/main" id="{67ED30FB-51AD-C360-46BF-51C472C3A62A}"/>
              </a:ext>
            </a:extLst>
          </p:cNvPr>
          <p:cNvPicPr>
            <a:picLocks noChangeAspect="1"/>
          </p:cNvPicPr>
          <p:nvPr/>
        </p:nvPicPr>
        <p:blipFill>
          <a:blip r:embed="rId4"/>
          <a:srcRect l="75367"/>
          <a:stretch>
            <a:fillRect/>
          </a:stretch>
        </p:blipFill>
        <p:spPr>
          <a:xfrm>
            <a:off x="3719736" y="1022987"/>
            <a:ext cx="3595464" cy="5061289"/>
          </a:xfrm>
          <a:prstGeom prst="rect">
            <a:avLst/>
          </a:prstGeom>
        </p:spPr>
      </p:pic>
      <p:sp>
        <p:nvSpPr>
          <p:cNvPr id="10" name="TextBox 9">
            <a:extLst>
              <a:ext uri="{FF2B5EF4-FFF2-40B4-BE49-F238E27FC236}">
                <a16:creationId xmlns:a16="http://schemas.microsoft.com/office/drawing/2014/main" id="{5517BB8A-1BB2-3B52-FA45-D5FE0A24D61F}"/>
              </a:ext>
            </a:extLst>
          </p:cNvPr>
          <p:cNvSpPr txBox="1"/>
          <p:nvPr/>
        </p:nvSpPr>
        <p:spPr>
          <a:xfrm>
            <a:off x="7171721" y="5032381"/>
            <a:ext cx="4803163" cy="1051895"/>
          </a:xfrm>
          <a:prstGeom prst="rect">
            <a:avLst/>
          </a:prstGeom>
          <a:noFill/>
        </p:spPr>
        <p:txBody>
          <a:bodyPr wrap="square">
            <a:noAutofit/>
          </a:bodyPr>
          <a:lstStyle/>
          <a:p>
            <a:pPr algn="ctr"/>
            <a:r>
              <a:rPr sz="1600" b="0" dirty="0">
                <a:solidFill>
                  <a:srgbClr val="000000"/>
                </a:solidFill>
              </a:rPr>
              <a:t>Figure 1: single-qutrit contextuality compared with harvested magic and with the genuine-harvesting diagnostic based on the Hadamard and </a:t>
            </a:r>
            <a:r>
              <a:rPr sz="1600" b="0" dirty="0" err="1">
                <a:solidFill>
                  <a:srgbClr val="000000"/>
                </a:solidFill>
              </a:rPr>
              <a:t>signalling</a:t>
            </a:r>
            <a:r>
              <a:rPr sz="1600" b="0" dirty="0">
                <a:solidFill>
                  <a:srgbClr val="000000"/>
                </a:solidFill>
              </a:rPr>
              <a:t> contributions.</a:t>
            </a:r>
          </a:p>
        </p:txBody>
      </p:sp>
      <p:sp>
        <p:nvSpPr>
          <p:cNvPr id="19" name="TextBox 18">
            <a:extLst>
              <a:ext uri="{FF2B5EF4-FFF2-40B4-BE49-F238E27FC236}">
                <a16:creationId xmlns:a16="http://schemas.microsoft.com/office/drawing/2014/main" id="{1167CF8C-09E7-EED7-F493-6A5EEEB78F2A}"/>
              </a:ext>
            </a:extLst>
          </p:cNvPr>
          <p:cNvSpPr txBox="1"/>
          <p:nvPr/>
        </p:nvSpPr>
        <p:spPr>
          <a:xfrm>
            <a:off x="7439471" y="1113322"/>
            <a:ext cx="4752529" cy="3888843"/>
          </a:xfrm>
          <a:prstGeom prst="rect">
            <a:avLst/>
          </a:prstGeom>
          <a:noFill/>
        </p:spPr>
        <p:txBody>
          <a:bodyPr wrap="square">
            <a:noAutofit/>
          </a:bodyPr>
          <a:lstStyle/>
          <a:p>
            <a:pPr marL="457200" indent="-457200">
              <a:buFont typeface="Arial" panose="020B0604020202020204" pitchFamily="34" charset="0"/>
              <a:buChar char="•"/>
            </a:pPr>
            <a:r>
              <a:rPr sz="2400" dirty="0">
                <a:solidFill>
                  <a:srgbClr val="000000"/>
                </a:solidFill>
              </a:rPr>
              <a:t>Longer interactions amplify </a:t>
            </a:r>
            <a:r>
              <a:rPr sz="2400" dirty="0" err="1">
                <a:solidFill>
                  <a:srgbClr val="000000"/>
                </a:solidFill>
              </a:rPr>
              <a:t>signalling</a:t>
            </a:r>
            <a:r>
              <a:rPr sz="2400" dirty="0">
                <a:solidFill>
                  <a:srgbClr val="000000"/>
                </a:solidFill>
              </a:rPr>
              <a:t> and can wash out harvested peak</a:t>
            </a:r>
            <a:endParaRPr lang="en-US" sz="2400" dirty="0">
              <a:solidFill>
                <a:srgbClr val="000000"/>
              </a:solidFill>
            </a:endParaRPr>
          </a:p>
          <a:p>
            <a:pPr marL="457200" indent="-457200">
              <a:buFont typeface="Arial" panose="020B0604020202020204" pitchFamily="34" charset="0"/>
              <a:buChar char="•"/>
            </a:pPr>
            <a:r>
              <a:rPr lang="en-US" sz="2400" dirty="0">
                <a:solidFill>
                  <a:srgbClr val="000000"/>
                </a:solidFill>
              </a:rPr>
              <a:t>Smaller spatial smearing strengthens harvested contextuality</a:t>
            </a:r>
          </a:p>
          <a:p>
            <a:pPr marL="457200" indent="-457200">
              <a:buFont typeface="Arial" panose="020B0604020202020204" pitchFamily="34" charset="0"/>
              <a:buChar char="•"/>
            </a:pPr>
            <a:r>
              <a:rPr lang="en-US" sz="2400" dirty="0">
                <a:solidFill>
                  <a:srgbClr val="000000"/>
                </a:solidFill>
              </a:rPr>
              <a:t>Harvesting present for gapless systems</a:t>
            </a:r>
          </a:p>
          <a:p>
            <a:pPr marL="457200" indent="-457200">
              <a:buFont typeface="Arial" panose="020B0604020202020204" pitchFamily="34" charset="0"/>
              <a:buChar char="•"/>
            </a:pPr>
            <a:endParaRPr lang="en-US" sz="2600" dirty="0">
              <a:solidFill>
                <a:srgbClr val="000000"/>
              </a:solidFill>
            </a:endParaRPr>
          </a:p>
          <a:p>
            <a:pPr marL="457200" indent="-457200">
              <a:buFont typeface="Arial" panose="020B0604020202020204" pitchFamily="34" charset="0"/>
              <a:buChar char="•"/>
            </a:pPr>
            <a:endParaRPr sz="2600" dirty="0">
              <a:solidFill>
                <a:srgbClr val="000000"/>
              </a:solidFill>
            </a:endParaRPr>
          </a:p>
        </p:txBody>
      </p:sp>
      <p:pic>
        <p:nvPicPr>
          <p:cNvPr id="4" name="Picture 3" descr="page10_Im2.jpg">
            <a:extLst>
              <a:ext uri="{FF2B5EF4-FFF2-40B4-BE49-F238E27FC236}">
                <a16:creationId xmlns:a16="http://schemas.microsoft.com/office/drawing/2014/main" id="{6CF472EE-F5EA-667E-6930-C39F919C3174}"/>
              </a:ext>
            </a:extLst>
          </p:cNvPr>
          <p:cNvPicPr>
            <a:picLocks noChangeAspect="1"/>
          </p:cNvPicPr>
          <p:nvPr/>
        </p:nvPicPr>
        <p:blipFill>
          <a:blip r:embed="rId4"/>
          <a:srcRect l="-2" r="75369"/>
          <a:stretch>
            <a:fillRect/>
          </a:stretch>
        </p:blipFill>
        <p:spPr>
          <a:xfrm>
            <a:off x="143479" y="1015120"/>
            <a:ext cx="3595464" cy="5061289"/>
          </a:xfrm>
          <a:prstGeom prst="rect">
            <a:avLst/>
          </a:prstGeom>
        </p:spPr>
      </p:pic>
    </p:spTree>
    <p:custDataLst>
      <p:tags r:id="rId1"/>
    </p:custDataLst>
    <p:extLst>
      <p:ext uri="{BB962C8B-B14F-4D97-AF65-F5344CB8AC3E}">
        <p14:creationId xmlns:p14="http://schemas.microsoft.com/office/powerpoint/2010/main" val="3076553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2CB2954-23CF-3392-2DE8-49EBAD5B80DD}"/>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C3FD55B8-8196-0583-6BE6-8D720977D610}"/>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5243A69B-DCF3-AE9B-3543-8D44EDB81B28}"/>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Single 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F242E1-6F1F-A8CD-8CE1-726CDAA4B1E5}"/>
              </a:ext>
            </a:extLst>
          </p:cNvPr>
          <p:cNvSpPr>
            <a:spLocks noGrp="1"/>
          </p:cNvSpPr>
          <p:nvPr>
            <p:ph type="sldNum" sz="quarter" idx="12"/>
          </p:nvPr>
        </p:nvSpPr>
        <p:spPr/>
        <p:txBody>
          <a:bodyPr/>
          <a:lstStyle/>
          <a:p>
            <a:fld id="{D0617D14-1B55-43C0-819D-0D244AC23646}" type="slidenum">
              <a:rPr lang="de-AT" smtClean="0"/>
              <a:t>15</a:t>
            </a:fld>
            <a:endParaRPr lang="de-AT"/>
          </a:p>
        </p:txBody>
      </p:sp>
      <p:sp>
        <p:nvSpPr>
          <p:cNvPr id="19" name="TextBox 18">
            <a:extLst>
              <a:ext uri="{FF2B5EF4-FFF2-40B4-BE49-F238E27FC236}">
                <a16:creationId xmlns:a16="http://schemas.microsoft.com/office/drawing/2014/main" id="{53E1D1D7-2C49-5D41-EAD7-C6644A34870D}"/>
              </a:ext>
            </a:extLst>
          </p:cNvPr>
          <p:cNvSpPr txBox="1"/>
          <p:nvPr/>
        </p:nvSpPr>
        <p:spPr>
          <a:xfrm>
            <a:off x="7726443" y="1065354"/>
            <a:ext cx="4324879" cy="1068246"/>
          </a:xfrm>
          <a:prstGeom prst="rect">
            <a:avLst/>
          </a:prstGeom>
          <a:noFill/>
        </p:spPr>
        <p:txBody>
          <a:bodyPr wrap="square">
            <a:noAutofit/>
          </a:bodyPr>
          <a:lstStyle/>
          <a:p>
            <a:pPr marL="457200" indent="-457200">
              <a:buFont typeface="Arial" panose="020B0604020202020204" pitchFamily="34" charset="0"/>
              <a:buChar char="•"/>
            </a:pPr>
            <a:r>
              <a:rPr lang="en-US" sz="2400" dirty="0">
                <a:solidFill>
                  <a:srgbClr val="000000"/>
                </a:solidFill>
              </a:rPr>
              <a:t>Shifting measurements creates no gapless harvesting</a:t>
            </a:r>
            <a:endParaRPr lang="en-US" sz="2800" dirty="0">
              <a:solidFill>
                <a:srgbClr val="000000"/>
              </a:solidFill>
            </a:endParaRPr>
          </a:p>
          <a:p>
            <a:pPr marL="457200" indent="-457200">
              <a:buFont typeface="Arial" panose="020B0604020202020204" pitchFamily="34" charset="0"/>
              <a:buChar char="•"/>
            </a:pPr>
            <a:endParaRPr sz="2600" dirty="0">
              <a:solidFill>
                <a:srgbClr val="000000"/>
              </a:solidFill>
            </a:endParaRPr>
          </a:p>
        </p:txBody>
      </p:sp>
      <p:pic>
        <p:nvPicPr>
          <p:cNvPr id="5" name="Picture 4" descr="page10_Im2.jpg">
            <a:extLst>
              <a:ext uri="{FF2B5EF4-FFF2-40B4-BE49-F238E27FC236}">
                <a16:creationId xmlns:a16="http://schemas.microsoft.com/office/drawing/2014/main" id="{EB5CCF4E-025E-5136-DCDA-500CB3BE7D83}"/>
              </a:ext>
            </a:extLst>
          </p:cNvPr>
          <p:cNvPicPr>
            <a:picLocks noChangeAspect="1"/>
          </p:cNvPicPr>
          <p:nvPr/>
        </p:nvPicPr>
        <p:blipFill>
          <a:blip r:embed="rId4"/>
          <a:srcRect l="24719" r="50000"/>
          <a:stretch>
            <a:fillRect/>
          </a:stretch>
        </p:blipFill>
        <p:spPr>
          <a:xfrm>
            <a:off x="140678" y="1065354"/>
            <a:ext cx="3650840" cy="5007444"/>
          </a:xfrm>
          <a:prstGeom prst="rect">
            <a:avLst/>
          </a:prstGeom>
        </p:spPr>
      </p:pic>
      <p:pic>
        <p:nvPicPr>
          <p:cNvPr id="6" name="Picture 5" descr="page10_Im2.jpg">
            <a:extLst>
              <a:ext uri="{FF2B5EF4-FFF2-40B4-BE49-F238E27FC236}">
                <a16:creationId xmlns:a16="http://schemas.microsoft.com/office/drawing/2014/main" id="{3255ACE4-0133-5FAC-099E-BE44502BF965}"/>
              </a:ext>
            </a:extLst>
          </p:cNvPr>
          <p:cNvPicPr>
            <a:picLocks noChangeAspect="1"/>
          </p:cNvPicPr>
          <p:nvPr/>
        </p:nvPicPr>
        <p:blipFill>
          <a:blip r:embed="rId4"/>
          <a:srcRect l="75367"/>
          <a:stretch>
            <a:fillRect/>
          </a:stretch>
        </p:blipFill>
        <p:spPr>
          <a:xfrm>
            <a:off x="3791518" y="1065353"/>
            <a:ext cx="3557214" cy="5007445"/>
          </a:xfrm>
          <a:prstGeom prst="rect">
            <a:avLst/>
          </a:prstGeom>
        </p:spPr>
      </p:pic>
    </p:spTree>
    <p:custDataLst>
      <p:tags r:id="rId1"/>
    </p:custDataLst>
    <p:extLst>
      <p:ext uri="{BB962C8B-B14F-4D97-AF65-F5344CB8AC3E}">
        <p14:creationId xmlns:p14="http://schemas.microsoft.com/office/powerpoint/2010/main" val="3604796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E3C1722-75E0-667F-61FB-FB1787B0297B}"/>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E7710A3C-2BEF-18EF-8852-E448576215C5}"/>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76CC9A85-F2CB-900D-DF28-57D07E8A74F0}"/>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Single 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731B076F-32AC-A54B-EE2B-1408B4E958DF}"/>
              </a:ext>
            </a:extLst>
          </p:cNvPr>
          <p:cNvSpPr>
            <a:spLocks noGrp="1"/>
          </p:cNvSpPr>
          <p:nvPr>
            <p:ph type="sldNum" sz="quarter" idx="12"/>
          </p:nvPr>
        </p:nvSpPr>
        <p:spPr/>
        <p:txBody>
          <a:bodyPr/>
          <a:lstStyle/>
          <a:p>
            <a:fld id="{D0617D14-1B55-43C0-819D-0D244AC23646}" type="slidenum">
              <a:rPr lang="de-AT" smtClean="0"/>
              <a:t>16</a:t>
            </a:fld>
            <a:endParaRPr lang="de-AT"/>
          </a:p>
        </p:txBody>
      </p:sp>
      <p:sp>
        <p:nvSpPr>
          <p:cNvPr id="19" name="TextBox 18">
            <a:extLst>
              <a:ext uri="{FF2B5EF4-FFF2-40B4-BE49-F238E27FC236}">
                <a16:creationId xmlns:a16="http://schemas.microsoft.com/office/drawing/2014/main" id="{5E515B55-852C-E3C7-A8CD-B0C85D25B162}"/>
              </a:ext>
            </a:extLst>
          </p:cNvPr>
          <p:cNvSpPr txBox="1"/>
          <p:nvPr/>
        </p:nvSpPr>
        <p:spPr>
          <a:xfrm>
            <a:off x="7672804" y="999975"/>
            <a:ext cx="4345871" cy="2650000"/>
          </a:xfrm>
          <a:prstGeom prst="rect">
            <a:avLst/>
          </a:prstGeom>
          <a:noFill/>
        </p:spPr>
        <p:txBody>
          <a:bodyPr wrap="square">
            <a:noAutofit/>
          </a:bodyPr>
          <a:lstStyle/>
          <a:p>
            <a:pPr marL="457200" indent="-457200">
              <a:buFont typeface="Arial" panose="020B0604020202020204" pitchFamily="34" charset="0"/>
              <a:buChar char="•"/>
            </a:pPr>
            <a:r>
              <a:rPr lang="en-US" sz="2400" dirty="0">
                <a:solidFill>
                  <a:srgbClr val="000000"/>
                </a:solidFill>
              </a:rPr>
              <a:t>Additional shift delays harvesting to start at a small gap</a:t>
            </a:r>
          </a:p>
          <a:p>
            <a:pPr marL="457200" indent="-457200">
              <a:buFont typeface="Arial" panose="020B0604020202020204" pitchFamily="34" charset="0"/>
              <a:buChar char="•"/>
            </a:pPr>
            <a:r>
              <a:rPr lang="en-US" sz="2400" dirty="0">
                <a:solidFill>
                  <a:srgbClr val="000000"/>
                </a:solidFill>
              </a:rPr>
              <a:t>Contextuality can persist after harvested magic has already vanished, showing they have different state boundaries</a:t>
            </a:r>
          </a:p>
          <a:p>
            <a:pPr marL="457200" indent="-457200">
              <a:buFont typeface="Arial" panose="020B0604020202020204" pitchFamily="34" charset="0"/>
              <a:buChar char="•"/>
            </a:pPr>
            <a:endParaRPr sz="2600" dirty="0">
              <a:solidFill>
                <a:srgbClr val="000000"/>
              </a:solidFill>
            </a:endParaRPr>
          </a:p>
        </p:txBody>
      </p:sp>
      <p:pic>
        <p:nvPicPr>
          <p:cNvPr id="4" name="Picture 3" descr="page10_Im2.jpg">
            <a:extLst>
              <a:ext uri="{FF2B5EF4-FFF2-40B4-BE49-F238E27FC236}">
                <a16:creationId xmlns:a16="http://schemas.microsoft.com/office/drawing/2014/main" id="{F8017D43-82C9-5A61-033C-1AA33DCF470C}"/>
              </a:ext>
            </a:extLst>
          </p:cNvPr>
          <p:cNvPicPr>
            <a:picLocks noChangeAspect="1"/>
          </p:cNvPicPr>
          <p:nvPr/>
        </p:nvPicPr>
        <p:blipFill>
          <a:blip r:embed="rId4"/>
          <a:srcRect l="49914" r="24718"/>
          <a:stretch>
            <a:fillRect/>
          </a:stretch>
        </p:blipFill>
        <p:spPr>
          <a:xfrm>
            <a:off x="64146" y="976751"/>
            <a:ext cx="3749811" cy="5125757"/>
          </a:xfrm>
          <a:prstGeom prst="rect">
            <a:avLst/>
          </a:prstGeom>
        </p:spPr>
      </p:pic>
      <p:pic>
        <p:nvPicPr>
          <p:cNvPr id="8" name="Picture 7" descr="page10_Im2.jpg">
            <a:extLst>
              <a:ext uri="{FF2B5EF4-FFF2-40B4-BE49-F238E27FC236}">
                <a16:creationId xmlns:a16="http://schemas.microsoft.com/office/drawing/2014/main" id="{3A65E75A-53B3-34C6-1640-DDFA1E702FB0}"/>
              </a:ext>
            </a:extLst>
          </p:cNvPr>
          <p:cNvPicPr>
            <a:picLocks noChangeAspect="1"/>
          </p:cNvPicPr>
          <p:nvPr/>
        </p:nvPicPr>
        <p:blipFill>
          <a:blip r:embed="rId4"/>
          <a:srcRect l="75367"/>
          <a:stretch>
            <a:fillRect/>
          </a:stretch>
        </p:blipFill>
        <p:spPr>
          <a:xfrm>
            <a:off x="3760225" y="976751"/>
            <a:ext cx="3641261" cy="5125757"/>
          </a:xfrm>
          <a:prstGeom prst="rect">
            <a:avLst/>
          </a:prstGeom>
        </p:spPr>
      </p:pic>
      <p:sp>
        <p:nvSpPr>
          <p:cNvPr id="5" name="Rounded Rectangle 4">
            <a:extLst>
              <a:ext uri="{FF2B5EF4-FFF2-40B4-BE49-F238E27FC236}">
                <a16:creationId xmlns:a16="http://schemas.microsoft.com/office/drawing/2014/main" id="{B1FB25C2-AE76-D191-6732-C36FF6CFFB19}"/>
              </a:ext>
            </a:extLst>
          </p:cNvPr>
          <p:cNvSpPr/>
          <p:nvPr/>
        </p:nvSpPr>
        <p:spPr>
          <a:xfrm>
            <a:off x="7510036" y="3763978"/>
            <a:ext cx="4508639" cy="1607507"/>
          </a:xfrm>
          <a:prstGeom prst="round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100000" tIns="50000" rIns="100000" bIns="50000" rtlCol="0" anchor="ctr">
            <a:noAutofit/>
          </a:bodyPr>
          <a:lstStyle/>
          <a:p>
            <a:pPr algn="ctr"/>
            <a:r>
              <a:rPr lang="en-US" sz="2400" b="0" dirty="0">
                <a:solidFill>
                  <a:srgbClr val="000000"/>
                </a:solidFill>
              </a:rPr>
              <a:t>Can harvest </a:t>
            </a:r>
            <a:r>
              <a:rPr sz="2400" b="0" dirty="0">
                <a:solidFill>
                  <a:srgbClr val="000000"/>
                </a:solidFill>
              </a:rPr>
              <a:t>contextuality </a:t>
            </a:r>
            <a:r>
              <a:rPr lang="en-US" sz="2400" b="0" dirty="0">
                <a:solidFill>
                  <a:srgbClr val="000000"/>
                </a:solidFill>
              </a:rPr>
              <a:t>and magic for gapless systems </a:t>
            </a:r>
            <a:r>
              <a:rPr sz="2400" b="0" dirty="0">
                <a:solidFill>
                  <a:srgbClr val="000000"/>
                </a:solidFill>
              </a:rPr>
              <a:t>depend</a:t>
            </a:r>
            <a:r>
              <a:rPr lang="en-US" sz="2400" b="0" dirty="0">
                <a:solidFill>
                  <a:srgbClr val="000000"/>
                </a:solidFill>
              </a:rPr>
              <a:t>ing</a:t>
            </a:r>
            <a:r>
              <a:rPr sz="2400" b="0" dirty="0">
                <a:solidFill>
                  <a:srgbClr val="000000"/>
                </a:solidFill>
              </a:rPr>
              <a:t> on the measurement scenario and smearing profile</a:t>
            </a:r>
          </a:p>
        </p:txBody>
      </p:sp>
      <p:sp>
        <p:nvSpPr>
          <p:cNvPr id="6" name="TextBox 5">
            <a:extLst>
              <a:ext uri="{FF2B5EF4-FFF2-40B4-BE49-F238E27FC236}">
                <a16:creationId xmlns:a16="http://schemas.microsoft.com/office/drawing/2014/main" id="{1E0829A0-348C-7AF7-F6EE-77BE5CB90270}"/>
              </a:ext>
            </a:extLst>
          </p:cNvPr>
          <p:cNvSpPr txBox="1"/>
          <p:nvPr/>
        </p:nvSpPr>
        <p:spPr>
          <a:xfrm>
            <a:off x="7859368" y="5579288"/>
            <a:ext cx="4577681" cy="523220"/>
          </a:xfrm>
          <a:prstGeom prst="rect">
            <a:avLst/>
          </a:prstGeom>
          <a:noFill/>
        </p:spPr>
        <p:txBody>
          <a:bodyPr wrap="square">
            <a:spAutoFit/>
          </a:bodyPr>
          <a:lstStyle/>
          <a:p>
            <a:r>
              <a:rPr lang="en-US" sz="1400" dirty="0">
                <a:solidFill>
                  <a:schemeClr val="bg1">
                    <a:lumMod val="75000"/>
                  </a:schemeClr>
                </a:solidFill>
              </a:rPr>
              <a:t>R. Nyström, N. </a:t>
            </a:r>
            <a:r>
              <a:rPr lang="en-US" sz="1400" dirty="0" err="1">
                <a:solidFill>
                  <a:schemeClr val="bg1">
                    <a:lumMod val="75000"/>
                  </a:schemeClr>
                </a:solidFill>
              </a:rPr>
              <a:t>Pranzini</a:t>
            </a:r>
            <a:r>
              <a:rPr lang="en-US" sz="1400" dirty="0">
                <a:solidFill>
                  <a:schemeClr val="bg1">
                    <a:lumMod val="75000"/>
                  </a:schemeClr>
                </a:solidFill>
              </a:rPr>
              <a:t>, and E. </a:t>
            </a:r>
            <a:r>
              <a:rPr lang="en-US" sz="1400" dirty="0" err="1">
                <a:solidFill>
                  <a:schemeClr val="bg1">
                    <a:lumMod val="75000"/>
                  </a:schemeClr>
                </a:solidFill>
              </a:rPr>
              <a:t>Keski-Vakkuri</a:t>
            </a:r>
            <a:r>
              <a:rPr lang="en-US" sz="1400" dirty="0">
                <a:solidFill>
                  <a:schemeClr val="bg1">
                    <a:lumMod val="75000"/>
                  </a:schemeClr>
                </a:solidFill>
              </a:rPr>
              <a:t>, Harvesting magic from the vacuum, </a:t>
            </a:r>
            <a:r>
              <a:rPr lang="en-US" sz="1400" dirty="0">
                <a:solidFill>
                  <a:schemeClr val="bg1">
                    <a:lumMod val="75000"/>
                  </a:schemeClr>
                </a:solidFill>
                <a:hlinkClick r:id="rId5">
                  <a:extLst>
                    <a:ext uri="{A12FA001-AC4F-418D-AE19-62706E023703}">
                      <ahyp:hlinkClr xmlns:ahyp="http://schemas.microsoft.com/office/drawing/2018/hyperlinkcolor" val="tx"/>
                    </a:ext>
                  </a:extLst>
                </a:hlinkClick>
              </a:rPr>
              <a:t>Phys. Rev. Res. 7, 033085 (2025)</a:t>
            </a:r>
            <a:r>
              <a:rPr lang="en-US" sz="1400" dirty="0">
                <a:solidFill>
                  <a:schemeClr val="bg1">
                    <a:lumMod val="75000"/>
                  </a:schemeClr>
                </a:solidFill>
              </a:rPr>
              <a:t>.</a:t>
            </a:r>
          </a:p>
        </p:txBody>
      </p:sp>
    </p:spTree>
    <p:custDataLst>
      <p:tags r:id="rId1"/>
    </p:custDataLst>
    <p:extLst>
      <p:ext uri="{BB962C8B-B14F-4D97-AF65-F5344CB8AC3E}">
        <p14:creationId xmlns:p14="http://schemas.microsoft.com/office/powerpoint/2010/main" val="1459568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D12DC-70C0-4D04-EAB5-E02E224028F8}"/>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2E8C285E-C914-138C-58D0-6C0F4BD1E02C}"/>
              </a:ext>
            </a:extLst>
          </p:cNvPr>
          <p:cNvPicPr>
            <a:picLocks noChangeAspect="1"/>
          </p:cNvPicPr>
          <p:nvPr/>
        </p:nvPicPr>
        <p:blipFill>
          <a:blip r:embed="rId4"/>
          <a:stretch>
            <a:fillRect/>
          </a:stretch>
        </p:blipFill>
        <p:spPr>
          <a:xfrm>
            <a:off x="491066" y="1299680"/>
            <a:ext cx="5322224" cy="2971800"/>
          </a:xfrm>
          <a:prstGeom prst="rect">
            <a:avLst/>
          </a:prstGeom>
        </p:spPr>
      </p:pic>
      <p:sp>
        <p:nvSpPr>
          <p:cNvPr id="2" name="Fußzeilenplatzhalter 1">
            <a:extLst>
              <a:ext uri="{FF2B5EF4-FFF2-40B4-BE49-F238E27FC236}">
                <a16:creationId xmlns:a16="http://schemas.microsoft.com/office/drawing/2014/main" id="{DBCD7BC8-02E4-93D0-0E93-149CE8BA357A}"/>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875B5163-E2F7-D74F-F16F-58DE2E96DCEF}"/>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Qubit-Qutrit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752FECB6-D5D3-24DE-7674-6DBE594C35A7}"/>
              </a:ext>
            </a:extLst>
          </p:cNvPr>
          <p:cNvSpPr>
            <a:spLocks noGrp="1"/>
          </p:cNvSpPr>
          <p:nvPr>
            <p:ph type="sldNum" sz="quarter" idx="12"/>
          </p:nvPr>
        </p:nvSpPr>
        <p:spPr/>
        <p:txBody>
          <a:bodyPr/>
          <a:lstStyle/>
          <a:p>
            <a:fld id="{D0617D14-1B55-43C0-819D-0D244AC23646}" type="slidenum">
              <a:rPr lang="de-AT" smtClean="0"/>
              <a:t>17</a:t>
            </a:fld>
            <a:endParaRPr lang="de-AT"/>
          </a:p>
        </p:txBody>
      </p:sp>
      <p:pic>
        <p:nvPicPr>
          <p:cNvPr id="19" name="Picture 18">
            <a:extLst>
              <a:ext uri="{FF2B5EF4-FFF2-40B4-BE49-F238E27FC236}">
                <a16:creationId xmlns:a16="http://schemas.microsoft.com/office/drawing/2014/main" id="{28841D73-FB5B-4FCE-8699-A2F6FFF86806}"/>
              </a:ext>
            </a:extLst>
          </p:cNvPr>
          <p:cNvPicPr>
            <a:picLocks noChangeAspect="1"/>
          </p:cNvPicPr>
          <p:nvPr/>
        </p:nvPicPr>
        <p:blipFill>
          <a:blip r:embed="rId5"/>
          <a:stretch>
            <a:fillRect/>
          </a:stretch>
        </p:blipFill>
        <p:spPr>
          <a:xfrm>
            <a:off x="6514640" y="4468226"/>
            <a:ext cx="5359542" cy="1482108"/>
          </a:xfrm>
          <a:prstGeom prst="rect">
            <a:avLst/>
          </a:prstGeom>
        </p:spPr>
      </p:pic>
      <p:pic>
        <p:nvPicPr>
          <p:cNvPr id="20" name="Picture 19">
            <a:extLst>
              <a:ext uri="{FF2B5EF4-FFF2-40B4-BE49-F238E27FC236}">
                <a16:creationId xmlns:a16="http://schemas.microsoft.com/office/drawing/2014/main" id="{D28EEB6D-E949-D02D-9FA5-D56A8CCCBE0A}"/>
              </a:ext>
            </a:extLst>
          </p:cNvPr>
          <p:cNvPicPr>
            <a:picLocks noChangeAspect="1"/>
          </p:cNvPicPr>
          <p:nvPr/>
        </p:nvPicPr>
        <p:blipFill>
          <a:blip r:embed="rId6"/>
          <a:srcRect l="72532" t="-2955"/>
          <a:stretch>
            <a:fillRect/>
          </a:stretch>
        </p:blipFill>
        <p:spPr>
          <a:xfrm>
            <a:off x="6316257" y="1848329"/>
            <a:ext cx="1976353" cy="478731"/>
          </a:xfrm>
          <a:prstGeom prst="rect">
            <a:avLst/>
          </a:prstGeom>
        </p:spPr>
      </p:pic>
      <p:pic>
        <p:nvPicPr>
          <p:cNvPr id="21" name="Picture 20">
            <a:extLst>
              <a:ext uri="{FF2B5EF4-FFF2-40B4-BE49-F238E27FC236}">
                <a16:creationId xmlns:a16="http://schemas.microsoft.com/office/drawing/2014/main" id="{BB097AF5-89D1-A2D9-E833-BA778FC66748}"/>
              </a:ext>
            </a:extLst>
          </p:cNvPr>
          <p:cNvPicPr>
            <a:picLocks noChangeAspect="1"/>
          </p:cNvPicPr>
          <p:nvPr/>
        </p:nvPicPr>
        <p:blipFill>
          <a:blip r:embed="rId7"/>
          <a:srcRect t="11373"/>
          <a:stretch>
            <a:fillRect/>
          </a:stretch>
        </p:blipFill>
        <p:spPr>
          <a:xfrm>
            <a:off x="8540037" y="1968774"/>
            <a:ext cx="2776991" cy="392162"/>
          </a:xfrm>
          <a:prstGeom prst="rect">
            <a:avLst/>
          </a:prstGeom>
        </p:spPr>
      </p:pic>
      <p:pic>
        <p:nvPicPr>
          <p:cNvPr id="22" name="Picture 21">
            <a:extLst>
              <a:ext uri="{FF2B5EF4-FFF2-40B4-BE49-F238E27FC236}">
                <a16:creationId xmlns:a16="http://schemas.microsoft.com/office/drawing/2014/main" id="{EF47FC83-8B1A-4CFB-75D4-F1575B0B2082}"/>
              </a:ext>
            </a:extLst>
          </p:cNvPr>
          <p:cNvPicPr>
            <a:picLocks noChangeAspect="1"/>
          </p:cNvPicPr>
          <p:nvPr/>
        </p:nvPicPr>
        <p:blipFill>
          <a:blip r:embed="rId6"/>
          <a:srcRect r="27268" b="4845"/>
          <a:stretch>
            <a:fillRect/>
          </a:stretch>
        </p:blipFill>
        <p:spPr>
          <a:xfrm>
            <a:off x="6316257" y="1313644"/>
            <a:ext cx="5233184" cy="442461"/>
          </a:xfrm>
          <a:prstGeom prst="rect">
            <a:avLst/>
          </a:prstGeom>
        </p:spPr>
      </p:pic>
      <p:sp>
        <p:nvSpPr>
          <p:cNvPr id="23" name="TextBox 22">
            <a:extLst>
              <a:ext uri="{FF2B5EF4-FFF2-40B4-BE49-F238E27FC236}">
                <a16:creationId xmlns:a16="http://schemas.microsoft.com/office/drawing/2014/main" id="{A686ADDB-C8FC-9861-7C8C-4225466F2865}"/>
              </a:ext>
            </a:extLst>
          </p:cNvPr>
          <p:cNvSpPr txBox="1"/>
          <p:nvPr/>
        </p:nvSpPr>
        <p:spPr>
          <a:xfrm>
            <a:off x="5927748" y="3924175"/>
            <a:ext cx="1792399" cy="535227"/>
          </a:xfrm>
          <a:prstGeom prst="rect">
            <a:avLst/>
          </a:prstGeom>
          <a:noFill/>
        </p:spPr>
        <p:txBody>
          <a:bodyPr wrap="square">
            <a:noAutofit/>
          </a:bodyPr>
          <a:lstStyle/>
          <a:p>
            <a:pPr algn="l"/>
            <a:r>
              <a:rPr lang="en-US" sz="2400" b="0" dirty="0">
                <a:solidFill>
                  <a:srgbClr val="000000"/>
                </a:solidFill>
              </a:rPr>
              <a:t>Negativity:</a:t>
            </a:r>
            <a:endParaRPr sz="2400" b="0" dirty="0">
              <a:solidFill>
                <a:srgbClr val="000000"/>
              </a:solidFill>
            </a:endParaRPr>
          </a:p>
        </p:txBody>
      </p:sp>
      <p:sp>
        <p:nvSpPr>
          <p:cNvPr id="5" name="TextBox 4">
            <a:extLst>
              <a:ext uri="{FF2B5EF4-FFF2-40B4-BE49-F238E27FC236}">
                <a16:creationId xmlns:a16="http://schemas.microsoft.com/office/drawing/2014/main" id="{FFCDE977-F837-F3B1-7004-A4ADC7C307A7}"/>
              </a:ext>
            </a:extLst>
          </p:cNvPr>
          <p:cNvSpPr txBox="1"/>
          <p:nvPr/>
        </p:nvSpPr>
        <p:spPr>
          <a:xfrm>
            <a:off x="359381" y="4618452"/>
            <a:ext cx="5020059" cy="1331882"/>
          </a:xfrm>
          <a:prstGeom prst="rect">
            <a:avLst/>
          </a:prstGeom>
          <a:noFill/>
          <a:ln>
            <a:solidFill>
              <a:srgbClr val="FF0000"/>
            </a:solidFill>
          </a:ln>
        </p:spPr>
        <p:txBody>
          <a:bodyPr wrap="square">
            <a:noAutofit/>
          </a:bodyPr>
          <a:lstStyle/>
          <a:p>
            <a:pPr algn="l"/>
            <a:r>
              <a:rPr lang="en-US" sz="2600" b="0" dirty="0">
                <a:solidFill>
                  <a:srgbClr val="000000"/>
                </a:solidFill>
              </a:rPr>
              <a:t>Vacuum fluctuations and field mediation transfer entanglement between qubit and qutrit</a:t>
            </a:r>
            <a:endParaRPr sz="2600" b="0" dirty="0">
              <a:solidFill>
                <a:srgbClr val="000000"/>
              </a:solidFill>
            </a:endParaRPr>
          </a:p>
        </p:txBody>
      </p:sp>
      <p:sp>
        <p:nvSpPr>
          <p:cNvPr id="6" name="Rectangle 5">
            <a:extLst>
              <a:ext uri="{FF2B5EF4-FFF2-40B4-BE49-F238E27FC236}">
                <a16:creationId xmlns:a16="http://schemas.microsoft.com/office/drawing/2014/main" id="{8C683E58-D21A-FC4C-BAFE-FF0374D55026}"/>
              </a:ext>
            </a:extLst>
          </p:cNvPr>
          <p:cNvSpPr/>
          <p:nvPr/>
        </p:nvSpPr>
        <p:spPr>
          <a:xfrm>
            <a:off x="1937860" y="3427771"/>
            <a:ext cx="570513" cy="4572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a:extLst>
              <a:ext uri="{FF2B5EF4-FFF2-40B4-BE49-F238E27FC236}">
                <a16:creationId xmlns:a16="http://schemas.microsoft.com/office/drawing/2014/main" id="{C2C54564-6EB5-E0DB-A890-D5BF10FE8F75}"/>
              </a:ext>
            </a:extLst>
          </p:cNvPr>
          <p:cNvSpPr/>
          <p:nvPr/>
        </p:nvSpPr>
        <p:spPr>
          <a:xfrm>
            <a:off x="5133206" y="1800051"/>
            <a:ext cx="492468" cy="4572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Arrow Connector 8">
            <a:extLst>
              <a:ext uri="{FF2B5EF4-FFF2-40B4-BE49-F238E27FC236}">
                <a16:creationId xmlns:a16="http://schemas.microsoft.com/office/drawing/2014/main" id="{91572629-0488-725B-FC61-41FAEE41434E}"/>
              </a:ext>
            </a:extLst>
          </p:cNvPr>
          <p:cNvCxnSpPr>
            <a:cxnSpLocks/>
            <a:stCxn id="5" idx="0"/>
            <a:endCxn id="6" idx="2"/>
          </p:cNvCxnSpPr>
          <p:nvPr/>
        </p:nvCxnSpPr>
        <p:spPr>
          <a:xfrm flipH="1" flipV="1">
            <a:off x="2223117" y="3884971"/>
            <a:ext cx="646294" cy="7334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6EB4FED-A63C-0861-37E1-491802D79471}"/>
              </a:ext>
            </a:extLst>
          </p:cNvPr>
          <p:cNvCxnSpPr>
            <a:cxnSpLocks/>
            <a:stCxn id="5" idx="0"/>
            <a:endCxn id="8" idx="2"/>
          </p:cNvCxnSpPr>
          <p:nvPr/>
        </p:nvCxnSpPr>
        <p:spPr>
          <a:xfrm flipV="1">
            <a:off x="2869411" y="2257251"/>
            <a:ext cx="2510029" cy="23612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30AA904-A7F3-3207-B761-F5C9F0C4A708}"/>
              </a:ext>
            </a:extLst>
          </p:cNvPr>
          <p:cNvSpPr txBox="1"/>
          <p:nvPr/>
        </p:nvSpPr>
        <p:spPr>
          <a:xfrm>
            <a:off x="6139946" y="2705977"/>
            <a:ext cx="4114194" cy="1004416"/>
          </a:xfrm>
          <a:prstGeom prst="rect">
            <a:avLst/>
          </a:prstGeom>
          <a:noFill/>
          <a:ln>
            <a:solidFill>
              <a:srgbClr val="000AFF"/>
            </a:solidFill>
          </a:ln>
        </p:spPr>
        <p:txBody>
          <a:bodyPr wrap="square">
            <a:noAutofit/>
          </a:bodyPr>
          <a:lstStyle/>
          <a:p>
            <a:pPr algn="l"/>
            <a:r>
              <a:rPr lang="en-US" sz="2600" b="0" dirty="0">
                <a:solidFill>
                  <a:srgbClr val="000000"/>
                </a:solidFill>
              </a:rPr>
              <a:t>Vacuum fluctuations transfer contextuality to qutrit</a:t>
            </a:r>
            <a:endParaRPr sz="2600" b="0" dirty="0">
              <a:solidFill>
                <a:srgbClr val="000000"/>
              </a:solidFill>
            </a:endParaRPr>
          </a:p>
        </p:txBody>
      </p:sp>
      <p:sp>
        <p:nvSpPr>
          <p:cNvPr id="13" name="Rectangle 12">
            <a:extLst>
              <a:ext uri="{FF2B5EF4-FFF2-40B4-BE49-F238E27FC236}">
                <a16:creationId xmlns:a16="http://schemas.microsoft.com/office/drawing/2014/main" id="{4BC96743-4E6F-28AD-C51A-3E2498E7F8C1}"/>
              </a:ext>
            </a:extLst>
          </p:cNvPr>
          <p:cNvSpPr/>
          <p:nvPr/>
        </p:nvSpPr>
        <p:spPr>
          <a:xfrm>
            <a:off x="3524756" y="3427771"/>
            <a:ext cx="571432" cy="457200"/>
          </a:xfrm>
          <a:prstGeom prst="rect">
            <a:avLst/>
          </a:prstGeom>
          <a:noFill/>
          <a:ln w="25400">
            <a:solidFill>
              <a:srgbClr val="000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898B10AD-463D-EB84-EF3D-B8BE07021FAD}"/>
              </a:ext>
            </a:extLst>
          </p:cNvPr>
          <p:cNvSpPr/>
          <p:nvPr/>
        </p:nvSpPr>
        <p:spPr>
          <a:xfrm>
            <a:off x="5133206" y="2609965"/>
            <a:ext cx="503773" cy="457200"/>
          </a:xfrm>
          <a:prstGeom prst="rect">
            <a:avLst/>
          </a:prstGeom>
          <a:noFill/>
          <a:ln w="25400">
            <a:solidFill>
              <a:srgbClr val="000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5" name="Straight Arrow Connector 14">
            <a:extLst>
              <a:ext uri="{FF2B5EF4-FFF2-40B4-BE49-F238E27FC236}">
                <a16:creationId xmlns:a16="http://schemas.microsoft.com/office/drawing/2014/main" id="{F516FD7F-BFDE-2143-4526-E2B3D0A7B1FE}"/>
              </a:ext>
            </a:extLst>
          </p:cNvPr>
          <p:cNvCxnSpPr>
            <a:cxnSpLocks/>
            <a:stCxn id="12" idx="1"/>
            <a:endCxn id="13" idx="3"/>
          </p:cNvCxnSpPr>
          <p:nvPr/>
        </p:nvCxnSpPr>
        <p:spPr>
          <a:xfrm flipH="1">
            <a:off x="4096188" y="3208185"/>
            <a:ext cx="2043758" cy="448186"/>
          </a:xfrm>
          <a:prstGeom prst="straightConnector1">
            <a:avLst/>
          </a:prstGeom>
          <a:ln>
            <a:solidFill>
              <a:srgbClr val="000AFF"/>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C522534-2205-B110-F10D-95EEEE6D0F17}"/>
              </a:ext>
            </a:extLst>
          </p:cNvPr>
          <p:cNvCxnSpPr>
            <a:cxnSpLocks/>
            <a:stCxn id="12" idx="1"/>
            <a:endCxn id="14" idx="3"/>
          </p:cNvCxnSpPr>
          <p:nvPr/>
        </p:nvCxnSpPr>
        <p:spPr>
          <a:xfrm flipH="1" flipV="1">
            <a:off x="5636979" y="2838565"/>
            <a:ext cx="502967" cy="369620"/>
          </a:xfrm>
          <a:prstGeom prst="straightConnector1">
            <a:avLst/>
          </a:prstGeom>
          <a:ln>
            <a:solidFill>
              <a:srgbClr val="000AFF"/>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4842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5" grpId="0" animBg="1"/>
      <p:bldP spid="6" grpId="0" animBg="1"/>
      <p:bldP spid="8" grpId="0" animBg="1"/>
      <p:bldP spid="12"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B4349-F7E0-67F2-40A5-071A2D2F21FD}"/>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8E46EE95-509E-1F46-862B-D6AF29AFE4F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E44F75A3-3190-15E1-EA10-F3D26BE39449}"/>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Qubit-Qutrit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22912A94-AEE3-C061-2F85-4FBB37557832}"/>
              </a:ext>
            </a:extLst>
          </p:cNvPr>
          <p:cNvSpPr>
            <a:spLocks noGrp="1"/>
          </p:cNvSpPr>
          <p:nvPr>
            <p:ph type="sldNum" sz="quarter" idx="12"/>
          </p:nvPr>
        </p:nvSpPr>
        <p:spPr/>
        <p:txBody>
          <a:bodyPr/>
          <a:lstStyle/>
          <a:p>
            <a:fld id="{D0617D14-1B55-43C0-819D-0D244AC23646}" type="slidenum">
              <a:rPr lang="de-AT" smtClean="0"/>
              <a:t>18</a:t>
            </a:fld>
            <a:endParaRPr lang="de-AT"/>
          </a:p>
        </p:txBody>
      </p:sp>
      <p:pic>
        <p:nvPicPr>
          <p:cNvPr id="8" name="Picture 7" descr="page13_Im3.jpg">
            <a:extLst>
              <a:ext uri="{FF2B5EF4-FFF2-40B4-BE49-F238E27FC236}">
                <a16:creationId xmlns:a16="http://schemas.microsoft.com/office/drawing/2014/main" id="{2BD50BEB-6C3F-32CC-E6E7-954562E2670E}"/>
              </a:ext>
            </a:extLst>
          </p:cNvPr>
          <p:cNvPicPr>
            <a:picLocks noChangeAspect="1"/>
          </p:cNvPicPr>
          <p:nvPr/>
        </p:nvPicPr>
        <p:blipFill>
          <a:blip r:embed="rId4"/>
          <a:srcRect b="50315"/>
          <a:stretch>
            <a:fillRect/>
          </a:stretch>
        </p:blipFill>
        <p:spPr>
          <a:xfrm>
            <a:off x="146005" y="971377"/>
            <a:ext cx="8136715" cy="4988583"/>
          </a:xfrm>
          <a:prstGeom prst="rect">
            <a:avLst/>
          </a:prstGeom>
        </p:spPr>
      </p:pic>
      <p:sp>
        <p:nvSpPr>
          <p:cNvPr id="9" name="TextBox 8">
            <a:extLst>
              <a:ext uri="{FF2B5EF4-FFF2-40B4-BE49-F238E27FC236}">
                <a16:creationId xmlns:a16="http://schemas.microsoft.com/office/drawing/2014/main" id="{CCCE54BA-7DBB-1448-F092-E0EE552188F8}"/>
              </a:ext>
            </a:extLst>
          </p:cNvPr>
          <p:cNvSpPr txBox="1"/>
          <p:nvPr/>
        </p:nvSpPr>
        <p:spPr>
          <a:xfrm>
            <a:off x="160701" y="7132401"/>
            <a:ext cx="8136715" cy="650000"/>
          </a:xfrm>
          <a:prstGeom prst="rect">
            <a:avLst/>
          </a:prstGeom>
          <a:noFill/>
        </p:spPr>
        <p:txBody>
          <a:bodyPr wrap="square">
            <a:noAutofit/>
          </a:bodyPr>
          <a:lstStyle/>
          <a:p>
            <a:pPr algn="ctr"/>
            <a:r>
              <a:rPr sz="1600" b="0" dirty="0">
                <a:solidFill>
                  <a:srgbClr val="000000"/>
                </a:solidFill>
              </a:rPr>
              <a:t>Figure 2: negativity in the qubit-qutrit system as a function of the shared gap, temporal widths, spatial width, and separation.</a:t>
            </a:r>
          </a:p>
        </p:txBody>
      </p:sp>
      <p:sp>
        <p:nvSpPr>
          <p:cNvPr id="4" name="TextBox 3">
            <a:extLst>
              <a:ext uri="{FF2B5EF4-FFF2-40B4-BE49-F238E27FC236}">
                <a16:creationId xmlns:a16="http://schemas.microsoft.com/office/drawing/2014/main" id="{FF6BE082-CE22-7886-B2CB-1F08F94FEFE6}"/>
              </a:ext>
            </a:extLst>
          </p:cNvPr>
          <p:cNvSpPr txBox="1"/>
          <p:nvPr/>
        </p:nvSpPr>
        <p:spPr>
          <a:xfrm>
            <a:off x="8480575" y="852413"/>
            <a:ext cx="3533234" cy="510458"/>
          </a:xfrm>
          <a:prstGeom prst="rect">
            <a:avLst/>
          </a:prstGeom>
          <a:noFill/>
        </p:spPr>
        <p:txBody>
          <a:bodyPr wrap="square">
            <a:noAutofit/>
          </a:bodyPr>
          <a:lstStyle/>
          <a:p>
            <a:pPr algn="l"/>
            <a:r>
              <a:rPr lang="en-US" sz="2400" b="0" u="sng" dirty="0">
                <a:solidFill>
                  <a:srgbClr val="000000"/>
                </a:solidFill>
              </a:rPr>
              <a:t>Smaller system separation</a:t>
            </a:r>
            <a:endParaRPr sz="2400" b="0" u="sng" dirty="0">
              <a:solidFill>
                <a:srgbClr val="000000"/>
              </a:solidFill>
            </a:endParaRPr>
          </a:p>
        </p:txBody>
      </p:sp>
      <p:sp>
        <p:nvSpPr>
          <p:cNvPr id="6" name="TextBox 5">
            <a:extLst>
              <a:ext uri="{FF2B5EF4-FFF2-40B4-BE49-F238E27FC236}">
                <a16:creationId xmlns:a16="http://schemas.microsoft.com/office/drawing/2014/main" id="{94592B3E-A81B-235E-0AC6-A76037FDD280}"/>
              </a:ext>
            </a:extLst>
          </p:cNvPr>
          <p:cNvSpPr txBox="1"/>
          <p:nvPr/>
        </p:nvSpPr>
        <p:spPr>
          <a:xfrm>
            <a:off x="8389135" y="1435645"/>
            <a:ext cx="3863825" cy="4524315"/>
          </a:xfrm>
          <a:prstGeom prst="rect">
            <a:avLst/>
          </a:prstGeom>
          <a:noFill/>
        </p:spPr>
        <p:txBody>
          <a:bodyPr wrap="square">
            <a:spAutoFit/>
          </a:bodyPr>
          <a:lstStyle/>
          <a:p>
            <a:pPr marL="285750" indent="-285750" algn="l">
              <a:buFont typeface="Arial" panose="020B0604020202020204" pitchFamily="34" charset="0"/>
              <a:buChar char="•"/>
            </a:pPr>
            <a:r>
              <a:rPr lang="en-US" sz="2400" b="0" dirty="0">
                <a:solidFill>
                  <a:srgbClr val="000000"/>
                </a:solidFill>
              </a:rPr>
              <a:t>Adding a qubit allows the joint system to harvest negativity while the qutrit still carries local contextuality</a:t>
            </a:r>
            <a:br>
              <a:rPr lang="en-US" sz="2400" b="0" dirty="0">
                <a:solidFill>
                  <a:srgbClr val="000000"/>
                </a:solidFill>
              </a:rPr>
            </a:br>
            <a:endParaRPr lang="en-US" sz="2400" b="0" dirty="0">
              <a:solidFill>
                <a:srgbClr val="000000"/>
              </a:solidFill>
            </a:endParaRPr>
          </a:p>
          <a:p>
            <a:pPr marL="285750" indent="-285750" algn="l">
              <a:buFont typeface="Arial" panose="020B0604020202020204" pitchFamily="34" charset="0"/>
              <a:buChar char="•"/>
            </a:pPr>
            <a:r>
              <a:rPr lang="en-US" sz="2400" b="0" dirty="0">
                <a:solidFill>
                  <a:srgbClr val="000000"/>
                </a:solidFill>
              </a:rPr>
              <a:t>The two resource windows need not coincide, so they can compete, align, or separate as the detector profiles and separation are varied</a:t>
            </a:r>
          </a:p>
        </p:txBody>
      </p:sp>
    </p:spTree>
    <p:custDataLst>
      <p:tags r:id="rId1"/>
    </p:custDataLst>
    <p:extLst>
      <p:ext uri="{BB962C8B-B14F-4D97-AF65-F5344CB8AC3E}">
        <p14:creationId xmlns:p14="http://schemas.microsoft.com/office/powerpoint/2010/main" val="3011261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C66DDE-C660-049F-886B-D795ED79F215}"/>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7FC9D3AB-124C-E692-674F-8FC3DB079D08}"/>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78EC07D5-A336-BADE-D860-031305FEC81C}"/>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Qubit-Qutrit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7DA498D3-0DCD-22CD-DD80-261645D52866}"/>
              </a:ext>
            </a:extLst>
          </p:cNvPr>
          <p:cNvSpPr>
            <a:spLocks noGrp="1"/>
          </p:cNvSpPr>
          <p:nvPr>
            <p:ph type="sldNum" sz="quarter" idx="12"/>
          </p:nvPr>
        </p:nvSpPr>
        <p:spPr/>
        <p:txBody>
          <a:bodyPr/>
          <a:lstStyle/>
          <a:p>
            <a:fld id="{D0617D14-1B55-43C0-819D-0D244AC23646}" type="slidenum">
              <a:rPr lang="de-AT" smtClean="0"/>
              <a:t>19</a:t>
            </a:fld>
            <a:endParaRPr lang="de-AT"/>
          </a:p>
        </p:txBody>
      </p:sp>
      <p:pic>
        <p:nvPicPr>
          <p:cNvPr id="8" name="Picture 7" descr="page13_Im3.jpg">
            <a:extLst>
              <a:ext uri="{FF2B5EF4-FFF2-40B4-BE49-F238E27FC236}">
                <a16:creationId xmlns:a16="http://schemas.microsoft.com/office/drawing/2014/main" id="{30DC15EF-2D09-EABD-0D2D-3DA4A4FE97C1}"/>
              </a:ext>
            </a:extLst>
          </p:cNvPr>
          <p:cNvPicPr>
            <a:picLocks noChangeAspect="1"/>
          </p:cNvPicPr>
          <p:nvPr/>
        </p:nvPicPr>
        <p:blipFill>
          <a:blip r:embed="rId4"/>
          <a:srcRect t="50496"/>
          <a:stretch>
            <a:fillRect/>
          </a:stretch>
        </p:blipFill>
        <p:spPr>
          <a:xfrm>
            <a:off x="128878" y="972457"/>
            <a:ext cx="8393971" cy="5127591"/>
          </a:xfrm>
          <a:prstGeom prst="rect">
            <a:avLst/>
          </a:prstGeom>
        </p:spPr>
      </p:pic>
      <p:sp>
        <p:nvSpPr>
          <p:cNvPr id="9" name="TextBox 8">
            <a:extLst>
              <a:ext uri="{FF2B5EF4-FFF2-40B4-BE49-F238E27FC236}">
                <a16:creationId xmlns:a16="http://schemas.microsoft.com/office/drawing/2014/main" id="{7EF7BE0D-59A6-3F99-74F4-37D81E7A647B}"/>
              </a:ext>
            </a:extLst>
          </p:cNvPr>
          <p:cNvSpPr txBox="1"/>
          <p:nvPr/>
        </p:nvSpPr>
        <p:spPr>
          <a:xfrm>
            <a:off x="1479" y="11610616"/>
            <a:ext cx="8136715" cy="650000"/>
          </a:xfrm>
          <a:prstGeom prst="rect">
            <a:avLst/>
          </a:prstGeom>
          <a:noFill/>
        </p:spPr>
        <p:txBody>
          <a:bodyPr wrap="square">
            <a:noAutofit/>
          </a:bodyPr>
          <a:lstStyle/>
          <a:p>
            <a:pPr algn="ctr"/>
            <a:r>
              <a:rPr sz="1600" b="0" dirty="0">
                <a:solidFill>
                  <a:srgbClr val="000000"/>
                </a:solidFill>
              </a:rPr>
              <a:t>Figure 2: negativity in the qubit-qutrit system as a function of the shared gap, temporal widths, spatial width, and separation.</a:t>
            </a:r>
          </a:p>
        </p:txBody>
      </p:sp>
      <p:sp>
        <p:nvSpPr>
          <p:cNvPr id="4" name="TextBox 3">
            <a:extLst>
              <a:ext uri="{FF2B5EF4-FFF2-40B4-BE49-F238E27FC236}">
                <a16:creationId xmlns:a16="http://schemas.microsoft.com/office/drawing/2014/main" id="{8B5DE3BA-3739-5985-5C37-F14C6594087A}"/>
              </a:ext>
            </a:extLst>
          </p:cNvPr>
          <p:cNvSpPr txBox="1"/>
          <p:nvPr/>
        </p:nvSpPr>
        <p:spPr>
          <a:xfrm>
            <a:off x="8658766" y="972457"/>
            <a:ext cx="3533234" cy="510458"/>
          </a:xfrm>
          <a:prstGeom prst="rect">
            <a:avLst/>
          </a:prstGeom>
          <a:noFill/>
        </p:spPr>
        <p:txBody>
          <a:bodyPr wrap="square">
            <a:noAutofit/>
          </a:bodyPr>
          <a:lstStyle/>
          <a:p>
            <a:pPr algn="l"/>
            <a:r>
              <a:rPr lang="en-US" sz="2400" u="sng" dirty="0">
                <a:solidFill>
                  <a:srgbClr val="000000"/>
                </a:solidFill>
              </a:rPr>
              <a:t>Larger</a:t>
            </a:r>
            <a:r>
              <a:rPr lang="en-US" sz="2400" b="0" u="sng" dirty="0">
                <a:solidFill>
                  <a:srgbClr val="000000"/>
                </a:solidFill>
              </a:rPr>
              <a:t> system separation</a:t>
            </a:r>
            <a:endParaRPr sz="2400" b="0" u="sng" dirty="0">
              <a:solidFill>
                <a:srgbClr val="000000"/>
              </a:solidFill>
            </a:endParaRPr>
          </a:p>
        </p:txBody>
      </p:sp>
      <p:sp>
        <p:nvSpPr>
          <p:cNvPr id="5" name="TextBox 4">
            <a:extLst>
              <a:ext uri="{FF2B5EF4-FFF2-40B4-BE49-F238E27FC236}">
                <a16:creationId xmlns:a16="http://schemas.microsoft.com/office/drawing/2014/main" id="{A9461671-7A54-9448-E467-C22234075C05}"/>
              </a:ext>
            </a:extLst>
          </p:cNvPr>
          <p:cNvSpPr txBox="1"/>
          <p:nvPr/>
        </p:nvSpPr>
        <p:spPr>
          <a:xfrm>
            <a:off x="8794683" y="1482915"/>
            <a:ext cx="3143767" cy="2650000"/>
          </a:xfrm>
          <a:prstGeom prst="rect">
            <a:avLst/>
          </a:prstGeom>
          <a:noFill/>
        </p:spPr>
        <p:txBody>
          <a:bodyPr wrap="square">
            <a:noAutofit/>
          </a:bodyPr>
          <a:lstStyle/>
          <a:p>
            <a:pPr marL="457200" indent="-457200">
              <a:buFont typeface="Arial" panose="020B0604020202020204" pitchFamily="34" charset="0"/>
              <a:buChar char="•"/>
            </a:pPr>
            <a:r>
              <a:rPr lang="en-US" sz="2400" dirty="0">
                <a:solidFill>
                  <a:srgbClr val="000000"/>
                </a:solidFill>
              </a:rPr>
              <a:t>Most entanglement harvesting is destroyed at this distance</a:t>
            </a:r>
          </a:p>
          <a:p>
            <a:pPr marL="457200" indent="-457200">
              <a:buFont typeface="Arial" panose="020B0604020202020204" pitchFamily="34" charset="0"/>
              <a:buChar char="•"/>
            </a:pPr>
            <a:endParaRPr sz="2600" dirty="0">
              <a:solidFill>
                <a:srgbClr val="000000"/>
              </a:solidFill>
            </a:endParaRPr>
          </a:p>
        </p:txBody>
      </p:sp>
    </p:spTree>
    <p:custDataLst>
      <p:tags r:id="rId1"/>
    </p:custDataLst>
    <p:extLst>
      <p:ext uri="{BB962C8B-B14F-4D97-AF65-F5344CB8AC3E}">
        <p14:creationId xmlns:p14="http://schemas.microsoft.com/office/powerpoint/2010/main" val="3138563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AAB6547-DF81-2858-C289-B1B77FFA48B3}"/>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64EEE9D-A2EE-6F3D-3574-C547835736E9}"/>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15A0880B-5289-E661-2FF6-0973D6739B06}"/>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Qubit-Qutrit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BDABB0E4-E7E8-08ED-6F20-91F019787A6A}"/>
              </a:ext>
            </a:extLst>
          </p:cNvPr>
          <p:cNvSpPr>
            <a:spLocks noGrp="1"/>
          </p:cNvSpPr>
          <p:nvPr>
            <p:ph type="sldNum" sz="quarter" idx="12"/>
          </p:nvPr>
        </p:nvSpPr>
        <p:spPr/>
        <p:txBody>
          <a:bodyPr/>
          <a:lstStyle/>
          <a:p>
            <a:fld id="{D0617D14-1B55-43C0-819D-0D244AC23646}" type="slidenum">
              <a:rPr lang="de-AT" smtClean="0"/>
              <a:t>20</a:t>
            </a:fld>
            <a:endParaRPr lang="de-AT"/>
          </a:p>
        </p:txBody>
      </p:sp>
      <p:sp>
        <p:nvSpPr>
          <p:cNvPr id="9" name="TextBox 8">
            <a:extLst>
              <a:ext uri="{FF2B5EF4-FFF2-40B4-BE49-F238E27FC236}">
                <a16:creationId xmlns:a16="http://schemas.microsoft.com/office/drawing/2014/main" id="{89A9E0DB-E7BA-F4B0-A13E-39A2B0740D02}"/>
              </a:ext>
            </a:extLst>
          </p:cNvPr>
          <p:cNvSpPr txBox="1"/>
          <p:nvPr/>
        </p:nvSpPr>
        <p:spPr>
          <a:xfrm>
            <a:off x="1479" y="11610616"/>
            <a:ext cx="8136715" cy="650000"/>
          </a:xfrm>
          <a:prstGeom prst="rect">
            <a:avLst/>
          </a:prstGeom>
          <a:noFill/>
        </p:spPr>
        <p:txBody>
          <a:bodyPr wrap="square">
            <a:noAutofit/>
          </a:bodyPr>
          <a:lstStyle/>
          <a:p>
            <a:pPr algn="ctr"/>
            <a:r>
              <a:rPr sz="1600" b="0" dirty="0">
                <a:solidFill>
                  <a:srgbClr val="000000"/>
                </a:solidFill>
              </a:rPr>
              <a:t>Figure 2: negativity in the qubit-qutrit system as a function of the shared gap, temporal widths, spatial width, and separation.</a:t>
            </a:r>
          </a:p>
        </p:txBody>
      </p:sp>
      <p:sp>
        <p:nvSpPr>
          <p:cNvPr id="10" name="Rounded Rectangle 9">
            <a:extLst>
              <a:ext uri="{FF2B5EF4-FFF2-40B4-BE49-F238E27FC236}">
                <a16:creationId xmlns:a16="http://schemas.microsoft.com/office/drawing/2014/main" id="{848E7919-1C88-7039-50A5-96E2DBA663B6}"/>
              </a:ext>
            </a:extLst>
          </p:cNvPr>
          <p:cNvSpPr/>
          <p:nvPr/>
        </p:nvSpPr>
        <p:spPr>
          <a:xfrm>
            <a:off x="605262" y="1766871"/>
            <a:ext cx="2274931" cy="1571985"/>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u="sng" dirty="0">
                <a:solidFill>
                  <a:srgbClr val="000000"/>
                </a:solidFill>
              </a:rPr>
              <a:t>Energy Gap </a:t>
            </a:r>
            <a:r>
              <a:rPr sz="2400" b="1" u="sng" dirty="0" err="1">
                <a:solidFill>
                  <a:srgbClr val="000000"/>
                </a:solidFill>
              </a:rPr>
              <a:t>Ω</a:t>
            </a:r>
            <a:endParaRPr sz="2400" b="1" u="sng" dirty="0">
              <a:solidFill>
                <a:srgbClr val="000000"/>
              </a:solidFill>
            </a:endParaRPr>
          </a:p>
          <a:p>
            <a:pPr algn="ctr"/>
            <a:r>
              <a:rPr sz="2400" dirty="0">
                <a:solidFill>
                  <a:srgbClr val="000000"/>
                </a:solidFill>
              </a:rPr>
              <a:t>Both resources fade for large gaps</a:t>
            </a:r>
          </a:p>
        </p:txBody>
      </p:sp>
      <p:sp>
        <p:nvSpPr>
          <p:cNvPr id="13" name="Rounded Rectangle 12">
            <a:extLst>
              <a:ext uri="{FF2B5EF4-FFF2-40B4-BE49-F238E27FC236}">
                <a16:creationId xmlns:a16="http://schemas.microsoft.com/office/drawing/2014/main" id="{0F31349A-B6D1-10EC-D2FD-15F8444E1685}"/>
              </a:ext>
            </a:extLst>
          </p:cNvPr>
          <p:cNvSpPr/>
          <p:nvPr/>
        </p:nvSpPr>
        <p:spPr>
          <a:xfrm>
            <a:off x="3190146" y="1766871"/>
            <a:ext cx="2683115" cy="1571985"/>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u="sng" dirty="0">
                <a:solidFill>
                  <a:srgbClr val="000000"/>
                </a:solidFill>
              </a:rPr>
              <a:t>Spatial Width </a:t>
            </a:r>
            <a:r>
              <a:rPr sz="2400" b="1" u="sng" dirty="0" err="1">
                <a:solidFill>
                  <a:srgbClr val="000000"/>
                </a:solidFill>
              </a:rPr>
              <a:t>σ</a:t>
            </a:r>
            <a:endParaRPr sz="2400" b="1" u="sng" dirty="0">
              <a:solidFill>
                <a:srgbClr val="000000"/>
              </a:solidFill>
            </a:endParaRPr>
          </a:p>
          <a:p>
            <a:pPr algn="ctr"/>
            <a:r>
              <a:rPr sz="2400" dirty="0">
                <a:solidFill>
                  <a:srgbClr val="000000"/>
                </a:solidFill>
              </a:rPr>
              <a:t>Smaller smearing generally amplifies harvesting</a:t>
            </a:r>
          </a:p>
        </p:txBody>
      </p:sp>
      <p:sp>
        <p:nvSpPr>
          <p:cNvPr id="14" name="Rounded Rectangle 13">
            <a:extLst>
              <a:ext uri="{FF2B5EF4-FFF2-40B4-BE49-F238E27FC236}">
                <a16:creationId xmlns:a16="http://schemas.microsoft.com/office/drawing/2014/main" id="{07BEE5B5-A2BD-4282-9FE4-AB7F5C770374}"/>
              </a:ext>
            </a:extLst>
          </p:cNvPr>
          <p:cNvSpPr/>
          <p:nvPr/>
        </p:nvSpPr>
        <p:spPr>
          <a:xfrm>
            <a:off x="605262" y="3607556"/>
            <a:ext cx="2274931" cy="2312598"/>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u="sng" dirty="0">
                <a:solidFill>
                  <a:srgbClr val="000000"/>
                </a:solidFill>
              </a:rPr>
              <a:t>Temporal Width T</a:t>
            </a:r>
          </a:p>
          <a:p>
            <a:pPr algn="ctr"/>
            <a:r>
              <a:rPr sz="2400" dirty="0">
                <a:solidFill>
                  <a:srgbClr val="000000"/>
                </a:solidFill>
              </a:rPr>
              <a:t>Controls peak alignment and </a:t>
            </a:r>
            <a:r>
              <a:rPr sz="2400" dirty="0" err="1">
                <a:solidFill>
                  <a:srgbClr val="000000"/>
                </a:solidFill>
              </a:rPr>
              <a:t>signalling</a:t>
            </a:r>
            <a:r>
              <a:rPr sz="2400" dirty="0">
                <a:solidFill>
                  <a:srgbClr val="000000"/>
                </a:solidFill>
              </a:rPr>
              <a:t> contamination</a:t>
            </a:r>
          </a:p>
        </p:txBody>
      </p:sp>
      <p:sp>
        <p:nvSpPr>
          <p:cNvPr id="15" name="Rounded Rectangle 14">
            <a:extLst>
              <a:ext uri="{FF2B5EF4-FFF2-40B4-BE49-F238E27FC236}">
                <a16:creationId xmlns:a16="http://schemas.microsoft.com/office/drawing/2014/main" id="{83347673-7B5E-F0E3-C445-B877B5393648}"/>
              </a:ext>
            </a:extLst>
          </p:cNvPr>
          <p:cNvSpPr/>
          <p:nvPr/>
        </p:nvSpPr>
        <p:spPr>
          <a:xfrm>
            <a:off x="3190147" y="3607556"/>
            <a:ext cx="2683114" cy="2035526"/>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u="sng" dirty="0">
                <a:solidFill>
                  <a:srgbClr val="000000"/>
                </a:solidFill>
              </a:rPr>
              <a:t>Separation L</a:t>
            </a:r>
          </a:p>
          <a:p>
            <a:pPr algn="ctr"/>
            <a:r>
              <a:rPr sz="2400" dirty="0">
                <a:solidFill>
                  <a:srgbClr val="000000"/>
                </a:solidFill>
              </a:rPr>
              <a:t>Nonlocal entanglement dies sooner than local contextuality</a:t>
            </a:r>
          </a:p>
        </p:txBody>
      </p:sp>
      <p:sp>
        <p:nvSpPr>
          <p:cNvPr id="16" name="Rounded Rectangle 15">
            <a:extLst>
              <a:ext uri="{FF2B5EF4-FFF2-40B4-BE49-F238E27FC236}">
                <a16:creationId xmlns:a16="http://schemas.microsoft.com/office/drawing/2014/main" id="{26DD500B-7E3E-2AC7-8AC3-443E8ACBF599}"/>
              </a:ext>
            </a:extLst>
          </p:cNvPr>
          <p:cNvSpPr/>
          <p:nvPr/>
        </p:nvSpPr>
        <p:spPr>
          <a:xfrm>
            <a:off x="6453154" y="1309643"/>
            <a:ext cx="4865077" cy="2816623"/>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u="sng" dirty="0">
                <a:solidFill>
                  <a:srgbClr val="000000"/>
                </a:solidFill>
              </a:rPr>
              <a:t>Coexistence Window</a:t>
            </a:r>
          </a:p>
          <a:p>
            <a:r>
              <a:rPr sz="2400" dirty="0">
                <a:solidFill>
                  <a:srgbClr val="000000"/>
                </a:solidFill>
              </a:rPr>
              <a:t>Fix the qutrit in a low-gap, high-contextuality regime and widen the qubit temporal profile to pull the negativity peak toward the same region.</a:t>
            </a:r>
            <a:r>
              <a:rPr lang="en-US" sz="2400" dirty="0">
                <a:solidFill>
                  <a:srgbClr val="000000"/>
                </a:solidFill>
              </a:rPr>
              <a:t> Both can coexist inside a controllable overlap region.</a:t>
            </a:r>
            <a:endParaRPr sz="2400" dirty="0">
              <a:solidFill>
                <a:srgbClr val="000000"/>
              </a:solidFill>
            </a:endParaRPr>
          </a:p>
        </p:txBody>
      </p:sp>
      <p:sp>
        <p:nvSpPr>
          <p:cNvPr id="24" name="TextBox 23">
            <a:extLst>
              <a:ext uri="{FF2B5EF4-FFF2-40B4-BE49-F238E27FC236}">
                <a16:creationId xmlns:a16="http://schemas.microsoft.com/office/drawing/2014/main" id="{FF926669-43D9-920B-0649-ED13DA0CDF61}"/>
              </a:ext>
            </a:extLst>
          </p:cNvPr>
          <p:cNvSpPr txBox="1"/>
          <p:nvPr/>
        </p:nvSpPr>
        <p:spPr>
          <a:xfrm>
            <a:off x="395659" y="1058553"/>
            <a:ext cx="3409195" cy="535227"/>
          </a:xfrm>
          <a:prstGeom prst="rect">
            <a:avLst/>
          </a:prstGeom>
          <a:noFill/>
        </p:spPr>
        <p:txBody>
          <a:bodyPr wrap="square">
            <a:noAutofit/>
          </a:bodyPr>
          <a:lstStyle/>
          <a:p>
            <a:pPr algn="l"/>
            <a:r>
              <a:rPr lang="en-US" sz="2400" u="sng" dirty="0">
                <a:solidFill>
                  <a:srgbClr val="000000"/>
                </a:solidFill>
              </a:rPr>
              <a:t>Harvesting </a:t>
            </a:r>
            <a:r>
              <a:rPr lang="en-US" sz="2400" u="sng" dirty="0" err="1">
                <a:solidFill>
                  <a:srgbClr val="000000"/>
                </a:solidFill>
              </a:rPr>
              <a:t>Behaviour</a:t>
            </a:r>
            <a:endParaRPr sz="2400" b="0" u="sng" dirty="0">
              <a:solidFill>
                <a:srgbClr val="000000"/>
              </a:solidFill>
            </a:endParaRPr>
          </a:p>
        </p:txBody>
      </p:sp>
      <p:sp>
        <p:nvSpPr>
          <p:cNvPr id="25" name="Rounded Rectangle 24">
            <a:extLst>
              <a:ext uri="{FF2B5EF4-FFF2-40B4-BE49-F238E27FC236}">
                <a16:creationId xmlns:a16="http://schemas.microsoft.com/office/drawing/2014/main" id="{3705F444-03EB-D4E6-0A42-74D3C92DE82E}"/>
              </a:ext>
            </a:extLst>
          </p:cNvPr>
          <p:cNvSpPr/>
          <p:nvPr/>
        </p:nvSpPr>
        <p:spPr>
          <a:xfrm>
            <a:off x="6877053" y="4501952"/>
            <a:ext cx="4017277" cy="1141130"/>
          </a:xfrm>
          <a:prstGeom prst="round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100000" tIns="50000" rIns="100000" bIns="50000" rtlCol="0" anchor="ctr">
            <a:noAutofit/>
          </a:bodyPr>
          <a:lstStyle/>
          <a:p>
            <a:pPr algn="ctr"/>
            <a:r>
              <a:rPr lang="en-US" sz="2400" b="0" dirty="0">
                <a:solidFill>
                  <a:srgbClr val="000000"/>
                </a:solidFill>
              </a:rPr>
              <a:t>Non-classicality remains in the system even at large separation </a:t>
            </a:r>
            <a:endParaRPr sz="2400" b="0" dirty="0">
              <a:solidFill>
                <a:srgbClr val="000000"/>
              </a:solidFill>
            </a:endParaRPr>
          </a:p>
        </p:txBody>
      </p:sp>
    </p:spTree>
    <p:custDataLst>
      <p:tags r:id="rId1"/>
    </p:custDataLst>
    <p:extLst>
      <p:ext uri="{BB962C8B-B14F-4D97-AF65-F5344CB8AC3E}">
        <p14:creationId xmlns:p14="http://schemas.microsoft.com/office/powerpoint/2010/main" val="87137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RQI Circuit 2026, Wien I Phil LeMaitre I 05.06.2026</a:t>
            </a:r>
          </a:p>
        </p:txBody>
      </p:sp>
      <p:sp>
        <p:nvSpPr>
          <p:cNvPr id="9" name="Titel 1">
            <a:extLst>
              <a:ext uri="{FF2B5EF4-FFF2-40B4-BE49-F238E27FC236}">
                <a16:creationId xmlns:a16="http://schemas.microsoft.com/office/drawing/2014/main" id="{135DD113-A52E-C9F7-3CB3-DD39A0310BBD}"/>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Key Takeaways</a:t>
            </a:r>
          </a:p>
        </p:txBody>
      </p:sp>
      <p:sp>
        <p:nvSpPr>
          <p:cNvPr id="10" name="Slide Number Placeholder 9">
            <a:extLst>
              <a:ext uri="{FF2B5EF4-FFF2-40B4-BE49-F238E27FC236}">
                <a16:creationId xmlns:a16="http://schemas.microsoft.com/office/drawing/2014/main" id="{52CAF501-DE31-60BB-2730-6EC8F9EE905F}"/>
              </a:ext>
            </a:extLst>
          </p:cNvPr>
          <p:cNvSpPr>
            <a:spLocks noGrp="1"/>
          </p:cNvSpPr>
          <p:nvPr>
            <p:ph type="sldNum" sz="quarter" idx="12"/>
          </p:nvPr>
        </p:nvSpPr>
        <p:spPr/>
        <p:txBody>
          <a:bodyPr/>
          <a:lstStyle/>
          <a:p>
            <a:fld id="{D0617D14-1B55-43C0-819D-0D244AC23646}" type="slidenum">
              <a:rPr lang="de-AT" smtClean="0"/>
              <a:t>21</a:t>
            </a:fld>
            <a:endParaRPr lang="de-AT"/>
          </a:p>
        </p:txBody>
      </p:sp>
      <p:sp>
        <p:nvSpPr>
          <p:cNvPr id="3" name="Shape 105">
            <a:extLst>
              <a:ext uri="{FF2B5EF4-FFF2-40B4-BE49-F238E27FC236}">
                <a16:creationId xmlns:a16="http://schemas.microsoft.com/office/drawing/2014/main" id="{EEED89A7-1A78-38B2-C532-F199D1A77BDD}"/>
              </a:ext>
            </a:extLst>
          </p:cNvPr>
          <p:cNvSpPr/>
          <p:nvPr/>
        </p:nvSpPr>
        <p:spPr>
          <a:xfrm>
            <a:off x="832189" y="1454226"/>
            <a:ext cx="502920" cy="347472"/>
          </a:xfrm>
          <a:prstGeom prst="ellipse">
            <a:avLst/>
          </a:prstGeom>
          <a:solidFill>
            <a:srgbClr val="F4CCCC"/>
          </a:solidFill>
          <a:ln w="12700">
            <a:solidFill>
              <a:srgbClr val="D58F8F"/>
            </a:solidFill>
            <a:prstDash val="solid"/>
          </a:ln>
        </p:spPr>
        <p:txBody>
          <a:bodyPr/>
          <a:lstStyle/>
          <a:p>
            <a:endParaRPr/>
          </a:p>
        </p:txBody>
      </p:sp>
      <p:sp>
        <p:nvSpPr>
          <p:cNvPr id="4" name="Text 106">
            <a:extLst>
              <a:ext uri="{FF2B5EF4-FFF2-40B4-BE49-F238E27FC236}">
                <a16:creationId xmlns:a16="http://schemas.microsoft.com/office/drawing/2014/main" id="{A8DFFCBE-B896-3C62-3F69-B9D2F353BB8C}"/>
              </a:ext>
            </a:extLst>
          </p:cNvPr>
          <p:cNvSpPr/>
          <p:nvPr/>
        </p:nvSpPr>
        <p:spPr>
          <a:xfrm>
            <a:off x="969349" y="1499946"/>
            <a:ext cx="228600" cy="146304"/>
          </a:xfrm>
          <a:prstGeom prst="rect">
            <a:avLst/>
          </a:prstGeom>
          <a:noFill/>
          <a:ln/>
        </p:spPr>
        <p:txBody>
          <a:bodyPr wrap="square" rtlCol="0" anchor="ctr"/>
          <a:lstStyle/>
          <a:p>
            <a:pPr marL="0" indent="0" algn="ctr">
              <a:buNone/>
            </a:pPr>
            <a:r>
              <a:rPr lang="en-US" sz="4000" b="1" dirty="0">
                <a:solidFill>
                  <a:srgbClr val="003366"/>
                </a:solidFill>
              </a:rPr>
              <a:t>1</a:t>
            </a:r>
            <a:endParaRPr lang="en-US" sz="1100" dirty="0"/>
          </a:p>
        </p:txBody>
      </p:sp>
      <p:sp>
        <p:nvSpPr>
          <p:cNvPr id="6" name="Text 107">
            <a:extLst>
              <a:ext uri="{FF2B5EF4-FFF2-40B4-BE49-F238E27FC236}">
                <a16:creationId xmlns:a16="http://schemas.microsoft.com/office/drawing/2014/main" id="{4B348E03-3AC2-BC07-49E0-28F9CF35CCA1}"/>
              </a:ext>
            </a:extLst>
          </p:cNvPr>
          <p:cNvSpPr/>
          <p:nvPr/>
        </p:nvSpPr>
        <p:spPr>
          <a:xfrm>
            <a:off x="1472269" y="1435938"/>
            <a:ext cx="8257885" cy="876320"/>
          </a:xfrm>
          <a:prstGeom prst="rect">
            <a:avLst/>
          </a:prstGeom>
          <a:noFill/>
          <a:ln/>
        </p:spPr>
        <p:txBody>
          <a:bodyPr wrap="square" lIns="508" tIns="508" rIns="508" bIns="508" rtlCol="0" anchor="t"/>
          <a:lstStyle/>
          <a:p>
            <a:pPr marL="0" indent="0" algn="l">
              <a:buNone/>
            </a:pPr>
            <a:r>
              <a:rPr lang="en-US" sz="2400" b="1" dirty="0">
                <a:ea typeface="Aptos" pitchFamily="34" charset="-122"/>
                <a:cs typeface="Aptos" pitchFamily="34" charset="-120"/>
              </a:rPr>
              <a:t>Single</a:t>
            </a:r>
            <a:r>
              <a:rPr lang="en-US" sz="2400" dirty="0">
                <a:ea typeface="Aptos" pitchFamily="34" charset="-122"/>
                <a:cs typeface="Aptos" pitchFamily="34" charset="-120"/>
              </a:rPr>
              <a:t> qutrits harvest contextuality from vacuum correlations.</a:t>
            </a:r>
            <a:endParaRPr lang="en-US" sz="2400" dirty="0"/>
          </a:p>
        </p:txBody>
      </p:sp>
      <p:sp>
        <p:nvSpPr>
          <p:cNvPr id="7" name="Shape 108">
            <a:extLst>
              <a:ext uri="{FF2B5EF4-FFF2-40B4-BE49-F238E27FC236}">
                <a16:creationId xmlns:a16="http://schemas.microsoft.com/office/drawing/2014/main" id="{1E6AA732-BF6A-1069-3295-A760F5950D23}"/>
              </a:ext>
            </a:extLst>
          </p:cNvPr>
          <p:cNvSpPr/>
          <p:nvPr/>
        </p:nvSpPr>
        <p:spPr>
          <a:xfrm>
            <a:off x="832189" y="2448492"/>
            <a:ext cx="502920" cy="347472"/>
          </a:xfrm>
          <a:prstGeom prst="ellipse">
            <a:avLst/>
          </a:prstGeom>
          <a:solidFill>
            <a:srgbClr val="F4CCCC"/>
          </a:solidFill>
          <a:ln w="12700">
            <a:solidFill>
              <a:srgbClr val="D58F8F"/>
            </a:solidFill>
            <a:prstDash val="solid"/>
          </a:ln>
        </p:spPr>
        <p:txBody>
          <a:bodyPr/>
          <a:lstStyle/>
          <a:p>
            <a:endParaRPr/>
          </a:p>
        </p:txBody>
      </p:sp>
      <p:sp>
        <p:nvSpPr>
          <p:cNvPr id="8" name="Text 109">
            <a:extLst>
              <a:ext uri="{FF2B5EF4-FFF2-40B4-BE49-F238E27FC236}">
                <a16:creationId xmlns:a16="http://schemas.microsoft.com/office/drawing/2014/main" id="{EB97439A-9473-88D7-3BF1-E589049B3D59}"/>
              </a:ext>
            </a:extLst>
          </p:cNvPr>
          <p:cNvSpPr/>
          <p:nvPr/>
        </p:nvSpPr>
        <p:spPr>
          <a:xfrm>
            <a:off x="969349" y="2494212"/>
            <a:ext cx="228600" cy="146304"/>
          </a:xfrm>
          <a:prstGeom prst="rect">
            <a:avLst/>
          </a:prstGeom>
          <a:noFill/>
          <a:ln/>
        </p:spPr>
        <p:txBody>
          <a:bodyPr wrap="square" rtlCol="0" anchor="ctr"/>
          <a:lstStyle/>
          <a:p>
            <a:pPr marL="0" indent="0" algn="ctr">
              <a:buNone/>
            </a:pPr>
            <a:r>
              <a:rPr lang="en-US" sz="4000" b="1" dirty="0">
                <a:solidFill>
                  <a:srgbClr val="003366"/>
                </a:solidFill>
              </a:rPr>
              <a:t>2</a:t>
            </a:r>
            <a:endParaRPr lang="en-US" sz="1100" dirty="0"/>
          </a:p>
        </p:txBody>
      </p:sp>
      <p:sp>
        <p:nvSpPr>
          <p:cNvPr id="11" name="Text 110">
            <a:extLst>
              <a:ext uri="{FF2B5EF4-FFF2-40B4-BE49-F238E27FC236}">
                <a16:creationId xmlns:a16="http://schemas.microsoft.com/office/drawing/2014/main" id="{150B3502-7CFA-D11E-4A6D-9A0F1AEF06FC}"/>
              </a:ext>
            </a:extLst>
          </p:cNvPr>
          <p:cNvSpPr/>
          <p:nvPr/>
        </p:nvSpPr>
        <p:spPr>
          <a:xfrm>
            <a:off x="1472268" y="2430203"/>
            <a:ext cx="9750383" cy="922201"/>
          </a:xfrm>
          <a:prstGeom prst="rect">
            <a:avLst/>
          </a:prstGeom>
          <a:noFill/>
          <a:ln/>
        </p:spPr>
        <p:txBody>
          <a:bodyPr wrap="square" lIns="508" tIns="508" rIns="508" bIns="508" rtlCol="0" anchor="t"/>
          <a:lstStyle/>
          <a:p>
            <a:pPr marL="0" indent="0" algn="l">
              <a:buNone/>
            </a:pPr>
            <a:r>
              <a:rPr lang="en-US" sz="2400" b="1" dirty="0">
                <a:ea typeface="Aptos" pitchFamily="34" charset="-122"/>
                <a:cs typeface="Aptos" pitchFamily="34" charset="-120"/>
              </a:rPr>
              <a:t>Gapless</a:t>
            </a:r>
            <a:r>
              <a:rPr lang="en-US" sz="2400" dirty="0">
                <a:ea typeface="Aptos" pitchFamily="34" charset="-122"/>
                <a:cs typeface="Aptos" pitchFamily="34" charset="-120"/>
              </a:rPr>
              <a:t> systems can harvest contextuality for suitable measurement choices.</a:t>
            </a:r>
            <a:endParaRPr lang="en-US" sz="2400" dirty="0"/>
          </a:p>
        </p:txBody>
      </p:sp>
      <p:sp>
        <p:nvSpPr>
          <p:cNvPr id="12" name="Shape 111">
            <a:extLst>
              <a:ext uri="{FF2B5EF4-FFF2-40B4-BE49-F238E27FC236}">
                <a16:creationId xmlns:a16="http://schemas.microsoft.com/office/drawing/2014/main" id="{E2ED0B0B-8AAA-1AD3-078D-45865C9CBACF}"/>
              </a:ext>
            </a:extLst>
          </p:cNvPr>
          <p:cNvSpPr/>
          <p:nvPr/>
        </p:nvSpPr>
        <p:spPr>
          <a:xfrm>
            <a:off x="811914" y="3496178"/>
            <a:ext cx="502920" cy="347472"/>
          </a:xfrm>
          <a:prstGeom prst="ellipse">
            <a:avLst/>
          </a:prstGeom>
          <a:solidFill>
            <a:srgbClr val="F4CCCC"/>
          </a:solidFill>
          <a:ln w="12700">
            <a:solidFill>
              <a:srgbClr val="D58F8F"/>
            </a:solidFill>
            <a:prstDash val="solid"/>
          </a:ln>
        </p:spPr>
        <p:txBody>
          <a:bodyPr/>
          <a:lstStyle/>
          <a:p>
            <a:endParaRPr/>
          </a:p>
        </p:txBody>
      </p:sp>
      <p:sp>
        <p:nvSpPr>
          <p:cNvPr id="13" name="Text 112">
            <a:extLst>
              <a:ext uri="{FF2B5EF4-FFF2-40B4-BE49-F238E27FC236}">
                <a16:creationId xmlns:a16="http://schemas.microsoft.com/office/drawing/2014/main" id="{6CD4A55D-ECC4-2CB6-0F23-4E757B7298FE}"/>
              </a:ext>
            </a:extLst>
          </p:cNvPr>
          <p:cNvSpPr/>
          <p:nvPr/>
        </p:nvSpPr>
        <p:spPr>
          <a:xfrm>
            <a:off x="949074" y="3541898"/>
            <a:ext cx="228600" cy="146304"/>
          </a:xfrm>
          <a:prstGeom prst="rect">
            <a:avLst/>
          </a:prstGeom>
          <a:noFill/>
          <a:ln/>
        </p:spPr>
        <p:txBody>
          <a:bodyPr wrap="square" rtlCol="0" anchor="ctr"/>
          <a:lstStyle/>
          <a:p>
            <a:pPr marL="0" indent="0" algn="ctr">
              <a:buNone/>
            </a:pPr>
            <a:r>
              <a:rPr lang="en-US" sz="4000" b="1" dirty="0">
                <a:solidFill>
                  <a:srgbClr val="003366"/>
                </a:solidFill>
              </a:rPr>
              <a:t>3</a:t>
            </a:r>
            <a:endParaRPr lang="en-US" sz="1100" dirty="0"/>
          </a:p>
        </p:txBody>
      </p:sp>
      <p:sp>
        <p:nvSpPr>
          <p:cNvPr id="14" name="Shape 114">
            <a:extLst>
              <a:ext uri="{FF2B5EF4-FFF2-40B4-BE49-F238E27FC236}">
                <a16:creationId xmlns:a16="http://schemas.microsoft.com/office/drawing/2014/main" id="{BA51192F-D866-2E6B-7BD5-D482F66D0B14}"/>
              </a:ext>
            </a:extLst>
          </p:cNvPr>
          <p:cNvSpPr/>
          <p:nvPr/>
        </p:nvSpPr>
        <p:spPr>
          <a:xfrm>
            <a:off x="832189" y="4654622"/>
            <a:ext cx="482645" cy="347472"/>
          </a:xfrm>
          <a:prstGeom prst="ellipse">
            <a:avLst/>
          </a:prstGeom>
          <a:solidFill>
            <a:srgbClr val="F4CCCC"/>
          </a:solidFill>
          <a:ln w="12700">
            <a:solidFill>
              <a:srgbClr val="D58F8F"/>
            </a:solidFill>
            <a:prstDash val="solid"/>
          </a:ln>
        </p:spPr>
        <p:txBody>
          <a:bodyPr/>
          <a:lstStyle/>
          <a:p>
            <a:endParaRPr/>
          </a:p>
        </p:txBody>
      </p:sp>
      <p:sp>
        <p:nvSpPr>
          <p:cNvPr id="15" name="Text 115">
            <a:extLst>
              <a:ext uri="{FF2B5EF4-FFF2-40B4-BE49-F238E27FC236}">
                <a16:creationId xmlns:a16="http://schemas.microsoft.com/office/drawing/2014/main" id="{FC0C1B6D-B079-83DA-4E14-72E91370E395}"/>
              </a:ext>
            </a:extLst>
          </p:cNvPr>
          <p:cNvSpPr/>
          <p:nvPr/>
        </p:nvSpPr>
        <p:spPr>
          <a:xfrm>
            <a:off x="969349" y="4700342"/>
            <a:ext cx="219384" cy="146304"/>
          </a:xfrm>
          <a:prstGeom prst="rect">
            <a:avLst/>
          </a:prstGeom>
          <a:noFill/>
          <a:ln/>
        </p:spPr>
        <p:txBody>
          <a:bodyPr wrap="square" rtlCol="0" anchor="ctr"/>
          <a:lstStyle/>
          <a:p>
            <a:pPr marL="0" indent="0" algn="ctr">
              <a:buNone/>
            </a:pPr>
            <a:r>
              <a:rPr lang="en-US" sz="4000" b="1" dirty="0">
                <a:solidFill>
                  <a:srgbClr val="003366"/>
                </a:solidFill>
              </a:rPr>
              <a:t>4</a:t>
            </a:r>
            <a:endParaRPr lang="en-US" sz="1100" dirty="0"/>
          </a:p>
        </p:txBody>
      </p:sp>
      <p:sp>
        <p:nvSpPr>
          <p:cNvPr id="16" name="Text 116">
            <a:extLst>
              <a:ext uri="{FF2B5EF4-FFF2-40B4-BE49-F238E27FC236}">
                <a16:creationId xmlns:a16="http://schemas.microsoft.com/office/drawing/2014/main" id="{1BC8A256-0EAE-0149-985B-0C0EBB0DA155}"/>
              </a:ext>
            </a:extLst>
          </p:cNvPr>
          <p:cNvSpPr/>
          <p:nvPr/>
        </p:nvSpPr>
        <p:spPr>
          <a:xfrm>
            <a:off x="1451994" y="3489299"/>
            <a:ext cx="7917916" cy="1363233"/>
          </a:xfrm>
          <a:prstGeom prst="rect">
            <a:avLst/>
          </a:prstGeom>
          <a:noFill/>
          <a:ln/>
        </p:spPr>
        <p:txBody>
          <a:bodyPr wrap="square" lIns="508" tIns="508" rIns="508" bIns="508" rtlCol="0" anchor="t"/>
          <a:lstStyle/>
          <a:p>
            <a:pPr marL="0" indent="0" algn="l">
              <a:buNone/>
            </a:pPr>
            <a:r>
              <a:rPr lang="en-US" sz="2400" dirty="0">
                <a:ea typeface="Aptos" pitchFamily="34" charset="-122"/>
                <a:cs typeface="Aptos" pitchFamily="34" charset="-120"/>
              </a:rPr>
              <a:t>Qubit–qutrit systems can harvest </a:t>
            </a:r>
            <a:r>
              <a:rPr lang="en-US" sz="2400" b="1" dirty="0">
                <a:ea typeface="Aptos" pitchFamily="34" charset="-122"/>
                <a:cs typeface="Aptos" pitchFamily="34" charset="-120"/>
              </a:rPr>
              <a:t>both</a:t>
            </a:r>
            <a:r>
              <a:rPr lang="en-US" sz="2400" dirty="0">
                <a:ea typeface="Aptos" pitchFamily="34" charset="-122"/>
                <a:cs typeface="Aptos" pitchFamily="34" charset="-120"/>
              </a:rPr>
              <a:t> negativity and local contextuality, with coexistence and trade-offs.</a:t>
            </a:r>
            <a:endParaRPr lang="en-US" sz="2400" dirty="0"/>
          </a:p>
        </p:txBody>
      </p:sp>
      <p:sp>
        <p:nvSpPr>
          <p:cNvPr id="17" name="Text 119">
            <a:extLst>
              <a:ext uri="{FF2B5EF4-FFF2-40B4-BE49-F238E27FC236}">
                <a16:creationId xmlns:a16="http://schemas.microsoft.com/office/drawing/2014/main" id="{0207DC40-39A6-2F69-C1A0-E3BD42DB2D42}"/>
              </a:ext>
            </a:extLst>
          </p:cNvPr>
          <p:cNvSpPr/>
          <p:nvPr/>
        </p:nvSpPr>
        <p:spPr>
          <a:xfrm>
            <a:off x="1451994" y="4650196"/>
            <a:ext cx="8125760" cy="928872"/>
          </a:xfrm>
          <a:prstGeom prst="rect">
            <a:avLst/>
          </a:prstGeom>
          <a:noFill/>
          <a:ln/>
        </p:spPr>
        <p:txBody>
          <a:bodyPr wrap="square" lIns="508" tIns="508" rIns="508" bIns="508" rtlCol="0" anchor="t"/>
          <a:lstStyle/>
          <a:p>
            <a:pPr marL="0" indent="0" algn="l">
              <a:buNone/>
            </a:pPr>
            <a:r>
              <a:rPr lang="en-US" sz="2400" dirty="0">
                <a:ea typeface="Aptos" pitchFamily="34" charset="-122"/>
                <a:cs typeface="Aptos" pitchFamily="34" charset="-120"/>
              </a:rPr>
              <a:t>New genuine-harvesting criteria separate vacuum-resource extraction from field-mediated signaling.</a:t>
            </a:r>
            <a:endParaRPr lang="en-US" sz="2400" dirty="0"/>
          </a:p>
        </p:txBody>
      </p:sp>
    </p:spTree>
    <p:custDataLst>
      <p:tags r:id="rId1"/>
    </p:custDataLst>
    <p:extLst>
      <p:ext uri="{BB962C8B-B14F-4D97-AF65-F5344CB8AC3E}">
        <p14:creationId xmlns:p14="http://schemas.microsoft.com/office/powerpoint/2010/main" val="271374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1" grpId="0" animBg="1"/>
      <p:bldP spid="12" grpId="0" animBg="1"/>
      <p:bldP spid="13" grpId="0" animBg="1"/>
      <p:bldP spid="14" grpId="0" animBg="1"/>
      <p:bldP spid="15" grpId="0" animBg="1"/>
      <p:bldP spid="16" grpId="0" animBg="1"/>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A2035F-F746-85CE-0975-56D37D9ED71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F6C2A64B-DB5D-D76B-6B57-710AA56D0D22}"/>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5966A80B-74CF-B2E0-5B71-EDE884AE62DC}"/>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Outlook</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C998FD83-80AE-EFB8-02FD-C2C0E71CCACC}"/>
              </a:ext>
            </a:extLst>
          </p:cNvPr>
          <p:cNvSpPr>
            <a:spLocks noGrp="1"/>
          </p:cNvSpPr>
          <p:nvPr>
            <p:ph type="sldNum" sz="quarter" idx="12"/>
          </p:nvPr>
        </p:nvSpPr>
        <p:spPr/>
        <p:txBody>
          <a:bodyPr/>
          <a:lstStyle/>
          <a:p>
            <a:fld id="{D0617D14-1B55-43C0-819D-0D244AC23646}" type="slidenum">
              <a:rPr lang="de-AT" smtClean="0"/>
              <a:t>22</a:t>
            </a:fld>
            <a:endParaRPr lang="de-AT"/>
          </a:p>
        </p:txBody>
      </p:sp>
      <p:sp>
        <p:nvSpPr>
          <p:cNvPr id="5" name="TextBox 4">
            <a:extLst>
              <a:ext uri="{FF2B5EF4-FFF2-40B4-BE49-F238E27FC236}">
                <a16:creationId xmlns:a16="http://schemas.microsoft.com/office/drawing/2014/main" id="{F3EC1665-4166-C355-926F-C2A7FCB2F58A}"/>
              </a:ext>
            </a:extLst>
          </p:cNvPr>
          <p:cNvSpPr txBox="1"/>
          <p:nvPr/>
        </p:nvSpPr>
        <p:spPr>
          <a:xfrm>
            <a:off x="634296" y="1752600"/>
            <a:ext cx="7794595" cy="2954655"/>
          </a:xfrm>
          <a:prstGeom prst="rect">
            <a:avLst/>
          </a:prstGeom>
          <a:noFill/>
        </p:spPr>
        <p:txBody>
          <a:bodyPr wrap="square" rtlCol="0">
            <a:spAutoFit/>
          </a:bodyPr>
          <a:lstStyle/>
          <a:p>
            <a:pPr marL="285750" indent="-285750">
              <a:buFont typeface="Arial" panose="020B0604020202020204" pitchFamily="34" charset="0"/>
              <a:buChar char="•"/>
            </a:pPr>
            <a:r>
              <a:rPr lang="en-CA" sz="2400" dirty="0"/>
              <a:t>More rigorous proof for genuine contextuality harvesting</a:t>
            </a:r>
          </a:p>
          <a:p>
            <a:pPr marL="285750" indent="-285750">
              <a:buFont typeface="Arial" panose="020B0604020202020204" pitchFamily="34" charset="0"/>
              <a:buChar char="•"/>
            </a:pPr>
            <a:endParaRPr lang="en-CA" sz="2400" dirty="0"/>
          </a:p>
          <a:p>
            <a:pPr marL="285750" indent="-285750">
              <a:buFont typeface="Arial" panose="020B0604020202020204" pitchFamily="34" charset="0"/>
              <a:buChar char="•"/>
            </a:pPr>
            <a:r>
              <a:rPr lang="en-CA" sz="2400" dirty="0"/>
              <a:t>Further exploration of the gapless setting</a:t>
            </a:r>
            <a:br>
              <a:rPr lang="en-CA" sz="2400" dirty="0"/>
            </a:br>
            <a:endParaRPr lang="en-CA" sz="2400" dirty="0"/>
          </a:p>
          <a:p>
            <a:pPr marL="285750" indent="-285750">
              <a:buFont typeface="Arial" panose="020B0604020202020204" pitchFamily="34" charset="0"/>
              <a:buChar char="•"/>
            </a:pPr>
            <a:r>
              <a:rPr lang="en-CA" sz="2400" dirty="0"/>
              <a:t>Non-locality-Contextuality </a:t>
            </a:r>
            <a:r>
              <a:rPr lang="en-CA" sz="2400" dirty="0" err="1"/>
              <a:t>tradeoff</a:t>
            </a:r>
            <a:r>
              <a:rPr lang="en-CA" sz="2400" dirty="0"/>
              <a:t> </a:t>
            </a:r>
            <a:br>
              <a:rPr lang="en-CA" sz="2400" dirty="0"/>
            </a:br>
            <a:endParaRPr lang="en-CA" sz="2400" dirty="0"/>
          </a:p>
          <a:p>
            <a:pPr marL="285750" indent="-285750">
              <a:buFont typeface="Arial" panose="020B0604020202020204" pitchFamily="34" charset="0"/>
              <a:buChar char="•"/>
            </a:pPr>
            <a:r>
              <a:rPr lang="en-CA" sz="2400" dirty="0"/>
              <a:t>How different spacetimes affect harvesting</a:t>
            </a:r>
          </a:p>
          <a:p>
            <a:pPr marL="285750" indent="-285750">
              <a:buFont typeface="Arial" panose="020B0604020202020204" pitchFamily="34" charset="0"/>
              <a:buChar char="•"/>
            </a:pPr>
            <a:endParaRPr lang="en-CA" dirty="0"/>
          </a:p>
        </p:txBody>
      </p:sp>
    </p:spTree>
    <p:custDataLst>
      <p:tags r:id="rId1"/>
    </p:custDataLst>
    <p:extLst>
      <p:ext uri="{BB962C8B-B14F-4D97-AF65-F5344CB8AC3E}">
        <p14:creationId xmlns:p14="http://schemas.microsoft.com/office/powerpoint/2010/main" val="224422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977463" y="4852783"/>
            <a:ext cx="7033192" cy="762000"/>
          </a:xfrm>
        </p:spPr>
        <p:txBody>
          <a:bodyPr>
            <a:noAutofit/>
          </a:bodyPr>
          <a:lstStyle/>
          <a:p>
            <a:pPr algn="ctr"/>
            <a:r>
              <a:rPr lang="en-CA" sz="4400" dirty="0"/>
              <a:t>Thank you for your attention!</a:t>
            </a:r>
          </a:p>
        </p:txBody>
      </p:sp>
      <p:sp>
        <p:nvSpPr>
          <p:cNvPr id="3" name="Titel 1">
            <a:extLst>
              <a:ext uri="{FF2B5EF4-FFF2-40B4-BE49-F238E27FC236}">
                <a16:creationId xmlns:a16="http://schemas.microsoft.com/office/drawing/2014/main" id="{61BE9CC0-95AD-1603-8AD8-2F406992E27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en-CA" sz="2800" kern="0" dirty="0">
              <a:solidFill>
                <a:schemeClr val="bg1"/>
              </a:solidFill>
              <a:latin typeface="Calibri Light" panose="020F0302020204030204" pitchFamily="34" charset="0"/>
              <a:cs typeface="Calibri Light" panose="020F0302020204030204" pitchFamily="34" charset="0"/>
            </a:endParaRPr>
          </a:p>
        </p:txBody>
      </p:sp>
      <p:sp>
        <p:nvSpPr>
          <p:cNvPr id="2" name="Footer Placeholder 1">
            <a:extLst>
              <a:ext uri="{FF2B5EF4-FFF2-40B4-BE49-F238E27FC236}">
                <a16:creationId xmlns:a16="http://schemas.microsoft.com/office/drawing/2014/main" id="{4627B9BB-55EA-B62A-EA2B-9FAC2F1F28C4}"/>
              </a:ext>
            </a:extLst>
          </p:cNvPr>
          <p:cNvSpPr>
            <a:spLocks noGrp="1"/>
          </p:cNvSpPr>
          <p:nvPr>
            <p:ph type="ftr" sz="quarter" idx="11"/>
          </p:nvPr>
        </p:nvSpPr>
        <p:spPr>
          <a:xfrm>
            <a:off x="4268241" y="6310311"/>
            <a:ext cx="3744417" cy="365125"/>
          </a:xfrm>
        </p:spPr>
        <p:txBody>
          <a:bodyPr/>
          <a:lstStyle/>
          <a:p>
            <a:r>
              <a:rPr lang="de-AT"/>
              <a:t>RQI Circuit 2026, Wien I Phil LeMaitre I 05.06.2026</a:t>
            </a:r>
            <a:endParaRPr lang="de-AT" dirty="0"/>
          </a:p>
        </p:txBody>
      </p:sp>
      <p:sp>
        <p:nvSpPr>
          <p:cNvPr id="4" name="Slide Number Placeholder 3">
            <a:extLst>
              <a:ext uri="{FF2B5EF4-FFF2-40B4-BE49-F238E27FC236}">
                <a16:creationId xmlns:a16="http://schemas.microsoft.com/office/drawing/2014/main" id="{79BE3C82-4E37-A647-9B80-8E6AB10F4707}"/>
              </a:ext>
            </a:extLst>
          </p:cNvPr>
          <p:cNvSpPr>
            <a:spLocks noGrp="1"/>
          </p:cNvSpPr>
          <p:nvPr>
            <p:ph type="sldNum" sz="quarter" idx="12"/>
          </p:nvPr>
        </p:nvSpPr>
        <p:spPr/>
        <p:txBody>
          <a:bodyPr/>
          <a:lstStyle/>
          <a:p>
            <a:fld id="{D0617D14-1B55-43C0-819D-0D244AC23646}" type="slidenum">
              <a:rPr lang="de-AT" smtClean="0"/>
              <a:t>23</a:t>
            </a:fld>
            <a:endParaRPr lang="de-AT"/>
          </a:p>
        </p:txBody>
      </p:sp>
      <p:pic>
        <p:nvPicPr>
          <p:cNvPr id="9" name="Picture 8">
            <a:extLst>
              <a:ext uri="{FF2B5EF4-FFF2-40B4-BE49-F238E27FC236}">
                <a16:creationId xmlns:a16="http://schemas.microsoft.com/office/drawing/2014/main" id="{E671FFB9-9A16-F046-B46F-E92BCC064D47}"/>
              </a:ext>
            </a:extLst>
          </p:cNvPr>
          <p:cNvPicPr>
            <a:picLocks noChangeAspect="1"/>
          </p:cNvPicPr>
          <p:nvPr/>
        </p:nvPicPr>
        <p:blipFill rotWithShape="1">
          <a:blip r:embed="rId3"/>
          <a:srcRect l="5492" t="34602" r="8757" b="5749"/>
          <a:stretch/>
        </p:blipFill>
        <p:spPr>
          <a:xfrm>
            <a:off x="788168" y="1243217"/>
            <a:ext cx="7222487" cy="3384915"/>
          </a:xfrm>
          <a:prstGeom prst="rect">
            <a:avLst/>
          </a:prstGeom>
        </p:spPr>
      </p:pic>
      <p:sp>
        <p:nvSpPr>
          <p:cNvPr id="10" name="TextBox 9">
            <a:extLst>
              <a:ext uri="{FF2B5EF4-FFF2-40B4-BE49-F238E27FC236}">
                <a16:creationId xmlns:a16="http://schemas.microsoft.com/office/drawing/2014/main" id="{DD0541BF-9663-2374-A5D7-A8080BBA9224}"/>
              </a:ext>
            </a:extLst>
          </p:cNvPr>
          <p:cNvSpPr txBox="1"/>
          <p:nvPr/>
        </p:nvSpPr>
        <p:spPr>
          <a:xfrm>
            <a:off x="9090905" y="3690967"/>
            <a:ext cx="2180866" cy="646331"/>
          </a:xfrm>
          <a:prstGeom prst="rect">
            <a:avLst/>
          </a:prstGeom>
          <a:noFill/>
        </p:spPr>
        <p:txBody>
          <a:bodyPr wrap="square" rtlCol="0">
            <a:spAutoFit/>
          </a:bodyPr>
          <a:lstStyle/>
          <a:p>
            <a:r>
              <a:rPr lang="en-CA" i="1" dirty="0"/>
              <a:t>Phys. Rev. D. </a:t>
            </a:r>
            <a:r>
              <a:rPr lang="en-US" b="1" i="1" dirty="0"/>
              <a:t>113</a:t>
            </a:r>
            <a:r>
              <a:rPr lang="en-US" i="1" dirty="0"/>
              <a:t>, 045001 </a:t>
            </a:r>
            <a:r>
              <a:rPr lang="en-CA" dirty="0"/>
              <a:t>(2026)</a:t>
            </a:r>
          </a:p>
        </p:txBody>
      </p:sp>
      <p:pic>
        <p:nvPicPr>
          <p:cNvPr id="11" name="Picture 10">
            <a:extLst>
              <a:ext uri="{FF2B5EF4-FFF2-40B4-BE49-F238E27FC236}">
                <a16:creationId xmlns:a16="http://schemas.microsoft.com/office/drawing/2014/main" id="{4E21A738-EA49-FDCD-B3A0-BB9A8EA478F1}"/>
              </a:ext>
            </a:extLst>
          </p:cNvPr>
          <p:cNvPicPr>
            <a:picLocks noChangeAspect="1"/>
          </p:cNvPicPr>
          <p:nvPr/>
        </p:nvPicPr>
        <p:blipFill>
          <a:blip r:embed="rId4"/>
          <a:stretch>
            <a:fillRect/>
          </a:stretch>
        </p:blipFill>
        <p:spPr>
          <a:xfrm>
            <a:off x="8920359" y="1684049"/>
            <a:ext cx="2092462" cy="2092462"/>
          </a:xfrm>
          <a:prstGeom prst="rect">
            <a:avLst/>
          </a:prstGeom>
        </p:spPr>
      </p:pic>
    </p:spTree>
    <p:extLst>
      <p:ext uri="{BB962C8B-B14F-4D97-AF65-F5344CB8AC3E}">
        <p14:creationId xmlns:p14="http://schemas.microsoft.com/office/powerpoint/2010/main" val="1806043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7DE05-EDED-025A-E8F6-0EB3DC66F4D9}"/>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F4B26860-CC10-DD5F-936F-D3DF233682FD}"/>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RQI Circuit 2026, Wien I Phil LeMaitre I 05.06.2026</a:t>
            </a:r>
            <a:endParaRPr lang="de-DE" dirty="0"/>
          </a:p>
        </p:txBody>
      </p:sp>
      <p:sp>
        <p:nvSpPr>
          <p:cNvPr id="3" name="Titel 1">
            <a:extLst>
              <a:ext uri="{FF2B5EF4-FFF2-40B4-BE49-F238E27FC236}">
                <a16:creationId xmlns:a16="http://schemas.microsoft.com/office/drawing/2014/main" id="{24F2A826-F3E8-DFBB-AF40-B00B697C5E43}"/>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 Fraction</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BECA77D0-EA3A-7DA6-5393-C0FEFFDFE5AD}"/>
              </a:ext>
            </a:extLst>
          </p:cNvPr>
          <p:cNvSpPr>
            <a:spLocks noGrp="1"/>
          </p:cNvSpPr>
          <p:nvPr>
            <p:ph type="sldNum" sz="quarter" idx="12"/>
          </p:nvPr>
        </p:nvSpPr>
        <p:spPr/>
        <p:txBody>
          <a:bodyPr/>
          <a:lstStyle/>
          <a:p>
            <a:fld id="{D0617D14-1B55-43C0-819D-0D244AC23646}" type="slidenum">
              <a:rPr lang="de-AT" smtClean="0"/>
              <a:t>24</a:t>
            </a:fld>
            <a:endParaRPr lang="de-AT"/>
          </a:p>
        </p:txBody>
      </p:sp>
      <p:pic>
        <p:nvPicPr>
          <p:cNvPr id="4" name="Picture 3">
            <a:extLst>
              <a:ext uri="{FF2B5EF4-FFF2-40B4-BE49-F238E27FC236}">
                <a16:creationId xmlns:a16="http://schemas.microsoft.com/office/drawing/2014/main" id="{18656A53-AE74-1AA8-4C5E-5B80F8242004}"/>
              </a:ext>
            </a:extLst>
          </p:cNvPr>
          <p:cNvPicPr>
            <a:picLocks noChangeAspect="1"/>
          </p:cNvPicPr>
          <p:nvPr/>
        </p:nvPicPr>
        <p:blipFill>
          <a:blip r:embed="rId4"/>
          <a:stretch>
            <a:fillRect/>
          </a:stretch>
        </p:blipFill>
        <p:spPr>
          <a:xfrm>
            <a:off x="7730975" y="5162716"/>
            <a:ext cx="3893644" cy="934987"/>
          </a:xfrm>
          <a:prstGeom prst="rect">
            <a:avLst/>
          </a:prstGeom>
        </p:spPr>
      </p:pic>
      <p:pic>
        <p:nvPicPr>
          <p:cNvPr id="5" name="Picture 4">
            <a:extLst>
              <a:ext uri="{FF2B5EF4-FFF2-40B4-BE49-F238E27FC236}">
                <a16:creationId xmlns:a16="http://schemas.microsoft.com/office/drawing/2014/main" id="{02B3D38F-EE46-82AA-32C5-F9DD354142C7}"/>
              </a:ext>
            </a:extLst>
          </p:cNvPr>
          <p:cNvPicPr>
            <a:picLocks noChangeAspect="1"/>
          </p:cNvPicPr>
          <p:nvPr/>
        </p:nvPicPr>
        <p:blipFill>
          <a:blip r:embed="rId5"/>
          <a:srcRect l="26390" r="6405"/>
          <a:stretch>
            <a:fillRect/>
          </a:stretch>
        </p:blipFill>
        <p:spPr>
          <a:xfrm>
            <a:off x="674490" y="2120147"/>
            <a:ext cx="4449622" cy="980885"/>
          </a:xfrm>
          <a:prstGeom prst="rect">
            <a:avLst/>
          </a:prstGeom>
        </p:spPr>
      </p:pic>
      <p:pic>
        <p:nvPicPr>
          <p:cNvPr id="6" name="Picture 5">
            <a:extLst>
              <a:ext uri="{FF2B5EF4-FFF2-40B4-BE49-F238E27FC236}">
                <a16:creationId xmlns:a16="http://schemas.microsoft.com/office/drawing/2014/main" id="{6E84AE3E-0F10-CEF9-91C7-D6D638B3B05C}"/>
              </a:ext>
            </a:extLst>
          </p:cNvPr>
          <p:cNvPicPr>
            <a:picLocks noChangeAspect="1"/>
          </p:cNvPicPr>
          <p:nvPr/>
        </p:nvPicPr>
        <p:blipFill>
          <a:blip r:embed="rId6"/>
          <a:stretch>
            <a:fillRect/>
          </a:stretch>
        </p:blipFill>
        <p:spPr>
          <a:xfrm>
            <a:off x="9395552" y="4364419"/>
            <a:ext cx="1979056" cy="381675"/>
          </a:xfrm>
          <a:prstGeom prst="rect">
            <a:avLst/>
          </a:prstGeom>
        </p:spPr>
      </p:pic>
      <p:sp>
        <p:nvSpPr>
          <p:cNvPr id="11" name="TextBox 10">
            <a:extLst>
              <a:ext uri="{FF2B5EF4-FFF2-40B4-BE49-F238E27FC236}">
                <a16:creationId xmlns:a16="http://schemas.microsoft.com/office/drawing/2014/main" id="{0332564C-FD86-091B-29B4-E09C808C1F81}"/>
              </a:ext>
            </a:extLst>
          </p:cNvPr>
          <p:cNvSpPr txBox="1"/>
          <p:nvPr/>
        </p:nvSpPr>
        <p:spPr>
          <a:xfrm>
            <a:off x="242040" y="1194712"/>
            <a:ext cx="5763755" cy="83099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Previous probability table is called an empirical model and can be written as</a:t>
            </a:r>
            <a:endPar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07CF7EA-FE62-6215-2E47-1F633B08D75D}"/>
                  </a:ext>
                </a:extLst>
              </p:cNvPr>
              <p:cNvSpPr txBox="1"/>
              <p:nvPr/>
            </p:nvSpPr>
            <p:spPr>
              <a:xfrm>
                <a:off x="7211909" y="4284429"/>
                <a:ext cx="2465888"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400" i="1" dirty="0" smtClean="0">
                        <a:solidFill>
                          <a:srgbClr val="000000"/>
                        </a:solidFill>
                        <a:latin typeface="Cambria Math" panose="02040503050406030204" pitchFamily="18" charset="0"/>
                      </a:rPr>
                      <m:t>𝑒</m:t>
                    </m:r>
                  </m:oMath>
                </a14:m>
                <a:r>
                  <a:rPr lang="en-US" sz="2400" dirty="0">
                    <a:solidFill>
                      <a:srgbClr val="000000"/>
                    </a:solidFill>
                    <a:latin typeface="Calibri" panose="020F0502020204030204"/>
                  </a:rPr>
                  <a:t> as a vector:</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mc:Choice>
        <mc:Fallback xmlns="">
          <p:sp>
            <p:nvSpPr>
              <p:cNvPr id="12" name="TextBox 11">
                <a:extLst>
                  <a:ext uri="{FF2B5EF4-FFF2-40B4-BE49-F238E27FC236}">
                    <a16:creationId xmlns:a16="http://schemas.microsoft.com/office/drawing/2014/main" id="{D07CF7EA-FE62-6215-2E47-1F633B08D75D}"/>
                  </a:ext>
                </a:extLst>
              </p:cNvPr>
              <p:cNvSpPr txBox="1">
                <a:spLocks noRot="1" noChangeAspect="1" noMove="1" noResize="1" noEditPoints="1" noAdjustHandles="1" noChangeArrowheads="1" noChangeShapeType="1" noTextEdit="1"/>
              </p:cNvSpPr>
              <p:nvPr/>
            </p:nvSpPr>
            <p:spPr>
              <a:xfrm>
                <a:off x="7211909" y="4284429"/>
                <a:ext cx="2465888" cy="461665"/>
              </a:xfrm>
              <a:prstGeom prst="rect">
                <a:avLst/>
              </a:prstGeom>
              <a:blipFill>
                <a:blip r:embed="rId7"/>
                <a:stretch>
                  <a:fillRect t="-8108" b="-29730"/>
                </a:stretch>
              </a:blipFill>
            </p:spPr>
            <p:txBody>
              <a:bodyPr/>
              <a:lstStyle/>
              <a:p>
                <a:r>
                  <a:rPr lang="en-CA">
                    <a:noFill/>
                  </a:rPr>
                  <a:t> </a:t>
                </a:r>
              </a:p>
            </p:txBody>
          </p:sp>
        </mc:Fallback>
      </mc:AlternateContent>
      <p:sp>
        <p:nvSpPr>
          <p:cNvPr id="15" name="TextBox 14">
            <a:extLst>
              <a:ext uri="{FF2B5EF4-FFF2-40B4-BE49-F238E27FC236}">
                <a16:creationId xmlns:a16="http://schemas.microsoft.com/office/drawing/2014/main" id="{626FBAD4-BC30-699D-C592-23B9AA71945D}"/>
              </a:ext>
            </a:extLst>
          </p:cNvPr>
          <p:cNvSpPr txBox="1"/>
          <p:nvPr/>
        </p:nvSpPr>
        <p:spPr>
          <a:xfrm>
            <a:off x="5876921" y="4836353"/>
            <a:ext cx="3430562"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Global assignment matrix:</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16" name="TextBox 15">
            <a:extLst>
              <a:ext uri="{FF2B5EF4-FFF2-40B4-BE49-F238E27FC236}">
                <a16:creationId xmlns:a16="http://schemas.microsoft.com/office/drawing/2014/main" id="{79B73428-541D-219D-8A4D-24A427D28151}"/>
              </a:ext>
            </a:extLst>
          </p:cNvPr>
          <p:cNvSpPr txBox="1"/>
          <p:nvPr/>
        </p:nvSpPr>
        <p:spPr>
          <a:xfrm>
            <a:off x="7720189" y="1194712"/>
            <a:ext cx="3893643"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Can phrase as linear program:</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17" name="Rectangle 16">
            <a:extLst>
              <a:ext uri="{FF2B5EF4-FFF2-40B4-BE49-F238E27FC236}">
                <a16:creationId xmlns:a16="http://schemas.microsoft.com/office/drawing/2014/main" id="{8442940B-A4D7-32EF-5812-6AD4F4485FFA}"/>
              </a:ext>
            </a:extLst>
          </p:cNvPr>
          <p:cNvSpPr/>
          <p:nvPr/>
        </p:nvSpPr>
        <p:spPr>
          <a:xfrm>
            <a:off x="7480965" y="1798924"/>
            <a:ext cx="3893643" cy="2339622"/>
          </a:xfrm>
          <a:prstGeom prst="rect">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en-CA" sz="2000"/>
          </a:p>
        </p:txBody>
      </p:sp>
      <p:pic>
        <p:nvPicPr>
          <p:cNvPr id="18" name="Picture 17">
            <a:extLst>
              <a:ext uri="{FF2B5EF4-FFF2-40B4-BE49-F238E27FC236}">
                <a16:creationId xmlns:a16="http://schemas.microsoft.com/office/drawing/2014/main" id="{97241714-06A5-581E-4BAB-D44161B49ED8}"/>
              </a:ext>
            </a:extLst>
          </p:cNvPr>
          <p:cNvPicPr>
            <a:picLocks noChangeAspect="1"/>
          </p:cNvPicPr>
          <p:nvPr/>
        </p:nvPicPr>
        <p:blipFill>
          <a:blip r:embed="rId8"/>
          <a:stretch>
            <a:fillRect/>
          </a:stretch>
        </p:blipFill>
        <p:spPr>
          <a:xfrm>
            <a:off x="7592202" y="1917255"/>
            <a:ext cx="3630166" cy="2148738"/>
          </a:xfrm>
          <a:prstGeom prst="rect">
            <a:avLst/>
          </a:prstGeom>
        </p:spPr>
      </p:pic>
      <p:sp>
        <p:nvSpPr>
          <p:cNvPr id="19" name="TextBox 18">
            <a:extLst>
              <a:ext uri="{FF2B5EF4-FFF2-40B4-BE49-F238E27FC236}">
                <a16:creationId xmlns:a16="http://schemas.microsoft.com/office/drawing/2014/main" id="{0D799426-7CD0-0D61-3B44-B1F92B96AD1B}"/>
              </a:ext>
            </a:extLst>
          </p:cNvPr>
          <p:cNvSpPr txBox="1"/>
          <p:nvPr/>
        </p:nvSpPr>
        <p:spPr>
          <a:xfrm>
            <a:off x="525429" y="3387155"/>
            <a:ext cx="2357669"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Contextual part</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20" name="TextBox 19">
            <a:extLst>
              <a:ext uri="{FF2B5EF4-FFF2-40B4-BE49-F238E27FC236}">
                <a16:creationId xmlns:a16="http://schemas.microsoft.com/office/drawing/2014/main" id="{14BD29F9-0932-6FCE-12F0-6D599BD141B8}"/>
              </a:ext>
            </a:extLst>
          </p:cNvPr>
          <p:cNvSpPr txBox="1"/>
          <p:nvPr/>
        </p:nvSpPr>
        <p:spPr>
          <a:xfrm>
            <a:off x="3028943" y="3389430"/>
            <a:ext cx="2961534"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Non-contextual part</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21" name="Right Brace 20">
            <a:extLst>
              <a:ext uri="{FF2B5EF4-FFF2-40B4-BE49-F238E27FC236}">
                <a16:creationId xmlns:a16="http://schemas.microsoft.com/office/drawing/2014/main" id="{71242D91-9D0C-2059-18CA-774872FE9896}"/>
              </a:ext>
            </a:extLst>
          </p:cNvPr>
          <p:cNvSpPr/>
          <p:nvPr/>
        </p:nvSpPr>
        <p:spPr>
          <a:xfrm rot="5400000">
            <a:off x="1972308" y="2415478"/>
            <a:ext cx="286524" cy="1356222"/>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CA" sz="2000"/>
          </a:p>
        </p:txBody>
      </p:sp>
      <p:sp>
        <p:nvSpPr>
          <p:cNvPr id="22" name="Right Brace 21">
            <a:extLst>
              <a:ext uri="{FF2B5EF4-FFF2-40B4-BE49-F238E27FC236}">
                <a16:creationId xmlns:a16="http://schemas.microsoft.com/office/drawing/2014/main" id="{0190F73E-E42C-807C-A912-E4DBDEFF7E01}"/>
              </a:ext>
            </a:extLst>
          </p:cNvPr>
          <p:cNvSpPr/>
          <p:nvPr/>
        </p:nvSpPr>
        <p:spPr>
          <a:xfrm rot="5400000">
            <a:off x="3934767" y="2252620"/>
            <a:ext cx="308060" cy="1663717"/>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CA" sz="200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157D024-520F-E0C3-FCC6-6BD1DAC6A601}"/>
                  </a:ext>
                </a:extLst>
              </p:cNvPr>
              <p:cNvSpPr txBox="1"/>
              <p:nvPr/>
            </p:nvSpPr>
            <p:spPr>
              <a:xfrm>
                <a:off x="1194277" y="4285579"/>
                <a:ext cx="4365083" cy="83099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Measure contextuality with t</a:t>
                </a:r>
                <a:r>
                  <a:rPr kumimoji="0" lang="en-US" sz="2400" b="0" i="0" u="none" strike="noStrike" kern="1200" cap="none" spc="0" normalizeH="0" baseline="0" noProof="0" dirty="0">
                    <a:ln>
                      <a:noFill/>
                    </a:ln>
                    <a:solidFill>
                      <a:srgbClr val="000000"/>
                    </a:solidFill>
                    <a:effectLst/>
                    <a:uLnTx/>
                    <a:uFillTx/>
                    <a:latin typeface="Calibri" panose="020F0502020204030204"/>
                  </a:rPr>
                  <a:t>he contextual fraction </a:t>
                </a: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𝐶𝐹</m:t>
                    </m:r>
                    <m:d>
                      <m:d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𝑒</m:t>
                        </m:r>
                      </m:e>
                    </m:d>
                  </m:oMath>
                </a14:m>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mc:Choice>
        <mc:Fallback xmlns="">
          <p:sp>
            <p:nvSpPr>
              <p:cNvPr id="23" name="TextBox 22">
                <a:extLst>
                  <a:ext uri="{FF2B5EF4-FFF2-40B4-BE49-F238E27FC236}">
                    <a16:creationId xmlns:a16="http://schemas.microsoft.com/office/drawing/2014/main" id="{6157D024-520F-E0C3-FCC6-6BD1DAC6A601}"/>
                  </a:ext>
                </a:extLst>
              </p:cNvPr>
              <p:cNvSpPr txBox="1">
                <a:spLocks noRot="1" noChangeAspect="1" noMove="1" noResize="1" noEditPoints="1" noAdjustHandles="1" noChangeArrowheads="1" noChangeShapeType="1" noTextEdit="1"/>
              </p:cNvSpPr>
              <p:nvPr/>
            </p:nvSpPr>
            <p:spPr>
              <a:xfrm>
                <a:off x="1194277" y="4285579"/>
                <a:ext cx="4365083" cy="830997"/>
              </a:xfrm>
              <a:prstGeom prst="rect">
                <a:avLst/>
              </a:prstGeom>
              <a:blipFill>
                <a:blip r:embed="rId9"/>
                <a:stretch>
                  <a:fillRect l="-2326" t="-6061" b="-15152"/>
                </a:stretch>
              </a:blipFill>
            </p:spPr>
            <p:txBody>
              <a:bodyPr/>
              <a:lstStyle/>
              <a:p>
                <a:r>
                  <a:rPr lang="en-CA">
                    <a:noFill/>
                  </a:rPr>
                  <a:t> </a:t>
                </a:r>
              </a:p>
            </p:txBody>
          </p:sp>
        </mc:Fallback>
      </mc:AlternateContent>
      <p:sp>
        <p:nvSpPr>
          <p:cNvPr id="24" name="Right Arrow 23">
            <a:extLst>
              <a:ext uri="{FF2B5EF4-FFF2-40B4-BE49-F238E27FC236}">
                <a16:creationId xmlns:a16="http://schemas.microsoft.com/office/drawing/2014/main" id="{7BD64A78-1E47-2DAC-86C2-C34C1D5AB97E}"/>
              </a:ext>
            </a:extLst>
          </p:cNvPr>
          <p:cNvSpPr/>
          <p:nvPr/>
        </p:nvSpPr>
        <p:spPr>
          <a:xfrm>
            <a:off x="298705" y="4527107"/>
            <a:ext cx="751569" cy="292296"/>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TextBox 25">
            <a:extLst>
              <a:ext uri="{FF2B5EF4-FFF2-40B4-BE49-F238E27FC236}">
                <a16:creationId xmlns:a16="http://schemas.microsoft.com/office/drawing/2014/main" id="{C51E7C7E-1449-4A36-C584-E06593BA3950}"/>
              </a:ext>
            </a:extLst>
          </p:cNvPr>
          <p:cNvSpPr txBox="1"/>
          <p:nvPr/>
        </p:nvSpPr>
        <p:spPr>
          <a:xfrm>
            <a:off x="61264" y="5541158"/>
            <a:ext cx="6125306" cy="523220"/>
          </a:xfrm>
          <a:prstGeom prst="rect">
            <a:avLst/>
          </a:prstGeom>
          <a:noFill/>
        </p:spPr>
        <p:txBody>
          <a:bodyPr wrap="square">
            <a:spAutoFit/>
          </a:bodyPr>
          <a:lstStyle/>
          <a:p>
            <a:r>
              <a:rPr lang="en-US" sz="1400" dirty="0">
                <a:solidFill>
                  <a:schemeClr val="bg1">
                    <a:lumMod val="75000"/>
                  </a:schemeClr>
                </a:solidFill>
              </a:rPr>
              <a:t>S. Abramsky, R. S. Barbosa, and S. Mansfield, The contextual fraction as a measure of contextuality, Phys. Rev. Lett. 119, 050504 (2017).</a:t>
            </a:r>
          </a:p>
        </p:txBody>
      </p:sp>
    </p:spTree>
    <p:custDataLst>
      <p:tags r:id="rId1"/>
    </p:custDataLst>
    <p:extLst>
      <p:ext uri="{BB962C8B-B14F-4D97-AF65-F5344CB8AC3E}">
        <p14:creationId xmlns:p14="http://schemas.microsoft.com/office/powerpoint/2010/main" val="40504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p:bldP spid="17" grpId="0" animBg="1"/>
      <p:bldP spid="19" grpId="0"/>
      <p:bldP spid="20" grpId="0"/>
      <p:bldP spid="21" grpId="0" animBg="1"/>
      <p:bldP spid="22" grpId="0" animBg="1"/>
      <p:bldP spid="23" grpId="0"/>
      <p:bldP spid="24"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3.7"/>
</p:tagLst>
</file>

<file path=ppt/tags/tag2.xml><?xml version="1.0" encoding="utf-8"?>
<p:tagLst xmlns:a="http://schemas.openxmlformats.org/drawingml/2006/main" xmlns:r="http://schemas.openxmlformats.org/officeDocument/2006/relationships" xmlns:p="http://schemas.openxmlformats.org/presentationml/2006/main">
  <p:tag name="TIMING" val="|33.7"/>
</p:tagLst>
</file>

<file path=ppt/tags/tag3.xml><?xml version="1.0" encoding="utf-8"?>
<p:tagLst xmlns:a="http://schemas.openxmlformats.org/drawingml/2006/main" xmlns:r="http://schemas.openxmlformats.org/officeDocument/2006/relationships" xmlns:p="http://schemas.openxmlformats.org/presentationml/2006/main">
  <p:tag name="TIMING" val="|33.7"/>
</p:tagLst>
</file>

<file path=ppt/tags/tag4.xml><?xml version="1.0" encoding="utf-8"?>
<p:tagLst xmlns:a="http://schemas.openxmlformats.org/drawingml/2006/main" xmlns:r="http://schemas.openxmlformats.org/officeDocument/2006/relationships" xmlns:p="http://schemas.openxmlformats.org/presentationml/2006/main">
  <p:tag name="TIMING" val="|33.7"/>
</p:tagLst>
</file>

<file path=ppt/tags/tag5.xml><?xml version="1.0" encoding="utf-8"?>
<p:tagLst xmlns:a="http://schemas.openxmlformats.org/drawingml/2006/main" xmlns:r="http://schemas.openxmlformats.org/officeDocument/2006/relationships" xmlns:p="http://schemas.openxmlformats.org/presentationml/2006/main">
  <p:tag name="TIMING" val="|33.7"/>
</p:tagLst>
</file>

<file path=ppt/tags/tag6.xml><?xml version="1.0" encoding="utf-8"?>
<p:tagLst xmlns:a="http://schemas.openxmlformats.org/drawingml/2006/main" xmlns:r="http://schemas.openxmlformats.org/officeDocument/2006/relationships" xmlns:p="http://schemas.openxmlformats.org/presentationml/2006/main">
  <p:tag name="TIMING" val="|33.7"/>
</p:tagLst>
</file>

<file path=ppt/tags/tag7.xml><?xml version="1.0" encoding="utf-8"?>
<p:tagLst xmlns:a="http://schemas.openxmlformats.org/drawingml/2006/main" xmlns:r="http://schemas.openxmlformats.org/officeDocument/2006/relationships" xmlns:p="http://schemas.openxmlformats.org/presentationml/2006/main">
  <p:tag name="TIMING" val="|33.7"/>
</p:tagLst>
</file>

<file path=ppt/tags/tag8.xml><?xml version="1.0" encoding="utf-8"?>
<p:tagLst xmlns:a="http://schemas.openxmlformats.org/drawingml/2006/main" xmlns:r="http://schemas.openxmlformats.org/officeDocument/2006/relationships" xmlns:p="http://schemas.openxmlformats.org/presentationml/2006/main">
  <p:tag name="TIMING" val="|33.7"/>
</p:tagLst>
</file>

<file path=ppt/tags/tag9.xml><?xml version="1.0" encoding="utf-8"?>
<p:tagLst xmlns:a="http://schemas.openxmlformats.org/drawingml/2006/main" xmlns:r="http://schemas.openxmlformats.org/officeDocument/2006/relationships" xmlns:p="http://schemas.openxmlformats.org/presentationml/2006/main">
  <p:tag name="TIMING" val="|33.7"/>
</p:tagLst>
</file>

<file path=ppt/tags/tag10.xml><?xml version="1.0" encoding="utf-8"?>
<p:tagLst xmlns:a="http://schemas.openxmlformats.org/drawingml/2006/main" xmlns:r="http://schemas.openxmlformats.org/officeDocument/2006/relationships" xmlns:p="http://schemas.openxmlformats.org/presentationml/2006/main">
  <p:tag name="TIMING" val="|33.7"/>
</p:tagLst>
</file>

<file path=ppt/tags/tag11.xml><?xml version="1.0" encoding="utf-8"?>
<p:tagLst xmlns:a="http://schemas.openxmlformats.org/drawingml/2006/main" xmlns:r="http://schemas.openxmlformats.org/officeDocument/2006/relationships" xmlns:p="http://schemas.openxmlformats.org/presentationml/2006/main">
  <p:tag name="TIMING" val="|33.7"/>
</p:tagLst>
</file>

<file path=ppt/tags/tag12.xml><?xml version="1.0" encoding="utf-8"?>
<p:tagLst xmlns:a="http://schemas.openxmlformats.org/drawingml/2006/main" xmlns:r="http://schemas.openxmlformats.org/officeDocument/2006/relationships" xmlns:p="http://schemas.openxmlformats.org/presentationml/2006/main">
  <p:tag name="TIMING" val="|33.7"/>
</p:tagLst>
</file>

<file path=ppt/tags/tag13.xml><?xml version="1.0" encoding="utf-8"?>
<p:tagLst xmlns:a="http://schemas.openxmlformats.org/drawingml/2006/main" xmlns:r="http://schemas.openxmlformats.org/officeDocument/2006/relationships" xmlns:p="http://schemas.openxmlformats.org/presentationml/2006/main">
  <p:tag name="TIMING" val="|33.7"/>
</p:tagLst>
</file>

<file path=ppt/tags/tag14.xml><?xml version="1.0" encoding="utf-8"?>
<p:tagLst xmlns:a="http://schemas.openxmlformats.org/drawingml/2006/main" xmlns:r="http://schemas.openxmlformats.org/officeDocument/2006/relationships" xmlns:p="http://schemas.openxmlformats.org/presentationml/2006/main">
  <p:tag name="TIMING" val="|33.7"/>
</p:tagLst>
</file>

<file path=ppt/tags/tag15.xml><?xml version="1.0" encoding="utf-8"?>
<p:tagLst xmlns:a="http://schemas.openxmlformats.org/drawingml/2006/main" xmlns:r="http://schemas.openxmlformats.org/officeDocument/2006/relationships" xmlns:p="http://schemas.openxmlformats.org/presentationml/2006/main">
  <p:tag name="TIMING" val="|33.7"/>
</p:tagLst>
</file>

<file path=ppt/tags/tag16.xml><?xml version="1.0" encoding="utf-8"?>
<p:tagLst xmlns:a="http://schemas.openxmlformats.org/drawingml/2006/main" xmlns:r="http://schemas.openxmlformats.org/officeDocument/2006/relationships" xmlns:p="http://schemas.openxmlformats.org/presentationml/2006/main">
  <p:tag name="TIMING" val="|33.7"/>
</p:tagLst>
</file>

<file path=ppt/tags/tag17.xml><?xml version="1.0" encoding="utf-8"?>
<p:tagLst xmlns:a="http://schemas.openxmlformats.org/drawingml/2006/main" xmlns:r="http://schemas.openxmlformats.org/officeDocument/2006/relationships" xmlns:p="http://schemas.openxmlformats.org/presentationml/2006/main">
  <p:tag name="TIMING" val="|33.7"/>
</p:tagLst>
</file>

<file path=ppt/tags/tag18.xml><?xml version="1.0" encoding="utf-8"?>
<p:tagLst xmlns:a="http://schemas.openxmlformats.org/drawingml/2006/main" xmlns:r="http://schemas.openxmlformats.org/officeDocument/2006/relationships" xmlns:p="http://schemas.openxmlformats.org/presentationml/2006/main">
  <p:tag name="TIMING" val="|33.7"/>
</p:tagLst>
</file>

<file path=ppt/tags/tag19.xml><?xml version="1.0" encoding="utf-8"?>
<p:tagLst xmlns:a="http://schemas.openxmlformats.org/drawingml/2006/main" xmlns:r="http://schemas.openxmlformats.org/officeDocument/2006/relationships" xmlns:p="http://schemas.openxmlformats.org/presentationml/2006/main">
  <p:tag name="TIMING" val="|33.7"/>
</p:tagLst>
</file>

<file path=ppt/tags/tag20.xml><?xml version="1.0" encoding="utf-8"?>
<p:tagLst xmlns:a="http://schemas.openxmlformats.org/drawingml/2006/main" xmlns:r="http://schemas.openxmlformats.org/officeDocument/2006/relationships" xmlns:p="http://schemas.openxmlformats.org/presentationml/2006/main">
  <p:tag name="TIMING" val="|3|6.4|14|13.7|20.4"/>
</p:tagLst>
</file>

<file path=ppt/tags/tag21.xml><?xml version="1.0" encoding="utf-8"?>
<p:tagLst xmlns:a="http://schemas.openxmlformats.org/drawingml/2006/main" xmlns:r="http://schemas.openxmlformats.org/officeDocument/2006/relationships" xmlns:p="http://schemas.openxmlformats.org/presentationml/2006/main">
  <p:tag name="TIMING" val="|33.7"/>
</p:tagLst>
</file>

<file path=ppt/tags/tag22.xml><?xml version="1.0" encoding="utf-8"?>
<p:tagLst xmlns:a="http://schemas.openxmlformats.org/drawingml/2006/main" xmlns:r="http://schemas.openxmlformats.org/officeDocument/2006/relationships" xmlns:p="http://schemas.openxmlformats.org/presentationml/2006/main">
  <p:tag name="TIMING" val="|33.7"/>
</p:tagLst>
</file>

<file path=ppt/theme/theme1.xml><?xml version="1.0" encoding="utf-8"?>
<a:theme xmlns:a="http://schemas.openxmlformats.org/drawingml/2006/main" name="Office">
  <a:themeElements>
    <a:clrScheme name="UIBK">
      <a:dk1>
        <a:sysClr val="windowText" lastClr="000000"/>
      </a:dk1>
      <a:lt1>
        <a:sysClr val="window" lastClr="FFFFFF"/>
      </a:lt1>
      <a:dk2>
        <a:srgbClr val="44546A"/>
      </a:dk2>
      <a:lt2>
        <a:srgbClr val="E7E6E6"/>
      </a:lt2>
      <a:accent1>
        <a:srgbClr val="003361"/>
      </a:accent1>
      <a:accent2>
        <a:srgbClr val="F39200"/>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BK Vorlage.potx" id="{58FE73E0-1F97-4983-8CCE-E0D27B996328}" vid="{0FC2F37A-9B86-4E8E-9FF9-7FC6DC429F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119241</TotalTime>
  <Words>5795</Words>
  <Application>Microsoft Macintosh PowerPoint</Application>
  <PresentationFormat>Widescreen</PresentationFormat>
  <Paragraphs>319</Paragraphs>
  <Slides>24</Slides>
  <Notes>24</Notes>
  <HiddenSlides>9</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Arial</vt:lpstr>
      <vt:lpstr>Calibri</vt:lpstr>
      <vt:lpstr>Calibri Light</vt:lpstr>
      <vt:lpstr>Cambria Math</vt:lpstr>
      <vt:lpstr>Wingdings</vt:lpstr>
      <vt:lpstr>Office</vt:lpstr>
      <vt:lpstr>Harvesting Contextuality from the Vacuum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attention!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L</dc:creator>
  <cp:lastModifiedBy>Mark L</cp:lastModifiedBy>
  <cp:revision>408</cp:revision>
  <dcterms:created xsi:type="dcterms:W3CDTF">2024-02-16T21:19:37Z</dcterms:created>
  <dcterms:modified xsi:type="dcterms:W3CDTF">2026-06-07T14:44:28Z</dcterms:modified>
</cp:coreProperties>
</file>